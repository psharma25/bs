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4" r:id="rId6"/>
    <p:sldId id="261" r:id="rId7"/>
    <p:sldId id="262" r:id="rId8"/>
    <p:sldId id="260" r:id="rId9"/>
    <p:sldId id="263"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835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slide keeps the same four columns in the same place, so the audience can follow one surface down through needs, tools, gaps, and data flow.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are sorted highest first within each column. Ratings combine likelihood and impact for a typical small to mid-size organization adopting AI now; adjust them to your own data sensitivity and controls. H means act now, M means plan controls this quarter, L means monitor. Bracketed numbers point to the references slide.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row left to right: where the data starts and goes, what to watch and detect along the way, the tools that do it, and the gap that remains. This slide combines the earlier data flow, monitor, and detect slides. Septa sees prompts and responses for AI the company builds or runs; it does not see shadow AI or vendor AI. Secure development is two-way: packages, MCP tools, and rule files come back in, which is the supply chain risk Jiffy focuses 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single tool covers any surface. Vendor AI relies most on contracts and evidence because the technical controls sit with the vendor.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Ratings are qualitative, from public vendor information as of October 2026. Other options considered: Netskope and Prompt Security for sanctioned AI, Zscaler and Reco for shadow AI, adlor-caiq and OneTrust for vendor AI, Socket and JFrog for secure development. Purview governs Microsoft AI but is not shadow AI discovery.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[7] figure (AI-assisted commits introducing 15 to 18 percent more vulnerabilities) is reported secondhand; cite the original Opsera benchmark if you quote the number. The [3] source is a vendor article citing Grip Security's report that 91 percent of enterprise AI tools are unmanaged.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need carries its NIST AI RMF 1.0 function. Tool options are representative, not exhaustive. Jiffy is in bold where its observability (Map), automated pentesting (Measure), or runtime defense (Manage) applies; confirm scope with Jiffy.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Jiffy rows are placeholders until a pilot or pricing conversation. Other options considered: LangSmith and Arize (developer tracing, not security first), PyRIT for deep multi-turn red teaming, NeMo Guardrails and LLM Guard as open-source runtime guards, Cisco AI Defense for Cisco networks. Promptfoo's community plan includes 10,000 probes per month.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remediation step should sit in the incident response playbook with a named owner.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BD3069F3-2809-31C7-0252-51A8A5CCE486}"/>
              </a:ext>
            </a:extLst>
          </p:cNvPr>
          <p:cNvCxnSpPr>
            <a:cxnSpLocks/>
          </p:cNvCxnSpPr>
          <p:nvPr userDrawn="1"/>
        </p:nvCxnSpPr>
        <p:spPr>
          <a:xfrm>
            <a:off x="0" y="1316334"/>
            <a:ext cx="12192000" cy="0"/>
          </a:xfrm>
          <a:prstGeom prst="line">
            <a:avLst/>
          </a:prstGeom>
        </p:spPr>
        <p:style>
          <a:lnRef idx="3">
            <a:schemeClr val="dk1"/>
          </a:lnRef>
          <a:fillRef idx="0">
            <a:schemeClr val="dk1"/>
          </a:fillRef>
          <a:effectRef idx="2">
            <a:schemeClr val="dk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EAF0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67" y="723801"/>
            <a:ext cx="10566467" cy="433035"/>
          </a:xfrm>
          <a:prstGeom prst="rect">
            <a:avLst/>
          </a:prstGeom>
          <a:noFill/>
          <a:ln/>
        </p:spPr>
        <p:txBody>
          <a:bodyPr wrap="square" lIns="0" tIns="0" rIns="0" bIns="0" rtlCol="0" anchor="t"/>
          <a:lstStyle>
            <a:lvl1pPr marL="0" indent="0" algn="l">
              <a:lnSpc>
                <a:spcPct val="115000"/>
              </a:lnSpc>
              <a:buNone/>
              <a:defRPr lang="en-US" sz="3100" dirty="0">
                <a:solidFill>
                  <a:srgbClr val="2E3B40"/>
                </a:solidFill>
                <a:latin typeface="Lora" pitchFamily="34" charset="0"/>
                <a:ea typeface="Lora" pitchFamily="34" charset="-122"/>
                <a:cs typeface="Lora" pitchFamily="34" charset="-120"/>
              </a:defRPr>
            </a:lvl1pPr>
          </a:lstStyle>
          <a:p>
            <a:pPr marL="0" indent="0" algn="l">
              <a:lnSpc>
                <a:spcPct val="115000"/>
              </a:lnSpc>
              <a:buNone/>
            </a:pPr>
            <a:endParaRPr lang="en-US" sz="3100" dirty="0"/>
          </a:p>
        </p:txBody>
      </p:sp>
      <p:sp>
        <p:nvSpPr>
          <p:cNvPr id="3" name="Text Placeholder 2"/>
          <p:cNvSpPr>
            <a:spLocks noGrp="1"/>
          </p:cNvSpPr>
          <p:nvPr>
            <p:ph type="body" idx="101"/>
          </p:nvPr>
        </p:nvSpPr>
        <p:spPr>
          <a:xfrm>
            <a:off x="812767" y="1461636"/>
            <a:ext cx="10566433" cy="4583564"/>
          </a:xfrm>
          <a:prstGeom prst="rect">
            <a:avLst/>
          </a:prstGeom>
          <a:noFill/>
          <a:ln/>
        </p:spPr>
        <p:txBody>
          <a:bodyPr wrap="square" lIns="0" tIns="0" rIns="0" bIns="0" rtlCol="0" anchor="t"/>
          <a:lstStyle>
            <a:lvl1pPr marL="0" indent="0" algn="l">
              <a:lnSpc>
                <a:spcPct val="140000"/>
              </a:lnSpc>
              <a:buNone/>
              <a:defRPr lang="en-US" sz="1600" dirty="0">
                <a:solidFill>
                  <a:srgbClr val="2E3B40"/>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cxnSp>
        <p:nvCxnSpPr>
          <p:cNvPr id="4" name="Straight Connector 3">
            <a:extLst>
              <a:ext uri="{FF2B5EF4-FFF2-40B4-BE49-F238E27FC236}">
                <a16:creationId xmlns:a16="http://schemas.microsoft.com/office/drawing/2014/main" id="{CF0BADAC-5FAB-7667-2AA6-DCB697FECAB5}"/>
              </a:ext>
            </a:extLst>
          </p:cNvPr>
          <p:cNvCxnSpPr>
            <a:cxnSpLocks/>
          </p:cNvCxnSpPr>
          <p:nvPr userDrawn="1"/>
        </p:nvCxnSpPr>
        <p:spPr>
          <a:xfrm>
            <a:off x="0" y="1316334"/>
            <a:ext cx="12192000" cy="0"/>
          </a:xfrm>
          <a:prstGeom prst="line">
            <a:avLst/>
          </a:prstGeom>
        </p:spPr>
        <p:style>
          <a:lnRef idx="3">
            <a:schemeClr val="dk1"/>
          </a:lnRef>
          <a:fillRef idx="0">
            <a:schemeClr val="dk1"/>
          </a:fillRef>
          <a:effectRef idx="2">
            <a:schemeClr val="dk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AF0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67" y="723801"/>
            <a:ext cx="10566467" cy="433035"/>
          </a:xfrm>
          <a:prstGeom prst="rect">
            <a:avLst/>
          </a:prstGeom>
          <a:noFill/>
          <a:ln/>
        </p:spPr>
        <p:txBody>
          <a:bodyPr wrap="square" lIns="0" tIns="0" rIns="0" bIns="0" rtlCol="0" anchor="t"/>
          <a:lstStyle>
            <a:lvl1pPr marL="0" indent="0" algn="l">
              <a:lnSpc>
                <a:spcPct val="115000"/>
              </a:lnSpc>
              <a:buNone/>
              <a:defRPr lang="en-US" sz="3100" dirty="0">
                <a:solidFill>
                  <a:srgbClr val="2E3B40"/>
                </a:solidFill>
                <a:latin typeface="Lora" pitchFamily="34" charset="0"/>
                <a:ea typeface="Lora" pitchFamily="34" charset="-122"/>
                <a:cs typeface="Lora" pitchFamily="34" charset="-120"/>
              </a:defRPr>
            </a:lvl1pPr>
          </a:lstStyle>
          <a:p>
            <a:pPr marL="0" indent="0" algn="l">
              <a:lnSpc>
                <a:spcPct val="115000"/>
              </a:lnSpc>
              <a:buNone/>
            </a:pPr>
            <a:endParaRPr lang="en-US" sz="3100" dirty="0"/>
          </a:p>
        </p:txBody>
      </p:sp>
      <p:sp>
        <p:nvSpPr>
          <p:cNvPr id="3" name="Text Placeholder 2"/>
          <p:cNvSpPr>
            <a:spLocks noGrp="1"/>
          </p:cNvSpPr>
          <p:nvPr>
            <p:ph type="body" idx="101"/>
          </p:nvPr>
        </p:nvSpPr>
        <p:spPr>
          <a:xfrm>
            <a:off x="812767" y="1461636"/>
            <a:ext cx="10566433" cy="4583564"/>
          </a:xfrm>
          <a:prstGeom prst="rect">
            <a:avLst/>
          </a:prstGeom>
          <a:noFill/>
          <a:ln/>
        </p:spPr>
        <p:txBody>
          <a:bodyPr wrap="square" lIns="0" tIns="0" rIns="0" bIns="0" rtlCol="0" anchor="t"/>
          <a:lstStyle>
            <a:lvl1pPr marL="0" indent="0" algn="l">
              <a:lnSpc>
                <a:spcPct val="140000"/>
              </a:lnSpc>
              <a:buNone/>
              <a:defRPr lang="en-US" sz="1600" dirty="0">
                <a:solidFill>
                  <a:srgbClr val="2E3B40"/>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cxnSp>
        <p:nvCxnSpPr>
          <p:cNvPr id="4" name="Straight Connector 3">
            <a:extLst>
              <a:ext uri="{FF2B5EF4-FFF2-40B4-BE49-F238E27FC236}">
                <a16:creationId xmlns:a16="http://schemas.microsoft.com/office/drawing/2014/main" id="{47E48BCA-FF3D-4696-58A9-AF1749E23051}"/>
              </a:ext>
            </a:extLst>
          </p:cNvPr>
          <p:cNvCxnSpPr>
            <a:cxnSpLocks/>
          </p:cNvCxnSpPr>
          <p:nvPr userDrawn="1"/>
        </p:nvCxnSpPr>
        <p:spPr>
          <a:xfrm>
            <a:off x="0" y="1316334"/>
            <a:ext cx="12192000" cy="0"/>
          </a:xfrm>
          <a:prstGeom prst="line">
            <a:avLst/>
          </a:prstGeom>
        </p:spPr>
        <p:style>
          <a:lnRef idx="3">
            <a:schemeClr val="dk1"/>
          </a:lnRef>
          <a:fillRef idx="0">
            <a:schemeClr val="dk1"/>
          </a:fillRef>
          <a:effectRef idx="2">
            <a:schemeClr val="dk1"/>
          </a:effectRef>
          <a:fontRef idx="minor">
            <a:schemeClr val="tx1"/>
          </a:fontRef>
        </p:style>
      </p:cxnSp>
      <p:sp>
        <p:nvSpPr>
          <p:cNvPr id="5" name="Footer Placeholder 4">
            <a:extLst>
              <a:ext uri="{FF2B5EF4-FFF2-40B4-BE49-F238E27FC236}">
                <a16:creationId xmlns:a16="http://schemas.microsoft.com/office/drawing/2014/main" id="{3D6379A1-D080-6706-35E8-9E9DB44CCF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dirty="0" err="1"/>
              <a:t>BitSense</a:t>
            </a:r>
            <a:r>
              <a:rPr lang="en-US" dirty="0"/>
              <a:t> LLC 	Slide </a:t>
            </a:r>
            <a:fld id="{5B472072-0773-9547-B471-0242D67FB58D}" type="slidenum">
              <a:rPr lang="en-US" smtClean="0"/>
              <a:pPr/>
              <a:t>‹#›</a:t>
            </a:fld>
            <a:r>
              <a:rPr lang="en-US" dirty="0"/>
              <a:t>	10/09/2026</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hyperlink" Target="https://www.nist.gov/itl/ai-risk-management-framework" TargetMode="External"/><Relationship Id="rId3" Type="http://schemas.openxmlformats.org/officeDocument/2006/relationships/hyperlink" Target="https://learn.microsoft.com/en-us/copilot/microsoft-365/microsoft-365-copilot-blueprint-oversharing" TargetMode="External"/><Relationship Id="rId7" Type="http://schemas.openxmlformats.org/officeDocument/2006/relationships/hyperlink" Target="https://bigid.com/vendor-ai-risk-assessment/"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docs.jfrog.com/ai-ml/docs/secure-ai-workflows-a-guide-to-scaling-velocity-safely" TargetMode="External"/><Relationship Id="rId11" Type="http://schemas.openxmlformats.org/officeDocument/2006/relationships/hyperlink" Target="https://labs.cloudsecurityalliance.org/research/csa-research-note-mcp-tool-poisoning-ai-agent-exfiltration-2/" TargetMode="External"/><Relationship Id="rId5" Type="http://schemas.openxmlformats.org/officeDocument/2006/relationships/hyperlink" Target="https://www.toriihq.com/articles/five-shadow-ai-discovery-tools" TargetMode="External"/><Relationship Id="rId10" Type="http://schemas.openxmlformats.org/officeDocument/2006/relationships/hyperlink" Target="https://labs.cloudsecurityalliance.org/research-rb/csa-research-note-slopsquatting-ai-coding-assistant-supply-c/" TargetMode="External"/><Relationship Id="rId4" Type="http://schemas.openxmlformats.org/officeDocument/2006/relationships/hyperlink" Target="https://genai.owasp.org/llm-top-10/" TargetMode="External"/><Relationship Id="rId9" Type="http://schemas.openxmlformats.org/officeDocument/2006/relationships/hyperlink" Target="https://codex.danielvaughan.com/2026/05/08/codex-cli-snyk-mcp-server-security-scanning-ai-generated-code-agent-supply-chain/"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2EC"/>
        </a:solidFill>
        <a:effectLst/>
      </p:bgPr>
    </p:bg>
    <p:spTree>
      <p:nvGrpSpPr>
        <p:cNvPr id="1" name=""/>
        <p:cNvGrpSpPr/>
        <p:nvPr/>
      </p:nvGrpSpPr>
      <p:grpSpPr>
        <a:xfrm>
          <a:off x="0" y="0"/>
          <a:ext cx="0" cy="0"/>
          <a:chOff x="0" y="0"/>
          <a:chExt cx="0" cy="0"/>
        </a:xfrm>
      </p:grpSpPr>
      <p:pic>
        <p:nvPicPr>
          <p:cNvPr id="2" name="Image 0" descr="ellipse"/>
          <p:cNvPicPr>
            <a:picLocks noChangeAspect="1"/>
          </p:cNvPicPr>
          <p:nvPr/>
        </p:nvPicPr>
        <p:blipFill>
          <a:blip r:embed="rId3"/>
          <a:srcRect/>
          <a:stretch/>
        </p:blipFill>
        <p:spPr>
          <a:xfrm>
            <a:off x="7493000" y="0"/>
            <a:ext cx="5588000" cy="5588000"/>
          </a:xfrm>
          <a:prstGeom prst="rect">
            <a:avLst/>
          </a:prstGeom>
        </p:spPr>
      </p:pic>
      <p:pic>
        <p:nvPicPr>
          <p:cNvPr id="3" name="Image 1" descr="ellipse"/>
          <p:cNvPicPr>
            <a:picLocks noChangeAspect="1"/>
          </p:cNvPicPr>
          <p:nvPr/>
        </p:nvPicPr>
        <p:blipFill>
          <a:blip r:embed="rId4"/>
          <a:srcRect/>
          <a:stretch/>
        </p:blipFill>
        <p:spPr>
          <a:xfrm>
            <a:off x="9398001" y="3302000"/>
            <a:ext cx="3556000" cy="3556000"/>
          </a:xfrm>
          <a:prstGeom prst="rect">
            <a:avLst/>
          </a:prstGeom>
        </p:spPr>
      </p:pic>
      <p:pic>
        <p:nvPicPr>
          <p:cNvPr id="4" name="Image 2" descr="ellipse"/>
          <p:cNvPicPr>
            <a:picLocks noChangeAspect="1"/>
          </p:cNvPicPr>
          <p:nvPr/>
        </p:nvPicPr>
        <p:blipFill>
          <a:blip r:embed="rId5"/>
          <a:srcRect/>
          <a:stretch/>
        </p:blipFill>
        <p:spPr>
          <a:xfrm>
            <a:off x="6477000" y="4064000"/>
            <a:ext cx="1905000" cy="1905000"/>
          </a:xfrm>
          <a:prstGeom prst="rect">
            <a:avLst/>
          </a:prstGeom>
        </p:spPr>
      </p:pic>
      <p:sp>
        <p:nvSpPr>
          <p:cNvPr id="5" name="Text 0"/>
          <p:cNvSpPr/>
          <p:nvPr/>
        </p:nvSpPr>
        <p:spPr>
          <a:xfrm>
            <a:off x="812767" y="1664891"/>
            <a:ext cx="10883461" cy="274329"/>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4F7A64"/>
                </a:solidFill>
                <a:latin typeface="Nunito Sans" pitchFamily="34" charset="0"/>
                <a:ea typeface="Nunito Sans" pitchFamily="34" charset="-122"/>
                <a:cs typeface="Nunito Sans" pitchFamily="34" charset="-120"/>
              </a:rPr>
              <a:t>FOUR SURFACES, ONE VIEW</a:t>
            </a:r>
            <a:endParaRPr lang="en-US" sz="1400" dirty="0"/>
          </a:p>
        </p:txBody>
      </p:sp>
      <p:sp>
        <p:nvSpPr>
          <p:cNvPr id="6" name="Text 1"/>
          <p:cNvSpPr>
            <a:spLocks noGrp="1"/>
          </p:cNvSpPr>
          <p:nvPr>
            <p:ph type="title"/>
          </p:nvPr>
        </p:nvSpPr>
        <p:spPr>
          <a:xfrm>
            <a:off x="812767" y="2116998"/>
            <a:ext cx="10190178" cy="1451835"/>
          </a:xfrm>
          <a:prstGeom prst="rect">
            <a:avLst/>
          </a:prstGeom>
          <a:noFill/>
          <a:ln/>
        </p:spPr>
        <p:txBody>
          <a:bodyPr wrap="square" lIns="0" tIns="0" rIns="0" bIns="0" rtlCol="0" anchor="t">
            <a:normAutofit/>
          </a:bodyPr>
          <a:lstStyle/>
          <a:p>
            <a:pPr marL="0" indent="0" algn="l">
              <a:lnSpc>
                <a:spcPts val="5616"/>
              </a:lnSpc>
              <a:buNone/>
            </a:pPr>
            <a:r>
              <a:rPr lang="en-US" sz="5200" dirty="0">
                <a:latin typeface="Lora" pitchFamily="18" charset="0"/>
              </a:rPr>
              <a:t>Gen AI – Risks and Tooling</a:t>
            </a:r>
            <a:endParaRPr lang="en-US" sz="5200" dirty="0"/>
          </a:p>
        </p:txBody>
      </p:sp>
      <p:sp>
        <p:nvSpPr>
          <p:cNvPr id="8" name="Text 3"/>
          <p:cNvSpPr/>
          <p:nvPr/>
        </p:nvSpPr>
        <p:spPr>
          <a:xfrm>
            <a:off x="812767" y="4944126"/>
            <a:ext cx="10883461" cy="274329"/>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6B777C"/>
                </a:solidFill>
                <a:latin typeface="Nunito Sans" pitchFamily="34" charset="0"/>
                <a:ea typeface="Nunito Sans" pitchFamily="34" charset="-122"/>
                <a:cs typeface="Nunito Sans" pitchFamily="34" charset="-120"/>
              </a:rPr>
              <a:t>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C"/>
        </a:solidFill>
        <a:effectLst/>
      </p:bgPr>
    </p:bg>
    <p:spTree>
      <p:nvGrpSpPr>
        <p:cNvPr id="1" name=""/>
        <p:cNvGrpSpPr/>
        <p:nvPr/>
      </p:nvGrpSpPr>
      <p:grpSpPr>
        <a:xfrm>
          <a:off x="0" y="0"/>
          <a:ext cx="0" cy="0"/>
          <a:chOff x="0" y="0"/>
          <a:chExt cx="0" cy="0"/>
        </a:xfrm>
      </p:grpSpPr>
      <p:sp>
        <p:nvSpPr>
          <p:cNvPr id="2" name="Text 0"/>
          <p:cNvSpPr/>
          <p:nvPr/>
        </p:nvSpPr>
        <p:spPr>
          <a:xfrm>
            <a:off x="812767" y="406357"/>
            <a:ext cx="10883461" cy="292078"/>
          </a:xfrm>
          <a:prstGeom prst="rect">
            <a:avLst/>
          </a:prstGeom>
          <a:noFill/>
          <a:ln/>
        </p:spPr>
        <p:txBody>
          <a:bodyPr wrap="square" lIns="0" tIns="0" rIns="0" bIns="0" rtlCol="0" anchor="t">
            <a:normAutofit/>
          </a:bodyPr>
          <a:lstStyle/>
          <a:p>
            <a:pPr marL="0" indent="0" algn="l">
              <a:lnSpc>
                <a:spcPts val="2100"/>
              </a:lnSpc>
              <a:buNone/>
            </a:pPr>
            <a:r>
              <a:rPr lang="en-US" sz="1500" b="1" kern="0" spc="150" dirty="0">
                <a:solidFill>
                  <a:srgbClr val="4F7A64"/>
                </a:solidFill>
                <a:latin typeface="Nunito Sans" pitchFamily="34" charset="0"/>
                <a:ea typeface="Nunito Sans" pitchFamily="34" charset="-122"/>
                <a:cs typeface="Nunito Sans" pitchFamily="34" charset="-120"/>
              </a:rPr>
              <a:t>THE LANDSCAPE, LEFT TO RIGHT · SOURCES ON REFERENCES SLIDE</a:t>
            </a:r>
            <a:endParaRPr lang="en-US" sz="1500" dirty="0"/>
          </a:p>
        </p:txBody>
      </p:sp>
      <p:sp>
        <p:nvSpPr>
          <p:cNvPr id="3" name="Text 1"/>
          <p:cNvSpPr>
            <a:spLocks noGrp="1"/>
          </p:cNvSpPr>
          <p:nvPr>
            <p:ph type="title"/>
          </p:nvPr>
        </p:nvSpPr>
        <p:spPr>
          <a:xfrm>
            <a:off x="812767" y="723801"/>
            <a:ext cx="10883461" cy="458435"/>
          </a:xfrm>
          <a:prstGeom prst="rect">
            <a:avLst/>
          </a:prstGeom>
          <a:noFill/>
          <a:ln/>
        </p:spPr>
        <p:txBody>
          <a:bodyPr wrap="square" lIns="0" tIns="0" rIns="0" bIns="0" rtlCol="0" anchor="t">
            <a:normAutofit/>
          </a:bodyPr>
          <a:lstStyle/>
          <a:p>
            <a:pPr marL="0" indent="0" algn="l">
              <a:lnSpc>
                <a:spcPts val="3410"/>
              </a:lnSpc>
              <a:buNone/>
            </a:pPr>
            <a:r>
              <a:rPr lang="en-US" sz="3100" b="0" i="0" dirty="0">
                <a:solidFill>
                  <a:srgbClr val="2E3B40"/>
                </a:solidFill>
                <a:latin typeface="Lora" pitchFamily="18" charset="0"/>
                <a:ea typeface="Lora" pitchFamily="18" charset="-122"/>
                <a:cs typeface="Lora" pitchFamily="18" charset="-120"/>
              </a:rPr>
              <a:t>Four ways AI enters the business</a:t>
            </a:r>
            <a:endParaRPr lang="en-US" sz="3100" dirty="0"/>
          </a:p>
        </p:txBody>
      </p:sp>
      <p:sp>
        <p:nvSpPr>
          <p:cNvPr id="4" name="Text 2"/>
          <p:cNvSpPr/>
          <p:nvPr/>
        </p:nvSpPr>
        <p:spPr>
          <a:xfrm>
            <a:off x="4051488" y="6491033"/>
            <a:ext cx="2049694" cy="256525"/>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55636A"/>
                </a:solidFill>
                <a:latin typeface="Nunito Sans" pitchFamily="34" charset="0"/>
                <a:ea typeface="Nunito Sans" pitchFamily="34" charset="-122"/>
                <a:cs typeface="Nunito Sans" pitchFamily="34" charset="-120"/>
              </a:rPr>
              <a:t>Risk rating, highest first:</a:t>
            </a:r>
            <a:endParaRPr lang="en-US" sz="1300" dirty="0"/>
          </a:p>
        </p:txBody>
      </p:sp>
      <p:sp>
        <p:nvSpPr>
          <p:cNvPr id="5" name="Text 3"/>
          <p:cNvSpPr/>
          <p:nvPr/>
        </p:nvSpPr>
        <p:spPr>
          <a:xfrm>
            <a:off x="6101182" y="6491033"/>
            <a:ext cx="279356" cy="231125"/>
          </a:xfrm>
          <a:custGeom>
            <a:avLst/>
            <a:gdLst/>
            <a:ahLst/>
            <a:cxnLst/>
            <a:rect l="l" t="t" r="r" b="b"/>
            <a:pathLst>
              <a:path w="279356" h="231125">
                <a:moveTo>
                  <a:pt x="63500" y="0"/>
                </a:moveTo>
                <a:lnTo>
                  <a:pt x="215856" y="0"/>
                </a:lnTo>
                <a:arcTo wR="63500" hR="63500" stAng="16200000" swAng="5400000"/>
                <a:lnTo>
                  <a:pt x="279356" y="167625"/>
                </a:lnTo>
                <a:arcTo wR="63500" hR="63500" stAng="0" swAng="5400000"/>
                <a:lnTo>
                  <a:pt x="63500" y="231125"/>
                </a:lnTo>
                <a:arcTo wR="63500" hR="63500" stAng="5400000" swAng="5400000"/>
                <a:lnTo>
                  <a:pt x="0" y="63500"/>
                </a:lnTo>
                <a:arcTo wR="63500" hR="63500" stAng="10800000" swAng="5400000"/>
                <a:close/>
              </a:path>
            </a:pathLst>
          </a:custGeom>
          <a:solidFill>
            <a:srgbClr val="F2C4BB"/>
          </a:solidFill>
          <a:ln/>
        </p:spPr>
        <p:txBody>
          <a:bodyPr wrap="square" lIns="0" tIns="0" rIns="0" bIns="0" rtlCol="0" anchor="t">
            <a:normAutofit/>
          </a:bodyPr>
          <a:lstStyle/>
          <a:p>
            <a:pPr marL="0" indent="0" algn="ctr">
              <a:lnSpc>
                <a:spcPts val="1820"/>
              </a:lnSpc>
              <a:buNone/>
            </a:pPr>
            <a:r>
              <a:rPr lang="en-US" sz="1300" b="1" dirty="0">
                <a:solidFill>
                  <a:srgbClr val="2E3B40"/>
                </a:solidFill>
                <a:latin typeface="Nunito Sans" pitchFamily="34" charset="0"/>
                <a:ea typeface="Nunito Sans" pitchFamily="34" charset="-122"/>
                <a:cs typeface="Nunito Sans" pitchFamily="34" charset="-120"/>
              </a:rPr>
              <a:t>H</a:t>
            </a:r>
            <a:endParaRPr lang="en-US" sz="1300" dirty="0"/>
          </a:p>
        </p:txBody>
      </p:sp>
      <p:sp>
        <p:nvSpPr>
          <p:cNvPr id="6" name="Text 4"/>
          <p:cNvSpPr/>
          <p:nvPr/>
        </p:nvSpPr>
        <p:spPr>
          <a:xfrm>
            <a:off x="6444038" y="6491033"/>
            <a:ext cx="1199885" cy="25652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4D52"/>
                </a:solidFill>
                <a:latin typeface="Nunito Sans" pitchFamily="34" charset="0"/>
                <a:ea typeface="Nunito Sans" pitchFamily="34" charset="-122"/>
                <a:cs typeface="Nunito Sans" pitchFamily="34" charset="-120"/>
              </a:rPr>
              <a:t>High, act now</a:t>
            </a:r>
            <a:endParaRPr lang="en-US" sz="1300" dirty="0"/>
          </a:p>
        </p:txBody>
      </p:sp>
      <p:sp>
        <p:nvSpPr>
          <p:cNvPr id="7" name="Text 5"/>
          <p:cNvSpPr/>
          <p:nvPr/>
        </p:nvSpPr>
        <p:spPr>
          <a:xfrm>
            <a:off x="7643923" y="6491033"/>
            <a:ext cx="279356" cy="231125"/>
          </a:xfrm>
          <a:custGeom>
            <a:avLst/>
            <a:gdLst/>
            <a:ahLst/>
            <a:cxnLst/>
            <a:rect l="l" t="t" r="r" b="b"/>
            <a:pathLst>
              <a:path w="279356" h="231125">
                <a:moveTo>
                  <a:pt x="63500" y="0"/>
                </a:moveTo>
                <a:lnTo>
                  <a:pt x="215856" y="0"/>
                </a:lnTo>
                <a:arcTo wR="63500" hR="63500" stAng="16200000" swAng="5400000"/>
                <a:lnTo>
                  <a:pt x="279356" y="167625"/>
                </a:lnTo>
                <a:arcTo wR="63500" hR="63500" stAng="0" swAng="5400000"/>
                <a:lnTo>
                  <a:pt x="63500" y="231125"/>
                </a:lnTo>
                <a:arcTo wR="63500" hR="63500" stAng="5400000" swAng="5400000"/>
                <a:lnTo>
                  <a:pt x="0" y="63500"/>
                </a:lnTo>
                <a:arcTo wR="63500" hR="63500" stAng="10800000" swAng="5400000"/>
                <a:close/>
              </a:path>
            </a:pathLst>
          </a:custGeom>
          <a:solidFill>
            <a:srgbClr val="F5E3B3"/>
          </a:solidFill>
          <a:ln/>
        </p:spPr>
        <p:txBody>
          <a:bodyPr wrap="square" lIns="0" tIns="0" rIns="0" bIns="0" rtlCol="0" anchor="t">
            <a:normAutofit/>
          </a:bodyPr>
          <a:lstStyle/>
          <a:p>
            <a:pPr marL="0" indent="0" algn="ctr">
              <a:lnSpc>
                <a:spcPts val="1820"/>
              </a:lnSpc>
              <a:buNone/>
            </a:pPr>
            <a:r>
              <a:rPr lang="en-US" sz="1300" b="1" dirty="0">
                <a:solidFill>
                  <a:srgbClr val="2E3B40"/>
                </a:solidFill>
                <a:latin typeface="Nunito Sans" pitchFamily="34" charset="0"/>
                <a:ea typeface="Nunito Sans" pitchFamily="34" charset="-122"/>
                <a:cs typeface="Nunito Sans" pitchFamily="34" charset="-120"/>
              </a:rPr>
              <a:t>M</a:t>
            </a:r>
            <a:endParaRPr lang="en-US" sz="1300" dirty="0"/>
          </a:p>
        </p:txBody>
      </p:sp>
      <p:sp>
        <p:nvSpPr>
          <p:cNvPr id="8" name="Text 6"/>
          <p:cNvSpPr/>
          <p:nvPr/>
        </p:nvSpPr>
        <p:spPr>
          <a:xfrm>
            <a:off x="7986779" y="6491033"/>
            <a:ext cx="2079680" cy="25652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4D52"/>
                </a:solidFill>
                <a:latin typeface="Nunito Sans" pitchFamily="34" charset="0"/>
                <a:ea typeface="Nunito Sans" pitchFamily="34" charset="-122"/>
                <a:cs typeface="Nunito Sans" pitchFamily="34" charset="-120"/>
              </a:rPr>
              <a:t>Medium, plan this quarter</a:t>
            </a:r>
            <a:endParaRPr lang="en-US" sz="1300" dirty="0"/>
          </a:p>
        </p:txBody>
      </p:sp>
      <p:sp>
        <p:nvSpPr>
          <p:cNvPr id="9" name="Text 7"/>
          <p:cNvSpPr/>
          <p:nvPr/>
        </p:nvSpPr>
        <p:spPr>
          <a:xfrm>
            <a:off x="10066459" y="6491033"/>
            <a:ext cx="279356" cy="231125"/>
          </a:xfrm>
          <a:custGeom>
            <a:avLst/>
            <a:gdLst/>
            <a:ahLst/>
            <a:cxnLst/>
            <a:rect l="l" t="t" r="r" b="b"/>
            <a:pathLst>
              <a:path w="279356" h="231125">
                <a:moveTo>
                  <a:pt x="63500" y="0"/>
                </a:moveTo>
                <a:lnTo>
                  <a:pt x="215856" y="0"/>
                </a:lnTo>
                <a:arcTo wR="63500" hR="63500" stAng="16200000" swAng="5400000"/>
                <a:lnTo>
                  <a:pt x="279356" y="167625"/>
                </a:lnTo>
                <a:arcTo wR="63500" hR="63500" stAng="0" swAng="5400000"/>
                <a:lnTo>
                  <a:pt x="63500" y="231125"/>
                </a:lnTo>
                <a:arcTo wR="63500" hR="63500" stAng="5400000" swAng="5400000"/>
                <a:lnTo>
                  <a:pt x="0" y="63500"/>
                </a:lnTo>
                <a:arcTo wR="63500" hR="63500" stAng="10800000" swAng="5400000"/>
                <a:close/>
              </a:path>
            </a:pathLst>
          </a:custGeom>
          <a:solidFill>
            <a:srgbClr val="D4EBDD"/>
          </a:solidFill>
          <a:ln/>
        </p:spPr>
        <p:txBody>
          <a:bodyPr wrap="square" lIns="0" tIns="0" rIns="0" bIns="0" rtlCol="0" anchor="t">
            <a:normAutofit/>
          </a:bodyPr>
          <a:lstStyle/>
          <a:p>
            <a:pPr marL="0" indent="0" algn="ctr">
              <a:lnSpc>
                <a:spcPts val="1820"/>
              </a:lnSpc>
              <a:buNone/>
            </a:pPr>
            <a:r>
              <a:rPr lang="en-US" sz="1300" b="1" dirty="0">
                <a:solidFill>
                  <a:srgbClr val="2E3B40"/>
                </a:solidFill>
                <a:latin typeface="Nunito Sans" pitchFamily="34" charset="0"/>
                <a:ea typeface="Nunito Sans" pitchFamily="34" charset="-122"/>
                <a:cs typeface="Nunito Sans" pitchFamily="34" charset="-120"/>
              </a:rPr>
              <a:t>L</a:t>
            </a:r>
            <a:endParaRPr lang="en-US" sz="1300" dirty="0"/>
          </a:p>
        </p:txBody>
      </p:sp>
      <p:sp>
        <p:nvSpPr>
          <p:cNvPr id="10" name="Text 8"/>
          <p:cNvSpPr/>
          <p:nvPr/>
        </p:nvSpPr>
        <p:spPr>
          <a:xfrm>
            <a:off x="10409316" y="6491033"/>
            <a:ext cx="1156097" cy="25652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4D52"/>
                </a:solidFill>
                <a:latin typeface="Nunito Sans" pitchFamily="34" charset="0"/>
                <a:ea typeface="Nunito Sans" pitchFamily="34" charset="-122"/>
                <a:cs typeface="Nunito Sans" pitchFamily="34" charset="-120"/>
              </a:rPr>
              <a:t>Low, monitor</a:t>
            </a:r>
            <a:endParaRPr lang="en-US" sz="1300" dirty="0"/>
          </a:p>
        </p:txBody>
      </p:sp>
      <p:sp>
        <p:nvSpPr>
          <p:cNvPr id="11" name="Shape 9"/>
          <p:cNvSpPr/>
          <p:nvPr/>
        </p:nvSpPr>
        <p:spPr>
          <a:xfrm>
            <a:off x="815942" y="1617134"/>
            <a:ext cx="2378097" cy="4780514"/>
          </a:xfrm>
          <a:prstGeom prst="roundRect">
            <a:avLst>
              <a:gd name="adj" fmla="val 6275"/>
            </a:avLst>
          </a:prstGeom>
          <a:solidFill>
            <a:srgbClr val="FBFAF7"/>
          </a:solidFill>
          <a:ln w="6350">
            <a:solidFill>
              <a:srgbClr val="DCE3DE"/>
            </a:solidFill>
            <a:prstDash val="solid"/>
          </a:ln>
        </p:spPr>
        <p:txBody>
          <a:bodyPr/>
          <a:lstStyle/>
          <a:p>
            <a:endParaRPr lang="en-US"/>
          </a:p>
        </p:txBody>
      </p:sp>
      <p:sp>
        <p:nvSpPr>
          <p:cNvPr id="12" name="Shape 10"/>
          <p:cNvSpPr/>
          <p:nvPr/>
        </p:nvSpPr>
        <p:spPr>
          <a:xfrm>
            <a:off x="816295" y="1617487"/>
            <a:ext cx="2377392" cy="1346123"/>
          </a:xfrm>
          <a:custGeom>
            <a:avLst/>
            <a:gdLst/>
            <a:ahLst/>
            <a:cxnLst/>
            <a:rect l="l" t="t" r="r" b="b"/>
            <a:pathLst>
              <a:path w="2377392" h="1346123">
                <a:moveTo>
                  <a:pt x="0" y="148872"/>
                </a:moveTo>
                <a:arcTo wR="148872" hR="148872" stAng="10800000" swAng="5400000"/>
                <a:lnTo>
                  <a:pt x="2228519" y="0"/>
                </a:lnTo>
                <a:arcTo wR="148872" hR="148872" stAng="16200000" swAng="5400000"/>
                <a:lnTo>
                  <a:pt x="2377392" y="1346123"/>
                </a:lnTo>
                <a:lnTo>
                  <a:pt x="0" y="1346123"/>
                </a:lnTo>
                <a:close/>
              </a:path>
            </a:pathLst>
          </a:custGeom>
          <a:solidFill>
            <a:srgbClr val="CFE0D3"/>
          </a:solidFill>
          <a:ln/>
        </p:spPr>
        <p:txBody>
          <a:bodyPr/>
          <a:lstStyle/>
          <a:p>
            <a:endParaRPr lang="en-US"/>
          </a:p>
        </p:txBody>
      </p:sp>
      <p:sp>
        <p:nvSpPr>
          <p:cNvPr id="13" name="Text 11"/>
          <p:cNvSpPr/>
          <p:nvPr/>
        </p:nvSpPr>
        <p:spPr>
          <a:xfrm>
            <a:off x="968651" y="1744487"/>
            <a:ext cx="2134860" cy="638682"/>
          </a:xfrm>
          <a:prstGeom prst="rect">
            <a:avLst/>
          </a:prstGeom>
          <a:noFill/>
          <a:ln/>
        </p:spPr>
        <p:txBody>
          <a:bodyPr wrap="square" lIns="0" tIns="0" rIns="0" bIns="0" rtlCol="0" anchor="t">
            <a:normAutofit/>
          </a:bodyPr>
          <a:lstStyle/>
          <a:p>
            <a:pPr marL="0" indent="0" algn="l">
              <a:lnSpc>
                <a:spcPts val="2415"/>
              </a:lnSpc>
              <a:buNone/>
            </a:pPr>
            <a:r>
              <a:rPr lang="en-US" sz="2100" b="1" dirty="0">
                <a:solidFill>
                  <a:srgbClr val="2E3B40"/>
                </a:solidFill>
                <a:latin typeface="Lora" pitchFamily="18" charset="0"/>
                <a:ea typeface="Lora" pitchFamily="18" charset="-122"/>
                <a:cs typeface="Lora" pitchFamily="18" charset="-120"/>
              </a:rPr>
              <a:t>Enterprise sanctioned AI</a:t>
            </a:r>
            <a:endParaRPr lang="en-US" sz="2100" dirty="0"/>
          </a:p>
        </p:txBody>
      </p:sp>
      <p:sp>
        <p:nvSpPr>
          <p:cNvPr id="14" name="Text 12"/>
          <p:cNvSpPr/>
          <p:nvPr/>
        </p:nvSpPr>
        <p:spPr>
          <a:xfrm>
            <a:off x="968651" y="2404842"/>
            <a:ext cx="2134860" cy="454576"/>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F4D52"/>
                </a:solidFill>
                <a:latin typeface="Nunito Sans" pitchFamily="34" charset="0"/>
                <a:ea typeface="Nunito Sans" pitchFamily="34" charset="-122"/>
                <a:cs typeface="Nunito Sans" pitchFamily="34" charset="-120"/>
              </a:rPr>
              <a:t>Copilots and agents, Claude, OpenAI</a:t>
            </a:r>
            <a:endParaRPr lang="en-US" sz="1300" dirty="0"/>
          </a:p>
        </p:txBody>
      </p:sp>
      <p:sp>
        <p:nvSpPr>
          <p:cNvPr id="15" name="Text 13"/>
          <p:cNvSpPr/>
          <p:nvPr/>
        </p:nvSpPr>
        <p:spPr>
          <a:xfrm>
            <a:off x="968651" y="3090610"/>
            <a:ext cx="2134860" cy="292078"/>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4F7A64"/>
                </a:solidFill>
                <a:latin typeface="Nunito Sans" pitchFamily="34" charset="0"/>
                <a:ea typeface="Nunito Sans" pitchFamily="34" charset="-122"/>
                <a:cs typeface="Nunito Sans" pitchFamily="34" charset="-120"/>
              </a:rPr>
              <a:t>Key risks</a:t>
            </a:r>
            <a:endParaRPr lang="en-US" sz="1500" dirty="0"/>
          </a:p>
        </p:txBody>
      </p:sp>
      <p:sp>
        <p:nvSpPr>
          <p:cNvPr id="16" name="Text 14"/>
          <p:cNvSpPr/>
          <p:nvPr/>
        </p:nvSpPr>
        <p:spPr>
          <a:xfrm>
            <a:off x="968651" y="3446143"/>
            <a:ext cx="279356" cy="231125"/>
          </a:xfrm>
          <a:custGeom>
            <a:avLst/>
            <a:gdLst/>
            <a:ahLst/>
            <a:cxnLst/>
            <a:rect l="l" t="t" r="r" b="b"/>
            <a:pathLst>
              <a:path w="279356" h="231125">
                <a:moveTo>
                  <a:pt x="63500" y="0"/>
                </a:moveTo>
                <a:lnTo>
                  <a:pt x="215856" y="0"/>
                </a:lnTo>
                <a:arcTo wR="63500" hR="63500" stAng="16200000" swAng="5400000"/>
                <a:lnTo>
                  <a:pt x="279356" y="167625"/>
                </a:lnTo>
                <a:arcTo wR="63500" hR="63500" stAng="0" swAng="5400000"/>
                <a:lnTo>
                  <a:pt x="63500" y="231125"/>
                </a:lnTo>
                <a:arcTo wR="63500" hR="63500" stAng="5400000" swAng="5400000"/>
                <a:lnTo>
                  <a:pt x="0" y="63500"/>
                </a:lnTo>
                <a:arcTo wR="63500" hR="63500" stAng="10800000" swAng="5400000"/>
                <a:close/>
              </a:path>
            </a:pathLst>
          </a:custGeom>
          <a:solidFill>
            <a:srgbClr val="F2C4BB"/>
          </a:solidFill>
          <a:ln/>
        </p:spPr>
        <p:txBody>
          <a:bodyPr wrap="square" lIns="0" tIns="0" rIns="0" bIns="0" rtlCol="0" anchor="t">
            <a:normAutofit/>
          </a:bodyPr>
          <a:lstStyle/>
          <a:p>
            <a:pPr marL="0" indent="0" algn="ctr">
              <a:lnSpc>
                <a:spcPts val="1820"/>
              </a:lnSpc>
              <a:buNone/>
            </a:pPr>
            <a:r>
              <a:rPr lang="en-US" sz="1300" b="1" dirty="0">
                <a:solidFill>
                  <a:srgbClr val="2E3B40"/>
                </a:solidFill>
                <a:latin typeface="Nunito Sans" pitchFamily="34" charset="0"/>
                <a:ea typeface="Nunito Sans" pitchFamily="34" charset="-122"/>
                <a:cs typeface="Nunito Sans" pitchFamily="34" charset="-120"/>
              </a:rPr>
              <a:t>H</a:t>
            </a:r>
            <a:endParaRPr lang="en-US" sz="1300" dirty="0"/>
          </a:p>
        </p:txBody>
      </p:sp>
      <p:sp>
        <p:nvSpPr>
          <p:cNvPr id="17" name="Text 15"/>
          <p:cNvSpPr/>
          <p:nvPr/>
        </p:nvSpPr>
        <p:spPr>
          <a:xfrm>
            <a:off x="1324184" y="3446143"/>
            <a:ext cx="1768660" cy="487649"/>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55636A"/>
                </a:solidFill>
                <a:latin typeface="Nunito Sans" pitchFamily="34" charset="0"/>
                <a:ea typeface="Nunito Sans" pitchFamily="34" charset="-122"/>
                <a:cs typeface="Nunito Sans" pitchFamily="34" charset="-120"/>
              </a:rPr>
              <a:t>Oversharing through broad file access </a:t>
            </a:r>
            <a:r>
              <a:rPr lang="en-US" sz="1400" dirty="0">
                <a:solidFill>
                  <a:srgbClr val="4F7A64"/>
                </a:solidFill>
                <a:latin typeface="Nunito Sans" pitchFamily="34" charset="0"/>
                <a:ea typeface="Nunito Sans" pitchFamily="34" charset="-122"/>
                <a:cs typeface="Nunito Sans" pitchFamily="34" charset="-120"/>
              </a:rPr>
              <a:t>[1]</a:t>
            </a:r>
            <a:endParaRPr lang="en-US" sz="1400" dirty="0"/>
          </a:p>
        </p:txBody>
      </p:sp>
      <p:sp>
        <p:nvSpPr>
          <p:cNvPr id="18" name="Text 16"/>
          <p:cNvSpPr/>
          <p:nvPr/>
        </p:nvSpPr>
        <p:spPr>
          <a:xfrm>
            <a:off x="968651" y="4239838"/>
            <a:ext cx="279356" cy="231125"/>
          </a:xfrm>
          <a:custGeom>
            <a:avLst/>
            <a:gdLst/>
            <a:ahLst/>
            <a:cxnLst/>
            <a:rect l="l" t="t" r="r" b="b"/>
            <a:pathLst>
              <a:path w="279356" h="231125">
                <a:moveTo>
                  <a:pt x="63500" y="0"/>
                </a:moveTo>
                <a:lnTo>
                  <a:pt x="215856" y="0"/>
                </a:lnTo>
                <a:arcTo wR="63500" hR="63500" stAng="16200000" swAng="5400000"/>
                <a:lnTo>
                  <a:pt x="279356" y="167625"/>
                </a:lnTo>
                <a:arcTo wR="63500" hR="63500" stAng="0" swAng="5400000"/>
                <a:lnTo>
                  <a:pt x="63500" y="231125"/>
                </a:lnTo>
                <a:arcTo wR="63500" hR="63500" stAng="5400000" swAng="5400000"/>
                <a:lnTo>
                  <a:pt x="0" y="63500"/>
                </a:lnTo>
                <a:arcTo wR="63500" hR="63500" stAng="10800000" swAng="5400000"/>
                <a:close/>
              </a:path>
            </a:pathLst>
          </a:custGeom>
          <a:solidFill>
            <a:srgbClr val="F2C4BB"/>
          </a:solidFill>
          <a:ln/>
        </p:spPr>
        <p:txBody>
          <a:bodyPr wrap="square" lIns="0" tIns="0" rIns="0" bIns="0" rtlCol="0" anchor="t">
            <a:normAutofit/>
          </a:bodyPr>
          <a:lstStyle/>
          <a:p>
            <a:pPr marL="0" indent="0" algn="ctr">
              <a:lnSpc>
                <a:spcPts val="1820"/>
              </a:lnSpc>
              <a:buNone/>
            </a:pPr>
            <a:r>
              <a:rPr lang="en-US" sz="1300" b="1" dirty="0">
                <a:solidFill>
                  <a:srgbClr val="2E3B40"/>
                </a:solidFill>
                <a:latin typeface="Nunito Sans" pitchFamily="34" charset="0"/>
                <a:ea typeface="Nunito Sans" pitchFamily="34" charset="-122"/>
                <a:cs typeface="Nunito Sans" pitchFamily="34" charset="-120"/>
              </a:rPr>
              <a:t>H</a:t>
            </a:r>
            <a:endParaRPr lang="en-US" sz="1300" dirty="0"/>
          </a:p>
        </p:txBody>
      </p:sp>
      <p:sp>
        <p:nvSpPr>
          <p:cNvPr id="19" name="Text 17"/>
          <p:cNvSpPr/>
          <p:nvPr/>
        </p:nvSpPr>
        <p:spPr>
          <a:xfrm>
            <a:off x="1324184" y="4239838"/>
            <a:ext cx="1768660" cy="487649"/>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55636A"/>
                </a:solidFill>
                <a:latin typeface="Nunito Sans" pitchFamily="34" charset="0"/>
                <a:ea typeface="Nunito Sans" pitchFamily="34" charset="-122"/>
                <a:cs typeface="Nunito Sans" pitchFamily="34" charset="-120"/>
              </a:rPr>
              <a:t>Prompt injection in docs and email </a:t>
            </a:r>
            <a:r>
              <a:rPr lang="en-US" sz="1400" dirty="0">
                <a:solidFill>
                  <a:srgbClr val="4F7A64"/>
                </a:solidFill>
                <a:latin typeface="Nunito Sans" pitchFamily="34" charset="0"/>
                <a:ea typeface="Nunito Sans" pitchFamily="34" charset="-122"/>
                <a:cs typeface="Nunito Sans" pitchFamily="34" charset="-120"/>
              </a:rPr>
              <a:t>[2]</a:t>
            </a:r>
            <a:endParaRPr lang="en-US" sz="1400" dirty="0"/>
          </a:p>
        </p:txBody>
      </p:sp>
      <p:sp>
        <p:nvSpPr>
          <p:cNvPr id="20" name="Text 18"/>
          <p:cNvSpPr/>
          <p:nvPr/>
        </p:nvSpPr>
        <p:spPr>
          <a:xfrm>
            <a:off x="968651" y="5033533"/>
            <a:ext cx="279356" cy="231125"/>
          </a:xfrm>
          <a:custGeom>
            <a:avLst/>
            <a:gdLst/>
            <a:ahLst/>
            <a:cxnLst/>
            <a:rect l="l" t="t" r="r" b="b"/>
            <a:pathLst>
              <a:path w="279356" h="231125">
                <a:moveTo>
                  <a:pt x="63500" y="0"/>
                </a:moveTo>
                <a:lnTo>
                  <a:pt x="215856" y="0"/>
                </a:lnTo>
                <a:arcTo wR="63500" hR="63500" stAng="16200000" swAng="5400000"/>
                <a:lnTo>
                  <a:pt x="279356" y="167625"/>
                </a:lnTo>
                <a:arcTo wR="63500" hR="63500" stAng="0" swAng="5400000"/>
                <a:lnTo>
                  <a:pt x="63500" y="231125"/>
                </a:lnTo>
                <a:arcTo wR="63500" hR="63500" stAng="5400000" swAng="5400000"/>
                <a:lnTo>
                  <a:pt x="0" y="63500"/>
                </a:lnTo>
                <a:arcTo wR="63500" hR="63500" stAng="10800000" swAng="5400000"/>
                <a:close/>
              </a:path>
            </a:pathLst>
          </a:custGeom>
          <a:solidFill>
            <a:srgbClr val="F5E3B3"/>
          </a:solidFill>
          <a:ln/>
        </p:spPr>
        <p:txBody>
          <a:bodyPr wrap="square" lIns="0" tIns="0" rIns="0" bIns="0" rtlCol="0" anchor="t">
            <a:normAutofit/>
          </a:bodyPr>
          <a:lstStyle/>
          <a:p>
            <a:pPr marL="0" indent="0" algn="ctr">
              <a:lnSpc>
                <a:spcPts val="1820"/>
              </a:lnSpc>
              <a:buNone/>
            </a:pPr>
            <a:r>
              <a:rPr lang="en-US" sz="1300" b="1" dirty="0">
                <a:solidFill>
                  <a:srgbClr val="2E3B40"/>
                </a:solidFill>
                <a:latin typeface="Nunito Sans" pitchFamily="34" charset="0"/>
                <a:ea typeface="Nunito Sans" pitchFamily="34" charset="-122"/>
                <a:cs typeface="Nunito Sans" pitchFamily="34" charset="-120"/>
              </a:rPr>
              <a:t>M</a:t>
            </a:r>
            <a:endParaRPr lang="en-US" sz="1300" dirty="0"/>
          </a:p>
        </p:txBody>
      </p:sp>
      <p:sp>
        <p:nvSpPr>
          <p:cNvPr id="21" name="Text 19"/>
          <p:cNvSpPr/>
          <p:nvPr/>
        </p:nvSpPr>
        <p:spPr>
          <a:xfrm>
            <a:off x="1324184" y="5033533"/>
            <a:ext cx="1768660" cy="487649"/>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5636A"/>
                </a:solidFill>
                <a:latin typeface="Nunito Sans" pitchFamily="34" charset="0"/>
                <a:ea typeface="Nunito Sans" pitchFamily="34" charset="-122"/>
                <a:cs typeface="Nunito Sans" pitchFamily="34" charset="-120"/>
              </a:rPr>
              <a:t>Agents with excess privilege </a:t>
            </a:r>
            <a:r>
              <a:rPr lang="en-US" sz="1400" dirty="0">
                <a:solidFill>
                  <a:srgbClr val="4F7A64"/>
                </a:solidFill>
                <a:latin typeface="Nunito Sans" pitchFamily="34" charset="0"/>
                <a:ea typeface="Nunito Sans" pitchFamily="34" charset="-122"/>
                <a:cs typeface="Nunito Sans" pitchFamily="34" charset="-120"/>
              </a:rPr>
              <a:t>[2]</a:t>
            </a:r>
            <a:endParaRPr lang="en-US" sz="1400" dirty="0"/>
          </a:p>
        </p:txBody>
      </p:sp>
      <p:pic>
        <p:nvPicPr>
          <p:cNvPr id="22" name="Image 0" descr="arrow-right"/>
          <p:cNvPicPr>
            <a:picLocks noChangeAspect="1"/>
          </p:cNvPicPr>
          <p:nvPr/>
        </p:nvPicPr>
        <p:blipFill>
          <a:blip r:embed="rId3"/>
          <a:srcRect/>
          <a:stretch/>
        </p:blipFill>
        <p:spPr>
          <a:xfrm>
            <a:off x="3273392" y="3943891"/>
            <a:ext cx="190500" cy="127000"/>
          </a:xfrm>
          <a:prstGeom prst="rect">
            <a:avLst/>
          </a:prstGeom>
        </p:spPr>
      </p:pic>
      <p:sp>
        <p:nvSpPr>
          <p:cNvPr id="23" name="Shape 20"/>
          <p:cNvSpPr/>
          <p:nvPr/>
        </p:nvSpPr>
        <p:spPr>
          <a:xfrm>
            <a:off x="3543245" y="1617134"/>
            <a:ext cx="2378152" cy="4780514"/>
          </a:xfrm>
          <a:prstGeom prst="roundRect">
            <a:avLst>
              <a:gd name="adj" fmla="val 6275"/>
            </a:avLst>
          </a:prstGeom>
          <a:solidFill>
            <a:srgbClr val="FBFAF7"/>
          </a:solidFill>
          <a:ln w="6350">
            <a:solidFill>
              <a:srgbClr val="DCE3DE"/>
            </a:solidFill>
            <a:prstDash val="solid"/>
          </a:ln>
        </p:spPr>
        <p:txBody>
          <a:bodyPr/>
          <a:lstStyle/>
          <a:p>
            <a:endParaRPr lang="en-US"/>
          </a:p>
        </p:txBody>
      </p:sp>
      <p:sp>
        <p:nvSpPr>
          <p:cNvPr id="24" name="Shape 21"/>
          <p:cNvSpPr/>
          <p:nvPr/>
        </p:nvSpPr>
        <p:spPr>
          <a:xfrm>
            <a:off x="3543598" y="1617487"/>
            <a:ext cx="2377447" cy="1346123"/>
          </a:xfrm>
          <a:custGeom>
            <a:avLst/>
            <a:gdLst/>
            <a:ahLst/>
            <a:cxnLst/>
            <a:rect l="l" t="t" r="r" b="b"/>
            <a:pathLst>
              <a:path w="2377447" h="1346123">
                <a:moveTo>
                  <a:pt x="0" y="148872"/>
                </a:moveTo>
                <a:arcTo wR="148872" hR="148872" stAng="10800000" swAng="5400000"/>
                <a:lnTo>
                  <a:pt x="2228575" y="0"/>
                </a:lnTo>
                <a:arcTo wR="148872" hR="148872" stAng="16200000" swAng="5400000"/>
                <a:lnTo>
                  <a:pt x="2377447" y="1346123"/>
                </a:lnTo>
                <a:lnTo>
                  <a:pt x="0" y="1346123"/>
                </a:lnTo>
                <a:close/>
              </a:path>
            </a:pathLst>
          </a:custGeom>
          <a:solidFill>
            <a:srgbClr val="D3E2EC"/>
          </a:solidFill>
          <a:ln/>
        </p:spPr>
        <p:txBody>
          <a:bodyPr/>
          <a:lstStyle/>
          <a:p>
            <a:endParaRPr lang="en-US"/>
          </a:p>
        </p:txBody>
      </p:sp>
      <p:sp>
        <p:nvSpPr>
          <p:cNvPr id="25" name="Text 22"/>
          <p:cNvSpPr/>
          <p:nvPr/>
        </p:nvSpPr>
        <p:spPr>
          <a:xfrm>
            <a:off x="3695954" y="1744487"/>
            <a:ext cx="2134917" cy="638682"/>
          </a:xfrm>
          <a:prstGeom prst="rect">
            <a:avLst/>
          </a:prstGeom>
          <a:noFill/>
          <a:ln/>
        </p:spPr>
        <p:txBody>
          <a:bodyPr wrap="square" lIns="0" tIns="0" rIns="0" bIns="0" rtlCol="0" anchor="t">
            <a:normAutofit/>
          </a:bodyPr>
          <a:lstStyle/>
          <a:p>
            <a:pPr marL="0" indent="0" algn="l">
              <a:lnSpc>
                <a:spcPts val="2415"/>
              </a:lnSpc>
              <a:buNone/>
            </a:pPr>
            <a:r>
              <a:rPr lang="en-US" sz="2100" b="1" dirty="0">
                <a:solidFill>
                  <a:srgbClr val="2E3B40"/>
                </a:solidFill>
                <a:latin typeface="Lora" pitchFamily="18" charset="0"/>
                <a:ea typeface="Lora" pitchFamily="18" charset="-122"/>
                <a:cs typeface="Lora" pitchFamily="18" charset="-120"/>
              </a:rPr>
              <a:t>Enterprise unsanctioned AI</a:t>
            </a:r>
            <a:endParaRPr lang="en-US" sz="2100" dirty="0"/>
          </a:p>
        </p:txBody>
      </p:sp>
      <p:sp>
        <p:nvSpPr>
          <p:cNvPr id="26" name="Text 23"/>
          <p:cNvSpPr/>
          <p:nvPr/>
        </p:nvSpPr>
        <p:spPr>
          <a:xfrm>
            <a:off x="3695954" y="2404842"/>
            <a:ext cx="2134917" cy="454576"/>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F4D52"/>
                </a:solidFill>
                <a:latin typeface="Nunito Sans" pitchFamily="34" charset="0"/>
                <a:ea typeface="Nunito Sans" pitchFamily="34" charset="-122"/>
                <a:cs typeface="Nunito Sans" pitchFamily="34" charset="-120"/>
              </a:rPr>
              <a:t>Shadow AI: personal accounts, local agents</a:t>
            </a:r>
            <a:endParaRPr lang="en-US" sz="1300" dirty="0"/>
          </a:p>
        </p:txBody>
      </p:sp>
      <p:sp>
        <p:nvSpPr>
          <p:cNvPr id="27" name="Text 24"/>
          <p:cNvSpPr/>
          <p:nvPr/>
        </p:nvSpPr>
        <p:spPr>
          <a:xfrm>
            <a:off x="3695954" y="3090610"/>
            <a:ext cx="2134917" cy="292078"/>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4A6F86"/>
                </a:solidFill>
                <a:latin typeface="Nunito Sans" pitchFamily="34" charset="0"/>
                <a:ea typeface="Nunito Sans" pitchFamily="34" charset="-122"/>
                <a:cs typeface="Nunito Sans" pitchFamily="34" charset="-120"/>
              </a:rPr>
              <a:t>Key risks</a:t>
            </a:r>
            <a:endParaRPr lang="en-US" sz="1500" dirty="0"/>
          </a:p>
        </p:txBody>
      </p:sp>
      <p:sp>
        <p:nvSpPr>
          <p:cNvPr id="28" name="Text 25"/>
          <p:cNvSpPr/>
          <p:nvPr/>
        </p:nvSpPr>
        <p:spPr>
          <a:xfrm>
            <a:off x="3695954" y="3446143"/>
            <a:ext cx="279356" cy="231125"/>
          </a:xfrm>
          <a:custGeom>
            <a:avLst/>
            <a:gdLst/>
            <a:ahLst/>
            <a:cxnLst/>
            <a:rect l="l" t="t" r="r" b="b"/>
            <a:pathLst>
              <a:path w="279356" h="231125">
                <a:moveTo>
                  <a:pt x="63500" y="0"/>
                </a:moveTo>
                <a:lnTo>
                  <a:pt x="215856" y="0"/>
                </a:lnTo>
                <a:arcTo wR="63500" hR="63500" stAng="16200000" swAng="5400000"/>
                <a:lnTo>
                  <a:pt x="279356" y="167625"/>
                </a:lnTo>
                <a:arcTo wR="63500" hR="63500" stAng="0" swAng="5400000"/>
                <a:lnTo>
                  <a:pt x="63500" y="231125"/>
                </a:lnTo>
                <a:arcTo wR="63500" hR="63500" stAng="5400000" swAng="5400000"/>
                <a:lnTo>
                  <a:pt x="0" y="63500"/>
                </a:lnTo>
                <a:arcTo wR="63500" hR="63500" stAng="10800000" swAng="5400000"/>
                <a:close/>
              </a:path>
            </a:pathLst>
          </a:custGeom>
          <a:solidFill>
            <a:srgbClr val="F2C4BB"/>
          </a:solidFill>
          <a:ln/>
        </p:spPr>
        <p:txBody>
          <a:bodyPr wrap="square" lIns="0" tIns="0" rIns="0" bIns="0" rtlCol="0" anchor="t">
            <a:normAutofit/>
          </a:bodyPr>
          <a:lstStyle/>
          <a:p>
            <a:pPr marL="0" indent="0" algn="ctr">
              <a:lnSpc>
                <a:spcPts val="1820"/>
              </a:lnSpc>
              <a:buNone/>
            </a:pPr>
            <a:r>
              <a:rPr lang="en-US" sz="1300" b="1" dirty="0">
                <a:solidFill>
                  <a:srgbClr val="2E3B40"/>
                </a:solidFill>
                <a:latin typeface="Nunito Sans" pitchFamily="34" charset="0"/>
                <a:ea typeface="Nunito Sans" pitchFamily="34" charset="-122"/>
                <a:cs typeface="Nunito Sans" pitchFamily="34" charset="-120"/>
              </a:rPr>
              <a:t>H</a:t>
            </a:r>
            <a:endParaRPr lang="en-US" sz="1300" dirty="0"/>
          </a:p>
        </p:txBody>
      </p:sp>
      <p:sp>
        <p:nvSpPr>
          <p:cNvPr id="29" name="Text 26"/>
          <p:cNvSpPr/>
          <p:nvPr/>
        </p:nvSpPr>
        <p:spPr>
          <a:xfrm>
            <a:off x="4051488" y="3446143"/>
            <a:ext cx="1768717" cy="487649"/>
          </a:xfrm>
          <a:prstGeom prst="rect">
            <a:avLst/>
          </a:prstGeom>
          <a:noFill/>
          <a:ln/>
        </p:spPr>
        <p:txBody>
          <a:bodyPr wrap="square" lIns="0" tIns="0" rIns="0" bIns="0" rtlCol="0" anchor="t">
            <a:normAutofit fontScale="92500"/>
          </a:bodyPr>
          <a:lstStyle/>
          <a:p>
            <a:pPr marL="0" indent="0" algn="l">
              <a:lnSpc>
                <a:spcPts val="1820"/>
              </a:lnSpc>
              <a:buNone/>
            </a:pPr>
            <a:r>
              <a:rPr lang="en-US" sz="1400" b="1" dirty="0">
                <a:solidFill>
                  <a:srgbClr val="55636A"/>
                </a:solidFill>
                <a:latin typeface="Nunito Sans" pitchFamily="34" charset="0"/>
                <a:ea typeface="Nunito Sans" pitchFamily="34" charset="-122"/>
                <a:cs typeface="Nunito Sans" pitchFamily="34" charset="-120"/>
              </a:rPr>
              <a:t>Data pasted into personal accounts </a:t>
            </a:r>
            <a:r>
              <a:rPr lang="en-US" sz="1400" b="1" dirty="0">
                <a:solidFill>
                  <a:srgbClr val="4A6F86"/>
                </a:solidFill>
                <a:latin typeface="Nunito Sans" pitchFamily="34" charset="0"/>
                <a:ea typeface="Nunito Sans" pitchFamily="34" charset="-122"/>
                <a:cs typeface="Nunito Sans" pitchFamily="34" charset="-120"/>
              </a:rPr>
              <a:t>[</a:t>
            </a:r>
            <a:r>
              <a:rPr lang="en-US" sz="1400" dirty="0">
                <a:solidFill>
                  <a:srgbClr val="4A6F86"/>
                </a:solidFill>
                <a:latin typeface="Nunito Sans" pitchFamily="34" charset="0"/>
                <a:ea typeface="Nunito Sans" pitchFamily="34" charset="-122"/>
                <a:cs typeface="Nunito Sans" pitchFamily="34" charset="-120"/>
              </a:rPr>
              <a:t>3]</a:t>
            </a:r>
            <a:endParaRPr lang="en-US" sz="1400" dirty="0"/>
          </a:p>
        </p:txBody>
      </p:sp>
      <p:sp>
        <p:nvSpPr>
          <p:cNvPr id="30" name="Text 27"/>
          <p:cNvSpPr/>
          <p:nvPr/>
        </p:nvSpPr>
        <p:spPr>
          <a:xfrm>
            <a:off x="3695954" y="4239838"/>
            <a:ext cx="279356" cy="231125"/>
          </a:xfrm>
          <a:custGeom>
            <a:avLst/>
            <a:gdLst/>
            <a:ahLst/>
            <a:cxnLst/>
            <a:rect l="l" t="t" r="r" b="b"/>
            <a:pathLst>
              <a:path w="279356" h="231125">
                <a:moveTo>
                  <a:pt x="63500" y="0"/>
                </a:moveTo>
                <a:lnTo>
                  <a:pt x="215856" y="0"/>
                </a:lnTo>
                <a:arcTo wR="63500" hR="63500" stAng="16200000" swAng="5400000"/>
                <a:lnTo>
                  <a:pt x="279356" y="167625"/>
                </a:lnTo>
                <a:arcTo wR="63500" hR="63500" stAng="0" swAng="5400000"/>
                <a:lnTo>
                  <a:pt x="63500" y="231125"/>
                </a:lnTo>
                <a:arcTo wR="63500" hR="63500" stAng="5400000" swAng="5400000"/>
                <a:lnTo>
                  <a:pt x="0" y="63500"/>
                </a:lnTo>
                <a:arcTo wR="63500" hR="63500" stAng="10800000" swAng="5400000"/>
                <a:close/>
              </a:path>
            </a:pathLst>
          </a:custGeom>
          <a:solidFill>
            <a:srgbClr val="F5E3B3"/>
          </a:solidFill>
          <a:ln/>
        </p:spPr>
        <p:txBody>
          <a:bodyPr wrap="square" lIns="0" tIns="0" rIns="0" bIns="0" rtlCol="0" anchor="t">
            <a:normAutofit/>
          </a:bodyPr>
          <a:lstStyle/>
          <a:p>
            <a:pPr marL="0" indent="0" algn="ctr">
              <a:lnSpc>
                <a:spcPts val="1820"/>
              </a:lnSpc>
              <a:buNone/>
            </a:pPr>
            <a:r>
              <a:rPr lang="en-US" sz="1300" b="1" dirty="0">
                <a:solidFill>
                  <a:srgbClr val="2E3B40"/>
                </a:solidFill>
                <a:latin typeface="Nunito Sans" pitchFamily="34" charset="0"/>
                <a:ea typeface="Nunito Sans" pitchFamily="34" charset="-122"/>
                <a:cs typeface="Nunito Sans" pitchFamily="34" charset="-120"/>
              </a:rPr>
              <a:t>M</a:t>
            </a:r>
            <a:endParaRPr lang="en-US" sz="1300" dirty="0"/>
          </a:p>
        </p:txBody>
      </p:sp>
      <p:sp>
        <p:nvSpPr>
          <p:cNvPr id="31" name="Text 28"/>
          <p:cNvSpPr/>
          <p:nvPr/>
        </p:nvSpPr>
        <p:spPr>
          <a:xfrm>
            <a:off x="4051488" y="4239838"/>
            <a:ext cx="1768717" cy="718774"/>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5636A"/>
                </a:solidFill>
                <a:latin typeface="Nunito Sans" pitchFamily="34" charset="0"/>
                <a:ea typeface="Nunito Sans" pitchFamily="34" charset="-122"/>
                <a:cs typeface="Nunito Sans" pitchFamily="34" charset="-120"/>
              </a:rPr>
              <a:t>Local MCP servers holding credentials </a:t>
            </a:r>
            <a:r>
              <a:rPr lang="en-US" sz="1400" dirty="0">
                <a:solidFill>
                  <a:srgbClr val="4A6F86"/>
                </a:solidFill>
                <a:latin typeface="Nunito Sans" pitchFamily="34" charset="0"/>
                <a:ea typeface="Nunito Sans" pitchFamily="34" charset="-122"/>
                <a:cs typeface="Nunito Sans" pitchFamily="34" charset="-120"/>
              </a:rPr>
              <a:t>[4]</a:t>
            </a:r>
            <a:endParaRPr lang="en-US" sz="1400" dirty="0"/>
          </a:p>
        </p:txBody>
      </p:sp>
      <p:sp>
        <p:nvSpPr>
          <p:cNvPr id="32" name="Text 29"/>
          <p:cNvSpPr/>
          <p:nvPr/>
        </p:nvSpPr>
        <p:spPr>
          <a:xfrm>
            <a:off x="3695954" y="5033533"/>
            <a:ext cx="279356" cy="231125"/>
          </a:xfrm>
          <a:custGeom>
            <a:avLst/>
            <a:gdLst/>
            <a:ahLst/>
            <a:cxnLst/>
            <a:rect l="l" t="t" r="r" b="b"/>
            <a:pathLst>
              <a:path w="279356" h="231125">
                <a:moveTo>
                  <a:pt x="63500" y="0"/>
                </a:moveTo>
                <a:lnTo>
                  <a:pt x="215856" y="0"/>
                </a:lnTo>
                <a:arcTo wR="63500" hR="63500" stAng="16200000" swAng="5400000"/>
                <a:lnTo>
                  <a:pt x="279356" y="167625"/>
                </a:lnTo>
                <a:arcTo wR="63500" hR="63500" stAng="0" swAng="5400000"/>
                <a:lnTo>
                  <a:pt x="63500" y="231125"/>
                </a:lnTo>
                <a:arcTo wR="63500" hR="63500" stAng="5400000" swAng="5400000"/>
                <a:lnTo>
                  <a:pt x="0" y="63500"/>
                </a:lnTo>
                <a:arcTo wR="63500" hR="63500" stAng="10800000" swAng="5400000"/>
                <a:close/>
              </a:path>
            </a:pathLst>
          </a:custGeom>
          <a:solidFill>
            <a:srgbClr val="F5E3B3"/>
          </a:solidFill>
          <a:ln/>
        </p:spPr>
        <p:txBody>
          <a:bodyPr wrap="square" lIns="0" tIns="0" rIns="0" bIns="0" rtlCol="0" anchor="t">
            <a:normAutofit/>
          </a:bodyPr>
          <a:lstStyle/>
          <a:p>
            <a:pPr marL="0" indent="0" algn="ctr">
              <a:lnSpc>
                <a:spcPts val="1820"/>
              </a:lnSpc>
              <a:buNone/>
            </a:pPr>
            <a:r>
              <a:rPr lang="en-US" sz="1300" b="1" dirty="0">
                <a:solidFill>
                  <a:srgbClr val="2E3B40"/>
                </a:solidFill>
                <a:latin typeface="Nunito Sans" pitchFamily="34" charset="0"/>
                <a:ea typeface="Nunito Sans" pitchFamily="34" charset="-122"/>
                <a:cs typeface="Nunito Sans" pitchFamily="34" charset="-120"/>
              </a:rPr>
              <a:t>M</a:t>
            </a:r>
            <a:endParaRPr lang="en-US" sz="1300" dirty="0"/>
          </a:p>
        </p:txBody>
      </p:sp>
      <p:sp>
        <p:nvSpPr>
          <p:cNvPr id="33" name="Text 30"/>
          <p:cNvSpPr/>
          <p:nvPr/>
        </p:nvSpPr>
        <p:spPr>
          <a:xfrm>
            <a:off x="4051488" y="5033533"/>
            <a:ext cx="1768717" cy="487649"/>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5636A"/>
                </a:solidFill>
                <a:latin typeface="Nunito Sans" pitchFamily="34" charset="0"/>
                <a:ea typeface="Nunito Sans" pitchFamily="34" charset="-122"/>
                <a:cs typeface="Nunito Sans" pitchFamily="34" charset="-120"/>
              </a:rPr>
              <a:t>No contract; inputs used for training </a:t>
            </a:r>
            <a:r>
              <a:rPr lang="en-US" sz="1400" dirty="0">
                <a:solidFill>
                  <a:srgbClr val="4A6F86"/>
                </a:solidFill>
                <a:latin typeface="Nunito Sans" pitchFamily="34" charset="0"/>
                <a:ea typeface="Nunito Sans" pitchFamily="34" charset="-122"/>
                <a:cs typeface="Nunito Sans" pitchFamily="34" charset="-120"/>
              </a:rPr>
              <a:t>[3]</a:t>
            </a:r>
            <a:endParaRPr lang="en-US" sz="1400" dirty="0"/>
          </a:p>
        </p:txBody>
      </p:sp>
      <p:pic>
        <p:nvPicPr>
          <p:cNvPr id="34" name="Image 1" descr="arrow-right"/>
          <p:cNvPicPr>
            <a:picLocks noChangeAspect="1"/>
          </p:cNvPicPr>
          <p:nvPr/>
        </p:nvPicPr>
        <p:blipFill>
          <a:blip r:embed="rId3"/>
          <a:srcRect/>
          <a:stretch/>
        </p:blipFill>
        <p:spPr>
          <a:xfrm>
            <a:off x="6000750" y="3943891"/>
            <a:ext cx="190500" cy="127000"/>
          </a:xfrm>
          <a:prstGeom prst="rect">
            <a:avLst/>
          </a:prstGeom>
        </p:spPr>
      </p:pic>
      <p:sp>
        <p:nvSpPr>
          <p:cNvPr id="35" name="Shape 31"/>
          <p:cNvSpPr/>
          <p:nvPr/>
        </p:nvSpPr>
        <p:spPr>
          <a:xfrm>
            <a:off x="6270603" y="1617134"/>
            <a:ext cx="2378097" cy="4780514"/>
          </a:xfrm>
          <a:prstGeom prst="roundRect">
            <a:avLst>
              <a:gd name="adj" fmla="val 6275"/>
            </a:avLst>
          </a:prstGeom>
          <a:solidFill>
            <a:srgbClr val="FBFAF7"/>
          </a:solidFill>
          <a:ln w="6350">
            <a:solidFill>
              <a:srgbClr val="DCE3DE"/>
            </a:solidFill>
            <a:prstDash val="solid"/>
          </a:ln>
        </p:spPr>
        <p:txBody>
          <a:bodyPr/>
          <a:lstStyle/>
          <a:p>
            <a:endParaRPr lang="en-US"/>
          </a:p>
        </p:txBody>
      </p:sp>
      <p:sp>
        <p:nvSpPr>
          <p:cNvPr id="36" name="Shape 32"/>
          <p:cNvSpPr/>
          <p:nvPr/>
        </p:nvSpPr>
        <p:spPr>
          <a:xfrm>
            <a:off x="6270956" y="1617487"/>
            <a:ext cx="2377392" cy="1346123"/>
          </a:xfrm>
          <a:custGeom>
            <a:avLst/>
            <a:gdLst/>
            <a:ahLst/>
            <a:cxnLst/>
            <a:rect l="l" t="t" r="r" b="b"/>
            <a:pathLst>
              <a:path w="2377392" h="1346123">
                <a:moveTo>
                  <a:pt x="0" y="148872"/>
                </a:moveTo>
                <a:arcTo wR="148872" hR="148872" stAng="10800000" swAng="5400000"/>
                <a:lnTo>
                  <a:pt x="2228519" y="0"/>
                </a:lnTo>
                <a:arcTo wR="148872" hR="148872" stAng="16200000" swAng="5400000"/>
                <a:lnTo>
                  <a:pt x="2377392" y="1346123"/>
                </a:lnTo>
                <a:lnTo>
                  <a:pt x="0" y="1346123"/>
                </a:lnTo>
                <a:close/>
              </a:path>
            </a:pathLst>
          </a:custGeom>
          <a:solidFill>
            <a:srgbClr val="E0DAEC"/>
          </a:solidFill>
          <a:ln/>
        </p:spPr>
        <p:txBody>
          <a:bodyPr/>
          <a:lstStyle/>
          <a:p>
            <a:endParaRPr lang="en-US"/>
          </a:p>
        </p:txBody>
      </p:sp>
      <p:sp>
        <p:nvSpPr>
          <p:cNvPr id="37" name="Text 33"/>
          <p:cNvSpPr/>
          <p:nvPr/>
        </p:nvSpPr>
        <p:spPr>
          <a:xfrm>
            <a:off x="6423312" y="1744487"/>
            <a:ext cx="2134860" cy="332041"/>
          </a:xfrm>
          <a:prstGeom prst="rect">
            <a:avLst/>
          </a:prstGeom>
          <a:noFill/>
          <a:ln/>
        </p:spPr>
        <p:txBody>
          <a:bodyPr wrap="square" lIns="0" tIns="0" rIns="0" bIns="0" rtlCol="0" anchor="t">
            <a:normAutofit/>
          </a:bodyPr>
          <a:lstStyle/>
          <a:p>
            <a:pPr marL="0" indent="0" algn="l">
              <a:lnSpc>
                <a:spcPts val="2415"/>
              </a:lnSpc>
              <a:buNone/>
            </a:pPr>
            <a:r>
              <a:rPr lang="en-US" sz="2100" b="1" dirty="0">
                <a:solidFill>
                  <a:srgbClr val="2E3B40"/>
                </a:solidFill>
                <a:latin typeface="Lora" pitchFamily="18" charset="0"/>
                <a:ea typeface="Lora" pitchFamily="18" charset="-122"/>
                <a:cs typeface="Lora" pitchFamily="18" charset="-120"/>
              </a:rPr>
              <a:t>Vendor AI</a:t>
            </a:r>
            <a:endParaRPr lang="en-US" sz="2100" dirty="0"/>
          </a:p>
        </p:txBody>
      </p:sp>
      <p:sp>
        <p:nvSpPr>
          <p:cNvPr id="38" name="Text 34"/>
          <p:cNvSpPr/>
          <p:nvPr/>
        </p:nvSpPr>
        <p:spPr>
          <a:xfrm>
            <a:off x="6423312" y="2404842"/>
            <a:ext cx="2134860" cy="454576"/>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F4D52"/>
                </a:solidFill>
                <a:latin typeface="Nunito Sans" pitchFamily="34" charset="0"/>
                <a:ea typeface="Nunito Sans" pitchFamily="34" charset="-122"/>
                <a:cs typeface="Nunito Sans" pitchFamily="34" charset="-120"/>
              </a:rPr>
              <a:t>AI features inside the SaaS you already use</a:t>
            </a:r>
            <a:endParaRPr lang="en-US" sz="1300" dirty="0"/>
          </a:p>
        </p:txBody>
      </p:sp>
      <p:sp>
        <p:nvSpPr>
          <p:cNvPr id="39" name="Text 35"/>
          <p:cNvSpPr/>
          <p:nvPr/>
        </p:nvSpPr>
        <p:spPr>
          <a:xfrm>
            <a:off x="6423312" y="3090610"/>
            <a:ext cx="2134860" cy="292078"/>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6B5E8C"/>
                </a:solidFill>
                <a:latin typeface="Nunito Sans" pitchFamily="34" charset="0"/>
                <a:ea typeface="Nunito Sans" pitchFamily="34" charset="-122"/>
                <a:cs typeface="Nunito Sans" pitchFamily="34" charset="-120"/>
              </a:rPr>
              <a:t>Key risks</a:t>
            </a:r>
            <a:endParaRPr lang="en-US" sz="1500" dirty="0"/>
          </a:p>
        </p:txBody>
      </p:sp>
      <p:sp>
        <p:nvSpPr>
          <p:cNvPr id="40" name="Text 36"/>
          <p:cNvSpPr/>
          <p:nvPr/>
        </p:nvSpPr>
        <p:spPr>
          <a:xfrm>
            <a:off x="6423312" y="3446143"/>
            <a:ext cx="279356" cy="231125"/>
          </a:xfrm>
          <a:custGeom>
            <a:avLst/>
            <a:gdLst/>
            <a:ahLst/>
            <a:cxnLst/>
            <a:rect l="l" t="t" r="r" b="b"/>
            <a:pathLst>
              <a:path w="279356" h="231125">
                <a:moveTo>
                  <a:pt x="63500" y="0"/>
                </a:moveTo>
                <a:lnTo>
                  <a:pt x="215856" y="0"/>
                </a:lnTo>
                <a:arcTo wR="63500" hR="63500" stAng="16200000" swAng="5400000"/>
                <a:lnTo>
                  <a:pt x="279356" y="167625"/>
                </a:lnTo>
                <a:arcTo wR="63500" hR="63500" stAng="0" swAng="5400000"/>
                <a:lnTo>
                  <a:pt x="63500" y="231125"/>
                </a:lnTo>
                <a:arcTo wR="63500" hR="63500" stAng="5400000" swAng="5400000"/>
                <a:lnTo>
                  <a:pt x="0" y="63500"/>
                </a:lnTo>
                <a:arcTo wR="63500" hR="63500" stAng="10800000" swAng="5400000"/>
                <a:close/>
              </a:path>
            </a:pathLst>
          </a:custGeom>
          <a:solidFill>
            <a:srgbClr val="F5E3B3"/>
          </a:solidFill>
          <a:ln/>
        </p:spPr>
        <p:txBody>
          <a:bodyPr wrap="square" lIns="0" tIns="0" rIns="0" bIns="0" rtlCol="0" anchor="t">
            <a:normAutofit/>
          </a:bodyPr>
          <a:lstStyle/>
          <a:p>
            <a:pPr marL="0" indent="0" algn="ctr">
              <a:lnSpc>
                <a:spcPts val="1820"/>
              </a:lnSpc>
              <a:buNone/>
            </a:pPr>
            <a:r>
              <a:rPr lang="en-US" sz="1300" b="1" dirty="0">
                <a:solidFill>
                  <a:srgbClr val="2E3B40"/>
                </a:solidFill>
                <a:latin typeface="Nunito Sans" pitchFamily="34" charset="0"/>
                <a:ea typeface="Nunito Sans" pitchFamily="34" charset="-122"/>
                <a:cs typeface="Nunito Sans" pitchFamily="34" charset="-120"/>
              </a:rPr>
              <a:t>M</a:t>
            </a:r>
            <a:endParaRPr lang="en-US" sz="1300" dirty="0"/>
          </a:p>
        </p:txBody>
      </p:sp>
      <p:sp>
        <p:nvSpPr>
          <p:cNvPr id="41" name="Text 37"/>
          <p:cNvSpPr/>
          <p:nvPr/>
        </p:nvSpPr>
        <p:spPr>
          <a:xfrm>
            <a:off x="6778846" y="3446143"/>
            <a:ext cx="1768660" cy="487649"/>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5636A"/>
                </a:solidFill>
                <a:latin typeface="Nunito Sans" pitchFamily="34" charset="0"/>
                <a:ea typeface="Nunito Sans" pitchFamily="34" charset="-122"/>
                <a:cs typeface="Nunito Sans" pitchFamily="34" charset="-120"/>
              </a:rPr>
              <a:t>Your data used to train models </a:t>
            </a:r>
            <a:r>
              <a:rPr lang="en-US" sz="1400" dirty="0">
                <a:solidFill>
                  <a:srgbClr val="6B5E8C"/>
                </a:solidFill>
                <a:latin typeface="Nunito Sans" pitchFamily="34" charset="0"/>
                <a:ea typeface="Nunito Sans" pitchFamily="34" charset="-122"/>
                <a:cs typeface="Nunito Sans" pitchFamily="34" charset="-120"/>
              </a:rPr>
              <a:t>[5]</a:t>
            </a:r>
            <a:endParaRPr lang="en-US" sz="1400" dirty="0"/>
          </a:p>
        </p:txBody>
      </p:sp>
      <p:sp>
        <p:nvSpPr>
          <p:cNvPr id="42" name="Text 38"/>
          <p:cNvSpPr/>
          <p:nvPr/>
        </p:nvSpPr>
        <p:spPr>
          <a:xfrm>
            <a:off x="6423312" y="4239838"/>
            <a:ext cx="279356" cy="231125"/>
          </a:xfrm>
          <a:custGeom>
            <a:avLst/>
            <a:gdLst/>
            <a:ahLst/>
            <a:cxnLst/>
            <a:rect l="l" t="t" r="r" b="b"/>
            <a:pathLst>
              <a:path w="279356" h="231125">
                <a:moveTo>
                  <a:pt x="63500" y="0"/>
                </a:moveTo>
                <a:lnTo>
                  <a:pt x="215856" y="0"/>
                </a:lnTo>
                <a:arcTo wR="63500" hR="63500" stAng="16200000" swAng="5400000"/>
                <a:lnTo>
                  <a:pt x="279356" y="167625"/>
                </a:lnTo>
                <a:arcTo wR="63500" hR="63500" stAng="0" swAng="5400000"/>
                <a:lnTo>
                  <a:pt x="63500" y="231125"/>
                </a:lnTo>
                <a:arcTo wR="63500" hR="63500" stAng="5400000" swAng="5400000"/>
                <a:lnTo>
                  <a:pt x="0" y="63500"/>
                </a:lnTo>
                <a:arcTo wR="63500" hR="63500" stAng="10800000" swAng="5400000"/>
                <a:close/>
              </a:path>
            </a:pathLst>
          </a:custGeom>
          <a:solidFill>
            <a:srgbClr val="F5E3B3"/>
          </a:solidFill>
          <a:ln/>
        </p:spPr>
        <p:txBody>
          <a:bodyPr wrap="square" lIns="0" tIns="0" rIns="0" bIns="0" rtlCol="0" anchor="t">
            <a:normAutofit/>
          </a:bodyPr>
          <a:lstStyle/>
          <a:p>
            <a:pPr marL="0" indent="0" algn="ctr">
              <a:lnSpc>
                <a:spcPts val="1820"/>
              </a:lnSpc>
              <a:buNone/>
            </a:pPr>
            <a:r>
              <a:rPr lang="en-US" sz="1300" b="1" dirty="0">
                <a:solidFill>
                  <a:srgbClr val="2E3B40"/>
                </a:solidFill>
                <a:latin typeface="Nunito Sans" pitchFamily="34" charset="0"/>
                <a:ea typeface="Nunito Sans" pitchFamily="34" charset="-122"/>
                <a:cs typeface="Nunito Sans" pitchFamily="34" charset="-120"/>
              </a:rPr>
              <a:t>M</a:t>
            </a:r>
            <a:endParaRPr lang="en-US" sz="1300" dirty="0"/>
          </a:p>
        </p:txBody>
      </p:sp>
      <p:sp>
        <p:nvSpPr>
          <p:cNvPr id="43" name="Text 39"/>
          <p:cNvSpPr/>
          <p:nvPr/>
        </p:nvSpPr>
        <p:spPr>
          <a:xfrm>
            <a:off x="6778846" y="4239838"/>
            <a:ext cx="1768660" cy="487649"/>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5636A"/>
                </a:solidFill>
                <a:latin typeface="Nunito Sans" pitchFamily="34" charset="0"/>
                <a:ea typeface="Nunito Sans" pitchFamily="34" charset="-122"/>
                <a:cs typeface="Nunito Sans" pitchFamily="34" charset="-120"/>
              </a:rPr>
              <a:t>AI switched on without notice </a:t>
            </a:r>
            <a:r>
              <a:rPr lang="en-US" sz="1400" dirty="0">
                <a:solidFill>
                  <a:srgbClr val="6B5E8C"/>
                </a:solidFill>
                <a:latin typeface="Nunito Sans" pitchFamily="34" charset="0"/>
                <a:ea typeface="Nunito Sans" pitchFamily="34" charset="-122"/>
                <a:cs typeface="Nunito Sans" pitchFamily="34" charset="-120"/>
              </a:rPr>
              <a:t>[5]</a:t>
            </a:r>
            <a:endParaRPr lang="en-US" sz="1400" dirty="0"/>
          </a:p>
        </p:txBody>
      </p:sp>
      <p:sp>
        <p:nvSpPr>
          <p:cNvPr id="44" name="Text 40"/>
          <p:cNvSpPr/>
          <p:nvPr/>
        </p:nvSpPr>
        <p:spPr>
          <a:xfrm>
            <a:off x="6423312" y="5033533"/>
            <a:ext cx="279356" cy="231125"/>
          </a:xfrm>
          <a:custGeom>
            <a:avLst/>
            <a:gdLst/>
            <a:ahLst/>
            <a:cxnLst/>
            <a:rect l="l" t="t" r="r" b="b"/>
            <a:pathLst>
              <a:path w="279356" h="231125">
                <a:moveTo>
                  <a:pt x="63500" y="0"/>
                </a:moveTo>
                <a:lnTo>
                  <a:pt x="215856" y="0"/>
                </a:lnTo>
                <a:arcTo wR="63500" hR="63500" stAng="16200000" swAng="5400000"/>
                <a:lnTo>
                  <a:pt x="279356" y="167625"/>
                </a:lnTo>
                <a:arcTo wR="63500" hR="63500" stAng="0" swAng="5400000"/>
                <a:lnTo>
                  <a:pt x="63500" y="231125"/>
                </a:lnTo>
                <a:arcTo wR="63500" hR="63500" stAng="5400000" swAng="5400000"/>
                <a:lnTo>
                  <a:pt x="0" y="63500"/>
                </a:lnTo>
                <a:arcTo wR="63500" hR="63500" stAng="10800000" swAng="5400000"/>
                <a:close/>
              </a:path>
            </a:pathLst>
          </a:custGeom>
          <a:solidFill>
            <a:srgbClr val="D4EBDD"/>
          </a:solidFill>
          <a:ln/>
        </p:spPr>
        <p:txBody>
          <a:bodyPr wrap="square" lIns="0" tIns="0" rIns="0" bIns="0" rtlCol="0" anchor="t">
            <a:normAutofit/>
          </a:bodyPr>
          <a:lstStyle/>
          <a:p>
            <a:pPr marL="0" indent="0" algn="ctr">
              <a:lnSpc>
                <a:spcPts val="1820"/>
              </a:lnSpc>
              <a:buNone/>
            </a:pPr>
            <a:r>
              <a:rPr lang="en-US" sz="1300" b="1" dirty="0">
                <a:solidFill>
                  <a:srgbClr val="2E3B40"/>
                </a:solidFill>
                <a:latin typeface="Nunito Sans" pitchFamily="34" charset="0"/>
                <a:ea typeface="Nunito Sans" pitchFamily="34" charset="-122"/>
                <a:cs typeface="Nunito Sans" pitchFamily="34" charset="-120"/>
              </a:rPr>
              <a:t>L</a:t>
            </a:r>
            <a:endParaRPr lang="en-US" sz="1300" dirty="0"/>
          </a:p>
        </p:txBody>
      </p:sp>
      <p:sp>
        <p:nvSpPr>
          <p:cNvPr id="45" name="Text 41"/>
          <p:cNvSpPr/>
          <p:nvPr/>
        </p:nvSpPr>
        <p:spPr>
          <a:xfrm>
            <a:off x="6778846" y="5033533"/>
            <a:ext cx="1768660" cy="718774"/>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5636A"/>
                </a:solidFill>
                <a:latin typeface="Nunito Sans" pitchFamily="34" charset="0"/>
                <a:ea typeface="Nunito Sans" pitchFamily="34" charset="-122"/>
                <a:cs typeface="Nunito Sans" pitchFamily="34" charset="-120"/>
              </a:rPr>
              <a:t>Opaque sub-processors and models </a:t>
            </a:r>
            <a:r>
              <a:rPr lang="en-US" sz="1400" dirty="0">
                <a:solidFill>
                  <a:srgbClr val="6B5E8C"/>
                </a:solidFill>
                <a:latin typeface="Nunito Sans" pitchFamily="34" charset="0"/>
                <a:ea typeface="Nunito Sans" pitchFamily="34" charset="-122"/>
                <a:cs typeface="Nunito Sans" pitchFamily="34" charset="-120"/>
              </a:rPr>
              <a:t>[6]</a:t>
            </a:r>
            <a:endParaRPr lang="en-US" sz="1400" dirty="0"/>
          </a:p>
        </p:txBody>
      </p:sp>
      <p:pic>
        <p:nvPicPr>
          <p:cNvPr id="46" name="Image 2" descr="arrow-right"/>
          <p:cNvPicPr>
            <a:picLocks noChangeAspect="1"/>
          </p:cNvPicPr>
          <p:nvPr/>
        </p:nvPicPr>
        <p:blipFill>
          <a:blip r:embed="rId3"/>
          <a:srcRect/>
          <a:stretch/>
        </p:blipFill>
        <p:spPr>
          <a:xfrm>
            <a:off x="8728053" y="3943891"/>
            <a:ext cx="190500" cy="127000"/>
          </a:xfrm>
          <a:prstGeom prst="rect">
            <a:avLst/>
          </a:prstGeom>
        </p:spPr>
      </p:pic>
      <p:sp>
        <p:nvSpPr>
          <p:cNvPr id="47" name="Shape 42"/>
          <p:cNvSpPr/>
          <p:nvPr/>
        </p:nvSpPr>
        <p:spPr>
          <a:xfrm>
            <a:off x="8997907" y="1617134"/>
            <a:ext cx="2378152" cy="4780514"/>
          </a:xfrm>
          <a:prstGeom prst="roundRect">
            <a:avLst>
              <a:gd name="adj" fmla="val 6275"/>
            </a:avLst>
          </a:prstGeom>
          <a:solidFill>
            <a:srgbClr val="FBFAF7"/>
          </a:solidFill>
          <a:ln w="6350">
            <a:solidFill>
              <a:srgbClr val="DCE3DE"/>
            </a:solidFill>
            <a:prstDash val="solid"/>
          </a:ln>
        </p:spPr>
        <p:txBody>
          <a:bodyPr/>
          <a:lstStyle/>
          <a:p>
            <a:endParaRPr lang="en-US"/>
          </a:p>
        </p:txBody>
      </p:sp>
      <p:sp>
        <p:nvSpPr>
          <p:cNvPr id="48" name="Shape 43"/>
          <p:cNvSpPr/>
          <p:nvPr/>
        </p:nvSpPr>
        <p:spPr>
          <a:xfrm>
            <a:off x="8998259" y="1617487"/>
            <a:ext cx="2377447" cy="1346123"/>
          </a:xfrm>
          <a:custGeom>
            <a:avLst/>
            <a:gdLst/>
            <a:ahLst/>
            <a:cxnLst/>
            <a:rect l="l" t="t" r="r" b="b"/>
            <a:pathLst>
              <a:path w="2377447" h="1346123">
                <a:moveTo>
                  <a:pt x="0" y="148872"/>
                </a:moveTo>
                <a:arcTo wR="148872" hR="148872" stAng="10800000" swAng="5400000"/>
                <a:lnTo>
                  <a:pt x="2228575" y="0"/>
                </a:lnTo>
                <a:arcTo wR="148872" hR="148872" stAng="16200000" swAng="5400000"/>
                <a:lnTo>
                  <a:pt x="2377447" y="1346123"/>
                </a:lnTo>
                <a:lnTo>
                  <a:pt x="0" y="1346123"/>
                </a:lnTo>
                <a:close/>
              </a:path>
            </a:pathLst>
          </a:custGeom>
          <a:solidFill>
            <a:srgbClr val="EFE3CF"/>
          </a:solidFill>
          <a:ln/>
        </p:spPr>
        <p:txBody>
          <a:bodyPr/>
          <a:lstStyle/>
          <a:p>
            <a:endParaRPr lang="en-US"/>
          </a:p>
        </p:txBody>
      </p:sp>
      <p:sp>
        <p:nvSpPr>
          <p:cNvPr id="49" name="Text 44"/>
          <p:cNvSpPr/>
          <p:nvPr/>
        </p:nvSpPr>
        <p:spPr>
          <a:xfrm>
            <a:off x="9150615" y="1744487"/>
            <a:ext cx="2134917" cy="638682"/>
          </a:xfrm>
          <a:prstGeom prst="rect">
            <a:avLst/>
          </a:prstGeom>
          <a:noFill/>
          <a:ln/>
        </p:spPr>
        <p:txBody>
          <a:bodyPr wrap="square" lIns="0" tIns="0" rIns="0" bIns="0" rtlCol="0" anchor="t">
            <a:normAutofit/>
          </a:bodyPr>
          <a:lstStyle/>
          <a:p>
            <a:pPr marL="0" indent="0" algn="l">
              <a:lnSpc>
                <a:spcPts val="2415"/>
              </a:lnSpc>
              <a:buNone/>
            </a:pPr>
            <a:r>
              <a:rPr lang="en-US" sz="2100" b="1" dirty="0">
                <a:solidFill>
                  <a:srgbClr val="2E3B40"/>
                </a:solidFill>
                <a:latin typeface="Lora" pitchFamily="18" charset="0"/>
                <a:ea typeface="Lora" pitchFamily="18" charset="-122"/>
                <a:cs typeface="Lora" pitchFamily="18" charset="-120"/>
              </a:rPr>
              <a:t>AI in secure development</a:t>
            </a:r>
            <a:endParaRPr lang="en-US" sz="2100" dirty="0"/>
          </a:p>
        </p:txBody>
      </p:sp>
      <p:sp>
        <p:nvSpPr>
          <p:cNvPr id="50" name="Text 45"/>
          <p:cNvSpPr/>
          <p:nvPr/>
        </p:nvSpPr>
        <p:spPr>
          <a:xfrm>
            <a:off x="9150615" y="2404842"/>
            <a:ext cx="2134917" cy="454576"/>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F4D52"/>
                </a:solidFill>
                <a:latin typeface="Nunito Sans" pitchFamily="34" charset="0"/>
                <a:ea typeface="Nunito Sans" pitchFamily="34" charset="-122"/>
                <a:cs typeface="Nunito Sans" pitchFamily="34" charset="-120"/>
              </a:rPr>
              <a:t>Coding agents, MCP servers, IDE rules</a:t>
            </a:r>
            <a:endParaRPr lang="en-US" sz="1300" dirty="0"/>
          </a:p>
        </p:txBody>
      </p:sp>
      <p:sp>
        <p:nvSpPr>
          <p:cNvPr id="51" name="Text 46"/>
          <p:cNvSpPr/>
          <p:nvPr/>
        </p:nvSpPr>
        <p:spPr>
          <a:xfrm>
            <a:off x="9150615" y="3090610"/>
            <a:ext cx="2134917" cy="292078"/>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8A6A3A"/>
                </a:solidFill>
                <a:latin typeface="Nunito Sans" pitchFamily="34" charset="0"/>
                <a:ea typeface="Nunito Sans" pitchFamily="34" charset="-122"/>
                <a:cs typeface="Nunito Sans" pitchFamily="34" charset="-120"/>
              </a:rPr>
              <a:t>Key risks</a:t>
            </a:r>
            <a:endParaRPr lang="en-US" sz="1500" dirty="0"/>
          </a:p>
        </p:txBody>
      </p:sp>
      <p:sp>
        <p:nvSpPr>
          <p:cNvPr id="52" name="Text 47"/>
          <p:cNvSpPr/>
          <p:nvPr/>
        </p:nvSpPr>
        <p:spPr>
          <a:xfrm>
            <a:off x="9150615" y="3446143"/>
            <a:ext cx="279356" cy="231125"/>
          </a:xfrm>
          <a:custGeom>
            <a:avLst/>
            <a:gdLst/>
            <a:ahLst/>
            <a:cxnLst/>
            <a:rect l="l" t="t" r="r" b="b"/>
            <a:pathLst>
              <a:path w="279356" h="231125">
                <a:moveTo>
                  <a:pt x="63500" y="0"/>
                </a:moveTo>
                <a:lnTo>
                  <a:pt x="215856" y="0"/>
                </a:lnTo>
                <a:arcTo wR="63500" hR="63500" stAng="16200000" swAng="5400000"/>
                <a:lnTo>
                  <a:pt x="279356" y="167625"/>
                </a:lnTo>
                <a:arcTo wR="63500" hR="63500" stAng="0" swAng="5400000"/>
                <a:lnTo>
                  <a:pt x="63500" y="231125"/>
                </a:lnTo>
                <a:arcTo wR="63500" hR="63500" stAng="5400000" swAng="5400000"/>
                <a:lnTo>
                  <a:pt x="0" y="63500"/>
                </a:lnTo>
                <a:arcTo wR="63500" hR="63500" stAng="10800000" swAng="5400000"/>
                <a:close/>
              </a:path>
            </a:pathLst>
          </a:custGeom>
          <a:solidFill>
            <a:srgbClr val="F2C4BB"/>
          </a:solidFill>
          <a:ln/>
        </p:spPr>
        <p:txBody>
          <a:bodyPr wrap="square" lIns="0" tIns="0" rIns="0" bIns="0" rtlCol="0" anchor="t">
            <a:normAutofit/>
          </a:bodyPr>
          <a:lstStyle/>
          <a:p>
            <a:pPr marL="0" indent="0" algn="ctr">
              <a:lnSpc>
                <a:spcPts val="1820"/>
              </a:lnSpc>
              <a:buNone/>
            </a:pPr>
            <a:r>
              <a:rPr lang="en-US" sz="1300" b="1" dirty="0">
                <a:solidFill>
                  <a:srgbClr val="2E3B40"/>
                </a:solidFill>
                <a:latin typeface="Nunito Sans" pitchFamily="34" charset="0"/>
                <a:ea typeface="Nunito Sans" pitchFamily="34" charset="-122"/>
                <a:cs typeface="Nunito Sans" pitchFamily="34" charset="-120"/>
              </a:rPr>
              <a:t>H</a:t>
            </a:r>
            <a:endParaRPr lang="en-US" sz="1300" dirty="0"/>
          </a:p>
        </p:txBody>
      </p:sp>
      <p:sp>
        <p:nvSpPr>
          <p:cNvPr id="53" name="Text 48"/>
          <p:cNvSpPr/>
          <p:nvPr/>
        </p:nvSpPr>
        <p:spPr>
          <a:xfrm>
            <a:off x="9506149" y="3446143"/>
            <a:ext cx="1768717" cy="718774"/>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55636A"/>
                </a:solidFill>
                <a:latin typeface="Nunito Sans" pitchFamily="34" charset="0"/>
                <a:ea typeface="Nunito Sans" pitchFamily="34" charset="-122"/>
                <a:cs typeface="Nunito Sans" pitchFamily="34" charset="-120"/>
              </a:rPr>
              <a:t>Hallucinated or malicious packages </a:t>
            </a:r>
            <a:r>
              <a:rPr lang="en-US" sz="1400" dirty="0">
                <a:solidFill>
                  <a:srgbClr val="8A6A3A"/>
                </a:solidFill>
                <a:latin typeface="Nunito Sans" pitchFamily="34" charset="0"/>
                <a:ea typeface="Nunito Sans" pitchFamily="34" charset="-122"/>
                <a:cs typeface="Nunito Sans" pitchFamily="34" charset="-120"/>
              </a:rPr>
              <a:t>[8]</a:t>
            </a:r>
            <a:endParaRPr lang="en-US" sz="1400" dirty="0"/>
          </a:p>
        </p:txBody>
      </p:sp>
      <p:sp>
        <p:nvSpPr>
          <p:cNvPr id="54" name="Text 49"/>
          <p:cNvSpPr/>
          <p:nvPr/>
        </p:nvSpPr>
        <p:spPr>
          <a:xfrm>
            <a:off x="9150615" y="4239838"/>
            <a:ext cx="279356" cy="231125"/>
          </a:xfrm>
          <a:custGeom>
            <a:avLst/>
            <a:gdLst/>
            <a:ahLst/>
            <a:cxnLst/>
            <a:rect l="l" t="t" r="r" b="b"/>
            <a:pathLst>
              <a:path w="279356" h="231125">
                <a:moveTo>
                  <a:pt x="63500" y="0"/>
                </a:moveTo>
                <a:lnTo>
                  <a:pt x="215856" y="0"/>
                </a:lnTo>
                <a:arcTo wR="63500" hR="63500" stAng="16200000" swAng="5400000"/>
                <a:lnTo>
                  <a:pt x="279356" y="167625"/>
                </a:lnTo>
                <a:arcTo wR="63500" hR="63500" stAng="0" swAng="5400000"/>
                <a:lnTo>
                  <a:pt x="63500" y="231125"/>
                </a:lnTo>
                <a:arcTo wR="63500" hR="63500" stAng="5400000" swAng="5400000"/>
                <a:lnTo>
                  <a:pt x="0" y="63500"/>
                </a:lnTo>
                <a:arcTo wR="63500" hR="63500" stAng="10800000" swAng="5400000"/>
                <a:close/>
              </a:path>
            </a:pathLst>
          </a:custGeom>
          <a:solidFill>
            <a:srgbClr val="F2C4BB"/>
          </a:solidFill>
          <a:ln/>
        </p:spPr>
        <p:txBody>
          <a:bodyPr wrap="square" lIns="0" tIns="0" rIns="0" bIns="0" rtlCol="0" anchor="t">
            <a:normAutofit/>
          </a:bodyPr>
          <a:lstStyle/>
          <a:p>
            <a:pPr marL="0" indent="0" algn="ctr">
              <a:lnSpc>
                <a:spcPts val="1820"/>
              </a:lnSpc>
              <a:buNone/>
            </a:pPr>
            <a:r>
              <a:rPr lang="en-US" sz="1300" b="1" dirty="0">
                <a:solidFill>
                  <a:srgbClr val="2E3B40"/>
                </a:solidFill>
                <a:latin typeface="Nunito Sans" pitchFamily="34" charset="0"/>
                <a:ea typeface="Nunito Sans" pitchFamily="34" charset="-122"/>
                <a:cs typeface="Nunito Sans" pitchFamily="34" charset="-120"/>
              </a:rPr>
              <a:t>H</a:t>
            </a:r>
            <a:endParaRPr lang="en-US" sz="1300" dirty="0"/>
          </a:p>
        </p:txBody>
      </p:sp>
      <p:sp>
        <p:nvSpPr>
          <p:cNvPr id="55" name="Text 50"/>
          <p:cNvSpPr/>
          <p:nvPr/>
        </p:nvSpPr>
        <p:spPr>
          <a:xfrm>
            <a:off x="9506149" y="4239838"/>
            <a:ext cx="1768717" cy="487649"/>
          </a:xfrm>
          <a:prstGeom prst="rect">
            <a:avLst/>
          </a:prstGeom>
          <a:noFill/>
          <a:ln/>
        </p:spPr>
        <p:txBody>
          <a:bodyPr wrap="square" lIns="0" tIns="0" rIns="0" bIns="0" rtlCol="0" anchor="t">
            <a:normAutofit fontScale="92500"/>
          </a:bodyPr>
          <a:lstStyle/>
          <a:p>
            <a:pPr marL="0" indent="0" algn="l">
              <a:lnSpc>
                <a:spcPts val="1820"/>
              </a:lnSpc>
              <a:buNone/>
            </a:pPr>
            <a:r>
              <a:rPr lang="en-US" sz="1400" b="1" dirty="0">
                <a:solidFill>
                  <a:srgbClr val="55636A"/>
                </a:solidFill>
                <a:latin typeface="Nunito Sans" pitchFamily="34" charset="0"/>
                <a:ea typeface="Nunito Sans" pitchFamily="34" charset="-122"/>
                <a:cs typeface="Nunito Sans" pitchFamily="34" charset="-120"/>
              </a:rPr>
              <a:t>Poisoned MCP tools, data, and rule files </a:t>
            </a:r>
            <a:r>
              <a:rPr lang="en-US" sz="1400" dirty="0">
                <a:solidFill>
                  <a:srgbClr val="8A6A3A"/>
                </a:solidFill>
                <a:latin typeface="Nunito Sans" pitchFamily="34" charset="0"/>
                <a:ea typeface="Nunito Sans" pitchFamily="34" charset="-122"/>
                <a:cs typeface="Nunito Sans" pitchFamily="34" charset="-120"/>
              </a:rPr>
              <a:t>[9]</a:t>
            </a:r>
            <a:endParaRPr lang="en-US" sz="1400" dirty="0"/>
          </a:p>
        </p:txBody>
      </p:sp>
      <p:sp>
        <p:nvSpPr>
          <p:cNvPr id="56" name="Text 51"/>
          <p:cNvSpPr/>
          <p:nvPr/>
        </p:nvSpPr>
        <p:spPr>
          <a:xfrm>
            <a:off x="9150615" y="5033533"/>
            <a:ext cx="279356" cy="231125"/>
          </a:xfrm>
          <a:custGeom>
            <a:avLst/>
            <a:gdLst/>
            <a:ahLst/>
            <a:cxnLst/>
            <a:rect l="l" t="t" r="r" b="b"/>
            <a:pathLst>
              <a:path w="279356" h="231125">
                <a:moveTo>
                  <a:pt x="63500" y="0"/>
                </a:moveTo>
                <a:lnTo>
                  <a:pt x="215856" y="0"/>
                </a:lnTo>
                <a:arcTo wR="63500" hR="63500" stAng="16200000" swAng="5400000"/>
                <a:lnTo>
                  <a:pt x="279356" y="167625"/>
                </a:lnTo>
                <a:arcTo wR="63500" hR="63500" stAng="0" swAng="5400000"/>
                <a:lnTo>
                  <a:pt x="63500" y="231125"/>
                </a:lnTo>
                <a:arcTo wR="63500" hR="63500" stAng="5400000" swAng="5400000"/>
                <a:lnTo>
                  <a:pt x="0" y="63500"/>
                </a:lnTo>
                <a:arcTo wR="63500" hR="63500" stAng="10800000" swAng="5400000"/>
                <a:close/>
              </a:path>
            </a:pathLst>
          </a:custGeom>
          <a:solidFill>
            <a:srgbClr val="F5E3B3"/>
          </a:solidFill>
          <a:ln/>
        </p:spPr>
        <p:txBody>
          <a:bodyPr wrap="square" lIns="0" tIns="0" rIns="0" bIns="0" rtlCol="0" anchor="t">
            <a:normAutofit/>
          </a:bodyPr>
          <a:lstStyle/>
          <a:p>
            <a:pPr marL="0" indent="0" algn="ctr">
              <a:lnSpc>
                <a:spcPts val="1820"/>
              </a:lnSpc>
              <a:buNone/>
            </a:pPr>
            <a:r>
              <a:rPr lang="en-US" sz="1300" b="1" dirty="0">
                <a:solidFill>
                  <a:srgbClr val="2E3B40"/>
                </a:solidFill>
                <a:latin typeface="Nunito Sans" pitchFamily="34" charset="0"/>
                <a:ea typeface="Nunito Sans" pitchFamily="34" charset="-122"/>
                <a:cs typeface="Nunito Sans" pitchFamily="34" charset="-120"/>
              </a:rPr>
              <a:t>M</a:t>
            </a:r>
            <a:endParaRPr lang="en-US" sz="1300" dirty="0"/>
          </a:p>
        </p:txBody>
      </p:sp>
      <p:sp>
        <p:nvSpPr>
          <p:cNvPr id="57" name="Text 52"/>
          <p:cNvSpPr/>
          <p:nvPr/>
        </p:nvSpPr>
        <p:spPr>
          <a:xfrm>
            <a:off x="9506149" y="5033533"/>
            <a:ext cx="1768717" cy="487649"/>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5636A"/>
                </a:solidFill>
                <a:latin typeface="Nunito Sans" pitchFamily="34" charset="0"/>
                <a:ea typeface="Nunito Sans" pitchFamily="34" charset="-122"/>
                <a:cs typeface="Nunito Sans" pitchFamily="34" charset="-120"/>
              </a:rPr>
              <a:t>Insecure generated code </a:t>
            </a:r>
            <a:r>
              <a:rPr lang="en-US" sz="1400" dirty="0">
                <a:solidFill>
                  <a:srgbClr val="8A6A3A"/>
                </a:solidFill>
                <a:latin typeface="Nunito Sans" pitchFamily="34" charset="0"/>
                <a:ea typeface="Nunito Sans" pitchFamily="34" charset="-122"/>
                <a:cs typeface="Nunito Sans" pitchFamily="34" charset="-120"/>
              </a:rPr>
              <a:t>[7]</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AF0EC"/>
        </a:solidFill>
        <a:effectLst/>
      </p:bgPr>
    </p:bg>
    <p:spTree>
      <p:nvGrpSpPr>
        <p:cNvPr id="1" name=""/>
        <p:cNvGrpSpPr/>
        <p:nvPr/>
      </p:nvGrpSpPr>
      <p:grpSpPr>
        <a:xfrm>
          <a:off x="0" y="0"/>
          <a:ext cx="0" cy="0"/>
          <a:chOff x="0" y="0"/>
          <a:chExt cx="0" cy="0"/>
        </a:xfrm>
      </p:grpSpPr>
      <p:sp>
        <p:nvSpPr>
          <p:cNvPr id="2" name="Text 0"/>
          <p:cNvSpPr/>
          <p:nvPr/>
        </p:nvSpPr>
        <p:spPr>
          <a:xfrm>
            <a:off x="812767" y="406357"/>
            <a:ext cx="10883461" cy="292078"/>
          </a:xfrm>
          <a:prstGeom prst="rect">
            <a:avLst/>
          </a:prstGeom>
          <a:noFill/>
          <a:ln/>
        </p:spPr>
        <p:txBody>
          <a:bodyPr wrap="square" lIns="0" tIns="0" rIns="0" bIns="0" rtlCol="0" anchor="t">
            <a:normAutofit/>
          </a:bodyPr>
          <a:lstStyle/>
          <a:p>
            <a:pPr marL="0" indent="0" algn="l">
              <a:lnSpc>
                <a:spcPts val="2100"/>
              </a:lnSpc>
              <a:buNone/>
            </a:pPr>
            <a:r>
              <a:rPr lang="en-US" sz="1500" b="1" kern="0" spc="150" dirty="0">
                <a:solidFill>
                  <a:srgbClr val="4F7A64"/>
                </a:solidFill>
                <a:latin typeface="Nunito Sans" pitchFamily="34" charset="0"/>
                <a:ea typeface="Nunito Sans" pitchFamily="34" charset="-122"/>
                <a:cs typeface="Nunito Sans" pitchFamily="34" charset="-120"/>
              </a:rPr>
              <a:t>DATA FLOW · MONITOR · DETECT</a:t>
            </a:r>
            <a:endParaRPr lang="en-US" sz="1500" dirty="0"/>
          </a:p>
        </p:txBody>
      </p:sp>
      <p:sp>
        <p:nvSpPr>
          <p:cNvPr id="3" name="Text 1"/>
          <p:cNvSpPr>
            <a:spLocks noGrp="1"/>
          </p:cNvSpPr>
          <p:nvPr>
            <p:ph type="title"/>
          </p:nvPr>
        </p:nvSpPr>
        <p:spPr>
          <a:xfrm>
            <a:off x="812767" y="723801"/>
            <a:ext cx="10883461" cy="458435"/>
          </a:xfrm>
          <a:prstGeom prst="rect">
            <a:avLst/>
          </a:prstGeom>
          <a:noFill/>
          <a:ln/>
        </p:spPr>
        <p:txBody>
          <a:bodyPr wrap="square" lIns="0" tIns="0" rIns="0" bIns="0" rtlCol="0" anchor="t">
            <a:normAutofit/>
          </a:bodyPr>
          <a:lstStyle/>
          <a:p>
            <a:pPr marL="0" indent="0" algn="l">
              <a:lnSpc>
                <a:spcPts val="3410"/>
              </a:lnSpc>
              <a:buNone/>
            </a:pPr>
            <a:r>
              <a:rPr lang="en-US" sz="3100" i="0" dirty="0">
                <a:solidFill>
                  <a:srgbClr val="2E3B40"/>
                </a:solidFill>
                <a:latin typeface="Lora" pitchFamily="18" charset="0"/>
                <a:ea typeface="Lora" pitchFamily="18" charset="-122"/>
                <a:cs typeface="Lora" pitchFamily="18" charset="-120"/>
              </a:rPr>
              <a:t>How data moves, and how to watch it</a:t>
            </a:r>
            <a:endParaRPr lang="en-US" sz="3100" dirty="0"/>
          </a:p>
        </p:txBody>
      </p:sp>
      <p:sp>
        <p:nvSpPr>
          <p:cNvPr id="4" name="Text 2"/>
          <p:cNvSpPr/>
          <p:nvPr/>
        </p:nvSpPr>
        <p:spPr>
          <a:xfrm>
            <a:off x="1326268" y="6601475"/>
            <a:ext cx="9856457" cy="256525"/>
          </a:xfrm>
          <a:prstGeom prst="rect">
            <a:avLst/>
          </a:prstGeom>
          <a:noFill/>
          <a:ln/>
        </p:spPr>
        <p:txBody>
          <a:bodyPr wrap="square" lIns="0" tIns="0" rIns="0" bIns="0" rtlCol="0" anchor="t">
            <a:normAutofit fontScale="92500"/>
          </a:bodyPr>
          <a:lstStyle/>
          <a:p>
            <a:pPr marL="0" indent="0" algn="l">
              <a:lnSpc>
                <a:spcPts val="1820"/>
              </a:lnSpc>
              <a:buNone/>
            </a:pPr>
            <a:r>
              <a:rPr lang="en-US" sz="1300" b="1" dirty="0">
                <a:solidFill>
                  <a:srgbClr val="55636A"/>
                </a:solidFill>
                <a:latin typeface="Nunito Sans" pitchFamily="34" charset="0"/>
                <a:ea typeface="Nunito Sans" pitchFamily="34" charset="-122"/>
                <a:cs typeface="Nunito Sans" pitchFamily="34" charset="-120"/>
              </a:rPr>
              <a:t>Septa</a:t>
            </a:r>
            <a:r>
              <a:rPr lang="en-US" sz="1300" dirty="0">
                <a:solidFill>
                  <a:srgbClr val="55636A"/>
                </a:solidFill>
                <a:latin typeface="Nunito Sans" pitchFamily="34" charset="0"/>
                <a:ea typeface="Nunito Sans" pitchFamily="34" charset="-122"/>
                <a:cs typeface="Nunito Sans" pitchFamily="34" charset="-120"/>
              </a:rPr>
              <a:t> is an LLM security proxy for live traffic. </a:t>
            </a:r>
            <a:r>
              <a:rPr lang="en-US" sz="1300" b="1" dirty="0">
                <a:solidFill>
                  <a:srgbClr val="55636A"/>
                </a:solidFill>
                <a:latin typeface="Nunito Sans" pitchFamily="34" charset="0"/>
                <a:ea typeface="Nunito Sans" pitchFamily="34" charset="-122"/>
                <a:cs typeface="Nunito Sans" pitchFamily="34" charset="-120"/>
              </a:rPr>
              <a:t>Litmus</a:t>
            </a:r>
            <a:r>
              <a:rPr lang="en-US" sz="1300" dirty="0">
                <a:solidFill>
                  <a:srgbClr val="55636A"/>
                </a:solidFill>
                <a:latin typeface="Nunito Sans" pitchFamily="34" charset="0"/>
                <a:ea typeface="Nunito Sans" pitchFamily="34" charset="-122"/>
                <a:cs typeface="Nunito Sans" pitchFamily="34" charset="-120"/>
              </a:rPr>
              <a:t> red-teams AI before release. Septa: Run-time Defense; Send all signals to one SIEM.</a:t>
            </a:r>
            <a:endParaRPr lang="en-US" sz="1300" dirty="0"/>
          </a:p>
        </p:txBody>
      </p:sp>
      <p:sp>
        <p:nvSpPr>
          <p:cNvPr id="5" name="Text 3"/>
          <p:cNvSpPr/>
          <p:nvPr/>
        </p:nvSpPr>
        <p:spPr>
          <a:xfrm>
            <a:off x="812767" y="1613959"/>
            <a:ext cx="3059785" cy="238775"/>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6B777C"/>
                </a:solidFill>
                <a:latin typeface="Nunito Sans" pitchFamily="34" charset="0"/>
                <a:ea typeface="Nunito Sans" pitchFamily="34" charset="-122"/>
                <a:cs typeface="Nunito Sans" pitchFamily="34" charset="-120"/>
              </a:rPr>
              <a:t>YOUR DATA, AND WHERE IT GOES</a:t>
            </a:r>
            <a:endParaRPr lang="en-US" sz="1200" dirty="0"/>
          </a:p>
        </p:txBody>
      </p:sp>
      <p:sp>
        <p:nvSpPr>
          <p:cNvPr id="6" name="Text 4"/>
          <p:cNvSpPr/>
          <p:nvPr/>
        </p:nvSpPr>
        <p:spPr>
          <a:xfrm>
            <a:off x="3859609" y="1613959"/>
            <a:ext cx="3182192" cy="238775"/>
          </a:xfrm>
          <a:prstGeom prst="rect">
            <a:avLst/>
          </a:prstGeom>
          <a:noFill/>
          <a:ln/>
        </p:spPr>
        <p:txBody>
          <a:bodyPr wrap="square" lIns="0" tIns="0" rIns="0" bIns="0" rtlCol="0" anchor="t">
            <a:normAutofit/>
          </a:bodyPr>
          <a:lstStyle/>
          <a:p>
            <a:pPr marL="0" indent="0" algn="l">
              <a:lnSpc>
                <a:spcPts val="1680"/>
              </a:lnSpc>
              <a:buNone/>
            </a:pPr>
            <a:r>
              <a:rPr lang="en-US" sz="1200" kern="0" spc="50" dirty="0">
                <a:solidFill>
                  <a:srgbClr val="6B777C"/>
                </a:solidFill>
                <a:latin typeface="Nunito Sans" pitchFamily="34" charset="0"/>
                <a:ea typeface="Nunito Sans" pitchFamily="34" charset="-122"/>
                <a:cs typeface="Nunito Sans" pitchFamily="34" charset="-120"/>
              </a:rPr>
              <a:t>WATCH AND DETECT</a:t>
            </a:r>
            <a:endParaRPr lang="en-US" sz="1200" dirty="0"/>
          </a:p>
        </p:txBody>
      </p:sp>
      <p:sp>
        <p:nvSpPr>
          <p:cNvPr id="7" name="Text 5"/>
          <p:cNvSpPr/>
          <p:nvPr/>
        </p:nvSpPr>
        <p:spPr>
          <a:xfrm>
            <a:off x="7025294" y="1613959"/>
            <a:ext cx="2452688" cy="238775"/>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6B777C"/>
                </a:solidFill>
                <a:latin typeface="Nunito Sans" pitchFamily="34" charset="0"/>
                <a:ea typeface="Nunito Sans" pitchFamily="34" charset="-122"/>
                <a:cs typeface="Nunito Sans" pitchFamily="34" charset="-120"/>
              </a:rPr>
              <a:t>MONITOR AND DETECT WITH</a:t>
            </a:r>
            <a:endParaRPr lang="en-US" sz="1200" dirty="0"/>
          </a:p>
        </p:txBody>
      </p:sp>
      <p:sp>
        <p:nvSpPr>
          <p:cNvPr id="8" name="Text 6"/>
          <p:cNvSpPr/>
          <p:nvPr/>
        </p:nvSpPr>
        <p:spPr>
          <a:xfrm>
            <a:off x="9477982" y="1613959"/>
            <a:ext cx="1958289" cy="238775"/>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6B777C"/>
                </a:solidFill>
                <a:latin typeface="Nunito Sans" pitchFamily="34" charset="0"/>
                <a:ea typeface="Nunito Sans" pitchFamily="34" charset="-122"/>
                <a:cs typeface="Nunito Sans" pitchFamily="34" charset="-120"/>
              </a:rPr>
              <a:t>GAP</a:t>
            </a:r>
            <a:endParaRPr lang="en-US" sz="1200" dirty="0"/>
          </a:p>
        </p:txBody>
      </p:sp>
      <p:sp>
        <p:nvSpPr>
          <p:cNvPr id="9" name="Text 7"/>
          <p:cNvSpPr/>
          <p:nvPr/>
        </p:nvSpPr>
        <p:spPr>
          <a:xfrm>
            <a:off x="812767" y="1903512"/>
            <a:ext cx="1422356" cy="1067153"/>
          </a:xfrm>
          <a:prstGeom prst="roundRect">
            <a:avLst>
              <a:gd name="adj" fmla="val 9521"/>
            </a:avLst>
          </a:prstGeom>
          <a:solidFill>
            <a:srgbClr val="CFE0D3"/>
          </a:solidFill>
          <a:ln/>
        </p:spPr>
        <p:txBody>
          <a:bodyPr wrap="square" lIns="84509" tIns="59142" rIns="33709" bIns="59142" rtlCol="0" anchor="ctr">
            <a:normAutofit/>
          </a:bodyPr>
          <a:lstStyle/>
          <a:p>
            <a:pPr marL="0" indent="0" algn="l">
              <a:lnSpc>
                <a:spcPts val="1620"/>
              </a:lnSpc>
              <a:buNone/>
            </a:pPr>
            <a:r>
              <a:rPr lang="en-US" sz="1350" b="1" dirty="0">
                <a:solidFill>
                  <a:srgbClr val="2E3B40"/>
                </a:solidFill>
                <a:latin typeface="Lora" pitchFamily="18" charset="0"/>
                <a:ea typeface="Lora" pitchFamily="18" charset="-122"/>
                <a:cs typeface="Lora" pitchFamily="18" charset="-120"/>
              </a:rPr>
              <a:t>Enterprise sanctioned AI</a:t>
            </a:r>
            <a:endParaRPr lang="en-US" sz="1350" dirty="0"/>
          </a:p>
        </p:txBody>
      </p:sp>
      <p:sp>
        <p:nvSpPr>
          <p:cNvPr id="10" name="Text 8"/>
          <p:cNvSpPr/>
          <p:nvPr/>
        </p:nvSpPr>
        <p:spPr>
          <a:xfrm>
            <a:off x="2311301" y="1903512"/>
            <a:ext cx="2276023" cy="1067153"/>
          </a:xfrm>
          <a:prstGeom prst="roundRect">
            <a:avLst>
              <a:gd name="adj" fmla="val 9521"/>
            </a:avLst>
          </a:prstGeom>
          <a:solidFill>
            <a:srgbClr val="F1F5F2"/>
          </a:solidFill>
          <a:ln/>
        </p:spPr>
        <p:txBody>
          <a:bodyPr wrap="square" lIns="84509" tIns="59142" rIns="23085" bIns="59142" rtlCol="0" anchor="ctr">
            <a:normAutofit/>
          </a:bodyPr>
          <a:lstStyle/>
          <a:p>
            <a:pPr marL="0" indent="0" algn="l">
              <a:lnSpc>
                <a:spcPts val="1690"/>
              </a:lnSpc>
              <a:buNone/>
            </a:pPr>
            <a:r>
              <a:rPr lang="en-US" sz="1300" dirty="0">
                <a:solidFill>
                  <a:srgbClr val="2E3B40"/>
                </a:solidFill>
                <a:latin typeface="Nunito Sans" pitchFamily="34" charset="0"/>
                <a:ea typeface="Nunito Sans" pitchFamily="34" charset="-122"/>
                <a:cs typeface="Nunito Sans" pitchFamily="34" charset="-120"/>
              </a:rPr>
              <a:t>Files, email, records via Copilot and agent calls, to the model provider</a:t>
            </a:r>
            <a:endParaRPr lang="en-US" sz="1300" dirty="0"/>
          </a:p>
        </p:txBody>
      </p:sp>
      <p:pic>
        <p:nvPicPr>
          <p:cNvPr id="11" name="Image 0" descr="arrow-right"/>
          <p:cNvPicPr>
            <a:picLocks noChangeAspect="1"/>
          </p:cNvPicPr>
          <p:nvPr/>
        </p:nvPicPr>
        <p:blipFill>
          <a:blip r:embed="rId3"/>
          <a:srcRect/>
          <a:stretch/>
        </p:blipFill>
        <p:spPr>
          <a:xfrm>
            <a:off x="4663502" y="2373588"/>
            <a:ext cx="190500" cy="127000"/>
          </a:xfrm>
          <a:prstGeom prst="rect">
            <a:avLst/>
          </a:prstGeom>
        </p:spPr>
      </p:pic>
      <p:sp>
        <p:nvSpPr>
          <p:cNvPr id="12" name="Text 9"/>
          <p:cNvSpPr/>
          <p:nvPr/>
        </p:nvSpPr>
        <p:spPr>
          <a:xfrm>
            <a:off x="4930180" y="1903512"/>
            <a:ext cx="2357879" cy="1067153"/>
          </a:xfrm>
          <a:prstGeom prst="roundRect">
            <a:avLst>
              <a:gd name="adj" fmla="val 9521"/>
            </a:avLst>
          </a:prstGeom>
          <a:solidFill>
            <a:srgbClr val="FBFAF7"/>
          </a:solidFill>
          <a:ln/>
        </p:spPr>
        <p:txBody>
          <a:bodyPr wrap="square" lIns="84509" tIns="59142" rIns="20629" bIns="59142" rtlCol="0" anchor="ctr">
            <a:normAutofit/>
          </a:bodyPr>
          <a:lstStyle/>
          <a:p>
            <a:pPr marL="0" indent="0" algn="l">
              <a:lnSpc>
                <a:spcPts val="1690"/>
              </a:lnSpc>
              <a:buNone/>
            </a:pPr>
            <a:r>
              <a:rPr lang="en-US" sz="1300" dirty="0">
                <a:solidFill>
                  <a:srgbClr val="2E3B40"/>
                </a:solidFill>
                <a:latin typeface="Nunito Sans" pitchFamily="34" charset="0"/>
                <a:ea typeface="Nunito Sans" pitchFamily="34" charset="-122"/>
                <a:cs typeface="Nunito Sans" pitchFamily="34" charset="-120"/>
              </a:rPr>
              <a:t>Prompts, responses, agent tool calls; injection attempts; data leaving in responses</a:t>
            </a:r>
            <a:endParaRPr lang="en-US" sz="1300" dirty="0"/>
          </a:p>
        </p:txBody>
      </p:sp>
      <p:pic>
        <p:nvPicPr>
          <p:cNvPr id="13" name="Image 1" descr="arrow-right"/>
          <p:cNvPicPr>
            <a:picLocks noChangeAspect="1"/>
          </p:cNvPicPr>
          <p:nvPr/>
        </p:nvPicPr>
        <p:blipFill>
          <a:blip r:embed="rId3"/>
          <a:srcRect/>
          <a:stretch/>
        </p:blipFill>
        <p:spPr>
          <a:xfrm>
            <a:off x="7364237" y="2373588"/>
            <a:ext cx="190500" cy="127000"/>
          </a:xfrm>
          <a:prstGeom prst="rect">
            <a:avLst/>
          </a:prstGeom>
        </p:spPr>
      </p:pic>
      <p:sp>
        <p:nvSpPr>
          <p:cNvPr id="14" name="Text 10"/>
          <p:cNvSpPr/>
          <p:nvPr/>
        </p:nvSpPr>
        <p:spPr>
          <a:xfrm>
            <a:off x="7630914" y="1903512"/>
            <a:ext cx="1866525" cy="1067153"/>
          </a:xfrm>
          <a:prstGeom prst="roundRect">
            <a:avLst>
              <a:gd name="adj" fmla="val 9521"/>
            </a:avLst>
          </a:prstGeom>
          <a:solidFill>
            <a:srgbClr val="DCEFE3"/>
          </a:solidFill>
          <a:ln/>
        </p:spPr>
        <p:txBody>
          <a:bodyPr wrap="square" lIns="84510" tIns="59142" rIns="33709" bIns="59142" rtlCol="0" anchor="ctr">
            <a:normAutofit/>
          </a:bodyPr>
          <a:lstStyle/>
          <a:p>
            <a:pPr marL="0" indent="0" algn="l">
              <a:lnSpc>
                <a:spcPts val="1690"/>
              </a:lnSpc>
              <a:buNone/>
            </a:pPr>
            <a:r>
              <a:rPr lang="en-US" sz="1300" b="1" dirty="0">
                <a:solidFill>
                  <a:srgbClr val="2E3B40"/>
                </a:solidFill>
                <a:latin typeface="Nunito Sans" pitchFamily="34" charset="0"/>
                <a:ea typeface="Nunito Sans" pitchFamily="34" charset="-122"/>
                <a:cs typeface="Nunito Sans" pitchFamily="34" charset="-120"/>
              </a:rPr>
              <a:t>Septa</a:t>
            </a:r>
            <a:r>
              <a:rPr lang="en-US" sz="1300" dirty="0">
                <a:solidFill>
                  <a:srgbClr val="2E3B40"/>
                </a:solidFill>
                <a:latin typeface="Nunito Sans" pitchFamily="34" charset="0"/>
                <a:ea typeface="Nunito Sans" pitchFamily="34" charset="-122"/>
                <a:cs typeface="Nunito Sans" pitchFamily="34" charset="-120"/>
              </a:rPr>
              <a:t>, Datadog AI Guard, Purview, Lakera Guard, </a:t>
            </a:r>
            <a:r>
              <a:rPr lang="en-US" sz="1300" b="1" dirty="0">
                <a:solidFill>
                  <a:srgbClr val="2E3B40"/>
                </a:solidFill>
                <a:latin typeface="Nunito Sans" pitchFamily="34" charset="0"/>
                <a:ea typeface="Nunito Sans" pitchFamily="34" charset="-122"/>
                <a:cs typeface="Nunito Sans" pitchFamily="34" charset="-120"/>
              </a:rPr>
              <a:t>Litmus</a:t>
            </a:r>
            <a:r>
              <a:rPr lang="en-US" sz="1300" dirty="0">
                <a:solidFill>
                  <a:srgbClr val="2E3B40"/>
                </a:solidFill>
                <a:latin typeface="Nunito Sans" pitchFamily="34" charset="0"/>
                <a:ea typeface="Nunito Sans" pitchFamily="34" charset="-122"/>
                <a:cs typeface="Nunito Sans" pitchFamily="34" charset="-120"/>
              </a:rPr>
              <a:t>, </a:t>
            </a:r>
            <a:r>
              <a:rPr lang="en-US" sz="1300" b="1" dirty="0">
                <a:solidFill>
                  <a:srgbClr val="2E3B40"/>
                </a:solidFill>
                <a:latin typeface="Nunito Sans" pitchFamily="34" charset="0"/>
                <a:ea typeface="Nunito Sans" pitchFamily="34" charset="-122"/>
                <a:cs typeface="Nunito Sans" pitchFamily="34" charset="-120"/>
              </a:rPr>
              <a:t>Jiffy</a:t>
            </a:r>
            <a:endParaRPr lang="en-US" sz="1300" dirty="0"/>
          </a:p>
        </p:txBody>
      </p:sp>
      <p:pic>
        <p:nvPicPr>
          <p:cNvPr id="15" name="Image 2" descr="arrow-right"/>
          <p:cNvPicPr>
            <a:picLocks noChangeAspect="1"/>
          </p:cNvPicPr>
          <p:nvPr/>
        </p:nvPicPr>
        <p:blipFill>
          <a:blip r:embed="rId3"/>
          <a:srcRect/>
          <a:stretch/>
        </p:blipFill>
        <p:spPr>
          <a:xfrm>
            <a:off x="9573618" y="2373588"/>
            <a:ext cx="190500" cy="127000"/>
          </a:xfrm>
          <a:prstGeom prst="rect">
            <a:avLst/>
          </a:prstGeom>
        </p:spPr>
      </p:pic>
      <p:sp>
        <p:nvSpPr>
          <p:cNvPr id="16" name="Text 11"/>
          <p:cNvSpPr/>
          <p:nvPr/>
        </p:nvSpPr>
        <p:spPr>
          <a:xfrm>
            <a:off x="9840295" y="1903512"/>
            <a:ext cx="1538938" cy="1067153"/>
          </a:xfrm>
          <a:prstGeom prst="roundRect">
            <a:avLst>
              <a:gd name="adj" fmla="val 9521"/>
            </a:avLst>
          </a:prstGeom>
          <a:solidFill>
            <a:srgbClr val="F7E1DA"/>
          </a:solidFill>
          <a:ln/>
        </p:spPr>
        <p:txBody>
          <a:bodyPr wrap="square" lIns="84510" tIns="59142" rIns="33709" bIns="59142" rtlCol="0" anchor="ctr">
            <a:normAutofit/>
          </a:bodyPr>
          <a:lstStyle/>
          <a:p>
            <a:pPr marL="0" indent="0" algn="l">
              <a:lnSpc>
                <a:spcPts val="1690"/>
              </a:lnSpc>
              <a:buNone/>
            </a:pPr>
            <a:r>
              <a:rPr lang="en-US" sz="1300" dirty="0">
                <a:solidFill>
                  <a:srgbClr val="2E3B40"/>
                </a:solidFill>
                <a:latin typeface="Nunito Sans" pitchFamily="34" charset="0"/>
                <a:ea typeface="Nunito Sans" pitchFamily="34" charset="-122"/>
                <a:cs typeface="Nunito Sans" pitchFamily="34" charset="-120"/>
              </a:rPr>
              <a:t>Injection hidden in tool outputs</a:t>
            </a:r>
            <a:endParaRPr lang="en-US" sz="1300" dirty="0"/>
          </a:p>
        </p:txBody>
      </p:sp>
      <p:sp>
        <p:nvSpPr>
          <p:cNvPr id="17" name="Text 12"/>
          <p:cNvSpPr/>
          <p:nvPr/>
        </p:nvSpPr>
        <p:spPr>
          <a:xfrm>
            <a:off x="812767" y="3046843"/>
            <a:ext cx="1422356" cy="1067208"/>
          </a:xfrm>
          <a:prstGeom prst="roundRect">
            <a:avLst>
              <a:gd name="adj" fmla="val 9520"/>
            </a:avLst>
          </a:prstGeom>
          <a:solidFill>
            <a:srgbClr val="D3E2EC"/>
          </a:solidFill>
          <a:ln/>
        </p:spPr>
        <p:txBody>
          <a:bodyPr wrap="square" lIns="84509" tIns="59142" rIns="33709" bIns="59142" rtlCol="0" anchor="ctr">
            <a:normAutofit/>
          </a:bodyPr>
          <a:lstStyle/>
          <a:p>
            <a:pPr marL="0" indent="0" algn="l">
              <a:lnSpc>
                <a:spcPts val="1620"/>
              </a:lnSpc>
              <a:buNone/>
            </a:pPr>
            <a:r>
              <a:rPr lang="en-US" sz="1350" b="1" dirty="0">
                <a:solidFill>
                  <a:srgbClr val="2E3B40"/>
                </a:solidFill>
                <a:latin typeface="Lora" pitchFamily="18" charset="0"/>
                <a:ea typeface="Lora" pitchFamily="18" charset="-122"/>
                <a:cs typeface="Lora" pitchFamily="18" charset="-120"/>
              </a:rPr>
              <a:t>Enterprise unsanctioned AI</a:t>
            </a:r>
            <a:endParaRPr lang="en-US" sz="1350" dirty="0"/>
          </a:p>
        </p:txBody>
      </p:sp>
      <p:sp>
        <p:nvSpPr>
          <p:cNvPr id="18" name="Text 13"/>
          <p:cNvSpPr/>
          <p:nvPr/>
        </p:nvSpPr>
        <p:spPr>
          <a:xfrm>
            <a:off x="2311301" y="3046843"/>
            <a:ext cx="2276023" cy="1067208"/>
          </a:xfrm>
          <a:prstGeom prst="roundRect">
            <a:avLst>
              <a:gd name="adj" fmla="val 9520"/>
            </a:avLst>
          </a:prstGeom>
          <a:solidFill>
            <a:srgbClr val="F1F5F7"/>
          </a:solidFill>
          <a:ln/>
        </p:spPr>
        <p:txBody>
          <a:bodyPr wrap="square" lIns="84509" tIns="59142" rIns="23085" bIns="59142" rtlCol="0" anchor="ctr">
            <a:normAutofit/>
          </a:bodyPr>
          <a:lstStyle/>
          <a:p>
            <a:pPr marL="0" indent="0" algn="l">
              <a:lnSpc>
                <a:spcPts val="1690"/>
              </a:lnSpc>
              <a:buNone/>
            </a:pPr>
            <a:r>
              <a:rPr lang="en-US" sz="1300" dirty="0">
                <a:solidFill>
                  <a:srgbClr val="2E3B40"/>
                </a:solidFill>
                <a:latin typeface="Nunito Sans" pitchFamily="34" charset="0"/>
                <a:ea typeface="Nunito Sans" pitchFamily="34" charset="-122"/>
                <a:cs typeface="Nunito Sans" pitchFamily="34" charset="-120"/>
              </a:rPr>
              <a:t>Pasted text, uploads, OAuth tokens via browser and apps, to personal accounts, local agents</a:t>
            </a:r>
            <a:endParaRPr lang="en-US" sz="1300" dirty="0"/>
          </a:p>
        </p:txBody>
      </p:sp>
      <p:pic>
        <p:nvPicPr>
          <p:cNvPr id="19" name="Image 3" descr="arrow-right"/>
          <p:cNvPicPr>
            <a:picLocks noChangeAspect="1"/>
          </p:cNvPicPr>
          <p:nvPr/>
        </p:nvPicPr>
        <p:blipFill>
          <a:blip r:embed="rId3"/>
          <a:srcRect/>
          <a:stretch/>
        </p:blipFill>
        <p:spPr>
          <a:xfrm>
            <a:off x="4663502" y="3516920"/>
            <a:ext cx="190500" cy="127000"/>
          </a:xfrm>
          <a:prstGeom prst="rect">
            <a:avLst/>
          </a:prstGeom>
        </p:spPr>
      </p:pic>
      <p:sp>
        <p:nvSpPr>
          <p:cNvPr id="20" name="Text 14"/>
          <p:cNvSpPr/>
          <p:nvPr/>
        </p:nvSpPr>
        <p:spPr>
          <a:xfrm>
            <a:off x="4930180" y="3046843"/>
            <a:ext cx="2357879" cy="1067208"/>
          </a:xfrm>
          <a:prstGeom prst="roundRect">
            <a:avLst>
              <a:gd name="adj" fmla="val 9520"/>
            </a:avLst>
          </a:prstGeom>
          <a:solidFill>
            <a:srgbClr val="FBFAF7"/>
          </a:solidFill>
          <a:ln/>
        </p:spPr>
        <p:txBody>
          <a:bodyPr wrap="square" lIns="84509" tIns="59142" rIns="20629" bIns="59142" rtlCol="0" anchor="ctr">
            <a:normAutofit/>
          </a:bodyPr>
          <a:lstStyle/>
          <a:p>
            <a:pPr marL="0" indent="0" algn="l">
              <a:lnSpc>
                <a:spcPts val="1690"/>
              </a:lnSpc>
              <a:buNone/>
            </a:pPr>
            <a:r>
              <a:rPr lang="en-US" sz="1300" dirty="0">
                <a:solidFill>
                  <a:srgbClr val="2E3B40"/>
                </a:solidFill>
                <a:latin typeface="Nunito Sans" pitchFamily="34" charset="0"/>
                <a:ea typeface="Nunito Sans" pitchFamily="34" charset="-122"/>
                <a:cs typeface="Nunito Sans" pitchFamily="34" charset="-120"/>
              </a:rPr>
              <a:t>New AI apps and accounts; unapproved use; sensitive uploads and pastes</a:t>
            </a:r>
            <a:endParaRPr lang="en-US" sz="1300" dirty="0"/>
          </a:p>
        </p:txBody>
      </p:sp>
      <p:pic>
        <p:nvPicPr>
          <p:cNvPr id="21" name="Image 4" descr="arrow-right"/>
          <p:cNvPicPr>
            <a:picLocks noChangeAspect="1"/>
          </p:cNvPicPr>
          <p:nvPr/>
        </p:nvPicPr>
        <p:blipFill>
          <a:blip r:embed="rId3"/>
          <a:srcRect/>
          <a:stretch/>
        </p:blipFill>
        <p:spPr>
          <a:xfrm>
            <a:off x="7364237" y="3516920"/>
            <a:ext cx="190500" cy="127000"/>
          </a:xfrm>
          <a:prstGeom prst="rect">
            <a:avLst/>
          </a:prstGeom>
        </p:spPr>
      </p:pic>
      <p:sp>
        <p:nvSpPr>
          <p:cNvPr id="22" name="Text 15"/>
          <p:cNvSpPr/>
          <p:nvPr/>
        </p:nvSpPr>
        <p:spPr>
          <a:xfrm>
            <a:off x="7630914" y="3046843"/>
            <a:ext cx="1866525" cy="1067208"/>
          </a:xfrm>
          <a:prstGeom prst="roundRect">
            <a:avLst>
              <a:gd name="adj" fmla="val 9520"/>
            </a:avLst>
          </a:prstGeom>
          <a:solidFill>
            <a:srgbClr val="DCEFE3"/>
          </a:solidFill>
          <a:ln/>
        </p:spPr>
        <p:txBody>
          <a:bodyPr wrap="square" lIns="84510" tIns="59142" rIns="33709" bIns="59142" rtlCol="0" anchor="ctr">
            <a:normAutofit/>
          </a:bodyPr>
          <a:lstStyle/>
          <a:p>
            <a:pPr marL="0" indent="0" algn="l">
              <a:lnSpc>
                <a:spcPts val="1690"/>
              </a:lnSpc>
              <a:buNone/>
            </a:pPr>
            <a:r>
              <a:rPr lang="en-US" sz="1300" dirty="0">
                <a:solidFill>
                  <a:srgbClr val="2E3B40"/>
                </a:solidFill>
                <a:latin typeface="Nunito Sans" pitchFamily="34" charset="0"/>
                <a:ea typeface="Nunito Sans" pitchFamily="34" charset="-122"/>
                <a:cs typeface="Nunito Sans" pitchFamily="34" charset="-120"/>
              </a:rPr>
              <a:t>Nudge, Defender for Cloud Apps, Netskope, Nightfall, </a:t>
            </a:r>
            <a:r>
              <a:rPr lang="en-US" sz="1300" b="1" dirty="0">
                <a:solidFill>
                  <a:srgbClr val="2E3B40"/>
                </a:solidFill>
                <a:latin typeface="Nunito Sans" pitchFamily="34" charset="0"/>
                <a:ea typeface="Nunito Sans" pitchFamily="34" charset="-122"/>
                <a:cs typeface="Nunito Sans" pitchFamily="34" charset="-120"/>
              </a:rPr>
              <a:t>Jiffy</a:t>
            </a:r>
            <a:endParaRPr lang="en-US" sz="1300" dirty="0"/>
          </a:p>
        </p:txBody>
      </p:sp>
      <p:pic>
        <p:nvPicPr>
          <p:cNvPr id="23" name="Image 5" descr="arrow-right"/>
          <p:cNvPicPr>
            <a:picLocks noChangeAspect="1"/>
          </p:cNvPicPr>
          <p:nvPr/>
        </p:nvPicPr>
        <p:blipFill>
          <a:blip r:embed="rId3"/>
          <a:srcRect/>
          <a:stretch/>
        </p:blipFill>
        <p:spPr>
          <a:xfrm>
            <a:off x="9573618" y="3516920"/>
            <a:ext cx="190500" cy="127000"/>
          </a:xfrm>
          <a:prstGeom prst="rect">
            <a:avLst/>
          </a:prstGeom>
        </p:spPr>
      </p:pic>
      <p:sp>
        <p:nvSpPr>
          <p:cNvPr id="24" name="Text 16"/>
          <p:cNvSpPr/>
          <p:nvPr/>
        </p:nvSpPr>
        <p:spPr>
          <a:xfrm>
            <a:off x="9840295" y="3046843"/>
            <a:ext cx="1538938" cy="1067208"/>
          </a:xfrm>
          <a:prstGeom prst="roundRect">
            <a:avLst>
              <a:gd name="adj" fmla="val 9520"/>
            </a:avLst>
          </a:prstGeom>
          <a:solidFill>
            <a:srgbClr val="F7E1DA"/>
          </a:solidFill>
          <a:ln/>
        </p:spPr>
        <p:txBody>
          <a:bodyPr wrap="square" lIns="84510" tIns="59142" rIns="33709" bIns="59142" rtlCol="0" anchor="ctr">
            <a:normAutofit/>
          </a:bodyPr>
          <a:lstStyle/>
          <a:p>
            <a:pPr marL="0" indent="0" algn="l">
              <a:lnSpc>
                <a:spcPts val="1690"/>
              </a:lnSpc>
              <a:buNone/>
            </a:pPr>
            <a:r>
              <a:rPr lang="en-US" sz="1300" dirty="0">
                <a:solidFill>
                  <a:srgbClr val="2E3B40"/>
                </a:solidFill>
                <a:latin typeface="Nunito Sans" pitchFamily="34" charset="0"/>
                <a:ea typeface="Nunito Sans" pitchFamily="34" charset="-122"/>
                <a:cs typeface="Nunito Sans" pitchFamily="34" charset="-120"/>
              </a:rPr>
              <a:t>CLI tools and local models</a:t>
            </a:r>
            <a:endParaRPr lang="en-US" sz="1300" dirty="0"/>
          </a:p>
        </p:txBody>
      </p:sp>
      <p:sp>
        <p:nvSpPr>
          <p:cNvPr id="25" name="Text 17"/>
          <p:cNvSpPr/>
          <p:nvPr/>
        </p:nvSpPr>
        <p:spPr>
          <a:xfrm>
            <a:off x="812767" y="4190230"/>
            <a:ext cx="1422356" cy="1067208"/>
          </a:xfrm>
          <a:prstGeom prst="roundRect">
            <a:avLst>
              <a:gd name="adj" fmla="val 9520"/>
            </a:avLst>
          </a:prstGeom>
          <a:solidFill>
            <a:srgbClr val="E0DAEC"/>
          </a:solidFill>
          <a:ln/>
        </p:spPr>
        <p:txBody>
          <a:bodyPr wrap="square" lIns="84509" tIns="59142" rIns="33709" bIns="59142" rtlCol="0" anchor="ctr">
            <a:normAutofit/>
          </a:bodyPr>
          <a:lstStyle/>
          <a:p>
            <a:pPr marL="0" indent="0" algn="l">
              <a:lnSpc>
                <a:spcPts val="1620"/>
              </a:lnSpc>
              <a:buNone/>
            </a:pPr>
            <a:r>
              <a:rPr lang="en-US" sz="1350" b="1" dirty="0">
                <a:solidFill>
                  <a:srgbClr val="2E3B40"/>
                </a:solidFill>
                <a:latin typeface="Lora" pitchFamily="18" charset="0"/>
                <a:ea typeface="Lora" pitchFamily="18" charset="-122"/>
                <a:cs typeface="Lora" pitchFamily="18" charset="-120"/>
              </a:rPr>
              <a:t>Vendor AI</a:t>
            </a:r>
            <a:endParaRPr lang="en-US" sz="1350" dirty="0"/>
          </a:p>
        </p:txBody>
      </p:sp>
      <p:sp>
        <p:nvSpPr>
          <p:cNvPr id="26" name="Text 18"/>
          <p:cNvSpPr/>
          <p:nvPr/>
        </p:nvSpPr>
        <p:spPr>
          <a:xfrm>
            <a:off x="2311301" y="4190230"/>
            <a:ext cx="2276023" cy="1067208"/>
          </a:xfrm>
          <a:prstGeom prst="roundRect">
            <a:avLst>
              <a:gd name="adj" fmla="val 9520"/>
            </a:avLst>
          </a:prstGeom>
          <a:solidFill>
            <a:srgbClr val="F5F3F8"/>
          </a:solidFill>
          <a:ln/>
        </p:spPr>
        <p:txBody>
          <a:bodyPr wrap="square" lIns="84509" tIns="59142" rIns="23085" bIns="59142" rtlCol="0" anchor="ctr">
            <a:normAutofit/>
          </a:bodyPr>
          <a:lstStyle/>
          <a:p>
            <a:pPr marL="0" indent="0" algn="l">
              <a:lnSpc>
                <a:spcPts val="1690"/>
              </a:lnSpc>
              <a:buNone/>
            </a:pPr>
            <a:r>
              <a:rPr lang="en-US" sz="1300" dirty="0">
                <a:solidFill>
                  <a:srgbClr val="2E3B40"/>
                </a:solidFill>
                <a:latin typeface="Nunito Sans" pitchFamily="34" charset="0"/>
                <a:ea typeface="Nunito Sans" pitchFamily="34" charset="-122"/>
                <a:cs typeface="Nunito Sans" pitchFamily="34" charset="-120"/>
              </a:rPr>
              <a:t>Data already in SaaS via embedded AI features, to vendor models and sub-processors</a:t>
            </a:r>
            <a:endParaRPr lang="en-US" sz="1300" dirty="0"/>
          </a:p>
        </p:txBody>
      </p:sp>
      <p:pic>
        <p:nvPicPr>
          <p:cNvPr id="27" name="Image 6" descr="arrow-right"/>
          <p:cNvPicPr>
            <a:picLocks noChangeAspect="1"/>
          </p:cNvPicPr>
          <p:nvPr/>
        </p:nvPicPr>
        <p:blipFill>
          <a:blip r:embed="rId3"/>
          <a:srcRect/>
          <a:stretch/>
        </p:blipFill>
        <p:spPr>
          <a:xfrm>
            <a:off x="4663502" y="4660306"/>
            <a:ext cx="190500" cy="127000"/>
          </a:xfrm>
          <a:prstGeom prst="rect">
            <a:avLst/>
          </a:prstGeom>
        </p:spPr>
      </p:pic>
      <p:sp>
        <p:nvSpPr>
          <p:cNvPr id="28" name="Text 19"/>
          <p:cNvSpPr/>
          <p:nvPr/>
        </p:nvSpPr>
        <p:spPr>
          <a:xfrm>
            <a:off x="4930180" y="4190230"/>
            <a:ext cx="2357879" cy="1067208"/>
          </a:xfrm>
          <a:prstGeom prst="roundRect">
            <a:avLst>
              <a:gd name="adj" fmla="val 9520"/>
            </a:avLst>
          </a:prstGeom>
          <a:solidFill>
            <a:srgbClr val="FBFAF7"/>
          </a:solidFill>
          <a:ln/>
        </p:spPr>
        <p:txBody>
          <a:bodyPr wrap="square" lIns="84509" tIns="59142" rIns="20629" bIns="59142" rtlCol="0" anchor="ctr">
            <a:normAutofit/>
          </a:bodyPr>
          <a:lstStyle/>
          <a:p>
            <a:pPr marL="0" indent="0" algn="l">
              <a:lnSpc>
                <a:spcPts val="1690"/>
              </a:lnSpc>
              <a:buNone/>
            </a:pPr>
            <a:r>
              <a:rPr lang="en-US" sz="1300" dirty="0">
                <a:solidFill>
                  <a:srgbClr val="2E3B40"/>
                </a:solidFill>
                <a:latin typeface="Nunito Sans" pitchFamily="34" charset="0"/>
                <a:ea typeface="Nunito Sans" pitchFamily="34" charset="-122"/>
                <a:cs typeface="Nunito Sans" pitchFamily="34" charset="-120"/>
              </a:rPr>
              <a:t>AI enabled without notice; data shared with vendors; model or sub-processor change</a:t>
            </a:r>
            <a:endParaRPr lang="en-US" sz="1300" dirty="0"/>
          </a:p>
        </p:txBody>
      </p:sp>
      <p:pic>
        <p:nvPicPr>
          <p:cNvPr id="29" name="Image 7" descr="arrow-right"/>
          <p:cNvPicPr>
            <a:picLocks noChangeAspect="1"/>
          </p:cNvPicPr>
          <p:nvPr/>
        </p:nvPicPr>
        <p:blipFill>
          <a:blip r:embed="rId3"/>
          <a:srcRect/>
          <a:stretch/>
        </p:blipFill>
        <p:spPr>
          <a:xfrm>
            <a:off x="7364237" y="4660306"/>
            <a:ext cx="190500" cy="127000"/>
          </a:xfrm>
          <a:prstGeom prst="rect">
            <a:avLst/>
          </a:prstGeom>
        </p:spPr>
      </p:pic>
      <p:sp>
        <p:nvSpPr>
          <p:cNvPr id="30" name="Text 20"/>
          <p:cNvSpPr/>
          <p:nvPr/>
        </p:nvSpPr>
        <p:spPr>
          <a:xfrm>
            <a:off x="7630914" y="4190230"/>
            <a:ext cx="1866525" cy="1067208"/>
          </a:xfrm>
          <a:prstGeom prst="roundRect">
            <a:avLst>
              <a:gd name="adj" fmla="val 9520"/>
            </a:avLst>
          </a:prstGeom>
          <a:solidFill>
            <a:srgbClr val="DCEFE3"/>
          </a:solidFill>
          <a:ln/>
        </p:spPr>
        <p:txBody>
          <a:bodyPr wrap="square" lIns="84510" tIns="59142" rIns="33709" bIns="59142" rtlCol="0" anchor="ctr">
            <a:normAutofit/>
          </a:bodyPr>
          <a:lstStyle/>
          <a:p>
            <a:pPr marL="0" indent="0" algn="l">
              <a:lnSpc>
                <a:spcPts val="1690"/>
              </a:lnSpc>
              <a:buNone/>
            </a:pPr>
            <a:r>
              <a:rPr lang="en-US" sz="1300" b="1" dirty="0">
                <a:solidFill>
                  <a:srgbClr val="2E3B40"/>
                </a:solidFill>
                <a:latin typeface="Nunito Sans" pitchFamily="34" charset="0"/>
                <a:ea typeface="Nunito Sans" pitchFamily="34" charset="-122"/>
                <a:cs typeface="Nunito Sans" pitchFamily="34" charset="-120"/>
              </a:rPr>
              <a:t>Bit-Vendor</a:t>
            </a:r>
            <a:r>
              <a:rPr lang="en-US" sz="1300" dirty="0">
                <a:solidFill>
                  <a:srgbClr val="2E3B40"/>
                </a:solidFill>
                <a:latin typeface="Nunito Sans" pitchFamily="34" charset="0"/>
                <a:ea typeface="Nunito Sans" pitchFamily="34" charset="-122"/>
                <a:cs typeface="Nunito Sans" pitchFamily="34" charset="-120"/>
              </a:rPr>
              <a:t>, CAIQ intake, Vanta, BigID</a:t>
            </a:r>
            <a:endParaRPr lang="en-US" sz="1300" dirty="0"/>
          </a:p>
        </p:txBody>
      </p:sp>
      <p:pic>
        <p:nvPicPr>
          <p:cNvPr id="31" name="Image 8" descr="arrow-right"/>
          <p:cNvPicPr>
            <a:picLocks noChangeAspect="1"/>
          </p:cNvPicPr>
          <p:nvPr/>
        </p:nvPicPr>
        <p:blipFill>
          <a:blip r:embed="rId3"/>
          <a:srcRect/>
          <a:stretch/>
        </p:blipFill>
        <p:spPr>
          <a:xfrm>
            <a:off x="9573618" y="4660306"/>
            <a:ext cx="190500" cy="127000"/>
          </a:xfrm>
          <a:prstGeom prst="rect">
            <a:avLst/>
          </a:prstGeom>
        </p:spPr>
      </p:pic>
      <p:sp>
        <p:nvSpPr>
          <p:cNvPr id="32" name="Text 21"/>
          <p:cNvSpPr/>
          <p:nvPr/>
        </p:nvSpPr>
        <p:spPr>
          <a:xfrm>
            <a:off x="9840295" y="4190230"/>
            <a:ext cx="1538938" cy="1067208"/>
          </a:xfrm>
          <a:prstGeom prst="roundRect">
            <a:avLst>
              <a:gd name="adj" fmla="val 9520"/>
            </a:avLst>
          </a:prstGeom>
          <a:solidFill>
            <a:srgbClr val="F7E1DA"/>
          </a:solidFill>
          <a:ln/>
        </p:spPr>
        <p:txBody>
          <a:bodyPr wrap="square" lIns="84510" tIns="59142" rIns="33709" bIns="59142" rtlCol="0" anchor="ctr">
            <a:normAutofit/>
          </a:bodyPr>
          <a:lstStyle/>
          <a:p>
            <a:pPr marL="0" indent="0" algn="l">
              <a:lnSpc>
                <a:spcPts val="1690"/>
              </a:lnSpc>
              <a:buNone/>
            </a:pPr>
            <a:r>
              <a:rPr lang="en-US" sz="1300" dirty="0">
                <a:solidFill>
                  <a:srgbClr val="2E3B40"/>
                </a:solidFill>
                <a:latin typeface="Nunito Sans" pitchFamily="34" charset="0"/>
                <a:ea typeface="Nunito Sans" pitchFamily="34" charset="-122"/>
                <a:cs typeface="Nunito Sans" pitchFamily="34" charset="-120"/>
              </a:rPr>
              <a:t>Changes inside the vendor stay unseen</a:t>
            </a:r>
            <a:endParaRPr lang="en-US" sz="1300" dirty="0"/>
          </a:p>
        </p:txBody>
      </p:sp>
      <p:sp>
        <p:nvSpPr>
          <p:cNvPr id="33" name="Text 22"/>
          <p:cNvSpPr/>
          <p:nvPr/>
        </p:nvSpPr>
        <p:spPr>
          <a:xfrm>
            <a:off x="812767" y="5333616"/>
            <a:ext cx="1422356" cy="1067208"/>
          </a:xfrm>
          <a:prstGeom prst="roundRect">
            <a:avLst>
              <a:gd name="adj" fmla="val 9520"/>
            </a:avLst>
          </a:prstGeom>
          <a:solidFill>
            <a:srgbClr val="EFE3CF"/>
          </a:solidFill>
          <a:ln/>
        </p:spPr>
        <p:txBody>
          <a:bodyPr wrap="square" lIns="84509" tIns="59142" rIns="33709" bIns="59142" rtlCol="0" anchor="ctr">
            <a:normAutofit/>
          </a:bodyPr>
          <a:lstStyle/>
          <a:p>
            <a:pPr marL="0" indent="0" algn="l">
              <a:lnSpc>
                <a:spcPts val="1620"/>
              </a:lnSpc>
              <a:buNone/>
            </a:pPr>
            <a:r>
              <a:rPr lang="en-US" sz="1350" b="1" dirty="0">
                <a:solidFill>
                  <a:srgbClr val="2E3B40"/>
                </a:solidFill>
                <a:latin typeface="Lora" pitchFamily="18" charset="0"/>
                <a:ea typeface="Lora" pitchFamily="18" charset="-122"/>
                <a:cs typeface="Lora" pitchFamily="18" charset="-120"/>
              </a:rPr>
              <a:t>AI in secure development</a:t>
            </a:r>
            <a:endParaRPr lang="en-US" sz="1350" dirty="0"/>
          </a:p>
        </p:txBody>
      </p:sp>
      <p:sp>
        <p:nvSpPr>
          <p:cNvPr id="34" name="Text 23"/>
          <p:cNvSpPr/>
          <p:nvPr/>
        </p:nvSpPr>
        <p:spPr>
          <a:xfrm>
            <a:off x="2311301" y="5333616"/>
            <a:ext cx="2276023" cy="1067208"/>
          </a:xfrm>
          <a:prstGeom prst="roundRect">
            <a:avLst>
              <a:gd name="adj" fmla="val 9520"/>
            </a:avLst>
          </a:prstGeom>
          <a:solidFill>
            <a:srgbClr val="F8F4EC"/>
          </a:solidFill>
          <a:ln/>
        </p:spPr>
        <p:txBody>
          <a:bodyPr wrap="square" lIns="84509" tIns="59142" rIns="23085" bIns="59142" rtlCol="0" anchor="ctr">
            <a:normAutofit/>
          </a:bodyPr>
          <a:lstStyle/>
          <a:p>
            <a:pPr marL="0" indent="0" algn="l">
              <a:lnSpc>
                <a:spcPts val="1690"/>
              </a:lnSpc>
              <a:buNone/>
            </a:pPr>
            <a:r>
              <a:rPr lang="en-US" sz="1300" dirty="0">
                <a:solidFill>
                  <a:srgbClr val="2E3B40"/>
                </a:solidFill>
                <a:latin typeface="Nunito Sans" pitchFamily="34" charset="0"/>
                <a:ea typeface="Nunito Sans" pitchFamily="34" charset="-122"/>
                <a:cs typeface="Nunito Sans" pitchFamily="34" charset="-120"/>
              </a:rPr>
              <a:t>Code, secrets, schemas via IDE, CLI agents, MCP, to coding models; packages flow back</a:t>
            </a:r>
            <a:endParaRPr lang="en-US" sz="1300" dirty="0"/>
          </a:p>
        </p:txBody>
      </p:sp>
      <p:pic>
        <p:nvPicPr>
          <p:cNvPr id="35" name="Image 9" descr="arrow-right"/>
          <p:cNvPicPr>
            <a:picLocks noChangeAspect="1"/>
          </p:cNvPicPr>
          <p:nvPr/>
        </p:nvPicPr>
        <p:blipFill>
          <a:blip r:embed="rId3"/>
          <a:srcRect/>
          <a:stretch/>
        </p:blipFill>
        <p:spPr>
          <a:xfrm>
            <a:off x="4663502" y="5803691"/>
            <a:ext cx="190500" cy="127000"/>
          </a:xfrm>
          <a:prstGeom prst="rect">
            <a:avLst/>
          </a:prstGeom>
        </p:spPr>
      </p:pic>
      <p:sp>
        <p:nvSpPr>
          <p:cNvPr id="36" name="Text 24"/>
          <p:cNvSpPr/>
          <p:nvPr/>
        </p:nvSpPr>
        <p:spPr>
          <a:xfrm>
            <a:off x="4930180" y="5333616"/>
            <a:ext cx="2357879" cy="1067208"/>
          </a:xfrm>
          <a:prstGeom prst="roundRect">
            <a:avLst>
              <a:gd name="adj" fmla="val 9520"/>
            </a:avLst>
          </a:prstGeom>
          <a:solidFill>
            <a:srgbClr val="FBFAF7"/>
          </a:solidFill>
          <a:ln/>
        </p:spPr>
        <p:txBody>
          <a:bodyPr wrap="square" lIns="84509" tIns="59142" rIns="20629" bIns="59142" rtlCol="0" anchor="ctr">
            <a:normAutofit/>
          </a:bodyPr>
          <a:lstStyle/>
          <a:p>
            <a:pPr marL="0" indent="0" algn="l">
              <a:lnSpc>
                <a:spcPts val="1690"/>
              </a:lnSpc>
              <a:buNone/>
            </a:pPr>
            <a:r>
              <a:rPr lang="en-US" sz="1300" dirty="0">
                <a:solidFill>
                  <a:srgbClr val="2E3B40"/>
                </a:solidFill>
                <a:latin typeface="Nunito Sans" pitchFamily="34" charset="0"/>
                <a:ea typeface="Nunito Sans" pitchFamily="34" charset="-122"/>
                <a:cs typeface="Nunito Sans" pitchFamily="34" charset="-120"/>
              </a:rPr>
              <a:t>Malicious packages, poisoned MCP tools and rules, LLM calls, weak AI features pre-release</a:t>
            </a:r>
            <a:endParaRPr lang="en-US" sz="1300" dirty="0"/>
          </a:p>
        </p:txBody>
      </p:sp>
      <p:pic>
        <p:nvPicPr>
          <p:cNvPr id="37" name="Image 10" descr="arrow-right"/>
          <p:cNvPicPr>
            <a:picLocks noChangeAspect="1"/>
          </p:cNvPicPr>
          <p:nvPr/>
        </p:nvPicPr>
        <p:blipFill>
          <a:blip r:embed="rId3"/>
          <a:srcRect/>
          <a:stretch/>
        </p:blipFill>
        <p:spPr>
          <a:xfrm>
            <a:off x="7364237" y="5803691"/>
            <a:ext cx="190500" cy="127000"/>
          </a:xfrm>
          <a:prstGeom prst="rect">
            <a:avLst/>
          </a:prstGeom>
        </p:spPr>
      </p:pic>
      <p:sp>
        <p:nvSpPr>
          <p:cNvPr id="38" name="Text 25"/>
          <p:cNvSpPr/>
          <p:nvPr/>
        </p:nvSpPr>
        <p:spPr>
          <a:xfrm>
            <a:off x="7630914" y="5333616"/>
            <a:ext cx="1866525" cy="1067208"/>
          </a:xfrm>
          <a:prstGeom prst="roundRect">
            <a:avLst>
              <a:gd name="adj" fmla="val 9520"/>
            </a:avLst>
          </a:prstGeom>
          <a:solidFill>
            <a:srgbClr val="DCEFE3"/>
          </a:solidFill>
          <a:ln/>
        </p:spPr>
        <p:txBody>
          <a:bodyPr wrap="square" lIns="84510" tIns="59142" rIns="33709" bIns="59142" rtlCol="0" anchor="ctr">
            <a:normAutofit/>
          </a:bodyPr>
          <a:lstStyle/>
          <a:p>
            <a:pPr marL="0" indent="0" algn="l">
              <a:lnSpc>
                <a:spcPts val="1690"/>
              </a:lnSpc>
              <a:buNone/>
            </a:pPr>
            <a:r>
              <a:rPr lang="en-US" sz="1300" dirty="0">
                <a:solidFill>
                  <a:srgbClr val="2E3B40"/>
                </a:solidFill>
                <a:latin typeface="Nunito Sans" pitchFamily="34" charset="0"/>
                <a:ea typeface="Nunito Sans" pitchFamily="34" charset="-122"/>
                <a:cs typeface="Nunito Sans" pitchFamily="34" charset="-120"/>
              </a:rPr>
              <a:t>Snyk, Semgrep, Socket, </a:t>
            </a:r>
            <a:r>
              <a:rPr lang="en-US" sz="1300" b="1" dirty="0">
                <a:solidFill>
                  <a:srgbClr val="2E3B40"/>
                </a:solidFill>
                <a:latin typeface="Nunito Sans" pitchFamily="34" charset="0"/>
                <a:ea typeface="Nunito Sans" pitchFamily="34" charset="-122"/>
                <a:cs typeface="Nunito Sans" pitchFamily="34" charset="-120"/>
              </a:rPr>
              <a:t>Jiffy</a:t>
            </a:r>
            <a:r>
              <a:rPr lang="en-US" sz="1300" dirty="0">
                <a:solidFill>
                  <a:srgbClr val="2E3B40"/>
                </a:solidFill>
                <a:latin typeface="Nunito Sans" pitchFamily="34" charset="0"/>
                <a:ea typeface="Nunito Sans" pitchFamily="34" charset="-122"/>
                <a:cs typeface="Nunito Sans" pitchFamily="34" charset="-120"/>
              </a:rPr>
              <a:t>, </a:t>
            </a:r>
            <a:r>
              <a:rPr lang="en-US" sz="1300" b="1" dirty="0">
                <a:solidFill>
                  <a:srgbClr val="2E3B40"/>
                </a:solidFill>
                <a:latin typeface="Nunito Sans" pitchFamily="34" charset="0"/>
                <a:ea typeface="Nunito Sans" pitchFamily="34" charset="-122"/>
                <a:cs typeface="Nunito Sans" pitchFamily="34" charset="-120"/>
              </a:rPr>
              <a:t>Septa</a:t>
            </a:r>
            <a:r>
              <a:rPr lang="en-US" sz="1300" dirty="0">
                <a:solidFill>
                  <a:srgbClr val="2E3B40"/>
                </a:solidFill>
                <a:latin typeface="Nunito Sans" pitchFamily="34" charset="0"/>
                <a:ea typeface="Nunito Sans" pitchFamily="34" charset="-122"/>
                <a:cs typeface="Nunito Sans" pitchFamily="34" charset="-120"/>
              </a:rPr>
              <a:t>, </a:t>
            </a:r>
            <a:r>
              <a:rPr lang="en-US" sz="1300" b="1" dirty="0">
                <a:solidFill>
                  <a:srgbClr val="2E3B40"/>
                </a:solidFill>
                <a:latin typeface="Nunito Sans" pitchFamily="34" charset="0"/>
                <a:ea typeface="Nunito Sans" pitchFamily="34" charset="-122"/>
                <a:cs typeface="Nunito Sans" pitchFamily="34" charset="-120"/>
              </a:rPr>
              <a:t>Litmus</a:t>
            </a:r>
            <a:endParaRPr lang="en-US" sz="1300" dirty="0"/>
          </a:p>
        </p:txBody>
      </p:sp>
      <p:pic>
        <p:nvPicPr>
          <p:cNvPr id="39" name="Image 11" descr="arrow-right"/>
          <p:cNvPicPr>
            <a:picLocks noChangeAspect="1"/>
          </p:cNvPicPr>
          <p:nvPr/>
        </p:nvPicPr>
        <p:blipFill>
          <a:blip r:embed="rId3"/>
          <a:srcRect/>
          <a:stretch/>
        </p:blipFill>
        <p:spPr>
          <a:xfrm>
            <a:off x="9573618" y="5803691"/>
            <a:ext cx="190500" cy="127000"/>
          </a:xfrm>
          <a:prstGeom prst="rect">
            <a:avLst/>
          </a:prstGeom>
        </p:spPr>
      </p:pic>
      <p:sp>
        <p:nvSpPr>
          <p:cNvPr id="40" name="Text 26"/>
          <p:cNvSpPr/>
          <p:nvPr/>
        </p:nvSpPr>
        <p:spPr>
          <a:xfrm>
            <a:off x="9840295" y="5333616"/>
            <a:ext cx="1538938" cy="1067208"/>
          </a:xfrm>
          <a:prstGeom prst="roundRect">
            <a:avLst>
              <a:gd name="adj" fmla="val 9520"/>
            </a:avLst>
          </a:prstGeom>
          <a:solidFill>
            <a:srgbClr val="F7E1DA"/>
          </a:solidFill>
          <a:ln/>
        </p:spPr>
        <p:txBody>
          <a:bodyPr wrap="square" lIns="84510" tIns="59142" rIns="33709" bIns="59142" rtlCol="0" anchor="ctr">
            <a:normAutofit/>
          </a:bodyPr>
          <a:lstStyle/>
          <a:p>
            <a:pPr marL="0" indent="0" algn="l">
              <a:lnSpc>
                <a:spcPts val="1690"/>
              </a:lnSpc>
              <a:buNone/>
            </a:pPr>
            <a:r>
              <a:rPr lang="en-US" sz="1300" dirty="0">
                <a:solidFill>
                  <a:srgbClr val="2E3B40"/>
                </a:solidFill>
                <a:latin typeface="Nunito Sans" pitchFamily="34" charset="0"/>
                <a:ea typeface="Nunito Sans" pitchFamily="34" charset="-122"/>
                <a:cs typeface="Nunito Sans" pitchFamily="34" charset="-120"/>
              </a:rPr>
              <a:t>New packages lack history</a:t>
            </a:r>
            <a:endParaRPr lang="en-US" sz="1300" dirty="0"/>
          </a:p>
        </p:txBody>
      </p:sp>
      <p:cxnSp>
        <p:nvCxnSpPr>
          <p:cNvPr id="42" name="Straight Connector 41">
            <a:extLst>
              <a:ext uri="{FF2B5EF4-FFF2-40B4-BE49-F238E27FC236}">
                <a16:creationId xmlns:a16="http://schemas.microsoft.com/office/drawing/2014/main" id="{2BD768EB-B452-D613-AC57-D1B2C3760AF5}"/>
              </a:ext>
            </a:extLst>
          </p:cNvPr>
          <p:cNvCxnSpPr>
            <a:cxnSpLocks/>
          </p:cNvCxnSpPr>
          <p:nvPr/>
        </p:nvCxnSpPr>
        <p:spPr>
          <a:xfrm>
            <a:off x="0" y="1316334"/>
            <a:ext cx="12192000" cy="0"/>
          </a:xfrm>
          <a:prstGeom prst="line">
            <a:avLst/>
          </a:prstGeom>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F0EC"/>
        </a:solidFill>
        <a:effectLst/>
      </p:bgPr>
    </p:bg>
    <p:spTree>
      <p:nvGrpSpPr>
        <p:cNvPr id="1" name=""/>
        <p:cNvGrpSpPr/>
        <p:nvPr/>
      </p:nvGrpSpPr>
      <p:grpSpPr>
        <a:xfrm>
          <a:off x="0" y="0"/>
          <a:ext cx="0" cy="0"/>
          <a:chOff x="0" y="0"/>
          <a:chExt cx="0" cy="0"/>
        </a:xfrm>
      </p:grpSpPr>
      <p:sp>
        <p:nvSpPr>
          <p:cNvPr id="2" name="Text 0"/>
          <p:cNvSpPr/>
          <p:nvPr/>
        </p:nvSpPr>
        <p:spPr>
          <a:xfrm>
            <a:off x="812767" y="406355"/>
            <a:ext cx="10883461" cy="292078"/>
          </a:xfrm>
          <a:prstGeom prst="rect">
            <a:avLst/>
          </a:prstGeom>
          <a:noFill/>
          <a:ln/>
        </p:spPr>
        <p:txBody>
          <a:bodyPr wrap="square" lIns="0" tIns="0" rIns="0" bIns="0" rtlCol="0" anchor="t">
            <a:normAutofit/>
          </a:bodyPr>
          <a:lstStyle/>
          <a:p>
            <a:pPr marL="0" indent="0" algn="l">
              <a:lnSpc>
                <a:spcPts val="2100"/>
              </a:lnSpc>
              <a:buNone/>
            </a:pPr>
            <a:r>
              <a:rPr lang="en-US" sz="1500" b="1" kern="0" spc="150" dirty="0">
                <a:solidFill>
                  <a:srgbClr val="4F7A64"/>
                </a:solidFill>
                <a:latin typeface="Nunito Sans" pitchFamily="34" charset="0"/>
                <a:ea typeface="Nunito Sans" pitchFamily="34" charset="-122"/>
                <a:cs typeface="Nunito Sans" pitchFamily="34" charset="-120"/>
              </a:rPr>
              <a:t>LAYER 2 · TOOL GAPS</a:t>
            </a:r>
            <a:endParaRPr lang="en-US" sz="1500" dirty="0"/>
          </a:p>
        </p:txBody>
      </p:sp>
      <p:sp>
        <p:nvSpPr>
          <p:cNvPr id="3" name="Text 1"/>
          <p:cNvSpPr>
            <a:spLocks noGrp="1"/>
          </p:cNvSpPr>
          <p:nvPr>
            <p:ph type="title"/>
          </p:nvPr>
        </p:nvSpPr>
        <p:spPr>
          <a:xfrm>
            <a:off x="812767" y="723801"/>
            <a:ext cx="10883461" cy="458435"/>
          </a:xfrm>
          <a:prstGeom prst="rect">
            <a:avLst/>
          </a:prstGeom>
          <a:noFill/>
          <a:ln/>
        </p:spPr>
        <p:txBody>
          <a:bodyPr wrap="square" lIns="0" tIns="0" rIns="0" bIns="0" rtlCol="0" anchor="t">
            <a:normAutofit/>
          </a:bodyPr>
          <a:lstStyle/>
          <a:p>
            <a:pPr marL="0" indent="0" algn="l">
              <a:lnSpc>
                <a:spcPts val="3410"/>
              </a:lnSpc>
              <a:buNone/>
            </a:pPr>
            <a:r>
              <a:rPr lang="en-US" sz="3100" b="0" i="0" dirty="0">
                <a:solidFill>
                  <a:srgbClr val="2E3B40"/>
                </a:solidFill>
                <a:latin typeface="Lora" pitchFamily="18" charset="0"/>
                <a:ea typeface="Lora" pitchFamily="18" charset="-122"/>
                <a:cs typeface="Lora" pitchFamily="18" charset="-120"/>
              </a:rPr>
              <a:t>What the tools leave uncovered, and what closes it</a:t>
            </a:r>
            <a:endParaRPr lang="en-US" sz="3100" dirty="0"/>
          </a:p>
        </p:txBody>
      </p:sp>
      <p:sp>
        <p:nvSpPr>
          <p:cNvPr id="5" name="Shape 3"/>
          <p:cNvSpPr/>
          <p:nvPr/>
        </p:nvSpPr>
        <p:spPr>
          <a:xfrm>
            <a:off x="815942" y="1617132"/>
            <a:ext cx="2378097" cy="4780514"/>
          </a:xfrm>
          <a:prstGeom prst="roundRect">
            <a:avLst>
              <a:gd name="adj" fmla="val 6275"/>
            </a:avLst>
          </a:prstGeom>
          <a:solidFill>
            <a:srgbClr val="FBFAF7"/>
          </a:solidFill>
          <a:ln w="6350">
            <a:solidFill>
              <a:srgbClr val="DCE3DE"/>
            </a:solidFill>
            <a:prstDash val="solid"/>
          </a:ln>
        </p:spPr>
        <p:txBody>
          <a:bodyPr/>
          <a:lstStyle/>
          <a:p>
            <a:endParaRPr lang="en-US"/>
          </a:p>
        </p:txBody>
      </p:sp>
      <p:sp>
        <p:nvSpPr>
          <p:cNvPr id="6" name="Shape 4"/>
          <p:cNvSpPr/>
          <p:nvPr/>
        </p:nvSpPr>
        <p:spPr>
          <a:xfrm>
            <a:off x="816295" y="1617486"/>
            <a:ext cx="2377392" cy="1346123"/>
          </a:xfrm>
          <a:custGeom>
            <a:avLst/>
            <a:gdLst/>
            <a:ahLst/>
            <a:cxnLst/>
            <a:rect l="l" t="t" r="r" b="b"/>
            <a:pathLst>
              <a:path w="2377392" h="1346123">
                <a:moveTo>
                  <a:pt x="0" y="148872"/>
                </a:moveTo>
                <a:arcTo wR="148872" hR="148872" stAng="10800000" swAng="5400000"/>
                <a:lnTo>
                  <a:pt x="2228519" y="0"/>
                </a:lnTo>
                <a:arcTo wR="148872" hR="148872" stAng="16200000" swAng="5400000"/>
                <a:lnTo>
                  <a:pt x="2377392" y="1346123"/>
                </a:lnTo>
                <a:lnTo>
                  <a:pt x="0" y="1346123"/>
                </a:lnTo>
                <a:close/>
              </a:path>
            </a:pathLst>
          </a:custGeom>
          <a:solidFill>
            <a:srgbClr val="CFE0D3"/>
          </a:solidFill>
          <a:ln/>
        </p:spPr>
        <p:txBody>
          <a:bodyPr/>
          <a:lstStyle/>
          <a:p>
            <a:endParaRPr lang="en-US"/>
          </a:p>
        </p:txBody>
      </p:sp>
      <p:sp>
        <p:nvSpPr>
          <p:cNvPr id="7" name="Text 5"/>
          <p:cNvSpPr/>
          <p:nvPr/>
        </p:nvSpPr>
        <p:spPr>
          <a:xfrm>
            <a:off x="968651" y="1744486"/>
            <a:ext cx="2134860" cy="638682"/>
          </a:xfrm>
          <a:prstGeom prst="rect">
            <a:avLst/>
          </a:prstGeom>
          <a:noFill/>
          <a:ln/>
        </p:spPr>
        <p:txBody>
          <a:bodyPr wrap="square" lIns="0" tIns="0" rIns="0" bIns="0" rtlCol="0" anchor="t">
            <a:normAutofit/>
          </a:bodyPr>
          <a:lstStyle/>
          <a:p>
            <a:pPr marL="0" indent="0" algn="l">
              <a:lnSpc>
                <a:spcPts val="2415"/>
              </a:lnSpc>
              <a:buNone/>
            </a:pPr>
            <a:r>
              <a:rPr lang="en-US" sz="2100" b="1" dirty="0">
                <a:solidFill>
                  <a:srgbClr val="2E3B40"/>
                </a:solidFill>
                <a:latin typeface="Lora" pitchFamily="18" charset="0"/>
                <a:ea typeface="Lora" pitchFamily="18" charset="-122"/>
                <a:cs typeface="Lora" pitchFamily="18" charset="-120"/>
              </a:rPr>
              <a:t>Enterprise sanctioned AI</a:t>
            </a:r>
            <a:endParaRPr lang="en-US" sz="2100" dirty="0"/>
          </a:p>
        </p:txBody>
      </p:sp>
      <p:sp>
        <p:nvSpPr>
          <p:cNvPr id="8" name="Text 6"/>
          <p:cNvSpPr/>
          <p:nvPr/>
        </p:nvSpPr>
        <p:spPr>
          <a:xfrm>
            <a:off x="968651" y="2404841"/>
            <a:ext cx="2134860" cy="454576"/>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F4D52"/>
                </a:solidFill>
                <a:latin typeface="Nunito Sans" pitchFamily="34" charset="0"/>
                <a:ea typeface="Nunito Sans" pitchFamily="34" charset="-122"/>
                <a:cs typeface="Nunito Sans" pitchFamily="34" charset="-120"/>
              </a:rPr>
              <a:t>Copilots and agents, Claude, OpenAI</a:t>
            </a:r>
            <a:endParaRPr lang="en-US" sz="1300" dirty="0"/>
          </a:p>
        </p:txBody>
      </p:sp>
      <p:sp>
        <p:nvSpPr>
          <p:cNvPr id="9" name="Text 7"/>
          <p:cNvSpPr/>
          <p:nvPr/>
        </p:nvSpPr>
        <p:spPr>
          <a:xfrm>
            <a:off x="968651" y="3090608"/>
            <a:ext cx="2134860" cy="292078"/>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4F7A64"/>
                </a:solidFill>
                <a:latin typeface="Nunito Sans" pitchFamily="34" charset="0"/>
                <a:ea typeface="Nunito Sans" pitchFamily="34" charset="-122"/>
                <a:cs typeface="Nunito Sans" pitchFamily="34" charset="-120"/>
              </a:rPr>
              <a:t>Gaps that remain</a:t>
            </a:r>
            <a:endParaRPr lang="en-US" sz="1500" dirty="0"/>
          </a:p>
        </p:txBody>
      </p:sp>
      <p:sp>
        <p:nvSpPr>
          <p:cNvPr id="10" name="Text 8"/>
          <p:cNvSpPr/>
          <p:nvPr/>
        </p:nvSpPr>
        <p:spPr>
          <a:xfrm>
            <a:off x="968651" y="3446143"/>
            <a:ext cx="2134860" cy="487649"/>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5636A"/>
                </a:solidFill>
                <a:latin typeface="Nunito Sans" pitchFamily="34" charset="0"/>
                <a:ea typeface="Nunito Sans" pitchFamily="34" charset="-122"/>
                <a:cs typeface="Nunito Sans" pitchFamily="34" charset="-120"/>
              </a:rPr>
              <a:t>• Agents built outside Microsoft or AWS</a:t>
            </a:r>
            <a:endParaRPr lang="en-US" sz="1400" dirty="0"/>
          </a:p>
        </p:txBody>
      </p:sp>
      <p:sp>
        <p:nvSpPr>
          <p:cNvPr id="11" name="Text 9"/>
          <p:cNvSpPr/>
          <p:nvPr/>
        </p:nvSpPr>
        <p:spPr>
          <a:xfrm>
            <a:off x="968651" y="4004855"/>
            <a:ext cx="2134860" cy="487649"/>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5636A"/>
                </a:solidFill>
                <a:latin typeface="Nunito Sans" pitchFamily="34" charset="0"/>
                <a:ea typeface="Nunito Sans" pitchFamily="34" charset="-122"/>
                <a:cs typeface="Nunito Sans" pitchFamily="34" charset="-120"/>
              </a:rPr>
              <a:t>• Indirect injection through tools</a:t>
            </a:r>
            <a:endParaRPr lang="en-US" sz="1400" dirty="0"/>
          </a:p>
        </p:txBody>
      </p:sp>
      <p:sp>
        <p:nvSpPr>
          <p:cNvPr id="12" name="Text 10"/>
          <p:cNvSpPr/>
          <p:nvPr/>
        </p:nvSpPr>
        <p:spPr>
          <a:xfrm>
            <a:off x="968651" y="4563566"/>
            <a:ext cx="2134860" cy="487649"/>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5636A"/>
                </a:solidFill>
                <a:latin typeface="Nunito Sans" pitchFamily="34" charset="0"/>
                <a:ea typeface="Nunito Sans" pitchFamily="34" charset="-122"/>
                <a:cs typeface="Nunito Sans" pitchFamily="34" charset="-120"/>
              </a:rPr>
              <a:t>• Few tools see tool calls end to end</a:t>
            </a:r>
            <a:endParaRPr lang="en-US" sz="1400" dirty="0"/>
          </a:p>
        </p:txBody>
      </p:sp>
      <p:sp>
        <p:nvSpPr>
          <p:cNvPr id="13" name="Shape 11"/>
          <p:cNvSpPr/>
          <p:nvPr/>
        </p:nvSpPr>
        <p:spPr>
          <a:xfrm>
            <a:off x="968651" y="5404279"/>
            <a:ext cx="2072680" cy="853336"/>
          </a:xfrm>
          <a:prstGeom prst="roundRect">
            <a:avLst>
              <a:gd name="adj" fmla="val 11906"/>
            </a:avLst>
          </a:prstGeom>
          <a:solidFill>
            <a:srgbClr val="DCEFE3"/>
          </a:solidFill>
          <a:ln/>
        </p:spPr>
        <p:txBody>
          <a:bodyPr/>
          <a:lstStyle/>
          <a:p>
            <a:endParaRPr lang="en-US"/>
          </a:p>
        </p:txBody>
      </p:sp>
      <p:sp>
        <p:nvSpPr>
          <p:cNvPr id="14" name="Text 12"/>
          <p:cNvSpPr/>
          <p:nvPr/>
        </p:nvSpPr>
        <p:spPr>
          <a:xfrm>
            <a:off x="1095651" y="5493136"/>
            <a:ext cx="1873240" cy="238775"/>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4F7A64"/>
                </a:solidFill>
                <a:latin typeface="Nunito Sans" pitchFamily="34" charset="0"/>
                <a:ea typeface="Nunito Sans" pitchFamily="34" charset="-122"/>
                <a:cs typeface="Nunito Sans" pitchFamily="34" charset="-120"/>
              </a:rPr>
              <a:t>CLOSES MOST OF IT</a:t>
            </a:r>
            <a:endParaRPr lang="en-US" sz="1200" dirty="0"/>
          </a:p>
        </p:txBody>
      </p:sp>
      <p:sp>
        <p:nvSpPr>
          <p:cNvPr id="15" name="Text 13"/>
          <p:cNvSpPr/>
          <p:nvPr/>
        </p:nvSpPr>
        <p:spPr>
          <a:xfrm>
            <a:off x="1095651" y="5706512"/>
            <a:ext cx="1873240" cy="487649"/>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2E3B40"/>
                </a:solidFill>
                <a:latin typeface="Nunito Sans" pitchFamily="34" charset="0"/>
                <a:ea typeface="Nunito Sans" pitchFamily="34" charset="-122"/>
                <a:cs typeface="Nunito Sans" pitchFamily="34" charset="-120"/>
              </a:rPr>
              <a:t>Purview + Guardrails + Promptfoo, then Jiffy</a:t>
            </a:r>
            <a:endParaRPr lang="en-US" sz="1400" dirty="0"/>
          </a:p>
        </p:txBody>
      </p:sp>
      <p:pic>
        <p:nvPicPr>
          <p:cNvPr id="16" name="Image 0" descr="arrow-right"/>
          <p:cNvPicPr>
            <a:picLocks noChangeAspect="1"/>
          </p:cNvPicPr>
          <p:nvPr/>
        </p:nvPicPr>
        <p:blipFill>
          <a:blip r:embed="rId3"/>
          <a:srcRect/>
          <a:stretch/>
        </p:blipFill>
        <p:spPr>
          <a:xfrm>
            <a:off x="3273392" y="3943890"/>
            <a:ext cx="190500" cy="127000"/>
          </a:xfrm>
          <a:prstGeom prst="rect">
            <a:avLst/>
          </a:prstGeom>
        </p:spPr>
      </p:pic>
      <p:sp>
        <p:nvSpPr>
          <p:cNvPr id="17" name="Shape 14"/>
          <p:cNvSpPr/>
          <p:nvPr/>
        </p:nvSpPr>
        <p:spPr>
          <a:xfrm>
            <a:off x="3543245" y="1617132"/>
            <a:ext cx="2378152" cy="4780514"/>
          </a:xfrm>
          <a:prstGeom prst="roundRect">
            <a:avLst>
              <a:gd name="adj" fmla="val 6275"/>
            </a:avLst>
          </a:prstGeom>
          <a:solidFill>
            <a:srgbClr val="FBFAF7"/>
          </a:solidFill>
          <a:ln w="6350">
            <a:solidFill>
              <a:srgbClr val="DCE3DE"/>
            </a:solidFill>
            <a:prstDash val="solid"/>
          </a:ln>
        </p:spPr>
        <p:txBody>
          <a:bodyPr/>
          <a:lstStyle/>
          <a:p>
            <a:endParaRPr lang="en-US"/>
          </a:p>
        </p:txBody>
      </p:sp>
      <p:sp>
        <p:nvSpPr>
          <p:cNvPr id="18" name="Shape 15"/>
          <p:cNvSpPr/>
          <p:nvPr/>
        </p:nvSpPr>
        <p:spPr>
          <a:xfrm>
            <a:off x="3543598" y="1617486"/>
            <a:ext cx="2377447" cy="1346123"/>
          </a:xfrm>
          <a:custGeom>
            <a:avLst/>
            <a:gdLst/>
            <a:ahLst/>
            <a:cxnLst/>
            <a:rect l="l" t="t" r="r" b="b"/>
            <a:pathLst>
              <a:path w="2377447" h="1346123">
                <a:moveTo>
                  <a:pt x="0" y="148872"/>
                </a:moveTo>
                <a:arcTo wR="148872" hR="148872" stAng="10800000" swAng="5400000"/>
                <a:lnTo>
                  <a:pt x="2228575" y="0"/>
                </a:lnTo>
                <a:arcTo wR="148872" hR="148872" stAng="16200000" swAng="5400000"/>
                <a:lnTo>
                  <a:pt x="2377447" y="1346123"/>
                </a:lnTo>
                <a:lnTo>
                  <a:pt x="0" y="1346123"/>
                </a:lnTo>
                <a:close/>
              </a:path>
            </a:pathLst>
          </a:custGeom>
          <a:solidFill>
            <a:srgbClr val="D3E2EC"/>
          </a:solidFill>
          <a:ln/>
        </p:spPr>
        <p:txBody>
          <a:bodyPr/>
          <a:lstStyle/>
          <a:p>
            <a:endParaRPr lang="en-US"/>
          </a:p>
        </p:txBody>
      </p:sp>
      <p:sp>
        <p:nvSpPr>
          <p:cNvPr id="19" name="Text 16"/>
          <p:cNvSpPr/>
          <p:nvPr/>
        </p:nvSpPr>
        <p:spPr>
          <a:xfrm>
            <a:off x="3695954" y="1744486"/>
            <a:ext cx="2134917" cy="638682"/>
          </a:xfrm>
          <a:prstGeom prst="rect">
            <a:avLst/>
          </a:prstGeom>
          <a:noFill/>
          <a:ln/>
        </p:spPr>
        <p:txBody>
          <a:bodyPr wrap="square" lIns="0" tIns="0" rIns="0" bIns="0" rtlCol="0" anchor="t">
            <a:normAutofit/>
          </a:bodyPr>
          <a:lstStyle/>
          <a:p>
            <a:pPr marL="0" indent="0" algn="l">
              <a:lnSpc>
                <a:spcPts val="2415"/>
              </a:lnSpc>
              <a:buNone/>
            </a:pPr>
            <a:r>
              <a:rPr lang="en-US" sz="2100" b="1" dirty="0">
                <a:solidFill>
                  <a:srgbClr val="2E3B40"/>
                </a:solidFill>
                <a:latin typeface="Lora" pitchFamily="18" charset="0"/>
                <a:ea typeface="Lora" pitchFamily="18" charset="-122"/>
                <a:cs typeface="Lora" pitchFamily="18" charset="-120"/>
              </a:rPr>
              <a:t>Enterprise unsanctioned AI</a:t>
            </a:r>
            <a:endParaRPr lang="en-US" sz="2100" dirty="0"/>
          </a:p>
        </p:txBody>
      </p:sp>
      <p:sp>
        <p:nvSpPr>
          <p:cNvPr id="20" name="Text 17"/>
          <p:cNvSpPr/>
          <p:nvPr/>
        </p:nvSpPr>
        <p:spPr>
          <a:xfrm>
            <a:off x="3695954" y="2404841"/>
            <a:ext cx="2134917" cy="454576"/>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F4D52"/>
                </a:solidFill>
                <a:latin typeface="Nunito Sans" pitchFamily="34" charset="0"/>
                <a:ea typeface="Nunito Sans" pitchFamily="34" charset="-122"/>
                <a:cs typeface="Nunito Sans" pitchFamily="34" charset="-120"/>
              </a:rPr>
              <a:t>Shadow AI: personal accounts, local agents</a:t>
            </a:r>
            <a:endParaRPr lang="en-US" sz="1300" dirty="0"/>
          </a:p>
        </p:txBody>
      </p:sp>
      <p:sp>
        <p:nvSpPr>
          <p:cNvPr id="21" name="Text 18"/>
          <p:cNvSpPr/>
          <p:nvPr/>
        </p:nvSpPr>
        <p:spPr>
          <a:xfrm>
            <a:off x="3695954" y="3090608"/>
            <a:ext cx="2134917" cy="292078"/>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4A6F86"/>
                </a:solidFill>
                <a:latin typeface="Nunito Sans" pitchFamily="34" charset="0"/>
                <a:ea typeface="Nunito Sans" pitchFamily="34" charset="-122"/>
                <a:cs typeface="Nunito Sans" pitchFamily="34" charset="-120"/>
              </a:rPr>
              <a:t>Gaps that remain</a:t>
            </a:r>
            <a:endParaRPr lang="en-US" sz="1500" dirty="0"/>
          </a:p>
        </p:txBody>
      </p:sp>
      <p:sp>
        <p:nvSpPr>
          <p:cNvPr id="22" name="Text 19"/>
          <p:cNvSpPr/>
          <p:nvPr/>
        </p:nvSpPr>
        <p:spPr>
          <a:xfrm>
            <a:off x="3695954" y="3446143"/>
            <a:ext cx="2134917" cy="487649"/>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5636A"/>
                </a:solidFill>
                <a:latin typeface="Nunito Sans" pitchFamily="34" charset="0"/>
                <a:ea typeface="Nunito Sans" pitchFamily="34" charset="-122"/>
                <a:cs typeface="Nunito Sans" pitchFamily="34" charset="-120"/>
              </a:rPr>
              <a:t>• CLI tools and local models</a:t>
            </a:r>
            <a:endParaRPr lang="en-US" sz="1400" dirty="0"/>
          </a:p>
        </p:txBody>
      </p:sp>
      <p:sp>
        <p:nvSpPr>
          <p:cNvPr id="23" name="Text 20"/>
          <p:cNvSpPr/>
          <p:nvPr/>
        </p:nvSpPr>
        <p:spPr>
          <a:xfrm>
            <a:off x="3695954" y="4004855"/>
            <a:ext cx="2134917" cy="487649"/>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5636A"/>
                </a:solidFill>
                <a:latin typeface="Nunito Sans" pitchFamily="34" charset="0"/>
                <a:ea typeface="Nunito Sans" pitchFamily="34" charset="-122"/>
                <a:cs typeface="Nunito Sans" pitchFamily="34" charset="-120"/>
              </a:rPr>
              <a:t>• Personal devices out of reach</a:t>
            </a:r>
            <a:endParaRPr lang="en-US" sz="1400" dirty="0"/>
          </a:p>
        </p:txBody>
      </p:sp>
      <p:sp>
        <p:nvSpPr>
          <p:cNvPr id="24" name="Text 21"/>
          <p:cNvSpPr/>
          <p:nvPr/>
        </p:nvSpPr>
        <p:spPr>
          <a:xfrm>
            <a:off x="3695954" y="4563566"/>
            <a:ext cx="2134917" cy="487649"/>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5636A"/>
                </a:solidFill>
                <a:latin typeface="Nunito Sans" pitchFamily="34" charset="0"/>
                <a:ea typeface="Nunito Sans" pitchFamily="34" charset="-122"/>
                <a:cs typeface="Nunito Sans" pitchFamily="34" charset="-120"/>
              </a:rPr>
              <a:t>• MCP coverage still maturing</a:t>
            </a:r>
            <a:endParaRPr lang="en-US" sz="1400" dirty="0"/>
          </a:p>
        </p:txBody>
      </p:sp>
      <p:sp>
        <p:nvSpPr>
          <p:cNvPr id="25" name="Shape 22"/>
          <p:cNvSpPr/>
          <p:nvPr/>
        </p:nvSpPr>
        <p:spPr>
          <a:xfrm>
            <a:off x="3695954" y="5404279"/>
            <a:ext cx="2072735" cy="853336"/>
          </a:xfrm>
          <a:prstGeom prst="roundRect">
            <a:avLst>
              <a:gd name="adj" fmla="val 11906"/>
            </a:avLst>
          </a:prstGeom>
          <a:solidFill>
            <a:srgbClr val="DCEFE3"/>
          </a:solidFill>
          <a:ln/>
        </p:spPr>
        <p:txBody>
          <a:bodyPr/>
          <a:lstStyle/>
          <a:p>
            <a:endParaRPr lang="en-US"/>
          </a:p>
        </p:txBody>
      </p:sp>
      <p:sp>
        <p:nvSpPr>
          <p:cNvPr id="26" name="Text 23"/>
          <p:cNvSpPr/>
          <p:nvPr/>
        </p:nvSpPr>
        <p:spPr>
          <a:xfrm>
            <a:off x="3822954" y="5493136"/>
            <a:ext cx="1873297" cy="238775"/>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4F7A64"/>
                </a:solidFill>
                <a:latin typeface="Nunito Sans" pitchFamily="34" charset="0"/>
                <a:ea typeface="Nunito Sans" pitchFamily="34" charset="-122"/>
                <a:cs typeface="Nunito Sans" pitchFamily="34" charset="-120"/>
              </a:rPr>
              <a:t>CLOSES MOST OF IT</a:t>
            </a:r>
            <a:endParaRPr lang="en-US" sz="1200" dirty="0"/>
          </a:p>
        </p:txBody>
      </p:sp>
      <p:sp>
        <p:nvSpPr>
          <p:cNvPr id="27" name="Text 24"/>
          <p:cNvSpPr/>
          <p:nvPr/>
        </p:nvSpPr>
        <p:spPr>
          <a:xfrm>
            <a:off x="3822954" y="5706512"/>
            <a:ext cx="1873297" cy="487649"/>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2E3B40"/>
                </a:solidFill>
                <a:latin typeface="Nunito Sans" pitchFamily="34" charset="0"/>
                <a:ea typeface="Nunito Sans" pitchFamily="34" charset="-122"/>
                <a:cs typeface="Nunito Sans" pitchFamily="34" charset="-120"/>
              </a:rPr>
              <a:t>Nudge or Defender + Nightfall DLP</a:t>
            </a:r>
            <a:endParaRPr lang="en-US" sz="1400" dirty="0"/>
          </a:p>
        </p:txBody>
      </p:sp>
      <p:pic>
        <p:nvPicPr>
          <p:cNvPr id="28" name="Image 1" descr="arrow-right"/>
          <p:cNvPicPr>
            <a:picLocks noChangeAspect="1"/>
          </p:cNvPicPr>
          <p:nvPr/>
        </p:nvPicPr>
        <p:blipFill>
          <a:blip r:embed="rId3"/>
          <a:srcRect/>
          <a:stretch/>
        </p:blipFill>
        <p:spPr>
          <a:xfrm>
            <a:off x="6000750" y="3943890"/>
            <a:ext cx="190500" cy="127000"/>
          </a:xfrm>
          <a:prstGeom prst="rect">
            <a:avLst/>
          </a:prstGeom>
        </p:spPr>
      </p:pic>
      <p:sp>
        <p:nvSpPr>
          <p:cNvPr id="29" name="Shape 25"/>
          <p:cNvSpPr/>
          <p:nvPr/>
        </p:nvSpPr>
        <p:spPr>
          <a:xfrm>
            <a:off x="6270603" y="1617132"/>
            <a:ext cx="2378097" cy="4780514"/>
          </a:xfrm>
          <a:prstGeom prst="roundRect">
            <a:avLst>
              <a:gd name="adj" fmla="val 6275"/>
            </a:avLst>
          </a:prstGeom>
          <a:solidFill>
            <a:srgbClr val="FBFAF7"/>
          </a:solidFill>
          <a:ln w="6350">
            <a:solidFill>
              <a:srgbClr val="DCE3DE"/>
            </a:solidFill>
            <a:prstDash val="solid"/>
          </a:ln>
        </p:spPr>
        <p:txBody>
          <a:bodyPr/>
          <a:lstStyle/>
          <a:p>
            <a:endParaRPr lang="en-US"/>
          </a:p>
        </p:txBody>
      </p:sp>
      <p:sp>
        <p:nvSpPr>
          <p:cNvPr id="30" name="Shape 26"/>
          <p:cNvSpPr/>
          <p:nvPr/>
        </p:nvSpPr>
        <p:spPr>
          <a:xfrm>
            <a:off x="6270956" y="1617486"/>
            <a:ext cx="2377392" cy="1346123"/>
          </a:xfrm>
          <a:custGeom>
            <a:avLst/>
            <a:gdLst/>
            <a:ahLst/>
            <a:cxnLst/>
            <a:rect l="l" t="t" r="r" b="b"/>
            <a:pathLst>
              <a:path w="2377392" h="1346123">
                <a:moveTo>
                  <a:pt x="0" y="148872"/>
                </a:moveTo>
                <a:arcTo wR="148872" hR="148872" stAng="10800000" swAng="5400000"/>
                <a:lnTo>
                  <a:pt x="2228519" y="0"/>
                </a:lnTo>
                <a:arcTo wR="148872" hR="148872" stAng="16200000" swAng="5400000"/>
                <a:lnTo>
                  <a:pt x="2377392" y="1346123"/>
                </a:lnTo>
                <a:lnTo>
                  <a:pt x="0" y="1346123"/>
                </a:lnTo>
                <a:close/>
              </a:path>
            </a:pathLst>
          </a:custGeom>
          <a:solidFill>
            <a:srgbClr val="E0DAEC"/>
          </a:solidFill>
          <a:ln/>
        </p:spPr>
        <p:txBody>
          <a:bodyPr/>
          <a:lstStyle/>
          <a:p>
            <a:endParaRPr lang="en-US"/>
          </a:p>
        </p:txBody>
      </p:sp>
      <p:sp>
        <p:nvSpPr>
          <p:cNvPr id="31" name="Text 27"/>
          <p:cNvSpPr/>
          <p:nvPr/>
        </p:nvSpPr>
        <p:spPr>
          <a:xfrm>
            <a:off x="6423312" y="1744486"/>
            <a:ext cx="2134860" cy="332041"/>
          </a:xfrm>
          <a:prstGeom prst="rect">
            <a:avLst/>
          </a:prstGeom>
          <a:noFill/>
          <a:ln/>
        </p:spPr>
        <p:txBody>
          <a:bodyPr wrap="square" lIns="0" tIns="0" rIns="0" bIns="0" rtlCol="0" anchor="t">
            <a:normAutofit/>
          </a:bodyPr>
          <a:lstStyle/>
          <a:p>
            <a:pPr marL="0" indent="0" algn="l">
              <a:lnSpc>
                <a:spcPts val="2415"/>
              </a:lnSpc>
              <a:buNone/>
            </a:pPr>
            <a:r>
              <a:rPr lang="en-US" sz="2100" b="1" dirty="0">
                <a:solidFill>
                  <a:srgbClr val="2E3B40"/>
                </a:solidFill>
                <a:latin typeface="Lora" pitchFamily="18" charset="0"/>
                <a:ea typeface="Lora" pitchFamily="18" charset="-122"/>
                <a:cs typeface="Lora" pitchFamily="18" charset="-120"/>
              </a:rPr>
              <a:t>Vendor AI</a:t>
            </a:r>
            <a:endParaRPr lang="en-US" sz="2100" dirty="0"/>
          </a:p>
        </p:txBody>
      </p:sp>
      <p:sp>
        <p:nvSpPr>
          <p:cNvPr id="32" name="Text 28"/>
          <p:cNvSpPr/>
          <p:nvPr/>
        </p:nvSpPr>
        <p:spPr>
          <a:xfrm>
            <a:off x="6423312" y="2404841"/>
            <a:ext cx="2134860" cy="454576"/>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F4D52"/>
                </a:solidFill>
                <a:latin typeface="Nunito Sans" pitchFamily="34" charset="0"/>
                <a:ea typeface="Nunito Sans" pitchFamily="34" charset="-122"/>
                <a:cs typeface="Nunito Sans" pitchFamily="34" charset="-120"/>
              </a:rPr>
              <a:t>AI features inside the SaaS you already use</a:t>
            </a:r>
            <a:endParaRPr lang="en-US" sz="1300" dirty="0"/>
          </a:p>
        </p:txBody>
      </p:sp>
      <p:sp>
        <p:nvSpPr>
          <p:cNvPr id="33" name="Text 29"/>
          <p:cNvSpPr/>
          <p:nvPr/>
        </p:nvSpPr>
        <p:spPr>
          <a:xfrm>
            <a:off x="6423312" y="3090608"/>
            <a:ext cx="2134860" cy="283424"/>
          </a:xfrm>
          <a:prstGeom prst="rect">
            <a:avLst/>
          </a:prstGeom>
          <a:noFill/>
          <a:ln/>
        </p:spPr>
        <p:txBody>
          <a:bodyPr wrap="square" lIns="0" tIns="0" rIns="0" bIns="0" rtlCol="0" anchor="t">
            <a:normAutofit/>
          </a:bodyPr>
          <a:lstStyle/>
          <a:p>
            <a:pPr marL="0" indent="0" algn="l">
              <a:lnSpc>
                <a:spcPts val="2074"/>
              </a:lnSpc>
              <a:buNone/>
            </a:pPr>
            <a:r>
              <a:rPr lang="en-US" sz="1481" b="1" dirty="0">
                <a:solidFill>
                  <a:srgbClr val="6B5E8C"/>
                </a:solidFill>
                <a:latin typeface="Nunito Sans" pitchFamily="34" charset="0"/>
                <a:ea typeface="Nunito Sans" pitchFamily="34" charset="-122"/>
                <a:cs typeface="Nunito Sans" pitchFamily="34" charset="-120"/>
              </a:rPr>
              <a:t>Gaps that remain</a:t>
            </a:r>
            <a:endParaRPr lang="en-US" sz="1481" dirty="0"/>
          </a:p>
        </p:txBody>
      </p:sp>
      <p:sp>
        <p:nvSpPr>
          <p:cNvPr id="34" name="Text 30"/>
          <p:cNvSpPr/>
          <p:nvPr/>
        </p:nvSpPr>
        <p:spPr>
          <a:xfrm>
            <a:off x="6423312" y="3437488"/>
            <a:ext cx="2134860" cy="487649"/>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5636A"/>
                </a:solidFill>
                <a:latin typeface="Nunito Sans" pitchFamily="34" charset="0"/>
                <a:ea typeface="Nunito Sans" pitchFamily="34" charset="-122"/>
                <a:cs typeface="Nunito Sans" pitchFamily="34" charset="-120"/>
              </a:rPr>
              <a:t>• Answers are self-attested</a:t>
            </a:r>
            <a:endParaRPr lang="en-US" sz="1400" dirty="0"/>
          </a:p>
        </p:txBody>
      </p:sp>
      <p:sp>
        <p:nvSpPr>
          <p:cNvPr id="35" name="Text 31"/>
          <p:cNvSpPr/>
          <p:nvPr/>
        </p:nvSpPr>
        <p:spPr>
          <a:xfrm>
            <a:off x="6423312" y="3996199"/>
            <a:ext cx="2134860" cy="487649"/>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5636A"/>
                </a:solidFill>
                <a:latin typeface="Nunito Sans" pitchFamily="34" charset="0"/>
                <a:ea typeface="Nunito Sans" pitchFamily="34" charset="-122"/>
                <a:cs typeface="Nunito Sans" pitchFamily="34" charset="-120"/>
              </a:rPr>
              <a:t>• Silent AI rollouts between reviews</a:t>
            </a:r>
            <a:endParaRPr lang="en-US" sz="1400" dirty="0"/>
          </a:p>
        </p:txBody>
      </p:sp>
      <p:sp>
        <p:nvSpPr>
          <p:cNvPr id="36" name="Text 32"/>
          <p:cNvSpPr/>
          <p:nvPr/>
        </p:nvSpPr>
        <p:spPr>
          <a:xfrm>
            <a:off x="6423312" y="4554913"/>
            <a:ext cx="2134860" cy="487649"/>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5636A"/>
                </a:solidFill>
                <a:latin typeface="Nunito Sans" pitchFamily="34" charset="0"/>
                <a:ea typeface="Nunito Sans" pitchFamily="34" charset="-122"/>
                <a:cs typeface="Nunito Sans" pitchFamily="34" charset="-120"/>
              </a:rPr>
              <a:t>• Few vendors publish an AI-BOM</a:t>
            </a:r>
            <a:endParaRPr lang="en-US" sz="1400" dirty="0"/>
          </a:p>
        </p:txBody>
      </p:sp>
      <p:sp>
        <p:nvSpPr>
          <p:cNvPr id="37" name="Shape 33"/>
          <p:cNvSpPr/>
          <p:nvPr/>
        </p:nvSpPr>
        <p:spPr>
          <a:xfrm>
            <a:off x="6423312" y="5202479"/>
            <a:ext cx="2072680" cy="1055136"/>
          </a:xfrm>
          <a:prstGeom prst="roundRect">
            <a:avLst>
              <a:gd name="adj" fmla="val 9629"/>
            </a:avLst>
          </a:prstGeom>
          <a:solidFill>
            <a:srgbClr val="DCEFE3"/>
          </a:solidFill>
          <a:ln/>
        </p:spPr>
        <p:txBody>
          <a:bodyPr/>
          <a:lstStyle/>
          <a:p>
            <a:endParaRPr lang="en-US"/>
          </a:p>
        </p:txBody>
      </p:sp>
      <p:sp>
        <p:nvSpPr>
          <p:cNvPr id="38" name="Text 34"/>
          <p:cNvSpPr/>
          <p:nvPr/>
        </p:nvSpPr>
        <p:spPr>
          <a:xfrm>
            <a:off x="6550312" y="5291336"/>
            <a:ext cx="1873240" cy="231830"/>
          </a:xfrm>
          <a:prstGeom prst="rect">
            <a:avLst/>
          </a:prstGeom>
          <a:noFill/>
          <a:ln/>
        </p:spPr>
        <p:txBody>
          <a:bodyPr wrap="square" lIns="0" tIns="0" rIns="0" bIns="0" rtlCol="0" anchor="t">
            <a:normAutofit/>
          </a:bodyPr>
          <a:lstStyle/>
          <a:p>
            <a:pPr marL="0" indent="0" algn="l">
              <a:lnSpc>
                <a:spcPts val="1675"/>
              </a:lnSpc>
              <a:buNone/>
            </a:pPr>
            <a:r>
              <a:rPr lang="en-US" sz="1196" b="1" kern="0" spc="50" dirty="0">
                <a:solidFill>
                  <a:srgbClr val="4F7A64"/>
                </a:solidFill>
                <a:latin typeface="Nunito Sans" pitchFamily="34" charset="0"/>
                <a:ea typeface="Nunito Sans" pitchFamily="34" charset="-122"/>
                <a:cs typeface="Nunito Sans" pitchFamily="34" charset="-120"/>
              </a:rPr>
              <a:t>CLOSES MOST OF IT</a:t>
            </a:r>
            <a:endParaRPr lang="en-US" sz="1196" dirty="0"/>
          </a:p>
        </p:txBody>
      </p:sp>
      <p:sp>
        <p:nvSpPr>
          <p:cNvPr id="39" name="Text 35"/>
          <p:cNvSpPr/>
          <p:nvPr/>
        </p:nvSpPr>
        <p:spPr>
          <a:xfrm>
            <a:off x="6550312" y="5497765"/>
            <a:ext cx="1873240" cy="696394"/>
          </a:xfrm>
          <a:prstGeom prst="rect">
            <a:avLst/>
          </a:prstGeom>
          <a:noFill/>
          <a:ln/>
        </p:spPr>
        <p:txBody>
          <a:bodyPr wrap="square" lIns="0" tIns="0" rIns="0" bIns="0" rtlCol="0" anchor="t">
            <a:normAutofit/>
          </a:bodyPr>
          <a:lstStyle/>
          <a:p>
            <a:pPr marL="0" indent="0" algn="l">
              <a:lnSpc>
                <a:spcPts val="1809"/>
              </a:lnSpc>
              <a:buNone/>
            </a:pPr>
            <a:r>
              <a:rPr lang="en-US" sz="1391" dirty="0">
                <a:solidFill>
                  <a:srgbClr val="2E3B40"/>
                </a:solidFill>
                <a:latin typeface="Nunito Sans" pitchFamily="34" charset="0"/>
                <a:ea typeface="Nunito Sans" pitchFamily="34" charset="-122"/>
                <a:cs typeface="Nunito Sans" pitchFamily="34" charset="-120"/>
              </a:rPr>
              <a:t>Bit-Vendor + CAIQ intake + contract terms</a:t>
            </a:r>
            <a:endParaRPr lang="en-US" sz="1391" dirty="0"/>
          </a:p>
        </p:txBody>
      </p:sp>
      <p:pic>
        <p:nvPicPr>
          <p:cNvPr id="40" name="Image 2" descr="arrow-right"/>
          <p:cNvPicPr>
            <a:picLocks noChangeAspect="1"/>
          </p:cNvPicPr>
          <p:nvPr/>
        </p:nvPicPr>
        <p:blipFill>
          <a:blip r:embed="rId3"/>
          <a:srcRect/>
          <a:stretch/>
        </p:blipFill>
        <p:spPr>
          <a:xfrm>
            <a:off x="8728053" y="3943890"/>
            <a:ext cx="190500" cy="127000"/>
          </a:xfrm>
          <a:prstGeom prst="rect">
            <a:avLst/>
          </a:prstGeom>
        </p:spPr>
      </p:pic>
      <p:sp>
        <p:nvSpPr>
          <p:cNvPr id="41" name="Shape 36"/>
          <p:cNvSpPr/>
          <p:nvPr/>
        </p:nvSpPr>
        <p:spPr>
          <a:xfrm>
            <a:off x="8997907" y="1617132"/>
            <a:ext cx="2378152" cy="4780514"/>
          </a:xfrm>
          <a:prstGeom prst="roundRect">
            <a:avLst>
              <a:gd name="adj" fmla="val 6275"/>
            </a:avLst>
          </a:prstGeom>
          <a:solidFill>
            <a:srgbClr val="FBFAF7"/>
          </a:solidFill>
          <a:ln w="6350">
            <a:solidFill>
              <a:srgbClr val="DCE3DE"/>
            </a:solidFill>
            <a:prstDash val="solid"/>
          </a:ln>
        </p:spPr>
        <p:txBody>
          <a:bodyPr/>
          <a:lstStyle/>
          <a:p>
            <a:endParaRPr lang="en-US"/>
          </a:p>
        </p:txBody>
      </p:sp>
      <p:sp>
        <p:nvSpPr>
          <p:cNvPr id="42" name="Shape 37"/>
          <p:cNvSpPr/>
          <p:nvPr/>
        </p:nvSpPr>
        <p:spPr>
          <a:xfrm>
            <a:off x="8998259" y="1617486"/>
            <a:ext cx="2377447" cy="1346123"/>
          </a:xfrm>
          <a:custGeom>
            <a:avLst/>
            <a:gdLst/>
            <a:ahLst/>
            <a:cxnLst/>
            <a:rect l="l" t="t" r="r" b="b"/>
            <a:pathLst>
              <a:path w="2377447" h="1346123">
                <a:moveTo>
                  <a:pt x="0" y="148872"/>
                </a:moveTo>
                <a:arcTo wR="148872" hR="148872" stAng="10800000" swAng="5400000"/>
                <a:lnTo>
                  <a:pt x="2228575" y="0"/>
                </a:lnTo>
                <a:arcTo wR="148872" hR="148872" stAng="16200000" swAng="5400000"/>
                <a:lnTo>
                  <a:pt x="2377447" y="1346123"/>
                </a:lnTo>
                <a:lnTo>
                  <a:pt x="0" y="1346123"/>
                </a:lnTo>
                <a:close/>
              </a:path>
            </a:pathLst>
          </a:custGeom>
          <a:solidFill>
            <a:srgbClr val="EFE3CF"/>
          </a:solidFill>
          <a:ln/>
        </p:spPr>
        <p:txBody>
          <a:bodyPr/>
          <a:lstStyle/>
          <a:p>
            <a:endParaRPr lang="en-US"/>
          </a:p>
        </p:txBody>
      </p:sp>
      <p:sp>
        <p:nvSpPr>
          <p:cNvPr id="43" name="Text 38"/>
          <p:cNvSpPr/>
          <p:nvPr/>
        </p:nvSpPr>
        <p:spPr>
          <a:xfrm>
            <a:off x="9150615" y="1744486"/>
            <a:ext cx="2134917" cy="638682"/>
          </a:xfrm>
          <a:prstGeom prst="rect">
            <a:avLst/>
          </a:prstGeom>
          <a:noFill/>
          <a:ln/>
        </p:spPr>
        <p:txBody>
          <a:bodyPr wrap="square" lIns="0" tIns="0" rIns="0" bIns="0" rtlCol="0" anchor="t">
            <a:normAutofit/>
          </a:bodyPr>
          <a:lstStyle/>
          <a:p>
            <a:pPr marL="0" indent="0" algn="l">
              <a:lnSpc>
                <a:spcPts val="2415"/>
              </a:lnSpc>
              <a:buNone/>
            </a:pPr>
            <a:r>
              <a:rPr lang="en-US" sz="2100" b="1" dirty="0">
                <a:solidFill>
                  <a:srgbClr val="2E3B40"/>
                </a:solidFill>
                <a:latin typeface="Lora" pitchFamily="18" charset="0"/>
                <a:ea typeface="Lora" pitchFamily="18" charset="-122"/>
                <a:cs typeface="Lora" pitchFamily="18" charset="-120"/>
              </a:rPr>
              <a:t>AI in secure development</a:t>
            </a:r>
            <a:endParaRPr lang="en-US" sz="2100" dirty="0"/>
          </a:p>
        </p:txBody>
      </p:sp>
      <p:sp>
        <p:nvSpPr>
          <p:cNvPr id="44" name="Text 39"/>
          <p:cNvSpPr/>
          <p:nvPr/>
        </p:nvSpPr>
        <p:spPr>
          <a:xfrm>
            <a:off x="9150615" y="2404841"/>
            <a:ext cx="2134917" cy="454576"/>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F4D52"/>
                </a:solidFill>
                <a:latin typeface="Nunito Sans" pitchFamily="34" charset="0"/>
                <a:ea typeface="Nunito Sans" pitchFamily="34" charset="-122"/>
                <a:cs typeface="Nunito Sans" pitchFamily="34" charset="-120"/>
              </a:rPr>
              <a:t>Coding agents, MCP servers, IDE rules</a:t>
            </a:r>
            <a:endParaRPr lang="en-US" sz="1300" dirty="0"/>
          </a:p>
        </p:txBody>
      </p:sp>
      <p:sp>
        <p:nvSpPr>
          <p:cNvPr id="45" name="Text 40"/>
          <p:cNvSpPr/>
          <p:nvPr/>
        </p:nvSpPr>
        <p:spPr>
          <a:xfrm>
            <a:off x="9150615" y="3090608"/>
            <a:ext cx="2134917" cy="292078"/>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8A6A3A"/>
                </a:solidFill>
                <a:latin typeface="Nunito Sans" pitchFamily="34" charset="0"/>
                <a:ea typeface="Nunito Sans" pitchFamily="34" charset="-122"/>
                <a:cs typeface="Nunito Sans" pitchFamily="34" charset="-120"/>
              </a:rPr>
              <a:t>Gaps that remain</a:t>
            </a:r>
            <a:endParaRPr lang="en-US" sz="1500" dirty="0"/>
          </a:p>
        </p:txBody>
      </p:sp>
      <p:sp>
        <p:nvSpPr>
          <p:cNvPr id="46" name="Text 41"/>
          <p:cNvSpPr/>
          <p:nvPr/>
        </p:nvSpPr>
        <p:spPr>
          <a:xfrm>
            <a:off x="9150615" y="3446143"/>
            <a:ext cx="2134917" cy="487649"/>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5636A"/>
                </a:solidFill>
                <a:latin typeface="Nunito Sans" pitchFamily="34" charset="0"/>
                <a:ea typeface="Nunito Sans" pitchFamily="34" charset="-122"/>
                <a:cs typeface="Nunito Sans" pitchFamily="34" charset="-120"/>
              </a:rPr>
              <a:t>• Logic flaws need human review</a:t>
            </a:r>
            <a:endParaRPr lang="en-US" sz="1400" dirty="0"/>
          </a:p>
        </p:txBody>
      </p:sp>
      <p:sp>
        <p:nvSpPr>
          <p:cNvPr id="47" name="Text 42"/>
          <p:cNvSpPr/>
          <p:nvPr/>
        </p:nvSpPr>
        <p:spPr>
          <a:xfrm>
            <a:off x="9150615" y="4004855"/>
            <a:ext cx="2134917" cy="487649"/>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5636A"/>
                </a:solidFill>
                <a:latin typeface="Nunito Sans" pitchFamily="34" charset="0"/>
                <a:ea typeface="Nunito Sans" pitchFamily="34" charset="-122"/>
                <a:cs typeface="Nunito Sans" pitchFamily="34" charset="-120"/>
              </a:rPr>
              <a:t>• New packages lack history</a:t>
            </a:r>
            <a:endParaRPr lang="en-US" sz="1400" dirty="0"/>
          </a:p>
        </p:txBody>
      </p:sp>
      <p:sp>
        <p:nvSpPr>
          <p:cNvPr id="48" name="Text 43"/>
          <p:cNvSpPr/>
          <p:nvPr/>
        </p:nvSpPr>
        <p:spPr>
          <a:xfrm>
            <a:off x="9150615" y="4563566"/>
            <a:ext cx="2134917" cy="487649"/>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5636A"/>
                </a:solidFill>
                <a:latin typeface="Nunito Sans" pitchFamily="34" charset="0"/>
                <a:ea typeface="Nunito Sans" pitchFamily="34" charset="-122"/>
                <a:cs typeface="Nunito Sans" pitchFamily="34" charset="-120"/>
              </a:rPr>
              <a:t>• MCP trust is an emerging category</a:t>
            </a:r>
            <a:endParaRPr lang="en-US" sz="1400" dirty="0"/>
          </a:p>
        </p:txBody>
      </p:sp>
      <p:sp>
        <p:nvSpPr>
          <p:cNvPr id="49" name="Shape 44"/>
          <p:cNvSpPr/>
          <p:nvPr/>
        </p:nvSpPr>
        <p:spPr>
          <a:xfrm>
            <a:off x="9150615" y="5404279"/>
            <a:ext cx="2072735" cy="853336"/>
          </a:xfrm>
          <a:prstGeom prst="roundRect">
            <a:avLst>
              <a:gd name="adj" fmla="val 11906"/>
            </a:avLst>
          </a:prstGeom>
          <a:solidFill>
            <a:srgbClr val="DCEFE3"/>
          </a:solidFill>
          <a:ln/>
        </p:spPr>
        <p:txBody>
          <a:bodyPr/>
          <a:lstStyle/>
          <a:p>
            <a:endParaRPr lang="en-US"/>
          </a:p>
        </p:txBody>
      </p:sp>
      <p:sp>
        <p:nvSpPr>
          <p:cNvPr id="50" name="Text 45"/>
          <p:cNvSpPr/>
          <p:nvPr/>
        </p:nvSpPr>
        <p:spPr>
          <a:xfrm>
            <a:off x="9277615" y="5493136"/>
            <a:ext cx="1873297" cy="238775"/>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4F7A64"/>
                </a:solidFill>
                <a:latin typeface="Nunito Sans" pitchFamily="34" charset="0"/>
                <a:ea typeface="Nunito Sans" pitchFamily="34" charset="-122"/>
                <a:cs typeface="Nunito Sans" pitchFamily="34" charset="-120"/>
              </a:rPr>
              <a:t>CLOSES MOST OF IT</a:t>
            </a:r>
            <a:endParaRPr lang="en-US" sz="1200" dirty="0"/>
          </a:p>
        </p:txBody>
      </p:sp>
      <p:sp>
        <p:nvSpPr>
          <p:cNvPr id="51" name="Text 46"/>
          <p:cNvSpPr/>
          <p:nvPr/>
        </p:nvSpPr>
        <p:spPr>
          <a:xfrm>
            <a:off x="9277615" y="5706512"/>
            <a:ext cx="1873297" cy="487649"/>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2E3B40"/>
                </a:solidFill>
                <a:latin typeface="Nunito Sans" pitchFamily="34" charset="0"/>
                <a:ea typeface="Nunito Sans" pitchFamily="34" charset="-122"/>
                <a:cs typeface="Nunito Sans" pitchFamily="34" charset="-120"/>
              </a:rPr>
              <a:t>Semgrep or Snyk + Socket + Jiffy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9">
    <p:bg>
      <p:bgPr>
        <a:solidFill>
          <a:srgbClr val="EAF0EC"/>
        </a:solidFill>
        <a:effectLst/>
      </p:bgPr>
    </p:bg>
    <p:spTree>
      <p:nvGrpSpPr>
        <p:cNvPr id="1" name=""/>
        <p:cNvGrpSpPr/>
        <p:nvPr/>
      </p:nvGrpSpPr>
      <p:grpSpPr>
        <a:xfrm>
          <a:off x="0" y="0"/>
          <a:ext cx="0" cy="0"/>
          <a:chOff x="0" y="0"/>
          <a:chExt cx="0" cy="0"/>
        </a:xfrm>
      </p:grpSpPr>
      <p:sp>
        <p:nvSpPr>
          <p:cNvPr id="2" name="Text 0"/>
          <p:cNvSpPr/>
          <p:nvPr/>
        </p:nvSpPr>
        <p:spPr>
          <a:xfrm>
            <a:off x="812767" y="558769"/>
            <a:ext cx="10883461" cy="258729"/>
          </a:xfrm>
          <a:prstGeom prst="rect">
            <a:avLst/>
          </a:prstGeom>
          <a:noFill/>
          <a:ln/>
        </p:spPr>
        <p:txBody>
          <a:bodyPr wrap="square" lIns="0" tIns="0" rIns="0" bIns="0" rtlCol="0" anchor="t">
            <a:normAutofit/>
          </a:bodyPr>
          <a:lstStyle/>
          <a:p>
            <a:pPr marL="0" indent="0" algn="l">
              <a:lnSpc>
                <a:spcPts val="1874"/>
              </a:lnSpc>
              <a:buNone/>
            </a:pPr>
            <a:r>
              <a:rPr lang="en-US" sz="1339" b="1" kern="0" spc="150" dirty="0">
                <a:solidFill>
                  <a:srgbClr val="4F7A64"/>
                </a:solidFill>
                <a:latin typeface="Nunito Sans" pitchFamily="34" charset="0"/>
                <a:ea typeface="Nunito Sans" pitchFamily="34" charset="-122"/>
                <a:cs typeface="Nunito Sans" pitchFamily="34" charset="-120"/>
              </a:rPr>
              <a:t>COMPARISON 1 OF 2 · THE FOUR AI SURFACES</a:t>
            </a:r>
            <a:endParaRPr lang="en-US" sz="1339" dirty="0"/>
          </a:p>
        </p:txBody>
      </p:sp>
      <p:sp>
        <p:nvSpPr>
          <p:cNvPr id="3" name="Text 1"/>
          <p:cNvSpPr>
            <a:spLocks noGrp="1"/>
          </p:cNvSpPr>
          <p:nvPr>
            <p:ph type="title"/>
          </p:nvPr>
        </p:nvSpPr>
        <p:spPr>
          <a:xfrm>
            <a:off x="812767" y="830188"/>
            <a:ext cx="10883461" cy="365886"/>
          </a:xfrm>
          <a:prstGeom prst="rect">
            <a:avLst/>
          </a:prstGeom>
          <a:noFill/>
          <a:ln/>
        </p:spPr>
        <p:txBody>
          <a:bodyPr wrap="square" lIns="0" tIns="0" rIns="0" bIns="0" rtlCol="0" anchor="t">
            <a:normAutofit/>
          </a:bodyPr>
          <a:lstStyle/>
          <a:p>
            <a:pPr marL="0" indent="0" algn="l">
              <a:lnSpc>
                <a:spcPts val="2717"/>
              </a:lnSpc>
              <a:buNone/>
            </a:pPr>
            <a:r>
              <a:rPr lang="en-US" sz="2470" b="0" i="0" dirty="0">
                <a:solidFill>
                  <a:srgbClr val="2E3B40"/>
                </a:solidFill>
                <a:latin typeface="Lora" pitchFamily="18" charset="0"/>
                <a:ea typeface="Lora" pitchFamily="18" charset="-122"/>
                <a:cs typeface="Lora" pitchFamily="18" charset="-120"/>
              </a:rPr>
              <a:t>Governance, discovery, vendor risk, and secure code</a:t>
            </a:r>
            <a:endParaRPr lang="en-US" sz="2470" dirty="0"/>
          </a:p>
        </p:txBody>
      </p:sp>
      <p:sp>
        <p:nvSpPr>
          <p:cNvPr id="4" name="Text 2"/>
          <p:cNvSpPr/>
          <p:nvPr/>
        </p:nvSpPr>
        <p:spPr>
          <a:xfrm>
            <a:off x="903202" y="6555596"/>
            <a:ext cx="10883461" cy="258785"/>
          </a:xfrm>
          <a:prstGeom prst="rect">
            <a:avLst/>
          </a:prstGeom>
          <a:noFill/>
          <a:ln/>
        </p:spPr>
        <p:txBody>
          <a:bodyPr wrap="square" lIns="0" tIns="0" rIns="0" bIns="0" rtlCol="0" anchor="t">
            <a:normAutofit/>
          </a:bodyPr>
          <a:lstStyle/>
          <a:p>
            <a:pPr marL="0" indent="0" algn="l">
              <a:lnSpc>
                <a:spcPts val="1874"/>
              </a:lnSpc>
              <a:buNone/>
            </a:pPr>
            <a:r>
              <a:rPr lang="en-US" sz="1339" dirty="0">
                <a:solidFill>
                  <a:srgbClr val="55636A"/>
                </a:solidFill>
                <a:latin typeface="Nunito Sans" pitchFamily="34" charset="0"/>
                <a:ea typeface="Nunito Sans" pitchFamily="34" charset="-122"/>
                <a:cs typeface="Nunito Sans" pitchFamily="34" charset="-120"/>
              </a:rPr>
              <a:t>Cost: Free · $ pay per use or free tier · $$ subscription or bundled · $$$ enterprise quote</a:t>
            </a:r>
            <a:endParaRPr lang="en-US" sz="1339" dirty="0"/>
          </a:p>
        </p:txBody>
      </p:sp>
      <p:sp>
        <p:nvSpPr>
          <p:cNvPr id="5" name="Shape 3"/>
          <p:cNvSpPr/>
          <p:nvPr/>
        </p:nvSpPr>
        <p:spPr>
          <a:xfrm>
            <a:off x="812767" y="1581826"/>
            <a:ext cx="10566467" cy="4717411"/>
          </a:xfrm>
          <a:prstGeom prst="roundRect">
            <a:avLst>
              <a:gd name="adj" fmla="val 2692"/>
            </a:avLst>
          </a:prstGeom>
          <a:solidFill>
            <a:srgbClr val="FBFAF7"/>
          </a:solidFill>
          <a:ln/>
        </p:spPr>
        <p:txBody>
          <a:bodyPr/>
          <a:lstStyle/>
          <a:p>
            <a:endParaRPr lang="en-US"/>
          </a:p>
        </p:txBody>
      </p:sp>
      <p:sp>
        <p:nvSpPr>
          <p:cNvPr id="6" name="Shape 4"/>
          <p:cNvSpPr/>
          <p:nvPr/>
        </p:nvSpPr>
        <p:spPr>
          <a:xfrm>
            <a:off x="812767" y="1581826"/>
            <a:ext cx="10566467" cy="4717411"/>
          </a:xfrm>
          <a:custGeom>
            <a:avLst/>
            <a:gdLst/>
            <a:ahLst/>
            <a:cxnLst/>
            <a:rect l="l" t="t" r="r" b="b"/>
            <a:pathLst>
              <a:path w="10566467" h="4717411">
                <a:moveTo>
                  <a:pt x="10439467" y="0"/>
                </a:moveTo>
                <a:lnTo>
                  <a:pt x="10439467" y="0"/>
                </a:lnTo>
                <a:arcTo wR="127000" hR="127000" stAng="16200000" swAng="5400000"/>
                <a:lnTo>
                  <a:pt x="10566467" y="4590411"/>
                </a:lnTo>
                <a:arcTo wR="127000" hR="127000" stAng="0" swAng="5400000"/>
                <a:lnTo>
                  <a:pt x="127000" y="4717411"/>
                </a:lnTo>
                <a:arcTo wR="127000" hR="127000" stAng="5400000" swAng="5400000"/>
                <a:lnTo>
                  <a:pt x="0" y="4590411"/>
                </a:lnTo>
                <a:arcTo wR="127000" hR="120650" stAng="10800000" swAng="-5400000"/>
                <a:lnTo>
                  <a:pt x="10439467" y="4711061"/>
                </a:lnTo>
                <a:arcTo wR="120650" hR="120650" stAng="5400000" swAng="-5400000"/>
                <a:lnTo>
                  <a:pt x="10560117" y="127000"/>
                </a:lnTo>
                <a:arcTo wR="120650" hR="127000" stAng="0" swAng="-5400000"/>
                <a:close/>
              </a:path>
            </a:pathLst>
          </a:custGeom>
          <a:solidFill>
            <a:srgbClr val="D5DED8"/>
          </a:solidFill>
          <a:ln/>
        </p:spPr>
        <p:txBody>
          <a:bodyPr/>
          <a:lstStyle/>
          <a:p>
            <a:endParaRPr lang="en-US"/>
          </a:p>
        </p:txBody>
      </p:sp>
      <p:sp>
        <p:nvSpPr>
          <p:cNvPr id="7" name="Shape 5"/>
          <p:cNvSpPr/>
          <p:nvPr/>
        </p:nvSpPr>
        <p:spPr>
          <a:xfrm>
            <a:off x="812767" y="1581826"/>
            <a:ext cx="10566467" cy="4717411"/>
          </a:xfrm>
          <a:custGeom>
            <a:avLst/>
            <a:gdLst/>
            <a:ahLst/>
            <a:cxnLst/>
            <a:rect l="l" t="t" r="r" b="b"/>
            <a:pathLst>
              <a:path w="10566467" h="4717411">
                <a:moveTo>
                  <a:pt x="127000" y="4717411"/>
                </a:moveTo>
                <a:lnTo>
                  <a:pt x="127000" y="4717411"/>
                </a:lnTo>
                <a:arcTo wR="127000" hR="127000" stAng="5400000" swAng="5400000"/>
                <a:lnTo>
                  <a:pt x="0" y="127000"/>
                </a:lnTo>
                <a:arcTo wR="127000" hR="127000" stAng="10800000" swAng="5400000"/>
                <a:lnTo>
                  <a:pt x="10439467" y="0"/>
                </a:lnTo>
                <a:arcTo wR="127000" hR="127000" stAng="16200000" swAng="5400000"/>
                <a:lnTo>
                  <a:pt x="10566467" y="127000"/>
                </a:lnTo>
                <a:arcTo wR="127000" hR="116417" stAng="0" swAng="-5400000"/>
                <a:lnTo>
                  <a:pt x="127000" y="10583"/>
                </a:lnTo>
                <a:arcTo wR="116417" hR="116417" stAng="16200000" swAng="-5400000"/>
                <a:lnTo>
                  <a:pt x="10583" y="4590411"/>
                </a:lnTo>
                <a:arcTo wR="116417" hR="127000" stAng="10800000" swAng="-5400000"/>
                <a:close/>
              </a:path>
            </a:pathLst>
          </a:custGeom>
          <a:solidFill>
            <a:srgbClr val="141413">
              <a:alpha val="22000"/>
            </a:srgbClr>
          </a:solidFill>
          <a:ln/>
        </p:spPr>
        <p:txBody>
          <a:bodyPr/>
          <a:lstStyle/>
          <a:p>
            <a:endParaRPr lang="en-US"/>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3350" y="1592409"/>
          <a:ext cx="10552356" cy="4703304"/>
        </p:xfrm>
        <a:graphic>
          <a:graphicData uri="http://schemas.openxmlformats.org/drawingml/2006/table">
            <a:tbl>
              <a:tblPr/>
              <a:tblGrid>
                <a:gridCol w="1582853">
                  <a:extLst>
                    <a:ext uri="{9D8B030D-6E8A-4147-A177-3AD203B41FA5}">
                      <a16:colId xmlns:a16="http://schemas.microsoft.com/office/drawing/2014/main" val="20000"/>
                    </a:ext>
                  </a:extLst>
                </a:gridCol>
                <a:gridCol w="2427042">
                  <a:extLst>
                    <a:ext uri="{9D8B030D-6E8A-4147-A177-3AD203B41FA5}">
                      <a16:colId xmlns:a16="http://schemas.microsoft.com/office/drawing/2014/main" val="20001"/>
                    </a:ext>
                  </a:extLst>
                </a:gridCol>
                <a:gridCol w="1477330">
                  <a:extLst>
                    <a:ext uri="{9D8B030D-6E8A-4147-A177-3AD203B41FA5}">
                      <a16:colId xmlns:a16="http://schemas.microsoft.com/office/drawing/2014/main" val="20002"/>
                    </a:ext>
                  </a:extLst>
                </a:gridCol>
                <a:gridCol w="1371806">
                  <a:extLst>
                    <a:ext uri="{9D8B030D-6E8A-4147-A177-3AD203B41FA5}">
                      <a16:colId xmlns:a16="http://schemas.microsoft.com/office/drawing/2014/main" val="20003"/>
                    </a:ext>
                  </a:extLst>
                </a:gridCol>
                <a:gridCol w="2004948">
                  <a:extLst>
                    <a:ext uri="{9D8B030D-6E8A-4147-A177-3AD203B41FA5}">
                      <a16:colId xmlns:a16="http://schemas.microsoft.com/office/drawing/2014/main" val="20004"/>
                    </a:ext>
                  </a:extLst>
                </a:gridCol>
                <a:gridCol w="1688377">
                  <a:extLst>
                    <a:ext uri="{9D8B030D-6E8A-4147-A177-3AD203B41FA5}">
                      <a16:colId xmlns:a16="http://schemas.microsoft.com/office/drawing/2014/main" val="20005"/>
                    </a:ext>
                  </a:extLst>
                </a:gridCol>
              </a:tblGrid>
              <a:tr h="361763">
                <a:tc>
                  <a:txBody>
                    <a:bodyPr/>
                    <a:lstStyle/>
                    <a:p>
                      <a:pPr marL="0" indent="0">
                        <a:lnSpc>
                          <a:spcPts val="1844"/>
                        </a:lnSpc>
                        <a:buNone/>
                      </a:pPr>
                      <a:r>
                        <a:rPr lang="en-US" sz="1317" b="1" dirty="0">
                          <a:solidFill>
                            <a:srgbClr val="2E3B40"/>
                          </a:solidFill>
                          <a:latin typeface="Nunito Sans" pitchFamily="34" charset="0"/>
                          <a:ea typeface="Nunito Sans" pitchFamily="34" charset="-122"/>
                          <a:cs typeface="Nunito Sans" pitchFamily="34" charset="-120"/>
                        </a:rPr>
                        <a:t>Capability</a:t>
                      </a:r>
                      <a:endParaRPr lang="en-US" sz="1317" dirty="0">
                        <a:latin typeface="Nunito Sans" charset="0"/>
                        <a:ea typeface="Nunito Sans" charset="0"/>
                        <a:cs typeface="Nunito Sans" charset="0"/>
                      </a:endParaRPr>
                    </a:p>
                  </a:txBody>
                  <a:tcPr marL="58535" marR="58535" marT="58535" marB="58535">
                    <a:lnL w="0" cap="flat" cmpd="sng" algn="ctr">
                      <a:noFill/>
                    </a:lnL>
                    <a:lnR w="12700" cap="flat" cmpd="sng" algn="ctr">
                      <a:solidFill>
                        <a:srgbClr val="A6B3A9"/>
                      </a:solidFill>
                      <a:prstDash val="solid"/>
                      <a:round/>
                      <a:headEnd type="none" w="med" len="med"/>
                      <a:tailEnd type="none" w="med" len="med"/>
                    </a:lnR>
                    <a:lnT w="0" cap="flat" cmpd="sng" algn="ctr">
                      <a:noFill/>
                    </a:lnT>
                    <a:lnB w="12700" cap="flat" cmpd="sng" algn="ctr">
                      <a:solidFill>
                        <a:srgbClr val="A6B3A9"/>
                      </a:solidFill>
                      <a:prstDash val="solid"/>
                      <a:round/>
                      <a:headEnd type="none" w="med" len="med"/>
                      <a:tailEnd type="none" w="med" len="med"/>
                    </a:lnB>
                    <a:solidFill>
                      <a:srgbClr val="CFE0D3"/>
                    </a:solidFill>
                  </a:tcPr>
                </a:tc>
                <a:tc>
                  <a:txBody>
                    <a:bodyPr/>
                    <a:lstStyle/>
                    <a:p>
                      <a:pPr marL="0" indent="0">
                        <a:lnSpc>
                          <a:spcPts val="1844"/>
                        </a:lnSpc>
                        <a:buNone/>
                      </a:pPr>
                      <a:r>
                        <a:rPr lang="en-US" sz="1317" b="1" dirty="0">
                          <a:solidFill>
                            <a:srgbClr val="2E3B40"/>
                          </a:solidFill>
                          <a:latin typeface="Nunito Sans" pitchFamily="34" charset="0"/>
                          <a:ea typeface="Nunito Sans" pitchFamily="34" charset="-122"/>
                          <a:cs typeface="Nunito Sans" pitchFamily="34" charset="-120"/>
                        </a:rPr>
                        <a:t>Tool</a:t>
                      </a:r>
                      <a:endParaRPr lang="en-US" sz="1317" dirty="0">
                        <a:latin typeface="Nunito Sans" charset="0"/>
                        <a:ea typeface="Nunito Sans" charset="0"/>
                        <a:cs typeface="Nunito Sans" charset="0"/>
                      </a:endParaRPr>
                    </a:p>
                  </a:txBody>
                  <a:tcPr marL="58535" marR="58535" marT="58535" marB="58535">
                    <a:lnL w="12700" cap="flat" cmpd="sng" algn="ctr">
                      <a:solidFill>
                        <a:srgbClr val="A6B3A9"/>
                      </a:solidFill>
                      <a:prstDash val="solid"/>
                      <a:round/>
                      <a:headEnd type="none" w="med" len="med"/>
                      <a:tailEnd type="none" w="med" len="med"/>
                    </a:lnL>
                    <a:lnR w="12700" cap="flat" cmpd="sng" algn="ctr">
                      <a:solidFill>
                        <a:srgbClr val="A6B3A9"/>
                      </a:solidFill>
                      <a:prstDash val="solid"/>
                      <a:round/>
                      <a:headEnd type="none" w="med" len="med"/>
                      <a:tailEnd type="none" w="med" len="med"/>
                    </a:lnR>
                    <a:lnT w="0" cap="flat" cmpd="sng" algn="ctr">
                      <a:noFill/>
                    </a:lnT>
                    <a:lnB w="12700" cap="flat" cmpd="sng" algn="ctr">
                      <a:solidFill>
                        <a:srgbClr val="A6B3A9"/>
                      </a:solidFill>
                      <a:prstDash val="solid"/>
                      <a:round/>
                      <a:headEnd type="none" w="med" len="med"/>
                      <a:tailEnd type="none" w="med" len="med"/>
                    </a:lnB>
                    <a:solidFill>
                      <a:srgbClr val="CFE0D3"/>
                    </a:solidFill>
                  </a:tcPr>
                </a:tc>
                <a:tc>
                  <a:txBody>
                    <a:bodyPr/>
                    <a:lstStyle/>
                    <a:p>
                      <a:pPr marL="0" indent="0">
                        <a:lnSpc>
                          <a:spcPts val="1844"/>
                        </a:lnSpc>
                        <a:buNone/>
                      </a:pPr>
                      <a:r>
                        <a:rPr lang="en-US" sz="1317" b="1" dirty="0">
                          <a:solidFill>
                            <a:srgbClr val="2E3B40"/>
                          </a:solidFill>
                          <a:latin typeface="Nunito Sans" pitchFamily="34" charset="0"/>
                          <a:ea typeface="Nunito Sans" pitchFamily="34" charset="-122"/>
                          <a:cs typeface="Nunito Sans" pitchFamily="34" charset="-120"/>
                        </a:rPr>
                        <a:t>Usability</a:t>
                      </a:r>
                      <a:endParaRPr lang="en-US" sz="1317" dirty="0">
                        <a:latin typeface="Nunito Sans" charset="0"/>
                        <a:ea typeface="Nunito Sans" charset="0"/>
                        <a:cs typeface="Nunito Sans" charset="0"/>
                      </a:endParaRPr>
                    </a:p>
                  </a:txBody>
                  <a:tcPr marL="58535" marR="58535" marT="58535" marB="58535">
                    <a:lnL w="12700" cap="flat" cmpd="sng" algn="ctr">
                      <a:solidFill>
                        <a:srgbClr val="A6B3A9"/>
                      </a:solidFill>
                      <a:prstDash val="solid"/>
                      <a:round/>
                      <a:headEnd type="none" w="med" len="med"/>
                      <a:tailEnd type="none" w="med" len="med"/>
                    </a:lnL>
                    <a:lnR w="12700" cap="flat" cmpd="sng" algn="ctr">
                      <a:solidFill>
                        <a:srgbClr val="A6B3A9"/>
                      </a:solidFill>
                      <a:prstDash val="solid"/>
                      <a:round/>
                      <a:headEnd type="none" w="med" len="med"/>
                      <a:tailEnd type="none" w="med" len="med"/>
                    </a:lnR>
                    <a:lnT w="0" cap="flat" cmpd="sng" algn="ctr">
                      <a:noFill/>
                    </a:lnT>
                    <a:lnB w="12700" cap="flat" cmpd="sng" algn="ctr">
                      <a:solidFill>
                        <a:srgbClr val="A6B3A9"/>
                      </a:solidFill>
                      <a:prstDash val="solid"/>
                      <a:round/>
                      <a:headEnd type="none" w="med" len="med"/>
                      <a:tailEnd type="none" w="med" len="med"/>
                    </a:lnB>
                    <a:solidFill>
                      <a:srgbClr val="CFE0D3"/>
                    </a:solidFill>
                  </a:tcPr>
                </a:tc>
                <a:tc>
                  <a:txBody>
                    <a:bodyPr/>
                    <a:lstStyle/>
                    <a:p>
                      <a:pPr marL="0" indent="0">
                        <a:lnSpc>
                          <a:spcPts val="1844"/>
                        </a:lnSpc>
                        <a:buNone/>
                      </a:pPr>
                      <a:r>
                        <a:rPr lang="en-US" sz="1317" b="1" dirty="0">
                          <a:solidFill>
                            <a:srgbClr val="2E3B40"/>
                          </a:solidFill>
                          <a:latin typeface="Nunito Sans" pitchFamily="34" charset="0"/>
                          <a:ea typeface="Nunito Sans" pitchFamily="34" charset="-122"/>
                          <a:cs typeface="Nunito Sans" pitchFamily="34" charset="-120"/>
                        </a:rPr>
                        <a:t>Scalability</a:t>
                      </a:r>
                      <a:endParaRPr lang="en-US" sz="1317" dirty="0">
                        <a:latin typeface="Nunito Sans" charset="0"/>
                        <a:ea typeface="Nunito Sans" charset="0"/>
                        <a:cs typeface="Nunito Sans" charset="0"/>
                      </a:endParaRPr>
                    </a:p>
                  </a:txBody>
                  <a:tcPr marL="58535" marR="58535" marT="58535" marB="58535">
                    <a:lnL w="12700" cap="flat" cmpd="sng" algn="ctr">
                      <a:solidFill>
                        <a:srgbClr val="A6B3A9"/>
                      </a:solidFill>
                      <a:prstDash val="solid"/>
                      <a:round/>
                      <a:headEnd type="none" w="med" len="med"/>
                      <a:tailEnd type="none" w="med" len="med"/>
                    </a:lnL>
                    <a:lnR w="12700" cap="flat" cmpd="sng" algn="ctr">
                      <a:solidFill>
                        <a:srgbClr val="A6B3A9"/>
                      </a:solidFill>
                      <a:prstDash val="solid"/>
                      <a:round/>
                      <a:headEnd type="none" w="med" len="med"/>
                      <a:tailEnd type="none" w="med" len="med"/>
                    </a:lnR>
                    <a:lnT w="0" cap="flat" cmpd="sng" algn="ctr">
                      <a:noFill/>
                    </a:lnT>
                    <a:lnB w="12700" cap="flat" cmpd="sng" algn="ctr">
                      <a:solidFill>
                        <a:srgbClr val="A6B3A9"/>
                      </a:solidFill>
                      <a:prstDash val="solid"/>
                      <a:round/>
                      <a:headEnd type="none" w="med" len="med"/>
                      <a:tailEnd type="none" w="med" len="med"/>
                    </a:lnB>
                    <a:solidFill>
                      <a:srgbClr val="CFE0D3"/>
                    </a:solidFill>
                  </a:tcPr>
                </a:tc>
                <a:tc>
                  <a:txBody>
                    <a:bodyPr/>
                    <a:lstStyle/>
                    <a:p>
                      <a:pPr marL="0" indent="0">
                        <a:lnSpc>
                          <a:spcPts val="1844"/>
                        </a:lnSpc>
                        <a:buNone/>
                      </a:pPr>
                      <a:r>
                        <a:rPr lang="en-US" sz="1317" b="1" dirty="0">
                          <a:solidFill>
                            <a:srgbClr val="2E3B40"/>
                          </a:solidFill>
                          <a:latin typeface="Nunito Sans" pitchFamily="34" charset="0"/>
                          <a:ea typeface="Nunito Sans" pitchFamily="34" charset="-122"/>
                          <a:cs typeface="Nunito Sans" pitchFamily="34" charset="-120"/>
                        </a:rPr>
                        <a:t>Integration</a:t>
                      </a:r>
                      <a:endParaRPr lang="en-US" sz="1317" dirty="0">
                        <a:latin typeface="Nunito Sans" charset="0"/>
                        <a:ea typeface="Nunito Sans" charset="0"/>
                        <a:cs typeface="Nunito Sans" charset="0"/>
                      </a:endParaRPr>
                    </a:p>
                  </a:txBody>
                  <a:tcPr marL="58535" marR="58535" marT="58535" marB="58535">
                    <a:lnL w="12700" cap="flat" cmpd="sng" algn="ctr">
                      <a:solidFill>
                        <a:srgbClr val="A6B3A9"/>
                      </a:solidFill>
                      <a:prstDash val="solid"/>
                      <a:round/>
                      <a:headEnd type="none" w="med" len="med"/>
                      <a:tailEnd type="none" w="med" len="med"/>
                    </a:lnL>
                    <a:lnR w="12700" cap="flat" cmpd="sng" algn="ctr">
                      <a:solidFill>
                        <a:srgbClr val="A6B3A9"/>
                      </a:solidFill>
                      <a:prstDash val="solid"/>
                      <a:round/>
                      <a:headEnd type="none" w="med" len="med"/>
                      <a:tailEnd type="none" w="med" len="med"/>
                    </a:lnR>
                    <a:lnT w="0" cap="flat" cmpd="sng" algn="ctr">
                      <a:noFill/>
                    </a:lnT>
                    <a:lnB w="12700" cap="flat" cmpd="sng" algn="ctr">
                      <a:solidFill>
                        <a:srgbClr val="A6B3A9"/>
                      </a:solidFill>
                      <a:prstDash val="solid"/>
                      <a:round/>
                      <a:headEnd type="none" w="med" len="med"/>
                      <a:tailEnd type="none" w="med" len="med"/>
                    </a:lnB>
                    <a:solidFill>
                      <a:srgbClr val="CFE0D3"/>
                    </a:solidFill>
                  </a:tcPr>
                </a:tc>
                <a:tc>
                  <a:txBody>
                    <a:bodyPr/>
                    <a:lstStyle/>
                    <a:p>
                      <a:pPr marL="0" indent="0">
                        <a:lnSpc>
                          <a:spcPts val="1844"/>
                        </a:lnSpc>
                        <a:buNone/>
                      </a:pPr>
                      <a:r>
                        <a:rPr lang="en-US" sz="1317" b="1" dirty="0">
                          <a:solidFill>
                            <a:srgbClr val="2E3B40"/>
                          </a:solidFill>
                          <a:latin typeface="Nunito Sans" pitchFamily="34" charset="0"/>
                          <a:ea typeface="Nunito Sans" pitchFamily="34" charset="-122"/>
                          <a:cs typeface="Nunito Sans" pitchFamily="34" charset="-120"/>
                        </a:rPr>
                        <a:t>Cost</a:t>
                      </a:r>
                      <a:endParaRPr lang="en-US" sz="1317" dirty="0">
                        <a:latin typeface="Nunito Sans" charset="0"/>
                        <a:ea typeface="Nunito Sans" charset="0"/>
                        <a:cs typeface="Nunito Sans" charset="0"/>
                      </a:endParaRPr>
                    </a:p>
                  </a:txBody>
                  <a:tcPr marL="58535" marR="58535" marT="58535" marB="58535">
                    <a:lnL w="12700" cap="flat" cmpd="sng" algn="ctr">
                      <a:solidFill>
                        <a:srgbClr val="A6B3A9"/>
                      </a:solidFill>
                      <a:prstDash val="solid"/>
                      <a:round/>
                      <a:headEnd type="none" w="med" len="med"/>
                      <a:tailEnd type="none" w="med" len="med"/>
                    </a:lnL>
                    <a:lnR w="12700" cap="flat" cmpd="sng" algn="ctr">
                      <a:solidFill>
                        <a:srgbClr val="A6B3A9"/>
                      </a:solidFill>
                      <a:prstDash val="solid"/>
                      <a:round/>
                      <a:headEnd type="none" w="med" len="med"/>
                      <a:tailEnd type="none" w="med" len="med"/>
                    </a:lnR>
                    <a:lnT w="0" cap="flat" cmpd="sng" algn="ctr">
                      <a:noFill/>
                    </a:lnT>
                    <a:lnB w="12700" cap="flat" cmpd="sng" algn="ctr">
                      <a:solidFill>
                        <a:srgbClr val="A6B3A9"/>
                      </a:solidFill>
                      <a:prstDash val="solid"/>
                      <a:round/>
                      <a:headEnd type="none" w="med" len="med"/>
                      <a:tailEnd type="none" w="med" len="med"/>
                    </a:lnB>
                    <a:solidFill>
                      <a:srgbClr val="CFE0D3"/>
                    </a:solidFill>
                  </a:tcPr>
                </a:tc>
                <a:extLst>
                  <a:ext uri="{0D108BD9-81ED-4DB2-BD59-A6C34878D82A}">
                    <a16:rowId xmlns:a16="http://schemas.microsoft.com/office/drawing/2014/main" val="10000"/>
                  </a:ext>
                </a:extLst>
              </a:tr>
              <a:tr h="361763">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Sanctioned AI</a:t>
                      </a:r>
                      <a:endParaRPr lang="en-US" sz="1317" dirty="0">
                        <a:latin typeface="Nunito Sans" charset="0"/>
                        <a:ea typeface="Nunito Sans" charset="0"/>
                        <a:cs typeface="Nunito Sans" charset="0"/>
                      </a:endParaRPr>
                    </a:p>
                  </a:txBody>
                  <a:tcPr marL="58535" marR="58535" marT="58535" marB="58535">
                    <a:lnL w="0" cap="flat" cmpd="sng" algn="ctr">
                      <a:noFill/>
                    </a:lnL>
                    <a:lnR w="12700" cap="flat" cmpd="sng" algn="ctr">
                      <a:solidFill>
                        <a:srgbClr val="C8C7C5"/>
                      </a:solidFill>
                      <a:prstDash val="solid"/>
                      <a:round/>
                      <a:headEnd type="none" w="med" len="med"/>
                      <a:tailEnd type="none" w="med" len="med"/>
                    </a:lnR>
                    <a:lnT w="12700" cap="flat" cmpd="sng" algn="ctr">
                      <a:solidFill>
                        <a:srgbClr val="A6B3A9"/>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Microsoft Purview</a:t>
                      </a:r>
                      <a:endParaRPr lang="en-US" sz="1317" dirty="0">
                        <a:latin typeface="Nunito Sans" charset="0"/>
                        <a:ea typeface="Nunito Sans" charset="0"/>
                        <a:cs typeface="Nunito Sans" charset="0"/>
                      </a:endParaRPr>
                    </a:p>
                  </a:txBody>
                  <a:tcPr marL="58535" marR="58535" marT="58535" marB="5853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A6B3A9"/>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Easy on M365</a:t>
                      </a:r>
                      <a:endParaRPr lang="en-US" sz="1317" dirty="0">
                        <a:latin typeface="Nunito Sans" charset="0"/>
                        <a:ea typeface="Nunito Sans" charset="0"/>
                        <a:cs typeface="Nunito Sans" charset="0"/>
                      </a:endParaRPr>
                    </a:p>
                  </a:txBody>
                  <a:tcPr marL="58535" marR="58535" marT="58535" marB="5853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A6B3A9"/>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High</a:t>
                      </a:r>
                      <a:endParaRPr lang="en-US" sz="1317" dirty="0">
                        <a:latin typeface="Nunito Sans" charset="0"/>
                        <a:ea typeface="Nunito Sans" charset="0"/>
                        <a:cs typeface="Nunito Sans" charset="0"/>
                      </a:endParaRPr>
                    </a:p>
                  </a:txBody>
                  <a:tcPr marL="58535" marR="58535" marT="58535" marB="5853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A6B3A9"/>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Native to Copilot</a:t>
                      </a:r>
                      <a:endParaRPr lang="en-US" sz="1317" dirty="0">
                        <a:latin typeface="Nunito Sans" charset="0"/>
                        <a:ea typeface="Nunito Sans" charset="0"/>
                        <a:cs typeface="Nunito Sans" charset="0"/>
                      </a:endParaRPr>
                    </a:p>
                  </a:txBody>
                  <a:tcPr marL="58535" marR="58535" marT="58535" marB="5853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A6B3A9"/>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 · E5 bundle</a:t>
                      </a:r>
                      <a:endParaRPr lang="en-US" sz="1317" dirty="0">
                        <a:latin typeface="Nunito Sans" charset="0"/>
                        <a:ea typeface="Nunito Sans" charset="0"/>
                        <a:cs typeface="Nunito Sans" charset="0"/>
                      </a:endParaRPr>
                    </a:p>
                  </a:txBody>
                  <a:tcPr marL="58535" marR="58535" marT="58535" marB="5853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A6B3A9"/>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extLst>
                  <a:ext uri="{0D108BD9-81ED-4DB2-BD59-A6C34878D82A}">
                    <a16:rowId xmlns:a16="http://schemas.microsoft.com/office/drawing/2014/main" val="10001"/>
                  </a:ext>
                </a:extLst>
              </a:tr>
              <a:tr h="361763">
                <a:tc>
                  <a:txBody>
                    <a:bodyPr/>
                    <a:lstStyle/>
                    <a:p>
                      <a:pPr marL="0" indent="0">
                        <a:lnSpc>
                          <a:spcPts val="1844"/>
                        </a:lnSpc>
                        <a:buNone/>
                      </a:pPr>
                      <a:endParaRPr lang="en-US" sz="1317" dirty="0">
                        <a:latin typeface="Nunito Sans" charset="0"/>
                        <a:ea typeface="Nunito Sans" charset="0"/>
                        <a:cs typeface="Nunito Sans" charset="0"/>
                      </a:endParaRPr>
                    </a:p>
                  </a:txBody>
                  <a:tcPr marL="58535" marR="58535" marT="58535" marB="58535">
                    <a:lnL w="0" cap="flat" cmpd="sng" algn="ctr">
                      <a:noFill/>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Nightfall</a:t>
                      </a:r>
                      <a:endParaRPr lang="en-US" sz="1317" dirty="0">
                        <a:latin typeface="Nunito Sans" charset="0"/>
                        <a:ea typeface="Nunito Sans" charset="0"/>
                        <a:cs typeface="Nunito Sans" charset="0"/>
                      </a:endParaRPr>
                    </a:p>
                  </a:txBody>
                  <a:tcPr marL="58535" marR="58535" marT="58535" marB="5853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Easy</a:t>
                      </a:r>
                      <a:endParaRPr lang="en-US" sz="1317" dirty="0">
                        <a:latin typeface="Nunito Sans" charset="0"/>
                        <a:ea typeface="Nunito Sans" charset="0"/>
                        <a:cs typeface="Nunito Sans" charset="0"/>
                      </a:endParaRPr>
                    </a:p>
                  </a:txBody>
                  <a:tcPr marL="58535" marR="58535" marT="58535" marB="5853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Medium-high</a:t>
                      </a:r>
                      <a:endParaRPr lang="en-US" sz="1317" dirty="0">
                        <a:latin typeface="Nunito Sans" charset="0"/>
                        <a:ea typeface="Nunito Sans" charset="0"/>
                        <a:cs typeface="Nunito Sans" charset="0"/>
                      </a:endParaRPr>
                    </a:p>
                  </a:txBody>
                  <a:tcPr marL="58535" marR="58535" marT="58535" marB="5853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Browser, SaaS APIs</a:t>
                      </a:r>
                      <a:endParaRPr lang="en-US" sz="1317" dirty="0">
                        <a:latin typeface="Nunito Sans" charset="0"/>
                        <a:ea typeface="Nunito Sans" charset="0"/>
                        <a:cs typeface="Nunito Sans" charset="0"/>
                      </a:endParaRPr>
                    </a:p>
                  </a:txBody>
                  <a:tcPr marL="58535" marR="58535" marT="58535" marB="5853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 · quote</a:t>
                      </a:r>
                      <a:endParaRPr lang="en-US" sz="1317" dirty="0">
                        <a:latin typeface="Nunito Sans" charset="0"/>
                        <a:ea typeface="Nunito Sans" charset="0"/>
                        <a:cs typeface="Nunito Sans" charset="0"/>
                      </a:endParaRPr>
                    </a:p>
                  </a:txBody>
                  <a:tcPr marL="58535" marR="58535" marT="58535" marB="5853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extLst>
                  <a:ext uri="{0D108BD9-81ED-4DB2-BD59-A6C34878D82A}">
                    <a16:rowId xmlns:a16="http://schemas.microsoft.com/office/drawing/2014/main" val="10002"/>
                  </a:ext>
                </a:extLst>
              </a:tr>
              <a:tr h="361763">
                <a:tc>
                  <a:txBody>
                    <a:bodyPr/>
                    <a:lstStyle/>
                    <a:p>
                      <a:pPr marL="0" indent="0">
                        <a:lnSpc>
                          <a:spcPts val="1844"/>
                        </a:lnSpc>
                        <a:buNone/>
                      </a:pPr>
                      <a:endParaRPr lang="en-US" sz="1317" dirty="0">
                        <a:latin typeface="Nunito Sans" charset="0"/>
                        <a:ea typeface="Nunito Sans" charset="0"/>
                        <a:cs typeface="Nunito Sans" charset="0"/>
                      </a:endParaRPr>
                    </a:p>
                  </a:txBody>
                  <a:tcPr marL="58535" marR="58535" marT="58535" marB="58535">
                    <a:lnL w="0" cap="flat" cmpd="sng" algn="ctr">
                      <a:noFill/>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Bedrock Guardrails</a:t>
                      </a:r>
                      <a:endParaRPr lang="en-US" sz="1317" dirty="0">
                        <a:latin typeface="Nunito Sans" charset="0"/>
                        <a:ea typeface="Nunito Sans" charset="0"/>
                        <a:cs typeface="Nunito Sans" charset="0"/>
                      </a:endParaRPr>
                    </a:p>
                  </a:txBody>
                  <a:tcPr marL="58535" marR="58535" marT="58535" marB="5853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Moderate</a:t>
                      </a:r>
                      <a:endParaRPr lang="en-US" sz="1317" dirty="0">
                        <a:latin typeface="Nunito Sans" charset="0"/>
                        <a:ea typeface="Nunito Sans" charset="0"/>
                        <a:cs typeface="Nunito Sans" charset="0"/>
                      </a:endParaRPr>
                    </a:p>
                  </a:txBody>
                  <a:tcPr marL="58535" marR="58535" marT="58535" marB="5853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High</a:t>
                      </a:r>
                      <a:endParaRPr lang="en-US" sz="1317" dirty="0">
                        <a:latin typeface="Nunito Sans" charset="0"/>
                        <a:ea typeface="Nunito Sans" charset="0"/>
                        <a:cs typeface="Nunito Sans" charset="0"/>
                      </a:endParaRPr>
                    </a:p>
                  </a:txBody>
                  <a:tcPr marL="58535" marR="58535" marT="58535" marB="5853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Bedrock, API</a:t>
                      </a:r>
                      <a:endParaRPr lang="en-US" sz="1317" dirty="0">
                        <a:latin typeface="Nunito Sans" charset="0"/>
                        <a:ea typeface="Nunito Sans" charset="0"/>
                        <a:cs typeface="Nunito Sans" charset="0"/>
                      </a:endParaRPr>
                    </a:p>
                  </a:txBody>
                  <a:tcPr marL="58535" marR="58535" marT="58535" marB="5853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 · per use</a:t>
                      </a:r>
                      <a:endParaRPr lang="en-US" sz="1317" dirty="0">
                        <a:latin typeface="Nunito Sans" charset="0"/>
                        <a:ea typeface="Nunito Sans" charset="0"/>
                        <a:cs typeface="Nunito Sans" charset="0"/>
                      </a:endParaRPr>
                    </a:p>
                  </a:txBody>
                  <a:tcPr marL="58535" marR="58535" marT="58535" marB="5853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extLst>
                  <a:ext uri="{0D108BD9-81ED-4DB2-BD59-A6C34878D82A}">
                    <a16:rowId xmlns:a16="http://schemas.microsoft.com/office/drawing/2014/main" val="10003"/>
                  </a:ext>
                </a:extLst>
              </a:tr>
              <a:tr h="361763">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Shadow AI</a:t>
                      </a:r>
                      <a:endParaRPr lang="en-US" sz="1317" dirty="0">
                        <a:latin typeface="Nunito Sans" charset="0"/>
                        <a:ea typeface="Nunito Sans" charset="0"/>
                        <a:cs typeface="Nunito Sans" charset="0"/>
                      </a:endParaRPr>
                    </a:p>
                  </a:txBody>
                  <a:tcPr marL="58535" marR="58535" marT="58535" marB="58535">
                    <a:lnL w="0" cap="flat" cmpd="sng" algn="ctr">
                      <a:noFill/>
                    </a:lnL>
                    <a:lnR w="12700" cap="flat" cmpd="sng" algn="ctr">
                      <a:solidFill>
                        <a:srgbClr val="C0C4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Nudge Security</a:t>
                      </a:r>
                      <a:endParaRPr lang="en-US" sz="1317" dirty="0">
                        <a:latin typeface="Nunito Sans" charset="0"/>
                        <a:ea typeface="Nunito Sans" charset="0"/>
                        <a:cs typeface="Nunito Sans" charset="0"/>
                      </a:endParaRPr>
                    </a:p>
                  </a:txBody>
                  <a:tcPr marL="58535" marR="58535" marT="58535" marB="58535">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Easy</a:t>
                      </a:r>
                      <a:endParaRPr lang="en-US" sz="1317" dirty="0">
                        <a:latin typeface="Nunito Sans" charset="0"/>
                        <a:ea typeface="Nunito Sans" charset="0"/>
                        <a:cs typeface="Nunito Sans" charset="0"/>
                      </a:endParaRPr>
                    </a:p>
                  </a:txBody>
                  <a:tcPr marL="58535" marR="58535" marT="58535" marB="58535">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Medium-high</a:t>
                      </a:r>
                      <a:endParaRPr lang="en-US" sz="1317" dirty="0">
                        <a:latin typeface="Nunito Sans" charset="0"/>
                        <a:ea typeface="Nunito Sans" charset="0"/>
                        <a:cs typeface="Nunito Sans" charset="0"/>
                      </a:endParaRPr>
                    </a:p>
                  </a:txBody>
                  <a:tcPr marL="58535" marR="58535" marT="58535" marB="58535">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Identity, email</a:t>
                      </a:r>
                      <a:endParaRPr lang="en-US" sz="1317" dirty="0">
                        <a:latin typeface="Nunito Sans" charset="0"/>
                        <a:ea typeface="Nunito Sans" charset="0"/>
                        <a:cs typeface="Nunito Sans" charset="0"/>
                      </a:endParaRPr>
                    </a:p>
                  </a:txBody>
                  <a:tcPr marL="58535" marR="58535" marT="58535" marB="58535">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 · subscription</a:t>
                      </a:r>
                      <a:endParaRPr lang="en-US" sz="1317" dirty="0">
                        <a:latin typeface="Nunito Sans" charset="0"/>
                        <a:ea typeface="Nunito Sans" charset="0"/>
                        <a:cs typeface="Nunito Sans" charset="0"/>
                      </a:endParaRPr>
                    </a:p>
                  </a:txBody>
                  <a:tcPr marL="58535" marR="58535" marT="58535" marB="58535">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extLst>
                  <a:ext uri="{0D108BD9-81ED-4DB2-BD59-A6C34878D82A}">
                    <a16:rowId xmlns:a16="http://schemas.microsoft.com/office/drawing/2014/main" val="10004"/>
                  </a:ext>
                </a:extLst>
              </a:tr>
              <a:tr h="361763">
                <a:tc>
                  <a:txBody>
                    <a:bodyPr/>
                    <a:lstStyle/>
                    <a:p>
                      <a:pPr marL="0" indent="0">
                        <a:lnSpc>
                          <a:spcPts val="1844"/>
                        </a:lnSpc>
                        <a:buNone/>
                      </a:pPr>
                      <a:endParaRPr lang="en-US" sz="1317" dirty="0">
                        <a:latin typeface="Nunito Sans" charset="0"/>
                        <a:ea typeface="Nunito Sans" charset="0"/>
                        <a:cs typeface="Nunito Sans" charset="0"/>
                      </a:endParaRPr>
                    </a:p>
                  </a:txBody>
                  <a:tcPr marL="58535" marR="58535" marT="58535" marB="58535">
                    <a:lnL w="0" cap="flat" cmpd="sng" algn="ctr">
                      <a:noFill/>
                    </a:lnL>
                    <a:lnR w="12700" cap="flat" cmpd="sng" algn="ctr">
                      <a:solidFill>
                        <a:srgbClr val="C0C4C5"/>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Defender for Cloud Apps</a:t>
                      </a:r>
                      <a:endParaRPr lang="en-US" sz="1317" dirty="0">
                        <a:latin typeface="Nunito Sans" charset="0"/>
                        <a:ea typeface="Nunito Sans" charset="0"/>
                        <a:cs typeface="Nunito Sans" charset="0"/>
                      </a:endParaRPr>
                    </a:p>
                  </a:txBody>
                  <a:tcPr marL="58535" marR="58535" marT="58535" marB="58535">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Easy on M365</a:t>
                      </a:r>
                      <a:endParaRPr lang="en-US" sz="1317" dirty="0">
                        <a:latin typeface="Nunito Sans" charset="0"/>
                        <a:ea typeface="Nunito Sans" charset="0"/>
                        <a:cs typeface="Nunito Sans" charset="0"/>
                      </a:endParaRPr>
                    </a:p>
                  </a:txBody>
                  <a:tcPr marL="58535" marR="58535" marT="58535" marB="58535">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High</a:t>
                      </a:r>
                      <a:endParaRPr lang="en-US" sz="1317" dirty="0">
                        <a:latin typeface="Nunito Sans" charset="0"/>
                        <a:ea typeface="Nunito Sans" charset="0"/>
                        <a:cs typeface="Nunito Sans" charset="0"/>
                      </a:endParaRPr>
                    </a:p>
                  </a:txBody>
                  <a:tcPr marL="58535" marR="58535" marT="58535" marB="58535">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Entra, Defender</a:t>
                      </a:r>
                      <a:endParaRPr lang="en-US" sz="1317" dirty="0">
                        <a:latin typeface="Nunito Sans" charset="0"/>
                        <a:ea typeface="Nunito Sans" charset="0"/>
                        <a:cs typeface="Nunito Sans" charset="0"/>
                      </a:endParaRPr>
                    </a:p>
                  </a:txBody>
                  <a:tcPr marL="58535" marR="58535" marT="58535" marB="58535">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 · E5 bundle</a:t>
                      </a:r>
                      <a:endParaRPr lang="en-US" sz="1317" dirty="0">
                        <a:latin typeface="Nunito Sans" charset="0"/>
                        <a:ea typeface="Nunito Sans" charset="0"/>
                        <a:cs typeface="Nunito Sans" charset="0"/>
                      </a:endParaRPr>
                    </a:p>
                  </a:txBody>
                  <a:tcPr marL="58535" marR="58535" marT="58535" marB="58535">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extLst>
                  <a:ext uri="{0D108BD9-81ED-4DB2-BD59-A6C34878D82A}">
                    <a16:rowId xmlns:a16="http://schemas.microsoft.com/office/drawing/2014/main" val="10005"/>
                  </a:ext>
                </a:extLst>
              </a:tr>
              <a:tr h="361818">
                <a:tc>
                  <a:txBody>
                    <a:bodyPr/>
                    <a:lstStyle/>
                    <a:p>
                      <a:pPr marL="0" indent="0">
                        <a:lnSpc>
                          <a:spcPts val="1844"/>
                        </a:lnSpc>
                        <a:buNone/>
                      </a:pPr>
                      <a:endParaRPr lang="en-US" sz="1317" dirty="0">
                        <a:latin typeface="Nunito Sans" charset="0"/>
                        <a:ea typeface="Nunito Sans" charset="0"/>
                        <a:cs typeface="Nunito Sans" charset="0"/>
                      </a:endParaRPr>
                    </a:p>
                  </a:txBody>
                  <a:tcPr marL="58535" marR="58535" marT="58535" marB="58535">
                    <a:lnL w="0" cap="flat" cmpd="sng" algn="ctr">
                      <a:noFill/>
                    </a:lnL>
                    <a:lnR w="12700" cap="flat" cmpd="sng" algn="ctr">
                      <a:solidFill>
                        <a:srgbClr val="C0C4C5"/>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Netskope</a:t>
                      </a:r>
                      <a:endParaRPr lang="en-US" sz="1317" dirty="0">
                        <a:latin typeface="Nunito Sans" charset="0"/>
                        <a:ea typeface="Nunito Sans" charset="0"/>
                        <a:cs typeface="Nunito Sans" charset="0"/>
                      </a:endParaRPr>
                    </a:p>
                  </a:txBody>
                  <a:tcPr marL="58535" marR="58535" marT="58535" marB="58535">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Moderate</a:t>
                      </a:r>
                      <a:endParaRPr lang="en-US" sz="1317" dirty="0">
                        <a:latin typeface="Nunito Sans" charset="0"/>
                        <a:ea typeface="Nunito Sans" charset="0"/>
                        <a:cs typeface="Nunito Sans" charset="0"/>
                      </a:endParaRPr>
                    </a:p>
                  </a:txBody>
                  <a:tcPr marL="58535" marR="58535" marT="58535" marB="58535">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High</a:t>
                      </a:r>
                      <a:endParaRPr lang="en-US" sz="1317" dirty="0">
                        <a:latin typeface="Nunito Sans" charset="0"/>
                        <a:ea typeface="Nunito Sans" charset="0"/>
                        <a:cs typeface="Nunito Sans" charset="0"/>
                      </a:endParaRPr>
                    </a:p>
                  </a:txBody>
                  <a:tcPr marL="58535" marR="58535" marT="58535" marB="58535">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Proxy, endpoint</a:t>
                      </a:r>
                      <a:endParaRPr lang="en-US" sz="1317" dirty="0">
                        <a:latin typeface="Nunito Sans" charset="0"/>
                        <a:ea typeface="Nunito Sans" charset="0"/>
                        <a:cs typeface="Nunito Sans" charset="0"/>
                      </a:endParaRPr>
                    </a:p>
                  </a:txBody>
                  <a:tcPr marL="58535" marR="58535" marT="58535" marB="58535">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 · quote</a:t>
                      </a:r>
                      <a:endParaRPr lang="en-US" sz="1317" dirty="0">
                        <a:latin typeface="Nunito Sans" charset="0"/>
                        <a:ea typeface="Nunito Sans" charset="0"/>
                        <a:cs typeface="Nunito Sans" charset="0"/>
                      </a:endParaRPr>
                    </a:p>
                  </a:txBody>
                  <a:tcPr marL="58535" marR="58535" marT="58535" marB="58535">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extLst>
                  <a:ext uri="{0D108BD9-81ED-4DB2-BD59-A6C34878D82A}">
                    <a16:rowId xmlns:a16="http://schemas.microsoft.com/office/drawing/2014/main" val="10006"/>
                  </a:ext>
                </a:extLst>
              </a:tr>
              <a:tr h="361818">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Vendor AI</a:t>
                      </a:r>
                      <a:endParaRPr lang="en-US" sz="1317" dirty="0">
                        <a:latin typeface="Nunito Sans" charset="0"/>
                        <a:ea typeface="Nunito Sans" charset="0"/>
                        <a:cs typeface="Nunito Sans" charset="0"/>
                      </a:endParaRPr>
                    </a:p>
                  </a:txBody>
                  <a:tcPr marL="58535" marR="58535" marT="58535" marB="58535">
                    <a:lnL w="0" cap="flat" cmpd="sng" algn="ctr">
                      <a:noFill/>
                    </a:lnL>
                    <a:lnR w="12700" cap="flat" cmpd="sng" algn="ctr">
                      <a:solidFill>
                        <a:srgbClr val="C8C7C5"/>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CSA AI-CAIQ</a:t>
                      </a:r>
                      <a:endParaRPr lang="en-US" sz="1317" dirty="0">
                        <a:latin typeface="Nunito Sans" charset="0"/>
                        <a:ea typeface="Nunito Sans" charset="0"/>
                        <a:cs typeface="Nunito Sans" charset="0"/>
                      </a:endParaRPr>
                    </a:p>
                  </a:txBody>
                  <a:tcPr marL="58535" marR="58535" marT="58535" marB="5853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Moderate</a:t>
                      </a:r>
                      <a:endParaRPr lang="en-US" sz="1317" dirty="0">
                        <a:latin typeface="Nunito Sans" charset="0"/>
                        <a:ea typeface="Nunito Sans" charset="0"/>
                        <a:cs typeface="Nunito Sans" charset="0"/>
                      </a:endParaRPr>
                    </a:p>
                  </a:txBody>
                  <a:tcPr marL="58535" marR="58535" marT="58535" marB="5853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Low</a:t>
                      </a:r>
                      <a:endParaRPr lang="en-US" sz="1317" dirty="0">
                        <a:latin typeface="Nunito Sans" charset="0"/>
                        <a:ea typeface="Nunito Sans" charset="0"/>
                        <a:cs typeface="Nunito Sans" charset="0"/>
                      </a:endParaRPr>
                    </a:p>
                  </a:txBody>
                  <a:tcPr marL="58535" marR="58535" marT="58535" marB="5853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Questionnaire</a:t>
                      </a:r>
                      <a:endParaRPr lang="en-US" sz="1317" dirty="0">
                        <a:latin typeface="Nunito Sans" charset="0"/>
                        <a:ea typeface="Nunito Sans" charset="0"/>
                        <a:cs typeface="Nunito Sans" charset="0"/>
                      </a:endParaRPr>
                    </a:p>
                  </a:txBody>
                  <a:tcPr marL="58535" marR="58535" marT="58535" marB="5853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Free</a:t>
                      </a:r>
                      <a:endParaRPr lang="en-US" sz="1317" dirty="0">
                        <a:latin typeface="Nunito Sans" charset="0"/>
                        <a:ea typeface="Nunito Sans" charset="0"/>
                        <a:cs typeface="Nunito Sans" charset="0"/>
                      </a:endParaRPr>
                    </a:p>
                  </a:txBody>
                  <a:tcPr marL="58535" marR="58535" marT="58535" marB="5853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extLst>
                  <a:ext uri="{0D108BD9-81ED-4DB2-BD59-A6C34878D82A}">
                    <a16:rowId xmlns:a16="http://schemas.microsoft.com/office/drawing/2014/main" val="10007"/>
                  </a:ext>
                </a:extLst>
              </a:tr>
              <a:tr h="361818">
                <a:tc>
                  <a:txBody>
                    <a:bodyPr/>
                    <a:lstStyle/>
                    <a:p>
                      <a:pPr marL="0" indent="0">
                        <a:lnSpc>
                          <a:spcPts val="1844"/>
                        </a:lnSpc>
                        <a:buNone/>
                      </a:pPr>
                      <a:endParaRPr lang="en-US" sz="1317" dirty="0">
                        <a:latin typeface="Nunito Sans" charset="0"/>
                        <a:ea typeface="Nunito Sans" charset="0"/>
                        <a:cs typeface="Nunito Sans" charset="0"/>
                      </a:endParaRPr>
                    </a:p>
                  </a:txBody>
                  <a:tcPr marL="58535" marR="58535" marT="58535" marB="58535">
                    <a:lnL w="0" cap="flat" cmpd="sng" algn="ctr">
                      <a:noFill/>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Vanta</a:t>
                      </a:r>
                      <a:endParaRPr lang="en-US" sz="1317" dirty="0">
                        <a:latin typeface="Nunito Sans" charset="0"/>
                        <a:ea typeface="Nunito Sans" charset="0"/>
                        <a:cs typeface="Nunito Sans" charset="0"/>
                      </a:endParaRPr>
                    </a:p>
                  </a:txBody>
                  <a:tcPr marL="58535" marR="58535" marT="58535" marB="5853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Easy</a:t>
                      </a:r>
                      <a:endParaRPr lang="en-US" sz="1317" dirty="0">
                        <a:latin typeface="Nunito Sans" charset="0"/>
                        <a:ea typeface="Nunito Sans" charset="0"/>
                        <a:cs typeface="Nunito Sans" charset="0"/>
                      </a:endParaRPr>
                    </a:p>
                  </a:txBody>
                  <a:tcPr marL="58535" marR="58535" marT="58535" marB="5853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Medium</a:t>
                      </a:r>
                      <a:endParaRPr lang="en-US" sz="1317" dirty="0">
                        <a:latin typeface="Nunito Sans" charset="0"/>
                        <a:ea typeface="Nunito Sans" charset="0"/>
                        <a:cs typeface="Nunito Sans" charset="0"/>
                      </a:endParaRPr>
                    </a:p>
                  </a:txBody>
                  <a:tcPr marL="58535" marR="58535" marT="58535" marB="5853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Vendor records</a:t>
                      </a:r>
                      <a:endParaRPr lang="en-US" sz="1317" dirty="0">
                        <a:latin typeface="Nunito Sans" charset="0"/>
                        <a:ea typeface="Nunito Sans" charset="0"/>
                        <a:cs typeface="Nunito Sans" charset="0"/>
                      </a:endParaRPr>
                    </a:p>
                  </a:txBody>
                  <a:tcPr marL="58535" marR="58535" marT="58535" marB="5853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 · subscription</a:t>
                      </a:r>
                      <a:endParaRPr lang="en-US" sz="1317" dirty="0">
                        <a:latin typeface="Nunito Sans" charset="0"/>
                        <a:ea typeface="Nunito Sans" charset="0"/>
                        <a:cs typeface="Nunito Sans" charset="0"/>
                      </a:endParaRPr>
                    </a:p>
                  </a:txBody>
                  <a:tcPr marL="58535" marR="58535" marT="58535" marB="5853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extLst>
                  <a:ext uri="{0D108BD9-81ED-4DB2-BD59-A6C34878D82A}">
                    <a16:rowId xmlns:a16="http://schemas.microsoft.com/office/drawing/2014/main" val="10008"/>
                  </a:ext>
                </a:extLst>
              </a:tr>
              <a:tr h="361818">
                <a:tc>
                  <a:txBody>
                    <a:bodyPr/>
                    <a:lstStyle/>
                    <a:p>
                      <a:pPr marL="0" indent="0">
                        <a:lnSpc>
                          <a:spcPts val="1844"/>
                        </a:lnSpc>
                        <a:buNone/>
                      </a:pPr>
                      <a:endParaRPr lang="en-US" sz="1317" dirty="0">
                        <a:latin typeface="Nunito Sans" charset="0"/>
                        <a:ea typeface="Nunito Sans" charset="0"/>
                        <a:cs typeface="Nunito Sans" charset="0"/>
                      </a:endParaRPr>
                    </a:p>
                  </a:txBody>
                  <a:tcPr marL="58535" marR="58535" marT="58535" marB="58535">
                    <a:lnL w="0" cap="flat" cmpd="sng" algn="ctr">
                      <a:noFill/>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BigID Vendor AI</a:t>
                      </a:r>
                      <a:endParaRPr lang="en-US" sz="1317" dirty="0">
                        <a:latin typeface="Nunito Sans" charset="0"/>
                        <a:ea typeface="Nunito Sans" charset="0"/>
                        <a:cs typeface="Nunito Sans" charset="0"/>
                      </a:endParaRPr>
                    </a:p>
                  </a:txBody>
                  <a:tcPr marL="58535" marR="58535" marT="58535" marB="5853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Moderate</a:t>
                      </a:r>
                      <a:endParaRPr lang="en-US" sz="1317" dirty="0">
                        <a:latin typeface="Nunito Sans" charset="0"/>
                        <a:ea typeface="Nunito Sans" charset="0"/>
                        <a:cs typeface="Nunito Sans" charset="0"/>
                      </a:endParaRPr>
                    </a:p>
                  </a:txBody>
                  <a:tcPr marL="58535" marR="58535" marT="58535" marB="5853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High</a:t>
                      </a:r>
                      <a:endParaRPr lang="en-US" sz="1317" dirty="0">
                        <a:latin typeface="Nunito Sans" charset="0"/>
                        <a:ea typeface="Nunito Sans" charset="0"/>
                        <a:cs typeface="Nunito Sans" charset="0"/>
                      </a:endParaRPr>
                    </a:p>
                  </a:txBody>
                  <a:tcPr marL="58535" marR="58535" marT="58535" marB="5853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BigID platform</a:t>
                      </a:r>
                      <a:endParaRPr lang="en-US" sz="1317" dirty="0">
                        <a:latin typeface="Nunito Sans" charset="0"/>
                        <a:ea typeface="Nunito Sans" charset="0"/>
                        <a:cs typeface="Nunito Sans" charset="0"/>
                      </a:endParaRPr>
                    </a:p>
                  </a:txBody>
                  <a:tcPr marL="58535" marR="58535" marT="58535" marB="5853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 · quote</a:t>
                      </a:r>
                      <a:endParaRPr lang="en-US" sz="1317" dirty="0">
                        <a:latin typeface="Nunito Sans" charset="0"/>
                        <a:ea typeface="Nunito Sans" charset="0"/>
                        <a:cs typeface="Nunito Sans" charset="0"/>
                      </a:endParaRPr>
                    </a:p>
                  </a:txBody>
                  <a:tcPr marL="58535" marR="58535" marT="58535" marB="5853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extLst>
                  <a:ext uri="{0D108BD9-81ED-4DB2-BD59-A6C34878D82A}">
                    <a16:rowId xmlns:a16="http://schemas.microsoft.com/office/drawing/2014/main" val="10009"/>
                  </a:ext>
                </a:extLst>
              </a:tr>
              <a:tr h="361818">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Secure dev</a:t>
                      </a:r>
                      <a:endParaRPr lang="en-US" sz="1317" dirty="0">
                        <a:latin typeface="Nunito Sans" charset="0"/>
                        <a:ea typeface="Nunito Sans" charset="0"/>
                        <a:cs typeface="Nunito Sans" charset="0"/>
                      </a:endParaRPr>
                    </a:p>
                  </a:txBody>
                  <a:tcPr marL="58535" marR="58535" marT="58535" marB="58535">
                    <a:lnL w="0" cap="flat" cmpd="sng" algn="ctr">
                      <a:noFill/>
                    </a:lnL>
                    <a:lnR w="12700" cap="flat" cmpd="sng" algn="ctr">
                      <a:solidFill>
                        <a:srgbClr val="C6C3B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6C3BC"/>
                      </a:solidFill>
                      <a:prstDash val="solid"/>
                      <a:round/>
                      <a:headEnd type="none" w="med" len="med"/>
                      <a:tailEnd type="none" w="med" len="med"/>
                    </a:lnB>
                    <a:solidFill>
                      <a:srgbClr val="F8F4EC"/>
                    </a:solidFill>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Semgrep</a:t>
                      </a:r>
                      <a:endParaRPr lang="en-US" sz="1317" dirty="0">
                        <a:latin typeface="Nunito Sans" charset="0"/>
                        <a:ea typeface="Nunito Sans" charset="0"/>
                        <a:cs typeface="Nunito Sans" charset="0"/>
                      </a:endParaRPr>
                    </a:p>
                  </a:txBody>
                  <a:tcPr marL="58535" marR="58535" marT="58535" marB="58535">
                    <a:lnL w="12700" cap="flat" cmpd="sng" algn="ctr">
                      <a:solidFill>
                        <a:srgbClr val="C6C3BC"/>
                      </a:solidFill>
                      <a:prstDash val="solid"/>
                      <a:round/>
                      <a:headEnd type="none" w="med" len="med"/>
                      <a:tailEnd type="none" w="med" len="med"/>
                    </a:lnL>
                    <a:lnR w="12700" cap="flat" cmpd="sng" algn="ctr">
                      <a:solidFill>
                        <a:srgbClr val="C6C3B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6C3BC"/>
                      </a:solidFill>
                      <a:prstDash val="solid"/>
                      <a:round/>
                      <a:headEnd type="none" w="med" len="med"/>
                      <a:tailEnd type="none" w="med" len="med"/>
                    </a:lnB>
                    <a:solidFill>
                      <a:srgbClr val="F8F4EC"/>
                    </a:solidFill>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Easy</a:t>
                      </a:r>
                      <a:endParaRPr lang="en-US" sz="1317" dirty="0">
                        <a:latin typeface="Nunito Sans" charset="0"/>
                        <a:ea typeface="Nunito Sans" charset="0"/>
                        <a:cs typeface="Nunito Sans" charset="0"/>
                      </a:endParaRPr>
                    </a:p>
                  </a:txBody>
                  <a:tcPr marL="58535" marR="58535" marT="58535" marB="58535">
                    <a:lnL w="12700" cap="flat" cmpd="sng" algn="ctr">
                      <a:solidFill>
                        <a:srgbClr val="C6C3BC"/>
                      </a:solidFill>
                      <a:prstDash val="solid"/>
                      <a:round/>
                      <a:headEnd type="none" w="med" len="med"/>
                      <a:tailEnd type="none" w="med" len="med"/>
                    </a:lnL>
                    <a:lnR w="12700" cap="flat" cmpd="sng" algn="ctr">
                      <a:solidFill>
                        <a:srgbClr val="C6C3B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6C3BC"/>
                      </a:solidFill>
                      <a:prstDash val="solid"/>
                      <a:round/>
                      <a:headEnd type="none" w="med" len="med"/>
                      <a:tailEnd type="none" w="med" len="med"/>
                    </a:lnB>
                    <a:solidFill>
                      <a:srgbClr val="F8F4EC"/>
                    </a:solidFill>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High</a:t>
                      </a:r>
                      <a:endParaRPr lang="en-US" sz="1317" dirty="0">
                        <a:latin typeface="Nunito Sans" charset="0"/>
                        <a:ea typeface="Nunito Sans" charset="0"/>
                        <a:cs typeface="Nunito Sans" charset="0"/>
                      </a:endParaRPr>
                    </a:p>
                  </a:txBody>
                  <a:tcPr marL="58535" marR="58535" marT="58535" marB="58535">
                    <a:lnL w="12700" cap="flat" cmpd="sng" algn="ctr">
                      <a:solidFill>
                        <a:srgbClr val="C6C3BC"/>
                      </a:solidFill>
                      <a:prstDash val="solid"/>
                      <a:round/>
                      <a:headEnd type="none" w="med" len="med"/>
                      <a:tailEnd type="none" w="med" len="med"/>
                    </a:lnL>
                    <a:lnR w="12700" cap="flat" cmpd="sng" algn="ctr">
                      <a:solidFill>
                        <a:srgbClr val="C6C3B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6C3BC"/>
                      </a:solidFill>
                      <a:prstDash val="solid"/>
                      <a:round/>
                      <a:headEnd type="none" w="med" len="med"/>
                      <a:tailEnd type="none" w="med" len="med"/>
                    </a:lnB>
                    <a:solidFill>
                      <a:srgbClr val="F8F4EC"/>
                    </a:solidFill>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CLI, CI, MCP</a:t>
                      </a:r>
                      <a:endParaRPr lang="en-US" sz="1317" dirty="0">
                        <a:latin typeface="Nunito Sans" charset="0"/>
                        <a:ea typeface="Nunito Sans" charset="0"/>
                        <a:cs typeface="Nunito Sans" charset="0"/>
                      </a:endParaRPr>
                    </a:p>
                  </a:txBody>
                  <a:tcPr marL="58535" marR="58535" marT="58535" marB="58535">
                    <a:lnL w="12700" cap="flat" cmpd="sng" algn="ctr">
                      <a:solidFill>
                        <a:srgbClr val="C6C3BC"/>
                      </a:solidFill>
                      <a:prstDash val="solid"/>
                      <a:round/>
                      <a:headEnd type="none" w="med" len="med"/>
                      <a:tailEnd type="none" w="med" len="med"/>
                    </a:lnL>
                    <a:lnR w="12700" cap="flat" cmpd="sng" algn="ctr">
                      <a:solidFill>
                        <a:srgbClr val="C6C3B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6C3BC"/>
                      </a:solidFill>
                      <a:prstDash val="solid"/>
                      <a:round/>
                      <a:headEnd type="none" w="med" len="med"/>
                      <a:tailEnd type="none" w="med" len="med"/>
                    </a:lnB>
                    <a:solidFill>
                      <a:srgbClr val="F8F4EC"/>
                    </a:solidFill>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Free to $$</a:t>
                      </a:r>
                      <a:endParaRPr lang="en-US" sz="1317" dirty="0">
                        <a:latin typeface="Nunito Sans" charset="0"/>
                        <a:ea typeface="Nunito Sans" charset="0"/>
                        <a:cs typeface="Nunito Sans" charset="0"/>
                      </a:endParaRPr>
                    </a:p>
                  </a:txBody>
                  <a:tcPr marL="58535" marR="58535" marT="58535" marB="58535">
                    <a:lnL w="12700" cap="flat" cmpd="sng" algn="ctr">
                      <a:solidFill>
                        <a:srgbClr val="C6C3BC"/>
                      </a:solidFill>
                      <a:prstDash val="solid"/>
                      <a:round/>
                      <a:headEnd type="none" w="med" len="med"/>
                      <a:tailEnd type="none" w="med" len="med"/>
                    </a:lnL>
                    <a:lnR w="12700" cap="flat" cmpd="sng" algn="ctr">
                      <a:solidFill>
                        <a:srgbClr val="C6C3B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6C3BC"/>
                      </a:solidFill>
                      <a:prstDash val="solid"/>
                      <a:round/>
                      <a:headEnd type="none" w="med" len="med"/>
                      <a:tailEnd type="none" w="med" len="med"/>
                    </a:lnB>
                    <a:solidFill>
                      <a:srgbClr val="F8F4EC"/>
                    </a:solidFill>
                  </a:tcPr>
                </a:tc>
                <a:extLst>
                  <a:ext uri="{0D108BD9-81ED-4DB2-BD59-A6C34878D82A}">
                    <a16:rowId xmlns:a16="http://schemas.microsoft.com/office/drawing/2014/main" val="10010"/>
                  </a:ext>
                </a:extLst>
              </a:tr>
              <a:tr h="361818">
                <a:tc>
                  <a:txBody>
                    <a:bodyPr/>
                    <a:lstStyle/>
                    <a:p>
                      <a:pPr marL="0" indent="0">
                        <a:lnSpc>
                          <a:spcPts val="1844"/>
                        </a:lnSpc>
                        <a:buNone/>
                      </a:pPr>
                      <a:endParaRPr lang="en-US" sz="1317" dirty="0">
                        <a:latin typeface="Nunito Sans" charset="0"/>
                        <a:ea typeface="Nunito Sans" charset="0"/>
                        <a:cs typeface="Nunito Sans" charset="0"/>
                      </a:endParaRPr>
                    </a:p>
                  </a:txBody>
                  <a:tcPr marL="58535" marR="58535" marT="58535" marB="58535">
                    <a:lnL w="0" cap="flat" cmpd="sng" algn="ctr">
                      <a:noFill/>
                    </a:lnL>
                    <a:lnR w="12700" cap="flat" cmpd="sng" algn="ctr">
                      <a:solidFill>
                        <a:srgbClr val="C6C3BC"/>
                      </a:solidFill>
                      <a:prstDash val="solid"/>
                      <a:round/>
                      <a:headEnd type="none" w="med" len="med"/>
                      <a:tailEnd type="none" w="med" len="med"/>
                    </a:lnR>
                    <a:lnT w="12700" cap="flat" cmpd="sng" algn="ctr">
                      <a:solidFill>
                        <a:srgbClr val="C6C3BC"/>
                      </a:solidFill>
                      <a:prstDash val="solid"/>
                      <a:round/>
                      <a:headEnd type="none" w="med" len="med"/>
                      <a:tailEnd type="none" w="med" len="med"/>
                    </a:lnT>
                    <a:lnB w="12700" cap="flat" cmpd="sng" algn="ctr">
                      <a:solidFill>
                        <a:srgbClr val="C6C3BC"/>
                      </a:solidFill>
                      <a:prstDash val="solid"/>
                      <a:round/>
                      <a:headEnd type="none" w="med" len="med"/>
                      <a:tailEnd type="none" w="med" len="med"/>
                    </a:lnB>
                    <a:solidFill>
                      <a:srgbClr val="F8F4EC"/>
                    </a:solidFill>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Snyk</a:t>
                      </a:r>
                      <a:endParaRPr lang="en-US" sz="1317" dirty="0">
                        <a:latin typeface="Nunito Sans" charset="0"/>
                        <a:ea typeface="Nunito Sans" charset="0"/>
                        <a:cs typeface="Nunito Sans" charset="0"/>
                      </a:endParaRPr>
                    </a:p>
                  </a:txBody>
                  <a:tcPr marL="58535" marR="58535" marT="58535" marB="58535">
                    <a:lnL w="12700" cap="flat" cmpd="sng" algn="ctr">
                      <a:solidFill>
                        <a:srgbClr val="C6C3BC"/>
                      </a:solidFill>
                      <a:prstDash val="solid"/>
                      <a:round/>
                      <a:headEnd type="none" w="med" len="med"/>
                      <a:tailEnd type="none" w="med" len="med"/>
                    </a:lnL>
                    <a:lnR w="12700" cap="flat" cmpd="sng" algn="ctr">
                      <a:solidFill>
                        <a:srgbClr val="C6C3BC"/>
                      </a:solidFill>
                      <a:prstDash val="solid"/>
                      <a:round/>
                      <a:headEnd type="none" w="med" len="med"/>
                      <a:tailEnd type="none" w="med" len="med"/>
                    </a:lnR>
                    <a:lnT w="12700" cap="flat" cmpd="sng" algn="ctr">
                      <a:solidFill>
                        <a:srgbClr val="C6C3BC"/>
                      </a:solidFill>
                      <a:prstDash val="solid"/>
                      <a:round/>
                      <a:headEnd type="none" w="med" len="med"/>
                      <a:tailEnd type="none" w="med" len="med"/>
                    </a:lnT>
                    <a:lnB w="12700" cap="flat" cmpd="sng" algn="ctr">
                      <a:solidFill>
                        <a:srgbClr val="C6C3BC"/>
                      </a:solidFill>
                      <a:prstDash val="solid"/>
                      <a:round/>
                      <a:headEnd type="none" w="med" len="med"/>
                      <a:tailEnd type="none" w="med" len="med"/>
                    </a:lnB>
                    <a:solidFill>
                      <a:srgbClr val="F8F4EC"/>
                    </a:solidFill>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Easy</a:t>
                      </a:r>
                      <a:endParaRPr lang="en-US" sz="1317" dirty="0">
                        <a:latin typeface="Nunito Sans" charset="0"/>
                        <a:ea typeface="Nunito Sans" charset="0"/>
                        <a:cs typeface="Nunito Sans" charset="0"/>
                      </a:endParaRPr>
                    </a:p>
                  </a:txBody>
                  <a:tcPr marL="58535" marR="58535" marT="58535" marB="58535">
                    <a:lnL w="12700" cap="flat" cmpd="sng" algn="ctr">
                      <a:solidFill>
                        <a:srgbClr val="C6C3BC"/>
                      </a:solidFill>
                      <a:prstDash val="solid"/>
                      <a:round/>
                      <a:headEnd type="none" w="med" len="med"/>
                      <a:tailEnd type="none" w="med" len="med"/>
                    </a:lnL>
                    <a:lnR w="12700" cap="flat" cmpd="sng" algn="ctr">
                      <a:solidFill>
                        <a:srgbClr val="C6C3BC"/>
                      </a:solidFill>
                      <a:prstDash val="solid"/>
                      <a:round/>
                      <a:headEnd type="none" w="med" len="med"/>
                      <a:tailEnd type="none" w="med" len="med"/>
                    </a:lnR>
                    <a:lnT w="12700" cap="flat" cmpd="sng" algn="ctr">
                      <a:solidFill>
                        <a:srgbClr val="C6C3BC"/>
                      </a:solidFill>
                      <a:prstDash val="solid"/>
                      <a:round/>
                      <a:headEnd type="none" w="med" len="med"/>
                      <a:tailEnd type="none" w="med" len="med"/>
                    </a:lnT>
                    <a:lnB w="12700" cap="flat" cmpd="sng" algn="ctr">
                      <a:solidFill>
                        <a:srgbClr val="C6C3BC"/>
                      </a:solidFill>
                      <a:prstDash val="solid"/>
                      <a:round/>
                      <a:headEnd type="none" w="med" len="med"/>
                      <a:tailEnd type="none" w="med" len="med"/>
                    </a:lnB>
                    <a:solidFill>
                      <a:srgbClr val="F8F4EC"/>
                    </a:solidFill>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High</a:t>
                      </a:r>
                      <a:endParaRPr lang="en-US" sz="1317" dirty="0">
                        <a:latin typeface="Nunito Sans" charset="0"/>
                        <a:ea typeface="Nunito Sans" charset="0"/>
                        <a:cs typeface="Nunito Sans" charset="0"/>
                      </a:endParaRPr>
                    </a:p>
                  </a:txBody>
                  <a:tcPr marL="58535" marR="58535" marT="58535" marB="58535">
                    <a:lnL w="12700" cap="flat" cmpd="sng" algn="ctr">
                      <a:solidFill>
                        <a:srgbClr val="C6C3BC"/>
                      </a:solidFill>
                      <a:prstDash val="solid"/>
                      <a:round/>
                      <a:headEnd type="none" w="med" len="med"/>
                      <a:tailEnd type="none" w="med" len="med"/>
                    </a:lnL>
                    <a:lnR w="12700" cap="flat" cmpd="sng" algn="ctr">
                      <a:solidFill>
                        <a:srgbClr val="C6C3BC"/>
                      </a:solidFill>
                      <a:prstDash val="solid"/>
                      <a:round/>
                      <a:headEnd type="none" w="med" len="med"/>
                      <a:tailEnd type="none" w="med" len="med"/>
                    </a:lnR>
                    <a:lnT w="12700" cap="flat" cmpd="sng" algn="ctr">
                      <a:solidFill>
                        <a:srgbClr val="C6C3BC"/>
                      </a:solidFill>
                      <a:prstDash val="solid"/>
                      <a:round/>
                      <a:headEnd type="none" w="med" len="med"/>
                      <a:tailEnd type="none" w="med" len="med"/>
                    </a:lnT>
                    <a:lnB w="12700" cap="flat" cmpd="sng" algn="ctr">
                      <a:solidFill>
                        <a:srgbClr val="C6C3BC"/>
                      </a:solidFill>
                      <a:prstDash val="solid"/>
                      <a:round/>
                      <a:headEnd type="none" w="med" len="med"/>
                      <a:tailEnd type="none" w="med" len="med"/>
                    </a:lnB>
                    <a:solidFill>
                      <a:srgbClr val="F8F4EC"/>
                    </a:solidFill>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IDE, CI, MCP</a:t>
                      </a:r>
                      <a:endParaRPr lang="en-US" sz="1317" dirty="0">
                        <a:latin typeface="Nunito Sans" charset="0"/>
                        <a:ea typeface="Nunito Sans" charset="0"/>
                        <a:cs typeface="Nunito Sans" charset="0"/>
                      </a:endParaRPr>
                    </a:p>
                  </a:txBody>
                  <a:tcPr marL="58535" marR="58535" marT="58535" marB="58535">
                    <a:lnL w="12700" cap="flat" cmpd="sng" algn="ctr">
                      <a:solidFill>
                        <a:srgbClr val="C6C3BC"/>
                      </a:solidFill>
                      <a:prstDash val="solid"/>
                      <a:round/>
                      <a:headEnd type="none" w="med" len="med"/>
                      <a:tailEnd type="none" w="med" len="med"/>
                    </a:lnL>
                    <a:lnR w="12700" cap="flat" cmpd="sng" algn="ctr">
                      <a:solidFill>
                        <a:srgbClr val="C6C3BC"/>
                      </a:solidFill>
                      <a:prstDash val="solid"/>
                      <a:round/>
                      <a:headEnd type="none" w="med" len="med"/>
                      <a:tailEnd type="none" w="med" len="med"/>
                    </a:lnR>
                    <a:lnT w="12700" cap="flat" cmpd="sng" algn="ctr">
                      <a:solidFill>
                        <a:srgbClr val="C6C3BC"/>
                      </a:solidFill>
                      <a:prstDash val="solid"/>
                      <a:round/>
                      <a:headEnd type="none" w="med" len="med"/>
                      <a:tailEnd type="none" w="med" len="med"/>
                    </a:lnT>
                    <a:lnB w="12700" cap="flat" cmpd="sng" algn="ctr">
                      <a:solidFill>
                        <a:srgbClr val="C6C3BC"/>
                      </a:solidFill>
                      <a:prstDash val="solid"/>
                      <a:round/>
                      <a:headEnd type="none" w="med" len="med"/>
                      <a:tailEnd type="none" w="med" len="med"/>
                    </a:lnB>
                    <a:solidFill>
                      <a:srgbClr val="F8F4EC"/>
                    </a:solidFill>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 to $$</a:t>
                      </a:r>
                      <a:endParaRPr lang="en-US" sz="1317" dirty="0">
                        <a:latin typeface="Nunito Sans" charset="0"/>
                        <a:ea typeface="Nunito Sans" charset="0"/>
                        <a:cs typeface="Nunito Sans" charset="0"/>
                      </a:endParaRPr>
                    </a:p>
                  </a:txBody>
                  <a:tcPr marL="58535" marR="58535" marT="58535" marB="58535">
                    <a:lnL w="12700" cap="flat" cmpd="sng" algn="ctr">
                      <a:solidFill>
                        <a:srgbClr val="C6C3BC"/>
                      </a:solidFill>
                      <a:prstDash val="solid"/>
                      <a:round/>
                      <a:headEnd type="none" w="med" len="med"/>
                      <a:tailEnd type="none" w="med" len="med"/>
                    </a:lnL>
                    <a:lnR w="12700" cap="flat" cmpd="sng" algn="ctr">
                      <a:solidFill>
                        <a:srgbClr val="C6C3BC"/>
                      </a:solidFill>
                      <a:prstDash val="solid"/>
                      <a:round/>
                      <a:headEnd type="none" w="med" len="med"/>
                      <a:tailEnd type="none" w="med" len="med"/>
                    </a:lnR>
                    <a:lnT w="12700" cap="flat" cmpd="sng" algn="ctr">
                      <a:solidFill>
                        <a:srgbClr val="C6C3BC"/>
                      </a:solidFill>
                      <a:prstDash val="solid"/>
                      <a:round/>
                      <a:headEnd type="none" w="med" len="med"/>
                      <a:tailEnd type="none" w="med" len="med"/>
                    </a:lnT>
                    <a:lnB w="12700" cap="flat" cmpd="sng" algn="ctr">
                      <a:solidFill>
                        <a:srgbClr val="C6C3BC"/>
                      </a:solidFill>
                      <a:prstDash val="solid"/>
                      <a:round/>
                      <a:headEnd type="none" w="med" len="med"/>
                      <a:tailEnd type="none" w="med" len="med"/>
                    </a:lnB>
                    <a:solidFill>
                      <a:srgbClr val="F8F4EC"/>
                    </a:solidFill>
                  </a:tcPr>
                </a:tc>
                <a:extLst>
                  <a:ext uri="{0D108BD9-81ED-4DB2-BD59-A6C34878D82A}">
                    <a16:rowId xmlns:a16="http://schemas.microsoft.com/office/drawing/2014/main" val="10011"/>
                  </a:ext>
                </a:extLst>
              </a:tr>
              <a:tr h="361818">
                <a:tc>
                  <a:txBody>
                    <a:bodyPr/>
                    <a:lstStyle/>
                    <a:p>
                      <a:pPr marL="0" indent="0">
                        <a:lnSpc>
                          <a:spcPts val="1844"/>
                        </a:lnSpc>
                        <a:buNone/>
                      </a:pPr>
                      <a:endParaRPr lang="en-US" sz="1317" dirty="0">
                        <a:latin typeface="Nunito Sans" charset="0"/>
                        <a:ea typeface="Nunito Sans" charset="0"/>
                        <a:cs typeface="Nunito Sans" charset="0"/>
                      </a:endParaRPr>
                    </a:p>
                  </a:txBody>
                  <a:tcPr marL="58535" marR="58535" marT="58535" marB="58535">
                    <a:lnL w="0" cap="flat" cmpd="sng" algn="ctr">
                      <a:noFill/>
                    </a:lnL>
                    <a:lnR w="12700" cap="flat" cmpd="sng" algn="ctr">
                      <a:solidFill>
                        <a:srgbClr val="C6C3BC"/>
                      </a:solidFill>
                      <a:prstDash val="solid"/>
                      <a:round/>
                      <a:headEnd type="none" w="med" len="med"/>
                      <a:tailEnd type="none" w="med" len="med"/>
                    </a:lnR>
                    <a:lnT w="12700" cap="flat" cmpd="sng" algn="ctr">
                      <a:solidFill>
                        <a:srgbClr val="C6C3BC"/>
                      </a:solidFill>
                      <a:prstDash val="solid"/>
                      <a:round/>
                      <a:headEnd type="none" w="med" len="med"/>
                      <a:tailEnd type="none" w="med" len="med"/>
                    </a:lnT>
                    <a:lnB w="12700" cap="flat" cmpd="sng" algn="ctr">
                      <a:solidFill>
                        <a:srgbClr val="C6C3BC"/>
                      </a:solidFill>
                      <a:prstDash val="solid"/>
                      <a:round/>
                      <a:headEnd type="none" w="med" len="med"/>
                      <a:tailEnd type="none" w="med" len="med"/>
                    </a:lnB>
                    <a:solidFill>
                      <a:srgbClr val="F8F4EC"/>
                    </a:solidFill>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GitHub Adv. Security</a:t>
                      </a:r>
                      <a:endParaRPr lang="en-US" sz="1317" dirty="0">
                        <a:latin typeface="Nunito Sans" charset="0"/>
                        <a:ea typeface="Nunito Sans" charset="0"/>
                        <a:cs typeface="Nunito Sans" charset="0"/>
                      </a:endParaRPr>
                    </a:p>
                  </a:txBody>
                  <a:tcPr marL="58535" marR="58535" marT="58535" marB="58535">
                    <a:lnL w="12700" cap="flat" cmpd="sng" algn="ctr">
                      <a:solidFill>
                        <a:srgbClr val="C6C3BC"/>
                      </a:solidFill>
                      <a:prstDash val="solid"/>
                      <a:round/>
                      <a:headEnd type="none" w="med" len="med"/>
                      <a:tailEnd type="none" w="med" len="med"/>
                    </a:lnL>
                    <a:lnR w="12700" cap="flat" cmpd="sng" algn="ctr">
                      <a:solidFill>
                        <a:srgbClr val="C6C3BC"/>
                      </a:solidFill>
                      <a:prstDash val="solid"/>
                      <a:round/>
                      <a:headEnd type="none" w="med" len="med"/>
                      <a:tailEnd type="none" w="med" len="med"/>
                    </a:lnR>
                    <a:lnT w="12700" cap="flat" cmpd="sng" algn="ctr">
                      <a:solidFill>
                        <a:srgbClr val="C6C3BC"/>
                      </a:solidFill>
                      <a:prstDash val="solid"/>
                      <a:round/>
                      <a:headEnd type="none" w="med" len="med"/>
                      <a:tailEnd type="none" w="med" len="med"/>
                    </a:lnT>
                    <a:lnB w="12700" cap="flat" cmpd="sng" algn="ctr">
                      <a:solidFill>
                        <a:srgbClr val="C6C3BC"/>
                      </a:solidFill>
                      <a:prstDash val="solid"/>
                      <a:round/>
                      <a:headEnd type="none" w="med" len="med"/>
                      <a:tailEnd type="none" w="med" len="med"/>
                    </a:lnB>
                    <a:solidFill>
                      <a:srgbClr val="F8F4EC"/>
                    </a:solidFill>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Easy on GitHub</a:t>
                      </a:r>
                      <a:endParaRPr lang="en-US" sz="1317" dirty="0">
                        <a:latin typeface="Nunito Sans" charset="0"/>
                        <a:ea typeface="Nunito Sans" charset="0"/>
                        <a:cs typeface="Nunito Sans" charset="0"/>
                      </a:endParaRPr>
                    </a:p>
                  </a:txBody>
                  <a:tcPr marL="58535" marR="58535" marT="58535" marB="58535">
                    <a:lnL w="12700" cap="flat" cmpd="sng" algn="ctr">
                      <a:solidFill>
                        <a:srgbClr val="C6C3BC"/>
                      </a:solidFill>
                      <a:prstDash val="solid"/>
                      <a:round/>
                      <a:headEnd type="none" w="med" len="med"/>
                      <a:tailEnd type="none" w="med" len="med"/>
                    </a:lnL>
                    <a:lnR w="12700" cap="flat" cmpd="sng" algn="ctr">
                      <a:solidFill>
                        <a:srgbClr val="C6C3BC"/>
                      </a:solidFill>
                      <a:prstDash val="solid"/>
                      <a:round/>
                      <a:headEnd type="none" w="med" len="med"/>
                      <a:tailEnd type="none" w="med" len="med"/>
                    </a:lnR>
                    <a:lnT w="12700" cap="flat" cmpd="sng" algn="ctr">
                      <a:solidFill>
                        <a:srgbClr val="C6C3BC"/>
                      </a:solidFill>
                      <a:prstDash val="solid"/>
                      <a:round/>
                      <a:headEnd type="none" w="med" len="med"/>
                      <a:tailEnd type="none" w="med" len="med"/>
                    </a:lnT>
                    <a:lnB w="12700" cap="flat" cmpd="sng" algn="ctr">
                      <a:solidFill>
                        <a:srgbClr val="C6C3BC"/>
                      </a:solidFill>
                      <a:prstDash val="solid"/>
                      <a:round/>
                      <a:headEnd type="none" w="med" len="med"/>
                      <a:tailEnd type="none" w="med" len="med"/>
                    </a:lnB>
                    <a:solidFill>
                      <a:srgbClr val="F8F4EC"/>
                    </a:solidFill>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High</a:t>
                      </a:r>
                      <a:endParaRPr lang="en-US" sz="1317" dirty="0">
                        <a:latin typeface="Nunito Sans" charset="0"/>
                        <a:ea typeface="Nunito Sans" charset="0"/>
                        <a:cs typeface="Nunito Sans" charset="0"/>
                      </a:endParaRPr>
                    </a:p>
                  </a:txBody>
                  <a:tcPr marL="58535" marR="58535" marT="58535" marB="58535">
                    <a:lnL w="12700" cap="flat" cmpd="sng" algn="ctr">
                      <a:solidFill>
                        <a:srgbClr val="C6C3BC"/>
                      </a:solidFill>
                      <a:prstDash val="solid"/>
                      <a:round/>
                      <a:headEnd type="none" w="med" len="med"/>
                      <a:tailEnd type="none" w="med" len="med"/>
                    </a:lnL>
                    <a:lnR w="12700" cap="flat" cmpd="sng" algn="ctr">
                      <a:solidFill>
                        <a:srgbClr val="C6C3BC"/>
                      </a:solidFill>
                      <a:prstDash val="solid"/>
                      <a:round/>
                      <a:headEnd type="none" w="med" len="med"/>
                      <a:tailEnd type="none" w="med" len="med"/>
                    </a:lnR>
                    <a:lnT w="12700" cap="flat" cmpd="sng" algn="ctr">
                      <a:solidFill>
                        <a:srgbClr val="C6C3BC"/>
                      </a:solidFill>
                      <a:prstDash val="solid"/>
                      <a:round/>
                      <a:headEnd type="none" w="med" len="med"/>
                      <a:tailEnd type="none" w="med" len="med"/>
                    </a:lnT>
                    <a:lnB w="12700" cap="flat" cmpd="sng" algn="ctr">
                      <a:solidFill>
                        <a:srgbClr val="C6C3BC"/>
                      </a:solidFill>
                      <a:prstDash val="solid"/>
                      <a:round/>
                      <a:headEnd type="none" w="med" len="med"/>
                      <a:tailEnd type="none" w="med" len="med"/>
                    </a:lnB>
                    <a:solidFill>
                      <a:srgbClr val="F8F4EC"/>
                    </a:solidFill>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Native GitHub</a:t>
                      </a:r>
                      <a:endParaRPr lang="en-US" sz="1317" dirty="0">
                        <a:latin typeface="Nunito Sans" charset="0"/>
                        <a:ea typeface="Nunito Sans" charset="0"/>
                        <a:cs typeface="Nunito Sans" charset="0"/>
                      </a:endParaRPr>
                    </a:p>
                  </a:txBody>
                  <a:tcPr marL="58535" marR="58535" marT="58535" marB="58535">
                    <a:lnL w="12700" cap="flat" cmpd="sng" algn="ctr">
                      <a:solidFill>
                        <a:srgbClr val="C6C3BC"/>
                      </a:solidFill>
                      <a:prstDash val="solid"/>
                      <a:round/>
                      <a:headEnd type="none" w="med" len="med"/>
                      <a:tailEnd type="none" w="med" len="med"/>
                    </a:lnL>
                    <a:lnR w="12700" cap="flat" cmpd="sng" algn="ctr">
                      <a:solidFill>
                        <a:srgbClr val="C6C3BC"/>
                      </a:solidFill>
                      <a:prstDash val="solid"/>
                      <a:round/>
                      <a:headEnd type="none" w="med" len="med"/>
                      <a:tailEnd type="none" w="med" len="med"/>
                    </a:lnR>
                    <a:lnT w="12700" cap="flat" cmpd="sng" algn="ctr">
                      <a:solidFill>
                        <a:srgbClr val="C6C3BC"/>
                      </a:solidFill>
                      <a:prstDash val="solid"/>
                      <a:round/>
                      <a:headEnd type="none" w="med" len="med"/>
                      <a:tailEnd type="none" w="med" len="med"/>
                    </a:lnT>
                    <a:lnB w="12700" cap="flat" cmpd="sng" algn="ctr">
                      <a:solidFill>
                        <a:srgbClr val="C6C3BC"/>
                      </a:solidFill>
                      <a:prstDash val="solid"/>
                      <a:round/>
                      <a:headEnd type="none" w="med" len="med"/>
                      <a:tailEnd type="none" w="med" len="med"/>
                    </a:lnB>
                    <a:solidFill>
                      <a:srgbClr val="F8F4EC"/>
                    </a:solidFill>
                  </a:tcPr>
                </a:tc>
                <a:tc>
                  <a:txBody>
                    <a:bodyPr/>
                    <a:lstStyle/>
                    <a:p>
                      <a:pPr marL="0" indent="0">
                        <a:lnSpc>
                          <a:spcPts val="1844"/>
                        </a:lnSpc>
                        <a:buNone/>
                      </a:pPr>
                      <a:r>
                        <a:rPr lang="en-US" sz="1317" dirty="0">
                          <a:solidFill>
                            <a:srgbClr val="2E3B40"/>
                          </a:solidFill>
                          <a:latin typeface="Nunito Sans" pitchFamily="34" charset="0"/>
                          <a:ea typeface="Nunito Sans" pitchFamily="34" charset="-122"/>
                          <a:cs typeface="Nunito Sans" pitchFamily="34" charset="-120"/>
                        </a:rPr>
                        <a:t>$$ · per committer</a:t>
                      </a:r>
                      <a:endParaRPr lang="en-US" sz="1317" dirty="0">
                        <a:latin typeface="Nunito Sans" charset="0"/>
                        <a:ea typeface="Nunito Sans" charset="0"/>
                        <a:cs typeface="Nunito Sans" charset="0"/>
                      </a:endParaRPr>
                    </a:p>
                  </a:txBody>
                  <a:tcPr marL="58535" marR="58535" marT="58535" marB="58535">
                    <a:lnL w="12700" cap="flat" cmpd="sng" algn="ctr">
                      <a:solidFill>
                        <a:srgbClr val="C6C3BC"/>
                      </a:solidFill>
                      <a:prstDash val="solid"/>
                      <a:round/>
                      <a:headEnd type="none" w="med" len="med"/>
                      <a:tailEnd type="none" w="med" len="med"/>
                    </a:lnL>
                    <a:lnR w="12700" cap="flat" cmpd="sng" algn="ctr">
                      <a:solidFill>
                        <a:srgbClr val="C6C3BC"/>
                      </a:solidFill>
                      <a:prstDash val="solid"/>
                      <a:round/>
                      <a:headEnd type="none" w="med" len="med"/>
                      <a:tailEnd type="none" w="med" len="med"/>
                    </a:lnR>
                    <a:lnT w="12700" cap="flat" cmpd="sng" algn="ctr">
                      <a:solidFill>
                        <a:srgbClr val="C6C3BC"/>
                      </a:solidFill>
                      <a:prstDash val="solid"/>
                      <a:round/>
                      <a:headEnd type="none" w="med" len="med"/>
                      <a:tailEnd type="none" w="med" len="med"/>
                    </a:lnT>
                    <a:lnB w="12700" cap="flat" cmpd="sng" algn="ctr">
                      <a:solidFill>
                        <a:srgbClr val="C6C3BC"/>
                      </a:solidFill>
                      <a:prstDash val="solid"/>
                      <a:round/>
                      <a:headEnd type="none" w="med" len="med"/>
                      <a:tailEnd type="none" w="med" len="med"/>
                    </a:lnB>
                    <a:solidFill>
                      <a:srgbClr val="F8F4EC"/>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C"/>
        </a:solidFill>
        <a:effectLst/>
      </p:bgPr>
    </p:bg>
    <p:spTree>
      <p:nvGrpSpPr>
        <p:cNvPr id="1" name=""/>
        <p:cNvGrpSpPr/>
        <p:nvPr/>
      </p:nvGrpSpPr>
      <p:grpSpPr>
        <a:xfrm>
          <a:off x="0" y="0"/>
          <a:ext cx="0" cy="0"/>
          <a:chOff x="0" y="0"/>
          <a:chExt cx="0" cy="0"/>
        </a:xfrm>
      </p:grpSpPr>
      <p:sp>
        <p:nvSpPr>
          <p:cNvPr id="2" name="Text 0"/>
          <p:cNvSpPr/>
          <p:nvPr/>
        </p:nvSpPr>
        <p:spPr>
          <a:xfrm>
            <a:off x="812767" y="508000"/>
            <a:ext cx="10883461" cy="274329"/>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4F7A64"/>
                </a:solidFill>
                <a:latin typeface="Nunito Sans" pitchFamily="34" charset="0"/>
                <a:ea typeface="Nunito Sans" pitchFamily="34" charset="-122"/>
                <a:cs typeface="Nunito Sans" pitchFamily="34" charset="-120"/>
              </a:rPr>
              <a:t>FOR THE PREVIOUS SLIDE</a:t>
            </a:r>
            <a:endParaRPr lang="en-US" sz="1400" dirty="0"/>
          </a:p>
        </p:txBody>
      </p:sp>
      <p:sp>
        <p:nvSpPr>
          <p:cNvPr id="3" name="Text 1"/>
          <p:cNvSpPr>
            <a:spLocks noGrp="1"/>
          </p:cNvSpPr>
          <p:nvPr>
            <p:ph type="title"/>
          </p:nvPr>
        </p:nvSpPr>
        <p:spPr>
          <a:xfrm>
            <a:off x="812767" y="807693"/>
            <a:ext cx="10883461" cy="430543"/>
          </a:xfrm>
          <a:prstGeom prst="rect">
            <a:avLst/>
          </a:prstGeom>
          <a:noFill/>
          <a:ln/>
        </p:spPr>
        <p:txBody>
          <a:bodyPr wrap="square" lIns="0" tIns="0" rIns="0" bIns="0" rtlCol="0" anchor="t">
            <a:normAutofit/>
          </a:bodyPr>
          <a:lstStyle/>
          <a:p>
            <a:pPr marL="0" indent="0" algn="l">
              <a:lnSpc>
                <a:spcPts val="3190"/>
              </a:lnSpc>
              <a:buNone/>
            </a:pPr>
            <a:r>
              <a:rPr lang="en-US" sz="2900" b="0" i="0" dirty="0">
                <a:solidFill>
                  <a:srgbClr val="2E3B40"/>
                </a:solidFill>
                <a:latin typeface="Lora" pitchFamily="18" charset="0"/>
                <a:ea typeface="Lora" pitchFamily="18" charset="-122"/>
                <a:cs typeface="Lora" pitchFamily="18" charset="-120"/>
              </a:rPr>
              <a:t>References and acronyms</a:t>
            </a:r>
            <a:endParaRPr lang="en-US" sz="2900" dirty="0"/>
          </a:p>
        </p:txBody>
      </p:sp>
      <p:sp>
        <p:nvSpPr>
          <p:cNvPr id="4" name="Shape 2"/>
          <p:cNvSpPr/>
          <p:nvPr/>
        </p:nvSpPr>
        <p:spPr>
          <a:xfrm>
            <a:off x="812767" y="1416016"/>
            <a:ext cx="6374530" cy="4883216"/>
          </a:xfrm>
          <a:prstGeom prst="roundRect">
            <a:avLst>
              <a:gd name="adj" fmla="val 3121"/>
            </a:avLst>
          </a:prstGeom>
          <a:solidFill>
            <a:srgbClr val="FBFAF7"/>
          </a:solidFill>
          <a:ln/>
        </p:spPr>
        <p:txBody>
          <a:bodyPr/>
          <a:lstStyle/>
          <a:p>
            <a:endParaRPr lang="en-US"/>
          </a:p>
        </p:txBody>
      </p:sp>
      <p:sp>
        <p:nvSpPr>
          <p:cNvPr id="5" name="Text 3"/>
          <p:cNvSpPr/>
          <p:nvPr/>
        </p:nvSpPr>
        <p:spPr>
          <a:xfrm>
            <a:off x="1041356" y="1619194"/>
            <a:ext cx="6094872" cy="256525"/>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4F7A64"/>
                </a:solidFill>
                <a:latin typeface="Nunito Sans" pitchFamily="34" charset="0"/>
                <a:ea typeface="Nunito Sans" pitchFamily="34" charset="-122"/>
                <a:cs typeface="Nunito Sans" pitchFamily="34" charset="-120"/>
              </a:rPr>
              <a:t>REFERENCES</a:t>
            </a:r>
            <a:endParaRPr lang="en-US" sz="1300" dirty="0"/>
          </a:p>
        </p:txBody>
      </p:sp>
      <p:sp>
        <p:nvSpPr>
          <p:cNvPr id="6" name="Text 4"/>
          <p:cNvSpPr/>
          <p:nvPr/>
        </p:nvSpPr>
        <p:spPr>
          <a:xfrm>
            <a:off x="1041356" y="1926496"/>
            <a:ext cx="6094872" cy="248256"/>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3F4D52"/>
                </a:solidFill>
                <a:latin typeface="Nunito Sans" pitchFamily="34" charset="0"/>
                <a:ea typeface="Nunito Sans" pitchFamily="34" charset="-122"/>
                <a:cs typeface="Nunito Sans" pitchFamily="34" charset="-120"/>
              </a:rPr>
              <a:t>[1]</a:t>
            </a:r>
            <a:r>
              <a:rPr lang="en-US" sz="1300" dirty="0">
                <a:solidFill>
                  <a:srgbClr val="3F4D52"/>
                </a:solidFill>
                <a:latin typeface="Nunito Sans" pitchFamily="34" charset="0"/>
                <a:ea typeface="Nunito Sans" pitchFamily="34" charset="-122"/>
                <a:cs typeface="Nunito Sans" pitchFamily="34" charset="-120"/>
              </a:rPr>
              <a:t> Microsoft Learn, </a:t>
            </a:r>
            <a:r>
              <a:rPr lang="en-US" sz="1300" u="sng" dirty="0">
                <a:solidFill>
                  <a:srgbClr val="3F4D52"/>
                </a:solidFill>
                <a:latin typeface="Nunito Sans" pitchFamily="34" charset="0"/>
                <a:ea typeface="Nunito Sans" pitchFamily="34" charset="-122"/>
                <a:cs typeface="Nunito Sans" pitchFamily="34" charset="-120"/>
                <a:hlinkClick r:id="rId3">
                  <a:extLst>
                    <a:ext uri="{A12FA001-AC4F-418D-AE19-62706E023703}">
                      <ahyp:hlinkClr xmlns:ahyp="http://schemas.microsoft.com/office/drawing/2018/hyperlinkcolor" val="tx"/>
                    </a:ext>
                  </a:extLst>
                </a:hlinkClick>
              </a:rPr>
              <a:t>Microsoft 365 Copilot oversharing blueprint</a:t>
            </a:r>
            <a:endParaRPr lang="en-US" sz="1300" dirty="0"/>
          </a:p>
        </p:txBody>
      </p:sp>
      <p:sp>
        <p:nvSpPr>
          <p:cNvPr id="7" name="Text 5"/>
          <p:cNvSpPr/>
          <p:nvPr/>
        </p:nvSpPr>
        <p:spPr>
          <a:xfrm>
            <a:off x="1041356" y="2225529"/>
            <a:ext cx="6094872" cy="471113"/>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3F4D52"/>
                </a:solidFill>
                <a:latin typeface="Nunito Sans" pitchFamily="34" charset="0"/>
                <a:ea typeface="Nunito Sans" pitchFamily="34" charset="-122"/>
                <a:cs typeface="Nunito Sans" pitchFamily="34" charset="-120"/>
              </a:rPr>
              <a:t>[2]</a:t>
            </a:r>
            <a:r>
              <a:rPr lang="en-US" sz="1300" dirty="0">
                <a:solidFill>
                  <a:srgbClr val="3F4D52"/>
                </a:solidFill>
                <a:latin typeface="Nunito Sans" pitchFamily="34" charset="0"/>
                <a:ea typeface="Nunito Sans" pitchFamily="34" charset="-122"/>
                <a:cs typeface="Nunito Sans" pitchFamily="34" charset="-120"/>
              </a:rPr>
              <a:t> OWASP, </a:t>
            </a:r>
            <a:r>
              <a:rPr lang="en-US" sz="1300" u="sng" dirty="0">
                <a:solidFill>
                  <a:srgbClr val="3F4D52"/>
                </a:solidFill>
                <a:latin typeface="Nunito Sans" pitchFamily="34" charset="0"/>
                <a:ea typeface="Nunito Sans" pitchFamily="34" charset="-122"/>
                <a:cs typeface="Nunito Sans" pitchFamily="34" charset="-120"/>
                <a:hlinkClick r:id="rId4">
                  <a:extLst>
                    <a:ext uri="{A12FA001-AC4F-418D-AE19-62706E023703}">
                      <ahyp:hlinkClr xmlns:ahyp="http://schemas.microsoft.com/office/drawing/2018/hyperlinkcolor" val="tx"/>
                    </a:ext>
                  </a:extLst>
                </a:hlinkClick>
              </a:rPr>
              <a:t>Top 10 for LLM Applications 2025</a:t>
            </a:r>
            <a:r>
              <a:rPr lang="en-US" sz="1300" dirty="0">
                <a:solidFill>
                  <a:srgbClr val="3F4D52"/>
                </a:solidFill>
                <a:latin typeface="Nunito Sans" pitchFamily="34" charset="0"/>
                <a:ea typeface="Nunito Sans" pitchFamily="34" charset="-122"/>
                <a:cs typeface="Nunito Sans" pitchFamily="34" charset="-120"/>
              </a:rPr>
              <a:t>: LLM01 Prompt Injection, LLM06 Excessive Agency</a:t>
            </a:r>
            <a:endParaRPr lang="en-US" sz="1300" dirty="0"/>
          </a:p>
        </p:txBody>
      </p:sp>
      <p:sp>
        <p:nvSpPr>
          <p:cNvPr id="8" name="Text 6"/>
          <p:cNvSpPr/>
          <p:nvPr/>
        </p:nvSpPr>
        <p:spPr>
          <a:xfrm>
            <a:off x="1041356" y="2747420"/>
            <a:ext cx="6094872" cy="471113"/>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3F4D52"/>
                </a:solidFill>
                <a:latin typeface="Nunito Sans" pitchFamily="34" charset="0"/>
                <a:ea typeface="Nunito Sans" pitchFamily="34" charset="-122"/>
                <a:cs typeface="Nunito Sans" pitchFamily="34" charset="-120"/>
              </a:rPr>
              <a:t>[3]</a:t>
            </a:r>
            <a:r>
              <a:rPr lang="en-US" sz="1300" dirty="0">
                <a:solidFill>
                  <a:srgbClr val="3F4D52"/>
                </a:solidFill>
                <a:latin typeface="Nunito Sans" pitchFamily="34" charset="0"/>
                <a:ea typeface="Nunito Sans" pitchFamily="34" charset="-122"/>
                <a:cs typeface="Nunito Sans" pitchFamily="34" charset="-120"/>
              </a:rPr>
              <a:t> Torii, </a:t>
            </a:r>
            <a:r>
              <a:rPr lang="en-US" sz="1300" u="sng" dirty="0">
                <a:solidFill>
                  <a:srgbClr val="3F4D52"/>
                </a:solidFill>
                <a:latin typeface="Nunito Sans" pitchFamily="34" charset="0"/>
                <a:ea typeface="Nunito Sans" pitchFamily="34" charset="-122"/>
                <a:cs typeface="Nunito Sans" pitchFamily="34" charset="-120"/>
                <a:hlinkClick r:id="rId5">
                  <a:extLst>
                    <a:ext uri="{A12FA001-AC4F-418D-AE19-62706E023703}">
                      <ahyp:hlinkClr xmlns:ahyp="http://schemas.microsoft.com/office/drawing/2018/hyperlinkcolor" val="tx"/>
                    </a:ext>
                  </a:extLst>
                </a:hlinkClick>
              </a:rPr>
              <a:t>5 Shadow AI Discovery Tools for 2026</a:t>
            </a:r>
            <a:r>
              <a:rPr lang="en-US" sz="1300" dirty="0">
                <a:solidFill>
                  <a:srgbClr val="3F4D52"/>
                </a:solidFill>
                <a:latin typeface="Nunito Sans" pitchFamily="34" charset="0"/>
                <a:ea typeface="Nunito Sans" pitchFamily="34" charset="-122"/>
                <a:cs typeface="Nunito Sans" pitchFamily="34" charset="-120"/>
              </a:rPr>
              <a:t>, citing Grip Security's 2026 SaaS and AI Security Report</a:t>
            </a:r>
            <a:endParaRPr lang="en-US" sz="1300" dirty="0"/>
          </a:p>
        </p:txBody>
      </p:sp>
      <p:sp>
        <p:nvSpPr>
          <p:cNvPr id="9" name="Text 7"/>
          <p:cNvSpPr/>
          <p:nvPr/>
        </p:nvSpPr>
        <p:spPr>
          <a:xfrm>
            <a:off x="1041356" y="3269311"/>
            <a:ext cx="6094872" cy="471113"/>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3F4D52"/>
                </a:solidFill>
                <a:latin typeface="Nunito Sans" pitchFamily="34" charset="0"/>
                <a:ea typeface="Nunito Sans" pitchFamily="34" charset="-122"/>
                <a:cs typeface="Nunito Sans" pitchFamily="34" charset="-120"/>
              </a:rPr>
              <a:t>[4]</a:t>
            </a:r>
            <a:r>
              <a:rPr lang="en-US" sz="1300" dirty="0">
                <a:solidFill>
                  <a:srgbClr val="3F4D52"/>
                </a:solidFill>
                <a:latin typeface="Nunito Sans" pitchFamily="34" charset="0"/>
                <a:ea typeface="Nunito Sans" pitchFamily="34" charset="-122"/>
                <a:cs typeface="Nunito Sans" pitchFamily="34" charset="-120"/>
              </a:rPr>
              <a:t> JFrog, </a:t>
            </a:r>
            <a:r>
              <a:rPr lang="en-US" sz="1300" u="sng" dirty="0">
                <a:solidFill>
                  <a:srgbClr val="3F4D52"/>
                </a:solidFill>
                <a:latin typeface="Nunito Sans" pitchFamily="34" charset="0"/>
                <a:ea typeface="Nunito Sans" pitchFamily="34" charset="-122"/>
                <a:cs typeface="Nunito Sans" pitchFamily="34" charset="-120"/>
                <a:hlinkClick r:id="rId6">
                  <a:extLst>
                    <a:ext uri="{A12FA001-AC4F-418D-AE19-62706E023703}">
                      <ahyp:hlinkClr xmlns:ahyp="http://schemas.microsoft.com/office/drawing/2018/hyperlinkcolor" val="tx"/>
                    </a:ext>
                  </a:extLst>
                </a:hlinkClick>
              </a:rPr>
              <a:t>Secure AI Workflows</a:t>
            </a:r>
            <a:r>
              <a:rPr lang="en-US" sz="1300" dirty="0">
                <a:solidFill>
                  <a:srgbClr val="3F4D52"/>
                </a:solidFill>
                <a:latin typeface="Nunito Sans" pitchFamily="34" charset="0"/>
                <a:ea typeface="Nunito Sans" pitchFamily="34" charset="-122"/>
                <a:cs typeface="Nunito Sans" pitchFamily="34" charset="-120"/>
              </a:rPr>
              <a:t>: unvetted MCP servers can reach local files and credentials</a:t>
            </a:r>
            <a:endParaRPr lang="en-US" sz="1300" dirty="0"/>
          </a:p>
        </p:txBody>
      </p:sp>
      <p:sp>
        <p:nvSpPr>
          <p:cNvPr id="10" name="Text 8"/>
          <p:cNvSpPr/>
          <p:nvPr/>
        </p:nvSpPr>
        <p:spPr>
          <a:xfrm>
            <a:off x="1041356" y="3791201"/>
            <a:ext cx="6094872" cy="248256"/>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3F4D52"/>
                </a:solidFill>
                <a:latin typeface="Nunito Sans" pitchFamily="34" charset="0"/>
                <a:ea typeface="Nunito Sans" pitchFamily="34" charset="-122"/>
                <a:cs typeface="Nunito Sans" pitchFamily="34" charset="-120"/>
              </a:rPr>
              <a:t>[5]</a:t>
            </a:r>
            <a:r>
              <a:rPr lang="en-US" sz="1300" dirty="0">
                <a:solidFill>
                  <a:srgbClr val="3F4D52"/>
                </a:solidFill>
                <a:latin typeface="Nunito Sans" pitchFamily="34" charset="0"/>
                <a:ea typeface="Nunito Sans" pitchFamily="34" charset="-122"/>
                <a:cs typeface="Nunito Sans" pitchFamily="34" charset="-120"/>
              </a:rPr>
              <a:t> BigID, </a:t>
            </a:r>
            <a:r>
              <a:rPr lang="en-US" sz="1300" u="sng" dirty="0">
                <a:solidFill>
                  <a:srgbClr val="3F4D52"/>
                </a:solidFill>
                <a:latin typeface="Nunito Sans" pitchFamily="34" charset="0"/>
                <a:ea typeface="Nunito Sans" pitchFamily="34" charset="-122"/>
                <a:cs typeface="Nunito Sans" pitchFamily="34" charset="-120"/>
                <a:hlinkClick r:id="rId7">
                  <a:extLst>
                    <a:ext uri="{A12FA001-AC4F-418D-AE19-62706E023703}">
                      <ahyp:hlinkClr xmlns:ahyp="http://schemas.microsoft.com/office/drawing/2018/hyperlinkcolor" val="tx"/>
                    </a:ext>
                  </a:extLst>
                </a:hlinkClick>
              </a:rPr>
              <a:t>Vendor AI Risk Assessment</a:t>
            </a:r>
            <a:endParaRPr lang="en-US" sz="1300" dirty="0"/>
          </a:p>
        </p:txBody>
      </p:sp>
      <p:sp>
        <p:nvSpPr>
          <p:cNvPr id="11" name="Text 9"/>
          <p:cNvSpPr/>
          <p:nvPr/>
        </p:nvSpPr>
        <p:spPr>
          <a:xfrm>
            <a:off x="1041356" y="4090237"/>
            <a:ext cx="6094872" cy="471113"/>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3F4D52"/>
                </a:solidFill>
                <a:latin typeface="Nunito Sans" pitchFamily="34" charset="0"/>
                <a:ea typeface="Nunito Sans" pitchFamily="34" charset="-122"/>
                <a:cs typeface="Nunito Sans" pitchFamily="34" charset="-120"/>
              </a:rPr>
              <a:t>[6]</a:t>
            </a:r>
            <a:r>
              <a:rPr lang="en-US" sz="1300" dirty="0">
                <a:solidFill>
                  <a:srgbClr val="3F4D52"/>
                </a:solidFill>
                <a:latin typeface="Nunito Sans" pitchFamily="34" charset="0"/>
                <a:ea typeface="Nunito Sans" pitchFamily="34" charset="-122"/>
                <a:cs typeface="Nunito Sans" pitchFamily="34" charset="-120"/>
              </a:rPr>
              <a:t> NIST, </a:t>
            </a:r>
            <a:r>
              <a:rPr lang="en-US" sz="1300" u="sng" dirty="0">
                <a:solidFill>
                  <a:srgbClr val="3F4D52"/>
                </a:solidFill>
                <a:latin typeface="Nunito Sans" pitchFamily="34" charset="0"/>
                <a:ea typeface="Nunito Sans" pitchFamily="34" charset="-122"/>
                <a:cs typeface="Nunito Sans" pitchFamily="34" charset="-120"/>
                <a:hlinkClick r:id="rId8">
                  <a:extLst>
                    <a:ext uri="{A12FA001-AC4F-418D-AE19-62706E023703}">
                      <ahyp:hlinkClr xmlns:ahyp="http://schemas.microsoft.com/office/drawing/2018/hyperlinkcolor" val="tx"/>
                    </a:ext>
                  </a:extLst>
                </a:hlinkClick>
              </a:rPr>
              <a:t>AI Risk Management Framework 1.0</a:t>
            </a:r>
            <a:r>
              <a:rPr lang="en-US" sz="1300" dirty="0">
                <a:solidFill>
                  <a:srgbClr val="3F4D52"/>
                </a:solidFill>
                <a:latin typeface="Nunito Sans" pitchFamily="34" charset="0"/>
                <a:ea typeface="Nunito Sans" pitchFamily="34" charset="-122"/>
                <a:cs typeface="Nunito Sans" pitchFamily="34" charset="-120"/>
              </a:rPr>
              <a:t>: GOVERN 6 and MAP 4 on third-party risk</a:t>
            </a:r>
            <a:endParaRPr lang="en-US" sz="1300" dirty="0"/>
          </a:p>
        </p:txBody>
      </p:sp>
      <p:sp>
        <p:nvSpPr>
          <p:cNvPr id="12" name="Text 10"/>
          <p:cNvSpPr/>
          <p:nvPr/>
        </p:nvSpPr>
        <p:spPr>
          <a:xfrm>
            <a:off x="1041356" y="4612128"/>
            <a:ext cx="6094872" cy="471113"/>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3F4D52"/>
                </a:solidFill>
                <a:latin typeface="Nunito Sans" pitchFamily="34" charset="0"/>
                <a:ea typeface="Nunito Sans" pitchFamily="34" charset="-122"/>
                <a:cs typeface="Nunito Sans" pitchFamily="34" charset="-120"/>
              </a:rPr>
              <a:t>[7]</a:t>
            </a:r>
            <a:r>
              <a:rPr lang="en-US" sz="1300" dirty="0">
                <a:solidFill>
                  <a:srgbClr val="3F4D52"/>
                </a:solidFill>
                <a:latin typeface="Nunito Sans" pitchFamily="34" charset="0"/>
                <a:ea typeface="Nunito Sans" pitchFamily="34" charset="-122"/>
                <a:cs typeface="Nunito Sans" pitchFamily="34" charset="-120"/>
              </a:rPr>
              <a:t> Opsera 2026 AI Coding Impact Benchmark, via </a:t>
            </a:r>
            <a:r>
              <a:rPr lang="en-US" sz="1300" u="sng" dirty="0">
                <a:solidFill>
                  <a:srgbClr val="3F4D52"/>
                </a:solidFill>
                <a:latin typeface="Nunito Sans" pitchFamily="34" charset="0"/>
                <a:ea typeface="Nunito Sans" pitchFamily="34" charset="-122"/>
                <a:cs typeface="Nunito Sans" pitchFamily="34" charset="-120"/>
                <a:hlinkClick r:id="rId9">
                  <a:extLst>
                    <a:ext uri="{A12FA001-AC4F-418D-AE19-62706E023703}">
                      <ahyp:hlinkClr xmlns:ahyp="http://schemas.microsoft.com/office/drawing/2018/hyperlinkcolor" val="tx"/>
                    </a:ext>
                  </a:extLst>
                </a:hlinkClick>
              </a:rPr>
              <a:t>Codex CLI and Snyk MCP Server</a:t>
            </a:r>
            <a:endParaRPr lang="en-US" sz="1300" dirty="0"/>
          </a:p>
        </p:txBody>
      </p:sp>
      <p:sp>
        <p:nvSpPr>
          <p:cNvPr id="13" name="Text 11"/>
          <p:cNvSpPr/>
          <p:nvPr/>
        </p:nvSpPr>
        <p:spPr>
          <a:xfrm>
            <a:off x="1041356" y="5134018"/>
            <a:ext cx="6094872" cy="248256"/>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3F4D52"/>
                </a:solidFill>
                <a:latin typeface="Nunito Sans" pitchFamily="34" charset="0"/>
                <a:ea typeface="Nunito Sans" pitchFamily="34" charset="-122"/>
                <a:cs typeface="Nunito Sans" pitchFamily="34" charset="-120"/>
              </a:rPr>
              <a:t>[8]</a:t>
            </a:r>
            <a:r>
              <a:rPr lang="en-US" sz="1300" dirty="0">
                <a:solidFill>
                  <a:srgbClr val="3F4D52"/>
                </a:solidFill>
                <a:latin typeface="Nunito Sans" pitchFamily="34" charset="0"/>
                <a:ea typeface="Nunito Sans" pitchFamily="34" charset="-122"/>
                <a:cs typeface="Nunito Sans" pitchFamily="34" charset="-120"/>
              </a:rPr>
              <a:t> Cloud Security Alliance, </a:t>
            </a:r>
            <a:r>
              <a:rPr lang="en-US" sz="1300" u="sng" dirty="0">
                <a:solidFill>
                  <a:srgbClr val="3F4D52"/>
                </a:solidFill>
                <a:latin typeface="Nunito Sans" pitchFamily="34" charset="0"/>
                <a:ea typeface="Nunito Sans" pitchFamily="34" charset="-122"/>
                <a:cs typeface="Nunito Sans" pitchFamily="34" charset="-120"/>
                <a:hlinkClick r:id="rId10">
                  <a:extLst>
                    <a:ext uri="{A12FA001-AC4F-418D-AE19-62706E023703}">
                      <ahyp:hlinkClr xmlns:ahyp="http://schemas.microsoft.com/office/drawing/2018/hyperlinkcolor" val="tx"/>
                    </a:ext>
                  </a:extLst>
                </a:hlinkClick>
              </a:rPr>
              <a:t>Slopsquatting research note</a:t>
            </a:r>
            <a:endParaRPr lang="en-US" sz="1300" dirty="0"/>
          </a:p>
        </p:txBody>
      </p:sp>
      <p:sp>
        <p:nvSpPr>
          <p:cNvPr id="14" name="Text 12"/>
          <p:cNvSpPr/>
          <p:nvPr/>
        </p:nvSpPr>
        <p:spPr>
          <a:xfrm>
            <a:off x="1041356" y="5433051"/>
            <a:ext cx="6094872" cy="248256"/>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3F4D52"/>
                </a:solidFill>
                <a:latin typeface="Nunito Sans" pitchFamily="34" charset="0"/>
                <a:ea typeface="Nunito Sans" pitchFamily="34" charset="-122"/>
                <a:cs typeface="Nunito Sans" pitchFamily="34" charset="-120"/>
              </a:rPr>
              <a:t>[9]</a:t>
            </a:r>
            <a:r>
              <a:rPr lang="en-US" sz="1300" dirty="0">
                <a:solidFill>
                  <a:srgbClr val="3F4D52"/>
                </a:solidFill>
                <a:latin typeface="Nunito Sans" pitchFamily="34" charset="0"/>
                <a:ea typeface="Nunito Sans" pitchFamily="34" charset="-122"/>
                <a:cs typeface="Nunito Sans" pitchFamily="34" charset="-120"/>
              </a:rPr>
              <a:t> Cloud Security Alliance, </a:t>
            </a:r>
            <a:r>
              <a:rPr lang="en-US" sz="1300" u="sng" dirty="0">
                <a:solidFill>
                  <a:srgbClr val="3F4D52"/>
                </a:solidFill>
                <a:latin typeface="Nunito Sans" pitchFamily="34" charset="0"/>
                <a:ea typeface="Nunito Sans" pitchFamily="34" charset="-122"/>
                <a:cs typeface="Nunito Sans" pitchFamily="34" charset="-120"/>
                <a:hlinkClick r:id="rId11">
                  <a:extLst>
                    <a:ext uri="{A12FA001-AC4F-418D-AE19-62706E023703}">
                      <ahyp:hlinkClr xmlns:ahyp="http://schemas.microsoft.com/office/drawing/2018/hyperlinkcolor" val="tx"/>
                    </a:ext>
                  </a:extLst>
                </a:hlinkClick>
              </a:rPr>
              <a:t>MCP Tool Poisoning research note</a:t>
            </a:r>
            <a:endParaRPr lang="en-US" sz="1300" dirty="0"/>
          </a:p>
        </p:txBody>
      </p:sp>
      <p:sp>
        <p:nvSpPr>
          <p:cNvPr id="15" name="Shape 13"/>
          <p:cNvSpPr/>
          <p:nvPr/>
        </p:nvSpPr>
        <p:spPr>
          <a:xfrm>
            <a:off x="7441296" y="1416016"/>
            <a:ext cx="3937937" cy="4883216"/>
          </a:xfrm>
          <a:prstGeom prst="roundRect">
            <a:avLst>
              <a:gd name="adj" fmla="val 3870"/>
            </a:avLst>
          </a:prstGeom>
          <a:solidFill>
            <a:srgbClr val="EAF0EC"/>
          </a:solidFill>
          <a:ln/>
        </p:spPr>
        <p:txBody>
          <a:bodyPr/>
          <a:lstStyle/>
          <a:p>
            <a:endParaRPr lang="en-US"/>
          </a:p>
        </p:txBody>
      </p:sp>
      <p:sp>
        <p:nvSpPr>
          <p:cNvPr id="16" name="Text 14"/>
          <p:cNvSpPr/>
          <p:nvPr/>
        </p:nvSpPr>
        <p:spPr>
          <a:xfrm>
            <a:off x="7669885" y="1619194"/>
            <a:ext cx="3585182" cy="256525"/>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4F7A64"/>
                </a:solidFill>
                <a:latin typeface="Nunito Sans" pitchFamily="34" charset="0"/>
                <a:ea typeface="Nunito Sans" pitchFamily="34" charset="-122"/>
                <a:cs typeface="Nunito Sans" pitchFamily="34" charset="-120"/>
              </a:rPr>
              <a:t>ACRONYMS</a:t>
            </a:r>
            <a:endParaRPr lang="en-US" sz="1300" dirty="0"/>
          </a:p>
        </p:txBody>
      </p:sp>
      <p:sp>
        <p:nvSpPr>
          <p:cNvPr id="17" name="Text 15"/>
          <p:cNvSpPr/>
          <p:nvPr/>
        </p:nvSpPr>
        <p:spPr>
          <a:xfrm>
            <a:off x="7669885" y="1939175"/>
            <a:ext cx="3585182" cy="265454"/>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3F4D52"/>
                </a:solidFill>
                <a:latin typeface="Nunito Sans" pitchFamily="34" charset="0"/>
                <a:ea typeface="Nunito Sans" pitchFamily="34" charset="-122"/>
                <a:cs typeface="Nunito Sans" pitchFamily="34" charset="-120"/>
              </a:rPr>
              <a:t>AI</a:t>
            </a:r>
            <a:r>
              <a:rPr lang="en-US" sz="1400" dirty="0">
                <a:solidFill>
                  <a:srgbClr val="3F4D52"/>
                </a:solidFill>
                <a:latin typeface="Nunito Sans" pitchFamily="34" charset="0"/>
                <a:ea typeface="Nunito Sans" pitchFamily="34" charset="-122"/>
                <a:cs typeface="Nunito Sans" pitchFamily="34" charset="-120"/>
              </a:rPr>
              <a:t> · artificial intelligence</a:t>
            </a:r>
            <a:endParaRPr lang="en-US" sz="1400" dirty="0"/>
          </a:p>
        </p:txBody>
      </p:sp>
      <p:sp>
        <p:nvSpPr>
          <p:cNvPr id="18" name="Text 16"/>
          <p:cNvSpPr/>
          <p:nvPr/>
        </p:nvSpPr>
        <p:spPr>
          <a:xfrm>
            <a:off x="7669885" y="2268085"/>
            <a:ext cx="3709348" cy="265454"/>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3F4D52"/>
                </a:solidFill>
                <a:latin typeface="Nunito Sans" pitchFamily="34" charset="0"/>
                <a:ea typeface="Nunito Sans" pitchFamily="34" charset="-122"/>
                <a:cs typeface="Nunito Sans" pitchFamily="34" charset="-120"/>
              </a:rPr>
              <a:t>IDE</a:t>
            </a:r>
            <a:r>
              <a:rPr lang="en-US" sz="1400" dirty="0">
                <a:solidFill>
                  <a:srgbClr val="3F4D52"/>
                </a:solidFill>
                <a:latin typeface="Nunito Sans" pitchFamily="34" charset="0"/>
                <a:ea typeface="Nunito Sans" pitchFamily="34" charset="-122"/>
                <a:cs typeface="Nunito Sans" pitchFamily="34" charset="-120"/>
              </a:rPr>
              <a:t> · integrated development environment</a:t>
            </a:r>
            <a:endParaRPr lang="en-US" sz="1400" dirty="0"/>
          </a:p>
        </p:txBody>
      </p:sp>
      <p:sp>
        <p:nvSpPr>
          <p:cNvPr id="19" name="Text 17"/>
          <p:cNvSpPr/>
          <p:nvPr/>
        </p:nvSpPr>
        <p:spPr>
          <a:xfrm>
            <a:off x="7669885" y="2596995"/>
            <a:ext cx="3585182" cy="505509"/>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3F4D52"/>
                </a:solidFill>
                <a:latin typeface="Nunito Sans" pitchFamily="34" charset="0"/>
                <a:ea typeface="Nunito Sans" pitchFamily="34" charset="-122"/>
                <a:cs typeface="Nunito Sans" pitchFamily="34" charset="-120"/>
              </a:rPr>
              <a:t>MCP</a:t>
            </a:r>
            <a:r>
              <a:rPr lang="en-US" sz="1400" dirty="0">
                <a:solidFill>
                  <a:srgbClr val="3F4D52"/>
                </a:solidFill>
                <a:latin typeface="Nunito Sans" pitchFamily="34" charset="0"/>
                <a:ea typeface="Nunito Sans" pitchFamily="34" charset="-122"/>
                <a:cs typeface="Nunito Sans" pitchFamily="34" charset="-120"/>
              </a:rPr>
              <a:t> · Model Context Protocol, the standard that connects AI agents to tools</a:t>
            </a:r>
            <a:endParaRPr lang="en-US" sz="1400" dirty="0"/>
          </a:p>
        </p:txBody>
      </p:sp>
      <p:sp>
        <p:nvSpPr>
          <p:cNvPr id="20" name="Text 18"/>
          <p:cNvSpPr/>
          <p:nvPr/>
        </p:nvSpPr>
        <p:spPr>
          <a:xfrm>
            <a:off x="7669885" y="3165959"/>
            <a:ext cx="3585182" cy="265454"/>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3F4D52"/>
                </a:solidFill>
                <a:latin typeface="Nunito Sans" pitchFamily="34" charset="0"/>
                <a:ea typeface="Nunito Sans" pitchFamily="34" charset="-122"/>
                <a:cs typeface="Nunito Sans" pitchFamily="34" charset="-120"/>
              </a:rPr>
              <a:t>SaaS</a:t>
            </a:r>
            <a:r>
              <a:rPr lang="en-US" sz="1400" dirty="0">
                <a:solidFill>
                  <a:srgbClr val="3F4D52"/>
                </a:solidFill>
                <a:latin typeface="Nunito Sans" pitchFamily="34" charset="0"/>
                <a:ea typeface="Nunito Sans" pitchFamily="34" charset="-122"/>
                <a:cs typeface="Nunito Sans" pitchFamily="34" charset="-120"/>
              </a:rPr>
              <a:t> · software as a service</a:t>
            </a:r>
            <a:endParaRPr lang="en-US" sz="1400" dirty="0"/>
          </a:p>
        </p:txBody>
      </p:sp>
      <p:sp>
        <p:nvSpPr>
          <p:cNvPr id="21" name="Text 19"/>
          <p:cNvSpPr/>
          <p:nvPr/>
        </p:nvSpPr>
        <p:spPr>
          <a:xfrm>
            <a:off x="7669885" y="3494869"/>
            <a:ext cx="3585182" cy="265454"/>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3F4D52"/>
                </a:solidFill>
                <a:latin typeface="Nunito Sans" pitchFamily="34" charset="0"/>
                <a:ea typeface="Nunito Sans" pitchFamily="34" charset="-122"/>
                <a:cs typeface="Nunito Sans" pitchFamily="34" charset="-120"/>
              </a:rPr>
              <a:t>LLM</a:t>
            </a:r>
            <a:r>
              <a:rPr lang="en-US" sz="1400" dirty="0">
                <a:solidFill>
                  <a:srgbClr val="3F4D52"/>
                </a:solidFill>
                <a:latin typeface="Nunito Sans" pitchFamily="34" charset="0"/>
                <a:ea typeface="Nunito Sans" pitchFamily="34" charset="-122"/>
                <a:cs typeface="Nunito Sans" pitchFamily="34" charset="-120"/>
              </a:rPr>
              <a:t> · large language model</a:t>
            </a:r>
            <a:endParaRPr lang="en-US" sz="1400" dirty="0"/>
          </a:p>
        </p:txBody>
      </p:sp>
      <p:sp>
        <p:nvSpPr>
          <p:cNvPr id="22" name="Text 20"/>
          <p:cNvSpPr/>
          <p:nvPr/>
        </p:nvSpPr>
        <p:spPr>
          <a:xfrm>
            <a:off x="7669885" y="3823779"/>
            <a:ext cx="3585182" cy="505509"/>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3F4D52"/>
                </a:solidFill>
                <a:latin typeface="Nunito Sans" pitchFamily="34" charset="0"/>
                <a:ea typeface="Nunito Sans" pitchFamily="34" charset="-122"/>
                <a:cs typeface="Nunito Sans" pitchFamily="34" charset="-120"/>
              </a:rPr>
              <a:t>OWASP</a:t>
            </a:r>
            <a:r>
              <a:rPr lang="en-US" sz="1400" dirty="0">
                <a:solidFill>
                  <a:srgbClr val="3F4D52"/>
                </a:solidFill>
                <a:latin typeface="Nunito Sans" pitchFamily="34" charset="0"/>
                <a:ea typeface="Nunito Sans" pitchFamily="34" charset="-122"/>
                <a:cs typeface="Nunito Sans" pitchFamily="34" charset="-120"/>
              </a:rPr>
              <a:t> · Open Worldwide Application Security Project</a:t>
            </a:r>
            <a:endParaRPr lang="en-US" sz="1400" dirty="0"/>
          </a:p>
        </p:txBody>
      </p:sp>
      <p:sp>
        <p:nvSpPr>
          <p:cNvPr id="23" name="Text 21"/>
          <p:cNvSpPr/>
          <p:nvPr/>
        </p:nvSpPr>
        <p:spPr>
          <a:xfrm>
            <a:off x="7669885" y="4392743"/>
            <a:ext cx="3585182" cy="505509"/>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3F4D52"/>
                </a:solidFill>
                <a:latin typeface="Nunito Sans" pitchFamily="34" charset="0"/>
                <a:ea typeface="Nunito Sans" pitchFamily="34" charset="-122"/>
                <a:cs typeface="Nunito Sans" pitchFamily="34" charset="-120"/>
              </a:rPr>
              <a:t>NIST AI RMF</a:t>
            </a:r>
            <a:r>
              <a:rPr lang="en-US" sz="1400" dirty="0">
                <a:solidFill>
                  <a:srgbClr val="3F4D52"/>
                </a:solidFill>
                <a:latin typeface="Nunito Sans" pitchFamily="34" charset="0"/>
                <a:ea typeface="Nunito Sans" pitchFamily="34" charset="-122"/>
                <a:cs typeface="Nunito Sans" pitchFamily="34" charset="-120"/>
              </a:rPr>
              <a:t> · NIST AI Risk Management Framework</a:t>
            </a:r>
            <a:endParaRPr lang="en-US" sz="1400" dirty="0"/>
          </a:p>
        </p:txBody>
      </p:sp>
      <p:sp>
        <p:nvSpPr>
          <p:cNvPr id="24" name="Text 22"/>
          <p:cNvSpPr/>
          <p:nvPr/>
        </p:nvSpPr>
        <p:spPr>
          <a:xfrm>
            <a:off x="7669885" y="4961706"/>
            <a:ext cx="3585182" cy="265454"/>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3F4D52"/>
                </a:solidFill>
                <a:latin typeface="Nunito Sans" pitchFamily="34" charset="0"/>
                <a:ea typeface="Nunito Sans" pitchFamily="34" charset="-122"/>
                <a:cs typeface="Nunito Sans" pitchFamily="34" charset="-120"/>
              </a:rPr>
              <a:t>CSA</a:t>
            </a:r>
            <a:r>
              <a:rPr lang="en-US" sz="1400" dirty="0">
                <a:solidFill>
                  <a:srgbClr val="3F4D52"/>
                </a:solidFill>
                <a:latin typeface="Nunito Sans" pitchFamily="34" charset="0"/>
                <a:ea typeface="Nunito Sans" pitchFamily="34" charset="-122"/>
                <a:cs typeface="Nunito Sans" pitchFamily="34" charset="-120"/>
              </a:rPr>
              <a:t> · Cloud Security Alliance</a:t>
            </a:r>
            <a:endParaRPr lang="en-US" sz="1400" dirty="0"/>
          </a:p>
        </p:txBody>
      </p:sp>
      <p:cxnSp>
        <p:nvCxnSpPr>
          <p:cNvPr id="25" name="Straight Connector 24">
            <a:extLst>
              <a:ext uri="{FF2B5EF4-FFF2-40B4-BE49-F238E27FC236}">
                <a16:creationId xmlns:a16="http://schemas.microsoft.com/office/drawing/2014/main" id="{7BAD5362-7428-5A0F-D162-913E70A65D27}"/>
              </a:ext>
            </a:extLst>
          </p:cNvPr>
          <p:cNvCxnSpPr>
            <a:cxnSpLocks/>
          </p:cNvCxnSpPr>
          <p:nvPr/>
        </p:nvCxnSpPr>
        <p:spPr>
          <a:xfrm>
            <a:off x="0" y="1316334"/>
            <a:ext cx="12192000" cy="0"/>
          </a:xfrm>
          <a:prstGeom prst="line">
            <a:avLst/>
          </a:prstGeom>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AF0EC"/>
        </a:solidFill>
        <a:effectLst/>
      </p:bgPr>
    </p:bg>
    <p:spTree>
      <p:nvGrpSpPr>
        <p:cNvPr id="1" name=""/>
        <p:cNvGrpSpPr/>
        <p:nvPr/>
      </p:nvGrpSpPr>
      <p:grpSpPr>
        <a:xfrm>
          <a:off x="0" y="0"/>
          <a:ext cx="0" cy="0"/>
          <a:chOff x="0" y="0"/>
          <a:chExt cx="0" cy="0"/>
        </a:xfrm>
      </p:grpSpPr>
      <p:sp>
        <p:nvSpPr>
          <p:cNvPr id="2" name="Text 0"/>
          <p:cNvSpPr/>
          <p:nvPr/>
        </p:nvSpPr>
        <p:spPr>
          <a:xfrm>
            <a:off x="812767" y="406353"/>
            <a:ext cx="10883461" cy="292078"/>
          </a:xfrm>
          <a:prstGeom prst="rect">
            <a:avLst/>
          </a:prstGeom>
          <a:noFill/>
          <a:ln/>
        </p:spPr>
        <p:txBody>
          <a:bodyPr wrap="square" lIns="0" tIns="0" rIns="0" bIns="0" rtlCol="0" anchor="t">
            <a:normAutofit/>
          </a:bodyPr>
          <a:lstStyle/>
          <a:p>
            <a:pPr marL="0" indent="0" algn="l">
              <a:lnSpc>
                <a:spcPts val="2100"/>
              </a:lnSpc>
              <a:buNone/>
            </a:pPr>
            <a:r>
              <a:rPr lang="en-US" sz="1500" b="1" kern="0" spc="150" dirty="0">
                <a:solidFill>
                  <a:srgbClr val="4F7A64"/>
                </a:solidFill>
                <a:latin typeface="Nunito Sans" pitchFamily="34" charset="0"/>
                <a:ea typeface="Nunito Sans" pitchFamily="34" charset="-122"/>
                <a:cs typeface="Nunito Sans" pitchFamily="34" charset="-120"/>
              </a:rPr>
              <a:t>LAYER 1 · NEEDS AND TOOL OPTIONS</a:t>
            </a:r>
            <a:endParaRPr lang="en-US" sz="1500" dirty="0"/>
          </a:p>
        </p:txBody>
      </p:sp>
      <p:sp>
        <p:nvSpPr>
          <p:cNvPr id="3" name="Text 1"/>
          <p:cNvSpPr>
            <a:spLocks noGrp="1"/>
          </p:cNvSpPr>
          <p:nvPr>
            <p:ph type="title"/>
          </p:nvPr>
        </p:nvSpPr>
        <p:spPr>
          <a:xfrm>
            <a:off x="812767" y="723801"/>
            <a:ext cx="10883461" cy="458435"/>
          </a:xfrm>
          <a:prstGeom prst="rect">
            <a:avLst/>
          </a:prstGeom>
          <a:noFill/>
          <a:ln/>
        </p:spPr>
        <p:txBody>
          <a:bodyPr wrap="square" lIns="0" tIns="0" rIns="0" bIns="0" rtlCol="0" anchor="t">
            <a:normAutofit/>
          </a:bodyPr>
          <a:lstStyle/>
          <a:p>
            <a:pPr marL="0" indent="0" algn="l">
              <a:lnSpc>
                <a:spcPts val="3410"/>
              </a:lnSpc>
              <a:buNone/>
            </a:pPr>
            <a:r>
              <a:rPr lang="en-US" sz="3100" b="0" i="0" dirty="0">
                <a:solidFill>
                  <a:srgbClr val="2E3B40"/>
                </a:solidFill>
                <a:latin typeface="Lora" pitchFamily="18" charset="0"/>
                <a:ea typeface="Lora" pitchFamily="18" charset="-122"/>
                <a:cs typeface="Lora" pitchFamily="18" charset="-120"/>
              </a:rPr>
              <a:t>What each surface needs, and the tools that help</a:t>
            </a:r>
            <a:endParaRPr lang="en-US" sz="3100" dirty="0"/>
          </a:p>
        </p:txBody>
      </p:sp>
      <p:sp>
        <p:nvSpPr>
          <p:cNvPr id="4" name="Text 2"/>
          <p:cNvSpPr/>
          <p:nvPr/>
        </p:nvSpPr>
        <p:spPr>
          <a:xfrm>
            <a:off x="652793" y="6500423"/>
            <a:ext cx="1200602" cy="256525"/>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55636A"/>
                </a:solidFill>
                <a:latin typeface="Nunito Sans" pitchFamily="34" charset="0"/>
                <a:ea typeface="Nunito Sans" pitchFamily="34" charset="-122"/>
                <a:cs typeface="Nunito Sans" pitchFamily="34" charset="-120"/>
              </a:rPr>
              <a:t>NIST AI RMF:</a:t>
            </a:r>
            <a:endParaRPr lang="en-US" sz="1300" dirty="0"/>
          </a:p>
        </p:txBody>
      </p:sp>
      <p:sp>
        <p:nvSpPr>
          <p:cNvPr id="5" name="Text 3"/>
          <p:cNvSpPr/>
          <p:nvPr/>
        </p:nvSpPr>
        <p:spPr>
          <a:xfrm>
            <a:off x="1853395" y="6509297"/>
            <a:ext cx="355589" cy="213375"/>
          </a:xfrm>
          <a:custGeom>
            <a:avLst/>
            <a:gdLst/>
            <a:ahLst/>
            <a:cxnLst/>
            <a:rect l="l" t="t" r="r" b="b"/>
            <a:pathLst>
              <a:path w="355589" h="213375">
                <a:moveTo>
                  <a:pt x="63500" y="0"/>
                </a:moveTo>
                <a:lnTo>
                  <a:pt x="292089" y="0"/>
                </a:lnTo>
                <a:arcTo wR="63500" hR="63500" stAng="16200000" swAng="5400000"/>
                <a:lnTo>
                  <a:pt x="355589" y="149875"/>
                </a:lnTo>
                <a:arcTo wR="63500" hR="63500" stAng="0" swAng="5400000"/>
                <a:lnTo>
                  <a:pt x="63500" y="213375"/>
                </a:lnTo>
                <a:arcTo wR="63500" hR="63500" stAng="5400000" swAng="5400000"/>
                <a:lnTo>
                  <a:pt x="0" y="63500"/>
                </a:lnTo>
                <a:arcTo wR="63500" hR="63500" stAng="10800000" swAng="5400000"/>
                <a:close/>
              </a:path>
            </a:pathLst>
          </a:custGeom>
          <a:solidFill>
            <a:srgbClr val="D9D4EE"/>
          </a:solidFill>
          <a:ln/>
        </p:spPr>
        <p:txBody>
          <a:bodyPr wrap="square" lIns="0" tIns="0" rIns="0" bIns="0" rtlCol="0" anchor="t">
            <a:normAutofit/>
          </a:bodyPr>
          <a:lstStyle/>
          <a:p>
            <a:pPr marL="0" indent="0" algn="ctr">
              <a:lnSpc>
                <a:spcPts val="1680"/>
              </a:lnSpc>
              <a:buNone/>
            </a:pPr>
            <a:r>
              <a:rPr lang="en-US" sz="1200" b="1" dirty="0">
                <a:solidFill>
                  <a:srgbClr val="2E3B40"/>
                </a:solidFill>
                <a:latin typeface="Nunito Sans" pitchFamily="34" charset="0"/>
                <a:ea typeface="Nunito Sans" pitchFamily="34" charset="-122"/>
                <a:cs typeface="Nunito Sans" pitchFamily="34" charset="-120"/>
              </a:rPr>
              <a:t>GV</a:t>
            </a:r>
            <a:endParaRPr lang="en-US" sz="1200" dirty="0"/>
          </a:p>
        </p:txBody>
      </p:sp>
      <p:sp>
        <p:nvSpPr>
          <p:cNvPr id="6" name="Text 4"/>
          <p:cNvSpPr/>
          <p:nvPr/>
        </p:nvSpPr>
        <p:spPr>
          <a:xfrm>
            <a:off x="2272484" y="6500423"/>
            <a:ext cx="641945" cy="25652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4D52"/>
                </a:solidFill>
                <a:latin typeface="Nunito Sans" pitchFamily="34" charset="0"/>
                <a:ea typeface="Nunito Sans" pitchFamily="34" charset="-122"/>
                <a:cs typeface="Nunito Sans" pitchFamily="34" charset="-120"/>
              </a:rPr>
              <a:t>Govern</a:t>
            </a:r>
            <a:endParaRPr lang="en-US" sz="1300" dirty="0"/>
          </a:p>
        </p:txBody>
      </p:sp>
      <p:sp>
        <p:nvSpPr>
          <p:cNvPr id="7" name="Text 5"/>
          <p:cNvSpPr/>
          <p:nvPr/>
        </p:nvSpPr>
        <p:spPr>
          <a:xfrm>
            <a:off x="2985205" y="6509297"/>
            <a:ext cx="355589" cy="213375"/>
          </a:xfrm>
          <a:custGeom>
            <a:avLst/>
            <a:gdLst/>
            <a:ahLst/>
            <a:cxnLst/>
            <a:rect l="l" t="t" r="r" b="b"/>
            <a:pathLst>
              <a:path w="355589" h="213375">
                <a:moveTo>
                  <a:pt x="63500" y="0"/>
                </a:moveTo>
                <a:lnTo>
                  <a:pt x="292089" y="0"/>
                </a:lnTo>
                <a:arcTo wR="63500" hR="63500" stAng="16200000" swAng="5400000"/>
                <a:lnTo>
                  <a:pt x="355589" y="149875"/>
                </a:lnTo>
                <a:arcTo wR="63500" hR="63500" stAng="0" swAng="5400000"/>
                <a:lnTo>
                  <a:pt x="63500" y="213375"/>
                </a:lnTo>
                <a:arcTo wR="63500" hR="63500" stAng="5400000" swAng="5400000"/>
                <a:lnTo>
                  <a:pt x="0" y="63500"/>
                </a:lnTo>
                <a:arcTo wR="63500" hR="63500" stAng="10800000" swAng="5400000"/>
                <a:close/>
              </a:path>
            </a:pathLst>
          </a:custGeom>
          <a:solidFill>
            <a:srgbClr val="CDE3F1"/>
          </a:solidFill>
          <a:ln/>
        </p:spPr>
        <p:txBody>
          <a:bodyPr wrap="square" lIns="0" tIns="0" rIns="0" bIns="0" rtlCol="0" anchor="t">
            <a:normAutofit/>
          </a:bodyPr>
          <a:lstStyle/>
          <a:p>
            <a:pPr marL="0" indent="0" algn="ctr">
              <a:lnSpc>
                <a:spcPts val="1680"/>
              </a:lnSpc>
              <a:buNone/>
            </a:pPr>
            <a:r>
              <a:rPr lang="en-US" sz="1200" b="1" dirty="0">
                <a:solidFill>
                  <a:srgbClr val="2E3B40"/>
                </a:solidFill>
                <a:latin typeface="Nunito Sans" pitchFamily="34" charset="0"/>
                <a:ea typeface="Nunito Sans" pitchFamily="34" charset="-122"/>
                <a:cs typeface="Nunito Sans" pitchFamily="34" charset="-120"/>
              </a:rPr>
              <a:t>MP</a:t>
            </a:r>
            <a:endParaRPr lang="en-US" sz="1200" dirty="0"/>
          </a:p>
        </p:txBody>
      </p:sp>
      <p:sp>
        <p:nvSpPr>
          <p:cNvPr id="8" name="Text 6"/>
          <p:cNvSpPr/>
          <p:nvPr/>
        </p:nvSpPr>
        <p:spPr>
          <a:xfrm>
            <a:off x="3404294" y="6500423"/>
            <a:ext cx="389930" cy="25652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4D52"/>
                </a:solidFill>
                <a:latin typeface="Nunito Sans" pitchFamily="34" charset="0"/>
                <a:ea typeface="Nunito Sans" pitchFamily="34" charset="-122"/>
                <a:cs typeface="Nunito Sans" pitchFamily="34" charset="-120"/>
              </a:rPr>
              <a:t>Map</a:t>
            </a:r>
            <a:endParaRPr lang="en-US" sz="1300" dirty="0"/>
          </a:p>
        </p:txBody>
      </p:sp>
      <p:sp>
        <p:nvSpPr>
          <p:cNvPr id="9" name="Text 7"/>
          <p:cNvSpPr/>
          <p:nvPr/>
        </p:nvSpPr>
        <p:spPr>
          <a:xfrm>
            <a:off x="3907003" y="6509297"/>
            <a:ext cx="355589" cy="213375"/>
          </a:xfrm>
          <a:custGeom>
            <a:avLst/>
            <a:gdLst/>
            <a:ahLst/>
            <a:cxnLst/>
            <a:rect l="l" t="t" r="r" b="b"/>
            <a:pathLst>
              <a:path w="355589" h="213375">
                <a:moveTo>
                  <a:pt x="63500" y="0"/>
                </a:moveTo>
                <a:lnTo>
                  <a:pt x="292089" y="0"/>
                </a:lnTo>
                <a:arcTo wR="63500" hR="63500" stAng="16200000" swAng="5400000"/>
                <a:lnTo>
                  <a:pt x="355589" y="149875"/>
                </a:lnTo>
                <a:arcTo wR="63500" hR="63500" stAng="0" swAng="5400000"/>
                <a:lnTo>
                  <a:pt x="63500" y="213375"/>
                </a:lnTo>
                <a:arcTo wR="63500" hR="63500" stAng="5400000" swAng="5400000"/>
                <a:lnTo>
                  <a:pt x="0" y="63500"/>
                </a:lnTo>
                <a:arcTo wR="63500" hR="63500" stAng="10800000" swAng="5400000"/>
                <a:close/>
              </a:path>
            </a:pathLst>
          </a:custGeom>
          <a:solidFill>
            <a:srgbClr val="F3D9E6"/>
          </a:solidFill>
          <a:ln/>
        </p:spPr>
        <p:txBody>
          <a:bodyPr wrap="square" lIns="0" tIns="0" rIns="0" bIns="0" rtlCol="0" anchor="t">
            <a:normAutofit/>
          </a:bodyPr>
          <a:lstStyle/>
          <a:p>
            <a:pPr marL="0" indent="0" algn="ctr">
              <a:lnSpc>
                <a:spcPts val="1680"/>
              </a:lnSpc>
              <a:buNone/>
            </a:pPr>
            <a:r>
              <a:rPr lang="en-US" sz="1200" b="1" dirty="0">
                <a:solidFill>
                  <a:srgbClr val="2E3B40"/>
                </a:solidFill>
                <a:latin typeface="Nunito Sans" pitchFamily="34" charset="0"/>
                <a:ea typeface="Nunito Sans" pitchFamily="34" charset="-122"/>
                <a:cs typeface="Nunito Sans" pitchFamily="34" charset="-120"/>
              </a:rPr>
              <a:t>MS</a:t>
            </a:r>
            <a:endParaRPr lang="en-US" sz="1200" dirty="0"/>
          </a:p>
        </p:txBody>
      </p:sp>
      <p:sp>
        <p:nvSpPr>
          <p:cNvPr id="10" name="Text 8"/>
          <p:cNvSpPr/>
          <p:nvPr/>
        </p:nvSpPr>
        <p:spPr>
          <a:xfrm>
            <a:off x="4326092" y="6500423"/>
            <a:ext cx="761206" cy="25652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4D52"/>
                </a:solidFill>
                <a:latin typeface="Nunito Sans" pitchFamily="34" charset="0"/>
                <a:ea typeface="Nunito Sans" pitchFamily="34" charset="-122"/>
                <a:cs typeface="Nunito Sans" pitchFamily="34" charset="-120"/>
              </a:rPr>
              <a:t>Measure</a:t>
            </a:r>
            <a:endParaRPr lang="en-US" sz="1300" dirty="0"/>
          </a:p>
        </p:txBody>
      </p:sp>
      <p:sp>
        <p:nvSpPr>
          <p:cNvPr id="11" name="Text 9"/>
          <p:cNvSpPr/>
          <p:nvPr/>
        </p:nvSpPr>
        <p:spPr>
          <a:xfrm>
            <a:off x="5138197" y="6509297"/>
            <a:ext cx="355589" cy="213375"/>
          </a:xfrm>
          <a:custGeom>
            <a:avLst/>
            <a:gdLst/>
            <a:ahLst/>
            <a:cxnLst/>
            <a:rect l="l" t="t" r="r" b="b"/>
            <a:pathLst>
              <a:path w="355589" h="213375">
                <a:moveTo>
                  <a:pt x="63500" y="0"/>
                </a:moveTo>
                <a:lnTo>
                  <a:pt x="292089" y="0"/>
                </a:lnTo>
                <a:arcTo wR="63500" hR="63500" stAng="16200000" swAng="5400000"/>
                <a:lnTo>
                  <a:pt x="355589" y="149875"/>
                </a:lnTo>
                <a:arcTo wR="63500" hR="63500" stAng="0" swAng="5400000"/>
                <a:lnTo>
                  <a:pt x="63500" y="213375"/>
                </a:lnTo>
                <a:arcTo wR="63500" hR="63500" stAng="5400000" swAng="5400000"/>
                <a:lnTo>
                  <a:pt x="0" y="63500"/>
                </a:lnTo>
                <a:arcTo wR="63500" hR="63500" stAng="10800000" swAng="5400000"/>
                <a:close/>
              </a:path>
            </a:pathLst>
          </a:custGeom>
          <a:solidFill>
            <a:srgbClr val="F6E2C8"/>
          </a:solidFill>
          <a:ln/>
        </p:spPr>
        <p:txBody>
          <a:bodyPr wrap="square" lIns="0" tIns="0" rIns="0" bIns="0" rtlCol="0" anchor="t">
            <a:normAutofit/>
          </a:bodyPr>
          <a:lstStyle/>
          <a:p>
            <a:pPr marL="0" indent="0" algn="ctr">
              <a:lnSpc>
                <a:spcPts val="1680"/>
              </a:lnSpc>
              <a:buNone/>
            </a:pPr>
            <a:r>
              <a:rPr lang="en-US" sz="1200" b="1" dirty="0">
                <a:solidFill>
                  <a:srgbClr val="2E3B40"/>
                </a:solidFill>
                <a:latin typeface="Nunito Sans" pitchFamily="34" charset="0"/>
                <a:ea typeface="Nunito Sans" pitchFamily="34" charset="-122"/>
                <a:cs typeface="Nunito Sans" pitchFamily="34" charset="-120"/>
              </a:rPr>
              <a:t>MG</a:t>
            </a:r>
            <a:endParaRPr lang="en-US" sz="1200" dirty="0"/>
          </a:p>
        </p:txBody>
      </p:sp>
      <p:sp>
        <p:nvSpPr>
          <p:cNvPr id="12" name="Text 10"/>
          <p:cNvSpPr/>
          <p:nvPr/>
        </p:nvSpPr>
        <p:spPr>
          <a:xfrm>
            <a:off x="5557286" y="6500423"/>
            <a:ext cx="713317" cy="25652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4D52"/>
                </a:solidFill>
                <a:latin typeface="Nunito Sans" pitchFamily="34" charset="0"/>
                <a:ea typeface="Nunito Sans" pitchFamily="34" charset="-122"/>
                <a:cs typeface="Nunito Sans" pitchFamily="34" charset="-120"/>
              </a:rPr>
              <a:t>Manage</a:t>
            </a:r>
            <a:endParaRPr lang="en-US" sz="1300" dirty="0"/>
          </a:p>
        </p:txBody>
      </p:sp>
      <p:sp>
        <p:nvSpPr>
          <p:cNvPr id="13" name="Shape 11"/>
          <p:cNvSpPr/>
          <p:nvPr/>
        </p:nvSpPr>
        <p:spPr>
          <a:xfrm>
            <a:off x="815942" y="1617132"/>
            <a:ext cx="2378097" cy="4780514"/>
          </a:xfrm>
          <a:prstGeom prst="roundRect">
            <a:avLst>
              <a:gd name="adj" fmla="val 6275"/>
            </a:avLst>
          </a:prstGeom>
          <a:solidFill>
            <a:srgbClr val="FBFAF7"/>
          </a:solidFill>
          <a:ln w="6350">
            <a:solidFill>
              <a:srgbClr val="DCE3DE"/>
            </a:solidFill>
            <a:prstDash val="solid"/>
          </a:ln>
        </p:spPr>
        <p:txBody>
          <a:bodyPr/>
          <a:lstStyle/>
          <a:p>
            <a:endParaRPr lang="en-US"/>
          </a:p>
        </p:txBody>
      </p:sp>
      <p:sp>
        <p:nvSpPr>
          <p:cNvPr id="14" name="Shape 12"/>
          <p:cNvSpPr/>
          <p:nvPr/>
        </p:nvSpPr>
        <p:spPr>
          <a:xfrm>
            <a:off x="816295" y="1617486"/>
            <a:ext cx="2377392" cy="1346123"/>
          </a:xfrm>
          <a:custGeom>
            <a:avLst/>
            <a:gdLst/>
            <a:ahLst/>
            <a:cxnLst/>
            <a:rect l="l" t="t" r="r" b="b"/>
            <a:pathLst>
              <a:path w="2377392" h="1346123">
                <a:moveTo>
                  <a:pt x="0" y="148872"/>
                </a:moveTo>
                <a:arcTo wR="148872" hR="148872" stAng="10800000" swAng="5400000"/>
                <a:lnTo>
                  <a:pt x="2228519" y="0"/>
                </a:lnTo>
                <a:arcTo wR="148872" hR="148872" stAng="16200000" swAng="5400000"/>
                <a:lnTo>
                  <a:pt x="2377392" y="1346123"/>
                </a:lnTo>
                <a:lnTo>
                  <a:pt x="0" y="1346123"/>
                </a:lnTo>
                <a:close/>
              </a:path>
            </a:pathLst>
          </a:custGeom>
          <a:solidFill>
            <a:srgbClr val="CFE0D3"/>
          </a:solidFill>
          <a:ln/>
        </p:spPr>
        <p:txBody>
          <a:bodyPr/>
          <a:lstStyle/>
          <a:p>
            <a:endParaRPr lang="en-US"/>
          </a:p>
        </p:txBody>
      </p:sp>
      <p:sp>
        <p:nvSpPr>
          <p:cNvPr id="15" name="Text 13"/>
          <p:cNvSpPr/>
          <p:nvPr/>
        </p:nvSpPr>
        <p:spPr>
          <a:xfrm>
            <a:off x="968651" y="1744486"/>
            <a:ext cx="2134860" cy="638682"/>
          </a:xfrm>
          <a:prstGeom prst="rect">
            <a:avLst/>
          </a:prstGeom>
          <a:noFill/>
          <a:ln/>
        </p:spPr>
        <p:txBody>
          <a:bodyPr wrap="square" lIns="0" tIns="0" rIns="0" bIns="0" rtlCol="0" anchor="t">
            <a:normAutofit/>
          </a:bodyPr>
          <a:lstStyle/>
          <a:p>
            <a:pPr marL="0" indent="0" algn="l">
              <a:lnSpc>
                <a:spcPts val="2415"/>
              </a:lnSpc>
              <a:buNone/>
            </a:pPr>
            <a:r>
              <a:rPr lang="en-US" sz="2100" b="1" dirty="0">
                <a:solidFill>
                  <a:srgbClr val="2E3B40"/>
                </a:solidFill>
                <a:latin typeface="Lora" pitchFamily="18" charset="0"/>
                <a:ea typeface="Lora" pitchFamily="18" charset="-122"/>
                <a:cs typeface="Lora" pitchFamily="18" charset="-120"/>
              </a:rPr>
              <a:t>Enterprise sanctioned AI</a:t>
            </a:r>
            <a:endParaRPr lang="en-US" sz="2100" dirty="0"/>
          </a:p>
        </p:txBody>
      </p:sp>
      <p:sp>
        <p:nvSpPr>
          <p:cNvPr id="16" name="Text 14"/>
          <p:cNvSpPr/>
          <p:nvPr/>
        </p:nvSpPr>
        <p:spPr>
          <a:xfrm>
            <a:off x="968651" y="2404842"/>
            <a:ext cx="2134860" cy="454576"/>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F4D52"/>
                </a:solidFill>
                <a:latin typeface="Nunito Sans" pitchFamily="34" charset="0"/>
                <a:ea typeface="Nunito Sans" pitchFamily="34" charset="-122"/>
                <a:cs typeface="Nunito Sans" pitchFamily="34" charset="-120"/>
              </a:rPr>
              <a:t>Copilots and agents, Claude, OpenAI</a:t>
            </a:r>
            <a:endParaRPr lang="en-US" sz="1300" dirty="0"/>
          </a:p>
        </p:txBody>
      </p:sp>
      <p:sp>
        <p:nvSpPr>
          <p:cNvPr id="17" name="Text 15"/>
          <p:cNvSpPr/>
          <p:nvPr/>
        </p:nvSpPr>
        <p:spPr>
          <a:xfrm>
            <a:off x="968651" y="3090608"/>
            <a:ext cx="355589" cy="213375"/>
          </a:xfrm>
          <a:custGeom>
            <a:avLst/>
            <a:gdLst/>
            <a:ahLst/>
            <a:cxnLst/>
            <a:rect l="l" t="t" r="r" b="b"/>
            <a:pathLst>
              <a:path w="355589" h="213375">
                <a:moveTo>
                  <a:pt x="63500" y="0"/>
                </a:moveTo>
                <a:lnTo>
                  <a:pt x="292089" y="0"/>
                </a:lnTo>
                <a:arcTo wR="63500" hR="63500" stAng="16200000" swAng="5400000"/>
                <a:lnTo>
                  <a:pt x="355589" y="149875"/>
                </a:lnTo>
                <a:arcTo wR="63500" hR="63500" stAng="0" swAng="5400000"/>
                <a:lnTo>
                  <a:pt x="63500" y="213375"/>
                </a:lnTo>
                <a:arcTo wR="63500" hR="63500" stAng="5400000" swAng="5400000"/>
                <a:lnTo>
                  <a:pt x="0" y="63500"/>
                </a:lnTo>
                <a:arcTo wR="63500" hR="63500" stAng="10800000" swAng="5400000"/>
                <a:close/>
              </a:path>
            </a:pathLst>
          </a:custGeom>
          <a:solidFill>
            <a:srgbClr val="D9D4EE"/>
          </a:solidFill>
          <a:ln/>
        </p:spPr>
        <p:txBody>
          <a:bodyPr wrap="square" lIns="0" tIns="0" rIns="0" bIns="0" rtlCol="0" anchor="t">
            <a:normAutofit/>
          </a:bodyPr>
          <a:lstStyle/>
          <a:p>
            <a:pPr marL="0" indent="0" algn="ctr">
              <a:lnSpc>
                <a:spcPts val="1680"/>
              </a:lnSpc>
              <a:buNone/>
            </a:pPr>
            <a:r>
              <a:rPr lang="en-US" sz="1200" b="1" dirty="0">
                <a:solidFill>
                  <a:srgbClr val="2E3B40"/>
                </a:solidFill>
                <a:latin typeface="Nunito Sans" pitchFamily="34" charset="0"/>
                <a:ea typeface="Nunito Sans" pitchFamily="34" charset="-122"/>
                <a:cs typeface="Nunito Sans" pitchFamily="34" charset="-120"/>
              </a:rPr>
              <a:t>GV</a:t>
            </a:r>
            <a:endParaRPr lang="en-US" sz="1200" dirty="0"/>
          </a:p>
        </p:txBody>
      </p:sp>
      <p:sp>
        <p:nvSpPr>
          <p:cNvPr id="18" name="Text 16"/>
          <p:cNvSpPr/>
          <p:nvPr/>
        </p:nvSpPr>
        <p:spPr>
          <a:xfrm>
            <a:off x="1400418" y="3090608"/>
            <a:ext cx="1691713" cy="487649"/>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2E3B40"/>
                </a:solidFill>
                <a:latin typeface="Nunito Sans" pitchFamily="34" charset="0"/>
                <a:ea typeface="Nunito Sans" pitchFamily="34" charset="-122"/>
                <a:cs typeface="Nunito Sans" pitchFamily="34" charset="-120"/>
              </a:rPr>
              <a:t>Inventory and use policy</a:t>
            </a:r>
            <a:endParaRPr lang="en-US" sz="1400" dirty="0"/>
          </a:p>
        </p:txBody>
      </p:sp>
      <p:sp>
        <p:nvSpPr>
          <p:cNvPr id="19" name="Text 17"/>
          <p:cNvSpPr/>
          <p:nvPr/>
        </p:nvSpPr>
        <p:spPr>
          <a:xfrm>
            <a:off x="968651" y="3590947"/>
            <a:ext cx="2134860" cy="239988"/>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5636A"/>
                </a:solidFill>
                <a:latin typeface="Nunito Sans" pitchFamily="34" charset="0"/>
                <a:ea typeface="Nunito Sans" pitchFamily="34" charset="-122"/>
                <a:cs typeface="Nunito Sans" pitchFamily="34" charset="-120"/>
              </a:rPr>
              <a:t>Purview, Bedrock console</a:t>
            </a:r>
            <a:endParaRPr lang="en-US" sz="1300" dirty="0"/>
          </a:p>
        </p:txBody>
      </p:sp>
      <p:sp>
        <p:nvSpPr>
          <p:cNvPr id="20" name="Text 18"/>
          <p:cNvSpPr/>
          <p:nvPr/>
        </p:nvSpPr>
        <p:spPr>
          <a:xfrm>
            <a:off x="968651" y="4131965"/>
            <a:ext cx="355589" cy="213375"/>
          </a:xfrm>
          <a:custGeom>
            <a:avLst/>
            <a:gdLst/>
            <a:ahLst/>
            <a:cxnLst/>
            <a:rect l="l" t="t" r="r" b="b"/>
            <a:pathLst>
              <a:path w="355589" h="213375">
                <a:moveTo>
                  <a:pt x="63500" y="0"/>
                </a:moveTo>
                <a:lnTo>
                  <a:pt x="292089" y="0"/>
                </a:lnTo>
                <a:arcTo wR="63500" hR="63500" stAng="16200000" swAng="5400000"/>
                <a:lnTo>
                  <a:pt x="355589" y="149875"/>
                </a:lnTo>
                <a:arcTo wR="63500" hR="63500" stAng="0" swAng="5400000"/>
                <a:lnTo>
                  <a:pt x="63500" y="213375"/>
                </a:lnTo>
                <a:arcTo wR="63500" hR="63500" stAng="5400000" swAng="5400000"/>
                <a:lnTo>
                  <a:pt x="0" y="63500"/>
                </a:lnTo>
                <a:arcTo wR="63500" hR="63500" stAng="10800000" swAng="5400000"/>
                <a:close/>
              </a:path>
            </a:pathLst>
          </a:custGeom>
          <a:solidFill>
            <a:srgbClr val="F6E2C8"/>
          </a:solidFill>
          <a:ln/>
        </p:spPr>
        <p:txBody>
          <a:bodyPr wrap="square" lIns="0" tIns="0" rIns="0" bIns="0" rtlCol="0" anchor="t">
            <a:normAutofit/>
          </a:bodyPr>
          <a:lstStyle/>
          <a:p>
            <a:pPr marL="0" indent="0" algn="ctr">
              <a:lnSpc>
                <a:spcPts val="1680"/>
              </a:lnSpc>
              <a:buNone/>
            </a:pPr>
            <a:r>
              <a:rPr lang="en-US" sz="1200" b="1" dirty="0">
                <a:solidFill>
                  <a:srgbClr val="2E3B40"/>
                </a:solidFill>
                <a:latin typeface="Nunito Sans" pitchFamily="34" charset="0"/>
                <a:ea typeface="Nunito Sans" pitchFamily="34" charset="-122"/>
                <a:cs typeface="Nunito Sans" pitchFamily="34" charset="-120"/>
              </a:rPr>
              <a:t>MG</a:t>
            </a:r>
            <a:endParaRPr lang="en-US" sz="1200" dirty="0"/>
          </a:p>
        </p:txBody>
      </p:sp>
      <p:sp>
        <p:nvSpPr>
          <p:cNvPr id="21" name="Text 19"/>
          <p:cNvSpPr/>
          <p:nvPr/>
        </p:nvSpPr>
        <p:spPr>
          <a:xfrm>
            <a:off x="1400418" y="4131965"/>
            <a:ext cx="1691713" cy="487649"/>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2E3B40"/>
                </a:solidFill>
                <a:latin typeface="Nunito Sans" pitchFamily="34" charset="0"/>
                <a:ea typeface="Nunito Sans" pitchFamily="34" charset="-122"/>
                <a:cs typeface="Nunito Sans" pitchFamily="34" charset="-120"/>
              </a:rPr>
              <a:t>Guard prompts and outputs</a:t>
            </a:r>
            <a:endParaRPr lang="en-US" sz="1400" dirty="0"/>
          </a:p>
        </p:txBody>
      </p:sp>
      <p:sp>
        <p:nvSpPr>
          <p:cNvPr id="22" name="Text 20"/>
          <p:cNvSpPr/>
          <p:nvPr/>
        </p:nvSpPr>
        <p:spPr>
          <a:xfrm>
            <a:off x="968651" y="4632303"/>
            <a:ext cx="2134860" cy="454576"/>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5636A"/>
                </a:solidFill>
                <a:latin typeface="Nunito Sans" pitchFamily="34" charset="0"/>
                <a:ea typeface="Nunito Sans" pitchFamily="34" charset="-122"/>
                <a:cs typeface="Nunito Sans" pitchFamily="34" charset="-120"/>
              </a:rPr>
              <a:t>Bedrock Guardrails, Lakera Guard</a:t>
            </a:r>
            <a:endParaRPr lang="en-US" sz="1300" dirty="0"/>
          </a:p>
        </p:txBody>
      </p:sp>
      <p:sp>
        <p:nvSpPr>
          <p:cNvPr id="23" name="Text 21"/>
          <p:cNvSpPr/>
          <p:nvPr/>
        </p:nvSpPr>
        <p:spPr>
          <a:xfrm>
            <a:off x="968651" y="5173318"/>
            <a:ext cx="355589" cy="213375"/>
          </a:xfrm>
          <a:custGeom>
            <a:avLst/>
            <a:gdLst/>
            <a:ahLst/>
            <a:cxnLst/>
            <a:rect l="l" t="t" r="r" b="b"/>
            <a:pathLst>
              <a:path w="355589" h="213375">
                <a:moveTo>
                  <a:pt x="63500" y="0"/>
                </a:moveTo>
                <a:lnTo>
                  <a:pt x="292089" y="0"/>
                </a:lnTo>
                <a:arcTo wR="63500" hR="63500" stAng="16200000" swAng="5400000"/>
                <a:lnTo>
                  <a:pt x="355589" y="149875"/>
                </a:lnTo>
                <a:arcTo wR="63500" hR="63500" stAng="0" swAng="5400000"/>
                <a:lnTo>
                  <a:pt x="63500" y="213375"/>
                </a:lnTo>
                <a:arcTo wR="63500" hR="63500" stAng="5400000" swAng="5400000"/>
                <a:lnTo>
                  <a:pt x="0" y="63500"/>
                </a:lnTo>
                <a:arcTo wR="63500" hR="63500" stAng="10800000" swAng="5400000"/>
                <a:close/>
              </a:path>
            </a:pathLst>
          </a:custGeom>
          <a:solidFill>
            <a:srgbClr val="F3D9E6"/>
          </a:solidFill>
          <a:ln/>
        </p:spPr>
        <p:txBody>
          <a:bodyPr wrap="square" lIns="0" tIns="0" rIns="0" bIns="0" rtlCol="0" anchor="t">
            <a:normAutofit/>
          </a:bodyPr>
          <a:lstStyle/>
          <a:p>
            <a:pPr marL="0" indent="0" algn="ctr">
              <a:lnSpc>
                <a:spcPts val="1680"/>
              </a:lnSpc>
              <a:buNone/>
            </a:pPr>
            <a:r>
              <a:rPr lang="en-US" sz="1200" b="1" dirty="0">
                <a:solidFill>
                  <a:srgbClr val="2E3B40"/>
                </a:solidFill>
                <a:latin typeface="Nunito Sans" pitchFamily="34" charset="0"/>
                <a:ea typeface="Nunito Sans" pitchFamily="34" charset="-122"/>
                <a:cs typeface="Nunito Sans" pitchFamily="34" charset="-120"/>
              </a:rPr>
              <a:t>MS</a:t>
            </a:r>
            <a:endParaRPr lang="en-US" sz="1200" dirty="0"/>
          </a:p>
        </p:txBody>
      </p:sp>
      <p:sp>
        <p:nvSpPr>
          <p:cNvPr id="24" name="Text 22"/>
          <p:cNvSpPr/>
          <p:nvPr/>
        </p:nvSpPr>
        <p:spPr>
          <a:xfrm>
            <a:off x="1400418" y="5173318"/>
            <a:ext cx="1691713" cy="487649"/>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2E3B40"/>
                </a:solidFill>
                <a:latin typeface="Nunito Sans" pitchFamily="34" charset="0"/>
                <a:ea typeface="Nunito Sans" pitchFamily="34" charset="-122"/>
                <a:cs typeface="Nunito Sans" pitchFamily="34" charset="-120"/>
              </a:rPr>
              <a:t>Test agents before release</a:t>
            </a:r>
            <a:endParaRPr lang="en-US" sz="1400" dirty="0"/>
          </a:p>
        </p:txBody>
      </p:sp>
      <p:sp>
        <p:nvSpPr>
          <p:cNvPr id="25" name="Text 23"/>
          <p:cNvSpPr/>
          <p:nvPr/>
        </p:nvSpPr>
        <p:spPr>
          <a:xfrm>
            <a:off x="968651" y="5673657"/>
            <a:ext cx="2134860" cy="239988"/>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5636A"/>
                </a:solidFill>
                <a:latin typeface="Nunito Sans" pitchFamily="34" charset="0"/>
                <a:ea typeface="Nunito Sans" pitchFamily="34" charset="-122"/>
                <a:cs typeface="Nunito Sans" pitchFamily="34" charset="-120"/>
              </a:rPr>
              <a:t>Promptfoo, Garak, </a:t>
            </a:r>
            <a:r>
              <a:rPr lang="en-US" sz="1300" b="1" dirty="0">
                <a:solidFill>
                  <a:srgbClr val="55636A"/>
                </a:solidFill>
                <a:latin typeface="Nunito Sans" pitchFamily="34" charset="0"/>
                <a:ea typeface="Nunito Sans" pitchFamily="34" charset="-122"/>
                <a:cs typeface="Nunito Sans" pitchFamily="34" charset="-120"/>
              </a:rPr>
              <a:t>Jiffy</a:t>
            </a:r>
            <a:endParaRPr lang="en-US" sz="1300" dirty="0"/>
          </a:p>
        </p:txBody>
      </p:sp>
      <p:pic>
        <p:nvPicPr>
          <p:cNvPr id="26" name="Image 0" descr="arrow-right"/>
          <p:cNvPicPr>
            <a:picLocks noChangeAspect="1"/>
          </p:cNvPicPr>
          <p:nvPr/>
        </p:nvPicPr>
        <p:blipFill>
          <a:blip r:embed="rId3"/>
          <a:srcRect/>
          <a:stretch/>
        </p:blipFill>
        <p:spPr>
          <a:xfrm>
            <a:off x="3273392" y="3943890"/>
            <a:ext cx="190500" cy="127000"/>
          </a:xfrm>
          <a:prstGeom prst="rect">
            <a:avLst/>
          </a:prstGeom>
        </p:spPr>
      </p:pic>
      <p:sp>
        <p:nvSpPr>
          <p:cNvPr id="27" name="Shape 24"/>
          <p:cNvSpPr/>
          <p:nvPr/>
        </p:nvSpPr>
        <p:spPr>
          <a:xfrm>
            <a:off x="3543245" y="1617132"/>
            <a:ext cx="2378152" cy="4780514"/>
          </a:xfrm>
          <a:prstGeom prst="roundRect">
            <a:avLst>
              <a:gd name="adj" fmla="val 6275"/>
            </a:avLst>
          </a:prstGeom>
          <a:solidFill>
            <a:srgbClr val="FBFAF7"/>
          </a:solidFill>
          <a:ln w="6350">
            <a:solidFill>
              <a:srgbClr val="DCE3DE"/>
            </a:solidFill>
            <a:prstDash val="solid"/>
          </a:ln>
        </p:spPr>
        <p:txBody>
          <a:bodyPr/>
          <a:lstStyle/>
          <a:p>
            <a:endParaRPr lang="en-US"/>
          </a:p>
        </p:txBody>
      </p:sp>
      <p:sp>
        <p:nvSpPr>
          <p:cNvPr id="28" name="Shape 25"/>
          <p:cNvSpPr/>
          <p:nvPr/>
        </p:nvSpPr>
        <p:spPr>
          <a:xfrm>
            <a:off x="3543598" y="1617486"/>
            <a:ext cx="2377447" cy="1346123"/>
          </a:xfrm>
          <a:custGeom>
            <a:avLst/>
            <a:gdLst/>
            <a:ahLst/>
            <a:cxnLst/>
            <a:rect l="l" t="t" r="r" b="b"/>
            <a:pathLst>
              <a:path w="2377447" h="1346123">
                <a:moveTo>
                  <a:pt x="0" y="148872"/>
                </a:moveTo>
                <a:arcTo wR="148872" hR="148872" stAng="10800000" swAng="5400000"/>
                <a:lnTo>
                  <a:pt x="2228575" y="0"/>
                </a:lnTo>
                <a:arcTo wR="148872" hR="148872" stAng="16200000" swAng="5400000"/>
                <a:lnTo>
                  <a:pt x="2377447" y="1346123"/>
                </a:lnTo>
                <a:lnTo>
                  <a:pt x="0" y="1346123"/>
                </a:lnTo>
                <a:close/>
              </a:path>
            </a:pathLst>
          </a:custGeom>
          <a:solidFill>
            <a:srgbClr val="D3E2EC"/>
          </a:solidFill>
          <a:ln/>
        </p:spPr>
        <p:txBody>
          <a:bodyPr/>
          <a:lstStyle/>
          <a:p>
            <a:endParaRPr lang="en-US"/>
          </a:p>
        </p:txBody>
      </p:sp>
      <p:sp>
        <p:nvSpPr>
          <p:cNvPr id="29" name="Text 26"/>
          <p:cNvSpPr/>
          <p:nvPr/>
        </p:nvSpPr>
        <p:spPr>
          <a:xfrm>
            <a:off x="3695954" y="1744486"/>
            <a:ext cx="2134917" cy="638682"/>
          </a:xfrm>
          <a:prstGeom prst="rect">
            <a:avLst/>
          </a:prstGeom>
          <a:noFill/>
          <a:ln/>
        </p:spPr>
        <p:txBody>
          <a:bodyPr wrap="square" lIns="0" tIns="0" rIns="0" bIns="0" rtlCol="0" anchor="t">
            <a:normAutofit/>
          </a:bodyPr>
          <a:lstStyle/>
          <a:p>
            <a:pPr marL="0" indent="0" algn="l">
              <a:lnSpc>
                <a:spcPts val="2415"/>
              </a:lnSpc>
              <a:buNone/>
            </a:pPr>
            <a:r>
              <a:rPr lang="en-US" sz="2100" b="1" dirty="0">
                <a:solidFill>
                  <a:srgbClr val="2E3B40"/>
                </a:solidFill>
                <a:latin typeface="Lora" pitchFamily="18" charset="0"/>
                <a:ea typeface="Lora" pitchFamily="18" charset="-122"/>
                <a:cs typeface="Lora" pitchFamily="18" charset="-120"/>
              </a:rPr>
              <a:t>Enterprise unsanctioned AI</a:t>
            </a:r>
            <a:endParaRPr lang="en-US" sz="2100" dirty="0"/>
          </a:p>
        </p:txBody>
      </p:sp>
      <p:sp>
        <p:nvSpPr>
          <p:cNvPr id="30" name="Text 27"/>
          <p:cNvSpPr/>
          <p:nvPr/>
        </p:nvSpPr>
        <p:spPr>
          <a:xfrm>
            <a:off x="3695954" y="2404842"/>
            <a:ext cx="2134917" cy="454576"/>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F4D52"/>
                </a:solidFill>
                <a:latin typeface="Nunito Sans" pitchFamily="34" charset="0"/>
                <a:ea typeface="Nunito Sans" pitchFamily="34" charset="-122"/>
                <a:cs typeface="Nunito Sans" pitchFamily="34" charset="-120"/>
              </a:rPr>
              <a:t>Shadow AI: personal accounts, local agents</a:t>
            </a:r>
            <a:endParaRPr lang="en-US" sz="1300" dirty="0"/>
          </a:p>
        </p:txBody>
      </p:sp>
      <p:sp>
        <p:nvSpPr>
          <p:cNvPr id="31" name="Text 28"/>
          <p:cNvSpPr/>
          <p:nvPr/>
        </p:nvSpPr>
        <p:spPr>
          <a:xfrm>
            <a:off x="3695954" y="3090608"/>
            <a:ext cx="355589" cy="213375"/>
          </a:xfrm>
          <a:custGeom>
            <a:avLst/>
            <a:gdLst/>
            <a:ahLst/>
            <a:cxnLst/>
            <a:rect l="l" t="t" r="r" b="b"/>
            <a:pathLst>
              <a:path w="355589" h="213375">
                <a:moveTo>
                  <a:pt x="63500" y="0"/>
                </a:moveTo>
                <a:lnTo>
                  <a:pt x="292089" y="0"/>
                </a:lnTo>
                <a:arcTo wR="63500" hR="63500" stAng="16200000" swAng="5400000"/>
                <a:lnTo>
                  <a:pt x="355589" y="149875"/>
                </a:lnTo>
                <a:arcTo wR="63500" hR="63500" stAng="0" swAng="5400000"/>
                <a:lnTo>
                  <a:pt x="63500" y="213375"/>
                </a:lnTo>
                <a:arcTo wR="63500" hR="63500" stAng="5400000" swAng="5400000"/>
                <a:lnTo>
                  <a:pt x="0" y="63500"/>
                </a:lnTo>
                <a:arcTo wR="63500" hR="63500" stAng="10800000" swAng="5400000"/>
                <a:close/>
              </a:path>
            </a:pathLst>
          </a:custGeom>
          <a:solidFill>
            <a:srgbClr val="CDE3F1"/>
          </a:solidFill>
          <a:ln/>
        </p:spPr>
        <p:txBody>
          <a:bodyPr wrap="square" lIns="0" tIns="0" rIns="0" bIns="0" rtlCol="0" anchor="t">
            <a:normAutofit/>
          </a:bodyPr>
          <a:lstStyle/>
          <a:p>
            <a:pPr marL="0" indent="0" algn="ctr">
              <a:lnSpc>
                <a:spcPts val="1680"/>
              </a:lnSpc>
              <a:buNone/>
            </a:pPr>
            <a:r>
              <a:rPr lang="en-US" sz="1200" b="1" dirty="0">
                <a:solidFill>
                  <a:srgbClr val="2E3B40"/>
                </a:solidFill>
                <a:latin typeface="Nunito Sans" pitchFamily="34" charset="0"/>
                <a:ea typeface="Nunito Sans" pitchFamily="34" charset="-122"/>
                <a:cs typeface="Nunito Sans" pitchFamily="34" charset="-120"/>
              </a:rPr>
              <a:t>MP</a:t>
            </a:r>
            <a:endParaRPr lang="en-US" sz="1200" dirty="0"/>
          </a:p>
        </p:txBody>
      </p:sp>
      <p:sp>
        <p:nvSpPr>
          <p:cNvPr id="32" name="Text 29"/>
          <p:cNvSpPr/>
          <p:nvPr/>
        </p:nvSpPr>
        <p:spPr>
          <a:xfrm>
            <a:off x="4127721" y="3090608"/>
            <a:ext cx="1691768" cy="487649"/>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2E3B40"/>
                </a:solidFill>
                <a:latin typeface="Nunito Sans" pitchFamily="34" charset="0"/>
                <a:ea typeface="Nunito Sans" pitchFamily="34" charset="-122"/>
                <a:cs typeface="Nunito Sans" pitchFamily="34" charset="-120"/>
              </a:rPr>
              <a:t>Discover apps and agents</a:t>
            </a:r>
            <a:endParaRPr lang="en-US" sz="1400" dirty="0"/>
          </a:p>
        </p:txBody>
      </p:sp>
      <p:sp>
        <p:nvSpPr>
          <p:cNvPr id="33" name="Text 30"/>
          <p:cNvSpPr/>
          <p:nvPr/>
        </p:nvSpPr>
        <p:spPr>
          <a:xfrm>
            <a:off x="3695954" y="3590947"/>
            <a:ext cx="2134917" cy="454576"/>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5636A"/>
                </a:solidFill>
                <a:latin typeface="Nunito Sans" pitchFamily="34" charset="0"/>
                <a:ea typeface="Nunito Sans" pitchFamily="34" charset="-122"/>
                <a:cs typeface="Nunito Sans" pitchFamily="34" charset="-120"/>
              </a:rPr>
              <a:t>Nudge, Defender for Cloud Apps, </a:t>
            </a:r>
            <a:r>
              <a:rPr lang="en-US" sz="1300" b="1" dirty="0">
                <a:solidFill>
                  <a:srgbClr val="55636A"/>
                </a:solidFill>
                <a:latin typeface="Nunito Sans" pitchFamily="34" charset="0"/>
                <a:ea typeface="Nunito Sans" pitchFamily="34" charset="-122"/>
                <a:cs typeface="Nunito Sans" pitchFamily="34" charset="-120"/>
              </a:rPr>
              <a:t>Jiffy</a:t>
            </a:r>
            <a:endParaRPr lang="en-US" sz="1300" dirty="0"/>
          </a:p>
        </p:txBody>
      </p:sp>
      <p:sp>
        <p:nvSpPr>
          <p:cNvPr id="34" name="Text 31"/>
          <p:cNvSpPr/>
          <p:nvPr/>
        </p:nvSpPr>
        <p:spPr>
          <a:xfrm>
            <a:off x="3695954" y="4131965"/>
            <a:ext cx="355589" cy="213375"/>
          </a:xfrm>
          <a:custGeom>
            <a:avLst/>
            <a:gdLst/>
            <a:ahLst/>
            <a:cxnLst/>
            <a:rect l="l" t="t" r="r" b="b"/>
            <a:pathLst>
              <a:path w="355589" h="213375">
                <a:moveTo>
                  <a:pt x="63500" y="0"/>
                </a:moveTo>
                <a:lnTo>
                  <a:pt x="292089" y="0"/>
                </a:lnTo>
                <a:arcTo wR="63500" hR="63500" stAng="16200000" swAng="5400000"/>
                <a:lnTo>
                  <a:pt x="355589" y="149875"/>
                </a:lnTo>
                <a:arcTo wR="63500" hR="63500" stAng="0" swAng="5400000"/>
                <a:lnTo>
                  <a:pt x="63500" y="213375"/>
                </a:lnTo>
                <a:arcTo wR="63500" hR="63500" stAng="5400000" swAng="5400000"/>
                <a:lnTo>
                  <a:pt x="0" y="63500"/>
                </a:lnTo>
                <a:arcTo wR="63500" hR="63500" stAng="10800000" swAng="5400000"/>
                <a:close/>
              </a:path>
            </a:pathLst>
          </a:custGeom>
          <a:solidFill>
            <a:srgbClr val="F6E2C8"/>
          </a:solidFill>
          <a:ln/>
        </p:spPr>
        <p:txBody>
          <a:bodyPr wrap="square" lIns="0" tIns="0" rIns="0" bIns="0" rtlCol="0" anchor="t">
            <a:normAutofit/>
          </a:bodyPr>
          <a:lstStyle/>
          <a:p>
            <a:pPr marL="0" indent="0" algn="ctr">
              <a:lnSpc>
                <a:spcPts val="1680"/>
              </a:lnSpc>
              <a:buNone/>
            </a:pPr>
            <a:r>
              <a:rPr lang="en-US" sz="1200" b="1" dirty="0">
                <a:solidFill>
                  <a:srgbClr val="2E3B40"/>
                </a:solidFill>
                <a:latin typeface="Nunito Sans" pitchFamily="34" charset="0"/>
                <a:ea typeface="Nunito Sans" pitchFamily="34" charset="-122"/>
                <a:cs typeface="Nunito Sans" pitchFamily="34" charset="-120"/>
              </a:rPr>
              <a:t>MG</a:t>
            </a:r>
            <a:endParaRPr lang="en-US" sz="1200" dirty="0"/>
          </a:p>
        </p:txBody>
      </p:sp>
      <p:sp>
        <p:nvSpPr>
          <p:cNvPr id="35" name="Text 32"/>
          <p:cNvSpPr/>
          <p:nvPr/>
        </p:nvSpPr>
        <p:spPr>
          <a:xfrm>
            <a:off x="4127721" y="4131965"/>
            <a:ext cx="1691768" cy="487649"/>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2E3B40"/>
                </a:solidFill>
                <a:latin typeface="Nunito Sans" pitchFamily="34" charset="0"/>
                <a:ea typeface="Nunito Sans" pitchFamily="34" charset="-122"/>
                <a:cs typeface="Nunito Sans" pitchFamily="34" charset="-120"/>
              </a:rPr>
              <a:t>Stop sensitive data leaving</a:t>
            </a:r>
            <a:endParaRPr lang="en-US" sz="1400" dirty="0"/>
          </a:p>
        </p:txBody>
      </p:sp>
      <p:sp>
        <p:nvSpPr>
          <p:cNvPr id="36" name="Text 33"/>
          <p:cNvSpPr/>
          <p:nvPr/>
        </p:nvSpPr>
        <p:spPr>
          <a:xfrm>
            <a:off x="3695954" y="4632303"/>
            <a:ext cx="2134917" cy="239988"/>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5636A"/>
                </a:solidFill>
                <a:latin typeface="Nunito Sans" pitchFamily="34" charset="0"/>
                <a:ea typeface="Nunito Sans" pitchFamily="34" charset="-122"/>
                <a:cs typeface="Nunito Sans" pitchFamily="34" charset="-120"/>
              </a:rPr>
              <a:t>Nightfall, Netskope DLP</a:t>
            </a:r>
            <a:endParaRPr lang="en-US" sz="1300" dirty="0"/>
          </a:p>
        </p:txBody>
      </p:sp>
      <p:sp>
        <p:nvSpPr>
          <p:cNvPr id="37" name="Text 34"/>
          <p:cNvSpPr/>
          <p:nvPr/>
        </p:nvSpPr>
        <p:spPr>
          <a:xfrm>
            <a:off x="3695954" y="5173318"/>
            <a:ext cx="355589" cy="213375"/>
          </a:xfrm>
          <a:custGeom>
            <a:avLst/>
            <a:gdLst/>
            <a:ahLst/>
            <a:cxnLst/>
            <a:rect l="l" t="t" r="r" b="b"/>
            <a:pathLst>
              <a:path w="355589" h="213375">
                <a:moveTo>
                  <a:pt x="63500" y="0"/>
                </a:moveTo>
                <a:lnTo>
                  <a:pt x="292089" y="0"/>
                </a:lnTo>
                <a:arcTo wR="63500" hR="63500" stAng="16200000" swAng="5400000"/>
                <a:lnTo>
                  <a:pt x="355589" y="149875"/>
                </a:lnTo>
                <a:arcTo wR="63500" hR="63500" stAng="0" swAng="5400000"/>
                <a:lnTo>
                  <a:pt x="63500" y="213375"/>
                </a:lnTo>
                <a:arcTo wR="63500" hR="63500" stAng="5400000" swAng="5400000"/>
                <a:lnTo>
                  <a:pt x="0" y="63500"/>
                </a:lnTo>
                <a:arcTo wR="63500" hR="63500" stAng="10800000" swAng="5400000"/>
                <a:close/>
              </a:path>
            </a:pathLst>
          </a:custGeom>
          <a:solidFill>
            <a:srgbClr val="D9D4EE"/>
          </a:solidFill>
          <a:ln/>
        </p:spPr>
        <p:txBody>
          <a:bodyPr wrap="square" lIns="0" tIns="0" rIns="0" bIns="0" rtlCol="0" anchor="t">
            <a:normAutofit/>
          </a:bodyPr>
          <a:lstStyle/>
          <a:p>
            <a:pPr marL="0" indent="0" algn="ctr">
              <a:lnSpc>
                <a:spcPts val="1680"/>
              </a:lnSpc>
              <a:buNone/>
            </a:pPr>
            <a:r>
              <a:rPr lang="en-US" sz="1200" b="1" dirty="0">
                <a:solidFill>
                  <a:srgbClr val="2E3B40"/>
                </a:solidFill>
                <a:latin typeface="Nunito Sans" pitchFamily="34" charset="0"/>
                <a:ea typeface="Nunito Sans" pitchFamily="34" charset="-122"/>
                <a:cs typeface="Nunito Sans" pitchFamily="34" charset="-120"/>
              </a:rPr>
              <a:t>GV</a:t>
            </a:r>
            <a:endParaRPr lang="en-US" sz="1200" dirty="0"/>
          </a:p>
        </p:txBody>
      </p:sp>
      <p:sp>
        <p:nvSpPr>
          <p:cNvPr id="38" name="Text 35"/>
          <p:cNvSpPr/>
          <p:nvPr/>
        </p:nvSpPr>
        <p:spPr>
          <a:xfrm>
            <a:off x="4127721" y="5173318"/>
            <a:ext cx="1691768" cy="487649"/>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2E3B40"/>
                </a:solidFill>
                <a:latin typeface="Nunito Sans" pitchFamily="34" charset="0"/>
                <a:ea typeface="Nunito Sans" pitchFamily="34" charset="-122"/>
                <a:cs typeface="Nunito Sans" pitchFamily="34" charset="-120"/>
              </a:rPr>
              <a:t>Policy plus an approved option</a:t>
            </a:r>
            <a:endParaRPr lang="en-US" sz="1400" dirty="0"/>
          </a:p>
        </p:txBody>
      </p:sp>
      <p:sp>
        <p:nvSpPr>
          <p:cNvPr id="39" name="Text 36"/>
          <p:cNvSpPr/>
          <p:nvPr/>
        </p:nvSpPr>
        <p:spPr>
          <a:xfrm>
            <a:off x="3695954" y="5673657"/>
            <a:ext cx="2134917" cy="454576"/>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5636A"/>
                </a:solidFill>
                <a:latin typeface="Nunito Sans" pitchFamily="34" charset="0"/>
                <a:ea typeface="Nunito Sans" pitchFamily="34" charset="-122"/>
                <a:cs typeface="Nunito Sans" pitchFamily="34" charset="-120"/>
              </a:rPr>
              <a:t>Policy, training, Nudge coaching</a:t>
            </a:r>
            <a:endParaRPr lang="en-US" sz="1300" dirty="0"/>
          </a:p>
        </p:txBody>
      </p:sp>
      <p:pic>
        <p:nvPicPr>
          <p:cNvPr id="40" name="Image 1" descr="arrow-right"/>
          <p:cNvPicPr>
            <a:picLocks noChangeAspect="1"/>
          </p:cNvPicPr>
          <p:nvPr/>
        </p:nvPicPr>
        <p:blipFill>
          <a:blip r:embed="rId3"/>
          <a:srcRect/>
          <a:stretch/>
        </p:blipFill>
        <p:spPr>
          <a:xfrm>
            <a:off x="6000750" y="3943890"/>
            <a:ext cx="190500" cy="127000"/>
          </a:xfrm>
          <a:prstGeom prst="rect">
            <a:avLst/>
          </a:prstGeom>
        </p:spPr>
      </p:pic>
      <p:sp>
        <p:nvSpPr>
          <p:cNvPr id="41" name="Shape 37"/>
          <p:cNvSpPr/>
          <p:nvPr/>
        </p:nvSpPr>
        <p:spPr>
          <a:xfrm>
            <a:off x="6270603" y="1617132"/>
            <a:ext cx="2378097" cy="4780514"/>
          </a:xfrm>
          <a:prstGeom prst="roundRect">
            <a:avLst>
              <a:gd name="adj" fmla="val 6275"/>
            </a:avLst>
          </a:prstGeom>
          <a:solidFill>
            <a:srgbClr val="FBFAF7"/>
          </a:solidFill>
          <a:ln w="6350">
            <a:solidFill>
              <a:srgbClr val="DCE3DE"/>
            </a:solidFill>
            <a:prstDash val="solid"/>
          </a:ln>
        </p:spPr>
        <p:txBody>
          <a:bodyPr/>
          <a:lstStyle/>
          <a:p>
            <a:endParaRPr lang="en-US"/>
          </a:p>
        </p:txBody>
      </p:sp>
      <p:sp>
        <p:nvSpPr>
          <p:cNvPr id="42" name="Shape 38"/>
          <p:cNvSpPr/>
          <p:nvPr/>
        </p:nvSpPr>
        <p:spPr>
          <a:xfrm>
            <a:off x="6270956" y="1617486"/>
            <a:ext cx="2377392" cy="1346123"/>
          </a:xfrm>
          <a:custGeom>
            <a:avLst/>
            <a:gdLst/>
            <a:ahLst/>
            <a:cxnLst/>
            <a:rect l="l" t="t" r="r" b="b"/>
            <a:pathLst>
              <a:path w="2377392" h="1346123">
                <a:moveTo>
                  <a:pt x="0" y="148872"/>
                </a:moveTo>
                <a:arcTo wR="148872" hR="148872" stAng="10800000" swAng="5400000"/>
                <a:lnTo>
                  <a:pt x="2228519" y="0"/>
                </a:lnTo>
                <a:arcTo wR="148872" hR="148872" stAng="16200000" swAng="5400000"/>
                <a:lnTo>
                  <a:pt x="2377392" y="1346123"/>
                </a:lnTo>
                <a:lnTo>
                  <a:pt x="0" y="1346123"/>
                </a:lnTo>
                <a:close/>
              </a:path>
            </a:pathLst>
          </a:custGeom>
          <a:solidFill>
            <a:srgbClr val="E0DAEC"/>
          </a:solidFill>
          <a:ln/>
        </p:spPr>
        <p:txBody>
          <a:bodyPr/>
          <a:lstStyle/>
          <a:p>
            <a:endParaRPr lang="en-US"/>
          </a:p>
        </p:txBody>
      </p:sp>
      <p:sp>
        <p:nvSpPr>
          <p:cNvPr id="43" name="Text 39"/>
          <p:cNvSpPr/>
          <p:nvPr/>
        </p:nvSpPr>
        <p:spPr>
          <a:xfrm>
            <a:off x="6423312" y="1744486"/>
            <a:ext cx="2134860" cy="332041"/>
          </a:xfrm>
          <a:prstGeom prst="rect">
            <a:avLst/>
          </a:prstGeom>
          <a:noFill/>
          <a:ln/>
        </p:spPr>
        <p:txBody>
          <a:bodyPr wrap="square" lIns="0" tIns="0" rIns="0" bIns="0" rtlCol="0" anchor="t">
            <a:normAutofit/>
          </a:bodyPr>
          <a:lstStyle/>
          <a:p>
            <a:pPr marL="0" indent="0" algn="l">
              <a:lnSpc>
                <a:spcPts val="2415"/>
              </a:lnSpc>
              <a:buNone/>
            </a:pPr>
            <a:r>
              <a:rPr lang="en-US" sz="2100" b="1" dirty="0">
                <a:solidFill>
                  <a:srgbClr val="2E3B40"/>
                </a:solidFill>
                <a:latin typeface="Lora" pitchFamily="18" charset="0"/>
                <a:ea typeface="Lora" pitchFamily="18" charset="-122"/>
                <a:cs typeface="Lora" pitchFamily="18" charset="-120"/>
              </a:rPr>
              <a:t>Vendor AI</a:t>
            </a:r>
            <a:endParaRPr lang="en-US" sz="2100" dirty="0"/>
          </a:p>
        </p:txBody>
      </p:sp>
      <p:sp>
        <p:nvSpPr>
          <p:cNvPr id="44" name="Text 40"/>
          <p:cNvSpPr/>
          <p:nvPr/>
        </p:nvSpPr>
        <p:spPr>
          <a:xfrm>
            <a:off x="6423312" y="2404842"/>
            <a:ext cx="2134860" cy="454576"/>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F4D52"/>
                </a:solidFill>
                <a:latin typeface="Nunito Sans" pitchFamily="34" charset="0"/>
                <a:ea typeface="Nunito Sans" pitchFamily="34" charset="-122"/>
                <a:cs typeface="Nunito Sans" pitchFamily="34" charset="-120"/>
              </a:rPr>
              <a:t>AI features inside the SaaS you already use</a:t>
            </a:r>
            <a:endParaRPr lang="en-US" sz="1300" dirty="0"/>
          </a:p>
        </p:txBody>
      </p:sp>
      <p:sp>
        <p:nvSpPr>
          <p:cNvPr id="45" name="Text 41"/>
          <p:cNvSpPr/>
          <p:nvPr/>
        </p:nvSpPr>
        <p:spPr>
          <a:xfrm>
            <a:off x="6423312" y="3090608"/>
            <a:ext cx="355589" cy="213375"/>
          </a:xfrm>
          <a:custGeom>
            <a:avLst/>
            <a:gdLst/>
            <a:ahLst/>
            <a:cxnLst/>
            <a:rect l="l" t="t" r="r" b="b"/>
            <a:pathLst>
              <a:path w="355589" h="213375">
                <a:moveTo>
                  <a:pt x="63500" y="0"/>
                </a:moveTo>
                <a:lnTo>
                  <a:pt x="292089" y="0"/>
                </a:lnTo>
                <a:arcTo wR="63500" hR="63500" stAng="16200000" swAng="5400000"/>
                <a:lnTo>
                  <a:pt x="355589" y="149875"/>
                </a:lnTo>
                <a:arcTo wR="63500" hR="63500" stAng="0" swAng="5400000"/>
                <a:lnTo>
                  <a:pt x="63500" y="213375"/>
                </a:lnTo>
                <a:arcTo wR="63500" hR="63500" stAng="5400000" swAng="5400000"/>
                <a:lnTo>
                  <a:pt x="0" y="63500"/>
                </a:lnTo>
                <a:arcTo wR="63500" hR="63500" stAng="10800000" swAng="5400000"/>
                <a:close/>
              </a:path>
            </a:pathLst>
          </a:custGeom>
          <a:solidFill>
            <a:srgbClr val="D9D4EE"/>
          </a:solidFill>
          <a:ln/>
        </p:spPr>
        <p:txBody>
          <a:bodyPr wrap="square" lIns="0" tIns="0" rIns="0" bIns="0" rtlCol="0" anchor="t">
            <a:normAutofit/>
          </a:bodyPr>
          <a:lstStyle/>
          <a:p>
            <a:pPr marL="0" indent="0" algn="ctr">
              <a:lnSpc>
                <a:spcPts val="1680"/>
              </a:lnSpc>
              <a:buNone/>
            </a:pPr>
            <a:r>
              <a:rPr lang="en-US" sz="1200" b="1" dirty="0">
                <a:solidFill>
                  <a:srgbClr val="2E3B40"/>
                </a:solidFill>
                <a:latin typeface="Nunito Sans" pitchFamily="34" charset="0"/>
                <a:ea typeface="Nunito Sans" pitchFamily="34" charset="-122"/>
                <a:cs typeface="Nunito Sans" pitchFamily="34" charset="-120"/>
              </a:rPr>
              <a:t>GV</a:t>
            </a:r>
            <a:endParaRPr lang="en-US" sz="1200" dirty="0"/>
          </a:p>
        </p:txBody>
      </p:sp>
      <p:sp>
        <p:nvSpPr>
          <p:cNvPr id="46" name="Text 42"/>
          <p:cNvSpPr/>
          <p:nvPr/>
        </p:nvSpPr>
        <p:spPr>
          <a:xfrm>
            <a:off x="6855079" y="3090608"/>
            <a:ext cx="1691713" cy="487649"/>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2E3B40"/>
                </a:solidFill>
                <a:latin typeface="Nunito Sans" pitchFamily="34" charset="0"/>
                <a:ea typeface="Nunito Sans" pitchFamily="34" charset="-122"/>
                <a:cs typeface="Nunito Sans" pitchFamily="34" charset="-120"/>
              </a:rPr>
              <a:t>AI terms in intake and contract</a:t>
            </a:r>
            <a:endParaRPr lang="en-US" sz="1400" dirty="0"/>
          </a:p>
        </p:txBody>
      </p:sp>
      <p:sp>
        <p:nvSpPr>
          <p:cNvPr id="47" name="Text 43"/>
          <p:cNvSpPr/>
          <p:nvPr/>
        </p:nvSpPr>
        <p:spPr>
          <a:xfrm>
            <a:off x="6423312" y="3590947"/>
            <a:ext cx="2134860" cy="454576"/>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55636A"/>
                </a:solidFill>
                <a:latin typeface="Nunito Sans" pitchFamily="34" charset="0"/>
                <a:ea typeface="Nunito Sans" pitchFamily="34" charset="-122"/>
                <a:cs typeface="Nunito Sans" pitchFamily="34" charset="-120"/>
              </a:rPr>
              <a:t>Bit-Vendor</a:t>
            </a:r>
            <a:r>
              <a:rPr lang="en-US" sz="1300" dirty="0">
                <a:solidFill>
                  <a:srgbClr val="55636A"/>
                </a:solidFill>
                <a:latin typeface="Nunito Sans" pitchFamily="34" charset="0"/>
                <a:ea typeface="Nunito Sans" pitchFamily="34" charset="-122"/>
                <a:cs typeface="Nunito Sans" pitchFamily="34" charset="-120"/>
              </a:rPr>
              <a:t>, CSA AI-CAIQ, Vanta</a:t>
            </a:r>
            <a:endParaRPr lang="en-US" sz="1300" dirty="0"/>
          </a:p>
        </p:txBody>
      </p:sp>
      <p:sp>
        <p:nvSpPr>
          <p:cNvPr id="48" name="Text 44"/>
          <p:cNvSpPr/>
          <p:nvPr/>
        </p:nvSpPr>
        <p:spPr>
          <a:xfrm>
            <a:off x="6423312" y="4131965"/>
            <a:ext cx="355589" cy="213375"/>
          </a:xfrm>
          <a:custGeom>
            <a:avLst/>
            <a:gdLst/>
            <a:ahLst/>
            <a:cxnLst/>
            <a:rect l="l" t="t" r="r" b="b"/>
            <a:pathLst>
              <a:path w="355589" h="213375">
                <a:moveTo>
                  <a:pt x="63500" y="0"/>
                </a:moveTo>
                <a:lnTo>
                  <a:pt x="292089" y="0"/>
                </a:lnTo>
                <a:arcTo wR="63500" hR="63500" stAng="16200000" swAng="5400000"/>
                <a:lnTo>
                  <a:pt x="355589" y="149875"/>
                </a:lnTo>
                <a:arcTo wR="63500" hR="63500" stAng="0" swAng="5400000"/>
                <a:lnTo>
                  <a:pt x="63500" y="213375"/>
                </a:lnTo>
                <a:arcTo wR="63500" hR="63500" stAng="5400000" swAng="5400000"/>
                <a:lnTo>
                  <a:pt x="0" y="63500"/>
                </a:lnTo>
                <a:arcTo wR="63500" hR="63500" stAng="10800000" swAng="5400000"/>
                <a:close/>
              </a:path>
            </a:pathLst>
          </a:custGeom>
          <a:solidFill>
            <a:srgbClr val="CDE3F1"/>
          </a:solidFill>
          <a:ln/>
        </p:spPr>
        <p:txBody>
          <a:bodyPr wrap="square" lIns="0" tIns="0" rIns="0" bIns="0" rtlCol="0" anchor="t">
            <a:normAutofit/>
          </a:bodyPr>
          <a:lstStyle/>
          <a:p>
            <a:pPr marL="0" indent="0" algn="ctr">
              <a:lnSpc>
                <a:spcPts val="1680"/>
              </a:lnSpc>
              <a:buNone/>
            </a:pPr>
            <a:r>
              <a:rPr lang="en-US" sz="1200" b="1" dirty="0">
                <a:solidFill>
                  <a:srgbClr val="2E3B40"/>
                </a:solidFill>
                <a:latin typeface="Nunito Sans" pitchFamily="34" charset="0"/>
                <a:ea typeface="Nunito Sans" pitchFamily="34" charset="-122"/>
                <a:cs typeface="Nunito Sans" pitchFamily="34" charset="-120"/>
              </a:rPr>
              <a:t>MP</a:t>
            </a:r>
            <a:endParaRPr lang="en-US" sz="1200" dirty="0"/>
          </a:p>
        </p:txBody>
      </p:sp>
      <p:sp>
        <p:nvSpPr>
          <p:cNvPr id="49" name="Text 45"/>
          <p:cNvSpPr/>
          <p:nvPr/>
        </p:nvSpPr>
        <p:spPr>
          <a:xfrm>
            <a:off x="6855079" y="4131965"/>
            <a:ext cx="1691713" cy="487649"/>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2E3B40"/>
                </a:solidFill>
                <a:latin typeface="Nunito Sans" pitchFamily="34" charset="0"/>
                <a:ea typeface="Nunito Sans" pitchFamily="34" charset="-122"/>
                <a:cs typeface="Nunito Sans" pitchFamily="34" charset="-120"/>
              </a:rPr>
              <a:t>Map vendor AI to your data</a:t>
            </a:r>
            <a:endParaRPr lang="en-US" sz="1400" dirty="0"/>
          </a:p>
        </p:txBody>
      </p:sp>
      <p:sp>
        <p:nvSpPr>
          <p:cNvPr id="50" name="Text 46"/>
          <p:cNvSpPr/>
          <p:nvPr/>
        </p:nvSpPr>
        <p:spPr>
          <a:xfrm>
            <a:off x="6423312" y="4632303"/>
            <a:ext cx="2134860" cy="454576"/>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55636A"/>
                </a:solidFill>
                <a:latin typeface="Nunito Sans" pitchFamily="34" charset="0"/>
                <a:ea typeface="Nunito Sans" pitchFamily="34" charset="-122"/>
                <a:cs typeface="Nunito Sans" pitchFamily="34" charset="-120"/>
              </a:rPr>
              <a:t>Bit-Vendor</a:t>
            </a:r>
            <a:r>
              <a:rPr lang="en-US" sz="1300" dirty="0">
                <a:solidFill>
                  <a:srgbClr val="55636A"/>
                </a:solidFill>
                <a:latin typeface="Nunito Sans" pitchFamily="34" charset="0"/>
                <a:ea typeface="Nunito Sans" pitchFamily="34" charset="-122"/>
                <a:cs typeface="Nunito Sans" pitchFamily="34" charset="-120"/>
              </a:rPr>
              <a:t>, BigID, Relyance AI</a:t>
            </a:r>
            <a:endParaRPr lang="en-US" sz="1300" dirty="0"/>
          </a:p>
        </p:txBody>
      </p:sp>
      <p:sp>
        <p:nvSpPr>
          <p:cNvPr id="51" name="Text 47"/>
          <p:cNvSpPr/>
          <p:nvPr/>
        </p:nvSpPr>
        <p:spPr>
          <a:xfrm>
            <a:off x="6423312" y="5173318"/>
            <a:ext cx="355589" cy="213375"/>
          </a:xfrm>
          <a:custGeom>
            <a:avLst/>
            <a:gdLst/>
            <a:ahLst/>
            <a:cxnLst/>
            <a:rect l="l" t="t" r="r" b="b"/>
            <a:pathLst>
              <a:path w="355589" h="213375">
                <a:moveTo>
                  <a:pt x="63500" y="0"/>
                </a:moveTo>
                <a:lnTo>
                  <a:pt x="292089" y="0"/>
                </a:lnTo>
                <a:arcTo wR="63500" hR="63500" stAng="16200000" swAng="5400000"/>
                <a:lnTo>
                  <a:pt x="355589" y="149875"/>
                </a:lnTo>
                <a:arcTo wR="63500" hR="63500" stAng="0" swAng="5400000"/>
                <a:lnTo>
                  <a:pt x="63500" y="213375"/>
                </a:lnTo>
                <a:arcTo wR="63500" hR="63500" stAng="5400000" swAng="5400000"/>
                <a:lnTo>
                  <a:pt x="0" y="63500"/>
                </a:lnTo>
                <a:arcTo wR="63500" hR="63500" stAng="10800000" swAng="5400000"/>
                <a:close/>
              </a:path>
            </a:pathLst>
          </a:custGeom>
          <a:solidFill>
            <a:srgbClr val="F6E2C8"/>
          </a:solidFill>
          <a:ln/>
        </p:spPr>
        <p:txBody>
          <a:bodyPr wrap="square" lIns="0" tIns="0" rIns="0" bIns="0" rtlCol="0" anchor="t">
            <a:normAutofit/>
          </a:bodyPr>
          <a:lstStyle/>
          <a:p>
            <a:pPr marL="0" indent="0" algn="ctr">
              <a:lnSpc>
                <a:spcPts val="1680"/>
              </a:lnSpc>
              <a:buNone/>
            </a:pPr>
            <a:r>
              <a:rPr lang="en-US" sz="1200" b="1" dirty="0">
                <a:solidFill>
                  <a:srgbClr val="2E3B40"/>
                </a:solidFill>
                <a:latin typeface="Nunito Sans" pitchFamily="34" charset="0"/>
                <a:ea typeface="Nunito Sans" pitchFamily="34" charset="-122"/>
                <a:cs typeface="Nunito Sans" pitchFamily="34" charset="-120"/>
              </a:rPr>
              <a:t>MG</a:t>
            </a:r>
            <a:endParaRPr lang="en-US" sz="1200" dirty="0"/>
          </a:p>
        </p:txBody>
      </p:sp>
      <p:sp>
        <p:nvSpPr>
          <p:cNvPr id="52" name="Text 48"/>
          <p:cNvSpPr/>
          <p:nvPr/>
        </p:nvSpPr>
        <p:spPr>
          <a:xfrm>
            <a:off x="6855079" y="5173318"/>
            <a:ext cx="1691713" cy="487649"/>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2E3B40"/>
                </a:solidFill>
                <a:latin typeface="Nunito Sans" pitchFamily="34" charset="0"/>
                <a:ea typeface="Nunito Sans" pitchFamily="34" charset="-122"/>
                <a:cs typeface="Nunito Sans" pitchFamily="34" charset="-120"/>
              </a:rPr>
              <a:t>Track AI changes at renewal</a:t>
            </a:r>
            <a:endParaRPr lang="en-US" sz="1400" dirty="0"/>
          </a:p>
        </p:txBody>
      </p:sp>
      <p:sp>
        <p:nvSpPr>
          <p:cNvPr id="53" name="Text 49"/>
          <p:cNvSpPr/>
          <p:nvPr/>
        </p:nvSpPr>
        <p:spPr>
          <a:xfrm>
            <a:off x="6423312" y="5673657"/>
            <a:ext cx="2134860" cy="239988"/>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5636A"/>
                </a:solidFill>
                <a:latin typeface="Nunito Sans" pitchFamily="34" charset="0"/>
                <a:ea typeface="Nunito Sans" pitchFamily="34" charset="-122"/>
                <a:cs typeface="Nunito Sans" pitchFamily="34" charset="-120"/>
              </a:rPr>
              <a:t>Vanta, </a:t>
            </a:r>
            <a:r>
              <a:rPr lang="en-US" sz="1300" dirty="0" err="1">
                <a:solidFill>
                  <a:srgbClr val="55636A"/>
                </a:solidFill>
                <a:latin typeface="Nunito Sans" pitchFamily="34" charset="0"/>
                <a:ea typeface="Nunito Sans" pitchFamily="34" charset="-122"/>
                <a:cs typeface="Nunito Sans" pitchFamily="34" charset="-120"/>
              </a:rPr>
              <a:t>OneTrust</a:t>
            </a:r>
            <a:r>
              <a:rPr lang="en-US" sz="1300" dirty="0">
                <a:solidFill>
                  <a:srgbClr val="55636A"/>
                </a:solidFill>
                <a:latin typeface="Nunito Sans" pitchFamily="34" charset="0"/>
                <a:ea typeface="Nunito Sans" pitchFamily="34" charset="-122"/>
                <a:cs typeface="Nunito Sans" pitchFamily="34" charset="-120"/>
              </a:rPr>
              <a:t>, </a:t>
            </a:r>
            <a:endParaRPr lang="en-US" sz="1300" dirty="0"/>
          </a:p>
        </p:txBody>
      </p:sp>
      <p:pic>
        <p:nvPicPr>
          <p:cNvPr id="54" name="Image 2" descr="arrow-right"/>
          <p:cNvPicPr>
            <a:picLocks noChangeAspect="1"/>
          </p:cNvPicPr>
          <p:nvPr/>
        </p:nvPicPr>
        <p:blipFill>
          <a:blip r:embed="rId3"/>
          <a:srcRect/>
          <a:stretch/>
        </p:blipFill>
        <p:spPr>
          <a:xfrm>
            <a:off x="8728053" y="3943890"/>
            <a:ext cx="190500" cy="127000"/>
          </a:xfrm>
          <a:prstGeom prst="rect">
            <a:avLst/>
          </a:prstGeom>
        </p:spPr>
      </p:pic>
      <p:sp>
        <p:nvSpPr>
          <p:cNvPr id="55" name="Shape 50"/>
          <p:cNvSpPr/>
          <p:nvPr/>
        </p:nvSpPr>
        <p:spPr>
          <a:xfrm>
            <a:off x="8997907" y="1617132"/>
            <a:ext cx="2378152" cy="4780514"/>
          </a:xfrm>
          <a:prstGeom prst="roundRect">
            <a:avLst>
              <a:gd name="adj" fmla="val 6275"/>
            </a:avLst>
          </a:prstGeom>
          <a:solidFill>
            <a:srgbClr val="FBFAF7"/>
          </a:solidFill>
          <a:ln w="6350">
            <a:solidFill>
              <a:srgbClr val="DCE3DE"/>
            </a:solidFill>
            <a:prstDash val="solid"/>
          </a:ln>
        </p:spPr>
        <p:txBody>
          <a:bodyPr/>
          <a:lstStyle/>
          <a:p>
            <a:endParaRPr lang="en-US"/>
          </a:p>
        </p:txBody>
      </p:sp>
      <p:sp>
        <p:nvSpPr>
          <p:cNvPr id="56" name="Shape 51"/>
          <p:cNvSpPr/>
          <p:nvPr/>
        </p:nvSpPr>
        <p:spPr>
          <a:xfrm>
            <a:off x="8998259" y="1617486"/>
            <a:ext cx="2377447" cy="1346123"/>
          </a:xfrm>
          <a:custGeom>
            <a:avLst/>
            <a:gdLst/>
            <a:ahLst/>
            <a:cxnLst/>
            <a:rect l="l" t="t" r="r" b="b"/>
            <a:pathLst>
              <a:path w="2377447" h="1346123">
                <a:moveTo>
                  <a:pt x="0" y="148872"/>
                </a:moveTo>
                <a:arcTo wR="148872" hR="148872" stAng="10800000" swAng="5400000"/>
                <a:lnTo>
                  <a:pt x="2228575" y="0"/>
                </a:lnTo>
                <a:arcTo wR="148872" hR="148872" stAng="16200000" swAng="5400000"/>
                <a:lnTo>
                  <a:pt x="2377447" y="1346123"/>
                </a:lnTo>
                <a:lnTo>
                  <a:pt x="0" y="1346123"/>
                </a:lnTo>
                <a:close/>
              </a:path>
            </a:pathLst>
          </a:custGeom>
          <a:solidFill>
            <a:srgbClr val="EFE3CF"/>
          </a:solidFill>
          <a:ln/>
        </p:spPr>
        <p:txBody>
          <a:bodyPr/>
          <a:lstStyle/>
          <a:p>
            <a:endParaRPr lang="en-US"/>
          </a:p>
        </p:txBody>
      </p:sp>
      <p:sp>
        <p:nvSpPr>
          <p:cNvPr id="57" name="Text 52"/>
          <p:cNvSpPr/>
          <p:nvPr/>
        </p:nvSpPr>
        <p:spPr>
          <a:xfrm>
            <a:off x="9150615" y="1744486"/>
            <a:ext cx="2134917" cy="638682"/>
          </a:xfrm>
          <a:prstGeom prst="rect">
            <a:avLst/>
          </a:prstGeom>
          <a:noFill/>
          <a:ln/>
        </p:spPr>
        <p:txBody>
          <a:bodyPr wrap="square" lIns="0" tIns="0" rIns="0" bIns="0" rtlCol="0" anchor="t">
            <a:normAutofit/>
          </a:bodyPr>
          <a:lstStyle/>
          <a:p>
            <a:pPr marL="0" indent="0" algn="l">
              <a:lnSpc>
                <a:spcPts val="2415"/>
              </a:lnSpc>
              <a:buNone/>
            </a:pPr>
            <a:r>
              <a:rPr lang="en-US" sz="2100" b="1" dirty="0">
                <a:solidFill>
                  <a:srgbClr val="2E3B40"/>
                </a:solidFill>
                <a:latin typeface="Lora" pitchFamily="18" charset="0"/>
                <a:ea typeface="Lora" pitchFamily="18" charset="-122"/>
                <a:cs typeface="Lora" pitchFamily="18" charset="-120"/>
              </a:rPr>
              <a:t>AI in secure development</a:t>
            </a:r>
            <a:endParaRPr lang="en-US" sz="2100" dirty="0"/>
          </a:p>
        </p:txBody>
      </p:sp>
      <p:sp>
        <p:nvSpPr>
          <p:cNvPr id="58" name="Text 53"/>
          <p:cNvSpPr/>
          <p:nvPr/>
        </p:nvSpPr>
        <p:spPr>
          <a:xfrm>
            <a:off x="9150615" y="2404842"/>
            <a:ext cx="2134917" cy="454576"/>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F4D52"/>
                </a:solidFill>
                <a:latin typeface="Nunito Sans" pitchFamily="34" charset="0"/>
                <a:ea typeface="Nunito Sans" pitchFamily="34" charset="-122"/>
                <a:cs typeface="Nunito Sans" pitchFamily="34" charset="-120"/>
              </a:rPr>
              <a:t>Coding agents, MCP servers, IDE rules</a:t>
            </a:r>
            <a:endParaRPr lang="en-US" sz="1300" dirty="0"/>
          </a:p>
        </p:txBody>
      </p:sp>
      <p:sp>
        <p:nvSpPr>
          <p:cNvPr id="59" name="Text 54"/>
          <p:cNvSpPr/>
          <p:nvPr/>
        </p:nvSpPr>
        <p:spPr>
          <a:xfrm>
            <a:off x="9150615" y="3090608"/>
            <a:ext cx="355589" cy="213375"/>
          </a:xfrm>
          <a:custGeom>
            <a:avLst/>
            <a:gdLst/>
            <a:ahLst/>
            <a:cxnLst/>
            <a:rect l="l" t="t" r="r" b="b"/>
            <a:pathLst>
              <a:path w="355589" h="213375">
                <a:moveTo>
                  <a:pt x="63500" y="0"/>
                </a:moveTo>
                <a:lnTo>
                  <a:pt x="292089" y="0"/>
                </a:lnTo>
                <a:arcTo wR="63500" hR="63500" stAng="16200000" swAng="5400000"/>
                <a:lnTo>
                  <a:pt x="355589" y="149875"/>
                </a:lnTo>
                <a:arcTo wR="63500" hR="63500" stAng="0" swAng="5400000"/>
                <a:lnTo>
                  <a:pt x="63500" y="213375"/>
                </a:lnTo>
                <a:arcTo wR="63500" hR="63500" stAng="5400000" swAng="5400000"/>
                <a:lnTo>
                  <a:pt x="0" y="63500"/>
                </a:lnTo>
                <a:arcTo wR="63500" hR="63500" stAng="10800000" swAng="5400000"/>
                <a:close/>
              </a:path>
            </a:pathLst>
          </a:custGeom>
          <a:solidFill>
            <a:srgbClr val="F3D9E6"/>
          </a:solidFill>
          <a:ln/>
        </p:spPr>
        <p:txBody>
          <a:bodyPr wrap="square" lIns="0" tIns="0" rIns="0" bIns="0" rtlCol="0" anchor="t">
            <a:normAutofit/>
          </a:bodyPr>
          <a:lstStyle/>
          <a:p>
            <a:pPr marL="0" indent="0" algn="ctr">
              <a:lnSpc>
                <a:spcPts val="1680"/>
              </a:lnSpc>
              <a:buNone/>
            </a:pPr>
            <a:r>
              <a:rPr lang="en-US" sz="1200" b="1" dirty="0">
                <a:solidFill>
                  <a:srgbClr val="2E3B40"/>
                </a:solidFill>
                <a:latin typeface="Nunito Sans" pitchFamily="34" charset="0"/>
                <a:ea typeface="Nunito Sans" pitchFamily="34" charset="-122"/>
                <a:cs typeface="Nunito Sans" pitchFamily="34" charset="-120"/>
              </a:rPr>
              <a:t>MS</a:t>
            </a:r>
            <a:endParaRPr lang="en-US" sz="1200" dirty="0"/>
          </a:p>
        </p:txBody>
      </p:sp>
      <p:sp>
        <p:nvSpPr>
          <p:cNvPr id="60" name="Text 55"/>
          <p:cNvSpPr/>
          <p:nvPr/>
        </p:nvSpPr>
        <p:spPr>
          <a:xfrm>
            <a:off x="9582382" y="3090608"/>
            <a:ext cx="1691768" cy="487649"/>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2E3B40"/>
                </a:solidFill>
                <a:latin typeface="Nunito Sans" pitchFamily="34" charset="0"/>
                <a:ea typeface="Nunito Sans" pitchFamily="34" charset="-122"/>
                <a:cs typeface="Nunito Sans" pitchFamily="34" charset="-120"/>
              </a:rPr>
              <a:t>Scan code in the agent loop</a:t>
            </a:r>
            <a:endParaRPr lang="en-US" sz="1400" dirty="0"/>
          </a:p>
        </p:txBody>
      </p:sp>
      <p:sp>
        <p:nvSpPr>
          <p:cNvPr id="61" name="Text 56"/>
          <p:cNvSpPr/>
          <p:nvPr/>
        </p:nvSpPr>
        <p:spPr>
          <a:xfrm>
            <a:off x="9150615" y="3590947"/>
            <a:ext cx="2134917" cy="454576"/>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5636A"/>
                </a:solidFill>
                <a:latin typeface="Nunito Sans" pitchFamily="34" charset="0"/>
                <a:ea typeface="Nunito Sans" pitchFamily="34" charset="-122"/>
                <a:cs typeface="Nunito Sans" pitchFamily="34" charset="-120"/>
              </a:rPr>
              <a:t>Semgrep, Snyk MCP, GitHub</a:t>
            </a:r>
            <a:endParaRPr lang="en-US" sz="1300" dirty="0"/>
          </a:p>
        </p:txBody>
      </p:sp>
      <p:sp>
        <p:nvSpPr>
          <p:cNvPr id="62" name="Text 57"/>
          <p:cNvSpPr/>
          <p:nvPr/>
        </p:nvSpPr>
        <p:spPr>
          <a:xfrm>
            <a:off x="9150615" y="4131965"/>
            <a:ext cx="355589" cy="213375"/>
          </a:xfrm>
          <a:custGeom>
            <a:avLst/>
            <a:gdLst/>
            <a:ahLst/>
            <a:cxnLst/>
            <a:rect l="l" t="t" r="r" b="b"/>
            <a:pathLst>
              <a:path w="355589" h="213375">
                <a:moveTo>
                  <a:pt x="63500" y="0"/>
                </a:moveTo>
                <a:lnTo>
                  <a:pt x="292089" y="0"/>
                </a:lnTo>
                <a:arcTo wR="63500" hR="63500" stAng="16200000" swAng="5400000"/>
                <a:lnTo>
                  <a:pt x="355589" y="149875"/>
                </a:lnTo>
                <a:arcTo wR="63500" hR="63500" stAng="0" swAng="5400000"/>
                <a:lnTo>
                  <a:pt x="63500" y="213375"/>
                </a:lnTo>
                <a:arcTo wR="63500" hR="63500" stAng="5400000" swAng="5400000"/>
                <a:lnTo>
                  <a:pt x="0" y="63500"/>
                </a:lnTo>
                <a:arcTo wR="63500" hR="63500" stAng="10800000" swAng="5400000"/>
                <a:close/>
              </a:path>
            </a:pathLst>
          </a:custGeom>
          <a:solidFill>
            <a:srgbClr val="CDE3F1"/>
          </a:solidFill>
          <a:ln/>
        </p:spPr>
        <p:txBody>
          <a:bodyPr wrap="square" lIns="0" tIns="0" rIns="0" bIns="0" rtlCol="0" anchor="t">
            <a:normAutofit/>
          </a:bodyPr>
          <a:lstStyle/>
          <a:p>
            <a:pPr marL="0" indent="0" algn="ctr">
              <a:lnSpc>
                <a:spcPts val="1680"/>
              </a:lnSpc>
              <a:buNone/>
            </a:pPr>
            <a:r>
              <a:rPr lang="en-US" sz="1200" b="1" dirty="0">
                <a:solidFill>
                  <a:srgbClr val="2E3B40"/>
                </a:solidFill>
                <a:latin typeface="Nunito Sans" pitchFamily="34" charset="0"/>
                <a:ea typeface="Nunito Sans" pitchFamily="34" charset="-122"/>
                <a:cs typeface="Nunito Sans" pitchFamily="34" charset="-120"/>
              </a:rPr>
              <a:t>MP</a:t>
            </a:r>
            <a:endParaRPr lang="en-US" sz="1200" dirty="0"/>
          </a:p>
        </p:txBody>
      </p:sp>
      <p:sp>
        <p:nvSpPr>
          <p:cNvPr id="63" name="Text 58"/>
          <p:cNvSpPr/>
          <p:nvPr/>
        </p:nvSpPr>
        <p:spPr>
          <a:xfrm>
            <a:off x="9582382" y="4131965"/>
            <a:ext cx="1691768" cy="487649"/>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2E3B40"/>
                </a:solidFill>
                <a:latin typeface="Nunito Sans" pitchFamily="34" charset="0"/>
                <a:ea typeface="Nunito Sans" pitchFamily="34" charset="-122"/>
                <a:cs typeface="Nunito Sans" pitchFamily="34" charset="-120"/>
              </a:rPr>
              <a:t>Trust packages and MCP tools</a:t>
            </a:r>
            <a:endParaRPr lang="en-US" sz="1400" dirty="0"/>
          </a:p>
        </p:txBody>
      </p:sp>
      <p:sp>
        <p:nvSpPr>
          <p:cNvPr id="64" name="Text 59"/>
          <p:cNvSpPr/>
          <p:nvPr/>
        </p:nvSpPr>
        <p:spPr>
          <a:xfrm>
            <a:off x="9150615" y="4632303"/>
            <a:ext cx="2134917" cy="239988"/>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5636A"/>
                </a:solidFill>
                <a:latin typeface="Nunito Sans" pitchFamily="34" charset="0"/>
                <a:ea typeface="Nunito Sans" pitchFamily="34" charset="-122"/>
                <a:cs typeface="Nunito Sans" pitchFamily="34" charset="-120"/>
              </a:rPr>
              <a:t>Socket, JFrog, </a:t>
            </a:r>
            <a:r>
              <a:rPr lang="en-US" sz="1300" b="1" dirty="0">
                <a:solidFill>
                  <a:srgbClr val="55636A"/>
                </a:solidFill>
                <a:latin typeface="Nunito Sans" pitchFamily="34" charset="0"/>
                <a:ea typeface="Nunito Sans" pitchFamily="34" charset="-122"/>
                <a:cs typeface="Nunito Sans" pitchFamily="34" charset="-120"/>
              </a:rPr>
              <a:t>Jiffy</a:t>
            </a:r>
            <a:endParaRPr lang="en-US" sz="1300" dirty="0"/>
          </a:p>
        </p:txBody>
      </p:sp>
      <p:sp>
        <p:nvSpPr>
          <p:cNvPr id="65" name="Text 60"/>
          <p:cNvSpPr/>
          <p:nvPr/>
        </p:nvSpPr>
        <p:spPr>
          <a:xfrm>
            <a:off x="9150615" y="5173318"/>
            <a:ext cx="355589" cy="213375"/>
          </a:xfrm>
          <a:custGeom>
            <a:avLst/>
            <a:gdLst/>
            <a:ahLst/>
            <a:cxnLst/>
            <a:rect l="l" t="t" r="r" b="b"/>
            <a:pathLst>
              <a:path w="355589" h="213375">
                <a:moveTo>
                  <a:pt x="63500" y="0"/>
                </a:moveTo>
                <a:lnTo>
                  <a:pt x="292089" y="0"/>
                </a:lnTo>
                <a:arcTo wR="63500" hR="63500" stAng="16200000" swAng="5400000"/>
                <a:lnTo>
                  <a:pt x="355589" y="149875"/>
                </a:lnTo>
                <a:arcTo wR="63500" hR="63500" stAng="0" swAng="5400000"/>
                <a:lnTo>
                  <a:pt x="63500" y="213375"/>
                </a:lnTo>
                <a:arcTo wR="63500" hR="63500" stAng="5400000" swAng="5400000"/>
                <a:lnTo>
                  <a:pt x="0" y="63500"/>
                </a:lnTo>
                <a:arcTo wR="63500" hR="63500" stAng="10800000" swAng="5400000"/>
                <a:close/>
              </a:path>
            </a:pathLst>
          </a:custGeom>
          <a:solidFill>
            <a:srgbClr val="F6E2C8"/>
          </a:solidFill>
          <a:ln/>
        </p:spPr>
        <p:txBody>
          <a:bodyPr wrap="square" lIns="0" tIns="0" rIns="0" bIns="0" rtlCol="0" anchor="t">
            <a:normAutofit/>
          </a:bodyPr>
          <a:lstStyle/>
          <a:p>
            <a:pPr marL="0" indent="0" algn="ctr">
              <a:lnSpc>
                <a:spcPts val="1680"/>
              </a:lnSpc>
              <a:buNone/>
            </a:pPr>
            <a:r>
              <a:rPr lang="en-US" sz="1200" b="1" dirty="0">
                <a:solidFill>
                  <a:srgbClr val="2E3B40"/>
                </a:solidFill>
                <a:latin typeface="Nunito Sans" pitchFamily="34" charset="0"/>
                <a:ea typeface="Nunito Sans" pitchFamily="34" charset="-122"/>
                <a:cs typeface="Nunito Sans" pitchFamily="34" charset="-120"/>
              </a:rPr>
              <a:t>MG</a:t>
            </a:r>
            <a:endParaRPr lang="en-US" sz="1200" dirty="0"/>
          </a:p>
        </p:txBody>
      </p:sp>
      <p:sp>
        <p:nvSpPr>
          <p:cNvPr id="66" name="Text 61"/>
          <p:cNvSpPr/>
          <p:nvPr/>
        </p:nvSpPr>
        <p:spPr>
          <a:xfrm>
            <a:off x="9582382" y="5173318"/>
            <a:ext cx="1691768" cy="487649"/>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2E3B40"/>
                </a:solidFill>
                <a:latin typeface="Nunito Sans" pitchFamily="34" charset="0"/>
                <a:ea typeface="Nunito Sans" pitchFamily="34" charset="-122"/>
                <a:cs typeface="Nunito Sans" pitchFamily="34" charset="-120"/>
              </a:rPr>
              <a:t>Block untrusted tools at runtime</a:t>
            </a:r>
            <a:endParaRPr lang="en-US" sz="1400" dirty="0"/>
          </a:p>
        </p:txBody>
      </p:sp>
      <p:sp>
        <p:nvSpPr>
          <p:cNvPr id="67" name="Text 62"/>
          <p:cNvSpPr/>
          <p:nvPr/>
        </p:nvSpPr>
        <p:spPr>
          <a:xfrm>
            <a:off x="9150615" y="5673657"/>
            <a:ext cx="2134917" cy="239988"/>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55636A"/>
                </a:solidFill>
                <a:latin typeface="Nunito Sans" pitchFamily="34" charset="0"/>
                <a:ea typeface="Nunito Sans" pitchFamily="34" charset="-122"/>
                <a:cs typeface="Nunito Sans" pitchFamily="34" charset="-120"/>
              </a:rPr>
              <a:t>Jiffy</a:t>
            </a:r>
            <a:r>
              <a:rPr lang="en-US" sz="1300" dirty="0">
                <a:solidFill>
                  <a:srgbClr val="55636A"/>
                </a:solidFill>
                <a:latin typeface="Nunito Sans" pitchFamily="34" charset="0"/>
                <a:ea typeface="Nunito Sans" pitchFamily="34" charset="-122"/>
                <a:cs typeface="Nunito Sans" pitchFamily="34" charset="-120"/>
              </a:rPr>
              <a:t>, JFrog MCP registry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EAF0EC"/>
        </a:solidFill>
        <a:effectLst/>
      </p:bgPr>
    </p:bg>
    <p:spTree>
      <p:nvGrpSpPr>
        <p:cNvPr id="1" name=""/>
        <p:cNvGrpSpPr/>
        <p:nvPr/>
      </p:nvGrpSpPr>
      <p:grpSpPr>
        <a:xfrm>
          <a:off x="0" y="0"/>
          <a:ext cx="0" cy="0"/>
          <a:chOff x="0" y="0"/>
          <a:chExt cx="0" cy="0"/>
        </a:xfrm>
      </p:grpSpPr>
      <p:sp>
        <p:nvSpPr>
          <p:cNvPr id="2" name="Text 0"/>
          <p:cNvSpPr/>
          <p:nvPr/>
        </p:nvSpPr>
        <p:spPr>
          <a:xfrm>
            <a:off x="812767" y="558769"/>
            <a:ext cx="10883461" cy="248422"/>
          </a:xfrm>
          <a:prstGeom prst="rect">
            <a:avLst/>
          </a:prstGeom>
          <a:noFill/>
          <a:ln/>
        </p:spPr>
        <p:txBody>
          <a:bodyPr wrap="square" lIns="0" tIns="0" rIns="0" bIns="0" rtlCol="0" anchor="t">
            <a:normAutofit/>
          </a:bodyPr>
          <a:lstStyle/>
          <a:p>
            <a:pPr marL="0" indent="0" algn="l">
              <a:lnSpc>
                <a:spcPts val="1770"/>
              </a:lnSpc>
              <a:buNone/>
            </a:pPr>
            <a:r>
              <a:rPr lang="en-US" sz="1264" b="1" kern="0" spc="150" dirty="0">
                <a:solidFill>
                  <a:srgbClr val="4F7A64"/>
                </a:solidFill>
                <a:latin typeface="Nunito Sans" pitchFamily="34" charset="0"/>
                <a:ea typeface="Nunito Sans" pitchFamily="34" charset="-122"/>
                <a:cs typeface="Nunito Sans" pitchFamily="34" charset="-120"/>
              </a:rPr>
              <a:t>COMPARISON 2 OF 2 · JIFFY'S CAPABILITY AREAS</a:t>
            </a:r>
            <a:endParaRPr lang="en-US" sz="1264" dirty="0"/>
          </a:p>
        </p:txBody>
      </p:sp>
      <p:sp>
        <p:nvSpPr>
          <p:cNvPr id="3" name="Text 1"/>
          <p:cNvSpPr>
            <a:spLocks noGrp="1"/>
          </p:cNvSpPr>
          <p:nvPr>
            <p:ph type="title"/>
          </p:nvPr>
        </p:nvSpPr>
        <p:spPr>
          <a:xfrm>
            <a:off x="812767" y="819879"/>
            <a:ext cx="10883461" cy="350838"/>
          </a:xfrm>
          <a:prstGeom prst="rect">
            <a:avLst/>
          </a:prstGeom>
          <a:noFill/>
          <a:ln/>
        </p:spPr>
        <p:txBody>
          <a:bodyPr wrap="square" lIns="0" tIns="0" rIns="0" bIns="0" rtlCol="0" anchor="t">
            <a:normAutofit/>
          </a:bodyPr>
          <a:lstStyle/>
          <a:p>
            <a:pPr marL="0" indent="0" algn="l">
              <a:lnSpc>
                <a:spcPts val="2574"/>
              </a:lnSpc>
              <a:buNone/>
            </a:pPr>
            <a:r>
              <a:rPr lang="en-US" sz="2340" b="0" i="0" dirty="0">
                <a:solidFill>
                  <a:srgbClr val="2E3B40"/>
                </a:solidFill>
                <a:latin typeface="Lora" pitchFamily="18" charset="0"/>
                <a:ea typeface="Lora" pitchFamily="18" charset="-122"/>
                <a:cs typeface="Lora" pitchFamily="18" charset="-120"/>
              </a:rPr>
              <a:t>Observability, automated pentesting, runtime defense</a:t>
            </a:r>
            <a:endParaRPr lang="en-US" sz="2340" dirty="0"/>
          </a:p>
        </p:txBody>
      </p:sp>
      <p:sp>
        <p:nvSpPr>
          <p:cNvPr id="4" name="Text 2"/>
          <p:cNvSpPr/>
          <p:nvPr/>
        </p:nvSpPr>
        <p:spPr>
          <a:xfrm>
            <a:off x="654269" y="6404821"/>
            <a:ext cx="10883461" cy="248477"/>
          </a:xfrm>
          <a:prstGeom prst="rect">
            <a:avLst/>
          </a:prstGeom>
          <a:noFill/>
          <a:ln/>
        </p:spPr>
        <p:txBody>
          <a:bodyPr wrap="square" lIns="0" tIns="0" rIns="0" bIns="0" rtlCol="0" anchor="t">
            <a:normAutofit/>
          </a:bodyPr>
          <a:lstStyle/>
          <a:p>
            <a:pPr marL="0" indent="0" algn="l">
              <a:lnSpc>
                <a:spcPts val="1770"/>
              </a:lnSpc>
              <a:buNone/>
            </a:pPr>
            <a:r>
              <a:rPr lang="en-US" sz="1264" dirty="0">
                <a:solidFill>
                  <a:srgbClr val="55636A"/>
                </a:solidFill>
                <a:latin typeface="Nunito Sans" pitchFamily="34" charset="0"/>
                <a:ea typeface="Nunito Sans" pitchFamily="34" charset="-122"/>
                <a:cs typeface="Nunito Sans" pitchFamily="34" charset="-120"/>
              </a:rPr>
              <a:t>Cost: Free · $ pay per use or free tier · $$ subscription or bundled · $$$ enterprise quote</a:t>
            </a:r>
            <a:endParaRPr lang="en-US" sz="1264" dirty="0"/>
          </a:p>
        </p:txBody>
      </p:sp>
      <p:sp>
        <p:nvSpPr>
          <p:cNvPr id="5" name="Shape 3"/>
          <p:cNvSpPr/>
          <p:nvPr/>
        </p:nvSpPr>
        <p:spPr>
          <a:xfrm>
            <a:off x="812767" y="1546160"/>
            <a:ext cx="10566467" cy="4753075"/>
          </a:xfrm>
          <a:prstGeom prst="roundRect">
            <a:avLst>
              <a:gd name="adj" fmla="val 2672"/>
            </a:avLst>
          </a:prstGeom>
          <a:solidFill>
            <a:srgbClr val="FBFAF7"/>
          </a:solidFill>
          <a:ln/>
        </p:spPr>
        <p:txBody>
          <a:bodyPr/>
          <a:lstStyle/>
          <a:p>
            <a:endParaRPr lang="en-US"/>
          </a:p>
        </p:txBody>
      </p:sp>
      <p:sp>
        <p:nvSpPr>
          <p:cNvPr id="6" name="Shape 4"/>
          <p:cNvSpPr/>
          <p:nvPr/>
        </p:nvSpPr>
        <p:spPr>
          <a:xfrm>
            <a:off x="812767" y="1546160"/>
            <a:ext cx="10566467" cy="4753075"/>
          </a:xfrm>
          <a:custGeom>
            <a:avLst/>
            <a:gdLst/>
            <a:ahLst/>
            <a:cxnLst/>
            <a:rect l="l" t="t" r="r" b="b"/>
            <a:pathLst>
              <a:path w="10566467" h="4753075">
                <a:moveTo>
                  <a:pt x="10439467" y="0"/>
                </a:moveTo>
                <a:lnTo>
                  <a:pt x="10439467" y="0"/>
                </a:lnTo>
                <a:arcTo wR="127000" hR="127000" stAng="16200000" swAng="5400000"/>
                <a:lnTo>
                  <a:pt x="10566467" y="4626075"/>
                </a:lnTo>
                <a:arcTo wR="127000" hR="127000" stAng="0" swAng="5400000"/>
                <a:lnTo>
                  <a:pt x="127000" y="4753075"/>
                </a:lnTo>
                <a:arcTo wR="127000" hR="127000" stAng="5400000" swAng="5400000"/>
                <a:lnTo>
                  <a:pt x="0" y="4626075"/>
                </a:lnTo>
                <a:arcTo wR="127000" hR="120650" stAng="10800000" swAng="-5400000"/>
                <a:lnTo>
                  <a:pt x="10439467" y="4746725"/>
                </a:lnTo>
                <a:arcTo wR="120650" hR="120650" stAng="5400000" swAng="-5400000"/>
                <a:lnTo>
                  <a:pt x="10560117" y="127000"/>
                </a:lnTo>
                <a:arcTo wR="120650" hR="127000" stAng="0" swAng="-5400000"/>
                <a:close/>
              </a:path>
            </a:pathLst>
          </a:custGeom>
          <a:solidFill>
            <a:srgbClr val="D5DED8"/>
          </a:solidFill>
          <a:ln/>
        </p:spPr>
        <p:txBody>
          <a:bodyPr/>
          <a:lstStyle/>
          <a:p>
            <a:endParaRPr lang="en-US"/>
          </a:p>
        </p:txBody>
      </p:sp>
      <p:sp>
        <p:nvSpPr>
          <p:cNvPr id="7" name="Shape 5"/>
          <p:cNvSpPr/>
          <p:nvPr/>
        </p:nvSpPr>
        <p:spPr>
          <a:xfrm>
            <a:off x="812767" y="1546160"/>
            <a:ext cx="10566467" cy="4753075"/>
          </a:xfrm>
          <a:custGeom>
            <a:avLst/>
            <a:gdLst/>
            <a:ahLst/>
            <a:cxnLst/>
            <a:rect l="l" t="t" r="r" b="b"/>
            <a:pathLst>
              <a:path w="10566467" h="4753075">
                <a:moveTo>
                  <a:pt x="127000" y="4753075"/>
                </a:moveTo>
                <a:lnTo>
                  <a:pt x="127000" y="4753075"/>
                </a:lnTo>
                <a:arcTo wR="127000" hR="127000" stAng="5400000" swAng="5400000"/>
                <a:lnTo>
                  <a:pt x="0" y="127000"/>
                </a:lnTo>
                <a:arcTo wR="127000" hR="127000" stAng="10800000" swAng="5400000"/>
                <a:lnTo>
                  <a:pt x="10439467" y="0"/>
                </a:lnTo>
                <a:arcTo wR="127000" hR="127000" stAng="16200000" swAng="5400000"/>
                <a:lnTo>
                  <a:pt x="10566467" y="127000"/>
                </a:lnTo>
                <a:arcTo wR="127000" hR="116417" stAng="0" swAng="-5400000"/>
                <a:lnTo>
                  <a:pt x="127000" y="10583"/>
                </a:lnTo>
                <a:arcTo wR="116417" hR="116417" stAng="16200000" swAng="-5400000"/>
                <a:lnTo>
                  <a:pt x="10583" y="4626075"/>
                </a:lnTo>
                <a:arcTo wR="116417" hR="127000" stAng="10800000" swAng="-5400000"/>
                <a:close/>
              </a:path>
            </a:pathLst>
          </a:custGeom>
          <a:solidFill>
            <a:srgbClr val="141413">
              <a:alpha val="22000"/>
            </a:srgbClr>
          </a:solidFill>
          <a:ln/>
        </p:spPr>
        <p:txBody>
          <a:bodyPr/>
          <a:lstStyle/>
          <a:p>
            <a:endParaRPr lang="en-US"/>
          </a:p>
        </p:txBody>
      </p:sp>
      <p:graphicFrame>
        <p:nvGraphicFramePr>
          <p:cNvPr id="8" name="Table 0"/>
          <p:cNvGraphicFramePr>
            <a:graphicFrameLocks noGrp="1"/>
          </p:cNvGraphicFramePr>
          <p:nvPr>
            <p:extLst>
              <p:ext uri="{D42A27DB-BD31-4B8C-83A1-F6EECF244321}">
                <p14:modId xmlns:p14="http://schemas.microsoft.com/office/powerpoint/2010/main" val="658862034"/>
              </p:ext>
            </p:extLst>
          </p:nvPr>
        </p:nvGraphicFramePr>
        <p:xfrm>
          <a:off x="823350" y="1556743"/>
          <a:ext cx="10552356" cy="4738967"/>
        </p:xfrm>
        <a:graphic>
          <a:graphicData uri="http://schemas.openxmlformats.org/drawingml/2006/table">
            <a:tbl>
              <a:tblPr/>
              <a:tblGrid>
                <a:gridCol w="1582853">
                  <a:extLst>
                    <a:ext uri="{9D8B030D-6E8A-4147-A177-3AD203B41FA5}">
                      <a16:colId xmlns:a16="http://schemas.microsoft.com/office/drawing/2014/main" val="20000"/>
                    </a:ext>
                  </a:extLst>
                </a:gridCol>
                <a:gridCol w="2427042">
                  <a:extLst>
                    <a:ext uri="{9D8B030D-6E8A-4147-A177-3AD203B41FA5}">
                      <a16:colId xmlns:a16="http://schemas.microsoft.com/office/drawing/2014/main" val="20001"/>
                    </a:ext>
                  </a:extLst>
                </a:gridCol>
                <a:gridCol w="1477330">
                  <a:extLst>
                    <a:ext uri="{9D8B030D-6E8A-4147-A177-3AD203B41FA5}">
                      <a16:colId xmlns:a16="http://schemas.microsoft.com/office/drawing/2014/main" val="20002"/>
                    </a:ext>
                  </a:extLst>
                </a:gridCol>
                <a:gridCol w="1371806">
                  <a:extLst>
                    <a:ext uri="{9D8B030D-6E8A-4147-A177-3AD203B41FA5}">
                      <a16:colId xmlns:a16="http://schemas.microsoft.com/office/drawing/2014/main" val="20003"/>
                    </a:ext>
                  </a:extLst>
                </a:gridCol>
                <a:gridCol w="2004948">
                  <a:extLst>
                    <a:ext uri="{9D8B030D-6E8A-4147-A177-3AD203B41FA5}">
                      <a16:colId xmlns:a16="http://schemas.microsoft.com/office/drawing/2014/main" val="20004"/>
                    </a:ext>
                  </a:extLst>
                </a:gridCol>
                <a:gridCol w="1688377">
                  <a:extLst>
                    <a:ext uri="{9D8B030D-6E8A-4147-A177-3AD203B41FA5}">
                      <a16:colId xmlns:a16="http://schemas.microsoft.com/office/drawing/2014/main" val="20005"/>
                    </a:ext>
                  </a:extLst>
                </a:gridCol>
              </a:tblGrid>
              <a:tr h="364519">
                <a:tc>
                  <a:txBody>
                    <a:bodyPr/>
                    <a:lstStyle/>
                    <a:p>
                      <a:pPr marL="0" indent="0">
                        <a:lnSpc>
                          <a:spcPts val="1831"/>
                        </a:lnSpc>
                        <a:buNone/>
                      </a:pPr>
                      <a:r>
                        <a:rPr lang="en-US" sz="1308" b="1" dirty="0">
                          <a:solidFill>
                            <a:srgbClr val="2E3B40"/>
                          </a:solidFill>
                          <a:latin typeface="Nunito Sans" pitchFamily="34" charset="0"/>
                          <a:ea typeface="Nunito Sans" pitchFamily="34" charset="-122"/>
                          <a:cs typeface="Nunito Sans" pitchFamily="34" charset="-120"/>
                        </a:rPr>
                        <a:t>Capability</a:t>
                      </a:r>
                      <a:endParaRPr lang="en-US" sz="1308" dirty="0">
                        <a:latin typeface="Nunito Sans" charset="0"/>
                        <a:ea typeface="Nunito Sans" charset="0"/>
                        <a:cs typeface="Nunito Sans" charset="0"/>
                      </a:endParaRPr>
                    </a:p>
                  </a:txBody>
                  <a:tcPr marL="58146" marR="58146" marT="58146" marB="58146">
                    <a:lnL w="0" cap="flat" cmpd="sng" algn="ctr">
                      <a:noFill/>
                    </a:lnL>
                    <a:lnR w="12700" cap="flat" cmpd="sng" algn="ctr">
                      <a:solidFill>
                        <a:srgbClr val="A6B3A9"/>
                      </a:solidFill>
                      <a:prstDash val="solid"/>
                      <a:round/>
                      <a:headEnd type="none" w="med" len="med"/>
                      <a:tailEnd type="none" w="med" len="med"/>
                    </a:lnR>
                    <a:lnT w="0" cap="flat" cmpd="sng" algn="ctr">
                      <a:noFill/>
                    </a:lnT>
                    <a:lnB w="12700" cap="flat" cmpd="sng" algn="ctr">
                      <a:solidFill>
                        <a:srgbClr val="A6B3A9"/>
                      </a:solidFill>
                      <a:prstDash val="solid"/>
                      <a:round/>
                      <a:headEnd type="none" w="med" len="med"/>
                      <a:tailEnd type="none" w="med" len="med"/>
                    </a:lnB>
                    <a:solidFill>
                      <a:srgbClr val="CFE0D3"/>
                    </a:solidFill>
                  </a:tcPr>
                </a:tc>
                <a:tc>
                  <a:txBody>
                    <a:bodyPr/>
                    <a:lstStyle/>
                    <a:p>
                      <a:pPr marL="0" indent="0">
                        <a:lnSpc>
                          <a:spcPts val="1831"/>
                        </a:lnSpc>
                        <a:buNone/>
                      </a:pPr>
                      <a:r>
                        <a:rPr lang="en-US" sz="1308" b="1" dirty="0">
                          <a:solidFill>
                            <a:srgbClr val="2E3B40"/>
                          </a:solidFill>
                          <a:latin typeface="Nunito Sans" pitchFamily="34" charset="0"/>
                          <a:ea typeface="Nunito Sans" pitchFamily="34" charset="-122"/>
                          <a:cs typeface="Nunito Sans" pitchFamily="34" charset="-120"/>
                        </a:rPr>
                        <a:t>Tool</a:t>
                      </a:r>
                      <a:endParaRPr lang="en-US" sz="1308" dirty="0">
                        <a:latin typeface="Nunito Sans" charset="0"/>
                        <a:ea typeface="Nunito Sans" charset="0"/>
                        <a:cs typeface="Nunito Sans" charset="0"/>
                      </a:endParaRPr>
                    </a:p>
                  </a:txBody>
                  <a:tcPr marL="58146" marR="58146" marT="58146" marB="58146">
                    <a:lnL w="12700" cap="flat" cmpd="sng" algn="ctr">
                      <a:solidFill>
                        <a:srgbClr val="A6B3A9"/>
                      </a:solidFill>
                      <a:prstDash val="solid"/>
                      <a:round/>
                      <a:headEnd type="none" w="med" len="med"/>
                      <a:tailEnd type="none" w="med" len="med"/>
                    </a:lnL>
                    <a:lnR w="12700" cap="flat" cmpd="sng" algn="ctr">
                      <a:solidFill>
                        <a:srgbClr val="A6B3A9"/>
                      </a:solidFill>
                      <a:prstDash val="solid"/>
                      <a:round/>
                      <a:headEnd type="none" w="med" len="med"/>
                      <a:tailEnd type="none" w="med" len="med"/>
                    </a:lnR>
                    <a:lnT w="0" cap="flat" cmpd="sng" algn="ctr">
                      <a:noFill/>
                    </a:lnT>
                    <a:lnB w="12700" cap="flat" cmpd="sng" algn="ctr">
                      <a:solidFill>
                        <a:srgbClr val="A6B3A9"/>
                      </a:solidFill>
                      <a:prstDash val="solid"/>
                      <a:round/>
                      <a:headEnd type="none" w="med" len="med"/>
                      <a:tailEnd type="none" w="med" len="med"/>
                    </a:lnB>
                    <a:solidFill>
                      <a:srgbClr val="CFE0D3"/>
                    </a:solidFill>
                  </a:tcPr>
                </a:tc>
                <a:tc>
                  <a:txBody>
                    <a:bodyPr/>
                    <a:lstStyle/>
                    <a:p>
                      <a:pPr marL="0" indent="0">
                        <a:lnSpc>
                          <a:spcPts val="1831"/>
                        </a:lnSpc>
                        <a:buNone/>
                      </a:pPr>
                      <a:r>
                        <a:rPr lang="en-US" sz="1308" b="1" dirty="0">
                          <a:solidFill>
                            <a:srgbClr val="2E3B40"/>
                          </a:solidFill>
                          <a:latin typeface="Nunito Sans" pitchFamily="34" charset="0"/>
                          <a:ea typeface="Nunito Sans" pitchFamily="34" charset="-122"/>
                          <a:cs typeface="Nunito Sans" pitchFamily="34" charset="-120"/>
                        </a:rPr>
                        <a:t>Usability</a:t>
                      </a:r>
                      <a:endParaRPr lang="en-US" sz="1308" dirty="0">
                        <a:latin typeface="Nunito Sans" charset="0"/>
                        <a:ea typeface="Nunito Sans" charset="0"/>
                        <a:cs typeface="Nunito Sans" charset="0"/>
                      </a:endParaRPr>
                    </a:p>
                  </a:txBody>
                  <a:tcPr marL="58146" marR="58146" marT="58146" marB="58146">
                    <a:lnL w="12700" cap="flat" cmpd="sng" algn="ctr">
                      <a:solidFill>
                        <a:srgbClr val="A6B3A9"/>
                      </a:solidFill>
                      <a:prstDash val="solid"/>
                      <a:round/>
                      <a:headEnd type="none" w="med" len="med"/>
                      <a:tailEnd type="none" w="med" len="med"/>
                    </a:lnL>
                    <a:lnR w="12700" cap="flat" cmpd="sng" algn="ctr">
                      <a:solidFill>
                        <a:srgbClr val="A6B3A9"/>
                      </a:solidFill>
                      <a:prstDash val="solid"/>
                      <a:round/>
                      <a:headEnd type="none" w="med" len="med"/>
                      <a:tailEnd type="none" w="med" len="med"/>
                    </a:lnR>
                    <a:lnT w="0" cap="flat" cmpd="sng" algn="ctr">
                      <a:noFill/>
                    </a:lnT>
                    <a:lnB w="12700" cap="flat" cmpd="sng" algn="ctr">
                      <a:solidFill>
                        <a:srgbClr val="A6B3A9"/>
                      </a:solidFill>
                      <a:prstDash val="solid"/>
                      <a:round/>
                      <a:headEnd type="none" w="med" len="med"/>
                      <a:tailEnd type="none" w="med" len="med"/>
                    </a:lnB>
                    <a:solidFill>
                      <a:srgbClr val="CFE0D3"/>
                    </a:solidFill>
                  </a:tcPr>
                </a:tc>
                <a:tc>
                  <a:txBody>
                    <a:bodyPr/>
                    <a:lstStyle/>
                    <a:p>
                      <a:pPr marL="0" indent="0">
                        <a:lnSpc>
                          <a:spcPts val="1831"/>
                        </a:lnSpc>
                        <a:buNone/>
                      </a:pPr>
                      <a:r>
                        <a:rPr lang="en-US" sz="1308" b="1" dirty="0">
                          <a:solidFill>
                            <a:srgbClr val="2E3B40"/>
                          </a:solidFill>
                          <a:latin typeface="Nunito Sans" pitchFamily="34" charset="0"/>
                          <a:ea typeface="Nunito Sans" pitchFamily="34" charset="-122"/>
                          <a:cs typeface="Nunito Sans" pitchFamily="34" charset="-120"/>
                        </a:rPr>
                        <a:t>Scalability</a:t>
                      </a:r>
                      <a:endParaRPr lang="en-US" sz="1308" dirty="0">
                        <a:latin typeface="Nunito Sans" charset="0"/>
                        <a:ea typeface="Nunito Sans" charset="0"/>
                        <a:cs typeface="Nunito Sans" charset="0"/>
                      </a:endParaRPr>
                    </a:p>
                  </a:txBody>
                  <a:tcPr marL="58146" marR="58146" marT="58146" marB="58146">
                    <a:lnL w="12700" cap="flat" cmpd="sng" algn="ctr">
                      <a:solidFill>
                        <a:srgbClr val="A6B3A9"/>
                      </a:solidFill>
                      <a:prstDash val="solid"/>
                      <a:round/>
                      <a:headEnd type="none" w="med" len="med"/>
                      <a:tailEnd type="none" w="med" len="med"/>
                    </a:lnL>
                    <a:lnR w="12700" cap="flat" cmpd="sng" algn="ctr">
                      <a:solidFill>
                        <a:srgbClr val="A6B3A9"/>
                      </a:solidFill>
                      <a:prstDash val="solid"/>
                      <a:round/>
                      <a:headEnd type="none" w="med" len="med"/>
                      <a:tailEnd type="none" w="med" len="med"/>
                    </a:lnR>
                    <a:lnT w="0" cap="flat" cmpd="sng" algn="ctr">
                      <a:noFill/>
                    </a:lnT>
                    <a:lnB w="12700" cap="flat" cmpd="sng" algn="ctr">
                      <a:solidFill>
                        <a:srgbClr val="A6B3A9"/>
                      </a:solidFill>
                      <a:prstDash val="solid"/>
                      <a:round/>
                      <a:headEnd type="none" w="med" len="med"/>
                      <a:tailEnd type="none" w="med" len="med"/>
                    </a:lnB>
                    <a:solidFill>
                      <a:srgbClr val="CFE0D3"/>
                    </a:solidFill>
                  </a:tcPr>
                </a:tc>
                <a:tc>
                  <a:txBody>
                    <a:bodyPr/>
                    <a:lstStyle/>
                    <a:p>
                      <a:pPr marL="0" indent="0">
                        <a:lnSpc>
                          <a:spcPts val="1831"/>
                        </a:lnSpc>
                        <a:buNone/>
                      </a:pPr>
                      <a:r>
                        <a:rPr lang="en-US" sz="1308" b="1" dirty="0">
                          <a:solidFill>
                            <a:srgbClr val="2E3B40"/>
                          </a:solidFill>
                          <a:latin typeface="Nunito Sans" pitchFamily="34" charset="0"/>
                          <a:ea typeface="Nunito Sans" pitchFamily="34" charset="-122"/>
                          <a:cs typeface="Nunito Sans" pitchFamily="34" charset="-120"/>
                        </a:rPr>
                        <a:t>Integration</a:t>
                      </a:r>
                      <a:endParaRPr lang="en-US" sz="1308" dirty="0">
                        <a:latin typeface="Nunito Sans" charset="0"/>
                        <a:ea typeface="Nunito Sans" charset="0"/>
                        <a:cs typeface="Nunito Sans" charset="0"/>
                      </a:endParaRPr>
                    </a:p>
                  </a:txBody>
                  <a:tcPr marL="58146" marR="58146" marT="58146" marB="58146">
                    <a:lnL w="12700" cap="flat" cmpd="sng" algn="ctr">
                      <a:solidFill>
                        <a:srgbClr val="A6B3A9"/>
                      </a:solidFill>
                      <a:prstDash val="solid"/>
                      <a:round/>
                      <a:headEnd type="none" w="med" len="med"/>
                      <a:tailEnd type="none" w="med" len="med"/>
                    </a:lnL>
                    <a:lnR w="12700" cap="flat" cmpd="sng" algn="ctr">
                      <a:solidFill>
                        <a:srgbClr val="A6B3A9"/>
                      </a:solidFill>
                      <a:prstDash val="solid"/>
                      <a:round/>
                      <a:headEnd type="none" w="med" len="med"/>
                      <a:tailEnd type="none" w="med" len="med"/>
                    </a:lnR>
                    <a:lnT w="0" cap="flat" cmpd="sng" algn="ctr">
                      <a:noFill/>
                    </a:lnT>
                    <a:lnB w="12700" cap="flat" cmpd="sng" algn="ctr">
                      <a:solidFill>
                        <a:srgbClr val="A6B3A9"/>
                      </a:solidFill>
                      <a:prstDash val="solid"/>
                      <a:round/>
                      <a:headEnd type="none" w="med" len="med"/>
                      <a:tailEnd type="none" w="med" len="med"/>
                    </a:lnB>
                    <a:solidFill>
                      <a:srgbClr val="CFE0D3"/>
                    </a:solidFill>
                  </a:tcPr>
                </a:tc>
                <a:tc>
                  <a:txBody>
                    <a:bodyPr/>
                    <a:lstStyle/>
                    <a:p>
                      <a:pPr marL="0" indent="0">
                        <a:lnSpc>
                          <a:spcPts val="1831"/>
                        </a:lnSpc>
                        <a:buNone/>
                      </a:pPr>
                      <a:r>
                        <a:rPr lang="en-US" sz="1308" b="1" dirty="0">
                          <a:solidFill>
                            <a:srgbClr val="2E3B40"/>
                          </a:solidFill>
                          <a:latin typeface="Nunito Sans" pitchFamily="34" charset="0"/>
                          <a:ea typeface="Nunito Sans" pitchFamily="34" charset="-122"/>
                          <a:cs typeface="Nunito Sans" pitchFamily="34" charset="-120"/>
                        </a:rPr>
                        <a:t>Cost</a:t>
                      </a:r>
                      <a:endParaRPr lang="en-US" sz="1308" dirty="0">
                        <a:latin typeface="Nunito Sans" charset="0"/>
                        <a:ea typeface="Nunito Sans" charset="0"/>
                        <a:cs typeface="Nunito Sans" charset="0"/>
                      </a:endParaRPr>
                    </a:p>
                  </a:txBody>
                  <a:tcPr marL="58146" marR="58146" marT="58146" marB="58146">
                    <a:lnL w="12700" cap="flat" cmpd="sng" algn="ctr">
                      <a:solidFill>
                        <a:srgbClr val="A6B3A9"/>
                      </a:solidFill>
                      <a:prstDash val="solid"/>
                      <a:round/>
                      <a:headEnd type="none" w="med" len="med"/>
                      <a:tailEnd type="none" w="med" len="med"/>
                    </a:lnL>
                    <a:lnR w="12700" cap="flat" cmpd="sng" algn="ctr">
                      <a:solidFill>
                        <a:srgbClr val="A6B3A9"/>
                      </a:solidFill>
                      <a:prstDash val="solid"/>
                      <a:round/>
                      <a:headEnd type="none" w="med" len="med"/>
                      <a:tailEnd type="none" w="med" len="med"/>
                    </a:lnR>
                    <a:lnT w="0" cap="flat" cmpd="sng" algn="ctr">
                      <a:noFill/>
                    </a:lnT>
                    <a:lnB w="12700" cap="flat" cmpd="sng" algn="ctr">
                      <a:solidFill>
                        <a:srgbClr val="A6B3A9"/>
                      </a:solidFill>
                      <a:prstDash val="solid"/>
                      <a:round/>
                      <a:headEnd type="none" w="med" len="med"/>
                      <a:tailEnd type="none" w="med" len="med"/>
                    </a:lnB>
                    <a:solidFill>
                      <a:srgbClr val="CFE0D3"/>
                    </a:solidFill>
                  </a:tcPr>
                </a:tc>
                <a:extLst>
                  <a:ext uri="{0D108BD9-81ED-4DB2-BD59-A6C34878D82A}">
                    <a16:rowId xmlns:a16="http://schemas.microsoft.com/office/drawing/2014/main" val="10000"/>
                  </a:ext>
                </a:extLst>
              </a:tr>
              <a:tr h="364519">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Observability</a:t>
                      </a:r>
                      <a:endParaRPr lang="en-US" sz="1308" dirty="0">
                        <a:latin typeface="Nunito Sans" charset="0"/>
                        <a:ea typeface="Nunito Sans" charset="0"/>
                        <a:cs typeface="Nunito Sans" charset="0"/>
                      </a:endParaRPr>
                    </a:p>
                  </a:txBody>
                  <a:tcPr marL="58146" marR="58146" marT="58146" marB="58146">
                    <a:lnL w="0" cap="flat" cmpd="sng" algn="ctr">
                      <a:noFill/>
                    </a:lnL>
                    <a:lnR w="12700" cap="flat" cmpd="sng" algn="ctr">
                      <a:solidFill>
                        <a:srgbClr val="C8C7C5"/>
                      </a:solidFill>
                      <a:prstDash val="solid"/>
                      <a:round/>
                      <a:headEnd type="none" w="med" len="med"/>
                      <a:tailEnd type="none" w="med" len="med"/>
                    </a:lnR>
                    <a:lnT w="12700" cap="flat" cmpd="sng" algn="ctr">
                      <a:solidFill>
                        <a:srgbClr val="A6B3A9"/>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Datadog AI Guard</a:t>
                      </a:r>
                      <a:endParaRPr lang="en-US" sz="1308" dirty="0">
                        <a:latin typeface="Nunito Sans" charset="0"/>
                        <a:ea typeface="Nunito Sans" charset="0"/>
                        <a:cs typeface="Nunito Sans" charset="0"/>
                      </a:endParaRPr>
                    </a:p>
                  </a:txBody>
                  <a:tcPr marL="58146" marR="58146" marT="58146" marB="58146">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A6B3A9"/>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Easy on Datadog</a:t>
                      </a:r>
                      <a:endParaRPr lang="en-US" sz="1308" dirty="0">
                        <a:latin typeface="Nunito Sans" charset="0"/>
                        <a:ea typeface="Nunito Sans" charset="0"/>
                        <a:cs typeface="Nunito Sans" charset="0"/>
                      </a:endParaRPr>
                    </a:p>
                  </a:txBody>
                  <a:tcPr marL="58146" marR="58146" marT="58146" marB="58146">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A6B3A9"/>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Very high</a:t>
                      </a:r>
                      <a:endParaRPr lang="en-US" sz="1308" dirty="0">
                        <a:latin typeface="Nunito Sans" charset="0"/>
                        <a:ea typeface="Nunito Sans" charset="0"/>
                        <a:cs typeface="Nunito Sans" charset="0"/>
                      </a:endParaRPr>
                    </a:p>
                  </a:txBody>
                  <a:tcPr marL="58146" marR="58146" marT="58146" marB="58146">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A6B3A9"/>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Agent, SDKs</a:t>
                      </a:r>
                      <a:endParaRPr lang="en-US" sz="1308" dirty="0">
                        <a:latin typeface="Nunito Sans" charset="0"/>
                        <a:ea typeface="Nunito Sans" charset="0"/>
                        <a:cs typeface="Nunito Sans" charset="0"/>
                      </a:endParaRPr>
                    </a:p>
                  </a:txBody>
                  <a:tcPr marL="58146" marR="58146" marT="58146" marB="58146">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A6B3A9"/>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 · usage</a:t>
                      </a:r>
                      <a:endParaRPr lang="en-US" sz="1308" dirty="0">
                        <a:latin typeface="Nunito Sans" charset="0"/>
                        <a:ea typeface="Nunito Sans" charset="0"/>
                        <a:cs typeface="Nunito Sans" charset="0"/>
                      </a:endParaRPr>
                    </a:p>
                  </a:txBody>
                  <a:tcPr marL="58146" marR="58146" marT="58146" marB="58146">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A6B3A9"/>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extLst>
                  <a:ext uri="{0D108BD9-81ED-4DB2-BD59-A6C34878D82A}">
                    <a16:rowId xmlns:a16="http://schemas.microsoft.com/office/drawing/2014/main" val="10001"/>
                  </a:ext>
                </a:extLst>
              </a:tr>
              <a:tr h="364519">
                <a:tc>
                  <a:txBody>
                    <a:bodyPr/>
                    <a:lstStyle/>
                    <a:p>
                      <a:pPr marL="0" indent="0">
                        <a:lnSpc>
                          <a:spcPts val="1831"/>
                        </a:lnSpc>
                        <a:buNone/>
                      </a:pPr>
                      <a:endParaRPr lang="en-US" sz="1308" dirty="0">
                        <a:latin typeface="Nunito Sans" charset="0"/>
                        <a:ea typeface="Nunito Sans" charset="0"/>
                        <a:cs typeface="Nunito Sans" charset="0"/>
                      </a:endParaRPr>
                    </a:p>
                  </a:txBody>
                  <a:tcPr marL="58146" marR="58146" marT="58146" marB="58146">
                    <a:lnL w="0" cap="flat" cmpd="sng" algn="ctr">
                      <a:noFill/>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Oligo</a:t>
                      </a:r>
                      <a:endParaRPr lang="en-US" sz="1308" dirty="0">
                        <a:latin typeface="Nunito Sans" charset="0"/>
                        <a:ea typeface="Nunito Sans" charset="0"/>
                        <a:cs typeface="Nunito Sans" charset="0"/>
                      </a:endParaRPr>
                    </a:p>
                  </a:txBody>
                  <a:tcPr marL="58146" marR="58146" marT="58146" marB="58146">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Moderate</a:t>
                      </a:r>
                      <a:endParaRPr lang="en-US" sz="1308" dirty="0">
                        <a:latin typeface="Nunito Sans" charset="0"/>
                        <a:ea typeface="Nunito Sans" charset="0"/>
                        <a:cs typeface="Nunito Sans" charset="0"/>
                      </a:endParaRPr>
                    </a:p>
                  </a:txBody>
                  <a:tcPr marL="58146" marR="58146" marT="58146" marB="58146">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High</a:t>
                      </a:r>
                      <a:endParaRPr lang="en-US" sz="1308" dirty="0">
                        <a:latin typeface="Nunito Sans" charset="0"/>
                        <a:ea typeface="Nunito Sans" charset="0"/>
                        <a:cs typeface="Nunito Sans" charset="0"/>
                      </a:endParaRPr>
                    </a:p>
                  </a:txBody>
                  <a:tcPr marL="58146" marR="58146" marT="58146" marB="58146">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eBPF sensor</a:t>
                      </a:r>
                      <a:endParaRPr lang="en-US" sz="1308" dirty="0">
                        <a:latin typeface="Nunito Sans" charset="0"/>
                        <a:ea typeface="Nunito Sans" charset="0"/>
                        <a:cs typeface="Nunito Sans" charset="0"/>
                      </a:endParaRPr>
                    </a:p>
                  </a:txBody>
                  <a:tcPr marL="58146" marR="58146" marT="58146" marB="58146">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 · quote</a:t>
                      </a:r>
                      <a:endParaRPr lang="en-US" sz="1308" dirty="0">
                        <a:latin typeface="Nunito Sans" charset="0"/>
                        <a:ea typeface="Nunito Sans" charset="0"/>
                        <a:cs typeface="Nunito Sans" charset="0"/>
                      </a:endParaRPr>
                    </a:p>
                  </a:txBody>
                  <a:tcPr marL="58146" marR="58146" marT="58146" marB="58146">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extLst>
                  <a:ext uri="{0D108BD9-81ED-4DB2-BD59-A6C34878D82A}">
                    <a16:rowId xmlns:a16="http://schemas.microsoft.com/office/drawing/2014/main" val="10002"/>
                  </a:ext>
                </a:extLst>
              </a:tr>
              <a:tr h="364519">
                <a:tc>
                  <a:txBody>
                    <a:bodyPr/>
                    <a:lstStyle/>
                    <a:p>
                      <a:pPr marL="0" indent="0">
                        <a:lnSpc>
                          <a:spcPts val="1831"/>
                        </a:lnSpc>
                        <a:buNone/>
                      </a:pPr>
                      <a:endParaRPr lang="en-US" sz="1308" dirty="0">
                        <a:latin typeface="Nunito Sans" charset="0"/>
                        <a:ea typeface="Nunito Sans" charset="0"/>
                        <a:cs typeface="Nunito Sans" charset="0"/>
                      </a:endParaRPr>
                    </a:p>
                  </a:txBody>
                  <a:tcPr marL="58146" marR="58146" marT="58146" marB="58146">
                    <a:lnL w="0" cap="flat" cmpd="sng" algn="ctr">
                      <a:noFill/>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ARMO</a:t>
                      </a:r>
                      <a:endParaRPr lang="en-US" sz="1308" dirty="0">
                        <a:latin typeface="Nunito Sans" charset="0"/>
                        <a:ea typeface="Nunito Sans" charset="0"/>
                        <a:cs typeface="Nunito Sans" charset="0"/>
                      </a:endParaRPr>
                    </a:p>
                  </a:txBody>
                  <a:tcPr marL="58146" marR="58146" marT="58146" marB="58146">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Moderate</a:t>
                      </a:r>
                      <a:endParaRPr lang="en-US" sz="1308" dirty="0">
                        <a:latin typeface="Nunito Sans" charset="0"/>
                        <a:ea typeface="Nunito Sans" charset="0"/>
                        <a:cs typeface="Nunito Sans" charset="0"/>
                      </a:endParaRPr>
                    </a:p>
                  </a:txBody>
                  <a:tcPr marL="58146" marR="58146" marT="58146" marB="58146">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High</a:t>
                      </a:r>
                      <a:endParaRPr lang="en-US" sz="1308" dirty="0">
                        <a:latin typeface="Nunito Sans" charset="0"/>
                        <a:ea typeface="Nunito Sans" charset="0"/>
                        <a:cs typeface="Nunito Sans" charset="0"/>
                      </a:endParaRPr>
                    </a:p>
                  </a:txBody>
                  <a:tcPr marL="58146" marR="58146" marT="58146" marB="58146">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eBPF, Kubernetes</a:t>
                      </a:r>
                      <a:endParaRPr lang="en-US" sz="1308" dirty="0">
                        <a:latin typeface="Nunito Sans" charset="0"/>
                        <a:ea typeface="Nunito Sans" charset="0"/>
                        <a:cs typeface="Nunito Sans" charset="0"/>
                      </a:endParaRPr>
                    </a:p>
                  </a:txBody>
                  <a:tcPr marL="58146" marR="58146" marT="58146" marB="58146">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Free to $$</a:t>
                      </a:r>
                      <a:endParaRPr lang="en-US" sz="1308" dirty="0">
                        <a:latin typeface="Nunito Sans" charset="0"/>
                        <a:ea typeface="Nunito Sans" charset="0"/>
                        <a:cs typeface="Nunito Sans" charset="0"/>
                      </a:endParaRPr>
                    </a:p>
                  </a:txBody>
                  <a:tcPr marL="58146" marR="58146" marT="58146" marB="58146">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extLst>
                  <a:ext uri="{0D108BD9-81ED-4DB2-BD59-A6C34878D82A}">
                    <a16:rowId xmlns:a16="http://schemas.microsoft.com/office/drawing/2014/main" val="10003"/>
                  </a:ext>
                </a:extLst>
              </a:tr>
              <a:tr h="364519">
                <a:tc>
                  <a:txBody>
                    <a:bodyPr/>
                    <a:lstStyle/>
                    <a:p>
                      <a:pPr marL="0" indent="0">
                        <a:lnSpc>
                          <a:spcPts val="1831"/>
                        </a:lnSpc>
                        <a:buNone/>
                      </a:pPr>
                      <a:endParaRPr lang="en-US" sz="1308" dirty="0">
                        <a:latin typeface="Nunito Sans" charset="0"/>
                        <a:ea typeface="Nunito Sans" charset="0"/>
                        <a:cs typeface="Nunito Sans" charset="0"/>
                      </a:endParaRPr>
                    </a:p>
                  </a:txBody>
                  <a:tcPr marL="58146" marR="58146" marT="58146" marB="58146">
                    <a:lnL w="0" cap="flat" cmpd="sng" algn="ctr">
                      <a:noFill/>
                    </a:lnL>
                    <a:lnR w="12700" cap="flat" cmpd="sng" algn="ctr">
                      <a:solidFill>
                        <a:srgbClr val="B5BDB8"/>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5BDB8"/>
                      </a:solidFill>
                      <a:prstDash val="solid"/>
                      <a:round/>
                      <a:headEnd type="none" w="med" len="med"/>
                      <a:tailEnd type="none" w="med" len="med"/>
                    </a:lnB>
                    <a:solidFill>
                      <a:srgbClr val="E3EDE6"/>
                    </a:solidFill>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Jiffy</a:t>
                      </a:r>
                      <a:endParaRPr lang="en-US" sz="1308" dirty="0">
                        <a:latin typeface="Nunito Sans" charset="0"/>
                        <a:ea typeface="Nunito Sans" charset="0"/>
                        <a:cs typeface="Nunito Sans" charset="0"/>
                      </a:endParaRPr>
                    </a:p>
                  </a:txBody>
                  <a:tcPr marL="58146" marR="58146" marT="58146" marB="58146">
                    <a:lnL w="12700" cap="flat" cmpd="sng" algn="ctr">
                      <a:solidFill>
                        <a:srgbClr val="B5BDB8"/>
                      </a:solidFill>
                      <a:prstDash val="solid"/>
                      <a:round/>
                      <a:headEnd type="none" w="med" len="med"/>
                      <a:tailEnd type="none" w="med" len="med"/>
                    </a:lnL>
                    <a:lnR w="12700" cap="flat" cmpd="sng" algn="ctr">
                      <a:solidFill>
                        <a:srgbClr val="B5BDB8"/>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5BDB8"/>
                      </a:solidFill>
                      <a:prstDash val="solid"/>
                      <a:round/>
                      <a:headEnd type="none" w="med" len="med"/>
                      <a:tailEnd type="none" w="med" len="med"/>
                    </a:lnB>
                    <a:solidFill>
                      <a:srgbClr val="E3EDE6"/>
                    </a:solidFill>
                  </a:tcPr>
                </a:tc>
                <a:tc>
                  <a:txBody>
                    <a:bodyPr/>
                    <a:lstStyle/>
                    <a:p>
                      <a:pPr marL="0" indent="0">
                        <a:lnSpc>
                          <a:spcPts val="1831"/>
                        </a:lnSpc>
                        <a:buNone/>
                      </a:pPr>
                      <a:endParaRPr lang="en-US" sz="1308" dirty="0">
                        <a:latin typeface="Nunito Sans" charset="0"/>
                        <a:ea typeface="Nunito Sans" charset="0"/>
                        <a:cs typeface="Nunito Sans" charset="0"/>
                      </a:endParaRPr>
                    </a:p>
                  </a:txBody>
                  <a:tcPr marL="58146" marR="58146" marT="58146" marB="58146">
                    <a:lnL w="12700" cap="flat" cmpd="sng" algn="ctr">
                      <a:solidFill>
                        <a:srgbClr val="B5BDB8"/>
                      </a:solidFill>
                      <a:prstDash val="solid"/>
                      <a:round/>
                      <a:headEnd type="none" w="med" len="med"/>
                      <a:tailEnd type="none" w="med" len="med"/>
                    </a:lnL>
                    <a:lnR w="12700" cap="flat" cmpd="sng" algn="ctr">
                      <a:solidFill>
                        <a:srgbClr val="B5BDB8"/>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5BDB8"/>
                      </a:solidFill>
                      <a:prstDash val="solid"/>
                      <a:round/>
                      <a:headEnd type="none" w="med" len="med"/>
                      <a:tailEnd type="none" w="med" len="med"/>
                    </a:lnB>
                    <a:solidFill>
                      <a:srgbClr val="E3EDE6"/>
                    </a:solidFill>
                  </a:tcPr>
                </a:tc>
                <a:tc>
                  <a:txBody>
                    <a:bodyPr/>
                    <a:lstStyle/>
                    <a:p>
                      <a:pPr marL="0" indent="0">
                        <a:lnSpc>
                          <a:spcPts val="1831"/>
                        </a:lnSpc>
                        <a:buNone/>
                      </a:pPr>
                      <a:endParaRPr lang="en-US" sz="1308" dirty="0">
                        <a:latin typeface="Nunito Sans" charset="0"/>
                        <a:ea typeface="Nunito Sans" charset="0"/>
                        <a:cs typeface="Nunito Sans" charset="0"/>
                      </a:endParaRPr>
                    </a:p>
                  </a:txBody>
                  <a:tcPr marL="58146" marR="58146" marT="58146" marB="58146">
                    <a:lnL w="12700" cap="flat" cmpd="sng" algn="ctr">
                      <a:solidFill>
                        <a:srgbClr val="B5BDB8"/>
                      </a:solidFill>
                      <a:prstDash val="solid"/>
                      <a:round/>
                      <a:headEnd type="none" w="med" len="med"/>
                      <a:tailEnd type="none" w="med" len="med"/>
                    </a:lnL>
                    <a:lnR w="12700" cap="flat" cmpd="sng" algn="ctr">
                      <a:solidFill>
                        <a:srgbClr val="B5BDB8"/>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5BDB8"/>
                      </a:solidFill>
                      <a:prstDash val="solid"/>
                      <a:round/>
                      <a:headEnd type="none" w="med" len="med"/>
                      <a:tailEnd type="none" w="med" len="med"/>
                    </a:lnB>
                    <a:solidFill>
                      <a:srgbClr val="E3EDE6"/>
                    </a:solidFill>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MCP, agent configs</a:t>
                      </a:r>
                      <a:endParaRPr lang="en-US" sz="1308" dirty="0">
                        <a:latin typeface="Nunito Sans" charset="0"/>
                        <a:ea typeface="Nunito Sans" charset="0"/>
                        <a:cs typeface="Nunito Sans" charset="0"/>
                      </a:endParaRPr>
                    </a:p>
                  </a:txBody>
                  <a:tcPr marL="58146" marR="58146" marT="58146" marB="58146">
                    <a:lnL w="12700" cap="flat" cmpd="sng" algn="ctr">
                      <a:solidFill>
                        <a:srgbClr val="B5BDB8"/>
                      </a:solidFill>
                      <a:prstDash val="solid"/>
                      <a:round/>
                      <a:headEnd type="none" w="med" len="med"/>
                      <a:tailEnd type="none" w="med" len="med"/>
                    </a:lnL>
                    <a:lnR w="12700" cap="flat" cmpd="sng" algn="ctr">
                      <a:solidFill>
                        <a:srgbClr val="B5BDB8"/>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5BDB8"/>
                      </a:solidFill>
                      <a:prstDash val="solid"/>
                      <a:round/>
                      <a:headEnd type="none" w="med" len="med"/>
                      <a:tailEnd type="none" w="med" len="med"/>
                    </a:lnB>
                    <a:solidFill>
                      <a:srgbClr val="E3EDE6"/>
                    </a:solidFill>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a:t>
                      </a:r>
                      <a:endParaRPr lang="en-US" sz="1308" dirty="0">
                        <a:latin typeface="Nunito Sans" charset="0"/>
                        <a:ea typeface="Nunito Sans" charset="0"/>
                        <a:cs typeface="Nunito Sans" charset="0"/>
                      </a:endParaRPr>
                    </a:p>
                  </a:txBody>
                  <a:tcPr marL="58146" marR="58146" marT="58146" marB="58146">
                    <a:lnL w="12700" cap="flat" cmpd="sng" algn="ctr">
                      <a:solidFill>
                        <a:srgbClr val="B5BDB8"/>
                      </a:solidFill>
                      <a:prstDash val="solid"/>
                      <a:round/>
                      <a:headEnd type="none" w="med" len="med"/>
                      <a:tailEnd type="none" w="med" len="med"/>
                    </a:lnL>
                    <a:lnR w="12700" cap="flat" cmpd="sng" algn="ctr">
                      <a:solidFill>
                        <a:srgbClr val="B5BDB8"/>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5BDB8"/>
                      </a:solidFill>
                      <a:prstDash val="solid"/>
                      <a:round/>
                      <a:headEnd type="none" w="med" len="med"/>
                      <a:tailEnd type="none" w="med" len="med"/>
                    </a:lnB>
                    <a:solidFill>
                      <a:srgbClr val="E3EDE6"/>
                    </a:solidFill>
                  </a:tcPr>
                </a:tc>
                <a:extLst>
                  <a:ext uri="{0D108BD9-81ED-4DB2-BD59-A6C34878D82A}">
                    <a16:rowId xmlns:a16="http://schemas.microsoft.com/office/drawing/2014/main" val="10004"/>
                  </a:ext>
                </a:extLst>
              </a:tr>
              <a:tr h="364519">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Pentesting</a:t>
                      </a:r>
                      <a:endParaRPr lang="en-US" sz="1308" dirty="0">
                        <a:latin typeface="Nunito Sans" charset="0"/>
                        <a:ea typeface="Nunito Sans" charset="0"/>
                        <a:cs typeface="Nunito Sans" charset="0"/>
                      </a:endParaRPr>
                    </a:p>
                  </a:txBody>
                  <a:tcPr marL="58146" marR="58146" marT="58146" marB="58146">
                    <a:lnL w="0" cap="flat" cmpd="sng" algn="ctr">
                      <a:noFill/>
                    </a:lnL>
                    <a:lnR w="12700" cap="flat" cmpd="sng" algn="ctr">
                      <a:solidFill>
                        <a:srgbClr val="C0C4C5"/>
                      </a:solidFill>
                      <a:prstDash val="solid"/>
                      <a:round/>
                      <a:headEnd type="none" w="med" len="med"/>
                      <a:tailEnd type="none" w="med" len="med"/>
                    </a:lnR>
                    <a:lnT w="12700" cap="flat" cmpd="sng" algn="ctr">
                      <a:solidFill>
                        <a:srgbClr val="B5BDB8"/>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Garak</a:t>
                      </a:r>
                      <a:endParaRPr lang="en-US" sz="1308" dirty="0">
                        <a:latin typeface="Nunito Sans" charset="0"/>
                        <a:ea typeface="Nunito Sans" charset="0"/>
                        <a:cs typeface="Nunito Sans" charset="0"/>
                      </a:endParaRPr>
                    </a:p>
                  </a:txBody>
                  <a:tcPr marL="58146" marR="58146" marT="58146" marB="58146">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B5BDB8"/>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Moderate</a:t>
                      </a:r>
                      <a:endParaRPr lang="en-US" sz="1308" dirty="0">
                        <a:latin typeface="Nunito Sans" charset="0"/>
                        <a:ea typeface="Nunito Sans" charset="0"/>
                        <a:cs typeface="Nunito Sans" charset="0"/>
                      </a:endParaRPr>
                    </a:p>
                  </a:txBody>
                  <a:tcPr marL="58146" marR="58146" marT="58146" marB="58146">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B5BDB8"/>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Medium</a:t>
                      </a:r>
                      <a:endParaRPr lang="en-US" sz="1308" dirty="0">
                        <a:latin typeface="Nunito Sans" charset="0"/>
                        <a:ea typeface="Nunito Sans" charset="0"/>
                        <a:cs typeface="Nunito Sans" charset="0"/>
                      </a:endParaRPr>
                    </a:p>
                  </a:txBody>
                  <a:tcPr marL="58146" marR="58146" marT="58146" marB="58146">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B5BDB8"/>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CLI, REST</a:t>
                      </a:r>
                      <a:endParaRPr lang="en-US" sz="1308" dirty="0">
                        <a:latin typeface="Nunito Sans" charset="0"/>
                        <a:ea typeface="Nunito Sans" charset="0"/>
                        <a:cs typeface="Nunito Sans" charset="0"/>
                      </a:endParaRPr>
                    </a:p>
                  </a:txBody>
                  <a:tcPr marL="58146" marR="58146" marT="58146" marB="58146">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B5BDB8"/>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Free</a:t>
                      </a:r>
                      <a:endParaRPr lang="en-US" sz="1308" dirty="0">
                        <a:latin typeface="Nunito Sans" charset="0"/>
                        <a:ea typeface="Nunito Sans" charset="0"/>
                        <a:cs typeface="Nunito Sans" charset="0"/>
                      </a:endParaRPr>
                    </a:p>
                  </a:txBody>
                  <a:tcPr marL="58146" marR="58146" marT="58146" marB="58146">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B5BDB8"/>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extLst>
                  <a:ext uri="{0D108BD9-81ED-4DB2-BD59-A6C34878D82A}">
                    <a16:rowId xmlns:a16="http://schemas.microsoft.com/office/drawing/2014/main" val="10005"/>
                  </a:ext>
                </a:extLst>
              </a:tr>
              <a:tr h="364519">
                <a:tc>
                  <a:txBody>
                    <a:bodyPr/>
                    <a:lstStyle/>
                    <a:p>
                      <a:pPr marL="0" indent="0">
                        <a:lnSpc>
                          <a:spcPts val="1831"/>
                        </a:lnSpc>
                        <a:buNone/>
                      </a:pPr>
                      <a:endParaRPr lang="en-US" sz="1308" dirty="0">
                        <a:latin typeface="Nunito Sans" charset="0"/>
                        <a:ea typeface="Nunito Sans" charset="0"/>
                        <a:cs typeface="Nunito Sans" charset="0"/>
                      </a:endParaRPr>
                    </a:p>
                  </a:txBody>
                  <a:tcPr marL="58146" marR="58146" marT="58146" marB="58146">
                    <a:lnL w="0" cap="flat" cmpd="sng" algn="ctr">
                      <a:noFill/>
                    </a:lnL>
                    <a:lnR w="12700" cap="flat" cmpd="sng" algn="ctr">
                      <a:solidFill>
                        <a:srgbClr val="C0C4C5"/>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Promptfoo</a:t>
                      </a:r>
                      <a:endParaRPr lang="en-US" sz="1308" dirty="0">
                        <a:latin typeface="Nunito Sans" charset="0"/>
                        <a:ea typeface="Nunito Sans" charset="0"/>
                        <a:cs typeface="Nunito Sans" charset="0"/>
                      </a:endParaRPr>
                    </a:p>
                  </a:txBody>
                  <a:tcPr marL="58146" marR="58146" marT="58146" marB="58146">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Easy</a:t>
                      </a:r>
                      <a:endParaRPr lang="en-US" sz="1308" dirty="0">
                        <a:latin typeface="Nunito Sans" charset="0"/>
                        <a:ea typeface="Nunito Sans" charset="0"/>
                        <a:cs typeface="Nunito Sans" charset="0"/>
                      </a:endParaRPr>
                    </a:p>
                  </a:txBody>
                  <a:tcPr marL="58146" marR="58146" marT="58146" marB="58146">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High</a:t>
                      </a:r>
                      <a:endParaRPr lang="en-US" sz="1308" dirty="0">
                        <a:latin typeface="Nunito Sans" charset="0"/>
                        <a:ea typeface="Nunito Sans" charset="0"/>
                        <a:cs typeface="Nunito Sans" charset="0"/>
                      </a:endParaRPr>
                    </a:p>
                  </a:txBody>
                  <a:tcPr marL="58146" marR="58146" marT="58146" marB="58146">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CI/CD native</a:t>
                      </a:r>
                      <a:endParaRPr lang="en-US" sz="1308" dirty="0">
                        <a:latin typeface="Nunito Sans" charset="0"/>
                        <a:ea typeface="Nunito Sans" charset="0"/>
                        <a:cs typeface="Nunito Sans" charset="0"/>
                      </a:endParaRPr>
                    </a:p>
                  </a:txBody>
                  <a:tcPr marL="58146" marR="58146" marT="58146" marB="58146">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Free to $$</a:t>
                      </a:r>
                      <a:endParaRPr lang="en-US" sz="1308" dirty="0">
                        <a:latin typeface="Nunito Sans" charset="0"/>
                        <a:ea typeface="Nunito Sans" charset="0"/>
                        <a:cs typeface="Nunito Sans" charset="0"/>
                      </a:endParaRPr>
                    </a:p>
                  </a:txBody>
                  <a:tcPr marL="58146" marR="58146" marT="58146" marB="58146">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extLst>
                  <a:ext uri="{0D108BD9-81ED-4DB2-BD59-A6C34878D82A}">
                    <a16:rowId xmlns:a16="http://schemas.microsoft.com/office/drawing/2014/main" val="10006"/>
                  </a:ext>
                </a:extLst>
              </a:tr>
              <a:tr h="364519">
                <a:tc>
                  <a:txBody>
                    <a:bodyPr/>
                    <a:lstStyle/>
                    <a:p>
                      <a:pPr marL="0" indent="0">
                        <a:lnSpc>
                          <a:spcPts val="1831"/>
                        </a:lnSpc>
                        <a:buNone/>
                      </a:pPr>
                      <a:endParaRPr lang="en-US" sz="1308" dirty="0">
                        <a:latin typeface="Nunito Sans" charset="0"/>
                        <a:ea typeface="Nunito Sans" charset="0"/>
                        <a:cs typeface="Nunito Sans" charset="0"/>
                      </a:endParaRPr>
                    </a:p>
                  </a:txBody>
                  <a:tcPr marL="58146" marR="58146" marT="58146" marB="58146">
                    <a:lnL w="0" cap="flat" cmpd="sng" algn="ctr">
                      <a:noFill/>
                    </a:lnL>
                    <a:lnR w="12700" cap="flat" cmpd="sng" algn="ctr">
                      <a:solidFill>
                        <a:srgbClr val="C0C4C5"/>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Mindgard</a:t>
                      </a:r>
                      <a:endParaRPr lang="en-US" sz="1308" dirty="0">
                        <a:latin typeface="Nunito Sans" charset="0"/>
                        <a:ea typeface="Nunito Sans" charset="0"/>
                        <a:cs typeface="Nunito Sans" charset="0"/>
                      </a:endParaRPr>
                    </a:p>
                  </a:txBody>
                  <a:tcPr marL="58146" marR="58146" marT="58146" marB="58146">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Easy</a:t>
                      </a:r>
                      <a:endParaRPr lang="en-US" sz="1308" dirty="0">
                        <a:latin typeface="Nunito Sans" charset="0"/>
                        <a:ea typeface="Nunito Sans" charset="0"/>
                        <a:cs typeface="Nunito Sans" charset="0"/>
                      </a:endParaRPr>
                    </a:p>
                  </a:txBody>
                  <a:tcPr marL="58146" marR="58146" marT="58146" marB="58146">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High</a:t>
                      </a:r>
                      <a:endParaRPr lang="en-US" sz="1308" dirty="0">
                        <a:latin typeface="Nunito Sans" charset="0"/>
                        <a:ea typeface="Nunito Sans" charset="0"/>
                        <a:cs typeface="Nunito Sans" charset="0"/>
                      </a:endParaRPr>
                    </a:p>
                  </a:txBody>
                  <a:tcPr marL="58146" marR="58146" marT="58146" marB="58146">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Managed SaaS</a:t>
                      </a:r>
                      <a:endParaRPr lang="en-US" sz="1308" dirty="0">
                        <a:latin typeface="Nunito Sans" charset="0"/>
                        <a:ea typeface="Nunito Sans" charset="0"/>
                        <a:cs typeface="Nunito Sans" charset="0"/>
                      </a:endParaRPr>
                    </a:p>
                  </a:txBody>
                  <a:tcPr marL="58146" marR="58146" marT="58146" marB="58146">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 · quote</a:t>
                      </a:r>
                      <a:endParaRPr lang="en-US" sz="1308" dirty="0">
                        <a:latin typeface="Nunito Sans" charset="0"/>
                        <a:ea typeface="Nunito Sans" charset="0"/>
                        <a:cs typeface="Nunito Sans" charset="0"/>
                      </a:endParaRPr>
                    </a:p>
                  </a:txBody>
                  <a:tcPr marL="58146" marR="58146" marT="58146" marB="58146">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extLst>
                  <a:ext uri="{0D108BD9-81ED-4DB2-BD59-A6C34878D82A}">
                    <a16:rowId xmlns:a16="http://schemas.microsoft.com/office/drawing/2014/main" val="10007"/>
                  </a:ext>
                </a:extLst>
              </a:tr>
              <a:tr h="364519">
                <a:tc>
                  <a:txBody>
                    <a:bodyPr/>
                    <a:lstStyle/>
                    <a:p>
                      <a:pPr marL="0" indent="0">
                        <a:lnSpc>
                          <a:spcPts val="1831"/>
                        </a:lnSpc>
                        <a:buNone/>
                      </a:pPr>
                      <a:endParaRPr lang="en-US" sz="1308" dirty="0">
                        <a:latin typeface="Nunito Sans" charset="0"/>
                        <a:ea typeface="Nunito Sans" charset="0"/>
                        <a:cs typeface="Nunito Sans" charset="0"/>
                      </a:endParaRPr>
                    </a:p>
                  </a:txBody>
                  <a:tcPr marL="58146" marR="58146" marT="58146" marB="58146">
                    <a:lnL w="0" cap="flat" cmpd="sng" algn="ctr">
                      <a:noFill/>
                    </a:lnL>
                    <a:lnR w="12700" cap="flat" cmpd="sng" algn="ctr">
                      <a:solidFill>
                        <a:srgbClr val="B5BDB8"/>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B5BDB8"/>
                      </a:solidFill>
                      <a:prstDash val="solid"/>
                      <a:round/>
                      <a:headEnd type="none" w="med" len="med"/>
                      <a:tailEnd type="none" w="med" len="med"/>
                    </a:lnB>
                    <a:solidFill>
                      <a:srgbClr val="E3EDE6"/>
                    </a:solidFill>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Litmus</a:t>
                      </a:r>
                      <a:endParaRPr lang="en-US" sz="1308" dirty="0">
                        <a:latin typeface="Nunito Sans" charset="0"/>
                        <a:ea typeface="Nunito Sans" charset="0"/>
                        <a:cs typeface="Nunito Sans" charset="0"/>
                      </a:endParaRPr>
                    </a:p>
                  </a:txBody>
                  <a:tcPr marL="58146" marR="58146" marT="58146" marB="58146">
                    <a:lnL w="12700" cap="flat" cmpd="sng" algn="ctr">
                      <a:solidFill>
                        <a:srgbClr val="B5BDB8"/>
                      </a:solidFill>
                      <a:prstDash val="solid"/>
                      <a:round/>
                      <a:headEnd type="none" w="med" len="med"/>
                      <a:tailEnd type="none" w="med" len="med"/>
                    </a:lnL>
                    <a:lnR w="12700" cap="flat" cmpd="sng" algn="ctr">
                      <a:solidFill>
                        <a:srgbClr val="B5BDB8"/>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B5BDB8"/>
                      </a:solidFill>
                      <a:prstDash val="solid"/>
                      <a:round/>
                      <a:headEnd type="none" w="med" len="med"/>
                      <a:tailEnd type="none" w="med" len="med"/>
                    </a:lnB>
                    <a:solidFill>
                      <a:srgbClr val="E3EDE6"/>
                    </a:solidFill>
                  </a:tcPr>
                </a:tc>
                <a:tc>
                  <a:txBody>
                    <a:bodyPr/>
                    <a:lstStyle/>
                    <a:p>
                      <a:pPr marL="0" indent="0">
                        <a:lnSpc>
                          <a:spcPts val="1831"/>
                        </a:lnSpc>
                        <a:buNone/>
                      </a:pPr>
                      <a:endParaRPr lang="en-US" sz="1308" dirty="0">
                        <a:latin typeface="Nunito Sans" charset="0"/>
                        <a:ea typeface="Nunito Sans" charset="0"/>
                        <a:cs typeface="Nunito Sans" charset="0"/>
                      </a:endParaRPr>
                    </a:p>
                  </a:txBody>
                  <a:tcPr marL="58146" marR="58146" marT="58146" marB="58146">
                    <a:lnL w="12700" cap="flat" cmpd="sng" algn="ctr">
                      <a:solidFill>
                        <a:srgbClr val="B5BDB8"/>
                      </a:solidFill>
                      <a:prstDash val="solid"/>
                      <a:round/>
                      <a:headEnd type="none" w="med" len="med"/>
                      <a:tailEnd type="none" w="med" len="med"/>
                    </a:lnL>
                    <a:lnR w="12700" cap="flat" cmpd="sng" algn="ctr">
                      <a:solidFill>
                        <a:srgbClr val="B5BDB8"/>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B5BDB8"/>
                      </a:solidFill>
                      <a:prstDash val="solid"/>
                      <a:round/>
                      <a:headEnd type="none" w="med" len="med"/>
                      <a:tailEnd type="none" w="med" len="med"/>
                    </a:lnB>
                    <a:solidFill>
                      <a:srgbClr val="E3EDE6"/>
                    </a:solidFill>
                  </a:tcPr>
                </a:tc>
                <a:tc>
                  <a:txBody>
                    <a:bodyPr/>
                    <a:lstStyle/>
                    <a:p>
                      <a:pPr marL="0" indent="0">
                        <a:lnSpc>
                          <a:spcPts val="1831"/>
                        </a:lnSpc>
                        <a:buNone/>
                      </a:pPr>
                      <a:endParaRPr lang="en-US" sz="1308" dirty="0">
                        <a:latin typeface="Nunito Sans" charset="0"/>
                        <a:ea typeface="Nunito Sans" charset="0"/>
                        <a:cs typeface="Nunito Sans" charset="0"/>
                      </a:endParaRPr>
                    </a:p>
                  </a:txBody>
                  <a:tcPr marL="58146" marR="58146" marT="58146" marB="58146">
                    <a:lnL w="12700" cap="flat" cmpd="sng" algn="ctr">
                      <a:solidFill>
                        <a:srgbClr val="B5BDB8"/>
                      </a:solidFill>
                      <a:prstDash val="solid"/>
                      <a:round/>
                      <a:headEnd type="none" w="med" len="med"/>
                      <a:tailEnd type="none" w="med" len="med"/>
                    </a:lnL>
                    <a:lnR w="12700" cap="flat" cmpd="sng" algn="ctr">
                      <a:solidFill>
                        <a:srgbClr val="B5BDB8"/>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B5BDB8"/>
                      </a:solidFill>
                      <a:prstDash val="solid"/>
                      <a:round/>
                      <a:headEnd type="none" w="med" len="med"/>
                      <a:tailEnd type="none" w="med" len="med"/>
                    </a:lnB>
                    <a:solidFill>
                      <a:srgbClr val="E3EDE6"/>
                    </a:solidFill>
                  </a:tcPr>
                </a:tc>
                <a:tc>
                  <a:txBody>
                    <a:bodyPr/>
                    <a:lstStyle/>
                    <a:p>
                      <a:pPr marL="0" indent="0">
                        <a:lnSpc>
                          <a:spcPts val="1831"/>
                        </a:lnSpc>
                        <a:buNone/>
                      </a:pPr>
                      <a:endParaRPr lang="en-US" sz="1308" dirty="0">
                        <a:latin typeface="Nunito Sans" charset="0"/>
                        <a:ea typeface="Nunito Sans" charset="0"/>
                        <a:cs typeface="Nunito Sans" charset="0"/>
                      </a:endParaRPr>
                    </a:p>
                  </a:txBody>
                  <a:tcPr marL="58146" marR="58146" marT="58146" marB="58146">
                    <a:lnL w="12700" cap="flat" cmpd="sng" algn="ctr">
                      <a:solidFill>
                        <a:srgbClr val="B5BDB8"/>
                      </a:solidFill>
                      <a:prstDash val="solid"/>
                      <a:round/>
                      <a:headEnd type="none" w="med" len="med"/>
                      <a:tailEnd type="none" w="med" len="med"/>
                    </a:lnL>
                    <a:lnR w="12700" cap="flat" cmpd="sng" algn="ctr">
                      <a:solidFill>
                        <a:srgbClr val="B5BDB8"/>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B5BDB8"/>
                      </a:solidFill>
                      <a:prstDash val="solid"/>
                      <a:round/>
                      <a:headEnd type="none" w="med" len="med"/>
                      <a:tailEnd type="none" w="med" len="med"/>
                    </a:lnB>
                    <a:solidFill>
                      <a:srgbClr val="E3EDE6"/>
                    </a:solidFill>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a:t>
                      </a:r>
                      <a:endParaRPr lang="en-US" sz="1308" dirty="0">
                        <a:latin typeface="Nunito Sans" charset="0"/>
                        <a:ea typeface="Nunito Sans" charset="0"/>
                        <a:cs typeface="Nunito Sans" charset="0"/>
                      </a:endParaRPr>
                    </a:p>
                  </a:txBody>
                  <a:tcPr marL="58146" marR="58146" marT="58146" marB="58146">
                    <a:lnL w="12700" cap="flat" cmpd="sng" algn="ctr">
                      <a:solidFill>
                        <a:srgbClr val="B5BDB8"/>
                      </a:solidFill>
                      <a:prstDash val="solid"/>
                      <a:round/>
                      <a:headEnd type="none" w="med" len="med"/>
                      <a:tailEnd type="none" w="med" len="med"/>
                    </a:lnL>
                    <a:lnR w="12700" cap="flat" cmpd="sng" algn="ctr">
                      <a:solidFill>
                        <a:srgbClr val="B5BDB8"/>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B5BDB8"/>
                      </a:solidFill>
                      <a:prstDash val="solid"/>
                      <a:round/>
                      <a:headEnd type="none" w="med" len="med"/>
                      <a:tailEnd type="none" w="med" len="med"/>
                    </a:lnB>
                    <a:solidFill>
                      <a:srgbClr val="E3EDE6"/>
                    </a:solidFill>
                  </a:tcPr>
                </a:tc>
                <a:extLst>
                  <a:ext uri="{0D108BD9-81ED-4DB2-BD59-A6C34878D82A}">
                    <a16:rowId xmlns:a16="http://schemas.microsoft.com/office/drawing/2014/main" val="10008"/>
                  </a:ext>
                </a:extLst>
              </a:tr>
              <a:tr h="364574">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Runtime</a:t>
                      </a:r>
                      <a:endParaRPr lang="en-US" sz="1308" dirty="0">
                        <a:latin typeface="Nunito Sans" charset="0"/>
                        <a:ea typeface="Nunito Sans" charset="0"/>
                        <a:cs typeface="Nunito Sans" charset="0"/>
                      </a:endParaRPr>
                    </a:p>
                  </a:txBody>
                  <a:tcPr marL="58146" marR="58146" marT="58146" marB="58146">
                    <a:lnL w="0" cap="flat" cmpd="sng" algn="ctr">
                      <a:noFill/>
                    </a:lnL>
                    <a:lnR w="12700" cap="flat" cmpd="sng" algn="ctr">
                      <a:solidFill>
                        <a:srgbClr val="C8C7C5"/>
                      </a:solidFill>
                      <a:prstDash val="solid"/>
                      <a:round/>
                      <a:headEnd type="none" w="med" len="med"/>
                      <a:tailEnd type="none" w="med" len="med"/>
                    </a:lnR>
                    <a:lnT w="12700" cap="flat" cmpd="sng" algn="ctr">
                      <a:solidFill>
                        <a:srgbClr val="B5BDB8"/>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Lakera Guard</a:t>
                      </a:r>
                      <a:endParaRPr lang="en-US" sz="1308" dirty="0">
                        <a:latin typeface="Nunito Sans" charset="0"/>
                        <a:ea typeface="Nunito Sans" charset="0"/>
                        <a:cs typeface="Nunito Sans" charset="0"/>
                      </a:endParaRPr>
                    </a:p>
                  </a:txBody>
                  <a:tcPr marL="58146" marR="58146" marT="58146" marB="58146">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5BDB8"/>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Easy</a:t>
                      </a:r>
                      <a:endParaRPr lang="en-US" sz="1308" dirty="0">
                        <a:latin typeface="Nunito Sans" charset="0"/>
                        <a:ea typeface="Nunito Sans" charset="0"/>
                        <a:cs typeface="Nunito Sans" charset="0"/>
                      </a:endParaRPr>
                    </a:p>
                  </a:txBody>
                  <a:tcPr marL="58146" marR="58146" marT="58146" marB="58146">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5BDB8"/>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High</a:t>
                      </a:r>
                      <a:endParaRPr lang="en-US" sz="1308" dirty="0">
                        <a:latin typeface="Nunito Sans" charset="0"/>
                        <a:ea typeface="Nunito Sans" charset="0"/>
                        <a:cs typeface="Nunito Sans" charset="0"/>
                      </a:endParaRPr>
                    </a:p>
                  </a:txBody>
                  <a:tcPr marL="58146" marR="58146" marT="58146" marB="58146">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5BDB8"/>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REST API</a:t>
                      </a:r>
                      <a:endParaRPr lang="en-US" sz="1308" dirty="0">
                        <a:latin typeface="Nunito Sans" charset="0"/>
                        <a:ea typeface="Nunito Sans" charset="0"/>
                        <a:cs typeface="Nunito Sans" charset="0"/>
                      </a:endParaRPr>
                    </a:p>
                  </a:txBody>
                  <a:tcPr marL="58146" marR="58146" marT="58146" marB="58146">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5BDB8"/>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Free to $$$</a:t>
                      </a:r>
                      <a:endParaRPr lang="en-US" sz="1308" dirty="0">
                        <a:latin typeface="Nunito Sans" charset="0"/>
                        <a:ea typeface="Nunito Sans" charset="0"/>
                        <a:cs typeface="Nunito Sans" charset="0"/>
                      </a:endParaRPr>
                    </a:p>
                  </a:txBody>
                  <a:tcPr marL="58146" marR="58146" marT="58146" marB="58146">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5BDB8"/>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extLst>
                  <a:ext uri="{0D108BD9-81ED-4DB2-BD59-A6C34878D82A}">
                    <a16:rowId xmlns:a16="http://schemas.microsoft.com/office/drawing/2014/main" val="10009"/>
                  </a:ext>
                </a:extLst>
              </a:tr>
              <a:tr h="364574">
                <a:tc>
                  <a:txBody>
                    <a:bodyPr/>
                    <a:lstStyle/>
                    <a:p>
                      <a:pPr marL="0" indent="0">
                        <a:lnSpc>
                          <a:spcPts val="1831"/>
                        </a:lnSpc>
                        <a:buNone/>
                      </a:pPr>
                      <a:endParaRPr lang="en-US" sz="1308" dirty="0">
                        <a:latin typeface="Nunito Sans" charset="0"/>
                        <a:ea typeface="Nunito Sans" charset="0"/>
                        <a:cs typeface="Nunito Sans" charset="0"/>
                      </a:endParaRPr>
                    </a:p>
                  </a:txBody>
                  <a:tcPr marL="58146" marR="58146" marT="58146" marB="58146">
                    <a:lnL w="0" cap="flat" cmpd="sng" algn="ctr">
                      <a:noFill/>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Bedrock Guardrails</a:t>
                      </a:r>
                      <a:endParaRPr lang="en-US" sz="1308" dirty="0">
                        <a:latin typeface="Nunito Sans" charset="0"/>
                        <a:ea typeface="Nunito Sans" charset="0"/>
                        <a:cs typeface="Nunito Sans" charset="0"/>
                      </a:endParaRPr>
                    </a:p>
                  </a:txBody>
                  <a:tcPr marL="58146" marR="58146" marT="58146" marB="58146">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Moderate</a:t>
                      </a:r>
                      <a:endParaRPr lang="en-US" sz="1308" dirty="0">
                        <a:latin typeface="Nunito Sans" charset="0"/>
                        <a:ea typeface="Nunito Sans" charset="0"/>
                        <a:cs typeface="Nunito Sans" charset="0"/>
                      </a:endParaRPr>
                    </a:p>
                  </a:txBody>
                  <a:tcPr marL="58146" marR="58146" marT="58146" marB="58146">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High</a:t>
                      </a:r>
                      <a:endParaRPr lang="en-US" sz="1308" dirty="0">
                        <a:latin typeface="Nunito Sans" charset="0"/>
                        <a:ea typeface="Nunito Sans" charset="0"/>
                        <a:cs typeface="Nunito Sans" charset="0"/>
                      </a:endParaRPr>
                    </a:p>
                  </a:txBody>
                  <a:tcPr marL="58146" marR="58146" marT="58146" marB="58146">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Bedrock, API</a:t>
                      </a:r>
                      <a:endParaRPr lang="en-US" sz="1308" dirty="0">
                        <a:latin typeface="Nunito Sans" charset="0"/>
                        <a:ea typeface="Nunito Sans" charset="0"/>
                        <a:cs typeface="Nunito Sans" charset="0"/>
                      </a:endParaRPr>
                    </a:p>
                  </a:txBody>
                  <a:tcPr marL="58146" marR="58146" marT="58146" marB="58146">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 · per use</a:t>
                      </a:r>
                      <a:endParaRPr lang="en-US" sz="1308" dirty="0">
                        <a:latin typeface="Nunito Sans" charset="0"/>
                        <a:ea typeface="Nunito Sans" charset="0"/>
                        <a:cs typeface="Nunito Sans" charset="0"/>
                      </a:endParaRPr>
                    </a:p>
                  </a:txBody>
                  <a:tcPr marL="58146" marR="58146" marT="58146" marB="58146">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extLst>
                  <a:ext uri="{0D108BD9-81ED-4DB2-BD59-A6C34878D82A}">
                    <a16:rowId xmlns:a16="http://schemas.microsoft.com/office/drawing/2014/main" val="10010"/>
                  </a:ext>
                </a:extLst>
              </a:tr>
              <a:tr h="364574">
                <a:tc>
                  <a:txBody>
                    <a:bodyPr/>
                    <a:lstStyle/>
                    <a:p>
                      <a:pPr marL="0" indent="0">
                        <a:lnSpc>
                          <a:spcPts val="1831"/>
                        </a:lnSpc>
                        <a:buNone/>
                      </a:pPr>
                      <a:endParaRPr lang="en-US" sz="1308" dirty="0">
                        <a:latin typeface="Nunito Sans" charset="0"/>
                        <a:ea typeface="Nunito Sans" charset="0"/>
                        <a:cs typeface="Nunito Sans" charset="0"/>
                      </a:endParaRPr>
                    </a:p>
                  </a:txBody>
                  <a:tcPr marL="58146" marR="58146" marT="58146" marB="58146">
                    <a:lnL w="0" cap="flat" cmpd="sng" algn="ctr">
                      <a:noFill/>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Prisma AIRS</a:t>
                      </a:r>
                      <a:endParaRPr lang="en-US" sz="1308" dirty="0">
                        <a:latin typeface="Nunito Sans" charset="0"/>
                        <a:ea typeface="Nunito Sans" charset="0"/>
                        <a:cs typeface="Nunito Sans" charset="0"/>
                      </a:endParaRPr>
                    </a:p>
                  </a:txBody>
                  <a:tcPr marL="58146" marR="58146" marT="58146" marB="58146">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Moderate</a:t>
                      </a:r>
                      <a:endParaRPr lang="en-US" sz="1308" dirty="0">
                        <a:latin typeface="Nunito Sans" charset="0"/>
                        <a:ea typeface="Nunito Sans" charset="0"/>
                        <a:cs typeface="Nunito Sans" charset="0"/>
                      </a:endParaRPr>
                    </a:p>
                  </a:txBody>
                  <a:tcPr marL="58146" marR="58146" marT="58146" marB="58146">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Very high</a:t>
                      </a:r>
                      <a:endParaRPr lang="en-US" sz="1308" dirty="0">
                        <a:latin typeface="Nunito Sans" charset="0"/>
                        <a:ea typeface="Nunito Sans" charset="0"/>
                        <a:cs typeface="Nunito Sans" charset="0"/>
                      </a:endParaRPr>
                    </a:p>
                  </a:txBody>
                  <a:tcPr marL="58146" marR="58146" marT="58146" marB="58146">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Network, API</a:t>
                      </a:r>
                      <a:endParaRPr lang="en-US" sz="1308" dirty="0">
                        <a:latin typeface="Nunito Sans" charset="0"/>
                        <a:ea typeface="Nunito Sans" charset="0"/>
                        <a:cs typeface="Nunito Sans" charset="0"/>
                      </a:endParaRPr>
                    </a:p>
                  </a:txBody>
                  <a:tcPr marL="58146" marR="58146" marT="58146" marB="58146">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 · quote</a:t>
                      </a:r>
                      <a:endParaRPr lang="en-US" sz="1308" dirty="0">
                        <a:latin typeface="Nunito Sans" charset="0"/>
                        <a:ea typeface="Nunito Sans" charset="0"/>
                        <a:cs typeface="Nunito Sans" charset="0"/>
                      </a:endParaRPr>
                    </a:p>
                  </a:txBody>
                  <a:tcPr marL="58146" marR="58146" marT="58146" marB="58146">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extLst>
                  <a:ext uri="{0D108BD9-81ED-4DB2-BD59-A6C34878D82A}">
                    <a16:rowId xmlns:a16="http://schemas.microsoft.com/office/drawing/2014/main" val="10011"/>
                  </a:ext>
                </a:extLst>
              </a:tr>
              <a:tr h="364574">
                <a:tc>
                  <a:txBody>
                    <a:bodyPr/>
                    <a:lstStyle/>
                    <a:p>
                      <a:pPr marL="0" indent="0">
                        <a:lnSpc>
                          <a:spcPts val="1831"/>
                        </a:lnSpc>
                        <a:buNone/>
                      </a:pPr>
                      <a:endParaRPr lang="en-US" sz="1308" dirty="0">
                        <a:latin typeface="Nunito Sans" charset="0"/>
                        <a:ea typeface="Nunito Sans" charset="0"/>
                        <a:cs typeface="Nunito Sans" charset="0"/>
                      </a:endParaRPr>
                    </a:p>
                  </a:txBody>
                  <a:tcPr marL="58146" marR="58146" marT="58146" marB="58146">
                    <a:lnL w="0" cap="flat" cmpd="sng" algn="ctr">
                      <a:noFill/>
                    </a:lnL>
                    <a:lnR w="12700" cap="flat" cmpd="sng" algn="ctr">
                      <a:solidFill>
                        <a:srgbClr val="B5BDB8"/>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5BDB8"/>
                      </a:solidFill>
                      <a:prstDash val="solid"/>
                      <a:round/>
                      <a:headEnd type="none" w="med" len="med"/>
                      <a:tailEnd type="none" w="med" len="med"/>
                    </a:lnB>
                    <a:solidFill>
                      <a:srgbClr val="E3EDE6"/>
                    </a:solidFill>
                  </a:tcPr>
                </a:tc>
                <a:tc>
                  <a:txBody>
                    <a:bodyPr/>
                    <a:lstStyle/>
                    <a:p>
                      <a:pPr marL="0" indent="0">
                        <a:lnSpc>
                          <a:spcPts val="1831"/>
                        </a:lnSpc>
                        <a:buNone/>
                      </a:pPr>
                      <a:endParaRPr lang="en-US" sz="1308" dirty="0">
                        <a:latin typeface="Nunito Sans" charset="0"/>
                        <a:ea typeface="Nunito Sans" charset="0"/>
                        <a:cs typeface="Nunito Sans" charset="0"/>
                      </a:endParaRPr>
                    </a:p>
                  </a:txBody>
                  <a:tcPr marL="58146" marR="58146" marT="58146" marB="58146">
                    <a:lnL w="12700" cap="flat" cmpd="sng" algn="ctr">
                      <a:solidFill>
                        <a:srgbClr val="B5BDB8"/>
                      </a:solidFill>
                      <a:prstDash val="solid"/>
                      <a:round/>
                      <a:headEnd type="none" w="med" len="med"/>
                      <a:tailEnd type="none" w="med" len="med"/>
                    </a:lnL>
                    <a:lnR w="12700" cap="flat" cmpd="sng" algn="ctr">
                      <a:solidFill>
                        <a:srgbClr val="B5BDB8"/>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5BDB8"/>
                      </a:solidFill>
                      <a:prstDash val="solid"/>
                      <a:round/>
                      <a:headEnd type="none" w="med" len="med"/>
                      <a:tailEnd type="none" w="med" len="med"/>
                    </a:lnB>
                    <a:solidFill>
                      <a:srgbClr val="E3EDE6"/>
                    </a:solidFill>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To assess</a:t>
                      </a:r>
                      <a:endParaRPr lang="en-US" sz="1308" dirty="0">
                        <a:latin typeface="Nunito Sans" charset="0"/>
                        <a:ea typeface="Nunito Sans" charset="0"/>
                        <a:cs typeface="Nunito Sans" charset="0"/>
                      </a:endParaRPr>
                    </a:p>
                  </a:txBody>
                  <a:tcPr marL="58146" marR="58146" marT="58146" marB="58146">
                    <a:lnL w="12700" cap="flat" cmpd="sng" algn="ctr">
                      <a:solidFill>
                        <a:srgbClr val="B5BDB8"/>
                      </a:solidFill>
                      <a:prstDash val="solid"/>
                      <a:round/>
                      <a:headEnd type="none" w="med" len="med"/>
                      <a:tailEnd type="none" w="med" len="med"/>
                    </a:lnL>
                    <a:lnR w="12700" cap="flat" cmpd="sng" algn="ctr">
                      <a:solidFill>
                        <a:srgbClr val="B5BDB8"/>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5BDB8"/>
                      </a:solidFill>
                      <a:prstDash val="solid"/>
                      <a:round/>
                      <a:headEnd type="none" w="med" len="med"/>
                      <a:tailEnd type="none" w="med" len="med"/>
                    </a:lnB>
                    <a:solidFill>
                      <a:srgbClr val="E3EDE6"/>
                    </a:solidFill>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To assess</a:t>
                      </a:r>
                      <a:endParaRPr lang="en-US" sz="1308" dirty="0">
                        <a:latin typeface="Nunito Sans" charset="0"/>
                        <a:ea typeface="Nunito Sans" charset="0"/>
                        <a:cs typeface="Nunito Sans" charset="0"/>
                      </a:endParaRPr>
                    </a:p>
                  </a:txBody>
                  <a:tcPr marL="58146" marR="58146" marT="58146" marB="58146">
                    <a:lnL w="12700" cap="flat" cmpd="sng" algn="ctr">
                      <a:solidFill>
                        <a:srgbClr val="B5BDB8"/>
                      </a:solidFill>
                      <a:prstDash val="solid"/>
                      <a:round/>
                      <a:headEnd type="none" w="med" len="med"/>
                      <a:tailEnd type="none" w="med" len="med"/>
                    </a:lnL>
                    <a:lnR w="12700" cap="flat" cmpd="sng" algn="ctr">
                      <a:solidFill>
                        <a:srgbClr val="B5BDB8"/>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5BDB8"/>
                      </a:solidFill>
                      <a:prstDash val="solid"/>
                      <a:round/>
                      <a:headEnd type="none" w="med" len="med"/>
                      <a:tailEnd type="none" w="med" len="med"/>
                    </a:lnB>
                    <a:solidFill>
                      <a:srgbClr val="E3EDE6"/>
                    </a:solidFill>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Agent, tool layer</a:t>
                      </a:r>
                      <a:endParaRPr lang="en-US" sz="1308" dirty="0">
                        <a:latin typeface="Nunito Sans" charset="0"/>
                        <a:ea typeface="Nunito Sans" charset="0"/>
                        <a:cs typeface="Nunito Sans" charset="0"/>
                      </a:endParaRPr>
                    </a:p>
                  </a:txBody>
                  <a:tcPr marL="58146" marR="58146" marT="58146" marB="58146">
                    <a:lnL w="12700" cap="flat" cmpd="sng" algn="ctr">
                      <a:solidFill>
                        <a:srgbClr val="B5BDB8"/>
                      </a:solidFill>
                      <a:prstDash val="solid"/>
                      <a:round/>
                      <a:headEnd type="none" w="med" len="med"/>
                      <a:tailEnd type="none" w="med" len="med"/>
                    </a:lnL>
                    <a:lnR w="12700" cap="flat" cmpd="sng" algn="ctr">
                      <a:solidFill>
                        <a:srgbClr val="B5BDB8"/>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5BDB8"/>
                      </a:solidFill>
                      <a:prstDash val="solid"/>
                      <a:round/>
                      <a:headEnd type="none" w="med" len="med"/>
                      <a:tailEnd type="none" w="med" len="med"/>
                    </a:lnB>
                    <a:solidFill>
                      <a:srgbClr val="E3EDE6"/>
                    </a:solidFill>
                  </a:tcPr>
                </a:tc>
                <a:tc>
                  <a:txBody>
                    <a:bodyPr/>
                    <a:lstStyle/>
                    <a:p>
                      <a:pPr marL="0" indent="0">
                        <a:lnSpc>
                          <a:spcPts val="1831"/>
                        </a:lnSpc>
                        <a:buNone/>
                      </a:pPr>
                      <a:r>
                        <a:rPr lang="en-US" sz="1308" dirty="0">
                          <a:solidFill>
                            <a:srgbClr val="2E3B40"/>
                          </a:solidFill>
                          <a:latin typeface="Nunito Sans" pitchFamily="34" charset="0"/>
                          <a:ea typeface="Nunito Sans" pitchFamily="34" charset="-122"/>
                          <a:cs typeface="Nunito Sans" pitchFamily="34" charset="-120"/>
                        </a:rPr>
                        <a:t>Ask Jiffy</a:t>
                      </a:r>
                      <a:endParaRPr lang="en-US" sz="1308" dirty="0">
                        <a:latin typeface="Nunito Sans" charset="0"/>
                        <a:ea typeface="Nunito Sans" charset="0"/>
                        <a:cs typeface="Nunito Sans" charset="0"/>
                      </a:endParaRPr>
                    </a:p>
                  </a:txBody>
                  <a:tcPr marL="58146" marR="58146" marT="58146" marB="58146">
                    <a:lnL w="12700" cap="flat" cmpd="sng" algn="ctr">
                      <a:solidFill>
                        <a:srgbClr val="B5BDB8"/>
                      </a:solidFill>
                      <a:prstDash val="solid"/>
                      <a:round/>
                      <a:headEnd type="none" w="med" len="med"/>
                      <a:tailEnd type="none" w="med" len="med"/>
                    </a:lnL>
                    <a:lnR w="12700" cap="flat" cmpd="sng" algn="ctr">
                      <a:solidFill>
                        <a:srgbClr val="B5BDB8"/>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5BDB8"/>
                      </a:solidFill>
                      <a:prstDash val="solid"/>
                      <a:round/>
                      <a:headEnd type="none" w="med" len="med"/>
                      <a:tailEnd type="none" w="med" len="med"/>
                    </a:lnB>
                    <a:solidFill>
                      <a:srgbClr val="E3EDE6"/>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EAF0EC"/>
        </a:solidFill>
        <a:effectLst/>
      </p:bgPr>
    </p:bg>
    <p:spTree>
      <p:nvGrpSpPr>
        <p:cNvPr id="1" name=""/>
        <p:cNvGrpSpPr/>
        <p:nvPr/>
      </p:nvGrpSpPr>
      <p:grpSpPr>
        <a:xfrm>
          <a:off x="0" y="0"/>
          <a:ext cx="0" cy="0"/>
          <a:chOff x="0" y="0"/>
          <a:chExt cx="0" cy="0"/>
        </a:xfrm>
      </p:grpSpPr>
      <p:sp>
        <p:nvSpPr>
          <p:cNvPr id="2" name="Text 0"/>
          <p:cNvSpPr/>
          <p:nvPr/>
        </p:nvSpPr>
        <p:spPr>
          <a:xfrm>
            <a:off x="812767" y="406357"/>
            <a:ext cx="10883461" cy="292078"/>
          </a:xfrm>
          <a:prstGeom prst="rect">
            <a:avLst/>
          </a:prstGeom>
          <a:noFill/>
          <a:ln/>
        </p:spPr>
        <p:txBody>
          <a:bodyPr wrap="square" lIns="0" tIns="0" rIns="0" bIns="0" rtlCol="0" anchor="t">
            <a:normAutofit/>
          </a:bodyPr>
          <a:lstStyle/>
          <a:p>
            <a:pPr marL="0" indent="0" algn="l">
              <a:lnSpc>
                <a:spcPts val="2100"/>
              </a:lnSpc>
              <a:buNone/>
            </a:pPr>
            <a:r>
              <a:rPr lang="en-US" sz="1500" b="1" kern="0" spc="150" dirty="0">
                <a:solidFill>
                  <a:srgbClr val="4F7A64"/>
                </a:solidFill>
                <a:latin typeface="Nunito Sans" pitchFamily="34" charset="0"/>
                <a:ea typeface="Nunito Sans" pitchFamily="34" charset="-122"/>
                <a:cs typeface="Nunito Sans" pitchFamily="34" charset="-120"/>
              </a:rPr>
              <a:t>LAYER 5 · PREVENT AND REMEDIATE</a:t>
            </a:r>
            <a:endParaRPr lang="en-US" sz="1500" dirty="0"/>
          </a:p>
        </p:txBody>
      </p:sp>
      <p:sp>
        <p:nvSpPr>
          <p:cNvPr id="3" name="Text 1"/>
          <p:cNvSpPr>
            <a:spLocks noGrp="1"/>
          </p:cNvSpPr>
          <p:nvPr>
            <p:ph type="title"/>
          </p:nvPr>
        </p:nvSpPr>
        <p:spPr>
          <a:xfrm>
            <a:off x="812767" y="723801"/>
            <a:ext cx="10883461" cy="458435"/>
          </a:xfrm>
          <a:prstGeom prst="rect">
            <a:avLst/>
          </a:prstGeom>
          <a:noFill/>
          <a:ln/>
        </p:spPr>
        <p:txBody>
          <a:bodyPr wrap="square" lIns="0" tIns="0" rIns="0" bIns="0" rtlCol="0" anchor="t">
            <a:normAutofit/>
          </a:bodyPr>
          <a:lstStyle/>
          <a:p>
            <a:pPr marL="0" indent="0" algn="l">
              <a:lnSpc>
                <a:spcPts val="3410"/>
              </a:lnSpc>
              <a:buNone/>
            </a:pPr>
            <a:r>
              <a:rPr lang="en-US" sz="3100" b="0" i="0" dirty="0">
                <a:solidFill>
                  <a:srgbClr val="2E3B40"/>
                </a:solidFill>
                <a:latin typeface="Lora" pitchFamily="18" charset="0"/>
                <a:ea typeface="Lora" pitchFamily="18" charset="-122"/>
                <a:cs typeface="Lora" pitchFamily="18" charset="-120"/>
              </a:rPr>
              <a:t>The top risk in each surface, and how to respond</a:t>
            </a:r>
            <a:endParaRPr lang="en-US" sz="3100" dirty="0"/>
          </a:p>
        </p:txBody>
      </p:sp>
      <p:sp>
        <p:nvSpPr>
          <p:cNvPr id="4" name="Text 2"/>
          <p:cNvSpPr/>
          <p:nvPr/>
        </p:nvSpPr>
        <p:spPr>
          <a:xfrm>
            <a:off x="812767" y="1219011"/>
            <a:ext cx="7591028" cy="25652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5636A"/>
                </a:solidFill>
                <a:latin typeface="Nunito Sans" pitchFamily="34" charset="0"/>
                <a:ea typeface="Nunito Sans" pitchFamily="34" charset="-122"/>
                <a:cs typeface="Nunito Sans" pitchFamily="34" charset="-120"/>
              </a:rPr>
              <a:t>Prevent maps to NIST AI RMF GOVERN and MANAGE. Remediate maps to MANAGE.</a:t>
            </a:r>
            <a:endParaRPr lang="en-US" sz="1300" dirty="0"/>
          </a:p>
        </p:txBody>
      </p:sp>
      <p:sp>
        <p:nvSpPr>
          <p:cNvPr id="5" name="Shape 3"/>
          <p:cNvSpPr/>
          <p:nvPr/>
        </p:nvSpPr>
        <p:spPr>
          <a:xfrm>
            <a:off x="815942" y="1617132"/>
            <a:ext cx="2378097" cy="4780514"/>
          </a:xfrm>
          <a:prstGeom prst="roundRect">
            <a:avLst>
              <a:gd name="adj" fmla="val 6275"/>
            </a:avLst>
          </a:prstGeom>
          <a:solidFill>
            <a:srgbClr val="FBFAF7"/>
          </a:solidFill>
          <a:ln w="6350">
            <a:solidFill>
              <a:srgbClr val="DCE3DE"/>
            </a:solidFill>
            <a:prstDash val="solid"/>
          </a:ln>
        </p:spPr>
        <p:txBody>
          <a:bodyPr/>
          <a:lstStyle/>
          <a:p>
            <a:endParaRPr lang="en-US"/>
          </a:p>
        </p:txBody>
      </p:sp>
      <p:sp>
        <p:nvSpPr>
          <p:cNvPr id="6" name="Shape 4"/>
          <p:cNvSpPr/>
          <p:nvPr/>
        </p:nvSpPr>
        <p:spPr>
          <a:xfrm>
            <a:off x="816295" y="1617486"/>
            <a:ext cx="2377392" cy="1346123"/>
          </a:xfrm>
          <a:custGeom>
            <a:avLst/>
            <a:gdLst/>
            <a:ahLst/>
            <a:cxnLst/>
            <a:rect l="l" t="t" r="r" b="b"/>
            <a:pathLst>
              <a:path w="2377392" h="1346123">
                <a:moveTo>
                  <a:pt x="0" y="148872"/>
                </a:moveTo>
                <a:arcTo wR="148872" hR="148872" stAng="10800000" swAng="5400000"/>
                <a:lnTo>
                  <a:pt x="2228519" y="0"/>
                </a:lnTo>
                <a:arcTo wR="148872" hR="148872" stAng="16200000" swAng="5400000"/>
                <a:lnTo>
                  <a:pt x="2377392" y="1346123"/>
                </a:lnTo>
                <a:lnTo>
                  <a:pt x="0" y="1346123"/>
                </a:lnTo>
                <a:close/>
              </a:path>
            </a:pathLst>
          </a:custGeom>
          <a:solidFill>
            <a:srgbClr val="CFE0D3"/>
          </a:solidFill>
          <a:ln/>
        </p:spPr>
        <p:txBody>
          <a:bodyPr/>
          <a:lstStyle/>
          <a:p>
            <a:endParaRPr lang="en-US"/>
          </a:p>
        </p:txBody>
      </p:sp>
      <p:sp>
        <p:nvSpPr>
          <p:cNvPr id="7" name="Text 5"/>
          <p:cNvSpPr/>
          <p:nvPr/>
        </p:nvSpPr>
        <p:spPr>
          <a:xfrm>
            <a:off x="968651" y="1744486"/>
            <a:ext cx="2134860" cy="638682"/>
          </a:xfrm>
          <a:prstGeom prst="rect">
            <a:avLst/>
          </a:prstGeom>
          <a:noFill/>
          <a:ln/>
        </p:spPr>
        <p:txBody>
          <a:bodyPr wrap="square" lIns="0" tIns="0" rIns="0" bIns="0" rtlCol="0" anchor="t">
            <a:normAutofit/>
          </a:bodyPr>
          <a:lstStyle/>
          <a:p>
            <a:pPr marL="0" indent="0" algn="l">
              <a:lnSpc>
                <a:spcPts val="2415"/>
              </a:lnSpc>
              <a:buNone/>
            </a:pPr>
            <a:r>
              <a:rPr lang="en-US" sz="2100" b="1" dirty="0">
                <a:solidFill>
                  <a:srgbClr val="2E3B40"/>
                </a:solidFill>
                <a:latin typeface="Lora" pitchFamily="18" charset="0"/>
                <a:ea typeface="Lora" pitchFamily="18" charset="-122"/>
                <a:cs typeface="Lora" pitchFamily="18" charset="-120"/>
              </a:rPr>
              <a:t>Enterprise sanctioned AI</a:t>
            </a:r>
            <a:endParaRPr lang="en-US" sz="2100" dirty="0"/>
          </a:p>
        </p:txBody>
      </p:sp>
      <p:sp>
        <p:nvSpPr>
          <p:cNvPr id="8" name="Text 6"/>
          <p:cNvSpPr/>
          <p:nvPr/>
        </p:nvSpPr>
        <p:spPr>
          <a:xfrm>
            <a:off x="968651" y="2404842"/>
            <a:ext cx="2134860" cy="454576"/>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F4D52"/>
                </a:solidFill>
                <a:latin typeface="Nunito Sans" pitchFamily="34" charset="0"/>
                <a:ea typeface="Nunito Sans" pitchFamily="34" charset="-122"/>
                <a:cs typeface="Nunito Sans" pitchFamily="34" charset="-120"/>
              </a:rPr>
              <a:t>Copilots and agents, Claude, OpenAI</a:t>
            </a:r>
            <a:endParaRPr lang="en-US" sz="1300" dirty="0"/>
          </a:p>
        </p:txBody>
      </p:sp>
      <p:sp>
        <p:nvSpPr>
          <p:cNvPr id="9" name="Shape 7"/>
          <p:cNvSpPr/>
          <p:nvPr/>
        </p:nvSpPr>
        <p:spPr>
          <a:xfrm>
            <a:off x="968651" y="3090608"/>
            <a:ext cx="2072680" cy="838178"/>
          </a:xfrm>
          <a:prstGeom prst="roundRect">
            <a:avLst>
              <a:gd name="adj" fmla="val 10606"/>
            </a:avLst>
          </a:prstGeom>
          <a:solidFill>
            <a:srgbClr val="F1F5F2"/>
          </a:solidFill>
          <a:ln/>
        </p:spPr>
        <p:txBody>
          <a:bodyPr/>
          <a:lstStyle/>
          <a:p>
            <a:endParaRPr lang="en-US"/>
          </a:p>
        </p:txBody>
      </p:sp>
      <p:sp>
        <p:nvSpPr>
          <p:cNvPr id="10" name="Text 8"/>
          <p:cNvSpPr/>
          <p:nvPr/>
        </p:nvSpPr>
        <p:spPr>
          <a:xfrm>
            <a:off x="1082918" y="3166787"/>
            <a:ext cx="1899470" cy="238775"/>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4F7A64"/>
                </a:solidFill>
                <a:latin typeface="Nunito Sans" pitchFamily="34" charset="0"/>
                <a:ea typeface="Nunito Sans" pitchFamily="34" charset="-122"/>
                <a:cs typeface="Nunito Sans" pitchFamily="34" charset="-120"/>
              </a:rPr>
              <a:t>TOP RISK</a:t>
            </a:r>
            <a:endParaRPr lang="en-US" sz="1200" dirty="0"/>
          </a:p>
        </p:txBody>
      </p:sp>
      <p:sp>
        <p:nvSpPr>
          <p:cNvPr id="11" name="Text 9"/>
          <p:cNvSpPr/>
          <p:nvPr/>
        </p:nvSpPr>
        <p:spPr>
          <a:xfrm>
            <a:off x="1082918" y="3380163"/>
            <a:ext cx="1899470" cy="487649"/>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2E3B40"/>
                </a:solidFill>
                <a:latin typeface="Nunito Sans" pitchFamily="34" charset="0"/>
                <a:ea typeface="Nunito Sans" pitchFamily="34" charset="-122"/>
                <a:cs typeface="Nunito Sans" pitchFamily="34" charset="-120"/>
              </a:rPr>
              <a:t>Oversharing and prompt injection</a:t>
            </a:r>
            <a:endParaRPr lang="en-US" sz="1400" dirty="0"/>
          </a:p>
        </p:txBody>
      </p:sp>
      <p:sp>
        <p:nvSpPr>
          <p:cNvPr id="12" name="Text 10"/>
          <p:cNvSpPr/>
          <p:nvPr/>
        </p:nvSpPr>
        <p:spPr>
          <a:xfrm>
            <a:off x="968651" y="4017643"/>
            <a:ext cx="2134860" cy="292078"/>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4F7A64"/>
                </a:solidFill>
                <a:latin typeface="Nunito Sans" pitchFamily="34" charset="0"/>
                <a:ea typeface="Nunito Sans" pitchFamily="34" charset="-122"/>
                <a:cs typeface="Nunito Sans" pitchFamily="34" charset="-120"/>
              </a:rPr>
              <a:t>Prevent</a:t>
            </a:r>
            <a:endParaRPr lang="en-US" sz="1500" dirty="0"/>
          </a:p>
        </p:txBody>
      </p:sp>
      <p:sp>
        <p:nvSpPr>
          <p:cNvPr id="13" name="Text 11"/>
          <p:cNvSpPr/>
          <p:nvPr/>
        </p:nvSpPr>
        <p:spPr>
          <a:xfrm>
            <a:off x="968651" y="4373175"/>
            <a:ext cx="2134860" cy="256525"/>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5636A"/>
                </a:solidFill>
                <a:latin typeface="Nunito Sans" pitchFamily="34" charset="0"/>
                <a:ea typeface="Nunito Sans" pitchFamily="34" charset="-122"/>
                <a:cs typeface="Nunito Sans" pitchFamily="34" charset="-120"/>
              </a:rPr>
              <a:t>• Fix permissions first</a:t>
            </a:r>
            <a:endParaRPr lang="en-US" sz="1400" dirty="0"/>
          </a:p>
        </p:txBody>
      </p:sp>
      <p:sp>
        <p:nvSpPr>
          <p:cNvPr id="14" name="Text 12"/>
          <p:cNvSpPr/>
          <p:nvPr/>
        </p:nvSpPr>
        <p:spPr>
          <a:xfrm>
            <a:off x="968651" y="4696963"/>
            <a:ext cx="2134860" cy="256525"/>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5636A"/>
                </a:solidFill>
                <a:latin typeface="Nunito Sans" pitchFamily="34" charset="0"/>
                <a:ea typeface="Nunito Sans" pitchFamily="34" charset="-122"/>
                <a:cs typeface="Nunito Sans" pitchFamily="34" charset="-120"/>
              </a:rPr>
              <a:t>• Guard inputs, outputs</a:t>
            </a:r>
            <a:endParaRPr lang="en-US" sz="1400" dirty="0"/>
          </a:p>
        </p:txBody>
      </p:sp>
      <p:sp>
        <p:nvSpPr>
          <p:cNvPr id="15" name="Text 13"/>
          <p:cNvSpPr/>
          <p:nvPr/>
        </p:nvSpPr>
        <p:spPr>
          <a:xfrm>
            <a:off x="968651" y="5020745"/>
            <a:ext cx="2134860" cy="292078"/>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4F7A64"/>
                </a:solidFill>
                <a:latin typeface="Nunito Sans" pitchFamily="34" charset="0"/>
                <a:ea typeface="Nunito Sans" pitchFamily="34" charset="-122"/>
                <a:cs typeface="Nunito Sans" pitchFamily="34" charset="-120"/>
              </a:rPr>
              <a:t>Remediate</a:t>
            </a:r>
            <a:endParaRPr lang="en-US" sz="1500" dirty="0"/>
          </a:p>
        </p:txBody>
      </p:sp>
      <p:sp>
        <p:nvSpPr>
          <p:cNvPr id="16" name="Text 14"/>
          <p:cNvSpPr/>
          <p:nvPr/>
        </p:nvSpPr>
        <p:spPr>
          <a:xfrm>
            <a:off x="968651" y="5376276"/>
            <a:ext cx="2134860" cy="256525"/>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5636A"/>
                </a:solidFill>
                <a:latin typeface="Nunito Sans" pitchFamily="34" charset="0"/>
                <a:ea typeface="Nunito Sans" pitchFamily="34" charset="-122"/>
                <a:cs typeface="Nunito Sans" pitchFamily="34" charset="-120"/>
              </a:rPr>
              <a:t>• Revoke agent scopes</a:t>
            </a:r>
            <a:endParaRPr lang="en-US" sz="1400" dirty="0"/>
          </a:p>
        </p:txBody>
      </p:sp>
      <p:sp>
        <p:nvSpPr>
          <p:cNvPr id="17" name="Text 15"/>
          <p:cNvSpPr/>
          <p:nvPr/>
        </p:nvSpPr>
        <p:spPr>
          <a:xfrm>
            <a:off x="968651" y="5700064"/>
            <a:ext cx="2134860" cy="256525"/>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5636A"/>
                </a:solidFill>
                <a:latin typeface="Nunito Sans" pitchFamily="34" charset="0"/>
                <a:ea typeface="Nunito Sans" pitchFamily="34" charset="-122"/>
                <a:cs typeface="Nunito Sans" pitchFamily="34" charset="-120"/>
              </a:rPr>
              <a:t>• Rotate exposed secrets</a:t>
            </a:r>
            <a:endParaRPr lang="en-US" sz="1400" dirty="0"/>
          </a:p>
        </p:txBody>
      </p:sp>
      <p:pic>
        <p:nvPicPr>
          <p:cNvPr id="18" name="Image 0" descr="arrow-right"/>
          <p:cNvPicPr>
            <a:picLocks noChangeAspect="1"/>
          </p:cNvPicPr>
          <p:nvPr/>
        </p:nvPicPr>
        <p:blipFill>
          <a:blip r:embed="rId3"/>
          <a:srcRect/>
          <a:stretch/>
        </p:blipFill>
        <p:spPr>
          <a:xfrm>
            <a:off x="3273392" y="3943890"/>
            <a:ext cx="190500" cy="127000"/>
          </a:xfrm>
          <a:prstGeom prst="rect">
            <a:avLst/>
          </a:prstGeom>
        </p:spPr>
      </p:pic>
      <p:sp>
        <p:nvSpPr>
          <p:cNvPr id="19" name="Shape 16"/>
          <p:cNvSpPr/>
          <p:nvPr/>
        </p:nvSpPr>
        <p:spPr>
          <a:xfrm>
            <a:off x="3543245" y="1617132"/>
            <a:ext cx="2378152" cy="4780514"/>
          </a:xfrm>
          <a:prstGeom prst="roundRect">
            <a:avLst>
              <a:gd name="adj" fmla="val 6275"/>
            </a:avLst>
          </a:prstGeom>
          <a:solidFill>
            <a:srgbClr val="FBFAF7"/>
          </a:solidFill>
          <a:ln w="6350">
            <a:solidFill>
              <a:srgbClr val="DCE3DE"/>
            </a:solidFill>
            <a:prstDash val="solid"/>
          </a:ln>
        </p:spPr>
        <p:txBody>
          <a:bodyPr/>
          <a:lstStyle/>
          <a:p>
            <a:endParaRPr lang="en-US"/>
          </a:p>
        </p:txBody>
      </p:sp>
      <p:sp>
        <p:nvSpPr>
          <p:cNvPr id="20" name="Shape 17"/>
          <p:cNvSpPr/>
          <p:nvPr/>
        </p:nvSpPr>
        <p:spPr>
          <a:xfrm>
            <a:off x="3543598" y="1617486"/>
            <a:ext cx="2377447" cy="1346123"/>
          </a:xfrm>
          <a:custGeom>
            <a:avLst/>
            <a:gdLst/>
            <a:ahLst/>
            <a:cxnLst/>
            <a:rect l="l" t="t" r="r" b="b"/>
            <a:pathLst>
              <a:path w="2377447" h="1346123">
                <a:moveTo>
                  <a:pt x="0" y="148872"/>
                </a:moveTo>
                <a:arcTo wR="148872" hR="148872" stAng="10800000" swAng="5400000"/>
                <a:lnTo>
                  <a:pt x="2228575" y="0"/>
                </a:lnTo>
                <a:arcTo wR="148872" hR="148872" stAng="16200000" swAng="5400000"/>
                <a:lnTo>
                  <a:pt x="2377447" y="1346123"/>
                </a:lnTo>
                <a:lnTo>
                  <a:pt x="0" y="1346123"/>
                </a:lnTo>
                <a:close/>
              </a:path>
            </a:pathLst>
          </a:custGeom>
          <a:solidFill>
            <a:srgbClr val="D3E2EC"/>
          </a:solidFill>
          <a:ln/>
        </p:spPr>
        <p:txBody>
          <a:bodyPr/>
          <a:lstStyle/>
          <a:p>
            <a:endParaRPr lang="en-US"/>
          </a:p>
        </p:txBody>
      </p:sp>
      <p:sp>
        <p:nvSpPr>
          <p:cNvPr id="21" name="Text 18"/>
          <p:cNvSpPr/>
          <p:nvPr/>
        </p:nvSpPr>
        <p:spPr>
          <a:xfrm>
            <a:off x="3695954" y="1744486"/>
            <a:ext cx="2134917" cy="638682"/>
          </a:xfrm>
          <a:prstGeom prst="rect">
            <a:avLst/>
          </a:prstGeom>
          <a:noFill/>
          <a:ln/>
        </p:spPr>
        <p:txBody>
          <a:bodyPr wrap="square" lIns="0" tIns="0" rIns="0" bIns="0" rtlCol="0" anchor="t">
            <a:normAutofit/>
          </a:bodyPr>
          <a:lstStyle/>
          <a:p>
            <a:pPr marL="0" indent="0" algn="l">
              <a:lnSpc>
                <a:spcPts val="2415"/>
              </a:lnSpc>
              <a:buNone/>
            </a:pPr>
            <a:r>
              <a:rPr lang="en-US" sz="2100" b="1" dirty="0">
                <a:solidFill>
                  <a:srgbClr val="2E3B40"/>
                </a:solidFill>
                <a:latin typeface="Lora" pitchFamily="18" charset="0"/>
                <a:ea typeface="Lora" pitchFamily="18" charset="-122"/>
                <a:cs typeface="Lora" pitchFamily="18" charset="-120"/>
              </a:rPr>
              <a:t>Enterprise unsanctioned AI</a:t>
            </a:r>
            <a:endParaRPr lang="en-US" sz="2100" dirty="0"/>
          </a:p>
        </p:txBody>
      </p:sp>
      <p:sp>
        <p:nvSpPr>
          <p:cNvPr id="22" name="Text 19"/>
          <p:cNvSpPr/>
          <p:nvPr/>
        </p:nvSpPr>
        <p:spPr>
          <a:xfrm>
            <a:off x="3695954" y="2404842"/>
            <a:ext cx="2134917" cy="454576"/>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F4D52"/>
                </a:solidFill>
                <a:latin typeface="Nunito Sans" pitchFamily="34" charset="0"/>
                <a:ea typeface="Nunito Sans" pitchFamily="34" charset="-122"/>
                <a:cs typeface="Nunito Sans" pitchFamily="34" charset="-120"/>
              </a:rPr>
              <a:t>Shadow AI: personal accounts, local agents</a:t>
            </a:r>
            <a:endParaRPr lang="en-US" sz="1300" dirty="0"/>
          </a:p>
        </p:txBody>
      </p:sp>
      <p:sp>
        <p:nvSpPr>
          <p:cNvPr id="23" name="Shape 20"/>
          <p:cNvSpPr/>
          <p:nvPr/>
        </p:nvSpPr>
        <p:spPr>
          <a:xfrm>
            <a:off x="3695954" y="3090608"/>
            <a:ext cx="2072735" cy="838178"/>
          </a:xfrm>
          <a:prstGeom prst="roundRect">
            <a:avLst>
              <a:gd name="adj" fmla="val 10606"/>
            </a:avLst>
          </a:prstGeom>
          <a:solidFill>
            <a:srgbClr val="F1F5F7"/>
          </a:solidFill>
          <a:ln/>
        </p:spPr>
        <p:txBody>
          <a:bodyPr/>
          <a:lstStyle/>
          <a:p>
            <a:endParaRPr lang="en-US"/>
          </a:p>
        </p:txBody>
      </p:sp>
      <p:sp>
        <p:nvSpPr>
          <p:cNvPr id="24" name="Text 21"/>
          <p:cNvSpPr/>
          <p:nvPr/>
        </p:nvSpPr>
        <p:spPr>
          <a:xfrm>
            <a:off x="3810221" y="3166787"/>
            <a:ext cx="1899527" cy="238775"/>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4A6F86"/>
                </a:solidFill>
                <a:latin typeface="Nunito Sans" pitchFamily="34" charset="0"/>
                <a:ea typeface="Nunito Sans" pitchFamily="34" charset="-122"/>
                <a:cs typeface="Nunito Sans" pitchFamily="34" charset="-120"/>
              </a:rPr>
              <a:t>TOP RISK</a:t>
            </a:r>
            <a:endParaRPr lang="en-US" sz="1200" dirty="0"/>
          </a:p>
        </p:txBody>
      </p:sp>
      <p:sp>
        <p:nvSpPr>
          <p:cNvPr id="25" name="Text 22"/>
          <p:cNvSpPr/>
          <p:nvPr/>
        </p:nvSpPr>
        <p:spPr>
          <a:xfrm>
            <a:off x="3810221" y="3380163"/>
            <a:ext cx="1899527" cy="487649"/>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2E3B40"/>
                </a:solidFill>
                <a:latin typeface="Nunito Sans" pitchFamily="34" charset="0"/>
                <a:ea typeface="Nunito Sans" pitchFamily="34" charset="-122"/>
                <a:cs typeface="Nunito Sans" pitchFamily="34" charset="-120"/>
              </a:rPr>
              <a:t>Sensitive data in personal AI</a:t>
            </a:r>
            <a:endParaRPr lang="en-US" sz="1400" dirty="0"/>
          </a:p>
        </p:txBody>
      </p:sp>
      <p:sp>
        <p:nvSpPr>
          <p:cNvPr id="26" name="Text 23"/>
          <p:cNvSpPr/>
          <p:nvPr/>
        </p:nvSpPr>
        <p:spPr>
          <a:xfrm>
            <a:off x="3695954" y="4017643"/>
            <a:ext cx="2134917" cy="292078"/>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4A6F86"/>
                </a:solidFill>
                <a:latin typeface="Nunito Sans" pitchFamily="34" charset="0"/>
                <a:ea typeface="Nunito Sans" pitchFamily="34" charset="-122"/>
                <a:cs typeface="Nunito Sans" pitchFamily="34" charset="-120"/>
              </a:rPr>
              <a:t>Prevent</a:t>
            </a:r>
            <a:endParaRPr lang="en-US" sz="1500" dirty="0"/>
          </a:p>
        </p:txBody>
      </p:sp>
      <p:sp>
        <p:nvSpPr>
          <p:cNvPr id="27" name="Text 24"/>
          <p:cNvSpPr/>
          <p:nvPr/>
        </p:nvSpPr>
        <p:spPr>
          <a:xfrm>
            <a:off x="3695954" y="4373175"/>
            <a:ext cx="2134917" cy="256525"/>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5636A"/>
                </a:solidFill>
                <a:latin typeface="Nunito Sans" pitchFamily="34" charset="0"/>
                <a:ea typeface="Nunito Sans" pitchFamily="34" charset="-122"/>
                <a:cs typeface="Nunito Sans" pitchFamily="34" charset="-120"/>
              </a:rPr>
              <a:t>• Offer approved option</a:t>
            </a:r>
            <a:endParaRPr lang="en-US" sz="1400" dirty="0"/>
          </a:p>
        </p:txBody>
      </p:sp>
      <p:sp>
        <p:nvSpPr>
          <p:cNvPr id="28" name="Text 25"/>
          <p:cNvSpPr/>
          <p:nvPr/>
        </p:nvSpPr>
        <p:spPr>
          <a:xfrm>
            <a:off x="3695954" y="4696963"/>
            <a:ext cx="2134917" cy="256525"/>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5636A"/>
                </a:solidFill>
                <a:latin typeface="Nunito Sans" pitchFamily="34" charset="0"/>
                <a:ea typeface="Nunito Sans" pitchFamily="34" charset="-122"/>
                <a:cs typeface="Nunito Sans" pitchFamily="34" charset="-120"/>
              </a:rPr>
              <a:t>• Browser DLP, coaching</a:t>
            </a:r>
            <a:endParaRPr lang="en-US" sz="1400" dirty="0"/>
          </a:p>
        </p:txBody>
      </p:sp>
      <p:sp>
        <p:nvSpPr>
          <p:cNvPr id="29" name="Text 26"/>
          <p:cNvSpPr/>
          <p:nvPr/>
        </p:nvSpPr>
        <p:spPr>
          <a:xfrm>
            <a:off x="3695954" y="5020745"/>
            <a:ext cx="2134917" cy="292078"/>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4A6F86"/>
                </a:solidFill>
                <a:latin typeface="Nunito Sans" pitchFamily="34" charset="0"/>
                <a:ea typeface="Nunito Sans" pitchFamily="34" charset="-122"/>
                <a:cs typeface="Nunito Sans" pitchFamily="34" charset="-120"/>
              </a:rPr>
              <a:t>Remediate</a:t>
            </a:r>
            <a:endParaRPr lang="en-US" sz="1500" dirty="0"/>
          </a:p>
        </p:txBody>
      </p:sp>
      <p:sp>
        <p:nvSpPr>
          <p:cNvPr id="30" name="Text 27"/>
          <p:cNvSpPr/>
          <p:nvPr/>
        </p:nvSpPr>
        <p:spPr>
          <a:xfrm>
            <a:off x="3695954" y="5376276"/>
            <a:ext cx="2134917" cy="256525"/>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5636A"/>
                </a:solidFill>
                <a:latin typeface="Nunito Sans" pitchFamily="34" charset="0"/>
                <a:ea typeface="Nunito Sans" pitchFamily="34" charset="-122"/>
                <a:cs typeface="Nunito Sans" pitchFamily="34" charset="-120"/>
              </a:rPr>
              <a:t>• Request data deletion</a:t>
            </a:r>
            <a:endParaRPr lang="en-US" sz="1400" dirty="0"/>
          </a:p>
        </p:txBody>
      </p:sp>
      <p:sp>
        <p:nvSpPr>
          <p:cNvPr id="31" name="Text 28"/>
          <p:cNvSpPr/>
          <p:nvPr/>
        </p:nvSpPr>
        <p:spPr>
          <a:xfrm>
            <a:off x="3695954" y="5700064"/>
            <a:ext cx="2134917" cy="256525"/>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5636A"/>
                </a:solidFill>
                <a:latin typeface="Nunito Sans" pitchFamily="34" charset="0"/>
                <a:ea typeface="Nunito Sans" pitchFamily="34" charset="-122"/>
                <a:cs typeface="Nunito Sans" pitchFamily="34" charset="-120"/>
              </a:rPr>
              <a:t>• Revoke OAuth grants</a:t>
            </a:r>
            <a:endParaRPr lang="en-US" sz="1400" dirty="0"/>
          </a:p>
        </p:txBody>
      </p:sp>
      <p:pic>
        <p:nvPicPr>
          <p:cNvPr id="32" name="Image 1" descr="arrow-right"/>
          <p:cNvPicPr>
            <a:picLocks noChangeAspect="1"/>
          </p:cNvPicPr>
          <p:nvPr/>
        </p:nvPicPr>
        <p:blipFill>
          <a:blip r:embed="rId3"/>
          <a:srcRect/>
          <a:stretch/>
        </p:blipFill>
        <p:spPr>
          <a:xfrm>
            <a:off x="6000750" y="3943890"/>
            <a:ext cx="190500" cy="127000"/>
          </a:xfrm>
          <a:prstGeom prst="rect">
            <a:avLst/>
          </a:prstGeom>
        </p:spPr>
      </p:pic>
      <p:sp>
        <p:nvSpPr>
          <p:cNvPr id="33" name="Shape 29"/>
          <p:cNvSpPr/>
          <p:nvPr/>
        </p:nvSpPr>
        <p:spPr>
          <a:xfrm>
            <a:off x="6270603" y="1617132"/>
            <a:ext cx="2378097" cy="4780514"/>
          </a:xfrm>
          <a:prstGeom prst="roundRect">
            <a:avLst>
              <a:gd name="adj" fmla="val 6275"/>
            </a:avLst>
          </a:prstGeom>
          <a:solidFill>
            <a:srgbClr val="FBFAF7"/>
          </a:solidFill>
          <a:ln w="6350">
            <a:solidFill>
              <a:srgbClr val="DCE3DE"/>
            </a:solidFill>
            <a:prstDash val="solid"/>
          </a:ln>
        </p:spPr>
        <p:txBody>
          <a:bodyPr/>
          <a:lstStyle/>
          <a:p>
            <a:endParaRPr lang="en-US"/>
          </a:p>
        </p:txBody>
      </p:sp>
      <p:sp>
        <p:nvSpPr>
          <p:cNvPr id="34" name="Shape 30"/>
          <p:cNvSpPr/>
          <p:nvPr/>
        </p:nvSpPr>
        <p:spPr>
          <a:xfrm>
            <a:off x="6270956" y="1617486"/>
            <a:ext cx="2377392" cy="1346123"/>
          </a:xfrm>
          <a:custGeom>
            <a:avLst/>
            <a:gdLst/>
            <a:ahLst/>
            <a:cxnLst/>
            <a:rect l="l" t="t" r="r" b="b"/>
            <a:pathLst>
              <a:path w="2377392" h="1346123">
                <a:moveTo>
                  <a:pt x="0" y="148872"/>
                </a:moveTo>
                <a:arcTo wR="148872" hR="148872" stAng="10800000" swAng="5400000"/>
                <a:lnTo>
                  <a:pt x="2228519" y="0"/>
                </a:lnTo>
                <a:arcTo wR="148872" hR="148872" stAng="16200000" swAng="5400000"/>
                <a:lnTo>
                  <a:pt x="2377392" y="1346123"/>
                </a:lnTo>
                <a:lnTo>
                  <a:pt x="0" y="1346123"/>
                </a:lnTo>
                <a:close/>
              </a:path>
            </a:pathLst>
          </a:custGeom>
          <a:solidFill>
            <a:srgbClr val="E0DAEC"/>
          </a:solidFill>
          <a:ln/>
        </p:spPr>
        <p:txBody>
          <a:bodyPr/>
          <a:lstStyle/>
          <a:p>
            <a:endParaRPr lang="en-US"/>
          </a:p>
        </p:txBody>
      </p:sp>
      <p:sp>
        <p:nvSpPr>
          <p:cNvPr id="35" name="Text 31"/>
          <p:cNvSpPr/>
          <p:nvPr/>
        </p:nvSpPr>
        <p:spPr>
          <a:xfrm>
            <a:off x="6423312" y="1744486"/>
            <a:ext cx="2134860" cy="332041"/>
          </a:xfrm>
          <a:prstGeom prst="rect">
            <a:avLst/>
          </a:prstGeom>
          <a:noFill/>
          <a:ln/>
        </p:spPr>
        <p:txBody>
          <a:bodyPr wrap="square" lIns="0" tIns="0" rIns="0" bIns="0" rtlCol="0" anchor="t">
            <a:normAutofit/>
          </a:bodyPr>
          <a:lstStyle/>
          <a:p>
            <a:pPr marL="0" indent="0" algn="l">
              <a:lnSpc>
                <a:spcPts val="2415"/>
              </a:lnSpc>
              <a:buNone/>
            </a:pPr>
            <a:r>
              <a:rPr lang="en-US" sz="2100" b="1" dirty="0">
                <a:solidFill>
                  <a:srgbClr val="2E3B40"/>
                </a:solidFill>
                <a:latin typeface="Lora" pitchFamily="18" charset="0"/>
                <a:ea typeface="Lora" pitchFamily="18" charset="-122"/>
                <a:cs typeface="Lora" pitchFamily="18" charset="-120"/>
              </a:rPr>
              <a:t>Vendor AI</a:t>
            </a:r>
            <a:endParaRPr lang="en-US" sz="2100" dirty="0"/>
          </a:p>
        </p:txBody>
      </p:sp>
      <p:sp>
        <p:nvSpPr>
          <p:cNvPr id="36" name="Text 32"/>
          <p:cNvSpPr/>
          <p:nvPr/>
        </p:nvSpPr>
        <p:spPr>
          <a:xfrm>
            <a:off x="6423312" y="2404842"/>
            <a:ext cx="2134860" cy="454576"/>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F4D52"/>
                </a:solidFill>
                <a:latin typeface="Nunito Sans" pitchFamily="34" charset="0"/>
                <a:ea typeface="Nunito Sans" pitchFamily="34" charset="-122"/>
                <a:cs typeface="Nunito Sans" pitchFamily="34" charset="-120"/>
              </a:rPr>
              <a:t>AI features inside the SaaS you already use</a:t>
            </a:r>
            <a:endParaRPr lang="en-US" sz="1300" dirty="0"/>
          </a:p>
        </p:txBody>
      </p:sp>
      <p:sp>
        <p:nvSpPr>
          <p:cNvPr id="37" name="Shape 33"/>
          <p:cNvSpPr/>
          <p:nvPr/>
        </p:nvSpPr>
        <p:spPr>
          <a:xfrm>
            <a:off x="6423312" y="3090608"/>
            <a:ext cx="2072680" cy="838178"/>
          </a:xfrm>
          <a:prstGeom prst="roundRect">
            <a:avLst>
              <a:gd name="adj" fmla="val 10606"/>
            </a:avLst>
          </a:prstGeom>
          <a:solidFill>
            <a:srgbClr val="F5F3F8"/>
          </a:solidFill>
          <a:ln/>
        </p:spPr>
        <p:txBody>
          <a:bodyPr/>
          <a:lstStyle/>
          <a:p>
            <a:endParaRPr lang="en-US"/>
          </a:p>
        </p:txBody>
      </p:sp>
      <p:sp>
        <p:nvSpPr>
          <p:cNvPr id="38" name="Text 34"/>
          <p:cNvSpPr/>
          <p:nvPr/>
        </p:nvSpPr>
        <p:spPr>
          <a:xfrm>
            <a:off x="6537579" y="3166787"/>
            <a:ext cx="1899470" cy="238775"/>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6B5E8C"/>
                </a:solidFill>
                <a:latin typeface="Nunito Sans" pitchFamily="34" charset="0"/>
                <a:ea typeface="Nunito Sans" pitchFamily="34" charset="-122"/>
                <a:cs typeface="Nunito Sans" pitchFamily="34" charset="-120"/>
              </a:rPr>
              <a:t>TOP RISK</a:t>
            </a:r>
            <a:endParaRPr lang="en-US" sz="1200" dirty="0"/>
          </a:p>
        </p:txBody>
      </p:sp>
      <p:sp>
        <p:nvSpPr>
          <p:cNvPr id="39" name="Text 35"/>
          <p:cNvSpPr/>
          <p:nvPr/>
        </p:nvSpPr>
        <p:spPr>
          <a:xfrm>
            <a:off x="6537579" y="3380163"/>
            <a:ext cx="1899470" cy="487649"/>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2E3B40"/>
                </a:solidFill>
                <a:latin typeface="Nunito Sans" pitchFamily="34" charset="0"/>
                <a:ea typeface="Nunito Sans" pitchFamily="34" charset="-122"/>
                <a:cs typeface="Nunito Sans" pitchFamily="34" charset="-120"/>
              </a:rPr>
              <a:t>AI enabled on your data silently</a:t>
            </a:r>
            <a:endParaRPr lang="en-US" sz="1400" dirty="0"/>
          </a:p>
        </p:txBody>
      </p:sp>
      <p:sp>
        <p:nvSpPr>
          <p:cNvPr id="40" name="Text 36"/>
          <p:cNvSpPr/>
          <p:nvPr/>
        </p:nvSpPr>
        <p:spPr>
          <a:xfrm>
            <a:off x="6423312" y="4017643"/>
            <a:ext cx="2134860" cy="292078"/>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6B5E8C"/>
                </a:solidFill>
                <a:latin typeface="Nunito Sans" pitchFamily="34" charset="0"/>
                <a:ea typeface="Nunito Sans" pitchFamily="34" charset="-122"/>
                <a:cs typeface="Nunito Sans" pitchFamily="34" charset="-120"/>
              </a:rPr>
              <a:t>Prevent</a:t>
            </a:r>
            <a:endParaRPr lang="en-US" sz="1500" dirty="0"/>
          </a:p>
        </p:txBody>
      </p:sp>
      <p:sp>
        <p:nvSpPr>
          <p:cNvPr id="41" name="Text 37"/>
          <p:cNvSpPr/>
          <p:nvPr/>
        </p:nvSpPr>
        <p:spPr>
          <a:xfrm>
            <a:off x="6423312" y="4373175"/>
            <a:ext cx="2134860" cy="256525"/>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5636A"/>
                </a:solidFill>
                <a:latin typeface="Nunito Sans" pitchFamily="34" charset="0"/>
                <a:ea typeface="Nunito Sans" pitchFamily="34" charset="-122"/>
                <a:cs typeface="Nunito Sans" pitchFamily="34" charset="-120"/>
              </a:rPr>
              <a:t>• No-training clauses</a:t>
            </a:r>
            <a:endParaRPr lang="en-US" sz="1400" dirty="0"/>
          </a:p>
        </p:txBody>
      </p:sp>
      <p:sp>
        <p:nvSpPr>
          <p:cNvPr id="42" name="Text 38"/>
          <p:cNvSpPr/>
          <p:nvPr/>
        </p:nvSpPr>
        <p:spPr>
          <a:xfrm>
            <a:off x="6423312" y="4696963"/>
            <a:ext cx="2134860" cy="256525"/>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5636A"/>
                </a:solidFill>
                <a:latin typeface="Nunito Sans" pitchFamily="34" charset="0"/>
                <a:ea typeface="Nunito Sans" pitchFamily="34" charset="-122"/>
                <a:cs typeface="Nunito Sans" pitchFamily="34" charset="-120"/>
              </a:rPr>
              <a:t>• AI questions at intake</a:t>
            </a:r>
            <a:endParaRPr lang="en-US" sz="1400" dirty="0"/>
          </a:p>
        </p:txBody>
      </p:sp>
      <p:sp>
        <p:nvSpPr>
          <p:cNvPr id="43" name="Text 39"/>
          <p:cNvSpPr/>
          <p:nvPr/>
        </p:nvSpPr>
        <p:spPr>
          <a:xfrm>
            <a:off x="6423312" y="5020745"/>
            <a:ext cx="2134860" cy="292078"/>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6B5E8C"/>
                </a:solidFill>
                <a:latin typeface="Nunito Sans" pitchFamily="34" charset="0"/>
                <a:ea typeface="Nunito Sans" pitchFamily="34" charset="-122"/>
                <a:cs typeface="Nunito Sans" pitchFamily="34" charset="-120"/>
              </a:rPr>
              <a:t>Remediate</a:t>
            </a:r>
            <a:endParaRPr lang="en-US" sz="1500" dirty="0"/>
          </a:p>
        </p:txBody>
      </p:sp>
      <p:sp>
        <p:nvSpPr>
          <p:cNvPr id="44" name="Text 40"/>
          <p:cNvSpPr/>
          <p:nvPr/>
        </p:nvSpPr>
        <p:spPr>
          <a:xfrm>
            <a:off x="6423312" y="5376276"/>
            <a:ext cx="2134860" cy="256525"/>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5636A"/>
                </a:solidFill>
                <a:latin typeface="Nunito Sans" pitchFamily="34" charset="0"/>
                <a:ea typeface="Nunito Sans" pitchFamily="34" charset="-122"/>
                <a:cs typeface="Nunito Sans" pitchFamily="34" charset="-120"/>
              </a:rPr>
              <a:t>• Disable or opt out</a:t>
            </a:r>
            <a:endParaRPr lang="en-US" sz="1400" dirty="0"/>
          </a:p>
        </p:txBody>
      </p:sp>
      <p:sp>
        <p:nvSpPr>
          <p:cNvPr id="45" name="Text 41"/>
          <p:cNvSpPr/>
          <p:nvPr/>
        </p:nvSpPr>
        <p:spPr>
          <a:xfrm>
            <a:off x="6423312" y="5700064"/>
            <a:ext cx="2134860" cy="256525"/>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5636A"/>
                </a:solidFill>
                <a:latin typeface="Nunito Sans" pitchFamily="34" charset="0"/>
                <a:ea typeface="Nunito Sans" pitchFamily="34" charset="-122"/>
                <a:cs typeface="Nunito Sans" pitchFamily="34" charset="-120"/>
              </a:rPr>
              <a:t>• Escalate, reassess</a:t>
            </a:r>
            <a:endParaRPr lang="en-US" sz="1400" dirty="0"/>
          </a:p>
        </p:txBody>
      </p:sp>
      <p:pic>
        <p:nvPicPr>
          <p:cNvPr id="46" name="Image 2" descr="arrow-right"/>
          <p:cNvPicPr>
            <a:picLocks noChangeAspect="1"/>
          </p:cNvPicPr>
          <p:nvPr/>
        </p:nvPicPr>
        <p:blipFill>
          <a:blip r:embed="rId3"/>
          <a:srcRect/>
          <a:stretch/>
        </p:blipFill>
        <p:spPr>
          <a:xfrm>
            <a:off x="8728053" y="3943890"/>
            <a:ext cx="190500" cy="127000"/>
          </a:xfrm>
          <a:prstGeom prst="rect">
            <a:avLst/>
          </a:prstGeom>
        </p:spPr>
      </p:pic>
      <p:sp>
        <p:nvSpPr>
          <p:cNvPr id="47" name="Shape 42"/>
          <p:cNvSpPr/>
          <p:nvPr/>
        </p:nvSpPr>
        <p:spPr>
          <a:xfrm>
            <a:off x="8997907" y="1617132"/>
            <a:ext cx="2378152" cy="4780514"/>
          </a:xfrm>
          <a:prstGeom prst="roundRect">
            <a:avLst>
              <a:gd name="adj" fmla="val 6275"/>
            </a:avLst>
          </a:prstGeom>
          <a:solidFill>
            <a:srgbClr val="FBFAF7"/>
          </a:solidFill>
          <a:ln w="6350">
            <a:solidFill>
              <a:srgbClr val="DCE3DE"/>
            </a:solidFill>
            <a:prstDash val="solid"/>
          </a:ln>
        </p:spPr>
        <p:txBody>
          <a:bodyPr/>
          <a:lstStyle/>
          <a:p>
            <a:endParaRPr lang="en-US"/>
          </a:p>
        </p:txBody>
      </p:sp>
      <p:sp>
        <p:nvSpPr>
          <p:cNvPr id="48" name="Shape 43"/>
          <p:cNvSpPr/>
          <p:nvPr/>
        </p:nvSpPr>
        <p:spPr>
          <a:xfrm>
            <a:off x="8998259" y="1617486"/>
            <a:ext cx="2377447" cy="1346123"/>
          </a:xfrm>
          <a:custGeom>
            <a:avLst/>
            <a:gdLst/>
            <a:ahLst/>
            <a:cxnLst/>
            <a:rect l="l" t="t" r="r" b="b"/>
            <a:pathLst>
              <a:path w="2377447" h="1346123">
                <a:moveTo>
                  <a:pt x="0" y="148872"/>
                </a:moveTo>
                <a:arcTo wR="148872" hR="148872" stAng="10800000" swAng="5400000"/>
                <a:lnTo>
                  <a:pt x="2228575" y="0"/>
                </a:lnTo>
                <a:arcTo wR="148872" hR="148872" stAng="16200000" swAng="5400000"/>
                <a:lnTo>
                  <a:pt x="2377447" y="1346123"/>
                </a:lnTo>
                <a:lnTo>
                  <a:pt x="0" y="1346123"/>
                </a:lnTo>
                <a:close/>
              </a:path>
            </a:pathLst>
          </a:custGeom>
          <a:solidFill>
            <a:srgbClr val="EFE3CF"/>
          </a:solidFill>
          <a:ln/>
        </p:spPr>
        <p:txBody>
          <a:bodyPr/>
          <a:lstStyle/>
          <a:p>
            <a:endParaRPr lang="en-US"/>
          </a:p>
        </p:txBody>
      </p:sp>
      <p:sp>
        <p:nvSpPr>
          <p:cNvPr id="49" name="Text 44"/>
          <p:cNvSpPr/>
          <p:nvPr/>
        </p:nvSpPr>
        <p:spPr>
          <a:xfrm>
            <a:off x="9150615" y="1744486"/>
            <a:ext cx="2134917" cy="638682"/>
          </a:xfrm>
          <a:prstGeom prst="rect">
            <a:avLst/>
          </a:prstGeom>
          <a:noFill/>
          <a:ln/>
        </p:spPr>
        <p:txBody>
          <a:bodyPr wrap="square" lIns="0" tIns="0" rIns="0" bIns="0" rtlCol="0" anchor="t">
            <a:normAutofit/>
          </a:bodyPr>
          <a:lstStyle/>
          <a:p>
            <a:pPr marL="0" indent="0" algn="l">
              <a:lnSpc>
                <a:spcPts val="2415"/>
              </a:lnSpc>
              <a:buNone/>
            </a:pPr>
            <a:r>
              <a:rPr lang="en-US" sz="2100" b="1" dirty="0">
                <a:solidFill>
                  <a:srgbClr val="2E3B40"/>
                </a:solidFill>
                <a:latin typeface="Lora" pitchFamily="18" charset="0"/>
                <a:ea typeface="Lora" pitchFamily="18" charset="-122"/>
                <a:cs typeface="Lora" pitchFamily="18" charset="-120"/>
              </a:rPr>
              <a:t>AI in secure development</a:t>
            </a:r>
            <a:endParaRPr lang="en-US" sz="2100" dirty="0"/>
          </a:p>
        </p:txBody>
      </p:sp>
      <p:sp>
        <p:nvSpPr>
          <p:cNvPr id="50" name="Text 45"/>
          <p:cNvSpPr/>
          <p:nvPr/>
        </p:nvSpPr>
        <p:spPr>
          <a:xfrm>
            <a:off x="9150615" y="2404842"/>
            <a:ext cx="2134917" cy="454576"/>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F4D52"/>
                </a:solidFill>
                <a:latin typeface="Nunito Sans" pitchFamily="34" charset="0"/>
                <a:ea typeface="Nunito Sans" pitchFamily="34" charset="-122"/>
                <a:cs typeface="Nunito Sans" pitchFamily="34" charset="-120"/>
              </a:rPr>
              <a:t>Coding agents, MCP servers, IDE rules</a:t>
            </a:r>
            <a:endParaRPr lang="en-US" sz="1300" dirty="0"/>
          </a:p>
        </p:txBody>
      </p:sp>
      <p:sp>
        <p:nvSpPr>
          <p:cNvPr id="51" name="Shape 46"/>
          <p:cNvSpPr/>
          <p:nvPr/>
        </p:nvSpPr>
        <p:spPr>
          <a:xfrm>
            <a:off x="9150615" y="3090608"/>
            <a:ext cx="2072735" cy="838178"/>
          </a:xfrm>
          <a:prstGeom prst="roundRect">
            <a:avLst>
              <a:gd name="adj" fmla="val 10606"/>
            </a:avLst>
          </a:prstGeom>
          <a:solidFill>
            <a:srgbClr val="F8F4EC"/>
          </a:solidFill>
          <a:ln/>
        </p:spPr>
        <p:txBody>
          <a:bodyPr/>
          <a:lstStyle/>
          <a:p>
            <a:endParaRPr lang="en-US"/>
          </a:p>
        </p:txBody>
      </p:sp>
      <p:sp>
        <p:nvSpPr>
          <p:cNvPr id="52" name="Text 47"/>
          <p:cNvSpPr/>
          <p:nvPr/>
        </p:nvSpPr>
        <p:spPr>
          <a:xfrm>
            <a:off x="9264882" y="3166787"/>
            <a:ext cx="1899527" cy="238775"/>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8A6A3A"/>
                </a:solidFill>
                <a:latin typeface="Nunito Sans" pitchFamily="34" charset="0"/>
                <a:ea typeface="Nunito Sans" pitchFamily="34" charset="-122"/>
                <a:cs typeface="Nunito Sans" pitchFamily="34" charset="-120"/>
              </a:rPr>
              <a:t>TOP RISK</a:t>
            </a:r>
            <a:endParaRPr lang="en-US" sz="1200" dirty="0"/>
          </a:p>
        </p:txBody>
      </p:sp>
      <p:sp>
        <p:nvSpPr>
          <p:cNvPr id="53" name="Text 48"/>
          <p:cNvSpPr/>
          <p:nvPr/>
        </p:nvSpPr>
        <p:spPr>
          <a:xfrm>
            <a:off x="9264882" y="3380163"/>
            <a:ext cx="1899527" cy="487649"/>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2E3B40"/>
                </a:solidFill>
                <a:latin typeface="Nunito Sans" pitchFamily="34" charset="0"/>
                <a:ea typeface="Nunito Sans" pitchFamily="34" charset="-122"/>
                <a:cs typeface="Nunito Sans" pitchFamily="34" charset="-120"/>
              </a:rPr>
              <a:t>Malicious package or MCP tool</a:t>
            </a:r>
            <a:endParaRPr lang="en-US" sz="1400" dirty="0"/>
          </a:p>
        </p:txBody>
      </p:sp>
      <p:sp>
        <p:nvSpPr>
          <p:cNvPr id="54" name="Text 49"/>
          <p:cNvSpPr/>
          <p:nvPr/>
        </p:nvSpPr>
        <p:spPr>
          <a:xfrm>
            <a:off x="9150615" y="4017643"/>
            <a:ext cx="2134917" cy="292078"/>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8A6A3A"/>
                </a:solidFill>
                <a:latin typeface="Nunito Sans" pitchFamily="34" charset="0"/>
                <a:ea typeface="Nunito Sans" pitchFamily="34" charset="-122"/>
                <a:cs typeface="Nunito Sans" pitchFamily="34" charset="-120"/>
              </a:rPr>
              <a:t>Prevent</a:t>
            </a:r>
            <a:endParaRPr lang="en-US" sz="1500" dirty="0"/>
          </a:p>
        </p:txBody>
      </p:sp>
      <p:sp>
        <p:nvSpPr>
          <p:cNvPr id="55" name="Text 50"/>
          <p:cNvSpPr/>
          <p:nvPr/>
        </p:nvSpPr>
        <p:spPr>
          <a:xfrm>
            <a:off x="9150615" y="4373175"/>
            <a:ext cx="2134917" cy="487649"/>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5636A"/>
                </a:solidFill>
                <a:latin typeface="Nunito Sans" pitchFamily="34" charset="0"/>
                <a:ea typeface="Nunito Sans" pitchFamily="34" charset="-122"/>
                <a:cs typeface="Nunito Sans" pitchFamily="34" charset="-120"/>
              </a:rPr>
              <a:t>• Allowlist MCP, packages</a:t>
            </a:r>
            <a:endParaRPr lang="en-US" sz="1400" dirty="0"/>
          </a:p>
        </p:txBody>
      </p:sp>
      <p:sp>
        <p:nvSpPr>
          <p:cNvPr id="56" name="Text 51"/>
          <p:cNvSpPr/>
          <p:nvPr/>
        </p:nvSpPr>
        <p:spPr>
          <a:xfrm>
            <a:off x="9150615" y="4924279"/>
            <a:ext cx="2134917" cy="256525"/>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5636A"/>
                </a:solidFill>
                <a:latin typeface="Nunito Sans" pitchFamily="34" charset="0"/>
                <a:ea typeface="Nunito Sans" pitchFamily="34" charset="-122"/>
                <a:cs typeface="Nunito Sans" pitchFamily="34" charset="-120"/>
              </a:rPr>
              <a:t>• Scan in agent loop</a:t>
            </a:r>
            <a:endParaRPr lang="en-US" sz="1400" dirty="0"/>
          </a:p>
        </p:txBody>
      </p:sp>
      <p:sp>
        <p:nvSpPr>
          <p:cNvPr id="57" name="Text 52"/>
          <p:cNvSpPr/>
          <p:nvPr/>
        </p:nvSpPr>
        <p:spPr>
          <a:xfrm>
            <a:off x="9150615" y="5248067"/>
            <a:ext cx="2134917" cy="292078"/>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8A6A3A"/>
                </a:solidFill>
                <a:latin typeface="Nunito Sans" pitchFamily="34" charset="0"/>
                <a:ea typeface="Nunito Sans" pitchFamily="34" charset="-122"/>
                <a:cs typeface="Nunito Sans" pitchFamily="34" charset="-120"/>
              </a:rPr>
              <a:t>Remediate</a:t>
            </a:r>
            <a:endParaRPr lang="en-US" sz="1500" dirty="0"/>
          </a:p>
        </p:txBody>
      </p:sp>
      <p:sp>
        <p:nvSpPr>
          <p:cNvPr id="58" name="Text 53"/>
          <p:cNvSpPr/>
          <p:nvPr/>
        </p:nvSpPr>
        <p:spPr>
          <a:xfrm>
            <a:off x="9150615" y="5603599"/>
            <a:ext cx="2134917" cy="256525"/>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5636A"/>
                </a:solidFill>
                <a:latin typeface="Nunito Sans" pitchFamily="34" charset="0"/>
                <a:ea typeface="Nunito Sans" pitchFamily="34" charset="-122"/>
                <a:cs typeface="Nunito Sans" pitchFamily="34" charset="-120"/>
              </a:rPr>
              <a:t>• Remove, pin, rotate</a:t>
            </a:r>
            <a:endParaRPr lang="en-US" sz="1400" dirty="0"/>
          </a:p>
        </p:txBody>
      </p:sp>
      <p:sp>
        <p:nvSpPr>
          <p:cNvPr id="59" name="Text 54"/>
          <p:cNvSpPr/>
          <p:nvPr/>
        </p:nvSpPr>
        <p:spPr>
          <a:xfrm>
            <a:off x="9150615" y="5927381"/>
            <a:ext cx="2134917" cy="256525"/>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5636A"/>
                </a:solidFill>
                <a:latin typeface="Nunito Sans" pitchFamily="34" charset="0"/>
                <a:ea typeface="Nunito Sans" pitchFamily="34" charset="-122"/>
                <a:cs typeface="Nunito Sans" pitchFamily="34" charset="-120"/>
              </a:rPr>
              <a:t>• Review agent commits</a:t>
            </a:r>
            <a:endParaRPr lang="en-US" sz="1400" dirty="0"/>
          </a:p>
        </p:txBody>
      </p:sp>
      <p:cxnSp>
        <p:nvCxnSpPr>
          <p:cNvPr id="60" name="Straight Connector 59">
            <a:extLst>
              <a:ext uri="{FF2B5EF4-FFF2-40B4-BE49-F238E27FC236}">
                <a16:creationId xmlns:a16="http://schemas.microsoft.com/office/drawing/2014/main" id="{667F9A70-E4A6-0E70-980F-41F50FCCB664}"/>
              </a:ext>
            </a:extLst>
          </p:cNvPr>
          <p:cNvCxnSpPr>
            <a:cxnSpLocks/>
          </p:cNvCxnSpPr>
          <p:nvPr/>
        </p:nvCxnSpPr>
        <p:spPr>
          <a:xfrm>
            <a:off x="0" y="1316334"/>
            <a:ext cx="12192000" cy="0"/>
          </a:xfrm>
          <a:prstGeom prst="line">
            <a:avLst/>
          </a:prstGeom>
        </p:spPr>
        <p:style>
          <a:lnRef idx="3">
            <a:schemeClr val="dk1"/>
          </a:lnRef>
          <a:fillRef idx="0">
            <a:schemeClr val="dk1"/>
          </a:fillRef>
          <a:effectRef idx="2">
            <a:schemeClr val="dk1"/>
          </a:effectRef>
          <a:fontRef idx="minor">
            <a:schemeClr val="tx1"/>
          </a:fontRef>
        </p:style>
      </p:cxnSp>
    </p:spTree>
  </p:cSld>
  <p:clrMapOvr>
    <a:masterClrMapping/>
  </p:clrMapOvr>
</p:sld>
</file>

<file path=ppt/theme/theme1.xml><?xml version="1.0" encoding="utf-8"?>
<a:theme xmlns:a="http://schemas.openxmlformats.org/drawingml/2006/main" name="AI Surfaces: Needs, Tools, Gaps">
  <a:themeElements>
    <a:clrScheme name="AI Surfaces: Needs, Tools, Gaps">
      <a:dk1>
        <a:srgbClr val="2E3B40"/>
      </a:dk1>
      <a:lt1>
        <a:srgbClr val="EAF0EC"/>
      </a:lt1>
      <a:dk2>
        <a:srgbClr val="5D686B"/>
      </a:dk2>
      <a:lt2>
        <a:srgbClr val="D7DEDB"/>
      </a:lt2>
      <a:accent1>
        <a:srgbClr val="4F7A64"/>
      </a:accent1>
      <a:accent2>
        <a:srgbClr val="F5E3B3"/>
      </a:accent2>
      <a:accent3>
        <a:srgbClr val="F2C4BB"/>
      </a:accent3>
      <a:accent4>
        <a:srgbClr val="F6E2C8"/>
      </a:accent4>
      <a:accent5>
        <a:srgbClr val="4A6F86"/>
      </a:accent5>
      <a:accent6>
        <a:srgbClr val="6B5E8C"/>
      </a:accent6>
      <a:hlink>
        <a:srgbClr val="0563C1"/>
      </a:hlink>
      <a:folHlink>
        <a:srgbClr val="954F72"/>
      </a:folHlink>
    </a:clrScheme>
    <a:fontScheme name="AI Surfaces: Needs, Tools, Gaps">
      <a:majorFont>
        <a:latin typeface="Lor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106</TotalTime>
  <Words>2031</Words>
  <Application>Microsoft Macintosh PowerPoint</Application>
  <PresentationFormat>Widescreen</PresentationFormat>
  <Paragraphs>385</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Lora</vt:lpstr>
      <vt:lpstr>Nunito Sans</vt:lpstr>
      <vt:lpstr>AI Surfaces: Needs, Tools, Gaps</vt:lpstr>
      <vt:lpstr>Gen AI – Risks and Tooling</vt:lpstr>
      <vt:lpstr>Four ways AI enters the business</vt:lpstr>
      <vt:lpstr>How data moves, and how to watch it</vt:lpstr>
      <vt:lpstr>What the tools leave uncovered, and what closes it</vt:lpstr>
      <vt:lpstr>Governance, discovery, vendor risk, and secure code</vt:lpstr>
      <vt:lpstr>References and acronyms</vt:lpstr>
      <vt:lpstr>What each surface needs, and the tools that help</vt:lpstr>
      <vt:lpstr>Observability, automated pentesting, runtime defense</vt:lpstr>
      <vt:lpstr>The top risk in each surface, and how to respond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Surfaces: Needs, Tools, Gaps</dc:title>
  <dc:subject/>
  <dc:creator/>
  <cp:lastModifiedBy>Praveen Sharma</cp:lastModifiedBy>
  <cp:revision>2</cp:revision>
  <dcterms:created xsi:type="dcterms:W3CDTF">2026-10-09T18:31:19Z</dcterms:created>
  <dcterms:modified xsi:type="dcterms:W3CDTF">2026-10-09T20:18:09Z</dcterms:modified>
</cp:coreProperties>
</file>