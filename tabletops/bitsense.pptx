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Lst>
  <p:notesMasterIdLst>
    <p:notesMasterId r:id="rId6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notesMaster" Target="notesMasters/notesMaster1.xml"/><Relationship Id="rId61" Type="http://schemas.openxmlformats.org/officeDocument/2006/relationships/presProps" Target="presProps.xml"/><Relationship Id="rId62" Type="http://schemas.openxmlformats.org/officeDocument/2006/relationships/viewProps" Target="viewProps.xml"/><Relationship Id="rId63" Type="http://schemas.openxmlformats.org/officeDocument/2006/relationships/theme" Target="theme/theme1.xml"/><Relationship Id="rId6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 Type="http://schemas.openxmlformats.org/officeDocument/2006/relationships/slide" Target="slide3.xml"/><Relationship Id="rId4" Type="http://schemas.openxmlformats.org/officeDocument/2006/relationships/slide" Target="slide6.xml"/><Relationship Id="rId6" Type="http://schemas.openxmlformats.org/officeDocument/2006/relationships/slide" Target="slide23.xml"/><Relationship Id="rId8" Type="http://schemas.openxmlformats.org/officeDocument/2006/relationships/slide" Target="slide40.xml"/><Relationship Id="rId10" Type="http://schemas.openxmlformats.org/officeDocument/2006/relationships/slide" Target="slide57.xml"/><Relationship Id="rId1" Type="http://schemas.openxmlformats.org/officeDocument/2006/relationships/image" Target="../media/image-2-1.png"/><Relationship Id="rId3" Type="http://schemas.openxmlformats.org/officeDocument/2006/relationships/image" Target="../media/image-2-2.png"/><Relationship Id="rId5" Type="http://schemas.openxmlformats.org/officeDocument/2006/relationships/image" Target="../media/image-2-3.png"/><Relationship Id="rId7" Type="http://schemas.openxmlformats.org/officeDocument/2006/relationships/image" Target="../media/image-2-4.png"/><Relationship Id="rId9" Type="http://schemas.openxmlformats.org/officeDocument/2006/relationships/image" Target="../media/image-2-5.png"/><Relationship Id="rId11" Type="http://schemas.openxmlformats.org/officeDocument/2006/relationships/slideLayout" Target="../slideLayouts/slideLayout1.xml"/><Relationship Id="rId1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 Target="slide6.xml"/><Relationship Id="rId6" Type="http://schemas.openxmlformats.org/officeDocument/2006/relationships/slide" Target="slide23.xml"/><Relationship Id="rId9" Type="http://schemas.openxmlformats.org/officeDocument/2006/relationships/slide" Target="slide40.xml"/><Relationship Id="rId11" Type="http://schemas.openxmlformats.org/officeDocument/2006/relationships/slide" Target="slide57.xml"/><Relationship Id="rId13" Type="http://schemas.openxmlformats.org/officeDocument/2006/relationships/slide" Target="slide3.xml"/><Relationship Id="rId15" Type="http://schemas.openxmlformats.org/officeDocument/2006/relationships/slide" Target="slide6.xml"/><Relationship Id="rId17" Type="http://schemas.openxmlformats.org/officeDocument/2006/relationships/slide" Target="slide23.xml"/><Relationship Id="rId19" Type="http://schemas.openxmlformats.org/officeDocument/2006/relationships/slide" Target="slide40.xml"/><Relationship Id="rId21" Type="http://schemas.openxmlformats.org/officeDocument/2006/relationships/slide" Target="slide57.xml"/><Relationship Id="rId1" Type="http://schemas.openxmlformats.org/officeDocument/2006/relationships/image" Target="../media/image-3-1.png"/><Relationship Id="rId2" Type="http://schemas.openxmlformats.org/officeDocument/2006/relationships/image" Target="../media/image-3-2.png"/><Relationship Id="rId4" Type="http://schemas.openxmlformats.org/officeDocument/2006/relationships/image" Target="../media/image-3-3.png"/><Relationship Id="rId5" Type="http://schemas.openxmlformats.org/officeDocument/2006/relationships/image" Target="../media/image-3-4.png"/><Relationship Id="rId7" Type="http://schemas.openxmlformats.org/officeDocument/2006/relationships/image" Target="../media/image-3-5.png"/><Relationship Id="rId8" Type="http://schemas.openxmlformats.org/officeDocument/2006/relationships/image" Target="../media/image-3-6.png"/><Relationship Id="rId10" Type="http://schemas.openxmlformats.org/officeDocument/2006/relationships/image" Target="../media/image-3-7.png"/><Relationship Id="rId12" Type="http://schemas.openxmlformats.org/officeDocument/2006/relationships/image" Target="../media/image-3-8.png"/><Relationship Id="rId14" Type="http://schemas.openxmlformats.org/officeDocument/2006/relationships/image" Target="../media/image-3-9.png"/><Relationship Id="rId16" Type="http://schemas.openxmlformats.org/officeDocument/2006/relationships/image" Target="../media/image-3-10.png"/><Relationship Id="rId18" Type="http://schemas.openxmlformats.org/officeDocument/2006/relationships/image" Target="../media/image-3-11.png"/><Relationship Id="rId20" Type="http://schemas.openxmlformats.org/officeDocument/2006/relationships/image" Target="../media/image-3-12.png"/><Relationship Id="rId22" Type="http://schemas.openxmlformats.org/officeDocument/2006/relationships/slideLayout" Target="../slideLayouts/slideLayout1.xml"/><Relationship Id="rId2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2" Type="http://schemas.openxmlformats.org/officeDocument/2006/relationships/slide" Target="slide3.xml"/><Relationship Id="rId4" Type="http://schemas.openxmlformats.org/officeDocument/2006/relationships/slide" Target="slide6.xml"/><Relationship Id="rId6" Type="http://schemas.openxmlformats.org/officeDocument/2006/relationships/slide" Target="slide23.xml"/><Relationship Id="rId8" Type="http://schemas.openxmlformats.org/officeDocument/2006/relationships/slide" Target="slide40.xml"/><Relationship Id="rId10" Type="http://schemas.openxmlformats.org/officeDocument/2006/relationships/slide" Target="slide57.xml"/><Relationship Id="rId1" Type="http://schemas.openxmlformats.org/officeDocument/2006/relationships/image" Target="../media/image-4-1.png"/><Relationship Id="rId3" Type="http://schemas.openxmlformats.org/officeDocument/2006/relationships/image" Target="../media/image-4-2.png"/><Relationship Id="rId5" Type="http://schemas.openxmlformats.org/officeDocument/2006/relationships/image" Target="../media/image-4-3.png"/><Relationship Id="rId7" Type="http://schemas.openxmlformats.org/officeDocument/2006/relationships/image" Target="../media/image-4-4.png"/><Relationship Id="rId9" Type="http://schemas.openxmlformats.org/officeDocument/2006/relationships/image" Target="../media/image-4-5.png"/><Relationship Id="rId11" Type="http://schemas.openxmlformats.org/officeDocument/2006/relationships/slideLayout" Target="../slideLayouts/slideLayout1.xml"/><Relationship Id="rId1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 Type="http://schemas.openxmlformats.org/officeDocument/2006/relationships/slide" Target="slide3.xml"/><Relationship Id="rId4" Type="http://schemas.openxmlformats.org/officeDocument/2006/relationships/slide" Target="slide6.xml"/><Relationship Id="rId6" Type="http://schemas.openxmlformats.org/officeDocument/2006/relationships/slide" Target="slide23.xml"/><Relationship Id="rId8" Type="http://schemas.openxmlformats.org/officeDocument/2006/relationships/slide" Target="slide40.xml"/><Relationship Id="rId10" Type="http://schemas.openxmlformats.org/officeDocument/2006/relationships/slide" Target="slide57.xml"/><Relationship Id="rId1" Type="http://schemas.openxmlformats.org/officeDocument/2006/relationships/image" Target="../media/image-5-1.png"/><Relationship Id="rId3" Type="http://schemas.openxmlformats.org/officeDocument/2006/relationships/image" Target="../media/image-5-2.png"/><Relationship Id="rId5" Type="http://schemas.openxmlformats.org/officeDocument/2006/relationships/image" Target="../media/image-5-3.png"/><Relationship Id="rId7" Type="http://schemas.openxmlformats.org/officeDocument/2006/relationships/image" Target="../media/image-5-4.png"/><Relationship Id="rId9" Type="http://schemas.openxmlformats.org/officeDocument/2006/relationships/image" Target="../media/image-5-5.png"/><Relationship Id="rId11" Type="http://schemas.openxmlformats.org/officeDocument/2006/relationships/slideLayout" Target="../slideLayouts/slideLayout1.xml"/><Relationship Id="rId1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slide" Target="slide3.xml"/><Relationship Id="rId5" Type="http://schemas.openxmlformats.org/officeDocument/2006/relationships/slide" Target="slide6.xml"/><Relationship Id="rId7" Type="http://schemas.openxmlformats.org/officeDocument/2006/relationships/slide" Target="slide23.xml"/><Relationship Id="rId9" Type="http://schemas.openxmlformats.org/officeDocument/2006/relationships/slide" Target="slide40.xml"/><Relationship Id="rId11" Type="http://schemas.openxmlformats.org/officeDocument/2006/relationships/slide" Target="slide57.xml"/><Relationship Id="rId1" Type="http://schemas.openxmlformats.org/officeDocument/2006/relationships/image" Target="../media/image-6-1.png"/><Relationship Id="rId2" Type="http://schemas.openxmlformats.org/officeDocument/2006/relationships/image" Target="../media/image-6-2.png"/><Relationship Id="rId4" Type="http://schemas.openxmlformats.org/officeDocument/2006/relationships/image" Target="../media/image-6-3.png"/><Relationship Id="rId6" Type="http://schemas.openxmlformats.org/officeDocument/2006/relationships/image" Target="../media/image-6-4.png"/><Relationship Id="rId8" Type="http://schemas.openxmlformats.org/officeDocument/2006/relationships/image" Target="../media/image-6-5.png"/><Relationship Id="rId10" Type="http://schemas.openxmlformats.org/officeDocument/2006/relationships/image" Target="../media/image-6-6.png"/><Relationship Id="rId12" Type="http://schemas.openxmlformats.org/officeDocument/2006/relationships/slideLayout" Target="../slideLayouts/slideLayout1.xml"/><Relationship Id="rId1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2" Type="http://schemas.openxmlformats.org/officeDocument/2006/relationships/slide" Target="slide3.xml"/><Relationship Id="rId4" Type="http://schemas.openxmlformats.org/officeDocument/2006/relationships/slide" Target="slide6.xml"/><Relationship Id="rId6" Type="http://schemas.openxmlformats.org/officeDocument/2006/relationships/slide" Target="slide23.xml"/><Relationship Id="rId8" Type="http://schemas.openxmlformats.org/officeDocument/2006/relationships/slide" Target="slide40.xml"/><Relationship Id="rId10" Type="http://schemas.openxmlformats.org/officeDocument/2006/relationships/slide" Target="slide57.xml"/><Relationship Id="rId1" Type="http://schemas.openxmlformats.org/officeDocument/2006/relationships/image" Target="../media/image-7-1.png"/><Relationship Id="rId3" Type="http://schemas.openxmlformats.org/officeDocument/2006/relationships/image" Target="../media/image-7-2.png"/><Relationship Id="rId5" Type="http://schemas.openxmlformats.org/officeDocument/2006/relationships/image" Target="../media/image-7-3.png"/><Relationship Id="rId7" Type="http://schemas.openxmlformats.org/officeDocument/2006/relationships/image" Target="../media/image-7-4.png"/><Relationship Id="rId9" Type="http://schemas.openxmlformats.org/officeDocument/2006/relationships/image" Target="../media/image-7-5.png"/><Relationship Id="rId11" Type="http://schemas.openxmlformats.org/officeDocument/2006/relationships/slideLayout" Target="../slideLayouts/slideLayout1.xml"/><Relationship Id="rId1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slide" Target="slide3.xml"/><Relationship Id="rId5" Type="http://schemas.openxmlformats.org/officeDocument/2006/relationships/slide" Target="slide6.xml"/><Relationship Id="rId7" Type="http://schemas.openxmlformats.org/officeDocument/2006/relationships/slide" Target="slide23.xml"/><Relationship Id="rId9" Type="http://schemas.openxmlformats.org/officeDocument/2006/relationships/slide" Target="slide40.xml"/><Relationship Id="rId11" Type="http://schemas.openxmlformats.org/officeDocument/2006/relationships/slide" Target="slide57.xml"/><Relationship Id="rId1" Type="http://schemas.openxmlformats.org/officeDocument/2006/relationships/image" Target="../media/image-8-1.png"/><Relationship Id="rId2" Type="http://schemas.openxmlformats.org/officeDocument/2006/relationships/image" Target="../media/image-8-2.png"/><Relationship Id="rId4" Type="http://schemas.openxmlformats.org/officeDocument/2006/relationships/image" Target="../media/image-8-3.png"/><Relationship Id="rId6" Type="http://schemas.openxmlformats.org/officeDocument/2006/relationships/image" Target="../media/image-8-4.png"/><Relationship Id="rId8" Type="http://schemas.openxmlformats.org/officeDocument/2006/relationships/image" Target="../media/image-8-5.png"/><Relationship Id="rId10" Type="http://schemas.openxmlformats.org/officeDocument/2006/relationships/image" Target="../media/image-8-6.png"/><Relationship Id="rId12" Type="http://schemas.openxmlformats.org/officeDocument/2006/relationships/slideLayout" Target="../slideLayouts/slideLayout1.xml"/><Relationship Id="rId1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slide" Target="slide3.xml"/><Relationship Id="rId5" Type="http://schemas.openxmlformats.org/officeDocument/2006/relationships/slide" Target="slide6.xml"/><Relationship Id="rId7" Type="http://schemas.openxmlformats.org/officeDocument/2006/relationships/slide" Target="slide23.xml"/><Relationship Id="rId9" Type="http://schemas.openxmlformats.org/officeDocument/2006/relationships/slide" Target="slide40.xml"/><Relationship Id="rId11" Type="http://schemas.openxmlformats.org/officeDocument/2006/relationships/slide" Target="slide57.xml"/><Relationship Id="rId1" Type="http://schemas.openxmlformats.org/officeDocument/2006/relationships/image" Target="../media/image-9-1.png"/><Relationship Id="rId2" Type="http://schemas.openxmlformats.org/officeDocument/2006/relationships/image" Target="../media/image-9-2.png"/><Relationship Id="rId4" Type="http://schemas.openxmlformats.org/officeDocument/2006/relationships/image" Target="../media/image-9-3.png"/><Relationship Id="rId6" Type="http://schemas.openxmlformats.org/officeDocument/2006/relationships/image" Target="../media/image-9-4.png"/><Relationship Id="rId8" Type="http://schemas.openxmlformats.org/officeDocument/2006/relationships/image" Target="../media/image-9-5.png"/><Relationship Id="rId10" Type="http://schemas.openxmlformats.org/officeDocument/2006/relationships/image" Target="../media/image-9-6.png"/><Relationship Id="rId12" Type="http://schemas.openxmlformats.org/officeDocument/2006/relationships/slideLayout" Target="../slideLayouts/slideLayout1.xml"/><Relationship Id="rId1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4" Type="http://schemas.openxmlformats.org/officeDocument/2006/relationships/slide" Target="slide3.xml"/><Relationship Id="rId6" Type="http://schemas.openxmlformats.org/officeDocument/2006/relationships/slide" Target="slide6.xml"/><Relationship Id="rId8" Type="http://schemas.openxmlformats.org/officeDocument/2006/relationships/slide" Target="slide23.xml"/><Relationship Id="rId10" Type="http://schemas.openxmlformats.org/officeDocument/2006/relationships/slide" Target="slide40.xml"/><Relationship Id="rId12" Type="http://schemas.openxmlformats.org/officeDocument/2006/relationships/slide" Target="slide57.xml"/><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5" Type="http://schemas.openxmlformats.org/officeDocument/2006/relationships/image" Target="../media/image-10-4.png"/><Relationship Id="rId7" Type="http://schemas.openxmlformats.org/officeDocument/2006/relationships/image" Target="../media/image-10-5.png"/><Relationship Id="rId9" Type="http://schemas.openxmlformats.org/officeDocument/2006/relationships/image" Target="../media/image-10-6.png"/><Relationship Id="rId11" Type="http://schemas.openxmlformats.org/officeDocument/2006/relationships/image" Target="../media/image-10-7.png"/><Relationship Id="rId13" Type="http://schemas.openxmlformats.org/officeDocument/2006/relationships/slideLayout" Target="../slideLayouts/slideLayout1.xml"/><Relationship Id="rId1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slide" Target="slide3.xml"/><Relationship Id="rId5" Type="http://schemas.openxmlformats.org/officeDocument/2006/relationships/slide" Target="slide6.xml"/><Relationship Id="rId7" Type="http://schemas.openxmlformats.org/officeDocument/2006/relationships/slide" Target="slide23.xml"/><Relationship Id="rId9" Type="http://schemas.openxmlformats.org/officeDocument/2006/relationships/slide" Target="slide40.xml"/><Relationship Id="rId11" Type="http://schemas.openxmlformats.org/officeDocument/2006/relationships/slide" Target="slide57.xml"/><Relationship Id="rId1" Type="http://schemas.openxmlformats.org/officeDocument/2006/relationships/image" Target="../media/image-11-1.png"/><Relationship Id="rId2" Type="http://schemas.openxmlformats.org/officeDocument/2006/relationships/image" Target="../media/image-11-2.png"/><Relationship Id="rId4" Type="http://schemas.openxmlformats.org/officeDocument/2006/relationships/image" Target="../media/image-11-3.png"/><Relationship Id="rId6" Type="http://schemas.openxmlformats.org/officeDocument/2006/relationships/image" Target="../media/image-11-4.png"/><Relationship Id="rId8" Type="http://schemas.openxmlformats.org/officeDocument/2006/relationships/image" Target="../media/image-11-5.png"/><Relationship Id="rId10" Type="http://schemas.openxmlformats.org/officeDocument/2006/relationships/image" Target="../media/image-11-6.png"/><Relationship Id="rId12" Type="http://schemas.openxmlformats.org/officeDocument/2006/relationships/slideLayout" Target="../slideLayouts/slideLayout1.xml"/><Relationship Id="rId1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slide" Target="slide3.xml"/><Relationship Id="rId5" Type="http://schemas.openxmlformats.org/officeDocument/2006/relationships/slide" Target="slide6.xml"/><Relationship Id="rId7" Type="http://schemas.openxmlformats.org/officeDocument/2006/relationships/slide" Target="slide23.xml"/><Relationship Id="rId9" Type="http://schemas.openxmlformats.org/officeDocument/2006/relationships/slide" Target="slide40.xml"/><Relationship Id="rId11" Type="http://schemas.openxmlformats.org/officeDocument/2006/relationships/slide" Target="slide57.xml"/><Relationship Id="rId1" Type="http://schemas.openxmlformats.org/officeDocument/2006/relationships/image" Target="../media/image-12-1.png"/><Relationship Id="rId2" Type="http://schemas.openxmlformats.org/officeDocument/2006/relationships/image" Target="../media/image-12-2.png"/><Relationship Id="rId4" Type="http://schemas.openxmlformats.org/officeDocument/2006/relationships/image" Target="../media/image-12-3.png"/><Relationship Id="rId6" Type="http://schemas.openxmlformats.org/officeDocument/2006/relationships/image" Target="../media/image-12-4.png"/><Relationship Id="rId8" Type="http://schemas.openxmlformats.org/officeDocument/2006/relationships/image" Target="../media/image-12-5.png"/><Relationship Id="rId10" Type="http://schemas.openxmlformats.org/officeDocument/2006/relationships/image" Target="../media/image-12-6.png"/><Relationship Id="rId12" Type="http://schemas.openxmlformats.org/officeDocument/2006/relationships/slideLayout" Target="../slideLayouts/slideLayout1.xml"/><Relationship Id="rId1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slide" Target="slide3.xml"/><Relationship Id="rId5" Type="http://schemas.openxmlformats.org/officeDocument/2006/relationships/slide" Target="slide6.xml"/><Relationship Id="rId7" Type="http://schemas.openxmlformats.org/officeDocument/2006/relationships/slide" Target="slide23.xml"/><Relationship Id="rId9" Type="http://schemas.openxmlformats.org/officeDocument/2006/relationships/slide" Target="slide40.xml"/><Relationship Id="rId11" Type="http://schemas.openxmlformats.org/officeDocument/2006/relationships/slide" Target="slide57.xml"/><Relationship Id="rId1" Type="http://schemas.openxmlformats.org/officeDocument/2006/relationships/image" Target="../media/image-13-1.png"/><Relationship Id="rId2" Type="http://schemas.openxmlformats.org/officeDocument/2006/relationships/image" Target="../media/image-13-2.png"/><Relationship Id="rId4" Type="http://schemas.openxmlformats.org/officeDocument/2006/relationships/image" Target="../media/image-13-3.png"/><Relationship Id="rId6" Type="http://schemas.openxmlformats.org/officeDocument/2006/relationships/image" Target="../media/image-13-4.png"/><Relationship Id="rId8" Type="http://schemas.openxmlformats.org/officeDocument/2006/relationships/image" Target="../media/image-13-5.png"/><Relationship Id="rId10" Type="http://schemas.openxmlformats.org/officeDocument/2006/relationships/image" Target="../media/image-13-6.png"/><Relationship Id="rId12" Type="http://schemas.openxmlformats.org/officeDocument/2006/relationships/slideLayout" Target="../slideLayouts/slideLayout1.xml"/><Relationship Id="rId1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slide" Target="slide3.xml"/><Relationship Id="rId5" Type="http://schemas.openxmlformats.org/officeDocument/2006/relationships/slide" Target="slide6.xml"/><Relationship Id="rId7" Type="http://schemas.openxmlformats.org/officeDocument/2006/relationships/slide" Target="slide23.xml"/><Relationship Id="rId9" Type="http://schemas.openxmlformats.org/officeDocument/2006/relationships/slide" Target="slide40.xml"/><Relationship Id="rId11" Type="http://schemas.openxmlformats.org/officeDocument/2006/relationships/slide" Target="slide57.xml"/><Relationship Id="rId1" Type="http://schemas.openxmlformats.org/officeDocument/2006/relationships/image" Target="../media/image-14-1.png"/><Relationship Id="rId2" Type="http://schemas.openxmlformats.org/officeDocument/2006/relationships/image" Target="../media/image-14-2.png"/><Relationship Id="rId4" Type="http://schemas.openxmlformats.org/officeDocument/2006/relationships/image" Target="../media/image-14-3.png"/><Relationship Id="rId6" Type="http://schemas.openxmlformats.org/officeDocument/2006/relationships/image" Target="../media/image-14-4.png"/><Relationship Id="rId8" Type="http://schemas.openxmlformats.org/officeDocument/2006/relationships/image" Target="../media/image-14-5.png"/><Relationship Id="rId10" Type="http://schemas.openxmlformats.org/officeDocument/2006/relationships/image" Target="../media/image-14-6.png"/><Relationship Id="rId12" Type="http://schemas.openxmlformats.org/officeDocument/2006/relationships/slideLayout" Target="../slideLayouts/slideLayout1.xml"/><Relationship Id="rId1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slide" Target="slide3.xml"/><Relationship Id="rId5" Type="http://schemas.openxmlformats.org/officeDocument/2006/relationships/slide" Target="slide6.xml"/><Relationship Id="rId7" Type="http://schemas.openxmlformats.org/officeDocument/2006/relationships/slide" Target="slide23.xml"/><Relationship Id="rId9" Type="http://schemas.openxmlformats.org/officeDocument/2006/relationships/slide" Target="slide40.xml"/><Relationship Id="rId11" Type="http://schemas.openxmlformats.org/officeDocument/2006/relationships/slide" Target="slide57.xml"/><Relationship Id="rId1" Type="http://schemas.openxmlformats.org/officeDocument/2006/relationships/image" Target="../media/image-15-1.png"/><Relationship Id="rId2" Type="http://schemas.openxmlformats.org/officeDocument/2006/relationships/image" Target="../media/image-15-2.png"/><Relationship Id="rId4" Type="http://schemas.openxmlformats.org/officeDocument/2006/relationships/image" Target="../media/image-15-3.png"/><Relationship Id="rId6" Type="http://schemas.openxmlformats.org/officeDocument/2006/relationships/image" Target="../media/image-15-4.png"/><Relationship Id="rId8" Type="http://schemas.openxmlformats.org/officeDocument/2006/relationships/image" Target="../media/image-15-5.png"/><Relationship Id="rId10" Type="http://schemas.openxmlformats.org/officeDocument/2006/relationships/image" Target="../media/image-15-6.png"/><Relationship Id="rId12" Type="http://schemas.openxmlformats.org/officeDocument/2006/relationships/slideLayout" Target="../slideLayouts/slideLayout1.xml"/><Relationship Id="rId1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1" Type="http://schemas.openxmlformats.org/officeDocument/2006/relationships/slide" Target="slide3.xml"/><Relationship Id="rId13" Type="http://schemas.openxmlformats.org/officeDocument/2006/relationships/slide" Target="slide6.xml"/><Relationship Id="rId15" Type="http://schemas.openxmlformats.org/officeDocument/2006/relationships/slide" Target="slide23.xml"/><Relationship Id="rId17" Type="http://schemas.openxmlformats.org/officeDocument/2006/relationships/slide" Target="slide40.xml"/><Relationship Id="rId19" Type="http://schemas.openxmlformats.org/officeDocument/2006/relationships/slide" Target="slide57.xml"/><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image" Target="../media/image-16-8.png"/><Relationship Id="rId9" Type="http://schemas.openxmlformats.org/officeDocument/2006/relationships/image" Target="../media/image-16-9.png"/><Relationship Id="rId10" Type="http://schemas.openxmlformats.org/officeDocument/2006/relationships/image" Target="../media/image-16-10.png"/><Relationship Id="rId12" Type="http://schemas.openxmlformats.org/officeDocument/2006/relationships/image" Target="../media/image-16-11.png"/><Relationship Id="rId14" Type="http://schemas.openxmlformats.org/officeDocument/2006/relationships/image" Target="../media/image-16-12.png"/><Relationship Id="rId16" Type="http://schemas.openxmlformats.org/officeDocument/2006/relationships/image" Target="../media/image-16-13.png"/><Relationship Id="rId18" Type="http://schemas.openxmlformats.org/officeDocument/2006/relationships/image" Target="../media/image-16-14.png"/><Relationship Id="rId20" Type="http://schemas.openxmlformats.org/officeDocument/2006/relationships/slideLayout" Target="../slideLayouts/slideLayout1.xml"/><Relationship Id="rId21"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8" Type="http://schemas.openxmlformats.org/officeDocument/2006/relationships/slide" Target="slide3.xml"/><Relationship Id="rId20" Type="http://schemas.openxmlformats.org/officeDocument/2006/relationships/slide" Target="slide6.xml"/><Relationship Id="rId22" Type="http://schemas.openxmlformats.org/officeDocument/2006/relationships/slide" Target="slide23.xml"/><Relationship Id="rId24" Type="http://schemas.openxmlformats.org/officeDocument/2006/relationships/slide" Target="slide40.xml"/><Relationship Id="rId26" Type="http://schemas.openxmlformats.org/officeDocument/2006/relationships/slide" Target="slide57.xml"/><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image" Target="../media/image-17-8.png"/><Relationship Id="rId9" Type="http://schemas.openxmlformats.org/officeDocument/2006/relationships/image" Target="../media/image-17-9.png"/><Relationship Id="rId10" Type="http://schemas.openxmlformats.org/officeDocument/2006/relationships/image" Target="../media/image-17-10.png"/><Relationship Id="rId11" Type="http://schemas.openxmlformats.org/officeDocument/2006/relationships/image" Target="../media/image-17-11.png"/><Relationship Id="rId12" Type="http://schemas.openxmlformats.org/officeDocument/2006/relationships/image" Target="../media/image-17-12.png"/><Relationship Id="rId13" Type="http://schemas.openxmlformats.org/officeDocument/2006/relationships/image" Target="../media/image-17-13.png"/><Relationship Id="rId14" Type="http://schemas.openxmlformats.org/officeDocument/2006/relationships/image" Target="../media/image-17-14.png"/><Relationship Id="rId15" Type="http://schemas.openxmlformats.org/officeDocument/2006/relationships/image" Target="../media/image-17-15.png"/><Relationship Id="rId16" Type="http://schemas.openxmlformats.org/officeDocument/2006/relationships/image" Target="../media/image-17-16.png"/><Relationship Id="rId17" Type="http://schemas.openxmlformats.org/officeDocument/2006/relationships/image" Target="../media/image-17-17.png"/><Relationship Id="rId19" Type="http://schemas.openxmlformats.org/officeDocument/2006/relationships/image" Target="../media/image-17-18.png"/><Relationship Id="rId21" Type="http://schemas.openxmlformats.org/officeDocument/2006/relationships/image" Target="../media/image-17-19.png"/><Relationship Id="rId23" Type="http://schemas.openxmlformats.org/officeDocument/2006/relationships/image" Target="../media/image-17-20.png"/><Relationship Id="rId25" Type="http://schemas.openxmlformats.org/officeDocument/2006/relationships/image" Target="../media/image-17-21.png"/><Relationship Id="rId27" Type="http://schemas.openxmlformats.org/officeDocument/2006/relationships/slideLayout" Target="../slideLayouts/slideLayout1.xml"/><Relationship Id="rId2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6" Type="http://schemas.openxmlformats.org/officeDocument/2006/relationships/slide" Target="slide3.xml"/><Relationship Id="rId8" Type="http://schemas.openxmlformats.org/officeDocument/2006/relationships/slide" Target="slide6.xml"/><Relationship Id="rId10" Type="http://schemas.openxmlformats.org/officeDocument/2006/relationships/slide" Target="slide23.xml"/><Relationship Id="rId12" Type="http://schemas.openxmlformats.org/officeDocument/2006/relationships/slide" Target="slide40.xml"/><Relationship Id="rId14" Type="http://schemas.openxmlformats.org/officeDocument/2006/relationships/slide" Target="slide57.xml"/><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7" Type="http://schemas.openxmlformats.org/officeDocument/2006/relationships/image" Target="../media/image-18-6.png"/><Relationship Id="rId9" Type="http://schemas.openxmlformats.org/officeDocument/2006/relationships/image" Target="../media/image-18-7.png"/><Relationship Id="rId11" Type="http://schemas.openxmlformats.org/officeDocument/2006/relationships/image" Target="../media/image-18-8.png"/><Relationship Id="rId13" Type="http://schemas.openxmlformats.org/officeDocument/2006/relationships/image" Target="../media/image-18-9.png"/><Relationship Id="rId15" Type="http://schemas.openxmlformats.org/officeDocument/2006/relationships/slideLayout" Target="../slideLayouts/slideLayout1.xml"/><Relationship Id="rId1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6" Type="http://schemas.openxmlformats.org/officeDocument/2006/relationships/slide" Target="slide3.xml"/><Relationship Id="rId8" Type="http://schemas.openxmlformats.org/officeDocument/2006/relationships/slide" Target="slide6.xml"/><Relationship Id="rId10" Type="http://schemas.openxmlformats.org/officeDocument/2006/relationships/slide" Target="slide23.xml"/><Relationship Id="rId12" Type="http://schemas.openxmlformats.org/officeDocument/2006/relationships/slide" Target="slide40.xml"/><Relationship Id="rId14" Type="http://schemas.openxmlformats.org/officeDocument/2006/relationships/slide" Target="slide57.xml"/><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7" Type="http://schemas.openxmlformats.org/officeDocument/2006/relationships/image" Target="../media/image-19-6.png"/><Relationship Id="rId9" Type="http://schemas.openxmlformats.org/officeDocument/2006/relationships/image" Target="../media/image-19-7.png"/><Relationship Id="rId11" Type="http://schemas.openxmlformats.org/officeDocument/2006/relationships/image" Target="../media/image-19-8.png"/><Relationship Id="rId13" Type="http://schemas.openxmlformats.org/officeDocument/2006/relationships/image" Target="../media/image-19-9.png"/><Relationship Id="rId15" Type="http://schemas.openxmlformats.org/officeDocument/2006/relationships/slideLayout" Target="../slideLayouts/slideLayout1.xml"/><Relationship Id="rId1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0" Type="http://schemas.openxmlformats.org/officeDocument/2006/relationships/slide" Target="slide3.xml"/><Relationship Id="rId12" Type="http://schemas.openxmlformats.org/officeDocument/2006/relationships/slide" Target="slide6.xml"/><Relationship Id="rId14" Type="http://schemas.openxmlformats.org/officeDocument/2006/relationships/slide" Target="slide23.xml"/><Relationship Id="rId16" Type="http://schemas.openxmlformats.org/officeDocument/2006/relationships/slide" Target="slide40.xml"/><Relationship Id="rId18" Type="http://schemas.openxmlformats.org/officeDocument/2006/relationships/slide" Target="slide57.xml"/><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image" Target="../media/image-20-7.png"/><Relationship Id="rId8" Type="http://schemas.openxmlformats.org/officeDocument/2006/relationships/image" Target="../media/image-20-8.png"/><Relationship Id="rId9" Type="http://schemas.openxmlformats.org/officeDocument/2006/relationships/image" Target="../media/image-20-9.png"/><Relationship Id="rId11" Type="http://schemas.openxmlformats.org/officeDocument/2006/relationships/image" Target="../media/image-20-10.png"/><Relationship Id="rId13" Type="http://schemas.openxmlformats.org/officeDocument/2006/relationships/image" Target="../media/image-20-11.png"/><Relationship Id="rId15" Type="http://schemas.openxmlformats.org/officeDocument/2006/relationships/image" Target="../media/image-20-12.png"/><Relationship Id="rId17" Type="http://schemas.openxmlformats.org/officeDocument/2006/relationships/image" Target="../media/image-20-13.png"/><Relationship Id="rId19" Type="http://schemas.openxmlformats.org/officeDocument/2006/relationships/slideLayout" Target="../slideLayouts/slideLayout1.xml"/><Relationship Id="rId20"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2" Type="http://schemas.openxmlformats.org/officeDocument/2006/relationships/slide" Target="slide3.xml"/><Relationship Id="rId4" Type="http://schemas.openxmlformats.org/officeDocument/2006/relationships/slide" Target="slide6.xml"/><Relationship Id="rId6" Type="http://schemas.openxmlformats.org/officeDocument/2006/relationships/slide" Target="slide23.xml"/><Relationship Id="rId8" Type="http://schemas.openxmlformats.org/officeDocument/2006/relationships/slide" Target="slide40.xml"/><Relationship Id="rId10" Type="http://schemas.openxmlformats.org/officeDocument/2006/relationships/slide" Target="slide57.xml"/><Relationship Id="rId1" Type="http://schemas.openxmlformats.org/officeDocument/2006/relationships/image" Target="../media/image-21-1.png"/><Relationship Id="rId3" Type="http://schemas.openxmlformats.org/officeDocument/2006/relationships/image" Target="../media/image-21-2.png"/><Relationship Id="rId5" Type="http://schemas.openxmlformats.org/officeDocument/2006/relationships/image" Target="../media/image-21-3.png"/><Relationship Id="rId7" Type="http://schemas.openxmlformats.org/officeDocument/2006/relationships/image" Target="../media/image-21-4.png"/><Relationship Id="rId9" Type="http://schemas.openxmlformats.org/officeDocument/2006/relationships/image" Target="../media/image-21-5.png"/><Relationship Id="rId11" Type="http://schemas.openxmlformats.org/officeDocument/2006/relationships/slideLayout" Target="../slideLayouts/slideLayout1.xml"/><Relationship Id="rId1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2" Type="http://schemas.openxmlformats.org/officeDocument/2006/relationships/slide" Target="slide23.xml"/><Relationship Id="rId4" Type="http://schemas.openxmlformats.org/officeDocument/2006/relationships/slide" Target="slide3.xml"/><Relationship Id="rId6" Type="http://schemas.openxmlformats.org/officeDocument/2006/relationships/slide" Target="slide6.xml"/><Relationship Id="rId8" Type="http://schemas.openxmlformats.org/officeDocument/2006/relationships/slide" Target="slide23.xml"/><Relationship Id="rId10" Type="http://schemas.openxmlformats.org/officeDocument/2006/relationships/slide" Target="slide40.xml"/><Relationship Id="rId12" Type="http://schemas.openxmlformats.org/officeDocument/2006/relationships/slide" Target="slide57.xml"/><Relationship Id="rId1" Type="http://schemas.openxmlformats.org/officeDocument/2006/relationships/image" Target="../media/image-22-1.png"/><Relationship Id="rId3" Type="http://schemas.openxmlformats.org/officeDocument/2006/relationships/image" Target="../media/image-22-2.png"/><Relationship Id="rId5" Type="http://schemas.openxmlformats.org/officeDocument/2006/relationships/image" Target="../media/image-22-3.png"/><Relationship Id="rId7" Type="http://schemas.openxmlformats.org/officeDocument/2006/relationships/image" Target="../media/image-22-4.png"/><Relationship Id="rId9" Type="http://schemas.openxmlformats.org/officeDocument/2006/relationships/image" Target="../media/image-22-5.png"/><Relationship Id="rId11" Type="http://schemas.openxmlformats.org/officeDocument/2006/relationships/image" Target="../media/image-22-6.png"/><Relationship Id="rId13" Type="http://schemas.openxmlformats.org/officeDocument/2006/relationships/slideLayout" Target="../slideLayouts/slideLayout1.xml"/><Relationship Id="rId1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3" Type="http://schemas.openxmlformats.org/officeDocument/2006/relationships/slide" Target="slide3.xml"/><Relationship Id="rId5" Type="http://schemas.openxmlformats.org/officeDocument/2006/relationships/slide" Target="slide6.xml"/><Relationship Id="rId7" Type="http://schemas.openxmlformats.org/officeDocument/2006/relationships/slide" Target="slide23.xml"/><Relationship Id="rId9" Type="http://schemas.openxmlformats.org/officeDocument/2006/relationships/slide" Target="slide40.xml"/><Relationship Id="rId11" Type="http://schemas.openxmlformats.org/officeDocument/2006/relationships/slide" Target="slide57.xml"/><Relationship Id="rId1" Type="http://schemas.openxmlformats.org/officeDocument/2006/relationships/image" Target="../media/image-23-1.png"/><Relationship Id="rId2" Type="http://schemas.openxmlformats.org/officeDocument/2006/relationships/image" Target="../media/image-23-2.png"/><Relationship Id="rId4" Type="http://schemas.openxmlformats.org/officeDocument/2006/relationships/image" Target="../media/image-23-3.png"/><Relationship Id="rId6" Type="http://schemas.openxmlformats.org/officeDocument/2006/relationships/image" Target="../media/image-23-4.png"/><Relationship Id="rId8" Type="http://schemas.openxmlformats.org/officeDocument/2006/relationships/image" Target="../media/image-23-5.png"/><Relationship Id="rId10" Type="http://schemas.openxmlformats.org/officeDocument/2006/relationships/image" Target="../media/image-23-6.png"/><Relationship Id="rId12" Type="http://schemas.openxmlformats.org/officeDocument/2006/relationships/slideLayout" Target="../slideLayouts/slideLayout1.xml"/><Relationship Id="rId1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2" Type="http://schemas.openxmlformats.org/officeDocument/2006/relationships/slide" Target="slide3.xml"/><Relationship Id="rId4" Type="http://schemas.openxmlformats.org/officeDocument/2006/relationships/slide" Target="slide6.xml"/><Relationship Id="rId6" Type="http://schemas.openxmlformats.org/officeDocument/2006/relationships/slide" Target="slide23.xml"/><Relationship Id="rId8" Type="http://schemas.openxmlformats.org/officeDocument/2006/relationships/slide" Target="slide40.xml"/><Relationship Id="rId10" Type="http://schemas.openxmlformats.org/officeDocument/2006/relationships/slide" Target="slide57.xml"/><Relationship Id="rId1" Type="http://schemas.openxmlformats.org/officeDocument/2006/relationships/image" Target="../media/image-24-1.png"/><Relationship Id="rId3" Type="http://schemas.openxmlformats.org/officeDocument/2006/relationships/image" Target="../media/image-24-2.png"/><Relationship Id="rId5" Type="http://schemas.openxmlformats.org/officeDocument/2006/relationships/image" Target="../media/image-24-3.png"/><Relationship Id="rId7" Type="http://schemas.openxmlformats.org/officeDocument/2006/relationships/image" Target="../media/image-24-4.png"/><Relationship Id="rId9" Type="http://schemas.openxmlformats.org/officeDocument/2006/relationships/image" Target="../media/image-24-5.png"/><Relationship Id="rId11" Type="http://schemas.openxmlformats.org/officeDocument/2006/relationships/slideLayout" Target="../slideLayouts/slideLayout1.xml"/><Relationship Id="rId1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3" Type="http://schemas.openxmlformats.org/officeDocument/2006/relationships/slide" Target="slide3.xml"/><Relationship Id="rId5" Type="http://schemas.openxmlformats.org/officeDocument/2006/relationships/slide" Target="slide6.xml"/><Relationship Id="rId7" Type="http://schemas.openxmlformats.org/officeDocument/2006/relationships/slide" Target="slide23.xml"/><Relationship Id="rId9" Type="http://schemas.openxmlformats.org/officeDocument/2006/relationships/slide" Target="slide40.xml"/><Relationship Id="rId11" Type="http://schemas.openxmlformats.org/officeDocument/2006/relationships/slide" Target="slide57.xml"/><Relationship Id="rId1" Type="http://schemas.openxmlformats.org/officeDocument/2006/relationships/image" Target="../media/image-25-1.png"/><Relationship Id="rId2" Type="http://schemas.openxmlformats.org/officeDocument/2006/relationships/image" Target="../media/image-25-2.png"/><Relationship Id="rId4" Type="http://schemas.openxmlformats.org/officeDocument/2006/relationships/image" Target="../media/image-25-3.png"/><Relationship Id="rId6" Type="http://schemas.openxmlformats.org/officeDocument/2006/relationships/image" Target="../media/image-25-4.png"/><Relationship Id="rId8" Type="http://schemas.openxmlformats.org/officeDocument/2006/relationships/image" Target="../media/image-25-5.png"/><Relationship Id="rId10" Type="http://schemas.openxmlformats.org/officeDocument/2006/relationships/image" Target="../media/image-25-6.png"/><Relationship Id="rId12" Type="http://schemas.openxmlformats.org/officeDocument/2006/relationships/slideLayout" Target="../slideLayouts/slideLayout1.xml"/><Relationship Id="rId1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3" Type="http://schemas.openxmlformats.org/officeDocument/2006/relationships/slide" Target="slide3.xml"/><Relationship Id="rId5" Type="http://schemas.openxmlformats.org/officeDocument/2006/relationships/slide" Target="slide6.xml"/><Relationship Id="rId7" Type="http://schemas.openxmlformats.org/officeDocument/2006/relationships/slide" Target="slide23.xml"/><Relationship Id="rId9" Type="http://schemas.openxmlformats.org/officeDocument/2006/relationships/slide" Target="slide40.xml"/><Relationship Id="rId11" Type="http://schemas.openxmlformats.org/officeDocument/2006/relationships/slide" Target="slide57.xml"/><Relationship Id="rId1" Type="http://schemas.openxmlformats.org/officeDocument/2006/relationships/image" Target="../media/image-26-1.png"/><Relationship Id="rId2" Type="http://schemas.openxmlformats.org/officeDocument/2006/relationships/image" Target="../media/image-26-2.png"/><Relationship Id="rId4" Type="http://schemas.openxmlformats.org/officeDocument/2006/relationships/image" Target="../media/image-26-3.png"/><Relationship Id="rId6" Type="http://schemas.openxmlformats.org/officeDocument/2006/relationships/image" Target="../media/image-26-4.png"/><Relationship Id="rId8" Type="http://schemas.openxmlformats.org/officeDocument/2006/relationships/image" Target="../media/image-26-5.png"/><Relationship Id="rId10" Type="http://schemas.openxmlformats.org/officeDocument/2006/relationships/image" Target="../media/image-26-6.png"/><Relationship Id="rId12" Type="http://schemas.openxmlformats.org/officeDocument/2006/relationships/slideLayout" Target="../slideLayouts/slideLayout1.xml"/><Relationship Id="rId1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4" Type="http://schemas.openxmlformats.org/officeDocument/2006/relationships/slide" Target="slide3.xml"/><Relationship Id="rId6" Type="http://schemas.openxmlformats.org/officeDocument/2006/relationships/slide" Target="slide6.xml"/><Relationship Id="rId8" Type="http://schemas.openxmlformats.org/officeDocument/2006/relationships/slide" Target="slide23.xml"/><Relationship Id="rId10" Type="http://schemas.openxmlformats.org/officeDocument/2006/relationships/slide" Target="slide40.xml"/><Relationship Id="rId12" Type="http://schemas.openxmlformats.org/officeDocument/2006/relationships/slide" Target="slide57.xml"/><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5" Type="http://schemas.openxmlformats.org/officeDocument/2006/relationships/image" Target="../media/image-27-4.png"/><Relationship Id="rId7" Type="http://schemas.openxmlformats.org/officeDocument/2006/relationships/image" Target="../media/image-27-5.png"/><Relationship Id="rId9" Type="http://schemas.openxmlformats.org/officeDocument/2006/relationships/image" Target="../media/image-27-6.png"/><Relationship Id="rId11" Type="http://schemas.openxmlformats.org/officeDocument/2006/relationships/image" Target="../media/image-27-7.png"/><Relationship Id="rId13" Type="http://schemas.openxmlformats.org/officeDocument/2006/relationships/slideLayout" Target="../slideLayouts/slideLayout1.xml"/><Relationship Id="rId1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4" Type="http://schemas.openxmlformats.org/officeDocument/2006/relationships/slide" Target="slide3.xml"/><Relationship Id="rId6" Type="http://schemas.openxmlformats.org/officeDocument/2006/relationships/slide" Target="slide6.xml"/><Relationship Id="rId8" Type="http://schemas.openxmlformats.org/officeDocument/2006/relationships/slide" Target="slide23.xml"/><Relationship Id="rId10" Type="http://schemas.openxmlformats.org/officeDocument/2006/relationships/slide" Target="slide40.xml"/><Relationship Id="rId12" Type="http://schemas.openxmlformats.org/officeDocument/2006/relationships/slide" Target="slide57.xml"/><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5" Type="http://schemas.openxmlformats.org/officeDocument/2006/relationships/image" Target="../media/image-28-4.png"/><Relationship Id="rId7" Type="http://schemas.openxmlformats.org/officeDocument/2006/relationships/image" Target="../media/image-28-5.png"/><Relationship Id="rId9" Type="http://schemas.openxmlformats.org/officeDocument/2006/relationships/image" Target="../media/image-28-6.png"/><Relationship Id="rId11" Type="http://schemas.openxmlformats.org/officeDocument/2006/relationships/image" Target="../media/image-28-7.png"/><Relationship Id="rId13" Type="http://schemas.openxmlformats.org/officeDocument/2006/relationships/slideLayout" Target="../slideLayouts/slideLayout1.xml"/><Relationship Id="rId1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3" Type="http://schemas.openxmlformats.org/officeDocument/2006/relationships/slide" Target="slide3.xml"/><Relationship Id="rId5" Type="http://schemas.openxmlformats.org/officeDocument/2006/relationships/slide" Target="slide6.xml"/><Relationship Id="rId7" Type="http://schemas.openxmlformats.org/officeDocument/2006/relationships/slide" Target="slide23.xml"/><Relationship Id="rId9" Type="http://schemas.openxmlformats.org/officeDocument/2006/relationships/slide" Target="slide40.xml"/><Relationship Id="rId11" Type="http://schemas.openxmlformats.org/officeDocument/2006/relationships/slide" Target="slide57.xml"/><Relationship Id="rId1" Type="http://schemas.openxmlformats.org/officeDocument/2006/relationships/image" Target="../media/image-29-1.png"/><Relationship Id="rId2" Type="http://schemas.openxmlformats.org/officeDocument/2006/relationships/image" Target="../media/image-29-2.png"/><Relationship Id="rId4" Type="http://schemas.openxmlformats.org/officeDocument/2006/relationships/image" Target="../media/image-29-3.png"/><Relationship Id="rId6" Type="http://schemas.openxmlformats.org/officeDocument/2006/relationships/image" Target="../media/image-29-4.png"/><Relationship Id="rId8" Type="http://schemas.openxmlformats.org/officeDocument/2006/relationships/image" Target="../media/image-29-5.png"/><Relationship Id="rId10" Type="http://schemas.openxmlformats.org/officeDocument/2006/relationships/image" Target="../media/image-29-6.png"/><Relationship Id="rId12" Type="http://schemas.openxmlformats.org/officeDocument/2006/relationships/slideLayout" Target="../slideLayouts/slideLayout1.xml"/><Relationship Id="rId1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4" Type="http://schemas.openxmlformats.org/officeDocument/2006/relationships/slide" Target="slide3.xml"/><Relationship Id="rId6" Type="http://schemas.openxmlformats.org/officeDocument/2006/relationships/slide" Target="slide6.xml"/><Relationship Id="rId8" Type="http://schemas.openxmlformats.org/officeDocument/2006/relationships/slide" Target="slide23.xml"/><Relationship Id="rId10" Type="http://schemas.openxmlformats.org/officeDocument/2006/relationships/slide" Target="slide40.xml"/><Relationship Id="rId12" Type="http://schemas.openxmlformats.org/officeDocument/2006/relationships/slide" Target="slide57.xml"/><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5" Type="http://schemas.openxmlformats.org/officeDocument/2006/relationships/image" Target="../media/image-30-4.png"/><Relationship Id="rId7" Type="http://schemas.openxmlformats.org/officeDocument/2006/relationships/image" Target="../media/image-30-5.png"/><Relationship Id="rId9" Type="http://schemas.openxmlformats.org/officeDocument/2006/relationships/image" Target="../media/image-30-6.png"/><Relationship Id="rId11" Type="http://schemas.openxmlformats.org/officeDocument/2006/relationships/image" Target="../media/image-30-7.png"/><Relationship Id="rId13" Type="http://schemas.openxmlformats.org/officeDocument/2006/relationships/slideLayout" Target="../slideLayouts/slideLayout1.xml"/><Relationship Id="rId1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4" Type="http://schemas.openxmlformats.org/officeDocument/2006/relationships/slide" Target="slide3.xml"/><Relationship Id="rId6" Type="http://schemas.openxmlformats.org/officeDocument/2006/relationships/slide" Target="slide6.xml"/><Relationship Id="rId8" Type="http://schemas.openxmlformats.org/officeDocument/2006/relationships/slide" Target="slide23.xml"/><Relationship Id="rId10" Type="http://schemas.openxmlformats.org/officeDocument/2006/relationships/slide" Target="slide40.xml"/><Relationship Id="rId12" Type="http://schemas.openxmlformats.org/officeDocument/2006/relationships/slide" Target="slide57.xml"/><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5" Type="http://schemas.openxmlformats.org/officeDocument/2006/relationships/image" Target="../media/image-31-4.png"/><Relationship Id="rId7" Type="http://schemas.openxmlformats.org/officeDocument/2006/relationships/image" Target="../media/image-31-5.png"/><Relationship Id="rId9" Type="http://schemas.openxmlformats.org/officeDocument/2006/relationships/image" Target="../media/image-31-6.png"/><Relationship Id="rId11" Type="http://schemas.openxmlformats.org/officeDocument/2006/relationships/image" Target="../media/image-31-7.png"/><Relationship Id="rId13" Type="http://schemas.openxmlformats.org/officeDocument/2006/relationships/slideLayout" Target="../slideLayouts/slideLayout1.xml"/><Relationship Id="rId1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4" Type="http://schemas.openxmlformats.org/officeDocument/2006/relationships/slide" Target="slide3.xml"/><Relationship Id="rId6" Type="http://schemas.openxmlformats.org/officeDocument/2006/relationships/slide" Target="slide6.xml"/><Relationship Id="rId8" Type="http://schemas.openxmlformats.org/officeDocument/2006/relationships/slide" Target="slide23.xml"/><Relationship Id="rId10" Type="http://schemas.openxmlformats.org/officeDocument/2006/relationships/slide" Target="slide40.xml"/><Relationship Id="rId12" Type="http://schemas.openxmlformats.org/officeDocument/2006/relationships/slide" Target="slide57.xml"/><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5" Type="http://schemas.openxmlformats.org/officeDocument/2006/relationships/image" Target="../media/image-32-4.png"/><Relationship Id="rId7" Type="http://schemas.openxmlformats.org/officeDocument/2006/relationships/image" Target="../media/image-32-5.png"/><Relationship Id="rId9" Type="http://schemas.openxmlformats.org/officeDocument/2006/relationships/image" Target="../media/image-32-6.png"/><Relationship Id="rId11" Type="http://schemas.openxmlformats.org/officeDocument/2006/relationships/image" Target="../media/image-32-7.png"/><Relationship Id="rId13" Type="http://schemas.openxmlformats.org/officeDocument/2006/relationships/slideLayout" Target="../slideLayouts/slideLayout1.xml"/><Relationship Id="rId1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4" Type="http://schemas.openxmlformats.org/officeDocument/2006/relationships/slide" Target="slide3.xml"/><Relationship Id="rId6" Type="http://schemas.openxmlformats.org/officeDocument/2006/relationships/slide" Target="slide6.xml"/><Relationship Id="rId8" Type="http://schemas.openxmlformats.org/officeDocument/2006/relationships/slide" Target="slide23.xml"/><Relationship Id="rId10" Type="http://schemas.openxmlformats.org/officeDocument/2006/relationships/slide" Target="slide40.xml"/><Relationship Id="rId12" Type="http://schemas.openxmlformats.org/officeDocument/2006/relationships/slide" Target="slide57.xml"/><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5" Type="http://schemas.openxmlformats.org/officeDocument/2006/relationships/image" Target="../media/image-33-4.png"/><Relationship Id="rId7" Type="http://schemas.openxmlformats.org/officeDocument/2006/relationships/image" Target="../media/image-33-5.png"/><Relationship Id="rId9" Type="http://schemas.openxmlformats.org/officeDocument/2006/relationships/image" Target="../media/image-33-6.png"/><Relationship Id="rId11" Type="http://schemas.openxmlformats.org/officeDocument/2006/relationships/image" Target="../media/image-33-7.png"/><Relationship Id="rId13" Type="http://schemas.openxmlformats.org/officeDocument/2006/relationships/slideLayout" Target="../slideLayouts/slideLayout1.xml"/><Relationship Id="rId1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8" Type="http://schemas.openxmlformats.org/officeDocument/2006/relationships/slide" Target="slide3.xml"/><Relationship Id="rId20" Type="http://schemas.openxmlformats.org/officeDocument/2006/relationships/slide" Target="slide6.xml"/><Relationship Id="rId22" Type="http://schemas.openxmlformats.org/officeDocument/2006/relationships/slide" Target="slide23.xml"/><Relationship Id="rId24" Type="http://schemas.openxmlformats.org/officeDocument/2006/relationships/slide" Target="slide40.xml"/><Relationship Id="rId26" Type="http://schemas.openxmlformats.org/officeDocument/2006/relationships/slide" Target="slide57.xml"/><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image" Target="../media/image-34-5.png"/><Relationship Id="rId6" Type="http://schemas.openxmlformats.org/officeDocument/2006/relationships/image" Target="../media/image-34-6.png"/><Relationship Id="rId7" Type="http://schemas.openxmlformats.org/officeDocument/2006/relationships/image" Target="../media/image-34-7.png"/><Relationship Id="rId8" Type="http://schemas.openxmlformats.org/officeDocument/2006/relationships/image" Target="../media/image-34-8.png"/><Relationship Id="rId9" Type="http://schemas.openxmlformats.org/officeDocument/2006/relationships/image" Target="../media/image-34-9.png"/><Relationship Id="rId10" Type="http://schemas.openxmlformats.org/officeDocument/2006/relationships/image" Target="../media/image-34-10.png"/><Relationship Id="rId11" Type="http://schemas.openxmlformats.org/officeDocument/2006/relationships/image" Target="../media/image-34-11.png"/><Relationship Id="rId12" Type="http://schemas.openxmlformats.org/officeDocument/2006/relationships/image" Target="../media/image-34-12.png"/><Relationship Id="rId13" Type="http://schemas.openxmlformats.org/officeDocument/2006/relationships/image" Target="../media/image-34-13.png"/><Relationship Id="rId14" Type="http://schemas.openxmlformats.org/officeDocument/2006/relationships/image" Target="../media/image-34-14.png"/><Relationship Id="rId15" Type="http://schemas.openxmlformats.org/officeDocument/2006/relationships/image" Target="../media/image-34-15.png"/><Relationship Id="rId16" Type="http://schemas.openxmlformats.org/officeDocument/2006/relationships/image" Target="../media/image-34-16.png"/><Relationship Id="rId17" Type="http://schemas.openxmlformats.org/officeDocument/2006/relationships/image" Target="../media/image-34-17.png"/><Relationship Id="rId19" Type="http://schemas.openxmlformats.org/officeDocument/2006/relationships/image" Target="../media/image-34-18.png"/><Relationship Id="rId21" Type="http://schemas.openxmlformats.org/officeDocument/2006/relationships/image" Target="../media/image-34-19.png"/><Relationship Id="rId23" Type="http://schemas.openxmlformats.org/officeDocument/2006/relationships/image" Target="../media/image-34-20.png"/><Relationship Id="rId25" Type="http://schemas.openxmlformats.org/officeDocument/2006/relationships/image" Target="../media/image-34-21.png"/><Relationship Id="rId27" Type="http://schemas.openxmlformats.org/officeDocument/2006/relationships/slideLayout" Target="../slideLayouts/slideLayout1.xml"/><Relationship Id="rId28"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6" Type="http://schemas.openxmlformats.org/officeDocument/2006/relationships/slide" Target="slide3.xml"/><Relationship Id="rId8" Type="http://schemas.openxmlformats.org/officeDocument/2006/relationships/slide" Target="slide6.xml"/><Relationship Id="rId10" Type="http://schemas.openxmlformats.org/officeDocument/2006/relationships/slide" Target="slide23.xml"/><Relationship Id="rId12" Type="http://schemas.openxmlformats.org/officeDocument/2006/relationships/slide" Target="slide40.xml"/><Relationship Id="rId14" Type="http://schemas.openxmlformats.org/officeDocument/2006/relationships/slide" Target="slide57.xml"/><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image" Target="../media/image-35-4.png"/><Relationship Id="rId5" Type="http://schemas.openxmlformats.org/officeDocument/2006/relationships/image" Target="../media/image-35-5.png"/><Relationship Id="rId7" Type="http://schemas.openxmlformats.org/officeDocument/2006/relationships/image" Target="../media/image-35-6.png"/><Relationship Id="rId9" Type="http://schemas.openxmlformats.org/officeDocument/2006/relationships/image" Target="../media/image-35-7.png"/><Relationship Id="rId11" Type="http://schemas.openxmlformats.org/officeDocument/2006/relationships/image" Target="../media/image-35-8.png"/><Relationship Id="rId13" Type="http://schemas.openxmlformats.org/officeDocument/2006/relationships/image" Target="../media/image-35-9.png"/><Relationship Id="rId15" Type="http://schemas.openxmlformats.org/officeDocument/2006/relationships/slideLayout" Target="../slideLayouts/slideLayout1.xml"/><Relationship Id="rId16"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6" Type="http://schemas.openxmlformats.org/officeDocument/2006/relationships/slide" Target="slide3.xml"/><Relationship Id="rId8" Type="http://schemas.openxmlformats.org/officeDocument/2006/relationships/slide" Target="slide6.xml"/><Relationship Id="rId10" Type="http://schemas.openxmlformats.org/officeDocument/2006/relationships/slide" Target="slide23.xml"/><Relationship Id="rId12" Type="http://schemas.openxmlformats.org/officeDocument/2006/relationships/slide" Target="slide40.xml"/><Relationship Id="rId14" Type="http://schemas.openxmlformats.org/officeDocument/2006/relationships/slide" Target="slide57.xml"/><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image" Target="../media/image-36-4.png"/><Relationship Id="rId5" Type="http://schemas.openxmlformats.org/officeDocument/2006/relationships/image" Target="../media/image-36-5.png"/><Relationship Id="rId7" Type="http://schemas.openxmlformats.org/officeDocument/2006/relationships/image" Target="../media/image-36-6.png"/><Relationship Id="rId9" Type="http://schemas.openxmlformats.org/officeDocument/2006/relationships/image" Target="../media/image-36-7.png"/><Relationship Id="rId11" Type="http://schemas.openxmlformats.org/officeDocument/2006/relationships/image" Target="../media/image-36-8.png"/><Relationship Id="rId13" Type="http://schemas.openxmlformats.org/officeDocument/2006/relationships/image" Target="../media/image-36-9.png"/><Relationship Id="rId15" Type="http://schemas.openxmlformats.org/officeDocument/2006/relationships/slideLayout" Target="../slideLayouts/slideLayout1.xml"/><Relationship Id="rId16"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3" Type="http://schemas.openxmlformats.org/officeDocument/2006/relationships/slide" Target="slide3.xml"/><Relationship Id="rId15" Type="http://schemas.openxmlformats.org/officeDocument/2006/relationships/slide" Target="slide6.xml"/><Relationship Id="rId17" Type="http://schemas.openxmlformats.org/officeDocument/2006/relationships/slide" Target="slide23.xml"/><Relationship Id="rId19" Type="http://schemas.openxmlformats.org/officeDocument/2006/relationships/slide" Target="slide40.xml"/><Relationship Id="rId21" Type="http://schemas.openxmlformats.org/officeDocument/2006/relationships/slide" Target="slide57.xml"/><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image" Target="../media/image-37-4.png"/><Relationship Id="rId5" Type="http://schemas.openxmlformats.org/officeDocument/2006/relationships/image" Target="../media/image-37-5.png"/><Relationship Id="rId6" Type="http://schemas.openxmlformats.org/officeDocument/2006/relationships/image" Target="../media/image-37-6.png"/><Relationship Id="rId7" Type="http://schemas.openxmlformats.org/officeDocument/2006/relationships/image" Target="../media/image-37-7.png"/><Relationship Id="rId8" Type="http://schemas.openxmlformats.org/officeDocument/2006/relationships/image" Target="../media/image-37-8.png"/><Relationship Id="rId9" Type="http://schemas.openxmlformats.org/officeDocument/2006/relationships/image" Target="../media/image-37-9.png"/><Relationship Id="rId10" Type="http://schemas.openxmlformats.org/officeDocument/2006/relationships/image" Target="../media/image-37-10.png"/><Relationship Id="rId11" Type="http://schemas.openxmlformats.org/officeDocument/2006/relationships/image" Target="../media/image-37-11.png"/><Relationship Id="rId12" Type="http://schemas.openxmlformats.org/officeDocument/2006/relationships/image" Target="../media/image-37-12.png"/><Relationship Id="rId14" Type="http://schemas.openxmlformats.org/officeDocument/2006/relationships/image" Target="../media/image-37-13.png"/><Relationship Id="rId16" Type="http://schemas.openxmlformats.org/officeDocument/2006/relationships/image" Target="../media/image-37-14.png"/><Relationship Id="rId18" Type="http://schemas.openxmlformats.org/officeDocument/2006/relationships/image" Target="../media/image-37-15.png"/><Relationship Id="rId20" Type="http://schemas.openxmlformats.org/officeDocument/2006/relationships/image" Target="../media/image-37-16.png"/><Relationship Id="rId22" Type="http://schemas.openxmlformats.org/officeDocument/2006/relationships/slideLayout" Target="../slideLayouts/slideLayout1.xml"/><Relationship Id="rId2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2" Type="http://schemas.openxmlformats.org/officeDocument/2006/relationships/slide" Target="slide3.xml"/><Relationship Id="rId4" Type="http://schemas.openxmlformats.org/officeDocument/2006/relationships/slide" Target="slide6.xml"/><Relationship Id="rId6" Type="http://schemas.openxmlformats.org/officeDocument/2006/relationships/slide" Target="slide23.xml"/><Relationship Id="rId8" Type="http://schemas.openxmlformats.org/officeDocument/2006/relationships/slide" Target="slide40.xml"/><Relationship Id="rId10" Type="http://schemas.openxmlformats.org/officeDocument/2006/relationships/slide" Target="slide57.xml"/><Relationship Id="rId1" Type="http://schemas.openxmlformats.org/officeDocument/2006/relationships/image" Target="../media/image-38-1.png"/><Relationship Id="rId3" Type="http://schemas.openxmlformats.org/officeDocument/2006/relationships/image" Target="../media/image-38-2.png"/><Relationship Id="rId5" Type="http://schemas.openxmlformats.org/officeDocument/2006/relationships/image" Target="../media/image-38-3.png"/><Relationship Id="rId7" Type="http://schemas.openxmlformats.org/officeDocument/2006/relationships/image" Target="../media/image-38-4.png"/><Relationship Id="rId9" Type="http://schemas.openxmlformats.org/officeDocument/2006/relationships/image" Target="../media/image-38-5.png"/><Relationship Id="rId11" Type="http://schemas.openxmlformats.org/officeDocument/2006/relationships/slideLayout" Target="../slideLayouts/slideLayout1.xml"/><Relationship Id="rId1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2" Type="http://schemas.openxmlformats.org/officeDocument/2006/relationships/slide" Target="slide40.xml"/><Relationship Id="rId4" Type="http://schemas.openxmlformats.org/officeDocument/2006/relationships/slide" Target="slide3.xml"/><Relationship Id="rId6" Type="http://schemas.openxmlformats.org/officeDocument/2006/relationships/slide" Target="slide6.xml"/><Relationship Id="rId8" Type="http://schemas.openxmlformats.org/officeDocument/2006/relationships/slide" Target="slide23.xml"/><Relationship Id="rId10" Type="http://schemas.openxmlformats.org/officeDocument/2006/relationships/slide" Target="slide40.xml"/><Relationship Id="rId12" Type="http://schemas.openxmlformats.org/officeDocument/2006/relationships/slide" Target="slide57.xml"/><Relationship Id="rId1" Type="http://schemas.openxmlformats.org/officeDocument/2006/relationships/image" Target="../media/image-39-1.png"/><Relationship Id="rId3" Type="http://schemas.openxmlformats.org/officeDocument/2006/relationships/image" Target="../media/image-39-2.png"/><Relationship Id="rId5" Type="http://schemas.openxmlformats.org/officeDocument/2006/relationships/image" Target="../media/image-39-3.png"/><Relationship Id="rId7" Type="http://schemas.openxmlformats.org/officeDocument/2006/relationships/image" Target="../media/image-39-4.png"/><Relationship Id="rId9" Type="http://schemas.openxmlformats.org/officeDocument/2006/relationships/image" Target="../media/image-39-5.png"/><Relationship Id="rId11" Type="http://schemas.openxmlformats.org/officeDocument/2006/relationships/image" Target="../media/image-39-6.png"/><Relationship Id="rId13" Type="http://schemas.openxmlformats.org/officeDocument/2006/relationships/slideLayout" Target="../slideLayouts/slideLayout1.xml"/><Relationship Id="rId1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3" Type="http://schemas.openxmlformats.org/officeDocument/2006/relationships/slide" Target="slide3.xml"/><Relationship Id="rId5" Type="http://schemas.openxmlformats.org/officeDocument/2006/relationships/slide" Target="slide6.xml"/><Relationship Id="rId7" Type="http://schemas.openxmlformats.org/officeDocument/2006/relationships/slide" Target="slide23.xml"/><Relationship Id="rId9" Type="http://schemas.openxmlformats.org/officeDocument/2006/relationships/slide" Target="slide40.xml"/><Relationship Id="rId11" Type="http://schemas.openxmlformats.org/officeDocument/2006/relationships/slide" Target="slide57.xml"/><Relationship Id="rId1" Type="http://schemas.openxmlformats.org/officeDocument/2006/relationships/image" Target="../media/image-40-1.png"/><Relationship Id="rId2" Type="http://schemas.openxmlformats.org/officeDocument/2006/relationships/image" Target="../media/image-40-2.png"/><Relationship Id="rId4" Type="http://schemas.openxmlformats.org/officeDocument/2006/relationships/image" Target="../media/image-40-3.png"/><Relationship Id="rId6" Type="http://schemas.openxmlformats.org/officeDocument/2006/relationships/image" Target="../media/image-40-4.png"/><Relationship Id="rId8" Type="http://schemas.openxmlformats.org/officeDocument/2006/relationships/image" Target="../media/image-40-5.png"/><Relationship Id="rId10" Type="http://schemas.openxmlformats.org/officeDocument/2006/relationships/image" Target="../media/image-40-6.png"/><Relationship Id="rId12" Type="http://schemas.openxmlformats.org/officeDocument/2006/relationships/slideLayout" Target="../slideLayouts/slideLayout1.xml"/><Relationship Id="rId1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2" Type="http://schemas.openxmlformats.org/officeDocument/2006/relationships/slide" Target="slide3.xml"/><Relationship Id="rId4" Type="http://schemas.openxmlformats.org/officeDocument/2006/relationships/slide" Target="slide6.xml"/><Relationship Id="rId6" Type="http://schemas.openxmlformats.org/officeDocument/2006/relationships/slide" Target="slide23.xml"/><Relationship Id="rId8" Type="http://schemas.openxmlformats.org/officeDocument/2006/relationships/slide" Target="slide40.xml"/><Relationship Id="rId10" Type="http://schemas.openxmlformats.org/officeDocument/2006/relationships/slide" Target="slide57.xml"/><Relationship Id="rId1" Type="http://schemas.openxmlformats.org/officeDocument/2006/relationships/image" Target="../media/image-41-1.png"/><Relationship Id="rId3" Type="http://schemas.openxmlformats.org/officeDocument/2006/relationships/image" Target="../media/image-41-2.png"/><Relationship Id="rId5" Type="http://schemas.openxmlformats.org/officeDocument/2006/relationships/image" Target="../media/image-41-3.png"/><Relationship Id="rId7" Type="http://schemas.openxmlformats.org/officeDocument/2006/relationships/image" Target="../media/image-41-4.png"/><Relationship Id="rId9" Type="http://schemas.openxmlformats.org/officeDocument/2006/relationships/image" Target="../media/image-41-5.png"/><Relationship Id="rId11" Type="http://schemas.openxmlformats.org/officeDocument/2006/relationships/slideLayout" Target="../slideLayouts/slideLayout1.xml"/><Relationship Id="rId1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3" Type="http://schemas.openxmlformats.org/officeDocument/2006/relationships/slide" Target="slide3.xml"/><Relationship Id="rId5" Type="http://schemas.openxmlformats.org/officeDocument/2006/relationships/slide" Target="slide6.xml"/><Relationship Id="rId7" Type="http://schemas.openxmlformats.org/officeDocument/2006/relationships/slide" Target="slide23.xml"/><Relationship Id="rId9" Type="http://schemas.openxmlformats.org/officeDocument/2006/relationships/slide" Target="slide40.xml"/><Relationship Id="rId11" Type="http://schemas.openxmlformats.org/officeDocument/2006/relationships/slide" Target="slide57.xml"/><Relationship Id="rId1" Type="http://schemas.openxmlformats.org/officeDocument/2006/relationships/image" Target="../media/image-42-1.png"/><Relationship Id="rId2" Type="http://schemas.openxmlformats.org/officeDocument/2006/relationships/image" Target="../media/image-42-2.png"/><Relationship Id="rId4" Type="http://schemas.openxmlformats.org/officeDocument/2006/relationships/image" Target="../media/image-42-3.png"/><Relationship Id="rId6" Type="http://schemas.openxmlformats.org/officeDocument/2006/relationships/image" Target="../media/image-42-4.png"/><Relationship Id="rId8" Type="http://schemas.openxmlformats.org/officeDocument/2006/relationships/image" Target="../media/image-42-5.png"/><Relationship Id="rId10" Type="http://schemas.openxmlformats.org/officeDocument/2006/relationships/image" Target="../media/image-42-6.png"/><Relationship Id="rId12" Type="http://schemas.openxmlformats.org/officeDocument/2006/relationships/slideLayout" Target="../slideLayouts/slideLayout1.xml"/><Relationship Id="rId1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3" Type="http://schemas.openxmlformats.org/officeDocument/2006/relationships/slide" Target="slide3.xml"/><Relationship Id="rId5" Type="http://schemas.openxmlformats.org/officeDocument/2006/relationships/slide" Target="slide6.xml"/><Relationship Id="rId7" Type="http://schemas.openxmlformats.org/officeDocument/2006/relationships/slide" Target="slide23.xml"/><Relationship Id="rId9" Type="http://schemas.openxmlformats.org/officeDocument/2006/relationships/slide" Target="slide40.xml"/><Relationship Id="rId11" Type="http://schemas.openxmlformats.org/officeDocument/2006/relationships/slide" Target="slide57.xml"/><Relationship Id="rId1" Type="http://schemas.openxmlformats.org/officeDocument/2006/relationships/image" Target="../media/image-43-1.png"/><Relationship Id="rId2" Type="http://schemas.openxmlformats.org/officeDocument/2006/relationships/image" Target="../media/image-43-2.png"/><Relationship Id="rId4" Type="http://schemas.openxmlformats.org/officeDocument/2006/relationships/image" Target="../media/image-43-3.png"/><Relationship Id="rId6" Type="http://schemas.openxmlformats.org/officeDocument/2006/relationships/image" Target="../media/image-43-4.png"/><Relationship Id="rId8" Type="http://schemas.openxmlformats.org/officeDocument/2006/relationships/image" Target="../media/image-43-5.png"/><Relationship Id="rId10" Type="http://schemas.openxmlformats.org/officeDocument/2006/relationships/image" Target="../media/image-43-6.png"/><Relationship Id="rId12" Type="http://schemas.openxmlformats.org/officeDocument/2006/relationships/slideLayout" Target="../slideLayouts/slideLayout1.xml"/><Relationship Id="rId1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3" Type="http://schemas.openxmlformats.org/officeDocument/2006/relationships/slide" Target="slide3.xml"/><Relationship Id="rId5" Type="http://schemas.openxmlformats.org/officeDocument/2006/relationships/slide" Target="slide6.xml"/><Relationship Id="rId7" Type="http://schemas.openxmlformats.org/officeDocument/2006/relationships/slide" Target="slide23.xml"/><Relationship Id="rId9" Type="http://schemas.openxmlformats.org/officeDocument/2006/relationships/slide" Target="slide40.xml"/><Relationship Id="rId11" Type="http://schemas.openxmlformats.org/officeDocument/2006/relationships/slide" Target="slide57.xml"/><Relationship Id="rId1" Type="http://schemas.openxmlformats.org/officeDocument/2006/relationships/image" Target="../media/image-44-1.png"/><Relationship Id="rId2" Type="http://schemas.openxmlformats.org/officeDocument/2006/relationships/image" Target="../media/image-44-2.png"/><Relationship Id="rId4" Type="http://schemas.openxmlformats.org/officeDocument/2006/relationships/image" Target="../media/image-44-3.png"/><Relationship Id="rId6" Type="http://schemas.openxmlformats.org/officeDocument/2006/relationships/image" Target="../media/image-44-4.png"/><Relationship Id="rId8" Type="http://schemas.openxmlformats.org/officeDocument/2006/relationships/image" Target="../media/image-44-5.png"/><Relationship Id="rId10" Type="http://schemas.openxmlformats.org/officeDocument/2006/relationships/image" Target="../media/image-44-6.png"/><Relationship Id="rId12" Type="http://schemas.openxmlformats.org/officeDocument/2006/relationships/slideLayout" Target="../slideLayouts/slideLayout1.xml"/><Relationship Id="rId1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5" Type="http://schemas.openxmlformats.org/officeDocument/2006/relationships/slide" Target="slide3.xml"/><Relationship Id="rId7" Type="http://schemas.openxmlformats.org/officeDocument/2006/relationships/slide" Target="slide6.xml"/><Relationship Id="rId9" Type="http://schemas.openxmlformats.org/officeDocument/2006/relationships/slide" Target="slide23.xml"/><Relationship Id="rId11" Type="http://schemas.openxmlformats.org/officeDocument/2006/relationships/slide" Target="slide40.xml"/><Relationship Id="rId13" Type="http://schemas.openxmlformats.org/officeDocument/2006/relationships/slide" Target="slide57.xml"/><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image" Target="../media/image-45-3.png"/><Relationship Id="rId4" Type="http://schemas.openxmlformats.org/officeDocument/2006/relationships/image" Target="../media/image-45-4.png"/><Relationship Id="rId6" Type="http://schemas.openxmlformats.org/officeDocument/2006/relationships/image" Target="../media/image-45-5.png"/><Relationship Id="rId8" Type="http://schemas.openxmlformats.org/officeDocument/2006/relationships/image" Target="../media/image-45-6.png"/><Relationship Id="rId10" Type="http://schemas.openxmlformats.org/officeDocument/2006/relationships/image" Target="../media/image-45-7.png"/><Relationship Id="rId12" Type="http://schemas.openxmlformats.org/officeDocument/2006/relationships/image" Target="../media/image-45-8.png"/><Relationship Id="rId14" Type="http://schemas.openxmlformats.org/officeDocument/2006/relationships/slideLayout" Target="../slideLayouts/slideLayout1.xml"/><Relationship Id="rId15"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5" Type="http://schemas.openxmlformats.org/officeDocument/2006/relationships/slide" Target="slide3.xml"/><Relationship Id="rId7" Type="http://schemas.openxmlformats.org/officeDocument/2006/relationships/slide" Target="slide6.xml"/><Relationship Id="rId9" Type="http://schemas.openxmlformats.org/officeDocument/2006/relationships/slide" Target="slide23.xml"/><Relationship Id="rId11" Type="http://schemas.openxmlformats.org/officeDocument/2006/relationships/slide" Target="slide40.xml"/><Relationship Id="rId13" Type="http://schemas.openxmlformats.org/officeDocument/2006/relationships/slide" Target="slide57.xml"/><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image" Target="../media/image-46-3.png"/><Relationship Id="rId4" Type="http://schemas.openxmlformats.org/officeDocument/2006/relationships/image" Target="../media/image-46-4.png"/><Relationship Id="rId6" Type="http://schemas.openxmlformats.org/officeDocument/2006/relationships/image" Target="../media/image-46-5.png"/><Relationship Id="rId8" Type="http://schemas.openxmlformats.org/officeDocument/2006/relationships/image" Target="../media/image-46-6.png"/><Relationship Id="rId10" Type="http://schemas.openxmlformats.org/officeDocument/2006/relationships/image" Target="../media/image-46-7.png"/><Relationship Id="rId12" Type="http://schemas.openxmlformats.org/officeDocument/2006/relationships/image" Target="../media/image-46-8.png"/><Relationship Id="rId14" Type="http://schemas.openxmlformats.org/officeDocument/2006/relationships/slideLayout" Target="../slideLayouts/slideLayout1.xml"/><Relationship Id="rId15"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3" Type="http://schemas.openxmlformats.org/officeDocument/2006/relationships/slide" Target="slide3.xml"/><Relationship Id="rId5" Type="http://schemas.openxmlformats.org/officeDocument/2006/relationships/slide" Target="slide6.xml"/><Relationship Id="rId7" Type="http://schemas.openxmlformats.org/officeDocument/2006/relationships/slide" Target="slide23.xml"/><Relationship Id="rId9" Type="http://schemas.openxmlformats.org/officeDocument/2006/relationships/slide" Target="slide40.xml"/><Relationship Id="rId11" Type="http://schemas.openxmlformats.org/officeDocument/2006/relationships/slide" Target="slide57.xml"/><Relationship Id="rId1" Type="http://schemas.openxmlformats.org/officeDocument/2006/relationships/image" Target="../media/image-47-1.png"/><Relationship Id="rId2" Type="http://schemas.openxmlformats.org/officeDocument/2006/relationships/image" Target="../media/image-47-2.png"/><Relationship Id="rId4" Type="http://schemas.openxmlformats.org/officeDocument/2006/relationships/image" Target="../media/image-47-3.png"/><Relationship Id="rId6" Type="http://schemas.openxmlformats.org/officeDocument/2006/relationships/image" Target="../media/image-47-4.png"/><Relationship Id="rId8" Type="http://schemas.openxmlformats.org/officeDocument/2006/relationships/image" Target="../media/image-47-5.png"/><Relationship Id="rId10" Type="http://schemas.openxmlformats.org/officeDocument/2006/relationships/image" Target="../media/image-47-6.png"/><Relationship Id="rId12" Type="http://schemas.openxmlformats.org/officeDocument/2006/relationships/slideLayout" Target="../slideLayouts/slideLayout1.xml"/><Relationship Id="rId1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5" Type="http://schemas.openxmlformats.org/officeDocument/2006/relationships/slide" Target="slide3.xml"/><Relationship Id="rId7" Type="http://schemas.openxmlformats.org/officeDocument/2006/relationships/slide" Target="slide6.xml"/><Relationship Id="rId9" Type="http://schemas.openxmlformats.org/officeDocument/2006/relationships/slide" Target="slide23.xml"/><Relationship Id="rId11" Type="http://schemas.openxmlformats.org/officeDocument/2006/relationships/slide" Target="slide40.xml"/><Relationship Id="rId13" Type="http://schemas.openxmlformats.org/officeDocument/2006/relationships/slide" Target="slide57.xml"/><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image" Target="../media/image-48-3.png"/><Relationship Id="rId4" Type="http://schemas.openxmlformats.org/officeDocument/2006/relationships/image" Target="../media/image-48-4.png"/><Relationship Id="rId6" Type="http://schemas.openxmlformats.org/officeDocument/2006/relationships/image" Target="../media/image-48-5.png"/><Relationship Id="rId8" Type="http://schemas.openxmlformats.org/officeDocument/2006/relationships/image" Target="../media/image-48-6.png"/><Relationship Id="rId10" Type="http://schemas.openxmlformats.org/officeDocument/2006/relationships/image" Target="../media/image-48-7.png"/><Relationship Id="rId12" Type="http://schemas.openxmlformats.org/officeDocument/2006/relationships/image" Target="../media/image-48-8.png"/><Relationship Id="rId14" Type="http://schemas.openxmlformats.org/officeDocument/2006/relationships/slideLayout" Target="../slideLayouts/slideLayout1.xml"/><Relationship Id="rId15"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5" Type="http://schemas.openxmlformats.org/officeDocument/2006/relationships/slide" Target="slide3.xml"/><Relationship Id="rId7" Type="http://schemas.openxmlformats.org/officeDocument/2006/relationships/slide" Target="slide6.xml"/><Relationship Id="rId9" Type="http://schemas.openxmlformats.org/officeDocument/2006/relationships/slide" Target="slide23.xml"/><Relationship Id="rId11" Type="http://schemas.openxmlformats.org/officeDocument/2006/relationships/slide" Target="slide40.xml"/><Relationship Id="rId13" Type="http://schemas.openxmlformats.org/officeDocument/2006/relationships/slide" Target="slide57.xml"/><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image" Target="../media/image-49-3.png"/><Relationship Id="rId4" Type="http://schemas.openxmlformats.org/officeDocument/2006/relationships/image" Target="../media/image-49-4.png"/><Relationship Id="rId6" Type="http://schemas.openxmlformats.org/officeDocument/2006/relationships/image" Target="../media/image-49-5.png"/><Relationship Id="rId8" Type="http://schemas.openxmlformats.org/officeDocument/2006/relationships/image" Target="../media/image-49-6.png"/><Relationship Id="rId10" Type="http://schemas.openxmlformats.org/officeDocument/2006/relationships/image" Target="../media/image-49-7.png"/><Relationship Id="rId12" Type="http://schemas.openxmlformats.org/officeDocument/2006/relationships/image" Target="../media/image-49-8.png"/><Relationship Id="rId14" Type="http://schemas.openxmlformats.org/officeDocument/2006/relationships/slideLayout" Target="../slideLayouts/slideLayout1.xml"/><Relationship Id="rId15"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5" Type="http://schemas.openxmlformats.org/officeDocument/2006/relationships/slide" Target="slide3.xml"/><Relationship Id="rId7" Type="http://schemas.openxmlformats.org/officeDocument/2006/relationships/slide" Target="slide6.xml"/><Relationship Id="rId9" Type="http://schemas.openxmlformats.org/officeDocument/2006/relationships/slide" Target="slide23.xml"/><Relationship Id="rId11" Type="http://schemas.openxmlformats.org/officeDocument/2006/relationships/slide" Target="slide40.xml"/><Relationship Id="rId13" Type="http://schemas.openxmlformats.org/officeDocument/2006/relationships/slide" Target="slide57.xml"/><Relationship Id="rId1" Type="http://schemas.openxmlformats.org/officeDocument/2006/relationships/image" Target="../media/image-50-1.png"/><Relationship Id="rId2" Type="http://schemas.openxmlformats.org/officeDocument/2006/relationships/image" Target="../media/image-50-2.png"/><Relationship Id="rId3" Type="http://schemas.openxmlformats.org/officeDocument/2006/relationships/image" Target="../media/image-50-3.png"/><Relationship Id="rId4" Type="http://schemas.openxmlformats.org/officeDocument/2006/relationships/image" Target="../media/image-50-4.png"/><Relationship Id="rId6" Type="http://schemas.openxmlformats.org/officeDocument/2006/relationships/image" Target="../media/image-50-5.png"/><Relationship Id="rId8" Type="http://schemas.openxmlformats.org/officeDocument/2006/relationships/image" Target="../media/image-50-6.png"/><Relationship Id="rId10" Type="http://schemas.openxmlformats.org/officeDocument/2006/relationships/image" Target="../media/image-50-7.png"/><Relationship Id="rId12" Type="http://schemas.openxmlformats.org/officeDocument/2006/relationships/image" Target="../media/image-50-8.png"/><Relationship Id="rId14" Type="http://schemas.openxmlformats.org/officeDocument/2006/relationships/slideLayout" Target="../slideLayouts/slideLayout1.xml"/><Relationship Id="rId15"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8" Type="http://schemas.openxmlformats.org/officeDocument/2006/relationships/slide" Target="slide3.xml"/><Relationship Id="rId20" Type="http://schemas.openxmlformats.org/officeDocument/2006/relationships/slide" Target="slide6.xml"/><Relationship Id="rId22" Type="http://schemas.openxmlformats.org/officeDocument/2006/relationships/slide" Target="slide23.xml"/><Relationship Id="rId24" Type="http://schemas.openxmlformats.org/officeDocument/2006/relationships/slide" Target="slide40.xml"/><Relationship Id="rId26" Type="http://schemas.openxmlformats.org/officeDocument/2006/relationships/slide" Target="slide57.xml"/><Relationship Id="rId1" Type="http://schemas.openxmlformats.org/officeDocument/2006/relationships/image" Target="../media/image-51-1.png"/><Relationship Id="rId2" Type="http://schemas.openxmlformats.org/officeDocument/2006/relationships/image" Target="../media/image-51-2.png"/><Relationship Id="rId3" Type="http://schemas.openxmlformats.org/officeDocument/2006/relationships/image" Target="../media/image-51-3.png"/><Relationship Id="rId4" Type="http://schemas.openxmlformats.org/officeDocument/2006/relationships/image" Target="../media/image-51-4.png"/><Relationship Id="rId5" Type="http://schemas.openxmlformats.org/officeDocument/2006/relationships/image" Target="../media/image-51-5.png"/><Relationship Id="rId6" Type="http://schemas.openxmlformats.org/officeDocument/2006/relationships/image" Target="../media/image-51-6.png"/><Relationship Id="rId7" Type="http://schemas.openxmlformats.org/officeDocument/2006/relationships/image" Target="../media/image-51-7.png"/><Relationship Id="rId8" Type="http://schemas.openxmlformats.org/officeDocument/2006/relationships/image" Target="../media/image-51-8.png"/><Relationship Id="rId9" Type="http://schemas.openxmlformats.org/officeDocument/2006/relationships/image" Target="../media/image-51-9.png"/><Relationship Id="rId10" Type="http://schemas.openxmlformats.org/officeDocument/2006/relationships/image" Target="../media/image-51-10.png"/><Relationship Id="rId11" Type="http://schemas.openxmlformats.org/officeDocument/2006/relationships/image" Target="../media/image-51-11.png"/><Relationship Id="rId12" Type="http://schemas.openxmlformats.org/officeDocument/2006/relationships/image" Target="../media/image-51-12.png"/><Relationship Id="rId13" Type="http://schemas.openxmlformats.org/officeDocument/2006/relationships/image" Target="../media/image-51-13.png"/><Relationship Id="rId14" Type="http://schemas.openxmlformats.org/officeDocument/2006/relationships/image" Target="../media/image-51-14.png"/><Relationship Id="rId15" Type="http://schemas.openxmlformats.org/officeDocument/2006/relationships/image" Target="../media/image-51-15.png"/><Relationship Id="rId16" Type="http://schemas.openxmlformats.org/officeDocument/2006/relationships/image" Target="../media/image-51-16.png"/><Relationship Id="rId17" Type="http://schemas.openxmlformats.org/officeDocument/2006/relationships/image" Target="../media/image-51-17.png"/><Relationship Id="rId19" Type="http://schemas.openxmlformats.org/officeDocument/2006/relationships/image" Target="../media/image-51-18.png"/><Relationship Id="rId21" Type="http://schemas.openxmlformats.org/officeDocument/2006/relationships/image" Target="../media/image-51-19.png"/><Relationship Id="rId23" Type="http://schemas.openxmlformats.org/officeDocument/2006/relationships/image" Target="../media/image-51-20.png"/><Relationship Id="rId25" Type="http://schemas.openxmlformats.org/officeDocument/2006/relationships/image" Target="../media/image-51-21.png"/><Relationship Id="rId27" Type="http://schemas.openxmlformats.org/officeDocument/2006/relationships/slideLayout" Target="../slideLayouts/slideLayout1.xml"/><Relationship Id="rId28"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6" Type="http://schemas.openxmlformats.org/officeDocument/2006/relationships/slide" Target="slide3.xml"/><Relationship Id="rId8" Type="http://schemas.openxmlformats.org/officeDocument/2006/relationships/slide" Target="slide6.xml"/><Relationship Id="rId10" Type="http://schemas.openxmlformats.org/officeDocument/2006/relationships/slide" Target="slide23.xml"/><Relationship Id="rId12" Type="http://schemas.openxmlformats.org/officeDocument/2006/relationships/slide" Target="slide40.xml"/><Relationship Id="rId14" Type="http://schemas.openxmlformats.org/officeDocument/2006/relationships/slide" Target="slide57.xml"/><Relationship Id="rId1" Type="http://schemas.openxmlformats.org/officeDocument/2006/relationships/image" Target="../media/image-52-1.png"/><Relationship Id="rId2" Type="http://schemas.openxmlformats.org/officeDocument/2006/relationships/image" Target="../media/image-52-2.png"/><Relationship Id="rId3" Type="http://schemas.openxmlformats.org/officeDocument/2006/relationships/image" Target="../media/image-52-3.png"/><Relationship Id="rId4" Type="http://schemas.openxmlformats.org/officeDocument/2006/relationships/image" Target="../media/image-52-4.png"/><Relationship Id="rId5" Type="http://schemas.openxmlformats.org/officeDocument/2006/relationships/image" Target="../media/image-52-5.png"/><Relationship Id="rId7" Type="http://schemas.openxmlformats.org/officeDocument/2006/relationships/image" Target="../media/image-52-6.png"/><Relationship Id="rId9" Type="http://schemas.openxmlformats.org/officeDocument/2006/relationships/image" Target="../media/image-52-7.png"/><Relationship Id="rId11" Type="http://schemas.openxmlformats.org/officeDocument/2006/relationships/image" Target="../media/image-52-8.png"/><Relationship Id="rId13" Type="http://schemas.openxmlformats.org/officeDocument/2006/relationships/image" Target="../media/image-52-9.png"/><Relationship Id="rId15" Type="http://schemas.openxmlformats.org/officeDocument/2006/relationships/slideLayout" Target="../slideLayouts/slideLayout1.xml"/><Relationship Id="rId16"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6" Type="http://schemas.openxmlformats.org/officeDocument/2006/relationships/slide" Target="slide3.xml"/><Relationship Id="rId8" Type="http://schemas.openxmlformats.org/officeDocument/2006/relationships/slide" Target="slide6.xml"/><Relationship Id="rId10" Type="http://schemas.openxmlformats.org/officeDocument/2006/relationships/slide" Target="slide23.xml"/><Relationship Id="rId12" Type="http://schemas.openxmlformats.org/officeDocument/2006/relationships/slide" Target="slide40.xml"/><Relationship Id="rId14" Type="http://schemas.openxmlformats.org/officeDocument/2006/relationships/slide" Target="slide57.xml"/><Relationship Id="rId1" Type="http://schemas.openxmlformats.org/officeDocument/2006/relationships/image" Target="../media/image-53-1.png"/><Relationship Id="rId2" Type="http://schemas.openxmlformats.org/officeDocument/2006/relationships/image" Target="../media/image-53-2.png"/><Relationship Id="rId3" Type="http://schemas.openxmlformats.org/officeDocument/2006/relationships/image" Target="../media/image-53-3.png"/><Relationship Id="rId4" Type="http://schemas.openxmlformats.org/officeDocument/2006/relationships/image" Target="../media/image-53-4.png"/><Relationship Id="rId5" Type="http://schemas.openxmlformats.org/officeDocument/2006/relationships/image" Target="../media/image-53-5.png"/><Relationship Id="rId7" Type="http://schemas.openxmlformats.org/officeDocument/2006/relationships/image" Target="../media/image-53-6.png"/><Relationship Id="rId9" Type="http://schemas.openxmlformats.org/officeDocument/2006/relationships/image" Target="../media/image-53-7.png"/><Relationship Id="rId11" Type="http://schemas.openxmlformats.org/officeDocument/2006/relationships/image" Target="../media/image-53-8.png"/><Relationship Id="rId13" Type="http://schemas.openxmlformats.org/officeDocument/2006/relationships/image" Target="../media/image-53-9.png"/><Relationship Id="rId15" Type="http://schemas.openxmlformats.org/officeDocument/2006/relationships/slideLayout" Target="../slideLayouts/slideLayout1.xml"/><Relationship Id="rId16"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0" Type="http://schemas.openxmlformats.org/officeDocument/2006/relationships/slide" Target="slide3.xml"/><Relationship Id="rId12" Type="http://schemas.openxmlformats.org/officeDocument/2006/relationships/slide" Target="slide6.xml"/><Relationship Id="rId14" Type="http://schemas.openxmlformats.org/officeDocument/2006/relationships/slide" Target="slide23.xml"/><Relationship Id="rId16" Type="http://schemas.openxmlformats.org/officeDocument/2006/relationships/slide" Target="slide40.xml"/><Relationship Id="rId18" Type="http://schemas.openxmlformats.org/officeDocument/2006/relationships/slide" Target="slide57.xml"/><Relationship Id="rId1" Type="http://schemas.openxmlformats.org/officeDocument/2006/relationships/image" Target="../media/image-54-1.png"/><Relationship Id="rId2" Type="http://schemas.openxmlformats.org/officeDocument/2006/relationships/image" Target="../media/image-54-2.png"/><Relationship Id="rId3" Type="http://schemas.openxmlformats.org/officeDocument/2006/relationships/image" Target="../media/image-54-3.png"/><Relationship Id="rId4" Type="http://schemas.openxmlformats.org/officeDocument/2006/relationships/image" Target="../media/image-54-4.png"/><Relationship Id="rId5" Type="http://schemas.openxmlformats.org/officeDocument/2006/relationships/image" Target="../media/image-54-5.png"/><Relationship Id="rId6" Type="http://schemas.openxmlformats.org/officeDocument/2006/relationships/image" Target="../media/image-54-6.png"/><Relationship Id="rId7" Type="http://schemas.openxmlformats.org/officeDocument/2006/relationships/image" Target="../media/image-54-7.png"/><Relationship Id="rId8" Type="http://schemas.openxmlformats.org/officeDocument/2006/relationships/image" Target="../media/image-54-8.png"/><Relationship Id="rId9" Type="http://schemas.openxmlformats.org/officeDocument/2006/relationships/image" Target="../media/image-54-9.png"/><Relationship Id="rId11" Type="http://schemas.openxmlformats.org/officeDocument/2006/relationships/image" Target="../media/image-54-10.png"/><Relationship Id="rId13" Type="http://schemas.openxmlformats.org/officeDocument/2006/relationships/image" Target="../media/image-54-11.png"/><Relationship Id="rId15" Type="http://schemas.openxmlformats.org/officeDocument/2006/relationships/image" Target="../media/image-54-12.png"/><Relationship Id="rId17" Type="http://schemas.openxmlformats.org/officeDocument/2006/relationships/image" Target="../media/image-54-13.png"/><Relationship Id="rId19" Type="http://schemas.openxmlformats.org/officeDocument/2006/relationships/slideLayout" Target="../slideLayouts/slideLayout1.xml"/><Relationship Id="rId20"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2" Type="http://schemas.openxmlformats.org/officeDocument/2006/relationships/slide" Target="slide3.xml"/><Relationship Id="rId4" Type="http://schemas.openxmlformats.org/officeDocument/2006/relationships/slide" Target="slide6.xml"/><Relationship Id="rId6" Type="http://schemas.openxmlformats.org/officeDocument/2006/relationships/slide" Target="slide23.xml"/><Relationship Id="rId8" Type="http://schemas.openxmlformats.org/officeDocument/2006/relationships/slide" Target="slide40.xml"/><Relationship Id="rId10" Type="http://schemas.openxmlformats.org/officeDocument/2006/relationships/slide" Target="slide57.xml"/><Relationship Id="rId1" Type="http://schemas.openxmlformats.org/officeDocument/2006/relationships/image" Target="../media/image-55-1.png"/><Relationship Id="rId3" Type="http://schemas.openxmlformats.org/officeDocument/2006/relationships/image" Target="../media/image-55-2.png"/><Relationship Id="rId5" Type="http://schemas.openxmlformats.org/officeDocument/2006/relationships/image" Target="../media/image-55-3.png"/><Relationship Id="rId7" Type="http://schemas.openxmlformats.org/officeDocument/2006/relationships/image" Target="../media/image-55-4.png"/><Relationship Id="rId9" Type="http://schemas.openxmlformats.org/officeDocument/2006/relationships/image" Target="../media/image-55-5.png"/><Relationship Id="rId11" Type="http://schemas.openxmlformats.org/officeDocument/2006/relationships/slideLayout" Target="../slideLayouts/slideLayout1.xml"/><Relationship Id="rId1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2" Type="http://schemas.openxmlformats.org/officeDocument/2006/relationships/slide" Target="slide3.xml"/><Relationship Id="rId4" Type="http://schemas.openxmlformats.org/officeDocument/2006/relationships/slide" Target="slide6.xml"/><Relationship Id="rId6" Type="http://schemas.openxmlformats.org/officeDocument/2006/relationships/slide" Target="slide23.xml"/><Relationship Id="rId8" Type="http://schemas.openxmlformats.org/officeDocument/2006/relationships/slide" Target="slide40.xml"/><Relationship Id="rId10" Type="http://schemas.openxmlformats.org/officeDocument/2006/relationships/slide" Target="slide57.xml"/><Relationship Id="rId1" Type="http://schemas.openxmlformats.org/officeDocument/2006/relationships/image" Target="../media/image-56-1.png"/><Relationship Id="rId3" Type="http://schemas.openxmlformats.org/officeDocument/2006/relationships/image" Target="../media/image-56-2.png"/><Relationship Id="rId5" Type="http://schemas.openxmlformats.org/officeDocument/2006/relationships/image" Target="../media/image-56-3.png"/><Relationship Id="rId7" Type="http://schemas.openxmlformats.org/officeDocument/2006/relationships/image" Target="../media/image-56-4.png"/><Relationship Id="rId9" Type="http://schemas.openxmlformats.org/officeDocument/2006/relationships/image" Target="../media/image-56-5.png"/><Relationship Id="rId11" Type="http://schemas.openxmlformats.org/officeDocument/2006/relationships/slideLayout" Target="../slideLayouts/slideLayout1.xml"/><Relationship Id="rId1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2" Type="http://schemas.openxmlformats.org/officeDocument/2006/relationships/slide" Target="slide3.xml"/><Relationship Id="rId4" Type="http://schemas.openxmlformats.org/officeDocument/2006/relationships/slide" Target="slide6.xml"/><Relationship Id="rId6" Type="http://schemas.openxmlformats.org/officeDocument/2006/relationships/slide" Target="slide23.xml"/><Relationship Id="rId8" Type="http://schemas.openxmlformats.org/officeDocument/2006/relationships/slide" Target="slide40.xml"/><Relationship Id="rId10" Type="http://schemas.openxmlformats.org/officeDocument/2006/relationships/slide" Target="slide57.xml"/><Relationship Id="rId1" Type="http://schemas.openxmlformats.org/officeDocument/2006/relationships/image" Target="../media/image-57-1.png"/><Relationship Id="rId3" Type="http://schemas.openxmlformats.org/officeDocument/2006/relationships/image" Target="../media/image-57-2.png"/><Relationship Id="rId5" Type="http://schemas.openxmlformats.org/officeDocument/2006/relationships/image" Target="../media/image-57-3.png"/><Relationship Id="rId7" Type="http://schemas.openxmlformats.org/officeDocument/2006/relationships/image" Target="../media/image-57-4.png"/><Relationship Id="rId9" Type="http://schemas.openxmlformats.org/officeDocument/2006/relationships/image" Target="../media/image-57-5.png"/><Relationship Id="rId11" Type="http://schemas.openxmlformats.org/officeDocument/2006/relationships/slideLayout" Target="../slideLayouts/slideLayout1.xml"/><Relationship Id="rId1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2" Type="http://schemas.openxmlformats.org/officeDocument/2006/relationships/slide" Target="slide3.xml"/><Relationship Id="rId4" Type="http://schemas.openxmlformats.org/officeDocument/2006/relationships/slide" Target="slide6.xml"/><Relationship Id="rId6" Type="http://schemas.openxmlformats.org/officeDocument/2006/relationships/slide" Target="slide23.xml"/><Relationship Id="rId8" Type="http://schemas.openxmlformats.org/officeDocument/2006/relationships/slide" Target="slide40.xml"/><Relationship Id="rId10" Type="http://schemas.openxmlformats.org/officeDocument/2006/relationships/slide" Target="slide57.xml"/><Relationship Id="rId1" Type="http://schemas.openxmlformats.org/officeDocument/2006/relationships/image" Target="../media/image-58-1.png"/><Relationship Id="rId3" Type="http://schemas.openxmlformats.org/officeDocument/2006/relationships/image" Target="../media/image-58-2.png"/><Relationship Id="rId5" Type="http://schemas.openxmlformats.org/officeDocument/2006/relationships/image" Target="../media/image-58-3.png"/><Relationship Id="rId7" Type="http://schemas.openxmlformats.org/officeDocument/2006/relationships/image" Target="../media/image-58-4.png"/><Relationship Id="rId9" Type="http://schemas.openxmlformats.org/officeDocument/2006/relationships/image" Target="../media/image-58-5.png"/><Relationship Id="rId11" Type="http://schemas.openxmlformats.org/officeDocument/2006/relationships/slideLayout" Target="../slideLayouts/slideLayout1.xml"/><Relationship Id="rId12" Type="http://schemas.openxmlformats.org/officeDocument/2006/relationships/notesSlide" Target="../notesSlides/notesSlide5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EF2F1"/>
        </a:solidFill>
      </p:bgPr>
    </p:bg>
    <p:spTree>
      <p:nvGrpSpPr>
        <p:cNvPr id="1" name=""/>
        <p:cNvGrpSpPr/>
        <p:nvPr/>
      </p:nvGrpSpPr>
      <p:grpSpPr>
        <a:xfrm>
          <a:off x="0" y="0"/>
          <a:ext cx="0" cy="0"/>
          <a:chOff x="0" y="0"/>
          <a:chExt cx="0" cy="0"/>
        </a:xfrm>
      </p:grpSpPr>
      <p:sp>
        <p:nvSpPr>
          <p:cNvPr id="2" name="Shape 0"/>
          <p:cNvSpPr/>
          <p:nvPr/>
        </p:nvSpPr>
        <p:spPr>
          <a:xfrm>
            <a:off x="548640" y="731520"/>
            <a:ext cx="6949440" cy="5394960"/>
          </a:xfrm>
          <a:prstGeom prst="roundRect">
            <a:avLst>
              <a:gd name="adj" fmla="val 2373"/>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3" name="Text 1"/>
          <p:cNvSpPr txBox="1"/>
          <p:nvPr/>
        </p:nvSpPr>
        <p:spPr>
          <a:xfrm>
            <a:off x="1005840" y="1188720"/>
            <a:ext cx="6035040" cy="365760"/>
          </a:xfrm>
          <a:prstGeom prst="rect">
            <a:avLst/>
          </a:prstGeom>
          <a:noFill/>
          <a:ln/>
        </p:spPr>
        <p:txBody>
          <a:bodyPr wrap="square" lIns="0" tIns="0" rIns="0" bIns="0" rtlCol="0" anchor="t"/>
          <a:lstStyle/>
          <a:p>
            <a:pPr indent="0" marL="0">
              <a:buNone/>
            </a:pPr>
            <a:r>
              <a:rPr lang="en-US" sz="1600" dirty="0">
                <a:solidFill>
                  <a:srgbClr val="465A69"/>
                </a:solidFill>
                <a:latin typeface="Calibri" pitchFamily="34" charset="0"/>
                <a:ea typeface="Calibri" pitchFamily="34" charset="-122"/>
                <a:cs typeface="Calibri" pitchFamily="34" charset="-120"/>
              </a:rPr>
              <a:t>BitSense</a:t>
            </a:r>
            <a:endParaRPr lang="en-US" sz="1600" dirty="0"/>
          </a:p>
        </p:txBody>
      </p:sp>
      <p:sp>
        <p:nvSpPr>
          <p:cNvPr id="4" name="Text 2"/>
          <p:cNvSpPr txBox="1"/>
          <p:nvPr/>
        </p:nvSpPr>
        <p:spPr>
          <a:xfrm>
            <a:off x="1005840" y="1645920"/>
            <a:ext cx="6035040" cy="2286000"/>
          </a:xfrm>
          <a:prstGeom prst="rect">
            <a:avLst/>
          </a:prstGeom>
          <a:noFill/>
          <a:ln/>
        </p:spPr>
        <p:txBody>
          <a:bodyPr wrap="square" lIns="0" tIns="0" rIns="0" bIns="0" rtlCol="0" anchor="t"/>
          <a:lstStyle/>
          <a:p>
            <a:pPr indent="0" marL="0">
              <a:buNone/>
            </a:pPr>
            <a:r>
              <a:rPr lang="en-US" sz="3400" b="1" dirty="0">
                <a:solidFill>
                  <a:srgbClr val="23405A"/>
                </a:solidFill>
                <a:latin typeface="Calibri" pitchFamily="34" charset="0"/>
                <a:ea typeface="Calibri" pitchFamily="34" charset="-122"/>
                <a:cs typeface="Calibri" pitchFamily="34" charset="-120"/>
              </a:rPr>
              <a:t>2026 Cybersecurity Incident Response, Disaster Recovery, and Business Continuity Exercise</a:t>
            </a:r>
            <a:endParaRPr lang="en-US" sz="3400" dirty="0"/>
          </a:p>
        </p:txBody>
      </p:sp>
      <p:sp>
        <p:nvSpPr>
          <p:cNvPr id="5" name="Text 3"/>
          <p:cNvSpPr txBox="1"/>
          <p:nvPr/>
        </p:nvSpPr>
        <p:spPr>
          <a:xfrm>
            <a:off x="1005840" y="4069080"/>
            <a:ext cx="6035040" cy="731520"/>
          </a:xfrm>
          <a:prstGeom prst="rect">
            <a:avLst/>
          </a:prstGeom>
          <a:noFill/>
          <a:ln/>
        </p:spPr>
        <p:txBody>
          <a:bodyPr wrap="square" lIns="0" tIns="0" rIns="0" bIns="0" rtlCol="0" anchor="t"/>
          <a:lstStyle/>
          <a:p>
            <a:pPr indent="0" marL="0">
              <a:buNone/>
            </a:pPr>
            <a:r>
              <a:rPr lang="en-US" sz="1700" i="1" dirty="0">
                <a:solidFill>
                  <a:srgbClr val="465A69"/>
                </a:solidFill>
                <a:latin typeface="Calibri" pitchFamily="34" charset="0"/>
                <a:ea typeface="Calibri" pitchFamily="34" charset="-122"/>
                <a:cs typeface="Calibri" pitchFamily="34" charset="-120"/>
              </a:rPr>
              <a:t>A progressive three-scenario exercise built for a cloud-first biotech</a:t>
            </a:r>
            <a:endParaRPr lang="en-US" sz="1700" dirty="0"/>
          </a:p>
        </p:txBody>
      </p:sp>
      <p:sp>
        <p:nvSpPr>
          <p:cNvPr id="6" name="Shape 4"/>
          <p:cNvSpPr/>
          <p:nvPr/>
        </p:nvSpPr>
        <p:spPr>
          <a:xfrm>
            <a:off x="1005840" y="5166360"/>
            <a:ext cx="3291840" cy="365760"/>
          </a:xfrm>
          <a:prstGeom prst="roundRect">
            <a:avLst>
              <a:gd name="adj" fmla="val 50000"/>
            </a:avLst>
          </a:prstGeom>
          <a:solidFill>
            <a:srgbClr val="FBEFE0"/>
          </a:solidFill>
          <a:ln w="12700">
            <a:solidFill>
              <a:srgbClr val="FBEFE0"/>
            </a:solidFill>
            <a:prstDash val="solid"/>
          </a:ln>
        </p:spPr>
      </p:sp>
      <p:sp>
        <p:nvSpPr>
          <p:cNvPr id="7" name="Text 5"/>
          <p:cNvSpPr txBox="1"/>
          <p:nvPr/>
        </p:nvSpPr>
        <p:spPr>
          <a:xfrm>
            <a:off x="1005840" y="5166360"/>
            <a:ext cx="3291840" cy="365760"/>
          </a:xfrm>
          <a:prstGeom prst="rect">
            <a:avLst/>
          </a:prstGeom>
          <a:noFill/>
          <a:ln/>
        </p:spPr>
        <p:txBody>
          <a:bodyPr wrap="square" lIns="0" tIns="0" rIns="0" bIns="0" rtlCol="0" anchor="ctr"/>
          <a:lstStyle/>
          <a:p>
            <a:pPr algn="ctr" indent="0" marL="0">
              <a:buNone/>
            </a:pPr>
            <a:r>
              <a:rPr lang="en-US" sz="1200" b="1" dirty="0">
                <a:solidFill>
                  <a:srgbClr val="B45309"/>
                </a:solidFill>
                <a:latin typeface="Calibri" pitchFamily="34" charset="0"/>
                <a:ea typeface="Calibri" pitchFamily="34" charset="-122"/>
                <a:cs typeface="Calibri" pitchFamily="34" charset="-120"/>
              </a:rPr>
              <a:t>Confidential, for exercise use only</a:t>
            </a:r>
            <a:endParaRPr lang="en-US" sz="1200" dirty="0"/>
          </a:p>
        </p:txBody>
      </p:sp>
      <p:sp>
        <p:nvSpPr>
          <p:cNvPr id="8" name="Shape 6"/>
          <p:cNvSpPr/>
          <p:nvPr/>
        </p:nvSpPr>
        <p:spPr>
          <a:xfrm>
            <a:off x="7863840" y="731520"/>
            <a:ext cx="3776472" cy="1600200"/>
          </a:xfrm>
          <a:prstGeom prst="roundRect">
            <a:avLst>
              <a:gd name="adj" fmla="val 8000"/>
            </a:avLst>
          </a:prstGeom>
          <a:solidFill>
            <a:srgbClr val="E6EEF6"/>
          </a:solidFill>
          <a:ln w="12700">
            <a:solidFill>
              <a:srgbClr val="E6EEF6"/>
            </a:solidFill>
            <a:prstDash val="solid"/>
          </a:ln>
          <a:effectLst>
            <a:outerShdw sx="100000" sy="100000" kx="0" ky="0" algn="bl" rotWithShape="0" blurRad="177800" dist="50800" dir="5400000">
              <a:srgbClr val="1B4965">
                <a:alpha val="16000"/>
              </a:srgbClr>
            </a:outerShdw>
          </a:effectLst>
        </p:spPr>
      </p:sp>
      <p:sp>
        <p:nvSpPr>
          <p:cNvPr id="9" name="Shape 7"/>
          <p:cNvSpPr/>
          <p:nvPr/>
        </p:nvSpPr>
        <p:spPr>
          <a:xfrm>
            <a:off x="8138160" y="1143000"/>
            <a:ext cx="777240" cy="777240"/>
          </a:xfrm>
          <a:prstGeom prst="roundRect">
            <a:avLst>
              <a:gd name="adj" fmla="val 49412"/>
            </a:avLst>
          </a:prstGeom>
          <a:solidFill>
            <a:srgbClr val="FFFFFF"/>
          </a:solidFill>
          <a:ln w="12700">
            <a:solidFill>
              <a:srgbClr val="FFFFFF"/>
            </a:solidFill>
            <a:prstDash val="solid"/>
          </a:ln>
        </p:spPr>
      </p:sp>
      <p:pic>
        <p:nvPicPr>
          <p:cNvPr id="10" name="Image 0" descr="preencoded.png">    </p:cNvPr>
          <p:cNvPicPr>
            <a:picLocks noChangeAspect="1"/>
          </p:cNvPicPr>
          <p:nvPr/>
        </p:nvPicPr>
        <p:blipFill>
          <a:blip r:embed="rId1"/>
          <a:stretch>
            <a:fillRect/>
          </a:stretch>
        </p:blipFill>
        <p:spPr>
          <a:xfrm>
            <a:off x="8302752" y="1307592"/>
            <a:ext cx="448056" cy="448056"/>
          </a:xfrm>
          <a:prstGeom prst="rect">
            <a:avLst/>
          </a:prstGeom>
        </p:spPr>
      </p:pic>
      <p:sp>
        <p:nvSpPr>
          <p:cNvPr id="11" name="Text 8"/>
          <p:cNvSpPr txBox="1"/>
          <p:nvPr/>
        </p:nvSpPr>
        <p:spPr>
          <a:xfrm>
            <a:off x="9144000" y="1143000"/>
            <a:ext cx="2377440" cy="320040"/>
          </a:xfrm>
          <a:prstGeom prst="rect">
            <a:avLst/>
          </a:prstGeom>
          <a:noFill/>
          <a:ln/>
        </p:spPr>
        <p:txBody>
          <a:bodyPr wrap="square" lIns="0" tIns="0" rIns="0" bIns="0" rtlCol="0" anchor="t"/>
          <a:lstStyle/>
          <a:p>
            <a:pPr indent="0" marL="0">
              <a:buNone/>
            </a:pPr>
            <a:r>
              <a:rPr lang="en-US" sz="1200" b="1" dirty="0">
                <a:solidFill>
                  <a:srgbClr val="3F6E8C"/>
                </a:solidFill>
                <a:latin typeface="Calibri" pitchFamily="34" charset="0"/>
                <a:ea typeface="Calibri" pitchFamily="34" charset="-122"/>
                <a:cs typeface="Calibri" pitchFamily="34" charset="-120"/>
              </a:rPr>
              <a:t>Scenario 1</a:t>
            </a:r>
            <a:endParaRPr lang="en-US" sz="1200" dirty="0"/>
          </a:p>
        </p:txBody>
      </p:sp>
      <p:sp>
        <p:nvSpPr>
          <p:cNvPr id="12" name="Text 9"/>
          <p:cNvSpPr txBox="1"/>
          <p:nvPr/>
        </p:nvSpPr>
        <p:spPr>
          <a:xfrm>
            <a:off x="9144000" y="1463040"/>
            <a:ext cx="2377440" cy="411480"/>
          </a:xfrm>
          <a:prstGeom prst="rect">
            <a:avLst/>
          </a:prstGeom>
          <a:noFill/>
          <a:ln/>
        </p:spPr>
        <p:txBody>
          <a:bodyPr wrap="square" lIns="0" tIns="0" rIns="0" bIns="0" rtlCol="0" anchor="t"/>
          <a:lstStyle/>
          <a:p>
            <a:pPr indent="0" marL="0">
              <a:buNone/>
            </a:pPr>
            <a:r>
              <a:rPr lang="en-US" sz="1900" b="1" dirty="0">
                <a:solidFill>
                  <a:srgbClr val="1E2E3A"/>
                </a:solidFill>
                <a:latin typeface="Calibri" pitchFamily="34" charset="0"/>
                <a:ea typeface="Calibri" pitchFamily="34" charset="-122"/>
                <a:cs typeface="Calibri" pitchFamily="34" charset="-120"/>
              </a:rPr>
              <a:t>Incident Response</a:t>
            </a:r>
            <a:endParaRPr lang="en-US" sz="1900" dirty="0"/>
          </a:p>
        </p:txBody>
      </p:sp>
      <p:sp>
        <p:nvSpPr>
          <p:cNvPr id="13" name="Shape 10"/>
          <p:cNvSpPr/>
          <p:nvPr/>
        </p:nvSpPr>
        <p:spPr>
          <a:xfrm>
            <a:off x="7863840" y="2587752"/>
            <a:ext cx="3776472" cy="1600200"/>
          </a:xfrm>
          <a:prstGeom prst="roundRect">
            <a:avLst>
              <a:gd name="adj" fmla="val 8000"/>
            </a:avLst>
          </a:prstGeom>
          <a:solidFill>
            <a:srgbClr val="E6F2E9"/>
          </a:solidFill>
          <a:ln w="12700">
            <a:solidFill>
              <a:srgbClr val="E6F2E9"/>
            </a:solidFill>
            <a:prstDash val="solid"/>
          </a:ln>
          <a:effectLst>
            <a:outerShdw sx="100000" sy="100000" kx="0" ky="0" algn="bl" rotWithShape="0" blurRad="177800" dist="50800" dir="5400000">
              <a:srgbClr val="1B4965">
                <a:alpha val="16000"/>
              </a:srgbClr>
            </a:outerShdw>
          </a:effectLst>
        </p:spPr>
      </p:sp>
      <p:sp>
        <p:nvSpPr>
          <p:cNvPr id="14" name="Shape 11"/>
          <p:cNvSpPr/>
          <p:nvPr/>
        </p:nvSpPr>
        <p:spPr>
          <a:xfrm>
            <a:off x="8138160" y="2999232"/>
            <a:ext cx="777240" cy="777240"/>
          </a:xfrm>
          <a:prstGeom prst="roundRect">
            <a:avLst>
              <a:gd name="adj" fmla="val 49412"/>
            </a:avLst>
          </a:prstGeom>
          <a:solidFill>
            <a:srgbClr val="FFFFFF"/>
          </a:solidFill>
          <a:ln w="12700">
            <a:solidFill>
              <a:srgbClr val="FFFFFF"/>
            </a:solidFill>
            <a:prstDash val="solid"/>
          </a:ln>
        </p:spPr>
      </p:sp>
      <p:pic>
        <p:nvPicPr>
          <p:cNvPr id="15" name="Image 1" descr="preencoded.png">    </p:cNvPr>
          <p:cNvPicPr>
            <a:picLocks noChangeAspect="1"/>
          </p:cNvPicPr>
          <p:nvPr/>
        </p:nvPicPr>
        <p:blipFill>
          <a:blip r:embed="rId2"/>
          <a:stretch>
            <a:fillRect/>
          </a:stretch>
        </p:blipFill>
        <p:spPr>
          <a:xfrm>
            <a:off x="8302752" y="3163824"/>
            <a:ext cx="448056" cy="448056"/>
          </a:xfrm>
          <a:prstGeom prst="rect">
            <a:avLst/>
          </a:prstGeom>
        </p:spPr>
      </p:pic>
      <p:sp>
        <p:nvSpPr>
          <p:cNvPr id="16" name="Text 12"/>
          <p:cNvSpPr txBox="1"/>
          <p:nvPr/>
        </p:nvSpPr>
        <p:spPr>
          <a:xfrm>
            <a:off x="9144000" y="2999232"/>
            <a:ext cx="2377440" cy="320040"/>
          </a:xfrm>
          <a:prstGeom prst="rect">
            <a:avLst/>
          </a:prstGeom>
          <a:noFill/>
          <a:ln/>
        </p:spPr>
        <p:txBody>
          <a:bodyPr wrap="square" lIns="0" tIns="0" rIns="0" bIns="0" rtlCol="0" anchor="t"/>
          <a:lstStyle/>
          <a:p>
            <a:pPr indent="0" marL="0">
              <a:buNone/>
            </a:pPr>
            <a:r>
              <a:rPr lang="en-US" sz="1200" b="1" dirty="0">
                <a:solidFill>
                  <a:srgbClr val="4C8068"/>
                </a:solidFill>
                <a:latin typeface="Calibri" pitchFamily="34" charset="0"/>
                <a:ea typeface="Calibri" pitchFamily="34" charset="-122"/>
                <a:cs typeface="Calibri" pitchFamily="34" charset="-120"/>
              </a:rPr>
              <a:t>Scenario 2</a:t>
            </a:r>
            <a:endParaRPr lang="en-US" sz="1200" dirty="0"/>
          </a:p>
        </p:txBody>
      </p:sp>
      <p:sp>
        <p:nvSpPr>
          <p:cNvPr id="17" name="Text 13"/>
          <p:cNvSpPr txBox="1"/>
          <p:nvPr/>
        </p:nvSpPr>
        <p:spPr>
          <a:xfrm>
            <a:off x="9144000" y="3319272"/>
            <a:ext cx="2377440" cy="411480"/>
          </a:xfrm>
          <a:prstGeom prst="rect">
            <a:avLst/>
          </a:prstGeom>
          <a:noFill/>
          <a:ln/>
        </p:spPr>
        <p:txBody>
          <a:bodyPr wrap="square" lIns="0" tIns="0" rIns="0" bIns="0" rtlCol="0" anchor="t"/>
          <a:lstStyle/>
          <a:p>
            <a:pPr indent="0" marL="0">
              <a:buNone/>
            </a:pPr>
            <a:r>
              <a:rPr lang="en-US" sz="1900" b="1" dirty="0">
                <a:solidFill>
                  <a:srgbClr val="1E2E3A"/>
                </a:solidFill>
                <a:latin typeface="Calibri" pitchFamily="34" charset="0"/>
                <a:ea typeface="Calibri" pitchFamily="34" charset="-122"/>
                <a:cs typeface="Calibri" pitchFamily="34" charset="-120"/>
              </a:rPr>
              <a:t>Disaster Recovery</a:t>
            </a:r>
            <a:endParaRPr lang="en-US" sz="1900" dirty="0"/>
          </a:p>
        </p:txBody>
      </p:sp>
      <p:sp>
        <p:nvSpPr>
          <p:cNvPr id="18" name="Shape 14"/>
          <p:cNvSpPr/>
          <p:nvPr/>
        </p:nvSpPr>
        <p:spPr>
          <a:xfrm>
            <a:off x="7863840" y="4443984"/>
            <a:ext cx="3776472" cy="1600200"/>
          </a:xfrm>
          <a:prstGeom prst="roundRect">
            <a:avLst>
              <a:gd name="adj" fmla="val 8000"/>
            </a:avLst>
          </a:prstGeom>
          <a:solidFill>
            <a:srgbClr val="EEEAF5"/>
          </a:solidFill>
          <a:ln w="12700">
            <a:solidFill>
              <a:srgbClr val="EEEAF5"/>
            </a:solidFill>
            <a:prstDash val="solid"/>
          </a:ln>
          <a:effectLst>
            <a:outerShdw sx="100000" sy="100000" kx="0" ky="0" algn="bl" rotWithShape="0" blurRad="177800" dist="50800" dir="5400000">
              <a:srgbClr val="1B4965">
                <a:alpha val="16000"/>
              </a:srgbClr>
            </a:outerShdw>
          </a:effectLst>
        </p:spPr>
      </p:sp>
      <p:sp>
        <p:nvSpPr>
          <p:cNvPr id="19" name="Shape 15"/>
          <p:cNvSpPr/>
          <p:nvPr/>
        </p:nvSpPr>
        <p:spPr>
          <a:xfrm>
            <a:off x="8138160" y="4855464"/>
            <a:ext cx="777240" cy="777240"/>
          </a:xfrm>
          <a:prstGeom prst="roundRect">
            <a:avLst>
              <a:gd name="adj" fmla="val 49412"/>
            </a:avLst>
          </a:prstGeom>
          <a:solidFill>
            <a:srgbClr val="FFFFFF"/>
          </a:solidFill>
          <a:ln w="12700">
            <a:solidFill>
              <a:srgbClr val="FFFFFF"/>
            </a:solidFill>
            <a:prstDash val="solid"/>
          </a:ln>
        </p:spPr>
      </p:sp>
      <p:pic>
        <p:nvPicPr>
          <p:cNvPr id="20" name="Image 2" descr="preencoded.png">    </p:cNvPr>
          <p:cNvPicPr>
            <a:picLocks noChangeAspect="1"/>
          </p:cNvPicPr>
          <p:nvPr/>
        </p:nvPicPr>
        <p:blipFill>
          <a:blip r:embed="rId3"/>
          <a:stretch>
            <a:fillRect/>
          </a:stretch>
        </p:blipFill>
        <p:spPr>
          <a:xfrm>
            <a:off x="8302752" y="5020056"/>
            <a:ext cx="448056" cy="448056"/>
          </a:xfrm>
          <a:prstGeom prst="rect">
            <a:avLst/>
          </a:prstGeom>
        </p:spPr>
      </p:pic>
      <p:sp>
        <p:nvSpPr>
          <p:cNvPr id="21" name="Text 16"/>
          <p:cNvSpPr txBox="1"/>
          <p:nvPr/>
        </p:nvSpPr>
        <p:spPr>
          <a:xfrm>
            <a:off x="9144000" y="4855464"/>
            <a:ext cx="2377440" cy="320040"/>
          </a:xfrm>
          <a:prstGeom prst="rect">
            <a:avLst/>
          </a:prstGeom>
          <a:noFill/>
          <a:ln/>
        </p:spPr>
        <p:txBody>
          <a:bodyPr wrap="square" lIns="0" tIns="0" rIns="0" bIns="0" rtlCol="0" anchor="t"/>
          <a:lstStyle/>
          <a:p>
            <a:pPr indent="0" marL="0">
              <a:buNone/>
            </a:pPr>
            <a:r>
              <a:rPr lang="en-US" sz="1200" b="1" dirty="0">
                <a:solidFill>
                  <a:srgbClr val="6E5E94"/>
                </a:solidFill>
                <a:latin typeface="Calibri" pitchFamily="34" charset="0"/>
                <a:ea typeface="Calibri" pitchFamily="34" charset="-122"/>
                <a:cs typeface="Calibri" pitchFamily="34" charset="-120"/>
              </a:rPr>
              <a:t>Scenario 3</a:t>
            </a:r>
            <a:endParaRPr lang="en-US" sz="1200" dirty="0"/>
          </a:p>
        </p:txBody>
      </p:sp>
      <p:sp>
        <p:nvSpPr>
          <p:cNvPr id="22" name="Text 17"/>
          <p:cNvSpPr txBox="1"/>
          <p:nvPr/>
        </p:nvSpPr>
        <p:spPr>
          <a:xfrm>
            <a:off x="9144000" y="5175504"/>
            <a:ext cx="2377440" cy="411480"/>
          </a:xfrm>
          <a:prstGeom prst="rect">
            <a:avLst/>
          </a:prstGeom>
          <a:noFill/>
          <a:ln/>
        </p:spPr>
        <p:txBody>
          <a:bodyPr wrap="square" lIns="0" tIns="0" rIns="0" bIns="0" rtlCol="0" anchor="t"/>
          <a:lstStyle/>
          <a:p>
            <a:pPr indent="0" marL="0">
              <a:buNone/>
            </a:pPr>
            <a:r>
              <a:rPr lang="en-US" sz="1900" b="1" dirty="0">
                <a:solidFill>
                  <a:srgbClr val="1E2E3A"/>
                </a:solidFill>
                <a:latin typeface="Calibri" pitchFamily="34" charset="0"/>
                <a:ea typeface="Calibri" pitchFamily="34" charset="-122"/>
                <a:cs typeface="Calibri" pitchFamily="34" charset="-120"/>
              </a:rPr>
              <a:t>Business Continuity</a:t>
            </a:r>
            <a:endParaRPr lang="en-US" sz="1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EF2F1"/>
        </a:solidFill>
      </p:bgPr>
    </p:bg>
    <p:spTree>
      <p:nvGrpSpPr>
        <p:cNvPr id="1" name=""/>
        <p:cNvGrpSpPr/>
        <p:nvPr/>
      </p:nvGrpSpPr>
      <p:grpSpPr>
        <a:xfrm>
          <a:off x="0" y="0"/>
          <a:ext cx="0" cy="0"/>
          <a:chOff x="0" y="0"/>
          <a:chExt cx="0" cy="0"/>
        </a:xfrm>
      </p:grpSpPr>
      <p:sp>
        <p:nvSpPr>
          <p:cNvPr id="2" name="Shape 0"/>
          <p:cNvSpPr/>
          <p:nvPr/>
        </p:nvSpPr>
        <p:spPr>
          <a:xfrm>
            <a:off x="548640" y="347472"/>
            <a:ext cx="1280160" cy="329184"/>
          </a:xfrm>
          <a:prstGeom prst="roundRect">
            <a:avLst>
              <a:gd name="adj" fmla="val 50000"/>
            </a:avLst>
          </a:prstGeom>
          <a:solidFill>
            <a:srgbClr val="E4ECF2"/>
          </a:solidFill>
          <a:ln w="12700">
            <a:solidFill>
              <a:srgbClr val="E4ECF2"/>
            </a:solidFill>
            <a:prstDash val="solid"/>
          </a:ln>
        </p:spPr>
      </p:sp>
      <p:sp>
        <p:nvSpPr>
          <p:cNvPr id="3" name="Text 1"/>
          <p:cNvSpPr txBox="1"/>
          <p:nvPr/>
        </p:nvSpPr>
        <p:spPr>
          <a:xfrm>
            <a:off x="548640" y="347472"/>
            <a:ext cx="1280160" cy="329184"/>
          </a:xfrm>
          <a:prstGeom prst="rect">
            <a:avLst/>
          </a:prstGeom>
          <a:noFill/>
          <a:ln/>
        </p:spPr>
        <p:txBody>
          <a:bodyPr wrap="square" lIns="0" tIns="0" rIns="0" bIns="0" rtlCol="0" anchor="ctr"/>
          <a:lstStyle/>
          <a:p>
            <a:pPr algn="ctr" indent="0" marL="0">
              <a:buNone/>
            </a:pPr>
            <a:r>
              <a:rPr lang="en-US" sz="1200" b="1" dirty="0">
                <a:solidFill>
                  <a:srgbClr val="23405A"/>
                </a:solidFill>
                <a:latin typeface="Calibri" pitchFamily="34" charset="0"/>
                <a:ea typeface="Calibri" pitchFamily="34" charset="-122"/>
                <a:cs typeface="Calibri" pitchFamily="34" charset="-120"/>
              </a:rPr>
              <a:t>Start here</a:t>
            </a:r>
            <a:endParaRPr lang="en-US" sz="1200" dirty="0"/>
          </a:p>
        </p:txBody>
      </p:sp>
      <p:sp>
        <p:nvSpPr>
          <p:cNvPr id="4" name="Text 2"/>
          <p:cNvSpPr txBox="1"/>
          <p:nvPr/>
        </p:nvSpPr>
        <p:spPr>
          <a:xfrm>
            <a:off x="548640" y="749808"/>
            <a:ext cx="11064240" cy="640080"/>
          </a:xfrm>
          <a:prstGeom prst="rect">
            <a:avLst/>
          </a:prstGeom>
          <a:noFill/>
          <a:ln/>
        </p:spPr>
        <p:txBody>
          <a:bodyPr wrap="square" lIns="0" tIns="0" rIns="0" bIns="0" rtlCol="0" anchor="ctr"/>
          <a:lstStyle/>
          <a:p>
            <a:pPr indent="0" marL="0">
              <a:buNone/>
            </a:pPr>
            <a:r>
              <a:rPr lang="en-US" sz="2800" b="1" dirty="0">
                <a:solidFill>
                  <a:srgbClr val="23405A"/>
                </a:solidFill>
                <a:latin typeface="Calibri" pitchFamily="34" charset="0"/>
                <a:ea typeface="Calibri" pitchFamily="34" charset="-122"/>
                <a:cs typeface="Calibri" pitchFamily="34" charset="-120"/>
              </a:rPr>
              <a:t>Roles in the room</a:t>
            </a:r>
            <a:endParaRPr lang="en-US" sz="2800" dirty="0"/>
          </a:p>
        </p:txBody>
      </p:sp>
      <p:sp>
        <p:nvSpPr>
          <p:cNvPr id="5" name="Shape 3"/>
          <p:cNvSpPr/>
          <p:nvPr/>
        </p:nvSpPr>
        <p:spPr>
          <a:xfrm>
            <a:off x="548640" y="1600200"/>
            <a:ext cx="4206240" cy="4572000"/>
          </a:xfrm>
          <a:prstGeom prst="roundRect">
            <a:avLst>
              <a:gd name="adj" fmla="val 3043"/>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6" name="Text 4"/>
          <p:cNvSpPr txBox="1"/>
          <p:nvPr/>
        </p:nvSpPr>
        <p:spPr>
          <a:xfrm>
            <a:off x="822960" y="1783080"/>
            <a:ext cx="3657600" cy="365760"/>
          </a:xfrm>
          <a:prstGeom prst="rect">
            <a:avLst/>
          </a:prstGeom>
          <a:noFill/>
          <a:ln/>
        </p:spPr>
        <p:txBody>
          <a:bodyPr wrap="square" lIns="0" tIns="0" rIns="0" bIns="0" rtlCol="0" anchor="t"/>
          <a:lstStyle/>
          <a:p>
            <a:pPr indent="0" marL="0">
              <a:buNone/>
            </a:pPr>
            <a:r>
              <a:rPr lang="en-US" sz="1600" b="1" dirty="0">
                <a:solidFill>
                  <a:srgbClr val="23405A"/>
                </a:solidFill>
                <a:latin typeface="Calibri" pitchFamily="34" charset="0"/>
                <a:ea typeface="Calibri" pitchFamily="34" charset="-122"/>
                <a:cs typeface="Calibri" pitchFamily="34" charset="-120"/>
              </a:rPr>
              <a:t>Exercise roles</a:t>
            </a:r>
            <a:endParaRPr lang="en-US" sz="1600" dirty="0"/>
          </a:p>
        </p:txBody>
      </p:sp>
      <p:sp>
        <p:nvSpPr>
          <p:cNvPr id="7" name="Shape 5"/>
          <p:cNvSpPr/>
          <p:nvPr/>
        </p:nvSpPr>
        <p:spPr>
          <a:xfrm>
            <a:off x="822960" y="2286000"/>
            <a:ext cx="384048" cy="384048"/>
          </a:xfrm>
          <a:prstGeom prst="ellipse">
            <a:avLst/>
          </a:prstGeom>
          <a:solidFill>
            <a:srgbClr val="E4ECF2"/>
          </a:solidFill>
          <a:ln w="12700">
            <a:solidFill>
              <a:srgbClr val="E4ECF2"/>
            </a:solidFill>
            <a:prstDash val="solid"/>
          </a:ln>
        </p:spPr>
      </p:sp>
      <p:sp>
        <p:nvSpPr>
          <p:cNvPr id="8" name="Text 6"/>
          <p:cNvSpPr txBox="1"/>
          <p:nvPr/>
        </p:nvSpPr>
        <p:spPr>
          <a:xfrm>
            <a:off x="822960" y="2286000"/>
            <a:ext cx="384048" cy="384048"/>
          </a:xfrm>
          <a:prstGeom prst="rect">
            <a:avLst/>
          </a:prstGeom>
          <a:noFill/>
          <a:ln/>
        </p:spPr>
        <p:txBody>
          <a:bodyPr wrap="square" lIns="0" tIns="0" rIns="0" bIns="0" rtlCol="0" anchor="ctr"/>
          <a:lstStyle/>
          <a:p>
            <a:pPr algn="ctr" indent="0" marL="0">
              <a:buNone/>
            </a:pPr>
            <a:r>
              <a:rPr lang="en-US" sz="1200" b="1" dirty="0">
                <a:solidFill>
                  <a:srgbClr val="23405A"/>
                </a:solidFill>
                <a:latin typeface="Calibri" pitchFamily="34" charset="0"/>
                <a:ea typeface="Calibri" pitchFamily="34" charset="-122"/>
                <a:cs typeface="Calibri" pitchFamily="34" charset="-120"/>
              </a:rPr>
              <a:t>1</a:t>
            </a:r>
            <a:endParaRPr lang="en-US" sz="1200" dirty="0"/>
          </a:p>
        </p:txBody>
      </p:sp>
      <p:sp>
        <p:nvSpPr>
          <p:cNvPr id="9" name="Text 7"/>
          <p:cNvSpPr txBox="1"/>
          <p:nvPr/>
        </p:nvSpPr>
        <p:spPr>
          <a:xfrm>
            <a:off x="1325880" y="2240280"/>
            <a:ext cx="3246120" cy="896112"/>
          </a:xfrm>
          <a:prstGeom prst="rect">
            <a:avLst/>
          </a:prstGeom>
          <a:noFill/>
          <a:ln/>
        </p:spPr>
        <p:txBody>
          <a:bodyPr wrap="square" lIns="0" tIns="0" rIns="0" bIns="0" rtlCol="0" anchor="t"/>
          <a:lstStyle/>
          <a:p>
            <a:pPr indent="0" marL="0">
              <a:buNone/>
            </a:pPr>
            <a:r>
              <a:rPr lang="en-US" sz="1500" b="1" dirty="0">
                <a:solidFill>
                  <a:srgbClr val="1E2E3A"/>
                </a:solidFill>
                <a:latin typeface="Calibri" pitchFamily="34" charset="0"/>
                <a:ea typeface="Calibri" pitchFamily="34" charset="-122"/>
                <a:cs typeface="Calibri" pitchFamily="34" charset="-120"/>
              </a:rPr>
              <a:t>Players</a:t>
            </a:r>
            <a:endParaRPr lang="en-US" sz="1500" dirty="0"/>
          </a:p>
          <a:p>
            <a:pPr indent="0" marL="0">
              <a:buNone/>
            </a:pPr>
            <a:r>
              <a:rPr lang="en-US" sz="1300" dirty="0">
                <a:solidFill>
                  <a:srgbClr val="465A69"/>
                </a:solidFill>
                <a:latin typeface="Calibri" pitchFamily="34" charset="0"/>
                <a:ea typeface="Calibri" pitchFamily="34" charset="-122"/>
                <a:cs typeface="Calibri" pitchFamily="34" charset="-120"/>
              </a:rPr>
              <a:t>Respond as you would in a real event, with your real authority.</a:t>
            </a:r>
            <a:endParaRPr lang="en-US" sz="1500" dirty="0"/>
          </a:p>
        </p:txBody>
      </p:sp>
      <p:sp>
        <p:nvSpPr>
          <p:cNvPr id="10" name="Shape 8"/>
          <p:cNvSpPr/>
          <p:nvPr/>
        </p:nvSpPr>
        <p:spPr>
          <a:xfrm>
            <a:off x="822960" y="3227832"/>
            <a:ext cx="384048" cy="384048"/>
          </a:xfrm>
          <a:prstGeom prst="ellipse">
            <a:avLst/>
          </a:prstGeom>
          <a:solidFill>
            <a:srgbClr val="E4ECF2"/>
          </a:solidFill>
          <a:ln w="12700">
            <a:solidFill>
              <a:srgbClr val="E4ECF2"/>
            </a:solidFill>
            <a:prstDash val="solid"/>
          </a:ln>
        </p:spPr>
      </p:sp>
      <p:sp>
        <p:nvSpPr>
          <p:cNvPr id="11" name="Text 9"/>
          <p:cNvSpPr txBox="1"/>
          <p:nvPr/>
        </p:nvSpPr>
        <p:spPr>
          <a:xfrm>
            <a:off x="822960" y="3227832"/>
            <a:ext cx="384048" cy="384048"/>
          </a:xfrm>
          <a:prstGeom prst="rect">
            <a:avLst/>
          </a:prstGeom>
          <a:noFill/>
          <a:ln/>
        </p:spPr>
        <p:txBody>
          <a:bodyPr wrap="square" lIns="0" tIns="0" rIns="0" bIns="0" rtlCol="0" anchor="ctr"/>
          <a:lstStyle/>
          <a:p>
            <a:pPr algn="ctr" indent="0" marL="0">
              <a:buNone/>
            </a:pPr>
            <a:r>
              <a:rPr lang="en-US" sz="1200" b="1" dirty="0">
                <a:solidFill>
                  <a:srgbClr val="23405A"/>
                </a:solidFill>
                <a:latin typeface="Calibri" pitchFamily="34" charset="0"/>
                <a:ea typeface="Calibri" pitchFamily="34" charset="-122"/>
                <a:cs typeface="Calibri" pitchFamily="34" charset="-120"/>
              </a:rPr>
              <a:t>2</a:t>
            </a:r>
            <a:endParaRPr lang="en-US" sz="1200" dirty="0"/>
          </a:p>
        </p:txBody>
      </p:sp>
      <p:sp>
        <p:nvSpPr>
          <p:cNvPr id="12" name="Text 10"/>
          <p:cNvSpPr txBox="1"/>
          <p:nvPr/>
        </p:nvSpPr>
        <p:spPr>
          <a:xfrm>
            <a:off x="1325880" y="3182112"/>
            <a:ext cx="3246120" cy="896112"/>
          </a:xfrm>
          <a:prstGeom prst="rect">
            <a:avLst/>
          </a:prstGeom>
          <a:noFill/>
          <a:ln/>
        </p:spPr>
        <p:txBody>
          <a:bodyPr wrap="square" lIns="0" tIns="0" rIns="0" bIns="0" rtlCol="0" anchor="t"/>
          <a:lstStyle/>
          <a:p>
            <a:pPr indent="0" marL="0">
              <a:buNone/>
            </a:pPr>
            <a:r>
              <a:rPr lang="en-US" sz="1500" b="1" dirty="0">
                <a:solidFill>
                  <a:srgbClr val="1E2E3A"/>
                </a:solidFill>
                <a:latin typeface="Calibri" pitchFamily="34" charset="0"/>
                <a:ea typeface="Calibri" pitchFamily="34" charset="-122"/>
                <a:cs typeface="Calibri" pitchFamily="34" charset="-120"/>
              </a:rPr>
              <a:t>Facilitator</a:t>
            </a:r>
            <a:endParaRPr lang="en-US" sz="1500" dirty="0"/>
          </a:p>
          <a:p>
            <a:pPr indent="0" marL="0">
              <a:buNone/>
            </a:pPr>
            <a:r>
              <a:rPr lang="en-US" sz="1300" dirty="0">
                <a:solidFill>
                  <a:srgbClr val="465A69"/>
                </a:solidFill>
                <a:latin typeface="Calibri" pitchFamily="34" charset="0"/>
                <a:ea typeface="Calibri" pitchFamily="34" charset="-122"/>
                <a:cs typeface="Calibri" pitchFamily="34" charset="-120"/>
              </a:rPr>
              <a:t>Runs the scenario and speaks for vendors, Microsoft, reporters, and the Board.</a:t>
            </a:r>
            <a:endParaRPr lang="en-US" sz="1500" dirty="0"/>
          </a:p>
        </p:txBody>
      </p:sp>
      <p:sp>
        <p:nvSpPr>
          <p:cNvPr id="13" name="Shape 11"/>
          <p:cNvSpPr/>
          <p:nvPr/>
        </p:nvSpPr>
        <p:spPr>
          <a:xfrm>
            <a:off x="822960" y="4169664"/>
            <a:ext cx="384048" cy="384048"/>
          </a:xfrm>
          <a:prstGeom prst="ellipse">
            <a:avLst/>
          </a:prstGeom>
          <a:solidFill>
            <a:srgbClr val="E4ECF2"/>
          </a:solidFill>
          <a:ln w="12700">
            <a:solidFill>
              <a:srgbClr val="E4ECF2"/>
            </a:solidFill>
            <a:prstDash val="solid"/>
          </a:ln>
        </p:spPr>
      </p:sp>
      <p:sp>
        <p:nvSpPr>
          <p:cNvPr id="14" name="Text 12"/>
          <p:cNvSpPr txBox="1"/>
          <p:nvPr/>
        </p:nvSpPr>
        <p:spPr>
          <a:xfrm>
            <a:off x="822960" y="4169664"/>
            <a:ext cx="384048" cy="384048"/>
          </a:xfrm>
          <a:prstGeom prst="rect">
            <a:avLst/>
          </a:prstGeom>
          <a:noFill/>
          <a:ln/>
        </p:spPr>
        <p:txBody>
          <a:bodyPr wrap="square" lIns="0" tIns="0" rIns="0" bIns="0" rtlCol="0" anchor="ctr"/>
          <a:lstStyle/>
          <a:p>
            <a:pPr algn="ctr" indent="0" marL="0">
              <a:buNone/>
            </a:pPr>
            <a:r>
              <a:rPr lang="en-US" sz="1200" b="1" dirty="0">
                <a:solidFill>
                  <a:srgbClr val="23405A"/>
                </a:solidFill>
                <a:latin typeface="Calibri" pitchFamily="34" charset="0"/>
                <a:ea typeface="Calibri" pitchFamily="34" charset="-122"/>
                <a:cs typeface="Calibri" pitchFamily="34" charset="-120"/>
              </a:rPr>
              <a:t>3</a:t>
            </a:r>
            <a:endParaRPr lang="en-US" sz="1200" dirty="0"/>
          </a:p>
        </p:txBody>
      </p:sp>
      <p:sp>
        <p:nvSpPr>
          <p:cNvPr id="15" name="Text 13"/>
          <p:cNvSpPr txBox="1"/>
          <p:nvPr/>
        </p:nvSpPr>
        <p:spPr>
          <a:xfrm>
            <a:off x="1325880" y="4123944"/>
            <a:ext cx="3246120" cy="896112"/>
          </a:xfrm>
          <a:prstGeom prst="rect">
            <a:avLst/>
          </a:prstGeom>
          <a:noFill/>
          <a:ln/>
        </p:spPr>
        <p:txBody>
          <a:bodyPr wrap="square" lIns="0" tIns="0" rIns="0" bIns="0" rtlCol="0" anchor="t"/>
          <a:lstStyle/>
          <a:p>
            <a:pPr indent="0" marL="0">
              <a:buNone/>
            </a:pPr>
            <a:r>
              <a:rPr lang="en-US" sz="1500" b="1" dirty="0">
                <a:solidFill>
                  <a:srgbClr val="1E2E3A"/>
                </a:solidFill>
                <a:latin typeface="Calibri" pitchFamily="34" charset="0"/>
                <a:ea typeface="Calibri" pitchFamily="34" charset="-122"/>
                <a:cs typeface="Calibri" pitchFamily="34" charset="-120"/>
              </a:rPr>
              <a:t>Scribe</a:t>
            </a:r>
            <a:endParaRPr lang="en-US" sz="1500" dirty="0"/>
          </a:p>
          <a:p>
            <a:pPr indent="0" marL="0">
              <a:buNone/>
            </a:pPr>
            <a:r>
              <a:rPr lang="en-US" sz="1300" dirty="0">
                <a:solidFill>
                  <a:srgbClr val="465A69"/>
                </a:solidFill>
                <a:latin typeface="Calibri" pitchFamily="34" charset="0"/>
                <a:ea typeface="Calibri" pitchFamily="34" charset="-122"/>
                <a:cs typeface="Calibri" pitchFamily="34" charset="-120"/>
              </a:rPr>
              <a:t>Records each decision, owner, rationale, and time.</a:t>
            </a:r>
            <a:endParaRPr lang="en-US" sz="1500" dirty="0"/>
          </a:p>
        </p:txBody>
      </p:sp>
      <p:sp>
        <p:nvSpPr>
          <p:cNvPr id="16" name="Shape 14"/>
          <p:cNvSpPr/>
          <p:nvPr/>
        </p:nvSpPr>
        <p:spPr>
          <a:xfrm>
            <a:off x="822960" y="5111496"/>
            <a:ext cx="384048" cy="384048"/>
          </a:xfrm>
          <a:prstGeom prst="ellipse">
            <a:avLst/>
          </a:prstGeom>
          <a:solidFill>
            <a:srgbClr val="E4ECF2"/>
          </a:solidFill>
          <a:ln w="12700">
            <a:solidFill>
              <a:srgbClr val="E4ECF2"/>
            </a:solidFill>
            <a:prstDash val="solid"/>
          </a:ln>
        </p:spPr>
      </p:sp>
      <p:sp>
        <p:nvSpPr>
          <p:cNvPr id="17" name="Text 15"/>
          <p:cNvSpPr txBox="1"/>
          <p:nvPr/>
        </p:nvSpPr>
        <p:spPr>
          <a:xfrm>
            <a:off x="822960" y="5111496"/>
            <a:ext cx="384048" cy="384048"/>
          </a:xfrm>
          <a:prstGeom prst="rect">
            <a:avLst/>
          </a:prstGeom>
          <a:noFill/>
          <a:ln/>
        </p:spPr>
        <p:txBody>
          <a:bodyPr wrap="square" lIns="0" tIns="0" rIns="0" bIns="0" rtlCol="0" anchor="ctr"/>
          <a:lstStyle/>
          <a:p>
            <a:pPr algn="ctr" indent="0" marL="0">
              <a:buNone/>
            </a:pPr>
            <a:r>
              <a:rPr lang="en-US" sz="1200" b="1" dirty="0">
                <a:solidFill>
                  <a:srgbClr val="23405A"/>
                </a:solidFill>
                <a:latin typeface="Calibri" pitchFamily="34" charset="0"/>
                <a:ea typeface="Calibri" pitchFamily="34" charset="-122"/>
                <a:cs typeface="Calibri" pitchFamily="34" charset="-120"/>
              </a:rPr>
              <a:t>4</a:t>
            </a:r>
            <a:endParaRPr lang="en-US" sz="1200" dirty="0"/>
          </a:p>
        </p:txBody>
      </p:sp>
      <p:sp>
        <p:nvSpPr>
          <p:cNvPr id="18" name="Text 16"/>
          <p:cNvSpPr txBox="1"/>
          <p:nvPr/>
        </p:nvSpPr>
        <p:spPr>
          <a:xfrm>
            <a:off x="1325880" y="5065776"/>
            <a:ext cx="3246120" cy="896112"/>
          </a:xfrm>
          <a:prstGeom prst="rect">
            <a:avLst/>
          </a:prstGeom>
          <a:noFill/>
          <a:ln/>
        </p:spPr>
        <p:txBody>
          <a:bodyPr wrap="square" lIns="0" tIns="0" rIns="0" bIns="0" rtlCol="0" anchor="t"/>
          <a:lstStyle/>
          <a:p>
            <a:pPr indent="0" marL="0">
              <a:buNone/>
            </a:pPr>
            <a:r>
              <a:rPr lang="en-US" sz="1500" b="1" dirty="0">
                <a:solidFill>
                  <a:srgbClr val="1E2E3A"/>
                </a:solidFill>
                <a:latin typeface="Calibri" pitchFamily="34" charset="0"/>
                <a:ea typeface="Calibri" pitchFamily="34" charset="-122"/>
                <a:cs typeface="Calibri" pitchFamily="34" charset="-120"/>
              </a:rPr>
              <a:t>Observers</a:t>
            </a:r>
            <a:endParaRPr lang="en-US" sz="1500" dirty="0"/>
          </a:p>
          <a:p>
            <a:pPr indent="0" marL="0">
              <a:buNone/>
            </a:pPr>
            <a:r>
              <a:rPr lang="en-US" sz="1300" dirty="0">
                <a:solidFill>
                  <a:srgbClr val="465A69"/>
                </a:solidFill>
                <a:latin typeface="Calibri" pitchFamily="34" charset="0"/>
                <a:ea typeface="Calibri" pitchFamily="34" charset="-122"/>
                <a:cs typeface="Calibri" pitchFamily="34" charset="-120"/>
              </a:rPr>
              <a:t>Watch for gaps and bring them to the hotwash.</a:t>
            </a:r>
            <a:endParaRPr lang="en-US" sz="1500" dirty="0"/>
          </a:p>
        </p:txBody>
      </p:sp>
      <p:sp>
        <p:nvSpPr>
          <p:cNvPr id="19" name="Shape 17"/>
          <p:cNvSpPr/>
          <p:nvPr/>
        </p:nvSpPr>
        <p:spPr>
          <a:xfrm>
            <a:off x="5029200" y="1600200"/>
            <a:ext cx="6611112" cy="4572000"/>
          </a:xfrm>
          <a:prstGeom prst="roundRect">
            <a:avLst>
              <a:gd name="adj" fmla="val 2800"/>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20" name="Text 18"/>
          <p:cNvSpPr txBox="1"/>
          <p:nvPr/>
        </p:nvSpPr>
        <p:spPr>
          <a:xfrm>
            <a:off x="5303520" y="1783080"/>
            <a:ext cx="3657600" cy="365760"/>
          </a:xfrm>
          <a:prstGeom prst="rect">
            <a:avLst/>
          </a:prstGeom>
          <a:noFill/>
          <a:ln/>
        </p:spPr>
        <p:txBody>
          <a:bodyPr wrap="square" lIns="0" tIns="0" rIns="0" bIns="0" rtlCol="0" anchor="t"/>
          <a:lstStyle/>
          <a:p>
            <a:pPr indent="0" marL="0">
              <a:buNone/>
            </a:pPr>
            <a:r>
              <a:rPr lang="en-US" sz="1600" b="1" dirty="0">
                <a:solidFill>
                  <a:srgbClr val="23405A"/>
                </a:solidFill>
                <a:latin typeface="Calibri" pitchFamily="34" charset="0"/>
                <a:ea typeface="Calibri" pitchFamily="34" charset="-122"/>
                <a:cs typeface="Calibri" pitchFamily="34" charset="-120"/>
              </a:rPr>
              <a:t>Functions in the room</a:t>
            </a:r>
            <a:endParaRPr lang="en-US" sz="1600" dirty="0"/>
          </a:p>
        </p:txBody>
      </p:sp>
      <p:sp>
        <p:nvSpPr>
          <p:cNvPr id="21" name="Shape 19"/>
          <p:cNvSpPr/>
          <p:nvPr/>
        </p:nvSpPr>
        <p:spPr>
          <a:xfrm>
            <a:off x="7955280" y="1828800"/>
            <a:ext cx="914400" cy="310896"/>
          </a:xfrm>
          <a:prstGeom prst="roundRect">
            <a:avLst>
              <a:gd name="adj" fmla="val 50000"/>
            </a:avLst>
          </a:prstGeom>
          <a:solidFill>
            <a:srgbClr val="F1F6FA"/>
          </a:solidFill>
          <a:ln w="12700">
            <a:solidFill>
              <a:srgbClr val="F1F6FA"/>
            </a:solidFill>
            <a:prstDash val="solid"/>
          </a:ln>
        </p:spPr>
      </p:sp>
      <p:sp>
        <p:nvSpPr>
          <p:cNvPr id="22" name="Text 20"/>
          <p:cNvSpPr txBox="1"/>
          <p:nvPr/>
        </p:nvSpPr>
        <p:spPr>
          <a:xfrm>
            <a:off x="7955280" y="1828800"/>
            <a:ext cx="914400" cy="310896"/>
          </a:xfrm>
          <a:prstGeom prst="rect">
            <a:avLst/>
          </a:prstGeom>
          <a:noFill/>
          <a:ln/>
        </p:spPr>
        <p:txBody>
          <a:bodyPr wrap="square" lIns="0" tIns="0" rIns="0" bIns="0" rtlCol="0" anchor="ctr"/>
          <a:lstStyle/>
          <a:p>
            <a:pPr algn="ctr" indent="0" marL="0">
              <a:buNone/>
            </a:pPr>
            <a:r>
              <a:rPr lang="en-US" sz="1200" b="1" dirty="0">
                <a:solidFill>
                  <a:srgbClr val="3F6E8C"/>
                </a:solidFill>
                <a:latin typeface="Calibri" pitchFamily="34" charset="0"/>
                <a:ea typeface="Calibri" pitchFamily="34" charset="-122"/>
                <a:cs typeface="Calibri" pitchFamily="34" charset="-120"/>
              </a:rPr>
              <a:t>Scenario 1</a:t>
            </a:r>
            <a:endParaRPr lang="en-US" sz="1200" dirty="0"/>
          </a:p>
        </p:txBody>
      </p:sp>
      <p:sp>
        <p:nvSpPr>
          <p:cNvPr id="23" name="Shape 21"/>
          <p:cNvSpPr/>
          <p:nvPr/>
        </p:nvSpPr>
        <p:spPr>
          <a:xfrm>
            <a:off x="9006840" y="1828800"/>
            <a:ext cx="914400" cy="310896"/>
          </a:xfrm>
          <a:prstGeom prst="roundRect">
            <a:avLst>
              <a:gd name="adj" fmla="val 50000"/>
            </a:avLst>
          </a:prstGeom>
          <a:solidFill>
            <a:srgbClr val="F1F8F3"/>
          </a:solidFill>
          <a:ln w="12700">
            <a:solidFill>
              <a:srgbClr val="F1F8F3"/>
            </a:solidFill>
            <a:prstDash val="solid"/>
          </a:ln>
        </p:spPr>
      </p:sp>
      <p:sp>
        <p:nvSpPr>
          <p:cNvPr id="24" name="Text 22"/>
          <p:cNvSpPr txBox="1"/>
          <p:nvPr/>
        </p:nvSpPr>
        <p:spPr>
          <a:xfrm>
            <a:off x="9006840" y="1828800"/>
            <a:ext cx="914400" cy="310896"/>
          </a:xfrm>
          <a:prstGeom prst="rect">
            <a:avLst/>
          </a:prstGeom>
          <a:noFill/>
          <a:ln/>
        </p:spPr>
        <p:txBody>
          <a:bodyPr wrap="square" lIns="0" tIns="0" rIns="0" bIns="0" rtlCol="0" anchor="ctr"/>
          <a:lstStyle/>
          <a:p>
            <a:pPr algn="ctr" indent="0" marL="0">
              <a:buNone/>
            </a:pPr>
            <a:r>
              <a:rPr lang="en-US" sz="1200" b="1" dirty="0">
                <a:solidFill>
                  <a:srgbClr val="4C8068"/>
                </a:solidFill>
                <a:latin typeface="Calibri" pitchFamily="34" charset="0"/>
                <a:ea typeface="Calibri" pitchFamily="34" charset="-122"/>
                <a:cs typeface="Calibri" pitchFamily="34" charset="-120"/>
              </a:rPr>
              <a:t>Scenario 2</a:t>
            </a:r>
            <a:endParaRPr lang="en-US" sz="1200" dirty="0"/>
          </a:p>
        </p:txBody>
      </p:sp>
      <p:sp>
        <p:nvSpPr>
          <p:cNvPr id="25" name="Shape 23"/>
          <p:cNvSpPr/>
          <p:nvPr/>
        </p:nvSpPr>
        <p:spPr>
          <a:xfrm>
            <a:off x="10058400" y="1828800"/>
            <a:ext cx="914400" cy="310896"/>
          </a:xfrm>
          <a:prstGeom prst="roundRect">
            <a:avLst>
              <a:gd name="adj" fmla="val 50000"/>
            </a:avLst>
          </a:prstGeom>
          <a:solidFill>
            <a:srgbClr val="F6F3FA"/>
          </a:solidFill>
          <a:ln w="12700">
            <a:solidFill>
              <a:srgbClr val="F6F3FA"/>
            </a:solidFill>
            <a:prstDash val="solid"/>
          </a:ln>
        </p:spPr>
      </p:sp>
      <p:sp>
        <p:nvSpPr>
          <p:cNvPr id="26" name="Text 24"/>
          <p:cNvSpPr txBox="1"/>
          <p:nvPr/>
        </p:nvSpPr>
        <p:spPr>
          <a:xfrm>
            <a:off x="10058400" y="1828800"/>
            <a:ext cx="914400" cy="310896"/>
          </a:xfrm>
          <a:prstGeom prst="rect">
            <a:avLst/>
          </a:prstGeom>
          <a:noFill/>
          <a:ln/>
        </p:spPr>
        <p:txBody>
          <a:bodyPr wrap="square" lIns="0" tIns="0" rIns="0" bIns="0" rtlCol="0" anchor="ctr"/>
          <a:lstStyle/>
          <a:p>
            <a:pPr algn="ctr" indent="0" marL="0">
              <a:buNone/>
            </a:pPr>
            <a:r>
              <a:rPr lang="en-US" sz="1200" b="1" dirty="0">
                <a:solidFill>
                  <a:srgbClr val="6E5E94"/>
                </a:solidFill>
                <a:latin typeface="Calibri" pitchFamily="34" charset="0"/>
                <a:ea typeface="Calibri" pitchFamily="34" charset="-122"/>
                <a:cs typeface="Calibri" pitchFamily="34" charset="-120"/>
              </a:rPr>
              <a:t>Scenario 3</a:t>
            </a:r>
            <a:endParaRPr lang="en-US" sz="1200" dirty="0"/>
          </a:p>
        </p:txBody>
      </p:sp>
      <p:sp>
        <p:nvSpPr>
          <p:cNvPr id="27" name="Shape 25"/>
          <p:cNvSpPr/>
          <p:nvPr/>
        </p:nvSpPr>
        <p:spPr>
          <a:xfrm>
            <a:off x="5212080" y="2286000"/>
            <a:ext cx="6245352" cy="315468"/>
          </a:xfrm>
          <a:prstGeom prst="roundRect">
            <a:avLst>
              <a:gd name="adj" fmla="val 11594"/>
            </a:avLst>
          </a:prstGeom>
          <a:solidFill>
            <a:srgbClr val="F4F7F9"/>
          </a:solidFill>
          <a:ln w="12700">
            <a:solidFill>
              <a:srgbClr val="F4F7F9"/>
            </a:solidFill>
            <a:prstDash val="solid"/>
          </a:ln>
        </p:spPr>
      </p:sp>
      <p:sp>
        <p:nvSpPr>
          <p:cNvPr id="28" name="Text 26"/>
          <p:cNvSpPr txBox="1"/>
          <p:nvPr/>
        </p:nvSpPr>
        <p:spPr>
          <a:xfrm>
            <a:off x="5349240" y="2286000"/>
            <a:ext cx="2743200" cy="315468"/>
          </a:xfrm>
          <a:prstGeom prst="rect">
            <a:avLst/>
          </a:prstGeom>
          <a:noFill/>
          <a:ln/>
        </p:spPr>
        <p:txBody>
          <a:bodyPr wrap="square" lIns="0" tIns="0" rIns="0" bIns="0" rtlCol="0" anchor="ctr"/>
          <a:lstStyle/>
          <a:p>
            <a:pPr indent="0" marL="0">
              <a:buNone/>
            </a:pPr>
            <a:r>
              <a:rPr lang="en-US" sz="1300" dirty="0">
                <a:solidFill>
                  <a:srgbClr val="1E2E3A"/>
                </a:solidFill>
                <a:latin typeface="Calibri" pitchFamily="34" charset="0"/>
                <a:ea typeface="Calibri" pitchFamily="34" charset="-122"/>
                <a:cs typeface="Calibri" pitchFamily="34" charset="-120"/>
              </a:rPr>
              <a:t>IT and Helpdesk</a:t>
            </a:r>
            <a:endParaRPr lang="en-US" sz="1300" dirty="0"/>
          </a:p>
        </p:txBody>
      </p:sp>
      <p:sp>
        <p:nvSpPr>
          <p:cNvPr id="29" name="Shape 27"/>
          <p:cNvSpPr/>
          <p:nvPr/>
        </p:nvSpPr>
        <p:spPr>
          <a:xfrm>
            <a:off x="8330184" y="2361438"/>
            <a:ext cx="164592" cy="164592"/>
          </a:xfrm>
          <a:prstGeom prst="ellipse">
            <a:avLst/>
          </a:prstGeom>
          <a:solidFill>
            <a:srgbClr val="3F6E8C"/>
          </a:solidFill>
          <a:ln w="12700">
            <a:solidFill>
              <a:srgbClr val="3F6E8C"/>
            </a:solidFill>
            <a:prstDash val="solid"/>
          </a:ln>
        </p:spPr>
      </p:sp>
      <p:sp>
        <p:nvSpPr>
          <p:cNvPr id="30" name="Shape 28"/>
          <p:cNvSpPr/>
          <p:nvPr/>
        </p:nvSpPr>
        <p:spPr>
          <a:xfrm>
            <a:off x="9381744" y="2361438"/>
            <a:ext cx="164592" cy="164592"/>
          </a:xfrm>
          <a:prstGeom prst="ellipse">
            <a:avLst/>
          </a:prstGeom>
          <a:solidFill>
            <a:srgbClr val="4C8068"/>
          </a:solidFill>
          <a:ln w="12700">
            <a:solidFill>
              <a:srgbClr val="4C8068"/>
            </a:solidFill>
            <a:prstDash val="solid"/>
          </a:ln>
        </p:spPr>
      </p:sp>
      <p:sp>
        <p:nvSpPr>
          <p:cNvPr id="31" name="Text 29"/>
          <p:cNvSpPr txBox="1"/>
          <p:nvPr/>
        </p:nvSpPr>
        <p:spPr>
          <a:xfrm>
            <a:off x="5349240" y="2601468"/>
            <a:ext cx="2743200" cy="315468"/>
          </a:xfrm>
          <a:prstGeom prst="rect">
            <a:avLst/>
          </a:prstGeom>
          <a:noFill/>
          <a:ln/>
        </p:spPr>
        <p:txBody>
          <a:bodyPr wrap="square" lIns="0" tIns="0" rIns="0" bIns="0" rtlCol="0" anchor="ctr"/>
          <a:lstStyle/>
          <a:p>
            <a:pPr indent="0" marL="0">
              <a:buNone/>
            </a:pPr>
            <a:r>
              <a:rPr lang="en-US" sz="1300" dirty="0">
                <a:solidFill>
                  <a:srgbClr val="1E2E3A"/>
                </a:solidFill>
                <a:latin typeface="Calibri" pitchFamily="34" charset="0"/>
                <a:ea typeface="Calibri" pitchFamily="34" charset="-122"/>
                <a:cs typeface="Calibri" pitchFamily="34" charset="-120"/>
              </a:rPr>
              <a:t>Security</a:t>
            </a:r>
            <a:endParaRPr lang="en-US" sz="1300" dirty="0"/>
          </a:p>
        </p:txBody>
      </p:sp>
      <p:sp>
        <p:nvSpPr>
          <p:cNvPr id="32" name="Shape 30"/>
          <p:cNvSpPr/>
          <p:nvPr/>
        </p:nvSpPr>
        <p:spPr>
          <a:xfrm>
            <a:off x="8330184" y="2676906"/>
            <a:ext cx="164592" cy="164592"/>
          </a:xfrm>
          <a:prstGeom prst="ellipse">
            <a:avLst/>
          </a:prstGeom>
          <a:solidFill>
            <a:srgbClr val="3F6E8C"/>
          </a:solidFill>
          <a:ln w="12700">
            <a:solidFill>
              <a:srgbClr val="3F6E8C"/>
            </a:solidFill>
            <a:prstDash val="solid"/>
          </a:ln>
        </p:spPr>
      </p:sp>
      <p:sp>
        <p:nvSpPr>
          <p:cNvPr id="33" name="Shape 31"/>
          <p:cNvSpPr/>
          <p:nvPr/>
        </p:nvSpPr>
        <p:spPr>
          <a:xfrm>
            <a:off x="9381744" y="2676906"/>
            <a:ext cx="164592" cy="164592"/>
          </a:xfrm>
          <a:prstGeom prst="ellipse">
            <a:avLst/>
          </a:prstGeom>
          <a:solidFill>
            <a:srgbClr val="4C8068"/>
          </a:solidFill>
          <a:ln w="12700">
            <a:solidFill>
              <a:srgbClr val="4C8068"/>
            </a:solidFill>
            <a:prstDash val="solid"/>
          </a:ln>
        </p:spPr>
      </p:sp>
      <p:sp>
        <p:nvSpPr>
          <p:cNvPr id="34" name="Shape 32"/>
          <p:cNvSpPr/>
          <p:nvPr/>
        </p:nvSpPr>
        <p:spPr>
          <a:xfrm>
            <a:off x="5212080" y="2916936"/>
            <a:ext cx="6245352" cy="315468"/>
          </a:xfrm>
          <a:prstGeom prst="roundRect">
            <a:avLst>
              <a:gd name="adj" fmla="val 11594"/>
            </a:avLst>
          </a:prstGeom>
          <a:solidFill>
            <a:srgbClr val="F4F7F9"/>
          </a:solidFill>
          <a:ln w="12700">
            <a:solidFill>
              <a:srgbClr val="F4F7F9"/>
            </a:solidFill>
            <a:prstDash val="solid"/>
          </a:ln>
        </p:spPr>
      </p:sp>
      <p:sp>
        <p:nvSpPr>
          <p:cNvPr id="35" name="Text 33"/>
          <p:cNvSpPr txBox="1"/>
          <p:nvPr/>
        </p:nvSpPr>
        <p:spPr>
          <a:xfrm>
            <a:off x="5349240" y="2916936"/>
            <a:ext cx="2743200" cy="315468"/>
          </a:xfrm>
          <a:prstGeom prst="rect">
            <a:avLst/>
          </a:prstGeom>
          <a:noFill/>
          <a:ln/>
        </p:spPr>
        <p:txBody>
          <a:bodyPr wrap="square" lIns="0" tIns="0" rIns="0" bIns="0" rtlCol="0" anchor="ctr"/>
          <a:lstStyle/>
          <a:p>
            <a:pPr indent="0" marL="0">
              <a:buNone/>
            </a:pPr>
            <a:r>
              <a:rPr lang="en-US" sz="1300" dirty="0">
                <a:solidFill>
                  <a:srgbClr val="1E2E3A"/>
                </a:solidFill>
                <a:latin typeface="Calibri" pitchFamily="34" charset="0"/>
                <a:ea typeface="Calibri" pitchFamily="34" charset="-122"/>
                <a:cs typeface="Calibri" pitchFamily="34" charset="-120"/>
              </a:rPr>
              <a:t>Legal</a:t>
            </a:r>
            <a:endParaRPr lang="en-US" sz="1300" dirty="0"/>
          </a:p>
        </p:txBody>
      </p:sp>
      <p:sp>
        <p:nvSpPr>
          <p:cNvPr id="36" name="Shape 34"/>
          <p:cNvSpPr/>
          <p:nvPr/>
        </p:nvSpPr>
        <p:spPr>
          <a:xfrm>
            <a:off x="8330184" y="2992374"/>
            <a:ext cx="164592" cy="164592"/>
          </a:xfrm>
          <a:prstGeom prst="ellipse">
            <a:avLst/>
          </a:prstGeom>
          <a:solidFill>
            <a:srgbClr val="3F6E8C"/>
          </a:solidFill>
          <a:ln w="12700">
            <a:solidFill>
              <a:srgbClr val="3F6E8C"/>
            </a:solidFill>
            <a:prstDash val="solid"/>
          </a:ln>
        </p:spPr>
      </p:sp>
      <p:sp>
        <p:nvSpPr>
          <p:cNvPr id="37" name="Text 35"/>
          <p:cNvSpPr txBox="1"/>
          <p:nvPr/>
        </p:nvSpPr>
        <p:spPr>
          <a:xfrm>
            <a:off x="5349240" y="3232404"/>
            <a:ext cx="2743200" cy="315468"/>
          </a:xfrm>
          <a:prstGeom prst="rect">
            <a:avLst/>
          </a:prstGeom>
          <a:noFill/>
          <a:ln/>
        </p:spPr>
        <p:txBody>
          <a:bodyPr wrap="square" lIns="0" tIns="0" rIns="0" bIns="0" rtlCol="0" anchor="ctr"/>
          <a:lstStyle/>
          <a:p>
            <a:pPr indent="0" marL="0">
              <a:buNone/>
            </a:pPr>
            <a:r>
              <a:rPr lang="en-US" sz="1300" dirty="0">
                <a:solidFill>
                  <a:srgbClr val="1E2E3A"/>
                </a:solidFill>
                <a:latin typeface="Calibri" pitchFamily="34" charset="0"/>
                <a:ea typeface="Calibri" pitchFamily="34" charset="-122"/>
                <a:cs typeface="Calibri" pitchFamily="34" charset="-120"/>
              </a:rPr>
              <a:t>Communications</a:t>
            </a:r>
            <a:endParaRPr lang="en-US" sz="1300" dirty="0"/>
          </a:p>
        </p:txBody>
      </p:sp>
      <p:sp>
        <p:nvSpPr>
          <p:cNvPr id="38" name="Shape 36"/>
          <p:cNvSpPr/>
          <p:nvPr/>
        </p:nvSpPr>
        <p:spPr>
          <a:xfrm>
            <a:off x="8330184" y="3307842"/>
            <a:ext cx="164592" cy="164592"/>
          </a:xfrm>
          <a:prstGeom prst="ellipse">
            <a:avLst/>
          </a:prstGeom>
          <a:solidFill>
            <a:srgbClr val="3F6E8C"/>
          </a:solidFill>
          <a:ln w="12700">
            <a:solidFill>
              <a:srgbClr val="3F6E8C"/>
            </a:solidFill>
            <a:prstDash val="solid"/>
          </a:ln>
        </p:spPr>
      </p:sp>
      <p:sp>
        <p:nvSpPr>
          <p:cNvPr id="39" name="Shape 37"/>
          <p:cNvSpPr/>
          <p:nvPr/>
        </p:nvSpPr>
        <p:spPr>
          <a:xfrm>
            <a:off x="9381744" y="3307842"/>
            <a:ext cx="164592" cy="164592"/>
          </a:xfrm>
          <a:prstGeom prst="ellipse">
            <a:avLst/>
          </a:prstGeom>
          <a:solidFill>
            <a:srgbClr val="4C8068"/>
          </a:solidFill>
          <a:ln w="12700">
            <a:solidFill>
              <a:srgbClr val="4C8068"/>
            </a:solidFill>
            <a:prstDash val="solid"/>
          </a:ln>
        </p:spPr>
      </p:sp>
      <p:sp>
        <p:nvSpPr>
          <p:cNvPr id="40" name="Shape 38"/>
          <p:cNvSpPr/>
          <p:nvPr/>
        </p:nvSpPr>
        <p:spPr>
          <a:xfrm>
            <a:off x="10433304" y="3307842"/>
            <a:ext cx="164592" cy="164592"/>
          </a:xfrm>
          <a:prstGeom prst="ellipse">
            <a:avLst/>
          </a:prstGeom>
          <a:solidFill>
            <a:srgbClr val="6E5E94"/>
          </a:solidFill>
          <a:ln w="12700">
            <a:solidFill>
              <a:srgbClr val="6E5E94"/>
            </a:solidFill>
            <a:prstDash val="solid"/>
          </a:ln>
        </p:spPr>
      </p:sp>
      <p:sp>
        <p:nvSpPr>
          <p:cNvPr id="41" name="Shape 39"/>
          <p:cNvSpPr/>
          <p:nvPr/>
        </p:nvSpPr>
        <p:spPr>
          <a:xfrm>
            <a:off x="5212080" y="3547872"/>
            <a:ext cx="6245352" cy="315468"/>
          </a:xfrm>
          <a:prstGeom prst="roundRect">
            <a:avLst>
              <a:gd name="adj" fmla="val 11594"/>
            </a:avLst>
          </a:prstGeom>
          <a:solidFill>
            <a:srgbClr val="F4F7F9"/>
          </a:solidFill>
          <a:ln w="12700">
            <a:solidFill>
              <a:srgbClr val="F4F7F9"/>
            </a:solidFill>
            <a:prstDash val="solid"/>
          </a:ln>
        </p:spPr>
      </p:sp>
      <p:sp>
        <p:nvSpPr>
          <p:cNvPr id="42" name="Text 40"/>
          <p:cNvSpPr txBox="1"/>
          <p:nvPr/>
        </p:nvSpPr>
        <p:spPr>
          <a:xfrm>
            <a:off x="5349240" y="3547872"/>
            <a:ext cx="2743200" cy="315468"/>
          </a:xfrm>
          <a:prstGeom prst="rect">
            <a:avLst/>
          </a:prstGeom>
          <a:noFill/>
          <a:ln/>
        </p:spPr>
        <p:txBody>
          <a:bodyPr wrap="square" lIns="0" tIns="0" rIns="0" bIns="0" rtlCol="0" anchor="ctr"/>
          <a:lstStyle/>
          <a:p>
            <a:pPr indent="0" marL="0">
              <a:buNone/>
            </a:pPr>
            <a:r>
              <a:rPr lang="en-US" sz="1300" dirty="0">
                <a:solidFill>
                  <a:srgbClr val="1E2E3A"/>
                </a:solidFill>
                <a:latin typeface="Calibri" pitchFamily="34" charset="0"/>
                <a:ea typeface="Calibri" pitchFamily="34" charset="-122"/>
                <a:cs typeface="Calibri" pitchFamily="34" charset="-120"/>
              </a:rPr>
              <a:t>Executive leadership</a:t>
            </a:r>
            <a:endParaRPr lang="en-US" sz="1300" dirty="0"/>
          </a:p>
        </p:txBody>
      </p:sp>
      <p:sp>
        <p:nvSpPr>
          <p:cNvPr id="43" name="Shape 41"/>
          <p:cNvSpPr/>
          <p:nvPr/>
        </p:nvSpPr>
        <p:spPr>
          <a:xfrm>
            <a:off x="8330184" y="3623310"/>
            <a:ext cx="164592" cy="164592"/>
          </a:xfrm>
          <a:prstGeom prst="ellipse">
            <a:avLst/>
          </a:prstGeom>
          <a:solidFill>
            <a:srgbClr val="3F6E8C"/>
          </a:solidFill>
          <a:ln w="12700">
            <a:solidFill>
              <a:srgbClr val="3F6E8C"/>
            </a:solidFill>
            <a:prstDash val="solid"/>
          </a:ln>
        </p:spPr>
      </p:sp>
      <p:sp>
        <p:nvSpPr>
          <p:cNvPr id="44" name="Shape 42"/>
          <p:cNvSpPr/>
          <p:nvPr/>
        </p:nvSpPr>
        <p:spPr>
          <a:xfrm>
            <a:off x="9381744" y="3623310"/>
            <a:ext cx="164592" cy="164592"/>
          </a:xfrm>
          <a:prstGeom prst="ellipse">
            <a:avLst/>
          </a:prstGeom>
          <a:solidFill>
            <a:srgbClr val="4C8068"/>
          </a:solidFill>
          <a:ln w="12700">
            <a:solidFill>
              <a:srgbClr val="4C8068"/>
            </a:solidFill>
            <a:prstDash val="solid"/>
          </a:ln>
        </p:spPr>
      </p:sp>
      <p:sp>
        <p:nvSpPr>
          <p:cNvPr id="45" name="Shape 43"/>
          <p:cNvSpPr/>
          <p:nvPr/>
        </p:nvSpPr>
        <p:spPr>
          <a:xfrm>
            <a:off x="10433304" y="3623310"/>
            <a:ext cx="164592" cy="164592"/>
          </a:xfrm>
          <a:prstGeom prst="ellipse">
            <a:avLst/>
          </a:prstGeom>
          <a:solidFill>
            <a:srgbClr val="6E5E94"/>
          </a:solidFill>
          <a:ln w="12700">
            <a:solidFill>
              <a:srgbClr val="6E5E94"/>
            </a:solidFill>
            <a:prstDash val="solid"/>
          </a:ln>
        </p:spPr>
      </p:sp>
      <p:sp>
        <p:nvSpPr>
          <p:cNvPr id="46" name="Text 44"/>
          <p:cNvSpPr txBox="1"/>
          <p:nvPr/>
        </p:nvSpPr>
        <p:spPr>
          <a:xfrm>
            <a:off x="5349240" y="3863340"/>
            <a:ext cx="2743200" cy="315468"/>
          </a:xfrm>
          <a:prstGeom prst="rect">
            <a:avLst/>
          </a:prstGeom>
          <a:noFill/>
          <a:ln/>
        </p:spPr>
        <p:txBody>
          <a:bodyPr wrap="square" lIns="0" tIns="0" rIns="0" bIns="0" rtlCol="0" anchor="ctr"/>
          <a:lstStyle/>
          <a:p>
            <a:pPr indent="0" marL="0">
              <a:buNone/>
            </a:pPr>
            <a:r>
              <a:rPr lang="en-US" sz="1300" dirty="0">
                <a:solidFill>
                  <a:srgbClr val="1E2E3A"/>
                </a:solidFill>
                <a:latin typeface="Calibri" pitchFamily="34" charset="0"/>
                <a:ea typeface="Calibri" pitchFamily="34" charset="-122"/>
                <a:cs typeface="Calibri" pitchFamily="34" charset="-120"/>
              </a:rPr>
              <a:t>Board liaison</a:t>
            </a:r>
            <a:endParaRPr lang="en-US" sz="1300" dirty="0"/>
          </a:p>
        </p:txBody>
      </p:sp>
      <p:sp>
        <p:nvSpPr>
          <p:cNvPr id="47" name="Shape 45"/>
          <p:cNvSpPr/>
          <p:nvPr/>
        </p:nvSpPr>
        <p:spPr>
          <a:xfrm>
            <a:off x="8330184" y="3938778"/>
            <a:ext cx="164592" cy="164592"/>
          </a:xfrm>
          <a:prstGeom prst="ellipse">
            <a:avLst/>
          </a:prstGeom>
          <a:solidFill>
            <a:srgbClr val="3F6E8C"/>
          </a:solidFill>
          <a:ln w="12700">
            <a:solidFill>
              <a:srgbClr val="3F6E8C"/>
            </a:solidFill>
            <a:prstDash val="solid"/>
          </a:ln>
        </p:spPr>
      </p:sp>
      <p:sp>
        <p:nvSpPr>
          <p:cNvPr id="48" name="Shape 46"/>
          <p:cNvSpPr/>
          <p:nvPr/>
        </p:nvSpPr>
        <p:spPr>
          <a:xfrm>
            <a:off x="5212080" y="4178808"/>
            <a:ext cx="6245352" cy="315468"/>
          </a:xfrm>
          <a:prstGeom prst="roundRect">
            <a:avLst>
              <a:gd name="adj" fmla="val 11594"/>
            </a:avLst>
          </a:prstGeom>
          <a:solidFill>
            <a:srgbClr val="F4F7F9"/>
          </a:solidFill>
          <a:ln w="12700">
            <a:solidFill>
              <a:srgbClr val="F4F7F9"/>
            </a:solidFill>
            <a:prstDash val="solid"/>
          </a:ln>
        </p:spPr>
      </p:sp>
      <p:sp>
        <p:nvSpPr>
          <p:cNvPr id="49" name="Text 47"/>
          <p:cNvSpPr txBox="1"/>
          <p:nvPr/>
        </p:nvSpPr>
        <p:spPr>
          <a:xfrm>
            <a:off x="5349240" y="4178808"/>
            <a:ext cx="2743200" cy="315468"/>
          </a:xfrm>
          <a:prstGeom prst="rect">
            <a:avLst/>
          </a:prstGeom>
          <a:noFill/>
          <a:ln/>
        </p:spPr>
        <p:txBody>
          <a:bodyPr wrap="square" lIns="0" tIns="0" rIns="0" bIns="0" rtlCol="0" anchor="ctr"/>
          <a:lstStyle/>
          <a:p>
            <a:pPr indent="0" marL="0">
              <a:buNone/>
            </a:pPr>
            <a:r>
              <a:rPr lang="en-US" sz="1300" dirty="0">
                <a:solidFill>
                  <a:srgbClr val="1E2E3A"/>
                </a:solidFill>
                <a:latin typeface="Calibri" pitchFamily="34" charset="0"/>
                <a:ea typeface="Calibri" pitchFamily="34" charset="-122"/>
                <a:cs typeface="Calibri" pitchFamily="34" charset="-120"/>
              </a:rPr>
              <a:t>Clinical Operations</a:t>
            </a:r>
            <a:endParaRPr lang="en-US" sz="1300" dirty="0"/>
          </a:p>
        </p:txBody>
      </p:sp>
      <p:sp>
        <p:nvSpPr>
          <p:cNvPr id="50" name="Shape 48"/>
          <p:cNvSpPr/>
          <p:nvPr/>
        </p:nvSpPr>
        <p:spPr>
          <a:xfrm>
            <a:off x="9381744" y="4254246"/>
            <a:ext cx="164592" cy="164592"/>
          </a:xfrm>
          <a:prstGeom prst="ellipse">
            <a:avLst/>
          </a:prstGeom>
          <a:solidFill>
            <a:srgbClr val="4C8068"/>
          </a:solidFill>
          <a:ln w="12700">
            <a:solidFill>
              <a:srgbClr val="4C8068"/>
            </a:solidFill>
            <a:prstDash val="solid"/>
          </a:ln>
        </p:spPr>
      </p:sp>
      <p:sp>
        <p:nvSpPr>
          <p:cNvPr id="51" name="Shape 49"/>
          <p:cNvSpPr/>
          <p:nvPr/>
        </p:nvSpPr>
        <p:spPr>
          <a:xfrm>
            <a:off x="10433304" y="4254246"/>
            <a:ext cx="164592" cy="164592"/>
          </a:xfrm>
          <a:prstGeom prst="ellipse">
            <a:avLst/>
          </a:prstGeom>
          <a:solidFill>
            <a:srgbClr val="6E5E94"/>
          </a:solidFill>
          <a:ln w="12700">
            <a:solidFill>
              <a:srgbClr val="6E5E94"/>
            </a:solidFill>
            <a:prstDash val="solid"/>
          </a:ln>
        </p:spPr>
      </p:sp>
      <p:sp>
        <p:nvSpPr>
          <p:cNvPr id="52" name="Text 50"/>
          <p:cNvSpPr txBox="1"/>
          <p:nvPr/>
        </p:nvSpPr>
        <p:spPr>
          <a:xfrm>
            <a:off x="5349240" y="4494276"/>
            <a:ext cx="2743200" cy="315468"/>
          </a:xfrm>
          <a:prstGeom prst="rect">
            <a:avLst/>
          </a:prstGeom>
          <a:noFill/>
          <a:ln/>
        </p:spPr>
        <p:txBody>
          <a:bodyPr wrap="square" lIns="0" tIns="0" rIns="0" bIns="0" rtlCol="0" anchor="ctr"/>
          <a:lstStyle/>
          <a:p>
            <a:pPr indent="0" marL="0">
              <a:buNone/>
            </a:pPr>
            <a:r>
              <a:rPr lang="en-US" sz="1300" dirty="0">
                <a:solidFill>
                  <a:srgbClr val="1E2E3A"/>
                </a:solidFill>
                <a:latin typeface="Calibri" pitchFamily="34" charset="0"/>
                <a:ea typeface="Calibri" pitchFamily="34" charset="-122"/>
                <a:cs typeface="Calibri" pitchFamily="34" charset="-120"/>
              </a:rPr>
              <a:t>Quality</a:t>
            </a:r>
            <a:endParaRPr lang="en-US" sz="1300" dirty="0"/>
          </a:p>
        </p:txBody>
      </p:sp>
      <p:sp>
        <p:nvSpPr>
          <p:cNvPr id="53" name="Shape 51"/>
          <p:cNvSpPr/>
          <p:nvPr/>
        </p:nvSpPr>
        <p:spPr>
          <a:xfrm>
            <a:off x="9381744" y="4569714"/>
            <a:ext cx="164592" cy="164592"/>
          </a:xfrm>
          <a:prstGeom prst="ellipse">
            <a:avLst/>
          </a:prstGeom>
          <a:solidFill>
            <a:srgbClr val="4C8068"/>
          </a:solidFill>
          <a:ln w="12700">
            <a:solidFill>
              <a:srgbClr val="4C8068"/>
            </a:solidFill>
            <a:prstDash val="solid"/>
          </a:ln>
        </p:spPr>
      </p:sp>
      <p:sp>
        <p:nvSpPr>
          <p:cNvPr id="54" name="Shape 52"/>
          <p:cNvSpPr/>
          <p:nvPr/>
        </p:nvSpPr>
        <p:spPr>
          <a:xfrm>
            <a:off x="5212080" y="4809744"/>
            <a:ext cx="6245352" cy="315468"/>
          </a:xfrm>
          <a:prstGeom prst="roundRect">
            <a:avLst>
              <a:gd name="adj" fmla="val 11594"/>
            </a:avLst>
          </a:prstGeom>
          <a:solidFill>
            <a:srgbClr val="F4F7F9"/>
          </a:solidFill>
          <a:ln w="12700">
            <a:solidFill>
              <a:srgbClr val="F4F7F9"/>
            </a:solidFill>
            <a:prstDash val="solid"/>
          </a:ln>
        </p:spPr>
      </p:sp>
      <p:sp>
        <p:nvSpPr>
          <p:cNvPr id="55" name="Text 53"/>
          <p:cNvSpPr txBox="1"/>
          <p:nvPr/>
        </p:nvSpPr>
        <p:spPr>
          <a:xfrm>
            <a:off x="5349240" y="4809744"/>
            <a:ext cx="2743200" cy="315468"/>
          </a:xfrm>
          <a:prstGeom prst="rect">
            <a:avLst/>
          </a:prstGeom>
          <a:noFill/>
          <a:ln/>
        </p:spPr>
        <p:txBody>
          <a:bodyPr wrap="square" lIns="0" tIns="0" rIns="0" bIns="0" rtlCol="0" anchor="ctr"/>
          <a:lstStyle/>
          <a:p>
            <a:pPr indent="0" marL="0">
              <a:buNone/>
            </a:pPr>
            <a:r>
              <a:rPr lang="en-US" sz="1300" dirty="0">
                <a:solidFill>
                  <a:srgbClr val="1E2E3A"/>
                </a:solidFill>
                <a:latin typeface="Calibri" pitchFamily="34" charset="0"/>
                <a:ea typeface="Calibri" pitchFamily="34" charset="-122"/>
                <a:cs typeface="Calibri" pitchFamily="34" charset="-120"/>
              </a:rPr>
              <a:t>Regulatory Affairs</a:t>
            </a:r>
            <a:endParaRPr lang="en-US" sz="1300" dirty="0"/>
          </a:p>
        </p:txBody>
      </p:sp>
      <p:sp>
        <p:nvSpPr>
          <p:cNvPr id="56" name="Shape 54"/>
          <p:cNvSpPr/>
          <p:nvPr/>
        </p:nvSpPr>
        <p:spPr>
          <a:xfrm>
            <a:off x="9381744" y="4885182"/>
            <a:ext cx="164592" cy="164592"/>
          </a:xfrm>
          <a:prstGeom prst="ellipse">
            <a:avLst/>
          </a:prstGeom>
          <a:solidFill>
            <a:srgbClr val="4C8068"/>
          </a:solidFill>
          <a:ln w="12700">
            <a:solidFill>
              <a:srgbClr val="4C8068"/>
            </a:solidFill>
            <a:prstDash val="solid"/>
          </a:ln>
        </p:spPr>
      </p:sp>
      <p:sp>
        <p:nvSpPr>
          <p:cNvPr id="57" name="Shape 55"/>
          <p:cNvSpPr/>
          <p:nvPr/>
        </p:nvSpPr>
        <p:spPr>
          <a:xfrm>
            <a:off x="10433304" y="4885182"/>
            <a:ext cx="164592" cy="164592"/>
          </a:xfrm>
          <a:prstGeom prst="ellipse">
            <a:avLst/>
          </a:prstGeom>
          <a:solidFill>
            <a:srgbClr val="6E5E94"/>
          </a:solidFill>
          <a:ln w="12700">
            <a:solidFill>
              <a:srgbClr val="6E5E94"/>
            </a:solidFill>
            <a:prstDash val="solid"/>
          </a:ln>
        </p:spPr>
      </p:sp>
      <p:sp>
        <p:nvSpPr>
          <p:cNvPr id="58" name="Text 56"/>
          <p:cNvSpPr txBox="1"/>
          <p:nvPr/>
        </p:nvSpPr>
        <p:spPr>
          <a:xfrm>
            <a:off x="5349240" y="5125212"/>
            <a:ext cx="2743200" cy="315468"/>
          </a:xfrm>
          <a:prstGeom prst="rect">
            <a:avLst/>
          </a:prstGeom>
          <a:noFill/>
          <a:ln/>
        </p:spPr>
        <p:txBody>
          <a:bodyPr wrap="square" lIns="0" tIns="0" rIns="0" bIns="0" rtlCol="0" anchor="ctr"/>
          <a:lstStyle/>
          <a:p>
            <a:pPr indent="0" marL="0">
              <a:buNone/>
            </a:pPr>
            <a:r>
              <a:rPr lang="en-US" sz="1300" dirty="0">
                <a:solidFill>
                  <a:srgbClr val="1E2E3A"/>
                </a:solidFill>
                <a:latin typeface="Calibri" pitchFamily="34" charset="0"/>
                <a:ea typeface="Calibri" pitchFamily="34" charset="-122"/>
                <a:cs typeface="Calibri" pitchFamily="34" charset="-120"/>
              </a:rPr>
              <a:t>Finance</a:t>
            </a:r>
            <a:endParaRPr lang="en-US" sz="1300" dirty="0"/>
          </a:p>
        </p:txBody>
      </p:sp>
      <p:sp>
        <p:nvSpPr>
          <p:cNvPr id="59" name="Shape 57"/>
          <p:cNvSpPr/>
          <p:nvPr/>
        </p:nvSpPr>
        <p:spPr>
          <a:xfrm>
            <a:off x="10433304" y="5200650"/>
            <a:ext cx="164592" cy="164592"/>
          </a:xfrm>
          <a:prstGeom prst="ellipse">
            <a:avLst/>
          </a:prstGeom>
          <a:solidFill>
            <a:srgbClr val="6E5E94"/>
          </a:solidFill>
          <a:ln w="12700">
            <a:solidFill>
              <a:srgbClr val="6E5E94"/>
            </a:solidFill>
            <a:prstDash val="solid"/>
          </a:ln>
        </p:spPr>
      </p:sp>
      <p:sp>
        <p:nvSpPr>
          <p:cNvPr id="60" name="Shape 58"/>
          <p:cNvSpPr/>
          <p:nvPr/>
        </p:nvSpPr>
        <p:spPr>
          <a:xfrm>
            <a:off x="5212080" y="5440680"/>
            <a:ext cx="6245352" cy="315468"/>
          </a:xfrm>
          <a:prstGeom prst="roundRect">
            <a:avLst>
              <a:gd name="adj" fmla="val 11594"/>
            </a:avLst>
          </a:prstGeom>
          <a:solidFill>
            <a:srgbClr val="F4F7F9"/>
          </a:solidFill>
          <a:ln w="12700">
            <a:solidFill>
              <a:srgbClr val="F4F7F9"/>
            </a:solidFill>
            <a:prstDash val="solid"/>
          </a:ln>
        </p:spPr>
      </p:sp>
      <p:sp>
        <p:nvSpPr>
          <p:cNvPr id="61" name="Text 59"/>
          <p:cNvSpPr txBox="1"/>
          <p:nvPr/>
        </p:nvSpPr>
        <p:spPr>
          <a:xfrm>
            <a:off x="5349240" y="5440680"/>
            <a:ext cx="2743200" cy="315468"/>
          </a:xfrm>
          <a:prstGeom prst="rect">
            <a:avLst/>
          </a:prstGeom>
          <a:noFill/>
          <a:ln/>
        </p:spPr>
        <p:txBody>
          <a:bodyPr wrap="square" lIns="0" tIns="0" rIns="0" bIns="0" rtlCol="0" anchor="ctr"/>
          <a:lstStyle/>
          <a:p>
            <a:pPr indent="0" marL="0">
              <a:buNone/>
            </a:pPr>
            <a:r>
              <a:rPr lang="en-US" sz="1300" dirty="0">
                <a:solidFill>
                  <a:srgbClr val="1E2E3A"/>
                </a:solidFill>
                <a:latin typeface="Calibri" pitchFamily="34" charset="0"/>
                <a:ea typeface="Calibri" pitchFamily="34" charset="-122"/>
                <a:cs typeface="Calibri" pitchFamily="34" charset="-120"/>
              </a:rPr>
              <a:t>HR</a:t>
            </a:r>
            <a:endParaRPr lang="en-US" sz="1300" dirty="0"/>
          </a:p>
        </p:txBody>
      </p:sp>
      <p:sp>
        <p:nvSpPr>
          <p:cNvPr id="62" name="Shape 60"/>
          <p:cNvSpPr/>
          <p:nvPr/>
        </p:nvSpPr>
        <p:spPr>
          <a:xfrm>
            <a:off x="10433304" y="5516118"/>
            <a:ext cx="164592" cy="164592"/>
          </a:xfrm>
          <a:prstGeom prst="ellipse">
            <a:avLst/>
          </a:prstGeom>
          <a:solidFill>
            <a:srgbClr val="6E5E94"/>
          </a:solidFill>
          <a:ln w="12700">
            <a:solidFill>
              <a:srgbClr val="6E5E94"/>
            </a:solidFill>
            <a:prstDash val="solid"/>
          </a:ln>
        </p:spPr>
      </p:sp>
      <p:sp>
        <p:nvSpPr>
          <p:cNvPr id="63" name="Text 61"/>
          <p:cNvSpPr txBox="1"/>
          <p:nvPr/>
        </p:nvSpPr>
        <p:spPr>
          <a:xfrm>
            <a:off x="5349240" y="5756148"/>
            <a:ext cx="2743200" cy="315468"/>
          </a:xfrm>
          <a:prstGeom prst="rect">
            <a:avLst/>
          </a:prstGeom>
          <a:noFill/>
          <a:ln/>
        </p:spPr>
        <p:txBody>
          <a:bodyPr wrap="square" lIns="0" tIns="0" rIns="0" bIns="0" rtlCol="0" anchor="ctr"/>
          <a:lstStyle/>
          <a:p>
            <a:pPr indent="0" marL="0">
              <a:buNone/>
            </a:pPr>
            <a:r>
              <a:rPr lang="en-US" sz="1300" dirty="0">
                <a:solidFill>
                  <a:srgbClr val="1E2E3A"/>
                </a:solidFill>
                <a:latin typeface="Calibri" pitchFamily="34" charset="0"/>
                <a:ea typeface="Calibri" pitchFamily="34" charset="-122"/>
                <a:cs typeface="Calibri" pitchFamily="34" charset="-120"/>
              </a:rPr>
              <a:t>Investor Relations</a:t>
            </a:r>
            <a:endParaRPr lang="en-US" sz="1300" dirty="0"/>
          </a:p>
        </p:txBody>
      </p:sp>
      <p:sp>
        <p:nvSpPr>
          <p:cNvPr id="64" name="Shape 62"/>
          <p:cNvSpPr/>
          <p:nvPr/>
        </p:nvSpPr>
        <p:spPr>
          <a:xfrm>
            <a:off x="10433304" y="5831586"/>
            <a:ext cx="164592" cy="164592"/>
          </a:xfrm>
          <a:prstGeom prst="ellipse">
            <a:avLst/>
          </a:prstGeom>
          <a:solidFill>
            <a:srgbClr val="6E5E94"/>
          </a:solidFill>
          <a:ln w="12700">
            <a:solidFill>
              <a:srgbClr val="6E5E94"/>
            </a:solidFill>
            <a:prstDash val="solid"/>
          </a:ln>
        </p:spPr>
      </p:sp>
      <p:sp>
        <p:nvSpPr>
          <p:cNvPr id="65" name="Text 63"/>
          <p:cNvSpPr txBox="1"/>
          <p:nvPr/>
        </p:nvSpPr>
        <p:spPr>
          <a:xfrm>
            <a:off x="548640" y="6254496"/>
            <a:ext cx="11091672" cy="256032"/>
          </a:xfrm>
          <a:prstGeom prst="rect">
            <a:avLst/>
          </a:prstGeom>
          <a:noFill/>
          <a:ln/>
        </p:spPr>
        <p:txBody>
          <a:bodyPr wrap="square" lIns="0" tIns="0" rIns="0" bIns="0" rtlCol="0" anchor="ctr"/>
          <a:lstStyle/>
          <a:p>
            <a:pPr indent="0" marL="0">
              <a:buNone/>
            </a:pPr>
            <a:r>
              <a:rPr lang="en-US" sz="1200" b="1" dirty="0">
                <a:solidFill>
                  <a:srgbClr val="465A69"/>
                </a:solidFill>
                <a:latin typeface="Calibri" pitchFamily="34" charset="0"/>
                <a:ea typeface="Calibri" pitchFamily="34" charset="-122"/>
                <a:cs typeface="Calibri" pitchFamily="34" charset="-120"/>
              </a:rPr>
              <a:t>Acronyms:  </a:t>
            </a:r>
            <a:pPr indent="0" marL="0">
              <a:buNone/>
            </a:pPr>
            <a:r>
              <a:rPr lang="en-US" sz="1200" dirty="0">
                <a:solidFill>
                  <a:srgbClr val="465A69"/>
                </a:solidFill>
                <a:latin typeface="Calibri" pitchFamily="34" charset="0"/>
                <a:ea typeface="Calibri" pitchFamily="34" charset="-122"/>
                <a:cs typeface="Calibri" pitchFamily="34" charset="-120"/>
              </a:rPr>
              <a:t>HR: human resources;  IT: information technology</a:t>
            </a:r>
            <a:endParaRPr lang="en-US" sz="1200" dirty="0"/>
          </a:p>
        </p:txBody>
      </p:sp>
      <p:sp>
        <p:nvSpPr>
          <p:cNvPr id="66" name="Shape 64"/>
          <p:cNvSpPr/>
          <p:nvPr/>
        </p:nvSpPr>
        <p:spPr>
          <a:xfrm>
            <a:off x="548640" y="6537960"/>
            <a:ext cx="763524" cy="274320"/>
          </a:xfrm>
          <a:prstGeom prst="roundRect">
            <a:avLst>
              <a:gd name="adj" fmla="val 50000"/>
            </a:avLst>
          </a:prstGeom>
          <a:solidFill>
            <a:srgbClr val="23405A"/>
          </a:solidFill>
          <a:ln w="12700">
            <a:solidFill>
              <a:srgbClr val="23405A"/>
            </a:solidFill>
            <a:prstDash val="solid"/>
          </a:ln>
        </p:spPr>
      </p:sp>
      <p:sp>
        <p:nvSpPr>
          <p:cNvPr id="67" name="Text 65"/>
          <p:cNvSpPr txBox="1"/>
          <p:nvPr/>
        </p:nvSpPr>
        <p:spPr>
          <a:xfrm>
            <a:off x="548640" y="6537960"/>
            <a:ext cx="763524"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Start</a:t>
            </a:r>
            <a:endParaRPr lang="en-US" sz="1200" dirty="0"/>
          </a:p>
        </p:txBody>
      </p:sp>
      <p:pic>
        <p:nvPicPr>
          <p:cNvPr id="68" name="Image 0" descr="preencoded.png">
            <a:hlinkClick r:id="rId2" tooltip="Go to Start" action="ppaction://hlinksldjump"/>
          </p:cNvPr>
          <p:cNvPicPr>
            <a:picLocks noChangeAspect="1"/>
          </p:cNvPicPr>
          <p:nvPr/>
        </p:nvPicPr>
        <p:blipFill>
          <a:blip r:embed="rId1"/>
          <a:stretch>
            <a:fillRect/>
          </a:stretch>
        </p:blipFill>
        <p:spPr>
          <a:xfrm>
            <a:off x="548640" y="6537960"/>
            <a:ext cx="763524" cy="274320"/>
          </a:xfrm>
          <a:prstGeom prst="rect">
            <a:avLst/>
          </a:prstGeom>
        </p:spPr>
      </p:pic>
      <p:sp>
        <p:nvSpPr>
          <p:cNvPr id="69" name="Shape 66"/>
          <p:cNvSpPr/>
          <p:nvPr/>
        </p:nvSpPr>
        <p:spPr>
          <a:xfrm>
            <a:off x="1385316" y="6537960"/>
            <a:ext cx="1197864" cy="274320"/>
          </a:xfrm>
          <a:prstGeom prst="roundRect">
            <a:avLst>
              <a:gd name="adj" fmla="val 50000"/>
            </a:avLst>
          </a:prstGeom>
          <a:solidFill>
            <a:srgbClr val="F1F6FA"/>
          </a:solidFill>
          <a:ln w="12700">
            <a:solidFill>
              <a:srgbClr val="F1F6FA"/>
            </a:solidFill>
            <a:prstDash val="solid"/>
          </a:ln>
        </p:spPr>
      </p:sp>
      <p:sp>
        <p:nvSpPr>
          <p:cNvPr id="70" name="Text 67"/>
          <p:cNvSpPr txBox="1"/>
          <p:nvPr/>
        </p:nvSpPr>
        <p:spPr>
          <a:xfrm>
            <a:off x="1385316" y="6537960"/>
            <a:ext cx="1197864" cy="274320"/>
          </a:xfrm>
          <a:prstGeom prst="rect">
            <a:avLst/>
          </a:prstGeom>
          <a:noFill/>
          <a:ln/>
        </p:spPr>
        <p:txBody>
          <a:bodyPr wrap="square" lIns="0" tIns="0" rIns="0" bIns="0" rtlCol="0" anchor="ctr"/>
          <a:lstStyle/>
          <a:p>
            <a:pPr algn="ctr" indent="0" marL="0">
              <a:buNone/>
            </a:pPr>
            <a:r>
              <a:rPr lang="en-US" sz="1200" b="1" dirty="0">
                <a:solidFill>
                  <a:srgbClr val="3F6E8C"/>
                </a:solidFill>
                <a:latin typeface="Calibri" pitchFamily="34" charset="0"/>
                <a:ea typeface="Calibri" pitchFamily="34" charset="-122"/>
                <a:cs typeface="Calibri" pitchFamily="34" charset="-120"/>
              </a:rPr>
              <a:t>Scenario 1</a:t>
            </a:r>
            <a:endParaRPr lang="en-US" sz="1200" dirty="0"/>
          </a:p>
        </p:txBody>
      </p:sp>
      <p:pic>
        <p:nvPicPr>
          <p:cNvPr id="71" name="Image 1" descr="preencoded.png">
            <a:hlinkClick r:id="rId4" tooltip="Go to Scenario 1" action="ppaction://hlinksldjump"/>
          </p:cNvPr>
          <p:cNvPicPr>
            <a:picLocks noChangeAspect="1"/>
          </p:cNvPicPr>
          <p:nvPr/>
        </p:nvPicPr>
        <p:blipFill>
          <a:blip r:embed="rId3"/>
          <a:stretch>
            <a:fillRect/>
          </a:stretch>
        </p:blipFill>
        <p:spPr>
          <a:xfrm>
            <a:off x="1385316" y="6537960"/>
            <a:ext cx="1197864" cy="274320"/>
          </a:xfrm>
          <a:prstGeom prst="rect">
            <a:avLst/>
          </a:prstGeom>
        </p:spPr>
      </p:pic>
      <p:sp>
        <p:nvSpPr>
          <p:cNvPr id="72" name="Shape 68"/>
          <p:cNvSpPr/>
          <p:nvPr/>
        </p:nvSpPr>
        <p:spPr>
          <a:xfrm>
            <a:off x="2656332" y="6537960"/>
            <a:ext cx="1197864" cy="274320"/>
          </a:xfrm>
          <a:prstGeom prst="roundRect">
            <a:avLst>
              <a:gd name="adj" fmla="val 50000"/>
            </a:avLst>
          </a:prstGeom>
          <a:solidFill>
            <a:srgbClr val="F1F8F3"/>
          </a:solidFill>
          <a:ln w="12700">
            <a:solidFill>
              <a:srgbClr val="F1F8F3"/>
            </a:solidFill>
            <a:prstDash val="solid"/>
          </a:ln>
        </p:spPr>
      </p:sp>
      <p:sp>
        <p:nvSpPr>
          <p:cNvPr id="73" name="Text 69"/>
          <p:cNvSpPr txBox="1"/>
          <p:nvPr/>
        </p:nvSpPr>
        <p:spPr>
          <a:xfrm>
            <a:off x="2656332" y="6537960"/>
            <a:ext cx="1197864" cy="274320"/>
          </a:xfrm>
          <a:prstGeom prst="rect">
            <a:avLst/>
          </a:prstGeom>
          <a:noFill/>
          <a:ln/>
        </p:spPr>
        <p:txBody>
          <a:bodyPr wrap="square" lIns="0" tIns="0" rIns="0" bIns="0" rtlCol="0" anchor="ctr"/>
          <a:lstStyle/>
          <a:p>
            <a:pPr algn="ctr" indent="0" marL="0">
              <a:buNone/>
            </a:pPr>
            <a:r>
              <a:rPr lang="en-US" sz="1200" b="1" dirty="0">
                <a:solidFill>
                  <a:srgbClr val="4C8068"/>
                </a:solidFill>
                <a:latin typeface="Calibri" pitchFamily="34" charset="0"/>
                <a:ea typeface="Calibri" pitchFamily="34" charset="-122"/>
                <a:cs typeface="Calibri" pitchFamily="34" charset="-120"/>
              </a:rPr>
              <a:t>Scenario 2</a:t>
            </a:r>
            <a:endParaRPr lang="en-US" sz="1200" dirty="0"/>
          </a:p>
        </p:txBody>
      </p:sp>
      <p:pic>
        <p:nvPicPr>
          <p:cNvPr id="74" name="Image 2" descr="preencoded.png">
            <a:hlinkClick r:id="rId6" tooltip="Go to Scenario 2" action="ppaction://hlinksldjump"/>
          </p:cNvPr>
          <p:cNvPicPr>
            <a:picLocks noChangeAspect="1"/>
          </p:cNvPicPr>
          <p:nvPr/>
        </p:nvPicPr>
        <p:blipFill>
          <a:blip r:embed="rId5"/>
          <a:stretch>
            <a:fillRect/>
          </a:stretch>
        </p:blipFill>
        <p:spPr>
          <a:xfrm>
            <a:off x="2656332" y="6537960"/>
            <a:ext cx="1197864" cy="274320"/>
          </a:xfrm>
          <a:prstGeom prst="rect">
            <a:avLst/>
          </a:prstGeom>
        </p:spPr>
      </p:pic>
      <p:sp>
        <p:nvSpPr>
          <p:cNvPr id="75" name="Shape 70"/>
          <p:cNvSpPr/>
          <p:nvPr/>
        </p:nvSpPr>
        <p:spPr>
          <a:xfrm>
            <a:off x="3927348" y="6537960"/>
            <a:ext cx="1197864" cy="274320"/>
          </a:xfrm>
          <a:prstGeom prst="roundRect">
            <a:avLst>
              <a:gd name="adj" fmla="val 50000"/>
            </a:avLst>
          </a:prstGeom>
          <a:solidFill>
            <a:srgbClr val="F6F3FA"/>
          </a:solidFill>
          <a:ln w="12700">
            <a:solidFill>
              <a:srgbClr val="F6F3FA"/>
            </a:solidFill>
            <a:prstDash val="solid"/>
          </a:ln>
        </p:spPr>
      </p:sp>
      <p:sp>
        <p:nvSpPr>
          <p:cNvPr id="76" name="Text 71"/>
          <p:cNvSpPr txBox="1"/>
          <p:nvPr/>
        </p:nvSpPr>
        <p:spPr>
          <a:xfrm>
            <a:off x="3927348" y="6537960"/>
            <a:ext cx="1197864" cy="274320"/>
          </a:xfrm>
          <a:prstGeom prst="rect">
            <a:avLst/>
          </a:prstGeom>
          <a:noFill/>
          <a:ln/>
        </p:spPr>
        <p:txBody>
          <a:bodyPr wrap="square" lIns="0" tIns="0" rIns="0" bIns="0" rtlCol="0" anchor="ctr"/>
          <a:lstStyle/>
          <a:p>
            <a:pPr algn="ctr" indent="0" marL="0">
              <a:buNone/>
            </a:pPr>
            <a:r>
              <a:rPr lang="en-US" sz="1200" b="1" dirty="0">
                <a:solidFill>
                  <a:srgbClr val="6E5E94"/>
                </a:solidFill>
                <a:latin typeface="Calibri" pitchFamily="34" charset="0"/>
                <a:ea typeface="Calibri" pitchFamily="34" charset="-122"/>
                <a:cs typeface="Calibri" pitchFamily="34" charset="-120"/>
              </a:rPr>
              <a:t>Scenario 3</a:t>
            </a:r>
            <a:endParaRPr lang="en-US" sz="1200" dirty="0"/>
          </a:p>
        </p:txBody>
      </p:sp>
      <p:pic>
        <p:nvPicPr>
          <p:cNvPr id="77" name="Image 3" descr="preencoded.png">
            <a:hlinkClick r:id="rId8" tooltip="Go to Scenario 3" action="ppaction://hlinksldjump"/>
          </p:cNvPr>
          <p:cNvPicPr>
            <a:picLocks noChangeAspect="1"/>
          </p:cNvPicPr>
          <p:nvPr/>
        </p:nvPicPr>
        <p:blipFill>
          <a:blip r:embed="rId7"/>
          <a:stretch>
            <a:fillRect/>
          </a:stretch>
        </p:blipFill>
        <p:spPr>
          <a:xfrm>
            <a:off x="3927348" y="6537960"/>
            <a:ext cx="1197864" cy="274320"/>
          </a:xfrm>
          <a:prstGeom prst="rect">
            <a:avLst/>
          </a:prstGeom>
        </p:spPr>
      </p:pic>
      <p:sp>
        <p:nvSpPr>
          <p:cNvPr id="78" name="Shape 72"/>
          <p:cNvSpPr/>
          <p:nvPr/>
        </p:nvSpPr>
        <p:spPr>
          <a:xfrm>
            <a:off x="5198364" y="6537960"/>
            <a:ext cx="937260" cy="274320"/>
          </a:xfrm>
          <a:prstGeom prst="roundRect">
            <a:avLst>
              <a:gd name="adj" fmla="val 50000"/>
            </a:avLst>
          </a:prstGeom>
          <a:solidFill>
            <a:srgbClr val="E4ECF2"/>
          </a:solidFill>
          <a:ln w="12700">
            <a:solidFill>
              <a:srgbClr val="E4ECF2"/>
            </a:solidFill>
            <a:prstDash val="solid"/>
          </a:ln>
        </p:spPr>
      </p:sp>
      <p:sp>
        <p:nvSpPr>
          <p:cNvPr id="79" name="Text 73"/>
          <p:cNvSpPr txBox="1"/>
          <p:nvPr/>
        </p:nvSpPr>
        <p:spPr>
          <a:xfrm>
            <a:off x="5198364" y="6537960"/>
            <a:ext cx="937260" cy="274320"/>
          </a:xfrm>
          <a:prstGeom prst="rect">
            <a:avLst/>
          </a:prstGeom>
          <a:noFill/>
          <a:ln/>
        </p:spPr>
        <p:txBody>
          <a:bodyPr wrap="square" lIns="0" tIns="0" rIns="0" bIns="0" rtlCol="0" anchor="ctr"/>
          <a:lstStyle/>
          <a:p>
            <a:pPr algn="ctr" indent="0" marL="0">
              <a:buNone/>
            </a:pPr>
            <a:r>
              <a:rPr lang="en-US" sz="1200" b="1" dirty="0">
                <a:solidFill>
                  <a:srgbClr val="23405A"/>
                </a:solidFill>
                <a:latin typeface="Calibri" pitchFamily="34" charset="0"/>
                <a:ea typeface="Calibri" pitchFamily="34" charset="-122"/>
                <a:cs typeface="Calibri" pitchFamily="34" charset="-120"/>
              </a:rPr>
              <a:t>Closing</a:t>
            </a:r>
            <a:endParaRPr lang="en-US" sz="1200" dirty="0"/>
          </a:p>
        </p:txBody>
      </p:sp>
      <p:pic>
        <p:nvPicPr>
          <p:cNvPr id="80" name="Image 4" descr="preencoded.png">
            <a:hlinkClick r:id="rId10" tooltip="Go to Closing" action="ppaction://hlinksldjump"/>
          </p:cNvPr>
          <p:cNvPicPr>
            <a:picLocks noChangeAspect="1"/>
          </p:cNvPicPr>
          <p:nvPr/>
        </p:nvPicPr>
        <p:blipFill>
          <a:blip r:embed="rId9"/>
          <a:stretch>
            <a:fillRect/>
          </a:stretch>
        </p:blipFill>
        <p:spPr>
          <a:xfrm>
            <a:off x="5198364" y="6537960"/>
            <a:ext cx="937260" cy="274320"/>
          </a:xfrm>
          <a:prstGeom prst="rect">
            <a:avLst/>
          </a:prstGeom>
        </p:spPr>
      </p:pic>
      <p:sp>
        <p:nvSpPr>
          <p:cNvPr id="81" name="Text 74"/>
          <p:cNvSpPr txBox="1"/>
          <p:nvPr/>
        </p:nvSpPr>
        <p:spPr>
          <a:xfrm>
            <a:off x="11277295" y="6537960"/>
            <a:ext cx="365760" cy="274320"/>
          </a:xfrm>
          <a:prstGeom prst="rect">
            <a:avLst/>
          </a:prstGeom>
          <a:noFill/>
          <a:ln/>
        </p:spPr>
        <p:txBody>
          <a:bodyPr wrap="square" lIns="0" tIns="0" rIns="0" bIns="0" rtlCol="0" anchor="ctr"/>
          <a:lstStyle/>
          <a:p>
            <a:pPr algn="r" indent="0" marL="0">
              <a:buNone/>
            </a:pPr>
            <a:r>
              <a:rPr lang="en-US" sz="1200" dirty="0">
                <a:solidFill>
                  <a:srgbClr val="465A69"/>
                </a:solidFill>
                <a:latin typeface="Calibri" pitchFamily="34" charset="0"/>
                <a:ea typeface="Calibri" pitchFamily="34" charset="-122"/>
                <a:cs typeface="Calibri"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EF2F1"/>
        </a:solidFill>
      </p:bgPr>
    </p:bg>
    <p:spTree>
      <p:nvGrpSpPr>
        <p:cNvPr id="1" name=""/>
        <p:cNvGrpSpPr/>
        <p:nvPr/>
      </p:nvGrpSpPr>
      <p:grpSpPr>
        <a:xfrm>
          <a:off x="0" y="0"/>
          <a:ext cx="0" cy="0"/>
          <a:chOff x="0" y="0"/>
          <a:chExt cx="0" cy="0"/>
        </a:xfrm>
      </p:grpSpPr>
      <p:sp>
        <p:nvSpPr>
          <p:cNvPr id="2" name="Shape 0"/>
          <p:cNvSpPr/>
          <p:nvPr/>
        </p:nvSpPr>
        <p:spPr>
          <a:xfrm>
            <a:off x="548640" y="347472"/>
            <a:ext cx="1280160" cy="329184"/>
          </a:xfrm>
          <a:prstGeom prst="roundRect">
            <a:avLst>
              <a:gd name="adj" fmla="val 50000"/>
            </a:avLst>
          </a:prstGeom>
          <a:solidFill>
            <a:srgbClr val="E4ECF2"/>
          </a:solidFill>
          <a:ln w="12700">
            <a:solidFill>
              <a:srgbClr val="E4ECF2"/>
            </a:solidFill>
            <a:prstDash val="solid"/>
          </a:ln>
        </p:spPr>
      </p:sp>
      <p:sp>
        <p:nvSpPr>
          <p:cNvPr id="3" name="Text 1"/>
          <p:cNvSpPr txBox="1"/>
          <p:nvPr/>
        </p:nvSpPr>
        <p:spPr>
          <a:xfrm>
            <a:off x="548640" y="347472"/>
            <a:ext cx="1280160" cy="329184"/>
          </a:xfrm>
          <a:prstGeom prst="rect">
            <a:avLst/>
          </a:prstGeom>
          <a:noFill/>
          <a:ln/>
        </p:spPr>
        <p:txBody>
          <a:bodyPr wrap="square" lIns="0" tIns="0" rIns="0" bIns="0" rtlCol="0" anchor="ctr"/>
          <a:lstStyle/>
          <a:p>
            <a:pPr algn="ctr" indent="0" marL="0">
              <a:buNone/>
            </a:pPr>
            <a:r>
              <a:rPr lang="en-US" sz="1200" b="1" dirty="0">
                <a:solidFill>
                  <a:srgbClr val="23405A"/>
                </a:solidFill>
                <a:latin typeface="Calibri" pitchFamily="34" charset="0"/>
                <a:ea typeface="Calibri" pitchFamily="34" charset="-122"/>
                <a:cs typeface="Calibri" pitchFamily="34" charset="-120"/>
              </a:rPr>
              <a:t>Start here</a:t>
            </a:r>
            <a:endParaRPr lang="en-US" sz="1200" dirty="0"/>
          </a:p>
        </p:txBody>
      </p:sp>
      <p:sp>
        <p:nvSpPr>
          <p:cNvPr id="4" name="Text 2"/>
          <p:cNvSpPr txBox="1"/>
          <p:nvPr/>
        </p:nvSpPr>
        <p:spPr>
          <a:xfrm>
            <a:off x="548640" y="749808"/>
            <a:ext cx="11064240" cy="640080"/>
          </a:xfrm>
          <a:prstGeom prst="rect">
            <a:avLst/>
          </a:prstGeom>
          <a:noFill/>
          <a:ln/>
        </p:spPr>
        <p:txBody>
          <a:bodyPr wrap="square" lIns="0" tIns="0" rIns="0" bIns="0" rtlCol="0" anchor="ctr"/>
          <a:lstStyle/>
          <a:p>
            <a:pPr indent="0" marL="0">
              <a:buNone/>
            </a:pPr>
            <a:r>
              <a:rPr lang="en-US" sz="2800" b="1" dirty="0">
                <a:solidFill>
                  <a:srgbClr val="23405A"/>
                </a:solidFill>
                <a:latin typeface="Calibri" pitchFamily="34" charset="0"/>
                <a:ea typeface="Calibri" pitchFamily="34" charset="-122"/>
                <a:cs typeface="Calibri" pitchFamily="34" charset="-120"/>
              </a:rPr>
              <a:t>Exercise map: jump to any scenario</a:t>
            </a:r>
            <a:endParaRPr lang="en-US" sz="2800" dirty="0"/>
          </a:p>
        </p:txBody>
      </p:sp>
      <p:sp>
        <p:nvSpPr>
          <p:cNvPr id="5" name="Shape 3"/>
          <p:cNvSpPr/>
          <p:nvPr/>
        </p:nvSpPr>
        <p:spPr>
          <a:xfrm>
            <a:off x="548640" y="1600200"/>
            <a:ext cx="3520440" cy="3291840"/>
          </a:xfrm>
          <a:prstGeom prst="roundRect">
            <a:avLst>
              <a:gd name="adj" fmla="val 3889"/>
            </a:avLst>
          </a:prstGeom>
          <a:solidFill>
            <a:srgbClr val="E6EEF6"/>
          </a:solidFill>
          <a:ln w="12700">
            <a:solidFill>
              <a:srgbClr val="E6EEF6"/>
            </a:solidFill>
            <a:prstDash val="solid"/>
          </a:ln>
          <a:effectLst>
            <a:outerShdw sx="100000" sy="100000" kx="0" ky="0" algn="bl" rotWithShape="0" blurRad="177800" dist="50800" dir="5400000">
              <a:srgbClr val="1B4965">
                <a:alpha val="16000"/>
              </a:srgbClr>
            </a:outerShdw>
          </a:effectLst>
        </p:spPr>
      </p:sp>
      <p:sp>
        <p:nvSpPr>
          <p:cNvPr id="6" name="Shape 4"/>
          <p:cNvSpPr/>
          <p:nvPr/>
        </p:nvSpPr>
        <p:spPr>
          <a:xfrm>
            <a:off x="822960" y="1874520"/>
            <a:ext cx="731520" cy="731520"/>
          </a:xfrm>
          <a:prstGeom prst="roundRect">
            <a:avLst>
              <a:gd name="adj" fmla="val 50000"/>
            </a:avLst>
          </a:prstGeom>
          <a:solidFill>
            <a:srgbClr val="FFFFFF"/>
          </a:solidFill>
          <a:ln w="12700">
            <a:solidFill>
              <a:srgbClr val="FFFFFF"/>
            </a:solidFill>
            <a:prstDash val="solid"/>
          </a:ln>
        </p:spPr>
      </p:sp>
      <p:pic>
        <p:nvPicPr>
          <p:cNvPr id="7" name="Image 0" descr="preencoded.png">    </p:cNvPr>
          <p:cNvPicPr>
            <a:picLocks noChangeAspect="1"/>
          </p:cNvPicPr>
          <p:nvPr/>
        </p:nvPicPr>
        <p:blipFill>
          <a:blip r:embed="rId1"/>
          <a:stretch>
            <a:fillRect/>
          </a:stretch>
        </p:blipFill>
        <p:spPr>
          <a:xfrm>
            <a:off x="1005840" y="2057400"/>
            <a:ext cx="365760" cy="365760"/>
          </a:xfrm>
          <a:prstGeom prst="rect">
            <a:avLst/>
          </a:prstGeom>
        </p:spPr>
      </p:pic>
      <p:sp>
        <p:nvSpPr>
          <p:cNvPr id="8" name="Text 5"/>
          <p:cNvSpPr txBox="1"/>
          <p:nvPr/>
        </p:nvSpPr>
        <p:spPr>
          <a:xfrm>
            <a:off x="1737360" y="1920240"/>
            <a:ext cx="2103120" cy="274320"/>
          </a:xfrm>
          <a:prstGeom prst="rect">
            <a:avLst/>
          </a:prstGeom>
          <a:noFill/>
          <a:ln/>
        </p:spPr>
        <p:txBody>
          <a:bodyPr wrap="square" lIns="0" tIns="0" rIns="0" bIns="0" rtlCol="0" anchor="t"/>
          <a:lstStyle/>
          <a:p>
            <a:pPr indent="0" marL="0">
              <a:buNone/>
            </a:pPr>
            <a:r>
              <a:rPr lang="en-US" sz="1200" b="1" dirty="0">
                <a:solidFill>
                  <a:srgbClr val="3F6E8C"/>
                </a:solidFill>
                <a:latin typeface="Calibri" pitchFamily="34" charset="0"/>
                <a:ea typeface="Calibri" pitchFamily="34" charset="-122"/>
                <a:cs typeface="Calibri" pitchFamily="34" charset="-120"/>
              </a:rPr>
              <a:t>Scenario 1</a:t>
            </a:r>
            <a:endParaRPr lang="en-US" sz="1200" dirty="0"/>
          </a:p>
        </p:txBody>
      </p:sp>
      <p:sp>
        <p:nvSpPr>
          <p:cNvPr id="9" name="Text 6"/>
          <p:cNvSpPr txBox="1"/>
          <p:nvPr/>
        </p:nvSpPr>
        <p:spPr>
          <a:xfrm>
            <a:off x="1737360" y="2194560"/>
            <a:ext cx="2194560" cy="411480"/>
          </a:xfrm>
          <a:prstGeom prst="rect">
            <a:avLst/>
          </a:prstGeom>
          <a:noFill/>
          <a:ln/>
        </p:spPr>
        <p:txBody>
          <a:bodyPr wrap="square" lIns="0" tIns="0" rIns="0" bIns="0" rtlCol="0" anchor="t"/>
          <a:lstStyle/>
          <a:p>
            <a:pPr indent="0" marL="0">
              <a:buNone/>
            </a:pPr>
            <a:r>
              <a:rPr lang="en-US" sz="1800" b="1" dirty="0">
                <a:solidFill>
                  <a:srgbClr val="1E2E3A"/>
                </a:solidFill>
                <a:latin typeface="Calibri" pitchFamily="34" charset="0"/>
                <a:ea typeface="Calibri" pitchFamily="34" charset="-122"/>
                <a:cs typeface="Calibri" pitchFamily="34" charset="-120"/>
              </a:rPr>
              <a:t>Incident Response</a:t>
            </a:r>
            <a:endParaRPr lang="en-US" sz="1800" dirty="0"/>
          </a:p>
        </p:txBody>
      </p:sp>
      <p:sp>
        <p:nvSpPr>
          <p:cNvPr id="10" name="Text 7"/>
          <p:cNvSpPr txBox="1"/>
          <p:nvPr/>
        </p:nvSpPr>
        <p:spPr>
          <a:xfrm>
            <a:off x="822960" y="2834640"/>
            <a:ext cx="2971800" cy="1005840"/>
          </a:xfrm>
          <a:prstGeom prst="rect">
            <a:avLst/>
          </a:prstGeom>
          <a:noFill/>
          <a:ln/>
        </p:spPr>
        <p:txBody>
          <a:bodyPr wrap="square" lIns="0" tIns="0" rIns="0" bIns="0" rtlCol="0" anchor="t"/>
          <a:lstStyle/>
          <a:p>
            <a:pPr indent="0" marL="0">
              <a:buNone/>
            </a:pPr>
            <a:r>
              <a:rPr lang="en-US" sz="1400" i="1" dirty="0">
                <a:solidFill>
                  <a:srgbClr val="3F6E8C"/>
                </a:solidFill>
                <a:latin typeface="Calibri" pitchFamily="34" charset="0"/>
                <a:ea typeface="Calibri" pitchFamily="34" charset="-122"/>
                <a:cs typeface="Calibri" pitchFamily="34" charset="-120"/>
              </a:rPr>
              <a:t>Can we detect, contain, and manage a SaaS-based cyber attack?</a:t>
            </a:r>
            <a:endParaRPr lang="en-US" sz="1400" dirty="0"/>
          </a:p>
        </p:txBody>
      </p:sp>
      <p:sp>
        <p:nvSpPr>
          <p:cNvPr id="11" name="Shape 8"/>
          <p:cNvSpPr/>
          <p:nvPr/>
        </p:nvSpPr>
        <p:spPr>
          <a:xfrm>
            <a:off x="822960" y="4114800"/>
            <a:ext cx="2971800" cy="457200"/>
          </a:xfrm>
          <a:prstGeom prst="roundRect">
            <a:avLst>
              <a:gd name="adj" fmla="val 50000"/>
            </a:avLst>
          </a:prstGeom>
          <a:solidFill>
            <a:srgbClr val="3F6E8C"/>
          </a:solidFill>
          <a:ln w="12700">
            <a:solidFill>
              <a:srgbClr val="3F6E8C"/>
            </a:solidFill>
            <a:prstDash val="solid"/>
          </a:ln>
        </p:spPr>
      </p:sp>
      <p:sp>
        <p:nvSpPr>
          <p:cNvPr id="12" name="Text 9"/>
          <p:cNvSpPr txBox="1"/>
          <p:nvPr/>
        </p:nvSpPr>
        <p:spPr>
          <a:xfrm>
            <a:off x="822960" y="4114800"/>
            <a:ext cx="29718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Go to Scenario 1</a:t>
            </a:r>
            <a:endParaRPr lang="en-US" sz="1300" dirty="0"/>
          </a:p>
        </p:txBody>
      </p:sp>
      <p:pic>
        <p:nvPicPr>
          <p:cNvPr id="13" name="Image 1" descr="preencoded.png">
            <a:hlinkClick r:id="rId3" tooltip="Go to Scenario 1" action="ppaction://hlinksldjump"/>
          </p:cNvPr>
          <p:cNvPicPr>
            <a:picLocks noChangeAspect="1"/>
          </p:cNvPicPr>
          <p:nvPr/>
        </p:nvPicPr>
        <p:blipFill>
          <a:blip r:embed="rId2"/>
          <a:stretch>
            <a:fillRect/>
          </a:stretch>
        </p:blipFill>
        <p:spPr>
          <a:xfrm>
            <a:off x="548640" y="1600200"/>
            <a:ext cx="3520440" cy="3291840"/>
          </a:xfrm>
          <a:prstGeom prst="rect">
            <a:avLst/>
          </a:prstGeom>
        </p:spPr>
      </p:pic>
      <p:sp>
        <p:nvSpPr>
          <p:cNvPr id="14" name="Shape 10"/>
          <p:cNvSpPr/>
          <p:nvPr/>
        </p:nvSpPr>
        <p:spPr>
          <a:xfrm>
            <a:off x="4370832" y="1600200"/>
            <a:ext cx="3520440" cy="3291840"/>
          </a:xfrm>
          <a:prstGeom prst="roundRect">
            <a:avLst>
              <a:gd name="adj" fmla="val 3889"/>
            </a:avLst>
          </a:prstGeom>
          <a:solidFill>
            <a:srgbClr val="E6F2E9"/>
          </a:solidFill>
          <a:ln w="12700">
            <a:solidFill>
              <a:srgbClr val="E6F2E9"/>
            </a:solidFill>
            <a:prstDash val="solid"/>
          </a:ln>
          <a:effectLst>
            <a:outerShdw sx="100000" sy="100000" kx="0" ky="0" algn="bl" rotWithShape="0" blurRad="177800" dist="50800" dir="5400000">
              <a:srgbClr val="1B4965">
                <a:alpha val="16000"/>
              </a:srgbClr>
            </a:outerShdw>
          </a:effectLst>
        </p:spPr>
      </p:sp>
      <p:sp>
        <p:nvSpPr>
          <p:cNvPr id="15" name="Shape 11"/>
          <p:cNvSpPr/>
          <p:nvPr/>
        </p:nvSpPr>
        <p:spPr>
          <a:xfrm>
            <a:off x="4645152" y="1874520"/>
            <a:ext cx="731520" cy="731520"/>
          </a:xfrm>
          <a:prstGeom prst="roundRect">
            <a:avLst>
              <a:gd name="adj" fmla="val 50000"/>
            </a:avLst>
          </a:prstGeom>
          <a:solidFill>
            <a:srgbClr val="FFFFFF"/>
          </a:solidFill>
          <a:ln w="12700">
            <a:solidFill>
              <a:srgbClr val="FFFFFF"/>
            </a:solidFill>
            <a:prstDash val="solid"/>
          </a:ln>
        </p:spPr>
      </p:sp>
      <p:pic>
        <p:nvPicPr>
          <p:cNvPr id="16" name="Image 2" descr="preencoded.png">    </p:cNvPr>
          <p:cNvPicPr>
            <a:picLocks noChangeAspect="1"/>
          </p:cNvPicPr>
          <p:nvPr/>
        </p:nvPicPr>
        <p:blipFill>
          <a:blip r:embed="rId4"/>
          <a:stretch>
            <a:fillRect/>
          </a:stretch>
        </p:blipFill>
        <p:spPr>
          <a:xfrm>
            <a:off x="4828032" y="2057400"/>
            <a:ext cx="365760" cy="365760"/>
          </a:xfrm>
          <a:prstGeom prst="rect">
            <a:avLst/>
          </a:prstGeom>
        </p:spPr>
      </p:pic>
      <p:sp>
        <p:nvSpPr>
          <p:cNvPr id="17" name="Text 12"/>
          <p:cNvSpPr txBox="1"/>
          <p:nvPr/>
        </p:nvSpPr>
        <p:spPr>
          <a:xfrm>
            <a:off x="5559552" y="1920240"/>
            <a:ext cx="2103120" cy="274320"/>
          </a:xfrm>
          <a:prstGeom prst="rect">
            <a:avLst/>
          </a:prstGeom>
          <a:noFill/>
          <a:ln/>
        </p:spPr>
        <p:txBody>
          <a:bodyPr wrap="square" lIns="0" tIns="0" rIns="0" bIns="0" rtlCol="0" anchor="t"/>
          <a:lstStyle/>
          <a:p>
            <a:pPr indent="0" marL="0">
              <a:buNone/>
            </a:pPr>
            <a:r>
              <a:rPr lang="en-US" sz="1200" b="1" dirty="0">
                <a:solidFill>
                  <a:srgbClr val="4C8068"/>
                </a:solidFill>
                <a:latin typeface="Calibri" pitchFamily="34" charset="0"/>
                <a:ea typeface="Calibri" pitchFamily="34" charset="-122"/>
                <a:cs typeface="Calibri" pitchFamily="34" charset="-120"/>
              </a:rPr>
              <a:t>Scenario 2</a:t>
            </a:r>
            <a:endParaRPr lang="en-US" sz="1200" dirty="0"/>
          </a:p>
        </p:txBody>
      </p:sp>
      <p:sp>
        <p:nvSpPr>
          <p:cNvPr id="18" name="Text 13"/>
          <p:cNvSpPr txBox="1"/>
          <p:nvPr/>
        </p:nvSpPr>
        <p:spPr>
          <a:xfrm>
            <a:off x="5559552" y="2194560"/>
            <a:ext cx="2194560" cy="411480"/>
          </a:xfrm>
          <a:prstGeom prst="rect">
            <a:avLst/>
          </a:prstGeom>
          <a:noFill/>
          <a:ln/>
        </p:spPr>
        <p:txBody>
          <a:bodyPr wrap="square" lIns="0" tIns="0" rIns="0" bIns="0" rtlCol="0" anchor="t"/>
          <a:lstStyle/>
          <a:p>
            <a:pPr indent="0" marL="0">
              <a:buNone/>
            </a:pPr>
            <a:r>
              <a:rPr lang="en-US" sz="1800" b="1" dirty="0">
                <a:solidFill>
                  <a:srgbClr val="1E2E3A"/>
                </a:solidFill>
                <a:latin typeface="Calibri" pitchFamily="34" charset="0"/>
                <a:ea typeface="Calibri" pitchFamily="34" charset="-122"/>
                <a:cs typeface="Calibri" pitchFamily="34" charset="-120"/>
              </a:rPr>
              <a:t>Disaster Recovery</a:t>
            </a:r>
            <a:endParaRPr lang="en-US" sz="1800" dirty="0"/>
          </a:p>
        </p:txBody>
      </p:sp>
      <p:sp>
        <p:nvSpPr>
          <p:cNvPr id="19" name="Text 14"/>
          <p:cNvSpPr txBox="1"/>
          <p:nvPr/>
        </p:nvSpPr>
        <p:spPr>
          <a:xfrm>
            <a:off x="4645152" y="2834640"/>
            <a:ext cx="2971800" cy="1005840"/>
          </a:xfrm>
          <a:prstGeom prst="rect">
            <a:avLst/>
          </a:prstGeom>
          <a:noFill/>
          <a:ln/>
        </p:spPr>
        <p:txBody>
          <a:bodyPr wrap="square" lIns="0" tIns="0" rIns="0" bIns="0" rtlCol="0" anchor="t"/>
          <a:lstStyle/>
          <a:p>
            <a:pPr indent="0" marL="0">
              <a:buNone/>
            </a:pPr>
            <a:r>
              <a:rPr lang="en-US" sz="1400" i="1" dirty="0">
                <a:solidFill>
                  <a:srgbClr val="4C8068"/>
                </a:solidFill>
                <a:latin typeface="Calibri" pitchFamily="34" charset="0"/>
                <a:ea typeface="Calibri" pitchFamily="34" charset="-122"/>
                <a:cs typeface="Calibri" pitchFamily="34" charset="-120"/>
              </a:rPr>
              <a:t>Can we recover from a major cloud or SaaS service disruption?</a:t>
            </a:r>
            <a:endParaRPr lang="en-US" sz="1400" dirty="0"/>
          </a:p>
        </p:txBody>
      </p:sp>
      <p:sp>
        <p:nvSpPr>
          <p:cNvPr id="20" name="Shape 15"/>
          <p:cNvSpPr/>
          <p:nvPr/>
        </p:nvSpPr>
        <p:spPr>
          <a:xfrm>
            <a:off x="4645152" y="4114800"/>
            <a:ext cx="2971800" cy="457200"/>
          </a:xfrm>
          <a:prstGeom prst="roundRect">
            <a:avLst>
              <a:gd name="adj" fmla="val 50000"/>
            </a:avLst>
          </a:prstGeom>
          <a:solidFill>
            <a:srgbClr val="4C8068"/>
          </a:solidFill>
          <a:ln w="12700">
            <a:solidFill>
              <a:srgbClr val="4C8068"/>
            </a:solidFill>
            <a:prstDash val="solid"/>
          </a:ln>
        </p:spPr>
      </p:sp>
      <p:sp>
        <p:nvSpPr>
          <p:cNvPr id="21" name="Text 16"/>
          <p:cNvSpPr txBox="1"/>
          <p:nvPr/>
        </p:nvSpPr>
        <p:spPr>
          <a:xfrm>
            <a:off x="4645152" y="4114800"/>
            <a:ext cx="29718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Go to Scenario 2</a:t>
            </a:r>
            <a:endParaRPr lang="en-US" sz="1300" dirty="0"/>
          </a:p>
        </p:txBody>
      </p:sp>
      <p:pic>
        <p:nvPicPr>
          <p:cNvPr id="22" name="Image 3" descr="preencoded.png">
            <a:hlinkClick r:id="rId6" tooltip="Go to Scenario 2" action="ppaction://hlinksldjump"/>
          </p:cNvPr>
          <p:cNvPicPr>
            <a:picLocks noChangeAspect="1"/>
          </p:cNvPicPr>
          <p:nvPr/>
        </p:nvPicPr>
        <p:blipFill>
          <a:blip r:embed="rId5"/>
          <a:stretch>
            <a:fillRect/>
          </a:stretch>
        </p:blipFill>
        <p:spPr>
          <a:xfrm>
            <a:off x="4370832" y="1600200"/>
            <a:ext cx="3520440" cy="3291840"/>
          </a:xfrm>
          <a:prstGeom prst="rect">
            <a:avLst/>
          </a:prstGeom>
        </p:spPr>
      </p:pic>
      <p:sp>
        <p:nvSpPr>
          <p:cNvPr id="23" name="Shape 17"/>
          <p:cNvSpPr/>
          <p:nvPr/>
        </p:nvSpPr>
        <p:spPr>
          <a:xfrm>
            <a:off x="8193024" y="1600200"/>
            <a:ext cx="3520440" cy="3291840"/>
          </a:xfrm>
          <a:prstGeom prst="roundRect">
            <a:avLst>
              <a:gd name="adj" fmla="val 3889"/>
            </a:avLst>
          </a:prstGeom>
          <a:solidFill>
            <a:srgbClr val="EEEAF5"/>
          </a:solidFill>
          <a:ln w="12700">
            <a:solidFill>
              <a:srgbClr val="EEEAF5"/>
            </a:solidFill>
            <a:prstDash val="solid"/>
          </a:ln>
          <a:effectLst>
            <a:outerShdw sx="100000" sy="100000" kx="0" ky="0" algn="bl" rotWithShape="0" blurRad="177800" dist="50800" dir="5400000">
              <a:srgbClr val="1B4965">
                <a:alpha val="16000"/>
              </a:srgbClr>
            </a:outerShdw>
          </a:effectLst>
        </p:spPr>
      </p:sp>
      <p:sp>
        <p:nvSpPr>
          <p:cNvPr id="24" name="Shape 18"/>
          <p:cNvSpPr/>
          <p:nvPr/>
        </p:nvSpPr>
        <p:spPr>
          <a:xfrm>
            <a:off x="8467344" y="1874520"/>
            <a:ext cx="731520" cy="731520"/>
          </a:xfrm>
          <a:prstGeom prst="roundRect">
            <a:avLst>
              <a:gd name="adj" fmla="val 50000"/>
            </a:avLst>
          </a:prstGeom>
          <a:solidFill>
            <a:srgbClr val="FFFFFF"/>
          </a:solidFill>
          <a:ln w="12700">
            <a:solidFill>
              <a:srgbClr val="FFFFFF"/>
            </a:solidFill>
            <a:prstDash val="solid"/>
          </a:ln>
        </p:spPr>
      </p:sp>
      <p:pic>
        <p:nvPicPr>
          <p:cNvPr id="25" name="Image 4" descr="preencoded.png">    </p:cNvPr>
          <p:cNvPicPr>
            <a:picLocks noChangeAspect="1"/>
          </p:cNvPicPr>
          <p:nvPr/>
        </p:nvPicPr>
        <p:blipFill>
          <a:blip r:embed="rId7"/>
          <a:stretch>
            <a:fillRect/>
          </a:stretch>
        </p:blipFill>
        <p:spPr>
          <a:xfrm>
            <a:off x="8650224" y="2057400"/>
            <a:ext cx="365760" cy="365760"/>
          </a:xfrm>
          <a:prstGeom prst="rect">
            <a:avLst/>
          </a:prstGeom>
        </p:spPr>
      </p:pic>
      <p:sp>
        <p:nvSpPr>
          <p:cNvPr id="26" name="Text 19"/>
          <p:cNvSpPr txBox="1"/>
          <p:nvPr/>
        </p:nvSpPr>
        <p:spPr>
          <a:xfrm>
            <a:off x="9381744" y="1920240"/>
            <a:ext cx="2103120" cy="274320"/>
          </a:xfrm>
          <a:prstGeom prst="rect">
            <a:avLst/>
          </a:prstGeom>
          <a:noFill/>
          <a:ln/>
        </p:spPr>
        <p:txBody>
          <a:bodyPr wrap="square" lIns="0" tIns="0" rIns="0" bIns="0" rtlCol="0" anchor="t"/>
          <a:lstStyle/>
          <a:p>
            <a:pPr indent="0" marL="0">
              <a:buNone/>
            </a:pPr>
            <a:r>
              <a:rPr lang="en-US" sz="1200" b="1" dirty="0">
                <a:solidFill>
                  <a:srgbClr val="6E5E94"/>
                </a:solidFill>
                <a:latin typeface="Calibri" pitchFamily="34" charset="0"/>
                <a:ea typeface="Calibri" pitchFamily="34" charset="-122"/>
                <a:cs typeface="Calibri" pitchFamily="34" charset="-120"/>
              </a:rPr>
              <a:t>Scenario 3</a:t>
            </a:r>
            <a:endParaRPr lang="en-US" sz="1200" dirty="0"/>
          </a:p>
        </p:txBody>
      </p:sp>
      <p:sp>
        <p:nvSpPr>
          <p:cNvPr id="27" name="Text 20"/>
          <p:cNvSpPr txBox="1"/>
          <p:nvPr/>
        </p:nvSpPr>
        <p:spPr>
          <a:xfrm>
            <a:off x="9381744" y="2194560"/>
            <a:ext cx="2194560" cy="411480"/>
          </a:xfrm>
          <a:prstGeom prst="rect">
            <a:avLst/>
          </a:prstGeom>
          <a:noFill/>
          <a:ln/>
        </p:spPr>
        <p:txBody>
          <a:bodyPr wrap="square" lIns="0" tIns="0" rIns="0" bIns="0" rtlCol="0" anchor="t"/>
          <a:lstStyle/>
          <a:p>
            <a:pPr indent="0" marL="0">
              <a:buNone/>
            </a:pPr>
            <a:r>
              <a:rPr lang="en-US" sz="1800" b="1" dirty="0">
                <a:solidFill>
                  <a:srgbClr val="1E2E3A"/>
                </a:solidFill>
                <a:latin typeface="Calibri" pitchFamily="34" charset="0"/>
                <a:ea typeface="Calibri" pitchFamily="34" charset="-122"/>
                <a:cs typeface="Calibri" pitchFamily="34" charset="-120"/>
              </a:rPr>
              <a:t>Business Continuity</a:t>
            </a:r>
            <a:endParaRPr lang="en-US" sz="1800" dirty="0"/>
          </a:p>
        </p:txBody>
      </p:sp>
      <p:sp>
        <p:nvSpPr>
          <p:cNvPr id="28" name="Text 21"/>
          <p:cNvSpPr txBox="1"/>
          <p:nvPr/>
        </p:nvSpPr>
        <p:spPr>
          <a:xfrm>
            <a:off x="8467344" y="2834640"/>
            <a:ext cx="2971800" cy="1005840"/>
          </a:xfrm>
          <a:prstGeom prst="rect">
            <a:avLst/>
          </a:prstGeom>
          <a:noFill/>
          <a:ln/>
        </p:spPr>
        <p:txBody>
          <a:bodyPr wrap="square" lIns="0" tIns="0" rIns="0" bIns="0" rtlCol="0" anchor="t"/>
          <a:lstStyle/>
          <a:p>
            <a:pPr indent="0" marL="0">
              <a:buNone/>
            </a:pPr>
            <a:r>
              <a:rPr lang="en-US" sz="1400" i="1" dirty="0">
                <a:solidFill>
                  <a:srgbClr val="6E5E94"/>
                </a:solidFill>
                <a:latin typeface="Calibri" pitchFamily="34" charset="0"/>
                <a:ea typeface="Calibri" pitchFamily="34" charset="-122"/>
                <a:cs typeface="Calibri" pitchFamily="34" charset="-120"/>
              </a:rPr>
              <a:t>Can the business continue operating when technology recovery alone is not enough?</a:t>
            </a:r>
            <a:endParaRPr lang="en-US" sz="1400" dirty="0"/>
          </a:p>
        </p:txBody>
      </p:sp>
      <p:sp>
        <p:nvSpPr>
          <p:cNvPr id="29" name="Shape 22"/>
          <p:cNvSpPr/>
          <p:nvPr/>
        </p:nvSpPr>
        <p:spPr>
          <a:xfrm>
            <a:off x="8467344" y="4114800"/>
            <a:ext cx="2971800" cy="457200"/>
          </a:xfrm>
          <a:prstGeom prst="roundRect">
            <a:avLst>
              <a:gd name="adj" fmla="val 50000"/>
            </a:avLst>
          </a:prstGeom>
          <a:solidFill>
            <a:srgbClr val="6E5E94"/>
          </a:solidFill>
          <a:ln w="12700">
            <a:solidFill>
              <a:srgbClr val="6E5E94"/>
            </a:solidFill>
            <a:prstDash val="solid"/>
          </a:ln>
        </p:spPr>
      </p:sp>
      <p:sp>
        <p:nvSpPr>
          <p:cNvPr id="30" name="Text 23"/>
          <p:cNvSpPr txBox="1"/>
          <p:nvPr/>
        </p:nvSpPr>
        <p:spPr>
          <a:xfrm>
            <a:off x="8467344" y="4114800"/>
            <a:ext cx="29718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Go to Scenario 3</a:t>
            </a:r>
            <a:endParaRPr lang="en-US" sz="1300" dirty="0"/>
          </a:p>
        </p:txBody>
      </p:sp>
      <p:pic>
        <p:nvPicPr>
          <p:cNvPr id="31" name="Image 5" descr="preencoded.png">
            <a:hlinkClick r:id="rId9" tooltip="Go to Scenario 3" action="ppaction://hlinksldjump"/>
          </p:cNvPr>
          <p:cNvPicPr>
            <a:picLocks noChangeAspect="1"/>
          </p:cNvPicPr>
          <p:nvPr/>
        </p:nvPicPr>
        <p:blipFill>
          <a:blip r:embed="rId8"/>
          <a:stretch>
            <a:fillRect/>
          </a:stretch>
        </p:blipFill>
        <p:spPr>
          <a:xfrm>
            <a:off x="8193024" y="1600200"/>
            <a:ext cx="3520440" cy="3291840"/>
          </a:xfrm>
          <a:prstGeom prst="rect">
            <a:avLst/>
          </a:prstGeom>
        </p:spPr>
      </p:pic>
      <p:sp>
        <p:nvSpPr>
          <p:cNvPr id="32" name="Shape 24"/>
          <p:cNvSpPr/>
          <p:nvPr/>
        </p:nvSpPr>
        <p:spPr>
          <a:xfrm>
            <a:off x="548640" y="5166360"/>
            <a:ext cx="11091672" cy="1005840"/>
          </a:xfrm>
          <a:prstGeom prst="roundRect">
            <a:avLst>
              <a:gd name="adj" fmla="val 12727"/>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33" name="Text 25"/>
          <p:cNvSpPr txBox="1"/>
          <p:nvPr/>
        </p:nvSpPr>
        <p:spPr>
          <a:xfrm>
            <a:off x="822960" y="5166360"/>
            <a:ext cx="10543032" cy="1005840"/>
          </a:xfrm>
          <a:prstGeom prst="rect">
            <a:avLst/>
          </a:prstGeom>
          <a:noFill/>
          <a:ln/>
        </p:spPr>
        <p:txBody>
          <a:bodyPr wrap="square" lIns="0" tIns="0" rIns="0" bIns="0" rtlCol="0" anchor="ctr"/>
          <a:lstStyle/>
          <a:p>
            <a:pPr indent="0" marL="0">
              <a:buNone/>
            </a:pPr>
            <a:r>
              <a:rPr lang="en-US" sz="1500" b="1" dirty="0">
                <a:solidFill>
                  <a:srgbClr val="23405A"/>
                </a:solidFill>
                <a:latin typeface="Calibri" pitchFamily="34" charset="0"/>
                <a:ea typeface="Calibri" pitchFamily="34" charset="-122"/>
                <a:cs typeface="Calibri" pitchFamily="34" charset="-120"/>
              </a:rPr>
              <a:t>Exercise scorecard and debrief</a:t>
            </a:r>
            <a:endParaRPr lang="en-US" sz="1500" dirty="0"/>
          </a:p>
        </p:txBody>
      </p:sp>
      <p:sp>
        <p:nvSpPr>
          <p:cNvPr id="34" name="Text 26"/>
          <p:cNvSpPr txBox="1"/>
          <p:nvPr/>
        </p:nvSpPr>
        <p:spPr>
          <a:xfrm>
            <a:off x="10451592" y="5166360"/>
            <a:ext cx="914400" cy="1005840"/>
          </a:xfrm>
          <a:prstGeom prst="rect">
            <a:avLst/>
          </a:prstGeom>
          <a:noFill/>
          <a:ln/>
        </p:spPr>
        <p:txBody>
          <a:bodyPr wrap="square" lIns="0" tIns="0" rIns="0" bIns="0" rtlCol="0" anchor="ctr"/>
          <a:lstStyle/>
          <a:p>
            <a:pPr algn="r" indent="0" marL="0">
              <a:buNone/>
            </a:pPr>
            <a:r>
              <a:rPr lang="en-US" sz="1200" b="1" dirty="0">
                <a:solidFill>
                  <a:srgbClr val="465A69"/>
                </a:solidFill>
                <a:latin typeface="Calibri" pitchFamily="34" charset="0"/>
                <a:ea typeface="Calibri" pitchFamily="34" charset="-122"/>
                <a:cs typeface="Calibri" pitchFamily="34" charset="-120"/>
              </a:rPr>
              <a:t>Open</a:t>
            </a:r>
            <a:endParaRPr lang="en-US" sz="1200" dirty="0"/>
          </a:p>
        </p:txBody>
      </p:sp>
      <p:pic>
        <p:nvPicPr>
          <p:cNvPr id="35" name="Image 6" descr="preencoded.png">
            <a:hlinkClick r:id="rId11" tooltip="Exercise scorecard and debrief" action="ppaction://hlinksldjump"/>
          </p:cNvPr>
          <p:cNvPicPr>
            <a:picLocks noChangeAspect="1"/>
          </p:cNvPicPr>
          <p:nvPr/>
        </p:nvPicPr>
        <p:blipFill>
          <a:blip r:embed="rId10"/>
          <a:stretch>
            <a:fillRect/>
          </a:stretch>
        </p:blipFill>
        <p:spPr>
          <a:xfrm>
            <a:off x="548640" y="5166360"/>
            <a:ext cx="11091672" cy="1005840"/>
          </a:xfrm>
          <a:prstGeom prst="rect">
            <a:avLst/>
          </a:prstGeom>
        </p:spPr>
      </p:pic>
      <p:sp>
        <p:nvSpPr>
          <p:cNvPr id="36" name="Text 27"/>
          <p:cNvSpPr txBox="1"/>
          <p:nvPr/>
        </p:nvSpPr>
        <p:spPr>
          <a:xfrm>
            <a:off x="548640" y="6254496"/>
            <a:ext cx="11091672" cy="256032"/>
          </a:xfrm>
          <a:prstGeom prst="rect">
            <a:avLst/>
          </a:prstGeom>
          <a:noFill/>
          <a:ln/>
        </p:spPr>
        <p:txBody>
          <a:bodyPr wrap="square" lIns="0" tIns="0" rIns="0" bIns="0" rtlCol="0" anchor="ctr"/>
          <a:lstStyle/>
          <a:p>
            <a:pPr indent="0" marL="0">
              <a:buNone/>
            </a:pPr>
            <a:r>
              <a:rPr lang="en-US" sz="1200" b="1" dirty="0">
                <a:solidFill>
                  <a:srgbClr val="465A69"/>
                </a:solidFill>
                <a:latin typeface="Calibri" pitchFamily="34" charset="0"/>
                <a:ea typeface="Calibri" pitchFamily="34" charset="-122"/>
                <a:cs typeface="Calibri" pitchFamily="34" charset="-120"/>
              </a:rPr>
              <a:t>Acronyms:  </a:t>
            </a:r>
            <a:pPr indent="0" marL="0">
              <a:buNone/>
            </a:pPr>
            <a:r>
              <a:rPr lang="en-US" sz="1200" dirty="0">
                <a:solidFill>
                  <a:srgbClr val="465A69"/>
                </a:solidFill>
                <a:latin typeface="Calibri" pitchFamily="34" charset="0"/>
                <a:ea typeface="Calibri" pitchFamily="34" charset="-122"/>
                <a:cs typeface="Calibri" pitchFamily="34" charset="-120"/>
              </a:rPr>
              <a:t>SaaS: software as a service</a:t>
            </a:r>
            <a:endParaRPr lang="en-US" sz="1200" dirty="0"/>
          </a:p>
        </p:txBody>
      </p:sp>
      <p:sp>
        <p:nvSpPr>
          <p:cNvPr id="37" name="Shape 28"/>
          <p:cNvSpPr/>
          <p:nvPr/>
        </p:nvSpPr>
        <p:spPr>
          <a:xfrm>
            <a:off x="548640" y="6537960"/>
            <a:ext cx="763524" cy="274320"/>
          </a:xfrm>
          <a:prstGeom prst="roundRect">
            <a:avLst>
              <a:gd name="adj" fmla="val 50000"/>
            </a:avLst>
          </a:prstGeom>
          <a:solidFill>
            <a:srgbClr val="23405A"/>
          </a:solidFill>
          <a:ln w="12700">
            <a:solidFill>
              <a:srgbClr val="23405A"/>
            </a:solidFill>
            <a:prstDash val="solid"/>
          </a:ln>
        </p:spPr>
      </p:sp>
      <p:sp>
        <p:nvSpPr>
          <p:cNvPr id="38" name="Text 29"/>
          <p:cNvSpPr txBox="1"/>
          <p:nvPr/>
        </p:nvSpPr>
        <p:spPr>
          <a:xfrm>
            <a:off x="548640" y="6537960"/>
            <a:ext cx="763524"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Start</a:t>
            </a:r>
            <a:endParaRPr lang="en-US" sz="1200" dirty="0"/>
          </a:p>
        </p:txBody>
      </p:sp>
      <p:pic>
        <p:nvPicPr>
          <p:cNvPr id="39" name="Image 7" descr="preencoded.png">
            <a:hlinkClick r:id="rId13" tooltip="Go to Start" action="ppaction://hlinksldjump"/>
          </p:cNvPr>
          <p:cNvPicPr>
            <a:picLocks noChangeAspect="1"/>
          </p:cNvPicPr>
          <p:nvPr/>
        </p:nvPicPr>
        <p:blipFill>
          <a:blip r:embed="rId12"/>
          <a:stretch>
            <a:fillRect/>
          </a:stretch>
        </p:blipFill>
        <p:spPr>
          <a:xfrm>
            <a:off x="548640" y="6537960"/>
            <a:ext cx="763524" cy="274320"/>
          </a:xfrm>
          <a:prstGeom prst="rect">
            <a:avLst/>
          </a:prstGeom>
        </p:spPr>
      </p:pic>
      <p:sp>
        <p:nvSpPr>
          <p:cNvPr id="40" name="Shape 30"/>
          <p:cNvSpPr/>
          <p:nvPr/>
        </p:nvSpPr>
        <p:spPr>
          <a:xfrm>
            <a:off x="1385316" y="6537960"/>
            <a:ext cx="1197864" cy="274320"/>
          </a:xfrm>
          <a:prstGeom prst="roundRect">
            <a:avLst>
              <a:gd name="adj" fmla="val 50000"/>
            </a:avLst>
          </a:prstGeom>
          <a:solidFill>
            <a:srgbClr val="F1F6FA"/>
          </a:solidFill>
          <a:ln w="12700">
            <a:solidFill>
              <a:srgbClr val="F1F6FA"/>
            </a:solidFill>
            <a:prstDash val="solid"/>
          </a:ln>
        </p:spPr>
      </p:sp>
      <p:sp>
        <p:nvSpPr>
          <p:cNvPr id="41" name="Text 31"/>
          <p:cNvSpPr txBox="1"/>
          <p:nvPr/>
        </p:nvSpPr>
        <p:spPr>
          <a:xfrm>
            <a:off x="1385316" y="6537960"/>
            <a:ext cx="1197864" cy="274320"/>
          </a:xfrm>
          <a:prstGeom prst="rect">
            <a:avLst/>
          </a:prstGeom>
          <a:noFill/>
          <a:ln/>
        </p:spPr>
        <p:txBody>
          <a:bodyPr wrap="square" lIns="0" tIns="0" rIns="0" bIns="0" rtlCol="0" anchor="ctr"/>
          <a:lstStyle/>
          <a:p>
            <a:pPr algn="ctr" indent="0" marL="0">
              <a:buNone/>
            </a:pPr>
            <a:r>
              <a:rPr lang="en-US" sz="1200" b="1" dirty="0">
                <a:solidFill>
                  <a:srgbClr val="3F6E8C"/>
                </a:solidFill>
                <a:latin typeface="Calibri" pitchFamily="34" charset="0"/>
                <a:ea typeface="Calibri" pitchFamily="34" charset="-122"/>
                <a:cs typeface="Calibri" pitchFamily="34" charset="-120"/>
              </a:rPr>
              <a:t>Scenario 1</a:t>
            </a:r>
            <a:endParaRPr lang="en-US" sz="1200" dirty="0"/>
          </a:p>
        </p:txBody>
      </p:sp>
      <p:pic>
        <p:nvPicPr>
          <p:cNvPr id="42" name="Image 8" descr="preencoded.png">
            <a:hlinkClick r:id="rId15" tooltip="Go to Scenario 1" action="ppaction://hlinksldjump"/>
          </p:cNvPr>
          <p:cNvPicPr>
            <a:picLocks noChangeAspect="1"/>
          </p:cNvPicPr>
          <p:nvPr/>
        </p:nvPicPr>
        <p:blipFill>
          <a:blip r:embed="rId14"/>
          <a:stretch>
            <a:fillRect/>
          </a:stretch>
        </p:blipFill>
        <p:spPr>
          <a:xfrm>
            <a:off x="1385316" y="6537960"/>
            <a:ext cx="1197864" cy="274320"/>
          </a:xfrm>
          <a:prstGeom prst="rect">
            <a:avLst/>
          </a:prstGeom>
        </p:spPr>
      </p:pic>
      <p:sp>
        <p:nvSpPr>
          <p:cNvPr id="43" name="Shape 32"/>
          <p:cNvSpPr/>
          <p:nvPr/>
        </p:nvSpPr>
        <p:spPr>
          <a:xfrm>
            <a:off x="2656332" y="6537960"/>
            <a:ext cx="1197864" cy="274320"/>
          </a:xfrm>
          <a:prstGeom prst="roundRect">
            <a:avLst>
              <a:gd name="adj" fmla="val 50000"/>
            </a:avLst>
          </a:prstGeom>
          <a:solidFill>
            <a:srgbClr val="F1F8F3"/>
          </a:solidFill>
          <a:ln w="12700">
            <a:solidFill>
              <a:srgbClr val="F1F8F3"/>
            </a:solidFill>
            <a:prstDash val="solid"/>
          </a:ln>
        </p:spPr>
      </p:sp>
      <p:sp>
        <p:nvSpPr>
          <p:cNvPr id="44" name="Text 33"/>
          <p:cNvSpPr txBox="1"/>
          <p:nvPr/>
        </p:nvSpPr>
        <p:spPr>
          <a:xfrm>
            <a:off x="2656332" y="6537960"/>
            <a:ext cx="1197864" cy="274320"/>
          </a:xfrm>
          <a:prstGeom prst="rect">
            <a:avLst/>
          </a:prstGeom>
          <a:noFill/>
          <a:ln/>
        </p:spPr>
        <p:txBody>
          <a:bodyPr wrap="square" lIns="0" tIns="0" rIns="0" bIns="0" rtlCol="0" anchor="ctr"/>
          <a:lstStyle/>
          <a:p>
            <a:pPr algn="ctr" indent="0" marL="0">
              <a:buNone/>
            </a:pPr>
            <a:r>
              <a:rPr lang="en-US" sz="1200" b="1" dirty="0">
                <a:solidFill>
                  <a:srgbClr val="4C8068"/>
                </a:solidFill>
                <a:latin typeface="Calibri" pitchFamily="34" charset="0"/>
                <a:ea typeface="Calibri" pitchFamily="34" charset="-122"/>
                <a:cs typeface="Calibri" pitchFamily="34" charset="-120"/>
              </a:rPr>
              <a:t>Scenario 2</a:t>
            </a:r>
            <a:endParaRPr lang="en-US" sz="1200" dirty="0"/>
          </a:p>
        </p:txBody>
      </p:sp>
      <p:pic>
        <p:nvPicPr>
          <p:cNvPr id="45" name="Image 9" descr="preencoded.png">
            <a:hlinkClick r:id="rId17" tooltip="Go to Scenario 2" action="ppaction://hlinksldjump"/>
          </p:cNvPr>
          <p:cNvPicPr>
            <a:picLocks noChangeAspect="1"/>
          </p:cNvPicPr>
          <p:nvPr/>
        </p:nvPicPr>
        <p:blipFill>
          <a:blip r:embed="rId16"/>
          <a:stretch>
            <a:fillRect/>
          </a:stretch>
        </p:blipFill>
        <p:spPr>
          <a:xfrm>
            <a:off x="2656332" y="6537960"/>
            <a:ext cx="1197864" cy="274320"/>
          </a:xfrm>
          <a:prstGeom prst="rect">
            <a:avLst/>
          </a:prstGeom>
        </p:spPr>
      </p:pic>
      <p:sp>
        <p:nvSpPr>
          <p:cNvPr id="46" name="Shape 34"/>
          <p:cNvSpPr/>
          <p:nvPr/>
        </p:nvSpPr>
        <p:spPr>
          <a:xfrm>
            <a:off x="3927348" y="6537960"/>
            <a:ext cx="1197864" cy="274320"/>
          </a:xfrm>
          <a:prstGeom prst="roundRect">
            <a:avLst>
              <a:gd name="adj" fmla="val 50000"/>
            </a:avLst>
          </a:prstGeom>
          <a:solidFill>
            <a:srgbClr val="F6F3FA"/>
          </a:solidFill>
          <a:ln w="12700">
            <a:solidFill>
              <a:srgbClr val="F6F3FA"/>
            </a:solidFill>
            <a:prstDash val="solid"/>
          </a:ln>
        </p:spPr>
      </p:sp>
      <p:sp>
        <p:nvSpPr>
          <p:cNvPr id="47" name="Text 35"/>
          <p:cNvSpPr txBox="1"/>
          <p:nvPr/>
        </p:nvSpPr>
        <p:spPr>
          <a:xfrm>
            <a:off x="3927348" y="6537960"/>
            <a:ext cx="1197864" cy="274320"/>
          </a:xfrm>
          <a:prstGeom prst="rect">
            <a:avLst/>
          </a:prstGeom>
          <a:noFill/>
          <a:ln/>
        </p:spPr>
        <p:txBody>
          <a:bodyPr wrap="square" lIns="0" tIns="0" rIns="0" bIns="0" rtlCol="0" anchor="ctr"/>
          <a:lstStyle/>
          <a:p>
            <a:pPr algn="ctr" indent="0" marL="0">
              <a:buNone/>
            </a:pPr>
            <a:r>
              <a:rPr lang="en-US" sz="1200" b="1" dirty="0">
                <a:solidFill>
                  <a:srgbClr val="6E5E94"/>
                </a:solidFill>
                <a:latin typeface="Calibri" pitchFamily="34" charset="0"/>
                <a:ea typeface="Calibri" pitchFamily="34" charset="-122"/>
                <a:cs typeface="Calibri" pitchFamily="34" charset="-120"/>
              </a:rPr>
              <a:t>Scenario 3</a:t>
            </a:r>
            <a:endParaRPr lang="en-US" sz="1200" dirty="0"/>
          </a:p>
        </p:txBody>
      </p:sp>
      <p:pic>
        <p:nvPicPr>
          <p:cNvPr id="48" name="Image 10" descr="preencoded.png">
            <a:hlinkClick r:id="rId19" tooltip="Go to Scenario 3" action="ppaction://hlinksldjump"/>
          </p:cNvPr>
          <p:cNvPicPr>
            <a:picLocks noChangeAspect="1"/>
          </p:cNvPicPr>
          <p:nvPr/>
        </p:nvPicPr>
        <p:blipFill>
          <a:blip r:embed="rId18"/>
          <a:stretch>
            <a:fillRect/>
          </a:stretch>
        </p:blipFill>
        <p:spPr>
          <a:xfrm>
            <a:off x="3927348" y="6537960"/>
            <a:ext cx="1197864" cy="274320"/>
          </a:xfrm>
          <a:prstGeom prst="rect">
            <a:avLst/>
          </a:prstGeom>
        </p:spPr>
      </p:pic>
      <p:sp>
        <p:nvSpPr>
          <p:cNvPr id="49" name="Shape 36"/>
          <p:cNvSpPr/>
          <p:nvPr/>
        </p:nvSpPr>
        <p:spPr>
          <a:xfrm>
            <a:off x="5198364" y="6537960"/>
            <a:ext cx="937260" cy="274320"/>
          </a:xfrm>
          <a:prstGeom prst="roundRect">
            <a:avLst>
              <a:gd name="adj" fmla="val 50000"/>
            </a:avLst>
          </a:prstGeom>
          <a:solidFill>
            <a:srgbClr val="E4ECF2"/>
          </a:solidFill>
          <a:ln w="12700">
            <a:solidFill>
              <a:srgbClr val="E4ECF2"/>
            </a:solidFill>
            <a:prstDash val="solid"/>
          </a:ln>
        </p:spPr>
      </p:sp>
      <p:sp>
        <p:nvSpPr>
          <p:cNvPr id="50" name="Text 37"/>
          <p:cNvSpPr txBox="1"/>
          <p:nvPr/>
        </p:nvSpPr>
        <p:spPr>
          <a:xfrm>
            <a:off x="5198364" y="6537960"/>
            <a:ext cx="937260" cy="274320"/>
          </a:xfrm>
          <a:prstGeom prst="rect">
            <a:avLst/>
          </a:prstGeom>
          <a:noFill/>
          <a:ln/>
        </p:spPr>
        <p:txBody>
          <a:bodyPr wrap="square" lIns="0" tIns="0" rIns="0" bIns="0" rtlCol="0" anchor="ctr"/>
          <a:lstStyle/>
          <a:p>
            <a:pPr algn="ctr" indent="0" marL="0">
              <a:buNone/>
            </a:pPr>
            <a:r>
              <a:rPr lang="en-US" sz="1200" b="1" dirty="0">
                <a:solidFill>
                  <a:srgbClr val="23405A"/>
                </a:solidFill>
                <a:latin typeface="Calibri" pitchFamily="34" charset="0"/>
                <a:ea typeface="Calibri" pitchFamily="34" charset="-122"/>
                <a:cs typeface="Calibri" pitchFamily="34" charset="-120"/>
              </a:rPr>
              <a:t>Closing</a:t>
            </a:r>
            <a:endParaRPr lang="en-US" sz="1200" dirty="0"/>
          </a:p>
        </p:txBody>
      </p:sp>
      <p:pic>
        <p:nvPicPr>
          <p:cNvPr id="51" name="Image 11" descr="preencoded.png">
            <a:hlinkClick r:id="rId21" tooltip="Go to Closing" action="ppaction://hlinksldjump"/>
          </p:cNvPr>
          <p:cNvPicPr>
            <a:picLocks noChangeAspect="1"/>
          </p:cNvPicPr>
          <p:nvPr/>
        </p:nvPicPr>
        <p:blipFill>
          <a:blip r:embed="rId20"/>
          <a:stretch>
            <a:fillRect/>
          </a:stretch>
        </p:blipFill>
        <p:spPr>
          <a:xfrm>
            <a:off x="5198364" y="6537960"/>
            <a:ext cx="937260" cy="274320"/>
          </a:xfrm>
          <a:prstGeom prst="rect">
            <a:avLst/>
          </a:prstGeom>
        </p:spPr>
      </p:pic>
      <p:sp>
        <p:nvSpPr>
          <p:cNvPr id="52" name="Text 38"/>
          <p:cNvSpPr txBox="1"/>
          <p:nvPr/>
        </p:nvSpPr>
        <p:spPr>
          <a:xfrm>
            <a:off x="11277295" y="6537960"/>
            <a:ext cx="365760" cy="274320"/>
          </a:xfrm>
          <a:prstGeom prst="rect">
            <a:avLst/>
          </a:prstGeom>
          <a:noFill/>
          <a:ln/>
        </p:spPr>
        <p:txBody>
          <a:bodyPr wrap="square" lIns="0" tIns="0" rIns="0" bIns="0" rtlCol="0" anchor="ctr"/>
          <a:lstStyle/>
          <a:p>
            <a:pPr algn="r" indent="0" marL="0">
              <a:buNone/>
            </a:pPr>
            <a:r>
              <a:rPr lang="en-US" sz="1200" dirty="0">
                <a:solidFill>
                  <a:srgbClr val="465A69"/>
                </a:solidFill>
                <a:latin typeface="Calibri" pitchFamily="34" charset="0"/>
                <a:ea typeface="Calibri" pitchFamily="34" charset="-122"/>
                <a:cs typeface="Calibri"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EF2F1"/>
        </a:solidFill>
      </p:bgPr>
    </p:bg>
    <p:spTree>
      <p:nvGrpSpPr>
        <p:cNvPr id="1" name=""/>
        <p:cNvGrpSpPr/>
        <p:nvPr/>
      </p:nvGrpSpPr>
      <p:grpSpPr>
        <a:xfrm>
          <a:off x="0" y="0"/>
          <a:ext cx="0" cy="0"/>
          <a:chOff x="0" y="0"/>
          <a:chExt cx="0" cy="0"/>
        </a:xfrm>
      </p:grpSpPr>
      <p:sp>
        <p:nvSpPr>
          <p:cNvPr id="2" name="Shape 0"/>
          <p:cNvSpPr/>
          <p:nvPr/>
        </p:nvSpPr>
        <p:spPr>
          <a:xfrm>
            <a:off x="548640" y="347472"/>
            <a:ext cx="2679192" cy="329184"/>
          </a:xfrm>
          <a:prstGeom prst="roundRect">
            <a:avLst>
              <a:gd name="adj" fmla="val 50000"/>
            </a:avLst>
          </a:prstGeom>
          <a:solidFill>
            <a:srgbClr val="E4ECF2"/>
          </a:solidFill>
          <a:ln w="12700">
            <a:solidFill>
              <a:srgbClr val="E4ECF2"/>
            </a:solidFill>
            <a:prstDash val="solid"/>
          </a:ln>
        </p:spPr>
      </p:sp>
      <p:sp>
        <p:nvSpPr>
          <p:cNvPr id="3" name="Text 1"/>
          <p:cNvSpPr txBox="1"/>
          <p:nvPr/>
        </p:nvSpPr>
        <p:spPr>
          <a:xfrm>
            <a:off x="548640" y="347472"/>
            <a:ext cx="2679192" cy="329184"/>
          </a:xfrm>
          <a:prstGeom prst="rect">
            <a:avLst/>
          </a:prstGeom>
          <a:noFill/>
          <a:ln/>
        </p:spPr>
        <p:txBody>
          <a:bodyPr wrap="square" lIns="0" tIns="0" rIns="0" bIns="0" rtlCol="0" anchor="ctr"/>
          <a:lstStyle/>
          <a:p>
            <a:pPr algn="ctr" indent="0" marL="0">
              <a:buNone/>
            </a:pPr>
            <a:r>
              <a:rPr lang="en-US" sz="1200" b="1" dirty="0">
                <a:solidFill>
                  <a:srgbClr val="23405A"/>
                </a:solidFill>
                <a:latin typeface="Calibri" pitchFamily="34" charset="0"/>
                <a:ea typeface="Calibri" pitchFamily="34" charset="-122"/>
                <a:cs typeface="Calibri" pitchFamily="34" charset="-120"/>
              </a:rPr>
              <a:t>Start here, 5 to 10 minutes</a:t>
            </a:r>
            <a:endParaRPr lang="en-US" sz="1200" dirty="0"/>
          </a:p>
        </p:txBody>
      </p:sp>
      <p:sp>
        <p:nvSpPr>
          <p:cNvPr id="4" name="Text 2"/>
          <p:cNvSpPr txBox="1"/>
          <p:nvPr/>
        </p:nvSpPr>
        <p:spPr>
          <a:xfrm>
            <a:off x="548640" y="749808"/>
            <a:ext cx="11064240" cy="640080"/>
          </a:xfrm>
          <a:prstGeom prst="rect">
            <a:avLst/>
          </a:prstGeom>
          <a:noFill/>
          <a:ln/>
        </p:spPr>
        <p:txBody>
          <a:bodyPr wrap="square" lIns="0" tIns="0" rIns="0" bIns="0" rtlCol="0" anchor="ctr"/>
          <a:lstStyle/>
          <a:p>
            <a:pPr indent="0" marL="0">
              <a:buNone/>
            </a:pPr>
            <a:r>
              <a:rPr lang="en-US" sz="2800" b="1" dirty="0">
                <a:solidFill>
                  <a:srgbClr val="23405A"/>
                </a:solidFill>
                <a:latin typeface="Calibri" pitchFamily="34" charset="0"/>
                <a:ea typeface="Calibri" pitchFamily="34" charset="-122"/>
                <a:cs typeface="Calibri" pitchFamily="34" charset="-120"/>
              </a:rPr>
              <a:t>Background and rules of the exercise</a:t>
            </a:r>
            <a:endParaRPr lang="en-US" sz="2800" dirty="0"/>
          </a:p>
        </p:txBody>
      </p:sp>
      <p:sp>
        <p:nvSpPr>
          <p:cNvPr id="5" name="Shape 3"/>
          <p:cNvSpPr/>
          <p:nvPr/>
        </p:nvSpPr>
        <p:spPr>
          <a:xfrm>
            <a:off x="548640" y="1645920"/>
            <a:ext cx="3511296" cy="2103120"/>
          </a:xfrm>
          <a:prstGeom prst="roundRect">
            <a:avLst>
              <a:gd name="adj" fmla="val 6087"/>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6" name="Shape 4"/>
          <p:cNvSpPr/>
          <p:nvPr/>
        </p:nvSpPr>
        <p:spPr>
          <a:xfrm>
            <a:off x="822960" y="1920240"/>
            <a:ext cx="457200" cy="457200"/>
          </a:xfrm>
          <a:prstGeom prst="ellipse">
            <a:avLst/>
          </a:prstGeom>
          <a:solidFill>
            <a:srgbClr val="E4ECF2"/>
          </a:solidFill>
          <a:ln w="12700">
            <a:solidFill>
              <a:srgbClr val="E4ECF2"/>
            </a:solidFill>
            <a:prstDash val="solid"/>
          </a:ln>
        </p:spPr>
      </p:sp>
      <p:sp>
        <p:nvSpPr>
          <p:cNvPr id="7" name="Text 5"/>
          <p:cNvSpPr txBox="1"/>
          <p:nvPr/>
        </p:nvSpPr>
        <p:spPr>
          <a:xfrm>
            <a:off x="822960" y="1920240"/>
            <a:ext cx="457200" cy="457200"/>
          </a:xfrm>
          <a:prstGeom prst="rect">
            <a:avLst/>
          </a:prstGeom>
          <a:noFill/>
          <a:ln/>
        </p:spPr>
        <p:txBody>
          <a:bodyPr wrap="square" lIns="0" tIns="0" rIns="0" bIns="0" rtlCol="0" anchor="ctr"/>
          <a:lstStyle/>
          <a:p>
            <a:pPr algn="ctr" indent="0" marL="0">
              <a:buNone/>
            </a:pPr>
            <a:r>
              <a:rPr lang="en-US" sz="1200" b="1" dirty="0">
                <a:solidFill>
                  <a:srgbClr val="23405A"/>
                </a:solidFill>
                <a:latin typeface="Calibri" pitchFamily="34" charset="0"/>
                <a:ea typeface="Calibri" pitchFamily="34" charset="-122"/>
                <a:cs typeface="Calibri" pitchFamily="34" charset="-120"/>
              </a:rPr>
              <a:t>1</a:t>
            </a:r>
            <a:endParaRPr lang="en-US" sz="1200" dirty="0"/>
          </a:p>
        </p:txBody>
      </p:sp>
      <p:sp>
        <p:nvSpPr>
          <p:cNvPr id="8" name="Text 6"/>
          <p:cNvSpPr txBox="1"/>
          <p:nvPr/>
        </p:nvSpPr>
        <p:spPr>
          <a:xfrm>
            <a:off x="822960" y="2514600"/>
            <a:ext cx="2962656" cy="365760"/>
          </a:xfrm>
          <a:prstGeom prst="rect">
            <a:avLst/>
          </a:prstGeom>
          <a:noFill/>
          <a:ln/>
        </p:spPr>
        <p:txBody>
          <a:bodyPr wrap="square" lIns="0" tIns="0" rIns="0" bIns="0" rtlCol="0" anchor="t"/>
          <a:lstStyle/>
          <a:p>
            <a:pPr indent="0" marL="0">
              <a:buNone/>
            </a:pPr>
            <a:r>
              <a:rPr lang="en-US" sz="1550" b="1" dirty="0">
                <a:solidFill>
                  <a:srgbClr val="1E2E3A"/>
                </a:solidFill>
                <a:latin typeface="Calibri" pitchFamily="34" charset="0"/>
                <a:ea typeface="Calibri" pitchFamily="34" charset="-122"/>
                <a:cs typeface="Calibri" pitchFamily="34" charset="-120"/>
              </a:rPr>
              <a:t>A no-fault learning exercise</a:t>
            </a:r>
            <a:endParaRPr lang="en-US" sz="1550" dirty="0"/>
          </a:p>
        </p:txBody>
      </p:sp>
      <p:sp>
        <p:nvSpPr>
          <p:cNvPr id="9" name="Text 7"/>
          <p:cNvSpPr txBox="1"/>
          <p:nvPr/>
        </p:nvSpPr>
        <p:spPr>
          <a:xfrm>
            <a:off x="822960" y="2907792"/>
            <a:ext cx="2962656" cy="777240"/>
          </a:xfrm>
          <a:prstGeom prst="rect">
            <a:avLst/>
          </a:prstGeom>
          <a:noFill/>
          <a:ln/>
        </p:spPr>
        <p:txBody>
          <a:bodyPr wrap="square" lIns="0" tIns="0" rIns="0" bIns="0" rtlCol="0" anchor="t"/>
          <a:lstStyle/>
          <a:p>
            <a:pPr indent="0" marL="0">
              <a:buNone/>
            </a:pPr>
            <a:r>
              <a:rPr lang="en-US" sz="1250" dirty="0">
                <a:solidFill>
                  <a:srgbClr val="465A69"/>
                </a:solidFill>
                <a:latin typeface="Calibri" pitchFamily="34" charset="0"/>
                <a:ea typeface="Calibri" pitchFamily="34" charset="-122"/>
                <a:cs typeface="Calibri" pitchFamily="34" charset="-120"/>
              </a:rPr>
              <a:t>We are testing plans, decisions, and handoffs, not individuals. Gaps found today are a success.</a:t>
            </a:r>
            <a:endParaRPr lang="en-US" sz="1250" dirty="0"/>
          </a:p>
        </p:txBody>
      </p:sp>
      <p:sp>
        <p:nvSpPr>
          <p:cNvPr id="10" name="Shape 8"/>
          <p:cNvSpPr/>
          <p:nvPr/>
        </p:nvSpPr>
        <p:spPr>
          <a:xfrm>
            <a:off x="4334256" y="1645920"/>
            <a:ext cx="3511296" cy="2103120"/>
          </a:xfrm>
          <a:prstGeom prst="roundRect">
            <a:avLst>
              <a:gd name="adj" fmla="val 6087"/>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11" name="Shape 9"/>
          <p:cNvSpPr/>
          <p:nvPr/>
        </p:nvSpPr>
        <p:spPr>
          <a:xfrm>
            <a:off x="4608576" y="1920240"/>
            <a:ext cx="457200" cy="457200"/>
          </a:xfrm>
          <a:prstGeom prst="ellipse">
            <a:avLst/>
          </a:prstGeom>
          <a:solidFill>
            <a:srgbClr val="E4ECF2"/>
          </a:solidFill>
          <a:ln w="12700">
            <a:solidFill>
              <a:srgbClr val="E4ECF2"/>
            </a:solidFill>
            <a:prstDash val="solid"/>
          </a:ln>
        </p:spPr>
      </p:sp>
      <p:sp>
        <p:nvSpPr>
          <p:cNvPr id="12" name="Text 10"/>
          <p:cNvSpPr txBox="1"/>
          <p:nvPr/>
        </p:nvSpPr>
        <p:spPr>
          <a:xfrm>
            <a:off x="4608576" y="1920240"/>
            <a:ext cx="457200" cy="457200"/>
          </a:xfrm>
          <a:prstGeom prst="rect">
            <a:avLst/>
          </a:prstGeom>
          <a:noFill/>
          <a:ln/>
        </p:spPr>
        <p:txBody>
          <a:bodyPr wrap="square" lIns="0" tIns="0" rIns="0" bIns="0" rtlCol="0" anchor="ctr"/>
          <a:lstStyle/>
          <a:p>
            <a:pPr algn="ctr" indent="0" marL="0">
              <a:buNone/>
            </a:pPr>
            <a:r>
              <a:rPr lang="en-US" sz="1200" b="1" dirty="0">
                <a:solidFill>
                  <a:srgbClr val="23405A"/>
                </a:solidFill>
                <a:latin typeface="Calibri" pitchFamily="34" charset="0"/>
                <a:ea typeface="Calibri" pitchFamily="34" charset="-122"/>
                <a:cs typeface="Calibri" pitchFamily="34" charset="-120"/>
              </a:rPr>
              <a:t>2</a:t>
            </a:r>
            <a:endParaRPr lang="en-US" sz="1200" dirty="0"/>
          </a:p>
        </p:txBody>
      </p:sp>
      <p:sp>
        <p:nvSpPr>
          <p:cNvPr id="13" name="Text 11"/>
          <p:cNvSpPr txBox="1"/>
          <p:nvPr/>
        </p:nvSpPr>
        <p:spPr>
          <a:xfrm>
            <a:off x="4608576" y="2514600"/>
            <a:ext cx="2962656" cy="365760"/>
          </a:xfrm>
          <a:prstGeom prst="rect">
            <a:avLst/>
          </a:prstGeom>
          <a:noFill/>
          <a:ln/>
        </p:spPr>
        <p:txBody>
          <a:bodyPr wrap="square" lIns="0" tIns="0" rIns="0" bIns="0" rtlCol="0" anchor="t"/>
          <a:lstStyle/>
          <a:p>
            <a:pPr indent="0" marL="0">
              <a:buNone/>
            </a:pPr>
            <a:r>
              <a:rPr lang="en-US" sz="1550" b="1" dirty="0">
                <a:solidFill>
                  <a:srgbClr val="1E2E3A"/>
                </a:solidFill>
                <a:latin typeface="Calibri" pitchFamily="34" charset="0"/>
                <a:ea typeface="Calibri" pitchFamily="34" charset="-122"/>
                <a:cs typeface="Calibri" pitchFamily="34" charset="-120"/>
              </a:rPr>
              <a:t>Respond as you really would</a:t>
            </a:r>
            <a:endParaRPr lang="en-US" sz="1550" dirty="0"/>
          </a:p>
        </p:txBody>
      </p:sp>
      <p:sp>
        <p:nvSpPr>
          <p:cNvPr id="14" name="Text 12"/>
          <p:cNvSpPr txBox="1"/>
          <p:nvPr/>
        </p:nvSpPr>
        <p:spPr>
          <a:xfrm>
            <a:off x="4608576" y="2907792"/>
            <a:ext cx="2962656" cy="777240"/>
          </a:xfrm>
          <a:prstGeom prst="rect">
            <a:avLst/>
          </a:prstGeom>
          <a:noFill/>
          <a:ln/>
        </p:spPr>
        <p:txBody>
          <a:bodyPr wrap="square" lIns="0" tIns="0" rIns="0" bIns="0" rtlCol="0" anchor="t"/>
          <a:lstStyle/>
          <a:p>
            <a:pPr indent="0" marL="0">
              <a:buNone/>
            </a:pPr>
            <a:r>
              <a:rPr lang="en-US" sz="1250" dirty="0">
                <a:solidFill>
                  <a:srgbClr val="465A69"/>
                </a:solidFill>
                <a:latin typeface="Calibri" pitchFamily="34" charset="0"/>
                <a:ea typeface="Calibri" pitchFamily="34" charset="-122"/>
                <a:cs typeface="Calibri" pitchFamily="34" charset="-120"/>
              </a:rPr>
              <a:t>Use the tools, contacts, and authority you actually have. If you would call someone, say who and why.</a:t>
            </a:r>
            <a:endParaRPr lang="en-US" sz="1250" dirty="0"/>
          </a:p>
        </p:txBody>
      </p:sp>
      <p:sp>
        <p:nvSpPr>
          <p:cNvPr id="15" name="Shape 13"/>
          <p:cNvSpPr/>
          <p:nvPr/>
        </p:nvSpPr>
        <p:spPr>
          <a:xfrm>
            <a:off x="8119872" y="1645920"/>
            <a:ext cx="3511296" cy="2103120"/>
          </a:xfrm>
          <a:prstGeom prst="roundRect">
            <a:avLst>
              <a:gd name="adj" fmla="val 6087"/>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16" name="Shape 14"/>
          <p:cNvSpPr/>
          <p:nvPr/>
        </p:nvSpPr>
        <p:spPr>
          <a:xfrm>
            <a:off x="8394192" y="1920240"/>
            <a:ext cx="457200" cy="457200"/>
          </a:xfrm>
          <a:prstGeom prst="ellipse">
            <a:avLst/>
          </a:prstGeom>
          <a:solidFill>
            <a:srgbClr val="E4ECF2"/>
          </a:solidFill>
          <a:ln w="12700">
            <a:solidFill>
              <a:srgbClr val="E4ECF2"/>
            </a:solidFill>
            <a:prstDash val="solid"/>
          </a:ln>
        </p:spPr>
      </p:sp>
      <p:sp>
        <p:nvSpPr>
          <p:cNvPr id="17" name="Text 15"/>
          <p:cNvSpPr txBox="1"/>
          <p:nvPr/>
        </p:nvSpPr>
        <p:spPr>
          <a:xfrm>
            <a:off x="8394192" y="1920240"/>
            <a:ext cx="457200" cy="457200"/>
          </a:xfrm>
          <a:prstGeom prst="rect">
            <a:avLst/>
          </a:prstGeom>
          <a:noFill/>
          <a:ln/>
        </p:spPr>
        <p:txBody>
          <a:bodyPr wrap="square" lIns="0" tIns="0" rIns="0" bIns="0" rtlCol="0" anchor="ctr"/>
          <a:lstStyle/>
          <a:p>
            <a:pPr algn="ctr" indent="0" marL="0">
              <a:buNone/>
            </a:pPr>
            <a:r>
              <a:rPr lang="en-US" sz="1200" b="1" dirty="0">
                <a:solidFill>
                  <a:srgbClr val="23405A"/>
                </a:solidFill>
                <a:latin typeface="Calibri" pitchFamily="34" charset="0"/>
                <a:ea typeface="Calibri" pitchFamily="34" charset="-122"/>
                <a:cs typeface="Calibri" pitchFamily="34" charset="-120"/>
              </a:rPr>
              <a:t>3</a:t>
            </a:r>
            <a:endParaRPr lang="en-US" sz="1200" dirty="0"/>
          </a:p>
        </p:txBody>
      </p:sp>
      <p:sp>
        <p:nvSpPr>
          <p:cNvPr id="18" name="Text 16"/>
          <p:cNvSpPr txBox="1"/>
          <p:nvPr/>
        </p:nvSpPr>
        <p:spPr>
          <a:xfrm>
            <a:off x="8394192" y="2514600"/>
            <a:ext cx="2962656" cy="365760"/>
          </a:xfrm>
          <a:prstGeom prst="rect">
            <a:avLst/>
          </a:prstGeom>
          <a:noFill/>
          <a:ln/>
        </p:spPr>
        <p:txBody>
          <a:bodyPr wrap="square" lIns="0" tIns="0" rIns="0" bIns="0" rtlCol="0" anchor="t"/>
          <a:lstStyle/>
          <a:p>
            <a:pPr indent="0" marL="0">
              <a:buNone/>
            </a:pPr>
            <a:r>
              <a:rPr lang="en-US" sz="1550" b="1" dirty="0">
                <a:solidFill>
                  <a:srgbClr val="1E2E3A"/>
                </a:solidFill>
                <a:latin typeface="Calibri" pitchFamily="34" charset="0"/>
                <a:ea typeface="Calibri" pitchFamily="34" charset="-122"/>
                <a:cs typeface="Calibri" pitchFamily="34" charset="-120"/>
              </a:rPr>
              <a:t>The facilitator is the world</a:t>
            </a:r>
            <a:endParaRPr lang="en-US" sz="1550" dirty="0"/>
          </a:p>
        </p:txBody>
      </p:sp>
      <p:sp>
        <p:nvSpPr>
          <p:cNvPr id="19" name="Text 17"/>
          <p:cNvSpPr txBox="1"/>
          <p:nvPr/>
        </p:nvSpPr>
        <p:spPr>
          <a:xfrm>
            <a:off x="8394192" y="2907792"/>
            <a:ext cx="2962656" cy="777240"/>
          </a:xfrm>
          <a:prstGeom prst="rect">
            <a:avLst/>
          </a:prstGeom>
          <a:noFill/>
          <a:ln/>
        </p:spPr>
        <p:txBody>
          <a:bodyPr wrap="square" lIns="0" tIns="0" rIns="0" bIns="0" rtlCol="0" anchor="t"/>
          <a:lstStyle/>
          <a:p>
            <a:pPr indent="0" marL="0">
              <a:buNone/>
            </a:pPr>
            <a:r>
              <a:rPr lang="en-US" sz="1250" dirty="0">
                <a:solidFill>
                  <a:srgbClr val="465A69"/>
                </a:solidFill>
                <a:latin typeface="Calibri" pitchFamily="34" charset="0"/>
                <a:ea typeface="Calibri" pitchFamily="34" charset="-122"/>
                <a:cs typeface="Calibri" pitchFamily="34" charset="-120"/>
              </a:rPr>
              <a:t>Vendors, Microsoft, reporters, and the Board speak through the facilitator. Ask for what you would check.</a:t>
            </a:r>
            <a:endParaRPr lang="en-US" sz="1250" dirty="0"/>
          </a:p>
        </p:txBody>
      </p:sp>
      <p:sp>
        <p:nvSpPr>
          <p:cNvPr id="20" name="Shape 18"/>
          <p:cNvSpPr/>
          <p:nvPr/>
        </p:nvSpPr>
        <p:spPr>
          <a:xfrm>
            <a:off x="548640" y="4069080"/>
            <a:ext cx="3511296" cy="2103120"/>
          </a:xfrm>
          <a:prstGeom prst="roundRect">
            <a:avLst>
              <a:gd name="adj" fmla="val 6087"/>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21" name="Shape 19"/>
          <p:cNvSpPr/>
          <p:nvPr/>
        </p:nvSpPr>
        <p:spPr>
          <a:xfrm>
            <a:off x="822960" y="4343400"/>
            <a:ext cx="457200" cy="457200"/>
          </a:xfrm>
          <a:prstGeom prst="ellipse">
            <a:avLst/>
          </a:prstGeom>
          <a:solidFill>
            <a:srgbClr val="E4ECF2"/>
          </a:solidFill>
          <a:ln w="12700">
            <a:solidFill>
              <a:srgbClr val="E4ECF2"/>
            </a:solidFill>
            <a:prstDash val="solid"/>
          </a:ln>
        </p:spPr>
      </p:sp>
      <p:sp>
        <p:nvSpPr>
          <p:cNvPr id="22" name="Text 20"/>
          <p:cNvSpPr txBox="1"/>
          <p:nvPr/>
        </p:nvSpPr>
        <p:spPr>
          <a:xfrm>
            <a:off x="822960" y="4343400"/>
            <a:ext cx="457200" cy="457200"/>
          </a:xfrm>
          <a:prstGeom prst="rect">
            <a:avLst/>
          </a:prstGeom>
          <a:noFill/>
          <a:ln/>
        </p:spPr>
        <p:txBody>
          <a:bodyPr wrap="square" lIns="0" tIns="0" rIns="0" bIns="0" rtlCol="0" anchor="ctr"/>
          <a:lstStyle/>
          <a:p>
            <a:pPr algn="ctr" indent="0" marL="0">
              <a:buNone/>
            </a:pPr>
            <a:r>
              <a:rPr lang="en-US" sz="1200" b="1" dirty="0">
                <a:solidFill>
                  <a:srgbClr val="23405A"/>
                </a:solidFill>
                <a:latin typeface="Calibri" pitchFamily="34" charset="0"/>
                <a:ea typeface="Calibri" pitchFamily="34" charset="-122"/>
                <a:cs typeface="Calibri" pitchFamily="34" charset="-120"/>
              </a:rPr>
              <a:t>4</a:t>
            </a:r>
            <a:endParaRPr lang="en-US" sz="1200" dirty="0"/>
          </a:p>
        </p:txBody>
      </p:sp>
      <p:sp>
        <p:nvSpPr>
          <p:cNvPr id="23" name="Text 21"/>
          <p:cNvSpPr txBox="1"/>
          <p:nvPr/>
        </p:nvSpPr>
        <p:spPr>
          <a:xfrm>
            <a:off x="822960" y="4937760"/>
            <a:ext cx="2962656" cy="365760"/>
          </a:xfrm>
          <a:prstGeom prst="rect">
            <a:avLst/>
          </a:prstGeom>
          <a:noFill/>
          <a:ln/>
        </p:spPr>
        <p:txBody>
          <a:bodyPr wrap="square" lIns="0" tIns="0" rIns="0" bIns="0" rtlCol="0" anchor="t"/>
          <a:lstStyle/>
          <a:p>
            <a:pPr indent="0" marL="0">
              <a:buNone/>
            </a:pPr>
            <a:r>
              <a:rPr lang="en-US" sz="1550" b="1" dirty="0">
                <a:solidFill>
                  <a:srgbClr val="1E2E3A"/>
                </a:solidFill>
                <a:latin typeface="Calibri" pitchFamily="34" charset="0"/>
                <a:ea typeface="Calibri" pitchFamily="34" charset="-122"/>
                <a:cs typeface="Calibri" pitchFamily="34" charset="-120"/>
              </a:rPr>
              <a:t>Information arrives as it develops</a:t>
            </a:r>
            <a:endParaRPr lang="en-US" sz="1550" dirty="0"/>
          </a:p>
        </p:txBody>
      </p:sp>
      <p:sp>
        <p:nvSpPr>
          <p:cNvPr id="24" name="Text 22"/>
          <p:cNvSpPr txBox="1"/>
          <p:nvPr/>
        </p:nvSpPr>
        <p:spPr>
          <a:xfrm>
            <a:off x="822960" y="5330952"/>
            <a:ext cx="2962656" cy="777240"/>
          </a:xfrm>
          <a:prstGeom prst="rect">
            <a:avLst/>
          </a:prstGeom>
          <a:noFill/>
          <a:ln/>
        </p:spPr>
        <p:txBody>
          <a:bodyPr wrap="square" lIns="0" tIns="0" rIns="0" bIns="0" rtlCol="0" anchor="t"/>
          <a:lstStyle/>
          <a:p>
            <a:pPr indent="0" marL="0">
              <a:buNone/>
            </a:pPr>
            <a:r>
              <a:rPr lang="en-US" sz="1250" dirty="0">
                <a:solidFill>
                  <a:srgbClr val="465A69"/>
                </a:solidFill>
                <a:latin typeface="Calibri" pitchFamily="34" charset="0"/>
                <a:ea typeface="Calibri" pitchFamily="34" charset="-122"/>
                <a:cs typeface="Calibri" pitchFamily="34" charset="-120"/>
              </a:rPr>
              <a:t>You will not see the whole scenario. New information follows your decisions, not the clock.</a:t>
            </a:r>
            <a:endParaRPr lang="en-US" sz="1250" dirty="0"/>
          </a:p>
        </p:txBody>
      </p:sp>
      <p:sp>
        <p:nvSpPr>
          <p:cNvPr id="25" name="Shape 23"/>
          <p:cNvSpPr/>
          <p:nvPr/>
        </p:nvSpPr>
        <p:spPr>
          <a:xfrm>
            <a:off x="4334256" y="4069080"/>
            <a:ext cx="3511296" cy="2103120"/>
          </a:xfrm>
          <a:prstGeom prst="roundRect">
            <a:avLst>
              <a:gd name="adj" fmla="val 6087"/>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26" name="Shape 24"/>
          <p:cNvSpPr/>
          <p:nvPr/>
        </p:nvSpPr>
        <p:spPr>
          <a:xfrm>
            <a:off x="4608576" y="4343400"/>
            <a:ext cx="457200" cy="457200"/>
          </a:xfrm>
          <a:prstGeom prst="ellipse">
            <a:avLst/>
          </a:prstGeom>
          <a:solidFill>
            <a:srgbClr val="E4ECF2"/>
          </a:solidFill>
          <a:ln w="12700">
            <a:solidFill>
              <a:srgbClr val="E4ECF2"/>
            </a:solidFill>
            <a:prstDash val="solid"/>
          </a:ln>
        </p:spPr>
      </p:sp>
      <p:sp>
        <p:nvSpPr>
          <p:cNvPr id="27" name="Text 25"/>
          <p:cNvSpPr txBox="1"/>
          <p:nvPr/>
        </p:nvSpPr>
        <p:spPr>
          <a:xfrm>
            <a:off x="4608576" y="4343400"/>
            <a:ext cx="457200" cy="457200"/>
          </a:xfrm>
          <a:prstGeom prst="rect">
            <a:avLst/>
          </a:prstGeom>
          <a:noFill/>
          <a:ln/>
        </p:spPr>
        <p:txBody>
          <a:bodyPr wrap="square" lIns="0" tIns="0" rIns="0" bIns="0" rtlCol="0" anchor="ctr"/>
          <a:lstStyle/>
          <a:p>
            <a:pPr algn="ctr" indent="0" marL="0">
              <a:buNone/>
            </a:pPr>
            <a:r>
              <a:rPr lang="en-US" sz="1200" b="1" dirty="0">
                <a:solidFill>
                  <a:srgbClr val="23405A"/>
                </a:solidFill>
                <a:latin typeface="Calibri" pitchFamily="34" charset="0"/>
                <a:ea typeface="Calibri" pitchFamily="34" charset="-122"/>
                <a:cs typeface="Calibri" pitchFamily="34" charset="-120"/>
              </a:rPr>
              <a:t>5</a:t>
            </a:r>
            <a:endParaRPr lang="en-US" sz="1200" dirty="0"/>
          </a:p>
        </p:txBody>
      </p:sp>
      <p:sp>
        <p:nvSpPr>
          <p:cNvPr id="28" name="Text 26"/>
          <p:cNvSpPr txBox="1"/>
          <p:nvPr/>
        </p:nvSpPr>
        <p:spPr>
          <a:xfrm>
            <a:off x="4608576" y="4937760"/>
            <a:ext cx="2962656" cy="365760"/>
          </a:xfrm>
          <a:prstGeom prst="rect">
            <a:avLst/>
          </a:prstGeom>
          <a:noFill/>
          <a:ln/>
        </p:spPr>
        <p:txBody>
          <a:bodyPr wrap="square" lIns="0" tIns="0" rIns="0" bIns="0" rtlCol="0" anchor="t"/>
          <a:lstStyle/>
          <a:p>
            <a:pPr indent="0" marL="0">
              <a:buNone/>
            </a:pPr>
            <a:r>
              <a:rPr lang="en-US" sz="1550" b="1" dirty="0">
                <a:solidFill>
                  <a:srgbClr val="1E2E3A"/>
                </a:solidFill>
                <a:latin typeface="Calibri" pitchFamily="34" charset="0"/>
                <a:ea typeface="Calibri" pitchFamily="34" charset="-122"/>
                <a:cs typeface="Calibri" pitchFamily="34" charset="-120"/>
              </a:rPr>
              <a:t>Decide, then explain why</a:t>
            </a:r>
            <a:endParaRPr lang="en-US" sz="1550" dirty="0"/>
          </a:p>
        </p:txBody>
      </p:sp>
      <p:sp>
        <p:nvSpPr>
          <p:cNvPr id="29" name="Text 27"/>
          <p:cNvSpPr txBox="1"/>
          <p:nvPr/>
        </p:nvSpPr>
        <p:spPr>
          <a:xfrm>
            <a:off x="4608576" y="5330952"/>
            <a:ext cx="2962656" cy="777240"/>
          </a:xfrm>
          <a:prstGeom prst="rect">
            <a:avLst/>
          </a:prstGeom>
          <a:noFill/>
          <a:ln/>
        </p:spPr>
        <p:txBody>
          <a:bodyPr wrap="square" lIns="0" tIns="0" rIns="0" bIns="0" rtlCol="0" anchor="t"/>
          <a:lstStyle/>
          <a:p>
            <a:pPr indent="0" marL="0">
              <a:buNone/>
            </a:pPr>
            <a:r>
              <a:rPr lang="en-US" sz="1250" dirty="0">
                <a:solidFill>
                  <a:srgbClr val="465A69"/>
                </a:solidFill>
                <a:latin typeface="Calibri" pitchFamily="34" charset="0"/>
                <a:ea typeface="Calibri" pitchFamily="34" charset="-122"/>
                <a:cs typeface="Calibri" pitchFamily="34" charset="-120"/>
              </a:rPr>
              <a:t>For every decision, state the owner, the rationale, and the time. The scribe records each one.</a:t>
            </a:r>
            <a:endParaRPr lang="en-US" sz="1250" dirty="0"/>
          </a:p>
        </p:txBody>
      </p:sp>
      <p:sp>
        <p:nvSpPr>
          <p:cNvPr id="30" name="Shape 28"/>
          <p:cNvSpPr/>
          <p:nvPr/>
        </p:nvSpPr>
        <p:spPr>
          <a:xfrm>
            <a:off x="8119872" y="4069080"/>
            <a:ext cx="3511296" cy="2103120"/>
          </a:xfrm>
          <a:prstGeom prst="roundRect">
            <a:avLst>
              <a:gd name="adj" fmla="val 6087"/>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31" name="Shape 29"/>
          <p:cNvSpPr/>
          <p:nvPr/>
        </p:nvSpPr>
        <p:spPr>
          <a:xfrm>
            <a:off x="8394192" y="4343400"/>
            <a:ext cx="457200" cy="457200"/>
          </a:xfrm>
          <a:prstGeom prst="ellipse">
            <a:avLst/>
          </a:prstGeom>
          <a:solidFill>
            <a:srgbClr val="E4ECF2"/>
          </a:solidFill>
          <a:ln w="12700">
            <a:solidFill>
              <a:srgbClr val="E4ECF2"/>
            </a:solidFill>
            <a:prstDash val="solid"/>
          </a:ln>
        </p:spPr>
      </p:sp>
      <p:sp>
        <p:nvSpPr>
          <p:cNvPr id="32" name="Text 30"/>
          <p:cNvSpPr txBox="1"/>
          <p:nvPr/>
        </p:nvSpPr>
        <p:spPr>
          <a:xfrm>
            <a:off x="8394192" y="4343400"/>
            <a:ext cx="457200" cy="457200"/>
          </a:xfrm>
          <a:prstGeom prst="rect">
            <a:avLst/>
          </a:prstGeom>
          <a:noFill/>
          <a:ln/>
        </p:spPr>
        <p:txBody>
          <a:bodyPr wrap="square" lIns="0" tIns="0" rIns="0" bIns="0" rtlCol="0" anchor="ctr"/>
          <a:lstStyle/>
          <a:p>
            <a:pPr algn="ctr" indent="0" marL="0">
              <a:buNone/>
            </a:pPr>
            <a:r>
              <a:rPr lang="en-US" sz="1200" b="1" dirty="0">
                <a:solidFill>
                  <a:srgbClr val="23405A"/>
                </a:solidFill>
                <a:latin typeface="Calibri" pitchFamily="34" charset="0"/>
                <a:ea typeface="Calibri" pitchFamily="34" charset="-122"/>
                <a:cs typeface="Calibri" pitchFamily="34" charset="-120"/>
              </a:rPr>
              <a:t>6</a:t>
            </a:r>
            <a:endParaRPr lang="en-US" sz="1200" dirty="0"/>
          </a:p>
        </p:txBody>
      </p:sp>
      <p:sp>
        <p:nvSpPr>
          <p:cNvPr id="33" name="Text 31"/>
          <p:cNvSpPr txBox="1"/>
          <p:nvPr/>
        </p:nvSpPr>
        <p:spPr>
          <a:xfrm>
            <a:off x="8394192" y="4937760"/>
            <a:ext cx="2962656" cy="365760"/>
          </a:xfrm>
          <a:prstGeom prst="rect">
            <a:avLst/>
          </a:prstGeom>
          <a:noFill/>
          <a:ln/>
        </p:spPr>
        <p:txBody>
          <a:bodyPr wrap="square" lIns="0" tIns="0" rIns="0" bIns="0" rtlCol="0" anchor="t"/>
          <a:lstStyle/>
          <a:p>
            <a:pPr indent="0" marL="0">
              <a:buNone/>
            </a:pPr>
            <a:r>
              <a:rPr lang="en-US" sz="1550" b="1" dirty="0">
                <a:solidFill>
                  <a:srgbClr val="1E2E3A"/>
                </a:solidFill>
                <a:latin typeface="Calibri" pitchFamily="34" charset="0"/>
                <a:ea typeface="Calibri" pitchFamily="34" charset="-122"/>
                <a:cs typeface="Calibri" pitchFamily="34" charset="-120"/>
              </a:rPr>
              <a:t>Park what is out of scope</a:t>
            </a:r>
            <a:endParaRPr lang="en-US" sz="1550" dirty="0"/>
          </a:p>
        </p:txBody>
      </p:sp>
      <p:sp>
        <p:nvSpPr>
          <p:cNvPr id="34" name="Text 32"/>
          <p:cNvSpPr txBox="1"/>
          <p:nvPr/>
        </p:nvSpPr>
        <p:spPr>
          <a:xfrm>
            <a:off x="8394192" y="5330952"/>
            <a:ext cx="2962656" cy="777240"/>
          </a:xfrm>
          <a:prstGeom prst="rect">
            <a:avLst/>
          </a:prstGeom>
          <a:noFill/>
          <a:ln/>
        </p:spPr>
        <p:txBody>
          <a:bodyPr wrap="square" lIns="0" tIns="0" rIns="0" bIns="0" rtlCol="0" anchor="t"/>
          <a:lstStyle/>
          <a:p>
            <a:pPr indent="0" marL="0">
              <a:buNone/>
            </a:pPr>
            <a:r>
              <a:rPr lang="en-US" sz="1250" dirty="0">
                <a:solidFill>
                  <a:srgbClr val="465A69"/>
                </a:solidFill>
                <a:latin typeface="Calibri" pitchFamily="34" charset="0"/>
                <a:ea typeface="Calibri" pitchFamily="34" charset="-122"/>
                <a:cs typeface="Calibri" pitchFamily="34" charset="-120"/>
              </a:rPr>
              <a:t>Good questions outside the scenario go to a parking lot for the hotwash.</a:t>
            </a:r>
            <a:endParaRPr lang="en-US" sz="1250" dirty="0"/>
          </a:p>
        </p:txBody>
      </p:sp>
      <p:sp>
        <p:nvSpPr>
          <p:cNvPr id="35" name="Shape 33"/>
          <p:cNvSpPr/>
          <p:nvPr/>
        </p:nvSpPr>
        <p:spPr>
          <a:xfrm>
            <a:off x="548640" y="6537960"/>
            <a:ext cx="763524" cy="274320"/>
          </a:xfrm>
          <a:prstGeom prst="roundRect">
            <a:avLst>
              <a:gd name="adj" fmla="val 50000"/>
            </a:avLst>
          </a:prstGeom>
          <a:solidFill>
            <a:srgbClr val="23405A"/>
          </a:solidFill>
          <a:ln w="12700">
            <a:solidFill>
              <a:srgbClr val="23405A"/>
            </a:solidFill>
            <a:prstDash val="solid"/>
          </a:ln>
        </p:spPr>
      </p:sp>
      <p:sp>
        <p:nvSpPr>
          <p:cNvPr id="36" name="Text 34"/>
          <p:cNvSpPr txBox="1"/>
          <p:nvPr/>
        </p:nvSpPr>
        <p:spPr>
          <a:xfrm>
            <a:off x="548640" y="6537960"/>
            <a:ext cx="763524"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Start</a:t>
            </a:r>
            <a:endParaRPr lang="en-US" sz="1200" dirty="0"/>
          </a:p>
        </p:txBody>
      </p:sp>
      <p:pic>
        <p:nvPicPr>
          <p:cNvPr id="37" name="Image 0" descr="preencoded.png">
            <a:hlinkClick r:id="rId2" tooltip="Go to Start" action="ppaction://hlinksldjump"/>
          </p:cNvPr>
          <p:cNvPicPr>
            <a:picLocks noChangeAspect="1"/>
          </p:cNvPicPr>
          <p:nvPr/>
        </p:nvPicPr>
        <p:blipFill>
          <a:blip r:embed="rId1"/>
          <a:stretch>
            <a:fillRect/>
          </a:stretch>
        </p:blipFill>
        <p:spPr>
          <a:xfrm>
            <a:off x="548640" y="6537960"/>
            <a:ext cx="763524" cy="274320"/>
          </a:xfrm>
          <a:prstGeom prst="rect">
            <a:avLst/>
          </a:prstGeom>
        </p:spPr>
      </p:pic>
      <p:sp>
        <p:nvSpPr>
          <p:cNvPr id="38" name="Shape 35"/>
          <p:cNvSpPr/>
          <p:nvPr/>
        </p:nvSpPr>
        <p:spPr>
          <a:xfrm>
            <a:off x="1385316" y="6537960"/>
            <a:ext cx="1197864" cy="274320"/>
          </a:xfrm>
          <a:prstGeom prst="roundRect">
            <a:avLst>
              <a:gd name="adj" fmla="val 50000"/>
            </a:avLst>
          </a:prstGeom>
          <a:solidFill>
            <a:srgbClr val="F1F6FA"/>
          </a:solidFill>
          <a:ln w="12700">
            <a:solidFill>
              <a:srgbClr val="F1F6FA"/>
            </a:solidFill>
            <a:prstDash val="solid"/>
          </a:ln>
        </p:spPr>
      </p:sp>
      <p:sp>
        <p:nvSpPr>
          <p:cNvPr id="39" name="Text 36"/>
          <p:cNvSpPr txBox="1"/>
          <p:nvPr/>
        </p:nvSpPr>
        <p:spPr>
          <a:xfrm>
            <a:off x="1385316" y="6537960"/>
            <a:ext cx="1197864" cy="274320"/>
          </a:xfrm>
          <a:prstGeom prst="rect">
            <a:avLst/>
          </a:prstGeom>
          <a:noFill/>
          <a:ln/>
        </p:spPr>
        <p:txBody>
          <a:bodyPr wrap="square" lIns="0" tIns="0" rIns="0" bIns="0" rtlCol="0" anchor="ctr"/>
          <a:lstStyle/>
          <a:p>
            <a:pPr algn="ctr" indent="0" marL="0">
              <a:buNone/>
            </a:pPr>
            <a:r>
              <a:rPr lang="en-US" sz="1200" b="1" dirty="0">
                <a:solidFill>
                  <a:srgbClr val="3F6E8C"/>
                </a:solidFill>
                <a:latin typeface="Calibri" pitchFamily="34" charset="0"/>
                <a:ea typeface="Calibri" pitchFamily="34" charset="-122"/>
                <a:cs typeface="Calibri" pitchFamily="34" charset="-120"/>
              </a:rPr>
              <a:t>Scenario 1</a:t>
            </a:r>
            <a:endParaRPr lang="en-US" sz="1200" dirty="0"/>
          </a:p>
        </p:txBody>
      </p:sp>
      <p:pic>
        <p:nvPicPr>
          <p:cNvPr id="40" name="Image 1" descr="preencoded.png">
            <a:hlinkClick r:id="rId4" tooltip="Go to Scenario 1" action="ppaction://hlinksldjump"/>
          </p:cNvPr>
          <p:cNvPicPr>
            <a:picLocks noChangeAspect="1"/>
          </p:cNvPicPr>
          <p:nvPr/>
        </p:nvPicPr>
        <p:blipFill>
          <a:blip r:embed="rId3"/>
          <a:stretch>
            <a:fillRect/>
          </a:stretch>
        </p:blipFill>
        <p:spPr>
          <a:xfrm>
            <a:off x="1385316" y="6537960"/>
            <a:ext cx="1197864" cy="274320"/>
          </a:xfrm>
          <a:prstGeom prst="rect">
            <a:avLst/>
          </a:prstGeom>
        </p:spPr>
      </p:pic>
      <p:sp>
        <p:nvSpPr>
          <p:cNvPr id="41" name="Shape 37"/>
          <p:cNvSpPr/>
          <p:nvPr/>
        </p:nvSpPr>
        <p:spPr>
          <a:xfrm>
            <a:off x="2656332" y="6537960"/>
            <a:ext cx="1197864" cy="274320"/>
          </a:xfrm>
          <a:prstGeom prst="roundRect">
            <a:avLst>
              <a:gd name="adj" fmla="val 50000"/>
            </a:avLst>
          </a:prstGeom>
          <a:solidFill>
            <a:srgbClr val="F1F8F3"/>
          </a:solidFill>
          <a:ln w="12700">
            <a:solidFill>
              <a:srgbClr val="F1F8F3"/>
            </a:solidFill>
            <a:prstDash val="solid"/>
          </a:ln>
        </p:spPr>
      </p:sp>
      <p:sp>
        <p:nvSpPr>
          <p:cNvPr id="42" name="Text 38"/>
          <p:cNvSpPr txBox="1"/>
          <p:nvPr/>
        </p:nvSpPr>
        <p:spPr>
          <a:xfrm>
            <a:off x="2656332" y="6537960"/>
            <a:ext cx="1197864" cy="274320"/>
          </a:xfrm>
          <a:prstGeom prst="rect">
            <a:avLst/>
          </a:prstGeom>
          <a:noFill/>
          <a:ln/>
        </p:spPr>
        <p:txBody>
          <a:bodyPr wrap="square" lIns="0" tIns="0" rIns="0" bIns="0" rtlCol="0" anchor="ctr"/>
          <a:lstStyle/>
          <a:p>
            <a:pPr algn="ctr" indent="0" marL="0">
              <a:buNone/>
            </a:pPr>
            <a:r>
              <a:rPr lang="en-US" sz="1200" b="1" dirty="0">
                <a:solidFill>
                  <a:srgbClr val="4C8068"/>
                </a:solidFill>
                <a:latin typeface="Calibri" pitchFamily="34" charset="0"/>
                <a:ea typeface="Calibri" pitchFamily="34" charset="-122"/>
                <a:cs typeface="Calibri" pitchFamily="34" charset="-120"/>
              </a:rPr>
              <a:t>Scenario 2</a:t>
            </a:r>
            <a:endParaRPr lang="en-US" sz="1200" dirty="0"/>
          </a:p>
        </p:txBody>
      </p:sp>
      <p:pic>
        <p:nvPicPr>
          <p:cNvPr id="43" name="Image 2" descr="preencoded.png">
            <a:hlinkClick r:id="rId6" tooltip="Go to Scenario 2" action="ppaction://hlinksldjump"/>
          </p:cNvPr>
          <p:cNvPicPr>
            <a:picLocks noChangeAspect="1"/>
          </p:cNvPicPr>
          <p:nvPr/>
        </p:nvPicPr>
        <p:blipFill>
          <a:blip r:embed="rId5"/>
          <a:stretch>
            <a:fillRect/>
          </a:stretch>
        </p:blipFill>
        <p:spPr>
          <a:xfrm>
            <a:off x="2656332" y="6537960"/>
            <a:ext cx="1197864" cy="274320"/>
          </a:xfrm>
          <a:prstGeom prst="rect">
            <a:avLst/>
          </a:prstGeom>
        </p:spPr>
      </p:pic>
      <p:sp>
        <p:nvSpPr>
          <p:cNvPr id="44" name="Shape 39"/>
          <p:cNvSpPr/>
          <p:nvPr/>
        </p:nvSpPr>
        <p:spPr>
          <a:xfrm>
            <a:off x="3927348" y="6537960"/>
            <a:ext cx="1197864" cy="274320"/>
          </a:xfrm>
          <a:prstGeom prst="roundRect">
            <a:avLst>
              <a:gd name="adj" fmla="val 50000"/>
            </a:avLst>
          </a:prstGeom>
          <a:solidFill>
            <a:srgbClr val="F6F3FA"/>
          </a:solidFill>
          <a:ln w="12700">
            <a:solidFill>
              <a:srgbClr val="F6F3FA"/>
            </a:solidFill>
            <a:prstDash val="solid"/>
          </a:ln>
        </p:spPr>
      </p:sp>
      <p:sp>
        <p:nvSpPr>
          <p:cNvPr id="45" name="Text 40"/>
          <p:cNvSpPr txBox="1"/>
          <p:nvPr/>
        </p:nvSpPr>
        <p:spPr>
          <a:xfrm>
            <a:off x="3927348" y="6537960"/>
            <a:ext cx="1197864" cy="274320"/>
          </a:xfrm>
          <a:prstGeom prst="rect">
            <a:avLst/>
          </a:prstGeom>
          <a:noFill/>
          <a:ln/>
        </p:spPr>
        <p:txBody>
          <a:bodyPr wrap="square" lIns="0" tIns="0" rIns="0" bIns="0" rtlCol="0" anchor="ctr"/>
          <a:lstStyle/>
          <a:p>
            <a:pPr algn="ctr" indent="0" marL="0">
              <a:buNone/>
            </a:pPr>
            <a:r>
              <a:rPr lang="en-US" sz="1200" b="1" dirty="0">
                <a:solidFill>
                  <a:srgbClr val="6E5E94"/>
                </a:solidFill>
                <a:latin typeface="Calibri" pitchFamily="34" charset="0"/>
                <a:ea typeface="Calibri" pitchFamily="34" charset="-122"/>
                <a:cs typeface="Calibri" pitchFamily="34" charset="-120"/>
              </a:rPr>
              <a:t>Scenario 3</a:t>
            </a:r>
            <a:endParaRPr lang="en-US" sz="1200" dirty="0"/>
          </a:p>
        </p:txBody>
      </p:sp>
      <p:pic>
        <p:nvPicPr>
          <p:cNvPr id="46" name="Image 3" descr="preencoded.png">
            <a:hlinkClick r:id="rId8" tooltip="Go to Scenario 3" action="ppaction://hlinksldjump"/>
          </p:cNvPr>
          <p:cNvPicPr>
            <a:picLocks noChangeAspect="1"/>
          </p:cNvPicPr>
          <p:nvPr/>
        </p:nvPicPr>
        <p:blipFill>
          <a:blip r:embed="rId7"/>
          <a:stretch>
            <a:fillRect/>
          </a:stretch>
        </p:blipFill>
        <p:spPr>
          <a:xfrm>
            <a:off x="3927348" y="6537960"/>
            <a:ext cx="1197864" cy="274320"/>
          </a:xfrm>
          <a:prstGeom prst="rect">
            <a:avLst/>
          </a:prstGeom>
        </p:spPr>
      </p:pic>
      <p:sp>
        <p:nvSpPr>
          <p:cNvPr id="47" name="Shape 41"/>
          <p:cNvSpPr/>
          <p:nvPr/>
        </p:nvSpPr>
        <p:spPr>
          <a:xfrm>
            <a:off x="5198364" y="6537960"/>
            <a:ext cx="937260" cy="274320"/>
          </a:xfrm>
          <a:prstGeom prst="roundRect">
            <a:avLst>
              <a:gd name="adj" fmla="val 50000"/>
            </a:avLst>
          </a:prstGeom>
          <a:solidFill>
            <a:srgbClr val="E4ECF2"/>
          </a:solidFill>
          <a:ln w="12700">
            <a:solidFill>
              <a:srgbClr val="E4ECF2"/>
            </a:solidFill>
            <a:prstDash val="solid"/>
          </a:ln>
        </p:spPr>
      </p:sp>
      <p:sp>
        <p:nvSpPr>
          <p:cNvPr id="48" name="Text 42"/>
          <p:cNvSpPr txBox="1"/>
          <p:nvPr/>
        </p:nvSpPr>
        <p:spPr>
          <a:xfrm>
            <a:off x="5198364" y="6537960"/>
            <a:ext cx="937260" cy="274320"/>
          </a:xfrm>
          <a:prstGeom prst="rect">
            <a:avLst/>
          </a:prstGeom>
          <a:noFill/>
          <a:ln/>
        </p:spPr>
        <p:txBody>
          <a:bodyPr wrap="square" lIns="0" tIns="0" rIns="0" bIns="0" rtlCol="0" anchor="ctr"/>
          <a:lstStyle/>
          <a:p>
            <a:pPr algn="ctr" indent="0" marL="0">
              <a:buNone/>
            </a:pPr>
            <a:r>
              <a:rPr lang="en-US" sz="1200" b="1" dirty="0">
                <a:solidFill>
                  <a:srgbClr val="23405A"/>
                </a:solidFill>
                <a:latin typeface="Calibri" pitchFamily="34" charset="0"/>
                <a:ea typeface="Calibri" pitchFamily="34" charset="-122"/>
                <a:cs typeface="Calibri" pitchFamily="34" charset="-120"/>
              </a:rPr>
              <a:t>Closing</a:t>
            </a:r>
            <a:endParaRPr lang="en-US" sz="1200" dirty="0"/>
          </a:p>
        </p:txBody>
      </p:sp>
      <p:pic>
        <p:nvPicPr>
          <p:cNvPr id="49" name="Image 4" descr="preencoded.png">
            <a:hlinkClick r:id="rId10" tooltip="Go to Closing" action="ppaction://hlinksldjump"/>
          </p:cNvPr>
          <p:cNvPicPr>
            <a:picLocks noChangeAspect="1"/>
          </p:cNvPicPr>
          <p:nvPr/>
        </p:nvPicPr>
        <p:blipFill>
          <a:blip r:embed="rId9"/>
          <a:stretch>
            <a:fillRect/>
          </a:stretch>
        </p:blipFill>
        <p:spPr>
          <a:xfrm>
            <a:off x="5198364" y="6537960"/>
            <a:ext cx="937260" cy="274320"/>
          </a:xfrm>
          <a:prstGeom prst="rect">
            <a:avLst/>
          </a:prstGeom>
        </p:spPr>
      </p:pic>
      <p:sp>
        <p:nvSpPr>
          <p:cNvPr id="50" name="Text 43"/>
          <p:cNvSpPr txBox="1"/>
          <p:nvPr/>
        </p:nvSpPr>
        <p:spPr>
          <a:xfrm>
            <a:off x="11277295" y="6537960"/>
            <a:ext cx="365760" cy="274320"/>
          </a:xfrm>
          <a:prstGeom prst="rect">
            <a:avLst/>
          </a:prstGeom>
          <a:noFill/>
          <a:ln/>
        </p:spPr>
        <p:txBody>
          <a:bodyPr wrap="square" lIns="0" tIns="0" rIns="0" bIns="0" rtlCol="0" anchor="ctr"/>
          <a:lstStyle/>
          <a:p>
            <a:pPr algn="r" indent="0" marL="0">
              <a:buNone/>
            </a:pPr>
            <a:r>
              <a:rPr lang="en-US" sz="1200" dirty="0">
                <a:solidFill>
                  <a:srgbClr val="465A69"/>
                </a:solidFill>
                <a:latin typeface="Calibri" pitchFamily="34" charset="0"/>
                <a:ea typeface="Calibri" pitchFamily="34" charset="-122"/>
                <a:cs typeface="Calibri"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EF2F1"/>
        </a:solidFill>
      </p:bgPr>
    </p:bg>
    <p:spTree>
      <p:nvGrpSpPr>
        <p:cNvPr id="1" name=""/>
        <p:cNvGrpSpPr/>
        <p:nvPr/>
      </p:nvGrpSpPr>
      <p:grpSpPr>
        <a:xfrm>
          <a:off x="0" y="0"/>
          <a:ext cx="0" cy="0"/>
          <a:chOff x="0" y="0"/>
          <a:chExt cx="0" cy="0"/>
        </a:xfrm>
      </p:grpSpPr>
      <p:sp>
        <p:nvSpPr>
          <p:cNvPr id="2" name="Shape 0"/>
          <p:cNvSpPr/>
          <p:nvPr/>
        </p:nvSpPr>
        <p:spPr>
          <a:xfrm>
            <a:off x="548640" y="347472"/>
            <a:ext cx="1280160" cy="329184"/>
          </a:xfrm>
          <a:prstGeom prst="roundRect">
            <a:avLst>
              <a:gd name="adj" fmla="val 50000"/>
            </a:avLst>
          </a:prstGeom>
          <a:solidFill>
            <a:srgbClr val="E4ECF2"/>
          </a:solidFill>
          <a:ln w="12700">
            <a:solidFill>
              <a:srgbClr val="E4ECF2"/>
            </a:solidFill>
            <a:prstDash val="solid"/>
          </a:ln>
        </p:spPr>
      </p:sp>
      <p:sp>
        <p:nvSpPr>
          <p:cNvPr id="3" name="Text 1"/>
          <p:cNvSpPr txBox="1"/>
          <p:nvPr/>
        </p:nvSpPr>
        <p:spPr>
          <a:xfrm>
            <a:off x="548640" y="347472"/>
            <a:ext cx="1280160" cy="329184"/>
          </a:xfrm>
          <a:prstGeom prst="rect">
            <a:avLst/>
          </a:prstGeom>
          <a:noFill/>
          <a:ln/>
        </p:spPr>
        <p:txBody>
          <a:bodyPr wrap="square" lIns="0" tIns="0" rIns="0" bIns="0" rtlCol="0" anchor="ctr"/>
          <a:lstStyle/>
          <a:p>
            <a:pPr algn="ctr" indent="0" marL="0">
              <a:buNone/>
            </a:pPr>
            <a:r>
              <a:rPr lang="en-US" sz="1200" b="1" dirty="0">
                <a:solidFill>
                  <a:srgbClr val="23405A"/>
                </a:solidFill>
                <a:latin typeface="Calibri" pitchFamily="34" charset="0"/>
                <a:ea typeface="Calibri" pitchFamily="34" charset="-122"/>
                <a:cs typeface="Calibri" pitchFamily="34" charset="-120"/>
              </a:rPr>
              <a:t>Start here</a:t>
            </a:r>
            <a:endParaRPr lang="en-US" sz="1200" dirty="0"/>
          </a:p>
        </p:txBody>
      </p:sp>
      <p:sp>
        <p:nvSpPr>
          <p:cNvPr id="4" name="Text 2"/>
          <p:cNvSpPr txBox="1"/>
          <p:nvPr/>
        </p:nvSpPr>
        <p:spPr>
          <a:xfrm>
            <a:off x="548640" y="749808"/>
            <a:ext cx="11064240" cy="640080"/>
          </a:xfrm>
          <a:prstGeom prst="rect">
            <a:avLst/>
          </a:prstGeom>
          <a:noFill/>
          <a:ln/>
        </p:spPr>
        <p:txBody>
          <a:bodyPr wrap="square" lIns="0" tIns="0" rIns="0" bIns="0" rtlCol="0" anchor="ctr"/>
          <a:lstStyle/>
          <a:p>
            <a:pPr indent="0" marL="0">
              <a:buNone/>
            </a:pPr>
            <a:r>
              <a:rPr lang="en-US" sz="2800" b="1" dirty="0">
                <a:solidFill>
                  <a:srgbClr val="23405A"/>
                </a:solidFill>
                <a:latin typeface="Calibri" pitchFamily="34" charset="0"/>
                <a:ea typeface="Calibri" pitchFamily="34" charset="-122"/>
                <a:cs typeface="Calibri" pitchFamily="34" charset="-120"/>
              </a:rPr>
              <a:t>How each scenario runs</a:t>
            </a:r>
            <a:endParaRPr lang="en-US" sz="2800" dirty="0"/>
          </a:p>
        </p:txBody>
      </p:sp>
      <p:sp>
        <p:nvSpPr>
          <p:cNvPr id="5" name="Shape 3"/>
          <p:cNvSpPr/>
          <p:nvPr/>
        </p:nvSpPr>
        <p:spPr>
          <a:xfrm>
            <a:off x="548640" y="1645920"/>
            <a:ext cx="11091672" cy="2377440"/>
          </a:xfrm>
          <a:prstGeom prst="roundRect">
            <a:avLst>
              <a:gd name="adj" fmla="val 5385"/>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6" name="Shape 4"/>
          <p:cNvSpPr/>
          <p:nvPr/>
        </p:nvSpPr>
        <p:spPr>
          <a:xfrm>
            <a:off x="777240" y="2011680"/>
            <a:ext cx="1371600" cy="1645920"/>
          </a:xfrm>
          <a:prstGeom prst="roundRect">
            <a:avLst>
              <a:gd name="adj" fmla="val 8000"/>
            </a:avLst>
          </a:prstGeom>
          <a:solidFill>
            <a:srgbClr val="EEF2F1"/>
          </a:solidFill>
          <a:ln w="12700">
            <a:solidFill>
              <a:srgbClr val="EEF2F1"/>
            </a:solidFill>
            <a:prstDash val="solid"/>
          </a:ln>
        </p:spPr>
      </p:sp>
      <p:sp>
        <p:nvSpPr>
          <p:cNvPr id="7" name="Text 5"/>
          <p:cNvSpPr txBox="1"/>
          <p:nvPr/>
        </p:nvSpPr>
        <p:spPr>
          <a:xfrm>
            <a:off x="886968" y="2194560"/>
            <a:ext cx="1152144" cy="411480"/>
          </a:xfrm>
          <a:prstGeom prst="rect">
            <a:avLst/>
          </a:prstGeom>
          <a:noFill/>
          <a:ln/>
        </p:spPr>
        <p:txBody>
          <a:bodyPr wrap="square" lIns="0" tIns="0" rIns="0" bIns="0" rtlCol="0" anchor="t"/>
          <a:lstStyle/>
          <a:p>
            <a:pPr algn="ctr" indent="0" marL="0">
              <a:buNone/>
            </a:pPr>
            <a:r>
              <a:rPr lang="en-US" sz="1600" b="1" dirty="0">
                <a:solidFill>
                  <a:srgbClr val="23405A"/>
                </a:solidFill>
                <a:latin typeface="Calibri" pitchFamily="34" charset="0"/>
                <a:ea typeface="Calibri" pitchFamily="34" charset="-122"/>
                <a:cs typeface="Calibri" pitchFamily="34" charset="-120"/>
              </a:rPr>
              <a:t>Background</a:t>
            </a:r>
            <a:endParaRPr lang="en-US" sz="1600" dirty="0"/>
          </a:p>
        </p:txBody>
      </p:sp>
      <p:sp>
        <p:nvSpPr>
          <p:cNvPr id="8" name="Text 6"/>
          <p:cNvSpPr txBox="1"/>
          <p:nvPr/>
        </p:nvSpPr>
        <p:spPr>
          <a:xfrm>
            <a:off x="886968" y="2697480"/>
            <a:ext cx="1152144" cy="777240"/>
          </a:xfrm>
          <a:prstGeom prst="rect">
            <a:avLst/>
          </a:prstGeom>
          <a:noFill/>
          <a:ln/>
        </p:spPr>
        <p:txBody>
          <a:bodyPr wrap="square" lIns="0" tIns="0" rIns="0" bIns="0" rtlCol="0" anchor="t"/>
          <a:lstStyle/>
          <a:p>
            <a:pPr algn="ctr" indent="0" marL="0">
              <a:buNone/>
            </a:pPr>
            <a:r>
              <a:rPr lang="en-US" sz="1200" dirty="0">
                <a:solidFill>
                  <a:srgbClr val="465A69"/>
                </a:solidFill>
                <a:latin typeface="Calibri" pitchFamily="34" charset="0"/>
                <a:ea typeface="Calibri" pitchFamily="34" charset="-122"/>
                <a:cs typeface="Calibri" pitchFamily="34" charset="-120"/>
              </a:rPr>
              <a:t>Scope, assumptions, roles</a:t>
            </a:r>
            <a:endParaRPr lang="en-US" sz="1200" dirty="0"/>
          </a:p>
        </p:txBody>
      </p:sp>
      <p:sp>
        <p:nvSpPr>
          <p:cNvPr id="9" name="Shape 7"/>
          <p:cNvSpPr/>
          <p:nvPr/>
        </p:nvSpPr>
        <p:spPr>
          <a:xfrm>
            <a:off x="2176272" y="2697480"/>
            <a:ext cx="128016" cy="274320"/>
          </a:xfrm>
          <a:prstGeom prst="chevron">
            <a:avLst/>
          </a:prstGeom>
          <a:solidFill>
            <a:srgbClr val="748793"/>
          </a:solidFill>
          <a:ln w="12700">
            <a:solidFill>
              <a:srgbClr val="748793"/>
            </a:solidFill>
            <a:prstDash val="solid"/>
          </a:ln>
        </p:spPr>
      </p:sp>
      <p:sp>
        <p:nvSpPr>
          <p:cNvPr id="10" name="Shape 8"/>
          <p:cNvSpPr/>
          <p:nvPr/>
        </p:nvSpPr>
        <p:spPr>
          <a:xfrm>
            <a:off x="2304288" y="2011680"/>
            <a:ext cx="1371600" cy="1645920"/>
          </a:xfrm>
          <a:prstGeom prst="roundRect">
            <a:avLst>
              <a:gd name="adj" fmla="val 8000"/>
            </a:avLst>
          </a:prstGeom>
          <a:solidFill>
            <a:srgbClr val="EEF2F1"/>
          </a:solidFill>
          <a:ln w="12700">
            <a:solidFill>
              <a:srgbClr val="EEF2F1"/>
            </a:solidFill>
            <a:prstDash val="solid"/>
          </a:ln>
        </p:spPr>
      </p:sp>
      <p:sp>
        <p:nvSpPr>
          <p:cNvPr id="11" name="Text 9"/>
          <p:cNvSpPr txBox="1"/>
          <p:nvPr/>
        </p:nvSpPr>
        <p:spPr>
          <a:xfrm>
            <a:off x="2414016" y="2194560"/>
            <a:ext cx="1152144" cy="411480"/>
          </a:xfrm>
          <a:prstGeom prst="rect">
            <a:avLst/>
          </a:prstGeom>
          <a:noFill/>
          <a:ln/>
        </p:spPr>
        <p:txBody>
          <a:bodyPr wrap="square" lIns="0" tIns="0" rIns="0" bIns="0" rtlCol="0" anchor="t"/>
          <a:lstStyle/>
          <a:p>
            <a:pPr algn="ctr" indent="0" marL="0">
              <a:buNone/>
            </a:pPr>
            <a:r>
              <a:rPr lang="en-US" sz="1600" b="1" dirty="0">
                <a:solidFill>
                  <a:srgbClr val="23405A"/>
                </a:solidFill>
                <a:latin typeface="Calibri" pitchFamily="34" charset="0"/>
                <a:ea typeface="Calibri" pitchFamily="34" charset="-122"/>
                <a:cs typeface="Calibri" pitchFamily="34" charset="-120"/>
              </a:rPr>
              <a:t>T+0</a:t>
            </a:r>
            <a:endParaRPr lang="en-US" sz="1600" dirty="0"/>
          </a:p>
        </p:txBody>
      </p:sp>
      <p:sp>
        <p:nvSpPr>
          <p:cNvPr id="12" name="Text 10"/>
          <p:cNvSpPr txBox="1"/>
          <p:nvPr/>
        </p:nvSpPr>
        <p:spPr>
          <a:xfrm>
            <a:off x="2414016" y="2697480"/>
            <a:ext cx="1152144" cy="777240"/>
          </a:xfrm>
          <a:prstGeom prst="rect">
            <a:avLst/>
          </a:prstGeom>
          <a:noFill/>
          <a:ln/>
        </p:spPr>
        <p:txBody>
          <a:bodyPr wrap="square" lIns="0" tIns="0" rIns="0" bIns="0" rtlCol="0" anchor="t"/>
          <a:lstStyle/>
          <a:p>
            <a:pPr algn="ctr" indent="0" marL="0">
              <a:buNone/>
            </a:pPr>
            <a:r>
              <a:rPr lang="en-US" sz="1200" dirty="0">
                <a:solidFill>
                  <a:srgbClr val="465A69"/>
                </a:solidFill>
                <a:latin typeface="Calibri" pitchFamily="34" charset="0"/>
                <a:ea typeface="Calibri" pitchFamily="34" charset="-122"/>
                <a:cs typeface="Calibri" pitchFamily="34" charset="-120"/>
              </a:rPr>
              <a:t>First signs</a:t>
            </a:r>
            <a:endParaRPr lang="en-US" sz="1200" dirty="0"/>
          </a:p>
        </p:txBody>
      </p:sp>
      <p:sp>
        <p:nvSpPr>
          <p:cNvPr id="13" name="Shape 11"/>
          <p:cNvSpPr/>
          <p:nvPr/>
        </p:nvSpPr>
        <p:spPr>
          <a:xfrm>
            <a:off x="3703320" y="2697480"/>
            <a:ext cx="128016" cy="274320"/>
          </a:xfrm>
          <a:prstGeom prst="chevron">
            <a:avLst/>
          </a:prstGeom>
          <a:solidFill>
            <a:srgbClr val="748793"/>
          </a:solidFill>
          <a:ln w="12700">
            <a:solidFill>
              <a:srgbClr val="748793"/>
            </a:solidFill>
            <a:prstDash val="solid"/>
          </a:ln>
        </p:spPr>
      </p:sp>
      <p:sp>
        <p:nvSpPr>
          <p:cNvPr id="14" name="Shape 12"/>
          <p:cNvSpPr/>
          <p:nvPr/>
        </p:nvSpPr>
        <p:spPr>
          <a:xfrm>
            <a:off x="3831336" y="2011680"/>
            <a:ext cx="1371600" cy="1645920"/>
          </a:xfrm>
          <a:prstGeom prst="roundRect">
            <a:avLst>
              <a:gd name="adj" fmla="val 8000"/>
            </a:avLst>
          </a:prstGeom>
          <a:solidFill>
            <a:srgbClr val="EEF2F1"/>
          </a:solidFill>
          <a:ln w="12700">
            <a:solidFill>
              <a:srgbClr val="EEF2F1"/>
            </a:solidFill>
            <a:prstDash val="solid"/>
          </a:ln>
        </p:spPr>
      </p:sp>
      <p:sp>
        <p:nvSpPr>
          <p:cNvPr id="15" name="Text 13"/>
          <p:cNvSpPr txBox="1"/>
          <p:nvPr/>
        </p:nvSpPr>
        <p:spPr>
          <a:xfrm>
            <a:off x="3941064" y="2194560"/>
            <a:ext cx="1152144" cy="411480"/>
          </a:xfrm>
          <a:prstGeom prst="rect">
            <a:avLst/>
          </a:prstGeom>
          <a:noFill/>
          <a:ln/>
        </p:spPr>
        <p:txBody>
          <a:bodyPr wrap="square" lIns="0" tIns="0" rIns="0" bIns="0" rtlCol="0" anchor="t"/>
          <a:lstStyle/>
          <a:p>
            <a:pPr algn="ctr" indent="0" marL="0">
              <a:buNone/>
            </a:pPr>
            <a:r>
              <a:rPr lang="en-US" sz="1600" b="1" dirty="0">
                <a:solidFill>
                  <a:srgbClr val="23405A"/>
                </a:solidFill>
                <a:latin typeface="Calibri" pitchFamily="34" charset="0"/>
                <a:ea typeface="Calibri" pitchFamily="34" charset="-122"/>
                <a:cs typeface="Calibri" pitchFamily="34" charset="-120"/>
              </a:rPr>
              <a:t>Decide</a:t>
            </a:r>
            <a:endParaRPr lang="en-US" sz="1600" dirty="0"/>
          </a:p>
        </p:txBody>
      </p:sp>
      <p:sp>
        <p:nvSpPr>
          <p:cNvPr id="16" name="Text 14"/>
          <p:cNvSpPr txBox="1"/>
          <p:nvPr/>
        </p:nvSpPr>
        <p:spPr>
          <a:xfrm>
            <a:off x="3941064" y="2697480"/>
            <a:ext cx="1152144" cy="777240"/>
          </a:xfrm>
          <a:prstGeom prst="rect">
            <a:avLst/>
          </a:prstGeom>
          <a:noFill/>
          <a:ln/>
        </p:spPr>
        <p:txBody>
          <a:bodyPr wrap="square" lIns="0" tIns="0" rIns="0" bIns="0" rtlCol="0" anchor="t"/>
          <a:lstStyle/>
          <a:p>
            <a:pPr algn="ctr" indent="0" marL="0">
              <a:buNone/>
            </a:pPr>
            <a:r>
              <a:rPr lang="en-US" sz="1200" dirty="0">
                <a:solidFill>
                  <a:srgbClr val="465A69"/>
                </a:solidFill>
                <a:latin typeface="Calibri" pitchFamily="34" charset="0"/>
                <a:ea typeface="Calibri" pitchFamily="34" charset="-122"/>
                <a:cs typeface="Calibri" pitchFamily="34" charset="-120"/>
              </a:rPr>
              <a:t>What you know, who owns it</a:t>
            </a:r>
            <a:endParaRPr lang="en-US" sz="1200" dirty="0"/>
          </a:p>
        </p:txBody>
      </p:sp>
      <p:sp>
        <p:nvSpPr>
          <p:cNvPr id="17" name="Shape 15"/>
          <p:cNvSpPr/>
          <p:nvPr/>
        </p:nvSpPr>
        <p:spPr>
          <a:xfrm>
            <a:off x="5230368" y="2697480"/>
            <a:ext cx="128016" cy="274320"/>
          </a:xfrm>
          <a:prstGeom prst="chevron">
            <a:avLst/>
          </a:prstGeom>
          <a:solidFill>
            <a:srgbClr val="748793"/>
          </a:solidFill>
          <a:ln w="12700">
            <a:solidFill>
              <a:srgbClr val="748793"/>
            </a:solidFill>
            <a:prstDash val="solid"/>
          </a:ln>
        </p:spPr>
      </p:sp>
      <p:sp>
        <p:nvSpPr>
          <p:cNvPr id="18" name="Shape 16"/>
          <p:cNvSpPr/>
          <p:nvPr/>
        </p:nvSpPr>
        <p:spPr>
          <a:xfrm>
            <a:off x="5358384" y="2011680"/>
            <a:ext cx="1371600" cy="1645920"/>
          </a:xfrm>
          <a:prstGeom prst="roundRect">
            <a:avLst>
              <a:gd name="adj" fmla="val 8000"/>
            </a:avLst>
          </a:prstGeom>
          <a:solidFill>
            <a:srgbClr val="E4ECF2"/>
          </a:solidFill>
          <a:ln w="12700">
            <a:solidFill>
              <a:srgbClr val="E4ECF2"/>
            </a:solidFill>
            <a:prstDash val="solid"/>
          </a:ln>
        </p:spPr>
      </p:sp>
      <p:sp>
        <p:nvSpPr>
          <p:cNvPr id="19" name="Text 17"/>
          <p:cNvSpPr txBox="1"/>
          <p:nvPr/>
        </p:nvSpPr>
        <p:spPr>
          <a:xfrm>
            <a:off x="5468112" y="2194560"/>
            <a:ext cx="1152144" cy="411480"/>
          </a:xfrm>
          <a:prstGeom prst="rect">
            <a:avLst/>
          </a:prstGeom>
          <a:noFill/>
          <a:ln/>
        </p:spPr>
        <p:txBody>
          <a:bodyPr wrap="square" lIns="0" tIns="0" rIns="0" bIns="0" rtlCol="0" anchor="t"/>
          <a:lstStyle/>
          <a:p>
            <a:pPr algn="ctr" indent="0" marL="0">
              <a:buNone/>
            </a:pPr>
            <a:r>
              <a:rPr lang="en-US" sz="1600" b="1" dirty="0">
                <a:solidFill>
                  <a:srgbClr val="23405A"/>
                </a:solidFill>
                <a:latin typeface="Calibri" pitchFamily="34" charset="0"/>
                <a:ea typeface="Calibri" pitchFamily="34" charset="-122"/>
                <a:cs typeface="Calibri" pitchFamily="34" charset="-120"/>
              </a:rPr>
              <a:t>Inject</a:t>
            </a:r>
            <a:endParaRPr lang="en-US" sz="1600" dirty="0"/>
          </a:p>
        </p:txBody>
      </p:sp>
      <p:sp>
        <p:nvSpPr>
          <p:cNvPr id="20" name="Text 18"/>
          <p:cNvSpPr txBox="1"/>
          <p:nvPr/>
        </p:nvSpPr>
        <p:spPr>
          <a:xfrm>
            <a:off x="5468112" y="2697480"/>
            <a:ext cx="1152144" cy="777240"/>
          </a:xfrm>
          <a:prstGeom prst="rect">
            <a:avLst/>
          </a:prstGeom>
          <a:noFill/>
          <a:ln/>
        </p:spPr>
        <p:txBody>
          <a:bodyPr wrap="square" lIns="0" tIns="0" rIns="0" bIns="0" rtlCol="0" anchor="t"/>
          <a:lstStyle/>
          <a:p>
            <a:pPr algn="ctr" indent="0" marL="0">
              <a:buNone/>
            </a:pPr>
            <a:r>
              <a:rPr lang="en-US" sz="1200" dirty="0">
                <a:solidFill>
                  <a:srgbClr val="465A69"/>
                </a:solidFill>
                <a:latin typeface="Calibri" pitchFamily="34" charset="0"/>
                <a:ea typeface="Calibri" pitchFamily="34" charset="-122"/>
                <a:cs typeface="Calibri" pitchFamily="34" charset="-120"/>
              </a:rPr>
              <a:t>New information</a:t>
            </a:r>
            <a:endParaRPr lang="en-US" sz="1200" dirty="0"/>
          </a:p>
        </p:txBody>
      </p:sp>
      <p:sp>
        <p:nvSpPr>
          <p:cNvPr id="21" name="Shape 19"/>
          <p:cNvSpPr/>
          <p:nvPr/>
        </p:nvSpPr>
        <p:spPr>
          <a:xfrm>
            <a:off x="6757416" y="2697480"/>
            <a:ext cx="128016" cy="274320"/>
          </a:xfrm>
          <a:prstGeom prst="chevron">
            <a:avLst/>
          </a:prstGeom>
          <a:solidFill>
            <a:srgbClr val="748793"/>
          </a:solidFill>
          <a:ln w="12700">
            <a:solidFill>
              <a:srgbClr val="748793"/>
            </a:solidFill>
            <a:prstDash val="solid"/>
          </a:ln>
        </p:spPr>
      </p:sp>
      <p:sp>
        <p:nvSpPr>
          <p:cNvPr id="22" name="Shape 20"/>
          <p:cNvSpPr/>
          <p:nvPr/>
        </p:nvSpPr>
        <p:spPr>
          <a:xfrm>
            <a:off x="6885432" y="2011680"/>
            <a:ext cx="1371600" cy="1645920"/>
          </a:xfrm>
          <a:prstGeom prst="roundRect">
            <a:avLst>
              <a:gd name="adj" fmla="val 8000"/>
            </a:avLst>
          </a:prstGeom>
          <a:solidFill>
            <a:srgbClr val="E4ECF2"/>
          </a:solidFill>
          <a:ln w="12700">
            <a:solidFill>
              <a:srgbClr val="E4ECF2"/>
            </a:solidFill>
            <a:prstDash val="solid"/>
          </a:ln>
        </p:spPr>
      </p:sp>
      <p:sp>
        <p:nvSpPr>
          <p:cNvPr id="23" name="Text 21"/>
          <p:cNvSpPr txBox="1"/>
          <p:nvPr/>
        </p:nvSpPr>
        <p:spPr>
          <a:xfrm>
            <a:off x="6995160" y="2194560"/>
            <a:ext cx="1152144" cy="411480"/>
          </a:xfrm>
          <a:prstGeom prst="rect">
            <a:avLst/>
          </a:prstGeom>
          <a:noFill/>
          <a:ln/>
        </p:spPr>
        <p:txBody>
          <a:bodyPr wrap="square" lIns="0" tIns="0" rIns="0" bIns="0" rtlCol="0" anchor="t"/>
          <a:lstStyle/>
          <a:p>
            <a:pPr algn="ctr" indent="0" marL="0">
              <a:buNone/>
            </a:pPr>
            <a:r>
              <a:rPr lang="en-US" sz="1600" b="1" dirty="0">
                <a:solidFill>
                  <a:srgbClr val="23405A"/>
                </a:solidFill>
                <a:latin typeface="Calibri" pitchFamily="34" charset="0"/>
                <a:ea typeface="Calibri" pitchFamily="34" charset="-122"/>
                <a:cs typeface="Calibri" pitchFamily="34" charset="-120"/>
              </a:rPr>
              <a:t>Decide</a:t>
            </a:r>
            <a:endParaRPr lang="en-US" sz="1600" dirty="0"/>
          </a:p>
        </p:txBody>
      </p:sp>
      <p:sp>
        <p:nvSpPr>
          <p:cNvPr id="24" name="Text 22"/>
          <p:cNvSpPr txBox="1"/>
          <p:nvPr/>
        </p:nvSpPr>
        <p:spPr>
          <a:xfrm>
            <a:off x="6995160" y="2697480"/>
            <a:ext cx="1152144" cy="777240"/>
          </a:xfrm>
          <a:prstGeom prst="rect">
            <a:avLst/>
          </a:prstGeom>
          <a:noFill/>
          <a:ln/>
        </p:spPr>
        <p:txBody>
          <a:bodyPr wrap="square" lIns="0" tIns="0" rIns="0" bIns="0" rtlCol="0" anchor="t"/>
          <a:lstStyle/>
          <a:p>
            <a:pPr algn="ctr" indent="0" marL="0">
              <a:buNone/>
            </a:pPr>
            <a:r>
              <a:rPr lang="en-US" sz="1200" dirty="0">
                <a:solidFill>
                  <a:srgbClr val="465A69"/>
                </a:solidFill>
                <a:latin typeface="Calibri" pitchFamily="34" charset="0"/>
                <a:ea typeface="Calibri" pitchFamily="34" charset="-122"/>
                <a:cs typeface="Calibri" pitchFamily="34" charset="-120"/>
              </a:rPr>
              <a:t>Decision and rationale</a:t>
            </a:r>
            <a:endParaRPr lang="en-US" sz="1200" dirty="0"/>
          </a:p>
        </p:txBody>
      </p:sp>
      <p:sp>
        <p:nvSpPr>
          <p:cNvPr id="25" name="Shape 23"/>
          <p:cNvSpPr/>
          <p:nvPr/>
        </p:nvSpPr>
        <p:spPr>
          <a:xfrm>
            <a:off x="8284464" y="2697480"/>
            <a:ext cx="128016" cy="274320"/>
          </a:xfrm>
          <a:prstGeom prst="chevron">
            <a:avLst/>
          </a:prstGeom>
          <a:solidFill>
            <a:srgbClr val="748793"/>
          </a:solidFill>
          <a:ln w="12700">
            <a:solidFill>
              <a:srgbClr val="748793"/>
            </a:solidFill>
            <a:prstDash val="solid"/>
          </a:ln>
        </p:spPr>
      </p:sp>
      <p:sp>
        <p:nvSpPr>
          <p:cNvPr id="26" name="Shape 24"/>
          <p:cNvSpPr/>
          <p:nvPr/>
        </p:nvSpPr>
        <p:spPr>
          <a:xfrm>
            <a:off x="8412480" y="2011680"/>
            <a:ext cx="1371600" cy="1645920"/>
          </a:xfrm>
          <a:prstGeom prst="roundRect">
            <a:avLst>
              <a:gd name="adj" fmla="val 8000"/>
            </a:avLst>
          </a:prstGeom>
          <a:solidFill>
            <a:srgbClr val="EEF2F1"/>
          </a:solidFill>
          <a:ln w="12700">
            <a:solidFill>
              <a:srgbClr val="EEF2F1"/>
            </a:solidFill>
            <a:prstDash val="solid"/>
          </a:ln>
        </p:spPr>
      </p:sp>
      <p:sp>
        <p:nvSpPr>
          <p:cNvPr id="27" name="Text 25"/>
          <p:cNvSpPr txBox="1"/>
          <p:nvPr/>
        </p:nvSpPr>
        <p:spPr>
          <a:xfrm>
            <a:off x="8522208" y="2194560"/>
            <a:ext cx="1152144" cy="411480"/>
          </a:xfrm>
          <a:prstGeom prst="rect">
            <a:avLst/>
          </a:prstGeom>
          <a:noFill/>
          <a:ln/>
        </p:spPr>
        <p:txBody>
          <a:bodyPr wrap="square" lIns="0" tIns="0" rIns="0" bIns="0" rtlCol="0" anchor="t"/>
          <a:lstStyle/>
          <a:p>
            <a:pPr algn="ctr" indent="0" marL="0">
              <a:buNone/>
            </a:pPr>
            <a:r>
              <a:rPr lang="en-US" sz="1600" b="1" dirty="0">
                <a:solidFill>
                  <a:srgbClr val="23405A"/>
                </a:solidFill>
                <a:latin typeface="Calibri" pitchFamily="34" charset="0"/>
                <a:ea typeface="Calibri" pitchFamily="34" charset="-122"/>
                <a:cs typeface="Calibri" pitchFamily="34" charset="-120"/>
              </a:rPr>
              <a:t>Recovery</a:t>
            </a:r>
            <a:endParaRPr lang="en-US" sz="1600" dirty="0"/>
          </a:p>
        </p:txBody>
      </p:sp>
      <p:sp>
        <p:nvSpPr>
          <p:cNvPr id="28" name="Text 26"/>
          <p:cNvSpPr txBox="1"/>
          <p:nvPr/>
        </p:nvSpPr>
        <p:spPr>
          <a:xfrm>
            <a:off x="8522208" y="2697480"/>
            <a:ext cx="1152144" cy="777240"/>
          </a:xfrm>
          <a:prstGeom prst="rect">
            <a:avLst/>
          </a:prstGeom>
          <a:noFill/>
          <a:ln/>
        </p:spPr>
        <p:txBody>
          <a:bodyPr wrap="square" lIns="0" tIns="0" rIns="0" bIns="0" rtlCol="0" anchor="t"/>
          <a:lstStyle/>
          <a:p>
            <a:pPr algn="ctr" indent="0" marL="0">
              <a:buNone/>
            </a:pPr>
            <a:r>
              <a:rPr lang="en-US" sz="1200" dirty="0">
                <a:solidFill>
                  <a:srgbClr val="465A69"/>
                </a:solidFill>
                <a:latin typeface="Calibri" pitchFamily="34" charset="0"/>
                <a:ea typeface="Calibri" pitchFamily="34" charset="-122"/>
                <a:cs typeface="Calibri" pitchFamily="34" charset="-120"/>
              </a:rPr>
              <a:t>What must be true?</a:t>
            </a:r>
            <a:endParaRPr lang="en-US" sz="1200" dirty="0"/>
          </a:p>
        </p:txBody>
      </p:sp>
      <p:sp>
        <p:nvSpPr>
          <p:cNvPr id="29" name="Shape 27"/>
          <p:cNvSpPr/>
          <p:nvPr/>
        </p:nvSpPr>
        <p:spPr>
          <a:xfrm>
            <a:off x="9811512" y="2697480"/>
            <a:ext cx="128016" cy="274320"/>
          </a:xfrm>
          <a:prstGeom prst="chevron">
            <a:avLst/>
          </a:prstGeom>
          <a:solidFill>
            <a:srgbClr val="748793"/>
          </a:solidFill>
          <a:ln w="12700">
            <a:solidFill>
              <a:srgbClr val="748793"/>
            </a:solidFill>
            <a:prstDash val="solid"/>
          </a:ln>
        </p:spPr>
      </p:sp>
      <p:sp>
        <p:nvSpPr>
          <p:cNvPr id="30" name="Shape 28"/>
          <p:cNvSpPr/>
          <p:nvPr/>
        </p:nvSpPr>
        <p:spPr>
          <a:xfrm>
            <a:off x="9939528" y="2011680"/>
            <a:ext cx="1371600" cy="1645920"/>
          </a:xfrm>
          <a:prstGeom prst="roundRect">
            <a:avLst>
              <a:gd name="adj" fmla="val 8000"/>
            </a:avLst>
          </a:prstGeom>
          <a:solidFill>
            <a:srgbClr val="EEF2F1"/>
          </a:solidFill>
          <a:ln w="12700">
            <a:solidFill>
              <a:srgbClr val="EEF2F1"/>
            </a:solidFill>
            <a:prstDash val="solid"/>
          </a:ln>
        </p:spPr>
      </p:sp>
      <p:sp>
        <p:nvSpPr>
          <p:cNvPr id="31" name="Text 29"/>
          <p:cNvSpPr txBox="1"/>
          <p:nvPr/>
        </p:nvSpPr>
        <p:spPr>
          <a:xfrm>
            <a:off x="10049256" y="2194560"/>
            <a:ext cx="1152144" cy="411480"/>
          </a:xfrm>
          <a:prstGeom prst="rect">
            <a:avLst/>
          </a:prstGeom>
          <a:noFill/>
          <a:ln/>
        </p:spPr>
        <p:txBody>
          <a:bodyPr wrap="square" lIns="0" tIns="0" rIns="0" bIns="0" rtlCol="0" anchor="t"/>
          <a:lstStyle/>
          <a:p>
            <a:pPr algn="ctr" indent="0" marL="0">
              <a:buNone/>
            </a:pPr>
            <a:r>
              <a:rPr lang="en-US" sz="1600" b="1" dirty="0">
                <a:solidFill>
                  <a:srgbClr val="23405A"/>
                </a:solidFill>
                <a:latin typeface="Calibri" pitchFamily="34" charset="0"/>
                <a:ea typeface="Calibri" pitchFamily="34" charset="-122"/>
                <a:cs typeface="Calibri" pitchFamily="34" charset="-120"/>
              </a:rPr>
              <a:t>Hotwash</a:t>
            </a:r>
            <a:endParaRPr lang="en-US" sz="1600" dirty="0"/>
          </a:p>
        </p:txBody>
      </p:sp>
      <p:sp>
        <p:nvSpPr>
          <p:cNvPr id="32" name="Text 30"/>
          <p:cNvSpPr txBox="1"/>
          <p:nvPr/>
        </p:nvSpPr>
        <p:spPr>
          <a:xfrm>
            <a:off x="10049256" y="2697480"/>
            <a:ext cx="1152144" cy="777240"/>
          </a:xfrm>
          <a:prstGeom prst="rect">
            <a:avLst/>
          </a:prstGeom>
          <a:noFill/>
          <a:ln/>
        </p:spPr>
        <p:txBody>
          <a:bodyPr wrap="square" lIns="0" tIns="0" rIns="0" bIns="0" rtlCol="0" anchor="t"/>
          <a:lstStyle/>
          <a:p>
            <a:pPr algn="ctr" indent="0" marL="0">
              <a:buNone/>
            </a:pPr>
            <a:r>
              <a:rPr lang="en-US" sz="1200" dirty="0">
                <a:solidFill>
                  <a:srgbClr val="465A69"/>
                </a:solidFill>
                <a:latin typeface="Calibri" pitchFamily="34" charset="0"/>
                <a:ea typeface="Calibri" pitchFamily="34" charset="-122"/>
                <a:cs typeface="Calibri" pitchFamily="34" charset="-120"/>
              </a:rPr>
              <a:t>Gaps and actions</a:t>
            </a:r>
            <a:endParaRPr lang="en-US" sz="1200" dirty="0"/>
          </a:p>
        </p:txBody>
      </p:sp>
      <p:sp>
        <p:nvSpPr>
          <p:cNvPr id="33" name="Text 31"/>
          <p:cNvSpPr txBox="1"/>
          <p:nvPr/>
        </p:nvSpPr>
        <p:spPr>
          <a:xfrm>
            <a:off x="777240" y="3703320"/>
            <a:ext cx="10607040" cy="274320"/>
          </a:xfrm>
          <a:prstGeom prst="rect">
            <a:avLst/>
          </a:prstGeom>
          <a:noFill/>
          <a:ln/>
        </p:spPr>
        <p:txBody>
          <a:bodyPr wrap="square" lIns="0" tIns="0" rIns="0" bIns="0" rtlCol="0" anchor="t"/>
          <a:lstStyle/>
          <a:p>
            <a:pPr algn="ctr" indent="0" marL="0">
              <a:buNone/>
            </a:pPr>
            <a:r>
              <a:rPr lang="en-US" sz="1200" i="1" dirty="0">
                <a:solidFill>
                  <a:srgbClr val="465A69"/>
                </a:solidFill>
                <a:latin typeface="Calibri" pitchFamily="34" charset="0"/>
                <a:ea typeface="Calibri" pitchFamily="34" charset="-122"/>
                <a:cs typeface="Calibri" pitchFamily="34" charset="-120"/>
              </a:rPr>
              <a:t>Inject and Decide repeat until the scenario reaches recovery.</a:t>
            </a:r>
            <a:endParaRPr lang="en-US" sz="1200" dirty="0"/>
          </a:p>
        </p:txBody>
      </p:sp>
      <p:sp>
        <p:nvSpPr>
          <p:cNvPr id="34" name="Shape 32"/>
          <p:cNvSpPr/>
          <p:nvPr/>
        </p:nvSpPr>
        <p:spPr>
          <a:xfrm>
            <a:off x="548640" y="4297680"/>
            <a:ext cx="5394960" cy="1874520"/>
          </a:xfrm>
          <a:prstGeom prst="roundRect">
            <a:avLst>
              <a:gd name="adj" fmla="val 6829"/>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35" name="Text 33"/>
          <p:cNvSpPr txBox="1"/>
          <p:nvPr/>
        </p:nvSpPr>
        <p:spPr>
          <a:xfrm>
            <a:off x="822960" y="4526280"/>
            <a:ext cx="4846320" cy="1463040"/>
          </a:xfrm>
          <a:prstGeom prst="rect">
            <a:avLst/>
          </a:prstGeom>
          <a:noFill/>
          <a:ln/>
        </p:spPr>
        <p:txBody>
          <a:bodyPr wrap="square" lIns="0" tIns="0" rIns="0" bIns="0" rtlCol="0" anchor="t"/>
          <a:lstStyle/>
          <a:p>
            <a:pPr indent="0" marL="0">
              <a:buNone/>
            </a:pPr>
            <a:r>
              <a:rPr lang="en-US" sz="1400" b="1" dirty="0">
                <a:solidFill>
                  <a:srgbClr val="23405A"/>
                </a:solidFill>
                <a:latin typeface="Calibri" pitchFamily="34" charset="0"/>
                <a:ea typeface="Calibri" pitchFamily="34" charset="-122"/>
                <a:cs typeface="Calibri" pitchFamily="34" charset="-120"/>
              </a:rPr>
              <a:t>At every decision point</a:t>
            </a:r>
            <a:endParaRPr lang="en-US" sz="1400" dirty="0"/>
          </a:p>
          <a:p>
            <a:pPr indent="0" marL="0">
              <a:buNone/>
            </a:pPr>
            <a:r>
              <a:rPr lang="en-US" sz="1300" dirty="0">
                <a:solidFill>
                  <a:srgbClr val="1E2E3A"/>
                </a:solidFill>
                <a:latin typeface="Calibri" pitchFamily="34" charset="0"/>
                <a:ea typeface="Calibri" pitchFamily="34" charset="-122"/>
                <a:cs typeface="Calibri" pitchFamily="34" charset="-120"/>
              </a:rPr>
              <a:t>Name the decision, the owner, the rationale, and the time. The next information follows your decision.</a:t>
            </a:r>
            <a:endParaRPr lang="en-US" sz="1400" dirty="0"/>
          </a:p>
        </p:txBody>
      </p:sp>
      <p:sp>
        <p:nvSpPr>
          <p:cNvPr id="36" name="Shape 34"/>
          <p:cNvSpPr/>
          <p:nvPr/>
        </p:nvSpPr>
        <p:spPr>
          <a:xfrm>
            <a:off x="6245352" y="4297680"/>
            <a:ext cx="5394960" cy="1874520"/>
          </a:xfrm>
          <a:prstGeom prst="roundRect">
            <a:avLst>
              <a:gd name="adj" fmla="val 6829"/>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37" name="Text 35"/>
          <p:cNvSpPr txBox="1"/>
          <p:nvPr/>
        </p:nvSpPr>
        <p:spPr>
          <a:xfrm>
            <a:off x="6519672" y="4526280"/>
            <a:ext cx="4846320" cy="1463040"/>
          </a:xfrm>
          <a:prstGeom prst="rect">
            <a:avLst/>
          </a:prstGeom>
          <a:noFill/>
          <a:ln/>
        </p:spPr>
        <p:txBody>
          <a:bodyPr wrap="square" lIns="0" tIns="0" rIns="0" bIns="0" rtlCol="0" anchor="t"/>
          <a:lstStyle/>
          <a:p>
            <a:pPr indent="0" marL="0">
              <a:buNone/>
            </a:pPr>
            <a:r>
              <a:rPr lang="en-US" sz="1400" b="1" dirty="0">
                <a:solidFill>
                  <a:srgbClr val="23405A"/>
                </a:solidFill>
                <a:latin typeface="Calibri" pitchFamily="34" charset="0"/>
                <a:ea typeface="Calibri" pitchFamily="34" charset="-122"/>
                <a:cs typeface="Calibri" pitchFamily="34" charset="-120"/>
              </a:rPr>
              <a:t>What we are testing</a:t>
            </a:r>
            <a:endParaRPr lang="en-US" sz="1400" dirty="0"/>
          </a:p>
          <a:p>
            <a:pPr indent="0" marL="0">
              <a:buNone/>
            </a:pPr>
            <a:r>
              <a:rPr lang="en-US" sz="1300" dirty="0">
                <a:solidFill>
                  <a:srgbClr val="1E2E3A"/>
                </a:solidFill>
                <a:latin typeface="Calibri" pitchFamily="34" charset="0"/>
                <a:ea typeface="Calibri" pitchFamily="34" charset="-122"/>
                <a:cs typeface="Calibri" pitchFamily="34" charset="-120"/>
              </a:rPr>
              <a:t>How the organization makes decisions as uncertainty increases, not whether anyone can recite the plan.</a:t>
            </a:r>
            <a:endParaRPr lang="en-US" sz="1400" dirty="0"/>
          </a:p>
        </p:txBody>
      </p:sp>
      <p:sp>
        <p:nvSpPr>
          <p:cNvPr id="38" name="Text 36"/>
          <p:cNvSpPr txBox="1"/>
          <p:nvPr/>
        </p:nvSpPr>
        <p:spPr>
          <a:xfrm>
            <a:off x="548640" y="6254496"/>
            <a:ext cx="11091672" cy="256032"/>
          </a:xfrm>
          <a:prstGeom prst="rect">
            <a:avLst/>
          </a:prstGeom>
          <a:noFill/>
          <a:ln/>
        </p:spPr>
        <p:txBody>
          <a:bodyPr wrap="square" lIns="0" tIns="0" rIns="0" bIns="0" rtlCol="0" anchor="ctr"/>
          <a:lstStyle/>
          <a:p>
            <a:pPr indent="0" marL="0">
              <a:buNone/>
            </a:pPr>
            <a:r>
              <a:rPr lang="en-US" sz="1200" b="1" dirty="0">
                <a:solidFill>
                  <a:srgbClr val="465A69"/>
                </a:solidFill>
                <a:latin typeface="Calibri" pitchFamily="34" charset="0"/>
                <a:ea typeface="Calibri" pitchFamily="34" charset="-122"/>
                <a:cs typeface="Calibri" pitchFamily="34" charset="-120"/>
              </a:rPr>
              <a:t>Acronyms:  </a:t>
            </a:r>
            <a:pPr indent="0" marL="0">
              <a:buNone/>
            </a:pPr>
            <a:r>
              <a:rPr lang="en-US" sz="1200" dirty="0">
                <a:solidFill>
                  <a:srgbClr val="465A69"/>
                </a:solidFill>
                <a:latin typeface="Calibri" pitchFamily="34" charset="0"/>
                <a:ea typeface="Calibri" pitchFamily="34" charset="-122"/>
                <a:cs typeface="Calibri" pitchFamily="34" charset="-120"/>
              </a:rPr>
              <a:t>T+: time since the first signal</a:t>
            </a:r>
            <a:endParaRPr lang="en-US" sz="1200" dirty="0"/>
          </a:p>
        </p:txBody>
      </p:sp>
      <p:sp>
        <p:nvSpPr>
          <p:cNvPr id="39" name="Shape 37"/>
          <p:cNvSpPr/>
          <p:nvPr/>
        </p:nvSpPr>
        <p:spPr>
          <a:xfrm>
            <a:off x="548640" y="6537960"/>
            <a:ext cx="763524" cy="274320"/>
          </a:xfrm>
          <a:prstGeom prst="roundRect">
            <a:avLst>
              <a:gd name="adj" fmla="val 50000"/>
            </a:avLst>
          </a:prstGeom>
          <a:solidFill>
            <a:srgbClr val="23405A"/>
          </a:solidFill>
          <a:ln w="12700">
            <a:solidFill>
              <a:srgbClr val="23405A"/>
            </a:solidFill>
            <a:prstDash val="solid"/>
          </a:ln>
        </p:spPr>
      </p:sp>
      <p:sp>
        <p:nvSpPr>
          <p:cNvPr id="40" name="Text 38"/>
          <p:cNvSpPr txBox="1"/>
          <p:nvPr/>
        </p:nvSpPr>
        <p:spPr>
          <a:xfrm>
            <a:off x="548640" y="6537960"/>
            <a:ext cx="763524"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Start</a:t>
            </a:r>
            <a:endParaRPr lang="en-US" sz="1200" dirty="0"/>
          </a:p>
        </p:txBody>
      </p:sp>
      <p:pic>
        <p:nvPicPr>
          <p:cNvPr id="41" name="Image 0" descr="preencoded.png">
            <a:hlinkClick r:id="rId2" tooltip="Go to Start" action="ppaction://hlinksldjump"/>
          </p:cNvPr>
          <p:cNvPicPr>
            <a:picLocks noChangeAspect="1"/>
          </p:cNvPicPr>
          <p:nvPr/>
        </p:nvPicPr>
        <p:blipFill>
          <a:blip r:embed="rId1"/>
          <a:stretch>
            <a:fillRect/>
          </a:stretch>
        </p:blipFill>
        <p:spPr>
          <a:xfrm>
            <a:off x="548640" y="6537960"/>
            <a:ext cx="763524" cy="274320"/>
          </a:xfrm>
          <a:prstGeom prst="rect">
            <a:avLst/>
          </a:prstGeom>
        </p:spPr>
      </p:pic>
      <p:sp>
        <p:nvSpPr>
          <p:cNvPr id="42" name="Shape 39"/>
          <p:cNvSpPr/>
          <p:nvPr/>
        </p:nvSpPr>
        <p:spPr>
          <a:xfrm>
            <a:off x="1385316" y="6537960"/>
            <a:ext cx="1197864" cy="274320"/>
          </a:xfrm>
          <a:prstGeom prst="roundRect">
            <a:avLst>
              <a:gd name="adj" fmla="val 50000"/>
            </a:avLst>
          </a:prstGeom>
          <a:solidFill>
            <a:srgbClr val="F1F6FA"/>
          </a:solidFill>
          <a:ln w="12700">
            <a:solidFill>
              <a:srgbClr val="F1F6FA"/>
            </a:solidFill>
            <a:prstDash val="solid"/>
          </a:ln>
        </p:spPr>
      </p:sp>
      <p:sp>
        <p:nvSpPr>
          <p:cNvPr id="43" name="Text 40"/>
          <p:cNvSpPr txBox="1"/>
          <p:nvPr/>
        </p:nvSpPr>
        <p:spPr>
          <a:xfrm>
            <a:off x="1385316" y="6537960"/>
            <a:ext cx="1197864" cy="274320"/>
          </a:xfrm>
          <a:prstGeom prst="rect">
            <a:avLst/>
          </a:prstGeom>
          <a:noFill/>
          <a:ln/>
        </p:spPr>
        <p:txBody>
          <a:bodyPr wrap="square" lIns="0" tIns="0" rIns="0" bIns="0" rtlCol="0" anchor="ctr"/>
          <a:lstStyle/>
          <a:p>
            <a:pPr algn="ctr" indent="0" marL="0">
              <a:buNone/>
            </a:pPr>
            <a:r>
              <a:rPr lang="en-US" sz="1200" b="1" dirty="0">
                <a:solidFill>
                  <a:srgbClr val="3F6E8C"/>
                </a:solidFill>
                <a:latin typeface="Calibri" pitchFamily="34" charset="0"/>
                <a:ea typeface="Calibri" pitchFamily="34" charset="-122"/>
                <a:cs typeface="Calibri" pitchFamily="34" charset="-120"/>
              </a:rPr>
              <a:t>Scenario 1</a:t>
            </a:r>
            <a:endParaRPr lang="en-US" sz="1200" dirty="0"/>
          </a:p>
        </p:txBody>
      </p:sp>
      <p:pic>
        <p:nvPicPr>
          <p:cNvPr id="44" name="Image 1" descr="preencoded.png">
            <a:hlinkClick r:id="rId4" tooltip="Go to Scenario 1" action="ppaction://hlinksldjump"/>
          </p:cNvPr>
          <p:cNvPicPr>
            <a:picLocks noChangeAspect="1"/>
          </p:cNvPicPr>
          <p:nvPr/>
        </p:nvPicPr>
        <p:blipFill>
          <a:blip r:embed="rId3"/>
          <a:stretch>
            <a:fillRect/>
          </a:stretch>
        </p:blipFill>
        <p:spPr>
          <a:xfrm>
            <a:off x="1385316" y="6537960"/>
            <a:ext cx="1197864" cy="274320"/>
          </a:xfrm>
          <a:prstGeom prst="rect">
            <a:avLst/>
          </a:prstGeom>
        </p:spPr>
      </p:pic>
      <p:sp>
        <p:nvSpPr>
          <p:cNvPr id="45" name="Shape 41"/>
          <p:cNvSpPr/>
          <p:nvPr/>
        </p:nvSpPr>
        <p:spPr>
          <a:xfrm>
            <a:off x="2656332" y="6537960"/>
            <a:ext cx="1197864" cy="274320"/>
          </a:xfrm>
          <a:prstGeom prst="roundRect">
            <a:avLst>
              <a:gd name="adj" fmla="val 50000"/>
            </a:avLst>
          </a:prstGeom>
          <a:solidFill>
            <a:srgbClr val="F1F8F3"/>
          </a:solidFill>
          <a:ln w="12700">
            <a:solidFill>
              <a:srgbClr val="F1F8F3"/>
            </a:solidFill>
            <a:prstDash val="solid"/>
          </a:ln>
        </p:spPr>
      </p:sp>
      <p:sp>
        <p:nvSpPr>
          <p:cNvPr id="46" name="Text 42"/>
          <p:cNvSpPr txBox="1"/>
          <p:nvPr/>
        </p:nvSpPr>
        <p:spPr>
          <a:xfrm>
            <a:off x="2656332" y="6537960"/>
            <a:ext cx="1197864" cy="274320"/>
          </a:xfrm>
          <a:prstGeom prst="rect">
            <a:avLst/>
          </a:prstGeom>
          <a:noFill/>
          <a:ln/>
        </p:spPr>
        <p:txBody>
          <a:bodyPr wrap="square" lIns="0" tIns="0" rIns="0" bIns="0" rtlCol="0" anchor="ctr"/>
          <a:lstStyle/>
          <a:p>
            <a:pPr algn="ctr" indent="0" marL="0">
              <a:buNone/>
            </a:pPr>
            <a:r>
              <a:rPr lang="en-US" sz="1200" b="1" dirty="0">
                <a:solidFill>
                  <a:srgbClr val="4C8068"/>
                </a:solidFill>
                <a:latin typeface="Calibri" pitchFamily="34" charset="0"/>
                <a:ea typeface="Calibri" pitchFamily="34" charset="-122"/>
                <a:cs typeface="Calibri" pitchFamily="34" charset="-120"/>
              </a:rPr>
              <a:t>Scenario 2</a:t>
            </a:r>
            <a:endParaRPr lang="en-US" sz="1200" dirty="0"/>
          </a:p>
        </p:txBody>
      </p:sp>
      <p:pic>
        <p:nvPicPr>
          <p:cNvPr id="47" name="Image 2" descr="preencoded.png">
            <a:hlinkClick r:id="rId6" tooltip="Go to Scenario 2" action="ppaction://hlinksldjump"/>
          </p:cNvPr>
          <p:cNvPicPr>
            <a:picLocks noChangeAspect="1"/>
          </p:cNvPicPr>
          <p:nvPr/>
        </p:nvPicPr>
        <p:blipFill>
          <a:blip r:embed="rId5"/>
          <a:stretch>
            <a:fillRect/>
          </a:stretch>
        </p:blipFill>
        <p:spPr>
          <a:xfrm>
            <a:off x="2656332" y="6537960"/>
            <a:ext cx="1197864" cy="274320"/>
          </a:xfrm>
          <a:prstGeom prst="rect">
            <a:avLst/>
          </a:prstGeom>
        </p:spPr>
      </p:pic>
      <p:sp>
        <p:nvSpPr>
          <p:cNvPr id="48" name="Shape 43"/>
          <p:cNvSpPr/>
          <p:nvPr/>
        </p:nvSpPr>
        <p:spPr>
          <a:xfrm>
            <a:off x="3927348" y="6537960"/>
            <a:ext cx="1197864" cy="274320"/>
          </a:xfrm>
          <a:prstGeom prst="roundRect">
            <a:avLst>
              <a:gd name="adj" fmla="val 50000"/>
            </a:avLst>
          </a:prstGeom>
          <a:solidFill>
            <a:srgbClr val="F6F3FA"/>
          </a:solidFill>
          <a:ln w="12700">
            <a:solidFill>
              <a:srgbClr val="F6F3FA"/>
            </a:solidFill>
            <a:prstDash val="solid"/>
          </a:ln>
        </p:spPr>
      </p:sp>
      <p:sp>
        <p:nvSpPr>
          <p:cNvPr id="49" name="Text 44"/>
          <p:cNvSpPr txBox="1"/>
          <p:nvPr/>
        </p:nvSpPr>
        <p:spPr>
          <a:xfrm>
            <a:off x="3927348" y="6537960"/>
            <a:ext cx="1197864" cy="274320"/>
          </a:xfrm>
          <a:prstGeom prst="rect">
            <a:avLst/>
          </a:prstGeom>
          <a:noFill/>
          <a:ln/>
        </p:spPr>
        <p:txBody>
          <a:bodyPr wrap="square" lIns="0" tIns="0" rIns="0" bIns="0" rtlCol="0" anchor="ctr"/>
          <a:lstStyle/>
          <a:p>
            <a:pPr algn="ctr" indent="0" marL="0">
              <a:buNone/>
            </a:pPr>
            <a:r>
              <a:rPr lang="en-US" sz="1200" b="1" dirty="0">
                <a:solidFill>
                  <a:srgbClr val="6E5E94"/>
                </a:solidFill>
                <a:latin typeface="Calibri" pitchFamily="34" charset="0"/>
                <a:ea typeface="Calibri" pitchFamily="34" charset="-122"/>
                <a:cs typeface="Calibri" pitchFamily="34" charset="-120"/>
              </a:rPr>
              <a:t>Scenario 3</a:t>
            </a:r>
            <a:endParaRPr lang="en-US" sz="1200" dirty="0"/>
          </a:p>
        </p:txBody>
      </p:sp>
      <p:pic>
        <p:nvPicPr>
          <p:cNvPr id="50" name="Image 3" descr="preencoded.png">
            <a:hlinkClick r:id="rId8" tooltip="Go to Scenario 3" action="ppaction://hlinksldjump"/>
          </p:cNvPr>
          <p:cNvPicPr>
            <a:picLocks noChangeAspect="1"/>
          </p:cNvPicPr>
          <p:nvPr/>
        </p:nvPicPr>
        <p:blipFill>
          <a:blip r:embed="rId7"/>
          <a:stretch>
            <a:fillRect/>
          </a:stretch>
        </p:blipFill>
        <p:spPr>
          <a:xfrm>
            <a:off x="3927348" y="6537960"/>
            <a:ext cx="1197864" cy="274320"/>
          </a:xfrm>
          <a:prstGeom prst="rect">
            <a:avLst/>
          </a:prstGeom>
        </p:spPr>
      </p:pic>
      <p:sp>
        <p:nvSpPr>
          <p:cNvPr id="51" name="Shape 45"/>
          <p:cNvSpPr/>
          <p:nvPr/>
        </p:nvSpPr>
        <p:spPr>
          <a:xfrm>
            <a:off x="5198364" y="6537960"/>
            <a:ext cx="937260" cy="274320"/>
          </a:xfrm>
          <a:prstGeom prst="roundRect">
            <a:avLst>
              <a:gd name="adj" fmla="val 50000"/>
            </a:avLst>
          </a:prstGeom>
          <a:solidFill>
            <a:srgbClr val="E4ECF2"/>
          </a:solidFill>
          <a:ln w="12700">
            <a:solidFill>
              <a:srgbClr val="E4ECF2"/>
            </a:solidFill>
            <a:prstDash val="solid"/>
          </a:ln>
        </p:spPr>
      </p:sp>
      <p:sp>
        <p:nvSpPr>
          <p:cNvPr id="52" name="Text 46"/>
          <p:cNvSpPr txBox="1"/>
          <p:nvPr/>
        </p:nvSpPr>
        <p:spPr>
          <a:xfrm>
            <a:off x="5198364" y="6537960"/>
            <a:ext cx="937260" cy="274320"/>
          </a:xfrm>
          <a:prstGeom prst="rect">
            <a:avLst/>
          </a:prstGeom>
          <a:noFill/>
          <a:ln/>
        </p:spPr>
        <p:txBody>
          <a:bodyPr wrap="square" lIns="0" tIns="0" rIns="0" bIns="0" rtlCol="0" anchor="ctr"/>
          <a:lstStyle/>
          <a:p>
            <a:pPr algn="ctr" indent="0" marL="0">
              <a:buNone/>
            </a:pPr>
            <a:r>
              <a:rPr lang="en-US" sz="1200" b="1" dirty="0">
                <a:solidFill>
                  <a:srgbClr val="23405A"/>
                </a:solidFill>
                <a:latin typeface="Calibri" pitchFamily="34" charset="0"/>
                <a:ea typeface="Calibri" pitchFamily="34" charset="-122"/>
                <a:cs typeface="Calibri" pitchFamily="34" charset="-120"/>
              </a:rPr>
              <a:t>Closing</a:t>
            </a:r>
            <a:endParaRPr lang="en-US" sz="1200" dirty="0"/>
          </a:p>
        </p:txBody>
      </p:sp>
      <p:pic>
        <p:nvPicPr>
          <p:cNvPr id="53" name="Image 4" descr="preencoded.png">
            <a:hlinkClick r:id="rId10" tooltip="Go to Closing" action="ppaction://hlinksldjump"/>
          </p:cNvPr>
          <p:cNvPicPr>
            <a:picLocks noChangeAspect="1"/>
          </p:cNvPicPr>
          <p:nvPr/>
        </p:nvPicPr>
        <p:blipFill>
          <a:blip r:embed="rId9"/>
          <a:stretch>
            <a:fillRect/>
          </a:stretch>
        </p:blipFill>
        <p:spPr>
          <a:xfrm>
            <a:off x="5198364" y="6537960"/>
            <a:ext cx="937260" cy="274320"/>
          </a:xfrm>
          <a:prstGeom prst="rect">
            <a:avLst/>
          </a:prstGeom>
        </p:spPr>
      </p:pic>
      <p:sp>
        <p:nvSpPr>
          <p:cNvPr id="54" name="Text 47"/>
          <p:cNvSpPr txBox="1"/>
          <p:nvPr/>
        </p:nvSpPr>
        <p:spPr>
          <a:xfrm>
            <a:off x="11277295" y="6537960"/>
            <a:ext cx="365760" cy="274320"/>
          </a:xfrm>
          <a:prstGeom prst="rect">
            <a:avLst/>
          </a:prstGeom>
          <a:noFill/>
          <a:ln/>
        </p:spPr>
        <p:txBody>
          <a:bodyPr wrap="square" lIns="0" tIns="0" rIns="0" bIns="0" rtlCol="0" anchor="ctr"/>
          <a:lstStyle/>
          <a:p>
            <a:pPr algn="r" indent="0" marL="0">
              <a:buNone/>
            </a:pPr>
            <a:r>
              <a:rPr lang="en-US" sz="1200" dirty="0">
                <a:solidFill>
                  <a:srgbClr val="465A69"/>
                </a:solidFill>
                <a:latin typeface="Calibri" pitchFamily="34" charset="0"/>
                <a:ea typeface="Calibri" pitchFamily="34" charset="-122"/>
                <a:cs typeface="Calibri"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6EEF6"/>
        </a:solidFill>
      </p:bgPr>
    </p:bg>
    <p:spTree>
      <p:nvGrpSpPr>
        <p:cNvPr id="1" name=""/>
        <p:cNvGrpSpPr/>
        <p:nvPr/>
      </p:nvGrpSpPr>
      <p:grpSpPr>
        <a:xfrm>
          <a:off x="0" y="0"/>
          <a:ext cx="0" cy="0"/>
          <a:chOff x="0" y="0"/>
          <a:chExt cx="0" cy="0"/>
        </a:xfrm>
      </p:grpSpPr>
      <p:sp>
        <p:nvSpPr>
          <p:cNvPr id="2" name="Shape 0"/>
          <p:cNvSpPr/>
          <p:nvPr/>
        </p:nvSpPr>
        <p:spPr>
          <a:xfrm>
            <a:off x="548640" y="731520"/>
            <a:ext cx="7040880" cy="5394960"/>
          </a:xfrm>
          <a:prstGeom prst="roundRect">
            <a:avLst>
              <a:gd name="adj" fmla="val 2373"/>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3" name="Shape 1"/>
          <p:cNvSpPr/>
          <p:nvPr/>
        </p:nvSpPr>
        <p:spPr>
          <a:xfrm>
            <a:off x="1005840" y="1188720"/>
            <a:ext cx="914400" cy="914400"/>
          </a:xfrm>
          <a:prstGeom prst="roundRect">
            <a:avLst>
              <a:gd name="adj" fmla="val 50000"/>
            </a:avLst>
          </a:prstGeom>
          <a:solidFill>
            <a:srgbClr val="F1F6FA"/>
          </a:solidFill>
          <a:ln w="12700">
            <a:solidFill>
              <a:srgbClr val="F1F6FA"/>
            </a:solidFill>
            <a:prstDash val="solid"/>
          </a:ln>
        </p:spPr>
      </p:sp>
      <p:pic>
        <p:nvPicPr>
          <p:cNvPr id="4" name="Image 0" descr="preencoded.png">    </p:cNvPr>
          <p:cNvPicPr>
            <a:picLocks noChangeAspect="1"/>
          </p:cNvPicPr>
          <p:nvPr/>
        </p:nvPicPr>
        <p:blipFill>
          <a:blip r:embed="rId1"/>
          <a:stretch>
            <a:fillRect/>
          </a:stretch>
        </p:blipFill>
        <p:spPr>
          <a:xfrm>
            <a:off x="1234440" y="1417320"/>
            <a:ext cx="457200" cy="457200"/>
          </a:xfrm>
          <a:prstGeom prst="rect">
            <a:avLst/>
          </a:prstGeom>
        </p:spPr>
      </p:pic>
      <p:sp>
        <p:nvSpPr>
          <p:cNvPr id="5" name="Text 2"/>
          <p:cNvSpPr txBox="1"/>
          <p:nvPr/>
        </p:nvSpPr>
        <p:spPr>
          <a:xfrm>
            <a:off x="2148840" y="1234440"/>
            <a:ext cx="4572000" cy="365760"/>
          </a:xfrm>
          <a:prstGeom prst="rect">
            <a:avLst/>
          </a:prstGeom>
          <a:noFill/>
          <a:ln/>
        </p:spPr>
        <p:txBody>
          <a:bodyPr wrap="square" lIns="0" tIns="0" rIns="0" bIns="0" rtlCol="0" anchor="t"/>
          <a:lstStyle/>
          <a:p>
            <a:pPr indent="0" marL="0">
              <a:buNone/>
            </a:pPr>
            <a:r>
              <a:rPr lang="en-US" sz="1600" b="1" dirty="0">
                <a:solidFill>
                  <a:srgbClr val="3F6E8C"/>
                </a:solidFill>
                <a:latin typeface="Calibri" pitchFamily="34" charset="0"/>
                <a:ea typeface="Calibri" pitchFamily="34" charset="-122"/>
                <a:cs typeface="Calibri" pitchFamily="34" charset="-120"/>
              </a:rPr>
              <a:t>Scenario 1</a:t>
            </a:r>
            <a:endParaRPr lang="en-US" sz="1600" dirty="0"/>
          </a:p>
        </p:txBody>
      </p:sp>
      <p:sp>
        <p:nvSpPr>
          <p:cNvPr id="6" name="Text 3"/>
          <p:cNvSpPr txBox="1"/>
          <p:nvPr/>
        </p:nvSpPr>
        <p:spPr>
          <a:xfrm>
            <a:off x="2148840" y="1572768"/>
            <a:ext cx="5120640" cy="594360"/>
          </a:xfrm>
          <a:prstGeom prst="rect">
            <a:avLst/>
          </a:prstGeom>
          <a:noFill/>
          <a:ln/>
        </p:spPr>
        <p:txBody>
          <a:bodyPr wrap="square" lIns="0" tIns="0" rIns="0" bIns="0" rtlCol="0" anchor="t"/>
          <a:lstStyle/>
          <a:p>
            <a:pPr indent="0" marL="0">
              <a:buNone/>
            </a:pPr>
            <a:r>
              <a:rPr lang="en-US" sz="3200" b="1" dirty="0">
                <a:solidFill>
                  <a:srgbClr val="23405A"/>
                </a:solidFill>
                <a:latin typeface="Calibri" pitchFamily="34" charset="0"/>
                <a:ea typeface="Calibri" pitchFamily="34" charset="-122"/>
                <a:cs typeface="Calibri" pitchFamily="34" charset="-120"/>
              </a:rPr>
              <a:t>Incident Response</a:t>
            </a:r>
            <a:endParaRPr lang="en-US" sz="3200" dirty="0"/>
          </a:p>
        </p:txBody>
      </p:sp>
      <p:sp>
        <p:nvSpPr>
          <p:cNvPr id="7" name="Text 4"/>
          <p:cNvSpPr txBox="1"/>
          <p:nvPr/>
        </p:nvSpPr>
        <p:spPr>
          <a:xfrm>
            <a:off x="1005840" y="2834640"/>
            <a:ext cx="6126480" cy="1463040"/>
          </a:xfrm>
          <a:prstGeom prst="rect">
            <a:avLst/>
          </a:prstGeom>
          <a:noFill/>
          <a:ln/>
        </p:spPr>
        <p:txBody>
          <a:bodyPr wrap="square" lIns="0" tIns="0" rIns="0" bIns="0" rtlCol="0" anchor="t"/>
          <a:lstStyle/>
          <a:p>
            <a:pPr indent="0" marL="0">
              <a:buNone/>
            </a:pPr>
            <a:r>
              <a:rPr lang="en-US" sz="2400" i="1" dirty="0">
                <a:solidFill>
                  <a:srgbClr val="3F6E8C"/>
                </a:solidFill>
                <a:latin typeface="Calibri" pitchFamily="34" charset="0"/>
                <a:ea typeface="Calibri" pitchFamily="34" charset="-122"/>
                <a:cs typeface="Calibri" pitchFamily="34" charset="-120"/>
              </a:rPr>
              <a:t>Can we detect, contain, and manage a SaaS-based cyber attack?</a:t>
            </a:r>
            <a:endParaRPr lang="en-US" sz="2400" dirty="0"/>
          </a:p>
        </p:txBody>
      </p:sp>
      <p:sp>
        <p:nvSpPr>
          <p:cNvPr id="8" name="Shape 5"/>
          <p:cNvSpPr/>
          <p:nvPr/>
        </p:nvSpPr>
        <p:spPr>
          <a:xfrm>
            <a:off x="7955280" y="731520"/>
            <a:ext cx="3685032" cy="1600200"/>
          </a:xfrm>
          <a:prstGeom prst="roundRect">
            <a:avLst>
              <a:gd name="adj" fmla="val 8000"/>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9" name="Shape 6"/>
          <p:cNvSpPr/>
          <p:nvPr/>
        </p:nvSpPr>
        <p:spPr>
          <a:xfrm>
            <a:off x="8229600" y="1234440"/>
            <a:ext cx="548640" cy="548640"/>
          </a:xfrm>
          <a:prstGeom prst="ellipse">
            <a:avLst/>
          </a:prstGeom>
          <a:solidFill>
            <a:srgbClr val="3F6E8C"/>
          </a:solidFill>
          <a:ln w="12700">
            <a:solidFill>
              <a:srgbClr val="3F6E8C"/>
            </a:solidFill>
            <a:prstDash val="solid"/>
          </a:ln>
        </p:spPr>
      </p:sp>
      <p:sp>
        <p:nvSpPr>
          <p:cNvPr id="10" name="Text 7"/>
          <p:cNvSpPr txBox="1"/>
          <p:nvPr/>
        </p:nvSpPr>
        <p:spPr>
          <a:xfrm>
            <a:off x="8229600" y="123444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1" name="Text 8"/>
          <p:cNvSpPr txBox="1"/>
          <p:nvPr/>
        </p:nvSpPr>
        <p:spPr>
          <a:xfrm>
            <a:off x="8961120" y="1115568"/>
            <a:ext cx="2560320" cy="411480"/>
          </a:xfrm>
          <a:prstGeom prst="rect">
            <a:avLst/>
          </a:prstGeom>
          <a:noFill/>
          <a:ln/>
        </p:spPr>
        <p:txBody>
          <a:bodyPr wrap="square" lIns="0" tIns="0" rIns="0" bIns="0" rtlCol="0" anchor="t"/>
          <a:lstStyle/>
          <a:p>
            <a:pPr indent="0" marL="0">
              <a:buNone/>
            </a:pPr>
            <a:r>
              <a:rPr lang="en-US" sz="1700" b="1" dirty="0">
                <a:solidFill>
                  <a:srgbClr val="1E2E3A"/>
                </a:solidFill>
                <a:latin typeface="Calibri" pitchFamily="34" charset="0"/>
                <a:ea typeface="Calibri" pitchFamily="34" charset="-122"/>
                <a:cs typeface="Calibri" pitchFamily="34" charset="-120"/>
              </a:rPr>
              <a:t>Incident Response</a:t>
            </a:r>
            <a:endParaRPr lang="en-US" sz="1700" dirty="0"/>
          </a:p>
        </p:txBody>
      </p:sp>
      <p:sp>
        <p:nvSpPr>
          <p:cNvPr id="12" name="Text 9"/>
          <p:cNvSpPr txBox="1"/>
          <p:nvPr/>
        </p:nvSpPr>
        <p:spPr>
          <a:xfrm>
            <a:off x="8961120" y="1536192"/>
            <a:ext cx="2560320" cy="320040"/>
          </a:xfrm>
          <a:prstGeom prst="rect">
            <a:avLst/>
          </a:prstGeom>
          <a:noFill/>
          <a:ln/>
        </p:spPr>
        <p:txBody>
          <a:bodyPr wrap="square" lIns="0" tIns="0" rIns="0" bIns="0" rtlCol="0" anchor="t"/>
          <a:lstStyle/>
          <a:p>
            <a:pPr indent="0" marL="0">
              <a:buNone/>
            </a:pPr>
            <a:r>
              <a:rPr lang="en-US" sz="1200" b="1" dirty="0">
                <a:solidFill>
                  <a:srgbClr val="3F6E8C"/>
                </a:solidFill>
                <a:latin typeface="Calibri" pitchFamily="34" charset="0"/>
                <a:ea typeface="Calibri" pitchFamily="34" charset="-122"/>
                <a:cs typeface="Calibri" pitchFamily="34" charset="-120"/>
              </a:rPr>
              <a:t>Now</a:t>
            </a:r>
            <a:endParaRPr lang="en-US" sz="1200" dirty="0"/>
          </a:p>
        </p:txBody>
      </p:sp>
      <p:sp>
        <p:nvSpPr>
          <p:cNvPr id="13" name="Shape 10"/>
          <p:cNvSpPr/>
          <p:nvPr/>
        </p:nvSpPr>
        <p:spPr>
          <a:xfrm>
            <a:off x="7955280" y="2587752"/>
            <a:ext cx="3685032" cy="1600200"/>
          </a:xfrm>
          <a:prstGeom prst="roundRect">
            <a:avLst>
              <a:gd name="adj" fmla="val 8000"/>
            </a:avLst>
          </a:prstGeom>
          <a:solidFill>
            <a:srgbClr val="F1F8F3"/>
          </a:solidFill>
          <a:ln w="12700">
            <a:solidFill>
              <a:srgbClr val="F1F8F3"/>
            </a:solidFill>
            <a:prstDash val="solid"/>
          </a:ln>
        </p:spPr>
      </p:sp>
      <p:sp>
        <p:nvSpPr>
          <p:cNvPr id="14" name="Shape 11"/>
          <p:cNvSpPr/>
          <p:nvPr/>
        </p:nvSpPr>
        <p:spPr>
          <a:xfrm>
            <a:off x="8229600" y="3090672"/>
            <a:ext cx="548640" cy="548640"/>
          </a:xfrm>
          <a:prstGeom prst="ellipse">
            <a:avLst/>
          </a:prstGeom>
          <a:solidFill>
            <a:srgbClr val="FFFFFF"/>
          </a:solidFill>
          <a:ln w="15875">
            <a:solidFill>
              <a:srgbClr val="C9D5D2"/>
            </a:solidFill>
            <a:prstDash val="solid"/>
          </a:ln>
        </p:spPr>
      </p:sp>
      <p:sp>
        <p:nvSpPr>
          <p:cNvPr id="15" name="Text 12"/>
          <p:cNvSpPr txBox="1"/>
          <p:nvPr/>
        </p:nvSpPr>
        <p:spPr>
          <a:xfrm>
            <a:off x="8229600" y="3090672"/>
            <a:ext cx="548640" cy="548640"/>
          </a:xfrm>
          <a:prstGeom prst="rect">
            <a:avLst/>
          </a:prstGeom>
          <a:noFill/>
          <a:ln/>
        </p:spPr>
        <p:txBody>
          <a:bodyPr wrap="square" lIns="0" tIns="0" rIns="0" bIns="0" rtlCol="0" anchor="ctr"/>
          <a:lstStyle/>
          <a:p>
            <a:pPr algn="ctr" indent="0" marL="0">
              <a:buNone/>
            </a:pPr>
            <a:r>
              <a:rPr lang="en-US" sz="1600" b="1" dirty="0">
                <a:solidFill>
                  <a:srgbClr val="748793"/>
                </a:solidFill>
                <a:latin typeface="Calibri" pitchFamily="34" charset="0"/>
                <a:ea typeface="Calibri" pitchFamily="34" charset="-122"/>
                <a:cs typeface="Calibri" pitchFamily="34" charset="-120"/>
              </a:rPr>
              <a:t>2</a:t>
            </a:r>
            <a:endParaRPr lang="en-US" sz="1600" dirty="0"/>
          </a:p>
        </p:txBody>
      </p:sp>
      <p:sp>
        <p:nvSpPr>
          <p:cNvPr id="16" name="Text 13"/>
          <p:cNvSpPr txBox="1"/>
          <p:nvPr/>
        </p:nvSpPr>
        <p:spPr>
          <a:xfrm>
            <a:off x="8961120" y="2971800"/>
            <a:ext cx="2560320" cy="411480"/>
          </a:xfrm>
          <a:prstGeom prst="rect">
            <a:avLst/>
          </a:prstGeom>
          <a:noFill/>
          <a:ln/>
        </p:spPr>
        <p:txBody>
          <a:bodyPr wrap="square" lIns="0" tIns="0" rIns="0" bIns="0" rtlCol="0" anchor="t"/>
          <a:lstStyle/>
          <a:p>
            <a:pPr indent="0" marL="0">
              <a:buNone/>
            </a:pPr>
            <a:r>
              <a:rPr lang="en-US" sz="1700" b="1" dirty="0">
                <a:solidFill>
                  <a:srgbClr val="748793"/>
                </a:solidFill>
                <a:latin typeface="Calibri" pitchFamily="34" charset="0"/>
                <a:ea typeface="Calibri" pitchFamily="34" charset="-122"/>
                <a:cs typeface="Calibri" pitchFamily="34" charset="-120"/>
              </a:rPr>
              <a:t>Disaster Recovery</a:t>
            </a:r>
            <a:endParaRPr lang="en-US" sz="1700" dirty="0"/>
          </a:p>
        </p:txBody>
      </p:sp>
      <p:sp>
        <p:nvSpPr>
          <p:cNvPr id="17" name="Text 14"/>
          <p:cNvSpPr txBox="1"/>
          <p:nvPr/>
        </p:nvSpPr>
        <p:spPr>
          <a:xfrm>
            <a:off x="8961120" y="3392424"/>
            <a:ext cx="2560320" cy="320040"/>
          </a:xfrm>
          <a:prstGeom prst="rect">
            <a:avLst/>
          </a:prstGeom>
          <a:noFill/>
          <a:ln/>
        </p:spPr>
        <p:txBody>
          <a:bodyPr wrap="square" lIns="0" tIns="0" rIns="0" bIns="0" rtlCol="0" anchor="t"/>
          <a:lstStyle/>
          <a:p>
            <a:pPr indent="0" marL="0">
              <a:buNone/>
            </a:pPr>
            <a:r>
              <a:rPr lang="en-US" sz="1200" dirty="0">
                <a:solidFill>
                  <a:srgbClr val="748793"/>
                </a:solidFill>
                <a:latin typeface="Calibri" pitchFamily="34" charset="0"/>
                <a:ea typeface="Calibri" pitchFamily="34" charset="-122"/>
                <a:cs typeface="Calibri" pitchFamily="34" charset="-120"/>
              </a:rPr>
              <a:t>Up next</a:t>
            </a:r>
            <a:endParaRPr lang="en-US" sz="1200" dirty="0"/>
          </a:p>
        </p:txBody>
      </p:sp>
      <p:sp>
        <p:nvSpPr>
          <p:cNvPr id="18" name="Shape 15"/>
          <p:cNvSpPr/>
          <p:nvPr/>
        </p:nvSpPr>
        <p:spPr>
          <a:xfrm>
            <a:off x="7955280" y="4443984"/>
            <a:ext cx="3685032" cy="1600200"/>
          </a:xfrm>
          <a:prstGeom prst="roundRect">
            <a:avLst>
              <a:gd name="adj" fmla="val 8000"/>
            </a:avLst>
          </a:prstGeom>
          <a:solidFill>
            <a:srgbClr val="F6F3FA"/>
          </a:solidFill>
          <a:ln w="12700">
            <a:solidFill>
              <a:srgbClr val="F6F3FA"/>
            </a:solidFill>
            <a:prstDash val="solid"/>
          </a:ln>
        </p:spPr>
      </p:sp>
      <p:sp>
        <p:nvSpPr>
          <p:cNvPr id="19" name="Shape 16"/>
          <p:cNvSpPr/>
          <p:nvPr/>
        </p:nvSpPr>
        <p:spPr>
          <a:xfrm>
            <a:off x="8229600" y="4946904"/>
            <a:ext cx="548640" cy="548640"/>
          </a:xfrm>
          <a:prstGeom prst="ellipse">
            <a:avLst/>
          </a:prstGeom>
          <a:solidFill>
            <a:srgbClr val="FFFFFF"/>
          </a:solidFill>
          <a:ln w="15875">
            <a:solidFill>
              <a:srgbClr val="C9D5D2"/>
            </a:solidFill>
            <a:prstDash val="solid"/>
          </a:ln>
        </p:spPr>
      </p:sp>
      <p:sp>
        <p:nvSpPr>
          <p:cNvPr id="20" name="Text 17"/>
          <p:cNvSpPr txBox="1"/>
          <p:nvPr/>
        </p:nvSpPr>
        <p:spPr>
          <a:xfrm>
            <a:off x="8229600" y="4946904"/>
            <a:ext cx="548640" cy="548640"/>
          </a:xfrm>
          <a:prstGeom prst="rect">
            <a:avLst/>
          </a:prstGeom>
          <a:noFill/>
          <a:ln/>
        </p:spPr>
        <p:txBody>
          <a:bodyPr wrap="square" lIns="0" tIns="0" rIns="0" bIns="0" rtlCol="0" anchor="ctr"/>
          <a:lstStyle/>
          <a:p>
            <a:pPr algn="ctr" indent="0" marL="0">
              <a:buNone/>
            </a:pPr>
            <a:r>
              <a:rPr lang="en-US" sz="1600" b="1" dirty="0">
                <a:solidFill>
                  <a:srgbClr val="748793"/>
                </a:solidFill>
                <a:latin typeface="Calibri" pitchFamily="34" charset="0"/>
                <a:ea typeface="Calibri" pitchFamily="34" charset="-122"/>
                <a:cs typeface="Calibri" pitchFamily="34" charset="-120"/>
              </a:rPr>
              <a:t>3</a:t>
            </a:r>
            <a:endParaRPr lang="en-US" sz="1600" dirty="0"/>
          </a:p>
        </p:txBody>
      </p:sp>
      <p:sp>
        <p:nvSpPr>
          <p:cNvPr id="21" name="Text 18"/>
          <p:cNvSpPr txBox="1"/>
          <p:nvPr/>
        </p:nvSpPr>
        <p:spPr>
          <a:xfrm>
            <a:off x="8961120" y="4828032"/>
            <a:ext cx="2560320" cy="411480"/>
          </a:xfrm>
          <a:prstGeom prst="rect">
            <a:avLst/>
          </a:prstGeom>
          <a:noFill/>
          <a:ln/>
        </p:spPr>
        <p:txBody>
          <a:bodyPr wrap="square" lIns="0" tIns="0" rIns="0" bIns="0" rtlCol="0" anchor="t"/>
          <a:lstStyle/>
          <a:p>
            <a:pPr indent="0" marL="0">
              <a:buNone/>
            </a:pPr>
            <a:r>
              <a:rPr lang="en-US" sz="1700" b="1" dirty="0">
                <a:solidFill>
                  <a:srgbClr val="748793"/>
                </a:solidFill>
                <a:latin typeface="Calibri" pitchFamily="34" charset="0"/>
                <a:ea typeface="Calibri" pitchFamily="34" charset="-122"/>
                <a:cs typeface="Calibri" pitchFamily="34" charset="-120"/>
              </a:rPr>
              <a:t>Business Continuity</a:t>
            </a:r>
            <a:endParaRPr lang="en-US" sz="1700" dirty="0"/>
          </a:p>
        </p:txBody>
      </p:sp>
      <p:sp>
        <p:nvSpPr>
          <p:cNvPr id="22" name="Text 19"/>
          <p:cNvSpPr txBox="1"/>
          <p:nvPr/>
        </p:nvSpPr>
        <p:spPr>
          <a:xfrm>
            <a:off x="8961120" y="5248656"/>
            <a:ext cx="2560320" cy="320040"/>
          </a:xfrm>
          <a:prstGeom prst="rect">
            <a:avLst/>
          </a:prstGeom>
          <a:noFill/>
          <a:ln/>
        </p:spPr>
        <p:txBody>
          <a:bodyPr wrap="square" lIns="0" tIns="0" rIns="0" bIns="0" rtlCol="0" anchor="t"/>
          <a:lstStyle/>
          <a:p>
            <a:pPr indent="0" marL="0">
              <a:buNone/>
            </a:pPr>
            <a:r>
              <a:rPr lang="en-US" sz="1200" dirty="0">
                <a:solidFill>
                  <a:srgbClr val="748793"/>
                </a:solidFill>
                <a:latin typeface="Calibri" pitchFamily="34" charset="0"/>
                <a:ea typeface="Calibri" pitchFamily="34" charset="-122"/>
                <a:cs typeface="Calibri" pitchFamily="34" charset="-120"/>
              </a:rPr>
              <a:t>Up next</a:t>
            </a:r>
            <a:endParaRPr lang="en-US" sz="1200" dirty="0"/>
          </a:p>
        </p:txBody>
      </p:sp>
      <p:sp>
        <p:nvSpPr>
          <p:cNvPr id="23" name="Text 20"/>
          <p:cNvSpPr txBox="1"/>
          <p:nvPr/>
        </p:nvSpPr>
        <p:spPr>
          <a:xfrm>
            <a:off x="548640" y="6254496"/>
            <a:ext cx="11091672" cy="256032"/>
          </a:xfrm>
          <a:prstGeom prst="rect">
            <a:avLst/>
          </a:prstGeom>
          <a:noFill/>
          <a:ln/>
        </p:spPr>
        <p:txBody>
          <a:bodyPr wrap="square" lIns="0" tIns="0" rIns="0" bIns="0" rtlCol="0" anchor="ctr"/>
          <a:lstStyle/>
          <a:p>
            <a:pPr indent="0" marL="0">
              <a:buNone/>
            </a:pPr>
            <a:r>
              <a:rPr lang="en-US" sz="1200" b="1" dirty="0">
                <a:solidFill>
                  <a:srgbClr val="465A69"/>
                </a:solidFill>
                <a:latin typeface="Calibri" pitchFamily="34" charset="0"/>
                <a:ea typeface="Calibri" pitchFamily="34" charset="-122"/>
                <a:cs typeface="Calibri" pitchFamily="34" charset="-120"/>
              </a:rPr>
              <a:t>Acronyms:  </a:t>
            </a:r>
            <a:pPr indent="0" marL="0">
              <a:buNone/>
            </a:pPr>
            <a:r>
              <a:rPr lang="en-US" sz="1200" dirty="0">
                <a:solidFill>
                  <a:srgbClr val="465A69"/>
                </a:solidFill>
                <a:latin typeface="Calibri" pitchFamily="34" charset="0"/>
                <a:ea typeface="Calibri" pitchFamily="34" charset="-122"/>
                <a:cs typeface="Calibri" pitchFamily="34" charset="-120"/>
              </a:rPr>
              <a:t>SaaS: software as a service</a:t>
            </a:r>
            <a:endParaRPr lang="en-US" sz="1200" dirty="0"/>
          </a:p>
        </p:txBody>
      </p:sp>
      <p:sp>
        <p:nvSpPr>
          <p:cNvPr id="24" name="Shape 21"/>
          <p:cNvSpPr/>
          <p:nvPr/>
        </p:nvSpPr>
        <p:spPr>
          <a:xfrm>
            <a:off x="548640" y="6537960"/>
            <a:ext cx="763524" cy="274320"/>
          </a:xfrm>
          <a:prstGeom prst="roundRect">
            <a:avLst>
              <a:gd name="adj" fmla="val 50000"/>
            </a:avLst>
          </a:prstGeom>
          <a:solidFill>
            <a:srgbClr val="E4ECF2"/>
          </a:solidFill>
          <a:ln w="12700">
            <a:solidFill>
              <a:srgbClr val="E4ECF2"/>
            </a:solidFill>
            <a:prstDash val="solid"/>
          </a:ln>
        </p:spPr>
      </p:sp>
      <p:sp>
        <p:nvSpPr>
          <p:cNvPr id="25" name="Text 22"/>
          <p:cNvSpPr txBox="1"/>
          <p:nvPr/>
        </p:nvSpPr>
        <p:spPr>
          <a:xfrm>
            <a:off x="548640" y="6537960"/>
            <a:ext cx="763524" cy="274320"/>
          </a:xfrm>
          <a:prstGeom prst="rect">
            <a:avLst/>
          </a:prstGeom>
          <a:noFill/>
          <a:ln/>
        </p:spPr>
        <p:txBody>
          <a:bodyPr wrap="square" lIns="0" tIns="0" rIns="0" bIns="0" rtlCol="0" anchor="ctr"/>
          <a:lstStyle/>
          <a:p>
            <a:pPr algn="ctr" indent="0" marL="0">
              <a:buNone/>
            </a:pPr>
            <a:r>
              <a:rPr lang="en-US" sz="1200" b="1" dirty="0">
                <a:solidFill>
                  <a:srgbClr val="23405A"/>
                </a:solidFill>
                <a:latin typeface="Calibri" pitchFamily="34" charset="0"/>
                <a:ea typeface="Calibri" pitchFamily="34" charset="-122"/>
                <a:cs typeface="Calibri" pitchFamily="34" charset="-120"/>
              </a:rPr>
              <a:t>Start</a:t>
            </a:r>
            <a:endParaRPr lang="en-US" sz="1200" dirty="0"/>
          </a:p>
        </p:txBody>
      </p:sp>
      <p:pic>
        <p:nvPicPr>
          <p:cNvPr id="26" name="Image 1" descr="preencoded.png">
            <a:hlinkClick r:id="rId3" tooltip="Go to Start" action="ppaction://hlinksldjump"/>
          </p:cNvPr>
          <p:cNvPicPr>
            <a:picLocks noChangeAspect="1"/>
          </p:cNvPicPr>
          <p:nvPr/>
        </p:nvPicPr>
        <p:blipFill>
          <a:blip r:embed="rId2"/>
          <a:stretch>
            <a:fillRect/>
          </a:stretch>
        </p:blipFill>
        <p:spPr>
          <a:xfrm>
            <a:off x="548640" y="6537960"/>
            <a:ext cx="763524" cy="274320"/>
          </a:xfrm>
          <a:prstGeom prst="rect">
            <a:avLst/>
          </a:prstGeom>
        </p:spPr>
      </p:pic>
      <p:sp>
        <p:nvSpPr>
          <p:cNvPr id="27" name="Shape 23"/>
          <p:cNvSpPr/>
          <p:nvPr/>
        </p:nvSpPr>
        <p:spPr>
          <a:xfrm>
            <a:off x="1385316" y="6537960"/>
            <a:ext cx="1197864" cy="274320"/>
          </a:xfrm>
          <a:prstGeom prst="roundRect">
            <a:avLst>
              <a:gd name="adj" fmla="val 50000"/>
            </a:avLst>
          </a:prstGeom>
          <a:solidFill>
            <a:srgbClr val="3F6E8C"/>
          </a:solidFill>
          <a:ln w="12700">
            <a:solidFill>
              <a:srgbClr val="3F6E8C"/>
            </a:solidFill>
            <a:prstDash val="solid"/>
          </a:ln>
        </p:spPr>
      </p:sp>
      <p:sp>
        <p:nvSpPr>
          <p:cNvPr id="28" name="Text 24"/>
          <p:cNvSpPr txBox="1"/>
          <p:nvPr/>
        </p:nvSpPr>
        <p:spPr>
          <a:xfrm>
            <a:off x="1385316" y="6537960"/>
            <a:ext cx="1197864"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Scenario 1</a:t>
            </a:r>
            <a:endParaRPr lang="en-US" sz="1200" dirty="0"/>
          </a:p>
        </p:txBody>
      </p:sp>
      <p:pic>
        <p:nvPicPr>
          <p:cNvPr id="29" name="Image 2" descr="preencoded.png">
            <a:hlinkClick r:id="rId5" tooltip="Go to Scenario 1" action="ppaction://hlinksldjump"/>
          </p:cNvPr>
          <p:cNvPicPr>
            <a:picLocks noChangeAspect="1"/>
          </p:cNvPicPr>
          <p:nvPr/>
        </p:nvPicPr>
        <p:blipFill>
          <a:blip r:embed="rId4"/>
          <a:stretch>
            <a:fillRect/>
          </a:stretch>
        </p:blipFill>
        <p:spPr>
          <a:xfrm>
            <a:off x="1385316" y="6537960"/>
            <a:ext cx="1197864" cy="274320"/>
          </a:xfrm>
          <a:prstGeom prst="rect">
            <a:avLst/>
          </a:prstGeom>
        </p:spPr>
      </p:pic>
      <p:sp>
        <p:nvSpPr>
          <p:cNvPr id="30" name="Shape 25"/>
          <p:cNvSpPr/>
          <p:nvPr/>
        </p:nvSpPr>
        <p:spPr>
          <a:xfrm>
            <a:off x="2656332" y="6537960"/>
            <a:ext cx="1197864" cy="274320"/>
          </a:xfrm>
          <a:prstGeom prst="roundRect">
            <a:avLst>
              <a:gd name="adj" fmla="val 50000"/>
            </a:avLst>
          </a:prstGeom>
          <a:solidFill>
            <a:srgbClr val="F1F8F3"/>
          </a:solidFill>
          <a:ln w="12700">
            <a:solidFill>
              <a:srgbClr val="F1F8F3"/>
            </a:solidFill>
            <a:prstDash val="solid"/>
          </a:ln>
        </p:spPr>
      </p:sp>
      <p:sp>
        <p:nvSpPr>
          <p:cNvPr id="31" name="Text 26"/>
          <p:cNvSpPr txBox="1"/>
          <p:nvPr/>
        </p:nvSpPr>
        <p:spPr>
          <a:xfrm>
            <a:off x="2656332" y="6537960"/>
            <a:ext cx="1197864" cy="274320"/>
          </a:xfrm>
          <a:prstGeom prst="rect">
            <a:avLst/>
          </a:prstGeom>
          <a:noFill/>
          <a:ln/>
        </p:spPr>
        <p:txBody>
          <a:bodyPr wrap="square" lIns="0" tIns="0" rIns="0" bIns="0" rtlCol="0" anchor="ctr"/>
          <a:lstStyle/>
          <a:p>
            <a:pPr algn="ctr" indent="0" marL="0">
              <a:buNone/>
            </a:pPr>
            <a:r>
              <a:rPr lang="en-US" sz="1200" b="1" dirty="0">
                <a:solidFill>
                  <a:srgbClr val="4C8068"/>
                </a:solidFill>
                <a:latin typeface="Calibri" pitchFamily="34" charset="0"/>
                <a:ea typeface="Calibri" pitchFamily="34" charset="-122"/>
                <a:cs typeface="Calibri" pitchFamily="34" charset="-120"/>
              </a:rPr>
              <a:t>Scenario 2</a:t>
            </a:r>
            <a:endParaRPr lang="en-US" sz="1200" dirty="0"/>
          </a:p>
        </p:txBody>
      </p:sp>
      <p:pic>
        <p:nvPicPr>
          <p:cNvPr id="32" name="Image 3" descr="preencoded.png">
            <a:hlinkClick r:id="rId7" tooltip="Go to Scenario 2" action="ppaction://hlinksldjump"/>
          </p:cNvPr>
          <p:cNvPicPr>
            <a:picLocks noChangeAspect="1"/>
          </p:cNvPicPr>
          <p:nvPr/>
        </p:nvPicPr>
        <p:blipFill>
          <a:blip r:embed="rId6"/>
          <a:stretch>
            <a:fillRect/>
          </a:stretch>
        </p:blipFill>
        <p:spPr>
          <a:xfrm>
            <a:off x="2656332" y="6537960"/>
            <a:ext cx="1197864" cy="274320"/>
          </a:xfrm>
          <a:prstGeom prst="rect">
            <a:avLst/>
          </a:prstGeom>
        </p:spPr>
      </p:pic>
      <p:sp>
        <p:nvSpPr>
          <p:cNvPr id="33" name="Shape 27"/>
          <p:cNvSpPr/>
          <p:nvPr/>
        </p:nvSpPr>
        <p:spPr>
          <a:xfrm>
            <a:off x="3927348" y="6537960"/>
            <a:ext cx="1197864" cy="274320"/>
          </a:xfrm>
          <a:prstGeom prst="roundRect">
            <a:avLst>
              <a:gd name="adj" fmla="val 50000"/>
            </a:avLst>
          </a:prstGeom>
          <a:solidFill>
            <a:srgbClr val="F6F3FA"/>
          </a:solidFill>
          <a:ln w="12700">
            <a:solidFill>
              <a:srgbClr val="F6F3FA"/>
            </a:solidFill>
            <a:prstDash val="solid"/>
          </a:ln>
        </p:spPr>
      </p:sp>
      <p:sp>
        <p:nvSpPr>
          <p:cNvPr id="34" name="Text 28"/>
          <p:cNvSpPr txBox="1"/>
          <p:nvPr/>
        </p:nvSpPr>
        <p:spPr>
          <a:xfrm>
            <a:off x="3927348" y="6537960"/>
            <a:ext cx="1197864" cy="274320"/>
          </a:xfrm>
          <a:prstGeom prst="rect">
            <a:avLst/>
          </a:prstGeom>
          <a:noFill/>
          <a:ln/>
        </p:spPr>
        <p:txBody>
          <a:bodyPr wrap="square" lIns="0" tIns="0" rIns="0" bIns="0" rtlCol="0" anchor="ctr"/>
          <a:lstStyle/>
          <a:p>
            <a:pPr algn="ctr" indent="0" marL="0">
              <a:buNone/>
            </a:pPr>
            <a:r>
              <a:rPr lang="en-US" sz="1200" b="1" dirty="0">
                <a:solidFill>
                  <a:srgbClr val="6E5E94"/>
                </a:solidFill>
                <a:latin typeface="Calibri" pitchFamily="34" charset="0"/>
                <a:ea typeface="Calibri" pitchFamily="34" charset="-122"/>
                <a:cs typeface="Calibri" pitchFamily="34" charset="-120"/>
              </a:rPr>
              <a:t>Scenario 3</a:t>
            </a:r>
            <a:endParaRPr lang="en-US" sz="1200" dirty="0"/>
          </a:p>
        </p:txBody>
      </p:sp>
      <p:pic>
        <p:nvPicPr>
          <p:cNvPr id="35" name="Image 4" descr="preencoded.png">
            <a:hlinkClick r:id="rId9" tooltip="Go to Scenario 3" action="ppaction://hlinksldjump"/>
          </p:cNvPr>
          <p:cNvPicPr>
            <a:picLocks noChangeAspect="1"/>
          </p:cNvPicPr>
          <p:nvPr/>
        </p:nvPicPr>
        <p:blipFill>
          <a:blip r:embed="rId8"/>
          <a:stretch>
            <a:fillRect/>
          </a:stretch>
        </p:blipFill>
        <p:spPr>
          <a:xfrm>
            <a:off x="3927348" y="6537960"/>
            <a:ext cx="1197864" cy="274320"/>
          </a:xfrm>
          <a:prstGeom prst="rect">
            <a:avLst/>
          </a:prstGeom>
        </p:spPr>
      </p:pic>
      <p:sp>
        <p:nvSpPr>
          <p:cNvPr id="36" name="Shape 29"/>
          <p:cNvSpPr/>
          <p:nvPr/>
        </p:nvSpPr>
        <p:spPr>
          <a:xfrm>
            <a:off x="5198364" y="6537960"/>
            <a:ext cx="937260" cy="274320"/>
          </a:xfrm>
          <a:prstGeom prst="roundRect">
            <a:avLst>
              <a:gd name="adj" fmla="val 50000"/>
            </a:avLst>
          </a:prstGeom>
          <a:solidFill>
            <a:srgbClr val="E4ECF2"/>
          </a:solidFill>
          <a:ln w="12700">
            <a:solidFill>
              <a:srgbClr val="E4ECF2"/>
            </a:solidFill>
            <a:prstDash val="solid"/>
          </a:ln>
        </p:spPr>
      </p:sp>
      <p:sp>
        <p:nvSpPr>
          <p:cNvPr id="37" name="Text 30"/>
          <p:cNvSpPr txBox="1"/>
          <p:nvPr/>
        </p:nvSpPr>
        <p:spPr>
          <a:xfrm>
            <a:off x="5198364" y="6537960"/>
            <a:ext cx="937260" cy="274320"/>
          </a:xfrm>
          <a:prstGeom prst="rect">
            <a:avLst/>
          </a:prstGeom>
          <a:noFill/>
          <a:ln/>
        </p:spPr>
        <p:txBody>
          <a:bodyPr wrap="square" lIns="0" tIns="0" rIns="0" bIns="0" rtlCol="0" anchor="ctr"/>
          <a:lstStyle/>
          <a:p>
            <a:pPr algn="ctr" indent="0" marL="0">
              <a:buNone/>
            </a:pPr>
            <a:r>
              <a:rPr lang="en-US" sz="1200" b="1" dirty="0">
                <a:solidFill>
                  <a:srgbClr val="23405A"/>
                </a:solidFill>
                <a:latin typeface="Calibri" pitchFamily="34" charset="0"/>
                <a:ea typeface="Calibri" pitchFamily="34" charset="-122"/>
                <a:cs typeface="Calibri" pitchFamily="34" charset="-120"/>
              </a:rPr>
              <a:t>Closing</a:t>
            </a:r>
            <a:endParaRPr lang="en-US" sz="1200" dirty="0"/>
          </a:p>
        </p:txBody>
      </p:sp>
      <p:pic>
        <p:nvPicPr>
          <p:cNvPr id="38" name="Image 5" descr="preencoded.png">
            <a:hlinkClick r:id="rId11" tooltip="Go to Closing" action="ppaction://hlinksldjump"/>
          </p:cNvPr>
          <p:cNvPicPr>
            <a:picLocks noChangeAspect="1"/>
          </p:cNvPicPr>
          <p:nvPr/>
        </p:nvPicPr>
        <p:blipFill>
          <a:blip r:embed="rId10"/>
          <a:stretch>
            <a:fillRect/>
          </a:stretch>
        </p:blipFill>
        <p:spPr>
          <a:xfrm>
            <a:off x="5198364" y="6537960"/>
            <a:ext cx="937260" cy="274320"/>
          </a:xfrm>
          <a:prstGeom prst="rect">
            <a:avLst/>
          </a:prstGeom>
        </p:spPr>
      </p:pic>
      <p:sp>
        <p:nvSpPr>
          <p:cNvPr id="39" name="Text 31"/>
          <p:cNvSpPr txBox="1"/>
          <p:nvPr/>
        </p:nvSpPr>
        <p:spPr>
          <a:xfrm>
            <a:off x="11277295" y="6537960"/>
            <a:ext cx="365760" cy="274320"/>
          </a:xfrm>
          <a:prstGeom prst="rect">
            <a:avLst/>
          </a:prstGeom>
          <a:noFill/>
          <a:ln/>
        </p:spPr>
        <p:txBody>
          <a:bodyPr wrap="square" lIns="0" tIns="0" rIns="0" bIns="0" rtlCol="0" anchor="ctr"/>
          <a:lstStyle/>
          <a:p>
            <a:pPr algn="r" indent="0" marL="0">
              <a:buNone/>
            </a:pPr>
            <a:r>
              <a:rPr lang="en-US" sz="1200" dirty="0">
                <a:solidFill>
                  <a:srgbClr val="465A69"/>
                </a:solidFill>
                <a:latin typeface="Calibri" pitchFamily="34" charset="0"/>
                <a:ea typeface="Calibri" pitchFamily="34" charset="-122"/>
                <a:cs typeface="Calibri"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6EEF6"/>
        </a:solidFill>
      </p:bgPr>
    </p:bg>
    <p:spTree>
      <p:nvGrpSpPr>
        <p:cNvPr id="1" name=""/>
        <p:cNvGrpSpPr/>
        <p:nvPr/>
      </p:nvGrpSpPr>
      <p:grpSpPr>
        <a:xfrm>
          <a:off x="0" y="0"/>
          <a:ext cx="0" cy="0"/>
          <a:chOff x="0" y="0"/>
          <a:chExt cx="0" cy="0"/>
        </a:xfrm>
      </p:grpSpPr>
      <p:sp>
        <p:nvSpPr>
          <p:cNvPr id="2" name="Shape 0"/>
          <p:cNvSpPr/>
          <p:nvPr/>
        </p:nvSpPr>
        <p:spPr>
          <a:xfrm>
            <a:off x="548640" y="347472"/>
            <a:ext cx="2843784" cy="329184"/>
          </a:xfrm>
          <a:prstGeom prst="roundRect">
            <a:avLst>
              <a:gd name="adj" fmla="val 50000"/>
            </a:avLst>
          </a:prstGeom>
          <a:solidFill>
            <a:srgbClr val="F1F6FA"/>
          </a:solidFill>
          <a:ln w="12700">
            <a:solidFill>
              <a:srgbClr val="F1F6FA"/>
            </a:solidFill>
            <a:prstDash val="solid"/>
          </a:ln>
        </p:spPr>
      </p:sp>
      <p:sp>
        <p:nvSpPr>
          <p:cNvPr id="3" name="Text 1"/>
          <p:cNvSpPr txBox="1"/>
          <p:nvPr/>
        </p:nvSpPr>
        <p:spPr>
          <a:xfrm>
            <a:off x="548640" y="347472"/>
            <a:ext cx="2843784" cy="329184"/>
          </a:xfrm>
          <a:prstGeom prst="rect">
            <a:avLst/>
          </a:prstGeom>
          <a:noFill/>
          <a:ln/>
        </p:spPr>
        <p:txBody>
          <a:bodyPr wrap="square" lIns="0" tIns="0" rIns="0" bIns="0" rtlCol="0" anchor="ctr"/>
          <a:lstStyle/>
          <a:p>
            <a:pPr algn="ctr" indent="0" marL="0">
              <a:buNone/>
            </a:pPr>
            <a:r>
              <a:rPr lang="en-US" sz="1200" b="1" dirty="0">
                <a:solidFill>
                  <a:srgbClr val="3F6E8C"/>
                </a:solidFill>
                <a:latin typeface="Calibri" pitchFamily="34" charset="0"/>
                <a:ea typeface="Calibri" pitchFamily="34" charset="-122"/>
                <a:cs typeface="Calibri" pitchFamily="34" charset="-120"/>
              </a:rPr>
              <a:t>Scenario 1: Incident Response</a:t>
            </a:r>
            <a:endParaRPr lang="en-US" sz="1200" dirty="0"/>
          </a:p>
        </p:txBody>
      </p:sp>
      <p:sp>
        <p:nvSpPr>
          <p:cNvPr id="4" name="Text 2"/>
          <p:cNvSpPr txBox="1"/>
          <p:nvPr/>
        </p:nvSpPr>
        <p:spPr>
          <a:xfrm>
            <a:off x="548640" y="749808"/>
            <a:ext cx="11064240" cy="640080"/>
          </a:xfrm>
          <a:prstGeom prst="rect">
            <a:avLst/>
          </a:prstGeom>
          <a:noFill/>
          <a:ln/>
        </p:spPr>
        <p:txBody>
          <a:bodyPr wrap="square" lIns="0" tIns="0" rIns="0" bIns="0" rtlCol="0" anchor="ctr"/>
          <a:lstStyle/>
          <a:p>
            <a:pPr indent="0" marL="0">
              <a:buNone/>
            </a:pPr>
            <a:r>
              <a:rPr lang="en-US" sz="2800" b="1" dirty="0">
                <a:solidFill>
                  <a:srgbClr val="23405A"/>
                </a:solidFill>
                <a:latin typeface="Calibri" pitchFamily="34" charset="0"/>
                <a:ea typeface="Calibri" pitchFamily="34" charset="-122"/>
                <a:cs typeface="Calibri" pitchFamily="34" charset="-120"/>
              </a:rPr>
              <a:t>Background: objectives, scope, and assumptions</a:t>
            </a:r>
            <a:endParaRPr lang="en-US" sz="2800" dirty="0"/>
          </a:p>
        </p:txBody>
      </p:sp>
      <p:sp>
        <p:nvSpPr>
          <p:cNvPr id="5" name="Shape 3"/>
          <p:cNvSpPr/>
          <p:nvPr/>
        </p:nvSpPr>
        <p:spPr>
          <a:xfrm>
            <a:off x="10705795" y="347472"/>
            <a:ext cx="937260" cy="329184"/>
          </a:xfrm>
          <a:prstGeom prst="roundRect">
            <a:avLst>
              <a:gd name="adj" fmla="val 50000"/>
            </a:avLst>
          </a:prstGeom>
          <a:solidFill>
            <a:srgbClr val="FFFFFF"/>
          </a:solidFill>
          <a:ln w="12700">
            <a:solidFill>
              <a:srgbClr val="FFFFFF"/>
            </a:solidFill>
            <a:prstDash val="solid"/>
          </a:ln>
        </p:spPr>
      </p:sp>
      <p:sp>
        <p:nvSpPr>
          <p:cNvPr id="6" name="Text 4"/>
          <p:cNvSpPr txBox="1"/>
          <p:nvPr/>
        </p:nvSpPr>
        <p:spPr>
          <a:xfrm>
            <a:off x="10705795" y="347472"/>
            <a:ext cx="937260" cy="329184"/>
          </a:xfrm>
          <a:prstGeom prst="rect">
            <a:avLst/>
          </a:prstGeom>
          <a:noFill/>
          <a:ln/>
        </p:spPr>
        <p:txBody>
          <a:bodyPr wrap="square" lIns="0" tIns="0" rIns="0" bIns="0" rtlCol="0" anchor="ctr"/>
          <a:lstStyle/>
          <a:p>
            <a:pPr algn="ctr" indent="0" marL="0">
              <a:buNone/>
            </a:pPr>
            <a:r>
              <a:rPr lang="en-US" sz="1200" dirty="0">
                <a:solidFill>
                  <a:srgbClr val="465A69"/>
                </a:solidFill>
                <a:latin typeface="Calibri" pitchFamily="34" charset="0"/>
                <a:ea typeface="Calibri" pitchFamily="34" charset="-122"/>
                <a:cs typeface="Calibri" pitchFamily="34" charset="-120"/>
              </a:rPr>
              <a:t>Hotwash</a:t>
            </a:r>
            <a:endParaRPr lang="en-US" sz="1200" dirty="0"/>
          </a:p>
        </p:txBody>
      </p:sp>
      <p:sp>
        <p:nvSpPr>
          <p:cNvPr id="7" name="Shape 5"/>
          <p:cNvSpPr/>
          <p:nvPr/>
        </p:nvSpPr>
        <p:spPr>
          <a:xfrm>
            <a:off x="9608515" y="347472"/>
            <a:ext cx="1024128" cy="329184"/>
          </a:xfrm>
          <a:prstGeom prst="roundRect">
            <a:avLst>
              <a:gd name="adj" fmla="val 50000"/>
            </a:avLst>
          </a:prstGeom>
          <a:solidFill>
            <a:srgbClr val="FFFFFF"/>
          </a:solidFill>
          <a:ln w="12700">
            <a:solidFill>
              <a:srgbClr val="FFFFFF"/>
            </a:solidFill>
            <a:prstDash val="solid"/>
          </a:ln>
        </p:spPr>
      </p:sp>
      <p:sp>
        <p:nvSpPr>
          <p:cNvPr id="8" name="Text 6"/>
          <p:cNvSpPr txBox="1"/>
          <p:nvPr/>
        </p:nvSpPr>
        <p:spPr>
          <a:xfrm>
            <a:off x="9608515" y="347472"/>
            <a:ext cx="1024128" cy="329184"/>
          </a:xfrm>
          <a:prstGeom prst="rect">
            <a:avLst/>
          </a:prstGeom>
          <a:noFill/>
          <a:ln/>
        </p:spPr>
        <p:txBody>
          <a:bodyPr wrap="square" lIns="0" tIns="0" rIns="0" bIns="0" rtlCol="0" anchor="ctr"/>
          <a:lstStyle/>
          <a:p>
            <a:pPr algn="ctr" indent="0" marL="0">
              <a:buNone/>
            </a:pPr>
            <a:r>
              <a:rPr lang="en-US" sz="1200" dirty="0">
                <a:solidFill>
                  <a:srgbClr val="465A69"/>
                </a:solidFill>
                <a:latin typeface="Calibri" pitchFamily="34" charset="0"/>
                <a:ea typeface="Calibri" pitchFamily="34" charset="-122"/>
                <a:cs typeface="Calibri" pitchFamily="34" charset="-120"/>
              </a:rPr>
              <a:t>Recovery</a:t>
            </a:r>
            <a:endParaRPr lang="en-US" sz="1200" dirty="0"/>
          </a:p>
        </p:txBody>
      </p:sp>
      <p:sp>
        <p:nvSpPr>
          <p:cNvPr id="9" name="Shape 7"/>
          <p:cNvSpPr/>
          <p:nvPr/>
        </p:nvSpPr>
        <p:spPr>
          <a:xfrm>
            <a:off x="8598103" y="347472"/>
            <a:ext cx="937260" cy="329184"/>
          </a:xfrm>
          <a:prstGeom prst="roundRect">
            <a:avLst>
              <a:gd name="adj" fmla="val 50000"/>
            </a:avLst>
          </a:prstGeom>
          <a:solidFill>
            <a:srgbClr val="FFFFFF"/>
          </a:solidFill>
          <a:ln w="12700">
            <a:solidFill>
              <a:srgbClr val="FFFFFF"/>
            </a:solidFill>
            <a:prstDash val="solid"/>
          </a:ln>
        </p:spPr>
      </p:sp>
      <p:sp>
        <p:nvSpPr>
          <p:cNvPr id="10" name="Text 8"/>
          <p:cNvSpPr txBox="1"/>
          <p:nvPr/>
        </p:nvSpPr>
        <p:spPr>
          <a:xfrm>
            <a:off x="8598103" y="347472"/>
            <a:ext cx="937260" cy="329184"/>
          </a:xfrm>
          <a:prstGeom prst="rect">
            <a:avLst/>
          </a:prstGeom>
          <a:noFill/>
          <a:ln/>
        </p:spPr>
        <p:txBody>
          <a:bodyPr wrap="square" lIns="0" tIns="0" rIns="0" bIns="0" rtlCol="0" anchor="ctr"/>
          <a:lstStyle/>
          <a:p>
            <a:pPr algn="ctr" indent="0" marL="0">
              <a:buNone/>
            </a:pPr>
            <a:r>
              <a:rPr lang="en-US" sz="1200" dirty="0">
                <a:solidFill>
                  <a:srgbClr val="465A69"/>
                </a:solidFill>
                <a:latin typeface="Calibri" pitchFamily="34" charset="0"/>
                <a:ea typeface="Calibri" pitchFamily="34" charset="-122"/>
                <a:cs typeface="Calibri" pitchFamily="34" charset="-120"/>
              </a:rPr>
              <a:t>Injects</a:t>
            </a:r>
            <a:endParaRPr lang="en-US" sz="1200" dirty="0"/>
          </a:p>
        </p:txBody>
      </p:sp>
      <p:sp>
        <p:nvSpPr>
          <p:cNvPr id="11" name="Shape 9"/>
          <p:cNvSpPr/>
          <p:nvPr/>
        </p:nvSpPr>
        <p:spPr>
          <a:xfrm>
            <a:off x="7674559" y="347472"/>
            <a:ext cx="850392" cy="329184"/>
          </a:xfrm>
          <a:prstGeom prst="roundRect">
            <a:avLst>
              <a:gd name="adj" fmla="val 50000"/>
            </a:avLst>
          </a:prstGeom>
          <a:solidFill>
            <a:srgbClr val="FFFFFF"/>
          </a:solidFill>
          <a:ln w="12700">
            <a:solidFill>
              <a:srgbClr val="FFFFFF"/>
            </a:solidFill>
            <a:prstDash val="solid"/>
          </a:ln>
        </p:spPr>
      </p:sp>
      <p:sp>
        <p:nvSpPr>
          <p:cNvPr id="12" name="Text 10"/>
          <p:cNvSpPr txBox="1"/>
          <p:nvPr/>
        </p:nvSpPr>
        <p:spPr>
          <a:xfrm>
            <a:off x="7674559" y="347472"/>
            <a:ext cx="850392" cy="329184"/>
          </a:xfrm>
          <a:prstGeom prst="rect">
            <a:avLst/>
          </a:prstGeom>
          <a:noFill/>
          <a:ln/>
        </p:spPr>
        <p:txBody>
          <a:bodyPr wrap="square" lIns="0" tIns="0" rIns="0" bIns="0" rtlCol="0" anchor="ctr"/>
          <a:lstStyle/>
          <a:p>
            <a:pPr algn="ctr" indent="0" marL="0">
              <a:buNone/>
            </a:pPr>
            <a:r>
              <a:rPr lang="en-US" sz="1200" dirty="0">
                <a:solidFill>
                  <a:srgbClr val="465A69"/>
                </a:solidFill>
                <a:latin typeface="Calibri" pitchFamily="34" charset="0"/>
                <a:ea typeface="Calibri" pitchFamily="34" charset="-122"/>
                <a:cs typeface="Calibri" pitchFamily="34" charset="-120"/>
              </a:rPr>
              <a:t>Decide</a:t>
            </a:r>
            <a:endParaRPr lang="en-US" sz="1200" dirty="0"/>
          </a:p>
        </p:txBody>
      </p:sp>
      <p:sp>
        <p:nvSpPr>
          <p:cNvPr id="13" name="Shape 11"/>
          <p:cNvSpPr/>
          <p:nvPr/>
        </p:nvSpPr>
        <p:spPr>
          <a:xfrm>
            <a:off x="7011619" y="347472"/>
            <a:ext cx="589788" cy="329184"/>
          </a:xfrm>
          <a:prstGeom prst="roundRect">
            <a:avLst>
              <a:gd name="adj" fmla="val 50000"/>
            </a:avLst>
          </a:prstGeom>
          <a:solidFill>
            <a:srgbClr val="FFFFFF"/>
          </a:solidFill>
          <a:ln w="12700">
            <a:solidFill>
              <a:srgbClr val="FFFFFF"/>
            </a:solidFill>
            <a:prstDash val="solid"/>
          </a:ln>
        </p:spPr>
      </p:sp>
      <p:sp>
        <p:nvSpPr>
          <p:cNvPr id="14" name="Text 12"/>
          <p:cNvSpPr txBox="1"/>
          <p:nvPr/>
        </p:nvSpPr>
        <p:spPr>
          <a:xfrm>
            <a:off x="7011619" y="347472"/>
            <a:ext cx="589788" cy="329184"/>
          </a:xfrm>
          <a:prstGeom prst="rect">
            <a:avLst/>
          </a:prstGeom>
          <a:noFill/>
          <a:ln/>
        </p:spPr>
        <p:txBody>
          <a:bodyPr wrap="square" lIns="0" tIns="0" rIns="0" bIns="0" rtlCol="0" anchor="ctr"/>
          <a:lstStyle/>
          <a:p>
            <a:pPr algn="ctr" indent="0" marL="0">
              <a:buNone/>
            </a:pPr>
            <a:r>
              <a:rPr lang="en-US" sz="1200" dirty="0">
                <a:solidFill>
                  <a:srgbClr val="465A69"/>
                </a:solidFill>
                <a:latin typeface="Calibri" pitchFamily="34" charset="0"/>
                <a:ea typeface="Calibri" pitchFamily="34" charset="-122"/>
                <a:cs typeface="Calibri" pitchFamily="34" charset="-120"/>
              </a:rPr>
              <a:t>T+0</a:t>
            </a:r>
            <a:endParaRPr lang="en-US" sz="1200" dirty="0"/>
          </a:p>
        </p:txBody>
      </p:sp>
      <p:sp>
        <p:nvSpPr>
          <p:cNvPr id="15" name="Shape 13"/>
          <p:cNvSpPr/>
          <p:nvPr/>
        </p:nvSpPr>
        <p:spPr>
          <a:xfrm>
            <a:off x="5740603" y="347472"/>
            <a:ext cx="1197864" cy="329184"/>
          </a:xfrm>
          <a:prstGeom prst="roundRect">
            <a:avLst>
              <a:gd name="adj" fmla="val 50000"/>
            </a:avLst>
          </a:prstGeom>
          <a:solidFill>
            <a:srgbClr val="3F6E8C"/>
          </a:solidFill>
          <a:ln w="12700">
            <a:solidFill>
              <a:srgbClr val="3F6E8C"/>
            </a:solidFill>
            <a:prstDash val="solid"/>
          </a:ln>
        </p:spPr>
      </p:sp>
      <p:sp>
        <p:nvSpPr>
          <p:cNvPr id="16" name="Text 14"/>
          <p:cNvSpPr txBox="1"/>
          <p:nvPr/>
        </p:nvSpPr>
        <p:spPr>
          <a:xfrm>
            <a:off x="5740603" y="347472"/>
            <a:ext cx="119786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Background</a:t>
            </a:r>
            <a:endParaRPr lang="en-US" sz="1200" dirty="0"/>
          </a:p>
        </p:txBody>
      </p:sp>
      <p:sp>
        <p:nvSpPr>
          <p:cNvPr id="17" name="Shape 15"/>
          <p:cNvSpPr/>
          <p:nvPr/>
        </p:nvSpPr>
        <p:spPr>
          <a:xfrm>
            <a:off x="548640" y="1600200"/>
            <a:ext cx="5413248" cy="2697480"/>
          </a:xfrm>
          <a:prstGeom prst="roundRect">
            <a:avLst>
              <a:gd name="adj" fmla="val 4746"/>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18" name="Text 16"/>
          <p:cNvSpPr txBox="1"/>
          <p:nvPr/>
        </p:nvSpPr>
        <p:spPr>
          <a:xfrm>
            <a:off x="822960" y="1764792"/>
            <a:ext cx="4864608" cy="320040"/>
          </a:xfrm>
          <a:prstGeom prst="rect">
            <a:avLst/>
          </a:prstGeom>
          <a:noFill/>
          <a:ln/>
        </p:spPr>
        <p:txBody>
          <a:bodyPr wrap="square" lIns="0" tIns="0" rIns="0" bIns="0" rtlCol="0" anchor="t"/>
          <a:lstStyle/>
          <a:p>
            <a:pPr indent="0" marL="0">
              <a:buNone/>
            </a:pPr>
            <a:r>
              <a:rPr lang="en-US" sz="1500" b="1" dirty="0">
                <a:solidFill>
                  <a:srgbClr val="3F6E8C"/>
                </a:solidFill>
                <a:latin typeface="Calibri" pitchFamily="34" charset="0"/>
                <a:ea typeface="Calibri" pitchFamily="34" charset="-122"/>
                <a:cs typeface="Calibri" pitchFamily="34" charset="-120"/>
              </a:rPr>
              <a:t>Objectives</a:t>
            </a:r>
            <a:endParaRPr lang="en-US" sz="1500" dirty="0"/>
          </a:p>
        </p:txBody>
      </p:sp>
      <p:sp>
        <p:nvSpPr>
          <p:cNvPr id="19" name="Text 17"/>
          <p:cNvSpPr txBox="1"/>
          <p:nvPr/>
        </p:nvSpPr>
        <p:spPr>
          <a:xfrm>
            <a:off x="822960" y="2130552"/>
            <a:ext cx="4864608" cy="2075688"/>
          </a:xfrm>
          <a:prstGeom prst="rect">
            <a:avLst/>
          </a:prstGeom>
          <a:noFill/>
          <a:ln/>
        </p:spPr>
        <p:txBody>
          <a:bodyPr wrap="square" lIns="0" tIns="0" rIns="0" bIns="0" rtlCol="0" anchor="t"/>
          <a:lstStyle/>
          <a:p>
            <a:pPr marL="165100" indent="-165100">
              <a:spcAft>
                <a:spcPts val="800"/>
              </a:spcAft>
              <a:buSzPct val="100000"/>
              <a:buChar char="•"/>
            </a:pPr>
            <a:r>
              <a:rPr lang="en-US" sz="1500" dirty="0">
                <a:solidFill>
                  <a:srgbClr val="1E2E3A"/>
                </a:solidFill>
                <a:latin typeface="Calibri" pitchFamily="34" charset="0"/>
                <a:ea typeface="Calibri" pitchFamily="34" charset="-122"/>
                <a:cs typeface="Calibri" pitchFamily="34" charset="-120"/>
              </a:rPr>
              <a:t>Test how quickly a SaaS-originated identity compromise is detected, declared, and contained.</a:t>
            </a:r>
            <a:endParaRPr lang="en-US" sz="1500" dirty="0"/>
          </a:p>
          <a:p>
            <a:pPr marL="165100" indent="-165100">
              <a:spcAft>
                <a:spcPts val="800"/>
              </a:spcAft>
              <a:buSzPct val="100000"/>
              <a:buChar char="•"/>
            </a:pPr>
            <a:r>
              <a:rPr lang="en-US" sz="1500" dirty="0">
                <a:solidFill>
                  <a:srgbClr val="1E2E3A"/>
                </a:solidFill>
                <a:latin typeface="Calibri" pitchFamily="34" charset="0"/>
                <a:ea typeface="Calibri" pitchFamily="34" charset="-122"/>
                <a:cs typeface="Calibri" pitchFamily="34" charset="-120"/>
              </a:rPr>
              <a:t>Test evidence preservation, executive communications, and the materiality decision process.</a:t>
            </a:r>
            <a:endParaRPr lang="en-US" sz="1500" dirty="0"/>
          </a:p>
        </p:txBody>
      </p:sp>
      <p:sp>
        <p:nvSpPr>
          <p:cNvPr id="20" name="Shape 18"/>
          <p:cNvSpPr/>
          <p:nvPr/>
        </p:nvSpPr>
        <p:spPr>
          <a:xfrm>
            <a:off x="6227064" y="1600200"/>
            <a:ext cx="5413248" cy="2697480"/>
          </a:xfrm>
          <a:prstGeom prst="roundRect">
            <a:avLst>
              <a:gd name="adj" fmla="val 4746"/>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21" name="Text 19"/>
          <p:cNvSpPr txBox="1"/>
          <p:nvPr/>
        </p:nvSpPr>
        <p:spPr>
          <a:xfrm>
            <a:off x="6501384" y="1764792"/>
            <a:ext cx="4864608" cy="320040"/>
          </a:xfrm>
          <a:prstGeom prst="rect">
            <a:avLst/>
          </a:prstGeom>
          <a:noFill/>
          <a:ln/>
        </p:spPr>
        <p:txBody>
          <a:bodyPr wrap="square" lIns="0" tIns="0" rIns="0" bIns="0" rtlCol="0" anchor="t"/>
          <a:lstStyle/>
          <a:p>
            <a:pPr indent="0" marL="0">
              <a:buNone/>
            </a:pPr>
            <a:r>
              <a:rPr lang="en-US" sz="1500" b="1" dirty="0">
                <a:solidFill>
                  <a:srgbClr val="3F6E8C"/>
                </a:solidFill>
                <a:latin typeface="Calibri" pitchFamily="34" charset="0"/>
                <a:ea typeface="Calibri" pitchFamily="34" charset="-122"/>
                <a:cs typeface="Calibri" pitchFamily="34" charset="-120"/>
              </a:rPr>
              <a:t>In scope</a:t>
            </a:r>
            <a:endParaRPr lang="en-US" sz="1500" dirty="0"/>
          </a:p>
        </p:txBody>
      </p:sp>
      <p:sp>
        <p:nvSpPr>
          <p:cNvPr id="22" name="Text 20"/>
          <p:cNvSpPr txBox="1"/>
          <p:nvPr/>
        </p:nvSpPr>
        <p:spPr>
          <a:xfrm>
            <a:off x="6501384" y="2130552"/>
            <a:ext cx="4864608" cy="2075688"/>
          </a:xfrm>
          <a:prstGeom prst="rect">
            <a:avLst/>
          </a:prstGeom>
          <a:noFill/>
          <a:ln/>
        </p:spPr>
        <p:txBody>
          <a:bodyPr wrap="square" lIns="0" tIns="0" rIns="0" bIns="0" rtlCol="0" anchor="t"/>
          <a:lstStyle/>
          <a:p>
            <a:pPr marL="165100" indent="-165100">
              <a:spcAft>
                <a:spcPts val="800"/>
              </a:spcAft>
              <a:buSzPct val="100000"/>
              <a:buChar char="•"/>
            </a:pPr>
            <a:r>
              <a:rPr lang="en-US" sz="1400" dirty="0">
                <a:solidFill>
                  <a:srgbClr val="1E2E3A"/>
                </a:solidFill>
                <a:latin typeface="Calibri" pitchFamily="34" charset="0"/>
                <a:ea typeface="Calibri" pitchFamily="34" charset="-122"/>
                <a:cs typeface="Calibri" pitchFamily="34" charset="-120"/>
              </a:rPr>
              <a:t>Microsoft 365: Entra ID sign-in and MFA, Exchange Online, SharePoint, OneDrive</a:t>
            </a:r>
            <a:endParaRPr lang="en-US" sz="1400" dirty="0"/>
          </a:p>
          <a:p>
            <a:pPr marL="165100" indent="-165100">
              <a:spcAft>
                <a:spcPts val="800"/>
              </a:spcAft>
              <a:buSzPct val="100000"/>
              <a:buChar char="•"/>
            </a:pPr>
            <a:r>
              <a:rPr lang="en-US" sz="1400" dirty="0">
                <a:solidFill>
                  <a:srgbClr val="1E2E3A"/>
                </a:solidFill>
                <a:latin typeface="Calibri" pitchFamily="34" charset="0"/>
                <a:ea typeface="Calibri" pitchFamily="34" charset="-122"/>
                <a:cs typeface="Calibri" pitchFamily="34" charset="-120"/>
              </a:rPr>
              <a:t>Pulse Surveys, the third-party employee engagement platform HR uses</a:t>
            </a:r>
            <a:endParaRPr lang="en-US" sz="1400" dirty="0"/>
          </a:p>
          <a:p>
            <a:pPr marL="165100" indent="-165100">
              <a:spcAft>
                <a:spcPts val="800"/>
              </a:spcAft>
              <a:buSzPct val="100000"/>
              <a:buChar char="•"/>
            </a:pPr>
            <a:r>
              <a:rPr lang="en-US" sz="1400" dirty="0">
                <a:solidFill>
                  <a:srgbClr val="1E2E3A"/>
                </a:solidFill>
                <a:latin typeface="Calibri" pitchFamily="34" charset="0"/>
                <a:ea typeface="Calibri" pitchFamily="34" charset="-122"/>
                <a:cs typeface="Calibri" pitchFamily="34" charset="-120"/>
              </a:rPr>
              <a:t>Executive and Board communications</a:t>
            </a:r>
            <a:endParaRPr lang="en-US" sz="1400" dirty="0"/>
          </a:p>
          <a:p>
            <a:pPr marL="165100" indent="-165100">
              <a:spcAft>
                <a:spcPts val="800"/>
              </a:spcAft>
              <a:buSzPct val="100000"/>
              <a:buChar char="•"/>
            </a:pPr>
            <a:r>
              <a:rPr lang="en-US" sz="1400" dirty="0">
                <a:solidFill>
                  <a:srgbClr val="1E2E3A"/>
                </a:solidFill>
                <a:latin typeface="Calibri" pitchFamily="34" charset="0"/>
                <a:ea typeface="Calibri" pitchFamily="34" charset="-122"/>
                <a:cs typeface="Calibri" pitchFamily="34" charset="-120"/>
              </a:rPr>
              <a:t>Legal, regulatory, and investor disclosure processes</a:t>
            </a:r>
            <a:endParaRPr lang="en-US" sz="1400" dirty="0"/>
          </a:p>
        </p:txBody>
      </p:sp>
      <p:sp>
        <p:nvSpPr>
          <p:cNvPr id="23" name="Shape 21"/>
          <p:cNvSpPr/>
          <p:nvPr/>
        </p:nvSpPr>
        <p:spPr>
          <a:xfrm>
            <a:off x="548640" y="4526280"/>
            <a:ext cx="11091672" cy="1417320"/>
          </a:xfrm>
          <a:prstGeom prst="roundRect">
            <a:avLst>
              <a:gd name="adj" fmla="val 9032"/>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24" name="Text 22"/>
          <p:cNvSpPr txBox="1"/>
          <p:nvPr/>
        </p:nvSpPr>
        <p:spPr>
          <a:xfrm>
            <a:off x="822960" y="4690872"/>
            <a:ext cx="4572000" cy="320040"/>
          </a:xfrm>
          <a:prstGeom prst="rect">
            <a:avLst/>
          </a:prstGeom>
          <a:noFill/>
          <a:ln/>
        </p:spPr>
        <p:txBody>
          <a:bodyPr wrap="square" lIns="0" tIns="0" rIns="0" bIns="0" rtlCol="0" anchor="t"/>
          <a:lstStyle/>
          <a:p>
            <a:pPr indent="0" marL="0">
              <a:buNone/>
            </a:pPr>
            <a:r>
              <a:rPr lang="en-US" sz="1500" b="1" dirty="0">
                <a:solidFill>
                  <a:srgbClr val="3F6E8C"/>
                </a:solidFill>
                <a:latin typeface="Calibri" pitchFamily="34" charset="0"/>
                <a:ea typeface="Calibri" pitchFamily="34" charset="-122"/>
                <a:cs typeface="Calibri" pitchFamily="34" charset="-120"/>
              </a:rPr>
              <a:t>Assumptions</a:t>
            </a:r>
            <a:endParaRPr lang="en-US" sz="1500" dirty="0"/>
          </a:p>
        </p:txBody>
      </p:sp>
      <p:sp>
        <p:nvSpPr>
          <p:cNvPr id="25" name="Text 23"/>
          <p:cNvSpPr txBox="1"/>
          <p:nvPr/>
        </p:nvSpPr>
        <p:spPr>
          <a:xfrm>
            <a:off x="822960" y="5056632"/>
            <a:ext cx="10543032" cy="813816"/>
          </a:xfrm>
          <a:prstGeom prst="rect">
            <a:avLst/>
          </a:prstGeom>
          <a:noFill/>
          <a:ln/>
        </p:spPr>
        <p:txBody>
          <a:bodyPr wrap="square" lIns="0" tIns="0" rIns="0" bIns="0" rtlCol="0" anchor="t"/>
          <a:lstStyle/>
          <a:p>
            <a:pPr marL="165100" indent="-165100">
              <a:spcAft>
                <a:spcPts val="300"/>
              </a:spcAft>
              <a:buSzPct val="100000"/>
              <a:buChar char="•"/>
            </a:pPr>
            <a:r>
              <a:rPr lang="en-US" sz="1300" dirty="0">
                <a:solidFill>
                  <a:srgbClr val="1E2E3A"/>
                </a:solidFill>
                <a:latin typeface="Calibri" pitchFamily="34" charset="0"/>
                <a:ea typeface="Calibri" pitchFamily="34" charset="-122"/>
                <a:cs typeface="Calibri" pitchFamily="34" charset="-120"/>
              </a:rPr>
              <a:t>It is a normal Tuesday morning and everyone is working as usual.</a:t>
            </a:r>
            <a:endParaRPr lang="en-US" sz="1300" dirty="0"/>
          </a:p>
          <a:p>
            <a:pPr marL="165100" indent="-165100">
              <a:spcAft>
                <a:spcPts val="300"/>
              </a:spcAft>
              <a:buSzPct val="100000"/>
              <a:buChar char="•"/>
            </a:pPr>
            <a:r>
              <a:rPr lang="en-US" sz="1300" dirty="0">
                <a:solidFill>
                  <a:srgbClr val="1E2E3A"/>
                </a:solidFill>
                <a:latin typeface="Calibri" pitchFamily="34" charset="0"/>
                <a:ea typeface="Calibri" pitchFamily="34" charset="-122"/>
                <a:cs typeface="Calibri" pitchFamily="34" charset="-120"/>
              </a:rPr>
              <a:t>Security monitoring and the Helpdesk operate as they do today.</a:t>
            </a:r>
            <a:endParaRPr lang="en-US" sz="1300" dirty="0"/>
          </a:p>
          <a:p>
            <a:pPr marL="165100" indent="-165100">
              <a:spcAft>
                <a:spcPts val="300"/>
              </a:spcAft>
              <a:buSzPct val="100000"/>
              <a:buChar char="•"/>
            </a:pPr>
            <a:r>
              <a:rPr lang="en-US" sz="1300" dirty="0">
                <a:solidFill>
                  <a:srgbClr val="1E2E3A"/>
                </a:solidFill>
                <a:latin typeface="Calibri" pitchFamily="34" charset="0"/>
                <a:ea typeface="Calibri" pitchFamily="34" charset="-122"/>
                <a:cs typeface="Calibri" pitchFamily="34" charset="-120"/>
              </a:rPr>
              <a:t>The current incident response plan and contact lists are available.</a:t>
            </a:r>
            <a:endParaRPr lang="en-US" sz="1300" dirty="0"/>
          </a:p>
        </p:txBody>
      </p:sp>
      <p:sp>
        <p:nvSpPr>
          <p:cNvPr id="26" name="Text 24"/>
          <p:cNvSpPr txBox="1"/>
          <p:nvPr/>
        </p:nvSpPr>
        <p:spPr>
          <a:xfrm>
            <a:off x="548640" y="6254496"/>
            <a:ext cx="11091672" cy="256032"/>
          </a:xfrm>
          <a:prstGeom prst="rect">
            <a:avLst/>
          </a:prstGeom>
          <a:noFill/>
          <a:ln/>
        </p:spPr>
        <p:txBody>
          <a:bodyPr wrap="square" lIns="0" tIns="0" rIns="0" bIns="0" rtlCol="0" anchor="ctr"/>
          <a:lstStyle/>
          <a:p>
            <a:pPr indent="0" marL="0">
              <a:buNone/>
            </a:pPr>
            <a:r>
              <a:rPr lang="en-US" sz="1200" b="1" dirty="0">
                <a:solidFill>
                  <a:srgbClr val="465A69"/>
                </a:solidFill>
                <a:latin typeface="Calibri" pitchFamily="34" charset="0"/>
                <a:ea typeface="Calibri" pitchFamily="34" charset="-122"/>
                <a:cs typeface="Calibri" pitchFamily="34" charset="-120"/>
              </a:rPr>
              <a:t>Acronyms:  </a:t>
            </a:r>
            <a:pPr indent="0" marL="0">
              <a:buNone/>
            </a:pPr>
            <a:r>
              <a:rPr lang="en-US" sz="1200" dirty="0">
                <a:solidFill>
                  <a:srgbClr val="465A69"/>
                </a:solidFill>
                <a:latin typeface="Calibri" pitchFamily="34" charset="0"/>
                <a:ea typeface="Calibri" pitchFamily="34" charset="-122"/>
                <a:cs typeface="Calibri" pitchFamily="34" charset="-120"/>
              </a:rPr>
              <a:t>T+: time since the first signal;  SaaS: software as a service;  MFA: multi-factor authentication;  HR: human resources</a:t>
            </a:r>
            <a:endParaRPr lang="en-US" sz="1200" dirty="0"/>
          </a:p>
        </p:txBody>
      </p:sp>
      <p:sp>
        <p:nvSpPr>
          <p:cNvPr id="27" name="Shape 25"/>
          <p:cNvSpPr/>
          <p:nvPr/>
        </p:nvSpPr>
        <p:spPr>
          <a:xfrm>
            <a:off x="548640" y="6537960"/>
            <a:ext cx="763524" cy="274320"/>
          </a:xfrm>
          <a:prstGeom prst="roundRect">
            <a:avLst>
              <a:gd name="adj" fmla="val 50000"/>
            </a:avLst>
          </a:prstGeom>
          <a:solidFill>
            <a:srgbClr val="E4ECF2"/>
          </a:solidFill>
          <a:ln w="12700">
            <a:solidFill>
              <a:srgbClr val="E4ECF2"/>
            </a:solidFill>
            <a:prstDash val="solid"/>
          </a:ln>
        </p:spPr>
      </p:sp>
      <p:sp>
        <p:nvSpPr>
          <p:cNvPr id="28" name="Text 26"/>
          <p:cNvSpPr txBox="1"/>
          <p:nvPr/>
        </p:nvSpPr>
        <p:spPr>
          <a:xfrm>
            <a:off x="548640" y="6537960"/>
            <a:ext cx="763524" cy="274320"/>
          </a:xfrm>
          <a:prstGeom prst="rect">
            <a:avLst/>
          </a:prstGeom>
          <a:noFill/>
          <a:ln/>
        </p:spPr>
        <p:txBody>
          <a:bodyPr wrap="square" lIns="0" tIns="0" rIns="0" bIns="0" rtlCol="0" anchor="ctr"/>
          <a:lstStyle/>
          <a:p>
            <a:pPr algn="ctr" indent="0" marL="0">
              <a:buNone/>
            </a:pPr>
            <a:r>
              <a:rPr lang="en-US" sz="1200" b="1" dirty="0">
                <a:solidFill>
                  <a:srgbClr val="23405A"/>
                </a:solidFill>
                <a:latin typeface="Calibri" pitchFamily="34" charset="0"/>
                <a:ea typeface="Calibri" pitchFamily="34" charset="-122"/>
                <a:cs typeface="Calibri" pitchFamily="34" charset="-120"/>
              </a:rPr>
              <a:t>Start</a:t>
            </a:r>
            <a:endParaRPr lang="en-US" sz="1200" dirty="0"/>
          </a:p>
        </p:txBody>
      </p:sp>
      <p:pic>
        <p:nvPicPr>
          <p:cNvPr id="29" name="Image 0" descr="preencoded.png">
            <a:hlinkClick r:id="rId2" tooltip="Go to Start" action="ppaction://hlinksldjump"/>
          </p:cNvPr>
          <p:cNvPicPr>
            <a:picLocks noChangeAspect="1"/>
          </p:cNvPicPr>
          <p:nvPr/>
        </p:nvPicPr>
        <p:blipFill>
          <a:blip r:embed="rId1"/>
          <a:stretch>
            <a:fillRect/>
          </a:stretch>
        </p:blipFill>
        <p:spPr>
          <a:xfrm>
            <a:off x="548640" y="6537960"/>
            <a:ext cx="763524" cy="274320"/>
          </a:xfrm>
          <a:prstGeom prst="rect">
            <a:avLst/>
          </a:prstGeom>
        </p:spPr>
      </p:pic>
      <p:sp>
        <p:nvSpPr>
          <p:cNvPr id="30" name="Shape 27"/>
          <p:cNvSpPr/>
          <p:nvPr/>
        </p:nvSpPr>
        <p:spPr>
          <a:xfrm>
            <a:off x="1385316" y="6537960"/>
            <a:ext cx="1197864" cy="274320"/>
          </a:xfrm>
          <a:prstGeom prst="roundRect">
            <a:avLst>
              <a:gd name="adj" fmla="val 50000"/>
            </a:avLst>
          </a:prstGeom>
          <a:solidFill>
            <a:srgbClr val="3F6E8C"/>
          </a:solidFill>
          <a:ln w="12700">
            <a:solidFill>
              <a:srgbClr val="3F6E8C"/>
            </a:solidFill>
            <a:prstDash val="solid"/>
          </a:ln>
        </p:spPr>
      </p:sp>
      <p:sp>
        <p:nvSpPr>
          <p:cNvPr id="31" name="Text 28"/>
          <p:cNvSpPr txBox="1"/>
          <p:nvPr/>
        </p:nvSpPr>
        <p:spPr>
          <a:xfrm>
            <a:off x="1385316" y="6537960"/>
            <a:ext cx="1197864"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Scenario 1</a:t>
            </a:r>
            <a:endParaRPr lang="en-US" sz="1200" dirty="0"/>
          </a:p>
        </p:txBody>
      </p:sp>
      <p:pic>
        <p:nvPicPr>
          <p:cNvPr id="32" name="Image 1" descr="preencoded.png">
            <a:hlinkClick r:id="rId4" tooltip="Go to Scenario 1" action="ppaction://hlinksldjump"/>
          </p:cNvPr>
          <p:cNvPicPr>
            <a:picLocks noChangeAspect="1"/>
          </p:cNvPicPr>
          <p:nvPr/>
        </p:nvPicPr>
        <p:blipFill>
          <a:blip r:embed="rId3"/>
          <a:stretch>
            <a:fillRect/>
          </a:stretch>
        </p:blipFill>
        <p:spPr>
          <a:xfrm>
            <a:off x="1385316" y="6537960"/>
            <a:ext cx="1197864" cy="274320"/>
          </a:xfrm>
          <a:prstGeom prst="rect">
            <a:avLst/>
          </a:prstGeom>
        </p:spPr>
      </p:pic>
      <p:sp>
        <p:nvSpPr>
          <p:cNvPr id="33" name="Shape 29"/>
          <p:cNvSpPr/>
          <p:nvPr/>
        </p:nvSpPr>
        <p:spPr>
          <a:xfrm>
            <a:off x="2656332" y="6537960"/>
            <a:ext cx="1197864" cy="274320"/>
          </a:xfrm>
          <a:prstGeom prst="roundRect">
            <a:avLst>
              <a:gd name="adj" fmla="val 50000"/>
            </a:avLst>
          </a:prstGeom>
          <a:solidFill>
            <a:srgbClr val="F1F8F3"/>
          </a:solidFill>
          <a:ln w="12700">
            <a:solidFill>
              <a:srgbClr val="F1F8F3"/>
            </a:solidFill>
            <a:prstDash val="solid"/>
          </a:ln>
        </p:spPr>
      </p:sp>
      <p:sp>
        <p:nvSpPr>
          <p:cNvPr id="34" name="Text 30"/>
          <p:cNvSpPr txBox="1"/>
          <p:nvPr/>
        </p:nvSpPr>
        <p:spPr>
          <a:xfrm>
            <a:off x="2656332" y="6537960"/>
            <a:ext cx="1197864" cy="274320"/>
          </a:xfrm>
          <a:prstGeom prst="rect">
            <a:avLst/>
          </a:prstGeom>
          <a:noFill/>
          <a:ln/>
        </p:spPr>
        <p:txBody>
          <a:bodyPr wrap="square" lIns="0" tIns="0" rIns="0" bIns="0" rtlCol="0" anchor="ctr"/>
          <a:lstStyle/>
          <a:p>
            <a:pPr algn="ctr" indent="0" marL="0">
              <a:buNone/>
            </a:pPr>
            <a:r>
              <a:rPr lang="en-US" sz="1200" b="1" dirty="0">
                <a:solidFill>
                  <a:srgbClr val="4C8068"/>
                </a:solidFill>
                <a:latin typeface="Calibri" pitchFamily="34" charset="0"/>
                <a:ea typeface="Calibri" pitchFamily="34" charset="-122"/>
                <a:cs typeface="Calibri" pitchFamily="34" charset="-120"/>
              </a:rPr>
              <a:t>Scenario 2</a:t>
            </a:r>
            <a:endParaRPr lang="en-US" sz="1200" dirty="0"/>
          </a:p>
        </p:txBody>
      </p:sp>
      <p:pic>
        <p:nvPicPr>
          <p:cNvPr id="35" name="Image 2" descr="preencoded.png">
            <a:hlinkClick r:id="rId6" tooltip="Go to Scenario 2" action="ppaction://hlinksldjump"/>
          </p:cNvPr>
          <p:cNvPicPr>
            <a:picLocks noChangeAspect="1"/>
          </p:cNvPicPr>
          <p:nvPr/>
        </p:nvPicPr>
        <p:blipFill>
          <a:blip r:embed="rId5"/>
          <a:stretch>
            <a:fillRect/>
          </a:stretch>
        </p:blipFill>
        <p:spPr>
          <a:xfrm>
            <a:off x="2656332" y="6537960"/>
            <a:ext cx="1197864" cy="274320"/>
          </a:xfrm>
          <a:prstGeom prst="rect">
            <a:avLst/>
          </a:prstGeom>
        </p:spPr>
      </p:pic>
      <p:sp>
        <p:nvSpPr>
          <p:cNvPr id="36" name="Shape 31"/>
          <p:cNvSpPr/>
          <p:nvPr/>
        </p:nvSpPr>
        <p:spPr>
          <a:xfrm>
            <a:off x="3927348" y="6537960"/>
            <a:ext cx="1197864" cy="274320"/>
          </a:xfrm>
          <a:prstGeom prst="roundRect">
            <a:avLst>
              <a:gd name="adj" fmla="val 50000"/>
            </a:avLst>
          </a:prstGeom>
          <a:solidFill>
            <a:srgbClr val="F6F3FA"/>
          </a:solidFill>
          <a:ln w="12700">
            <a:solidFill>
              <a:srgbClr val="F6F3FA"/>
            </a:solidFill>
            <a:prstDash val="solid"/>
          </a:ln>
        </p:spPr>
      </p:sp>
      <p:sp>
        <p:nvSpPr>
          <p:cNvPr id="37" name="Text 32"/>
          <p:cNvSpPr txBox="1"/>
          <p:nvPr/>
        </p:nvSpPr>
        <p:spPr>
          <a:xfrm>
            <a:off x="3927348" y="6537960"/>
            <a:ext cx="1197864" cy="274320"/>
          </a:xfrm>
          <a:prstGeom prst="rect">
            <a:avLst/>
          </a:prstGeom>
          <a:noFill/>
          <a:ln/>
        </p:spPr>
        <p:txBody>
          <a:bodyPr wrap="square" lIns="0" tIns="0" rIns="0" bIns="0" rtlCol="0" anchor="ctr"/>
          <a:lstStyle/>
          <a:p>
            <a:pPr algn="ctr" indent="0" marL="0">
              <a:buNone/>
            </a:pPr>
            <a:r>
              <a:rPr lang="en-US" sz="1200" b="1" dirty="0">
                <a:solidFill>
                  <a:srgbClr val="6E5E94"/>
                </a:solidFill>
                <a:latin typeface="Calibri" pitchFamily="34" charset="0"/>
                <a:ea typeface="Calibri" pitchFamily="34" charset="-122"/>
                <a:cs typeface="Calibri" pitchFamily="34" charset="-120"/>
              </a:rPr>
              <a:t>Scenario 3</a:t>
            </a:r>
            <a:endParaRPr lang="en-US" sz="1200" dirty="0"/>
          </a:p>
        </p:txBody>
      </p:sp>
      <p:pic>
        <p:nvPicPr>
          <p:cNvPr id="38" name="Image 3" descr="preencoded.png">
            <a:hlinkClick r:id="rId8" tooltip="Go to Scenario 3" action="ppaction://hlinksldjump"/>
          </p:cNvPr>
          <p:cNvPicPr>
            <a:picLocks noChangeAspect="1"/>
          </p:cNvPicPr>
          <p:nvPr/>
        </p:nvPicPr>
        <p:blipFill>
          <a:blip r:embed="rId7"/>
          <a:stretch>
            <a:fillRect/>
          </a:stretch>
        </p:blipFill>
        <p:spPr>
          <a:xfrm>
            <a:off x="3927348" y="6537960"/>
            <a:ext cx="1197864" cy="274320"/>
          </a:xfrm>
          <a:prstGeom prst="rect">
            <a:avLst/>
          </a:prstGeom>
        </p:spPr>
      </p:pic>
      <p:sp>
        <p:nvSpPr>
          <p:cNvPr id="39" name="Shape 33"/>
          <p:cNvSpPr/>
          <p:nvPr/>
        </p:nvSpPr>
        <p:spPr>
          <a:xfrm>
            <a:off x="5198364" y="6537960"/>
            <a:ext cx="937260" cy="274320"/>
          </a:xfrm>
          <a:prstGeom prst="roundRect">
            <a:avLst>
              <a:gd name="adj" fmla="val 50000"/>
            </a:avLst>
          </a:prstGeom>
          <a:solidFill>
            <a:srgbClr val="E4ECF2"/>
          </a:solidFill>
          <a:ln w="12700">
            <a:solidFill>
              <a:srgbClr val="E4ECF2"/>
            </a:solidFill>
            <a:prstDash val="solid"/>
          </a:ln>
        </p:spPr>
      </p:sp>
      <p:sp>
        <p:nvSpPr>
          <p:cNvPr id="40" name="Text 34"/>
          <p:cNvSpPr txBox="1"/>
          <p:nvPr/>
        </p:nvSpPr>
        <p:spPr>
          <a:xfrm>
            <a:off x="5198364" y="6537960"/>
            <a:ext cx="937260" cy="274320"/>
          </a:xfrm>
          <a:prstGeom prst="rect">
            <a:avLst/>
          </a:prstGeom>
          <a:noFill/>
          <a:ln/>
        </p:spPr>
        <p:txBody>
          <a:bodyPr wrap="square" lIns="0" tIns="0" rIns="0" bIns="0" rtlCol="0" anchor="ctr"/>
          <a:lstStyle/>
          <a:p>
            <a:pPr algn="ctr" indent="0" marL="0">
              <a:buNone/>
            </a:pPr>
            <a:r>
              <a:rPr lang="en-US" sz="1200" b="1" dirty="0">
                <a:solidFill>
                  <a:srgbClr val="23405A"/>
                </a:solidFill>
                <a:latin typeface="Calibri" pitchFamily="34" charset="0"/>
                <a:ea typeface="Calibri" pitchFamily="34" charset="-122"/>
                <a:cs typeface="Calibri" pitchFamily="34" charset="-120"/>
              </a:rPr>
              <a:t>Closing</a:t>
            </a:r>
            <a:endParaRPr lang="en-US" sz="1200" dirty="0"/>
          </a:p>
        </p:txBody>
      </p:sp>
      <p:pic>
        <p:nvPicPr>
          <p:cNvPr id="41" name="Image 4" descr="preencoded.png">
            <a:hlinkClick r:id="rId10" tooltip="Go to Closing" action="ppaction://hlinksldjump"/>
          </p:cNvPr>
          <p:cNvPicPr>
            <a:picLocks noChangeAspect="1"/>
          </p:cNvPicPr>
          <p:nvPr/>
        </p:nvPicPr>
        <p:blipFill>
          <a:blip r:embed="rId9"/>
          <a:stretch>
            <a:fillRect/>
          </a:stretch>
        </p:blipFill>
        <p:spPr>
          <a:xfrm>
            <a:off x="5198364" y="6537960"/>
            <a:ext cx="937260" cy="274320"/>
          </a:xfrm>
          <a:prstGeom prst="rect">
            <a:avLst/>
          </a:prstGeom>
        </p:spPr>
      </p:pic>
      <p:sp>
        <p:nvSpPr>
          <p:cNvPr id="42" name="Text 35"/>
          <p:cNvSpPr txBox="1"/>
          <p:nvPr/>
        </p:nvSpPr>
        <p:spPr>
          <a:xfrm>
            <a:off x="11277295" y="6537960"/>
            <a:ext cx="365760" cy="274320"/>
          </a:xfrm>
          <a:prstGeom prst="rect">
            <a:avLst/>
          </a:prstGeom>
          <a:noFill/>
          <a:ln/>
        </p:spPr>
        <p:txBody>
          <a:bodyPr wrap="square" lIns="0" tIns="0" rIns="0" bIns="0" rtlCol="0" anchor="ctr"/>
          <a:lstStyle/>
          <a:p>
            <a:pPr algn="r" indent="0" marL="0">
              <a:buNone/>
            </a:pPr>
            <a:r>
              <a:rPr lang="en-US" sz="1200" dirty="0">
                <a:solidFill>
                  <a:srgbClr val="465A69"/>
                </a:solidFill>
                <a:latin typeface="Calibri" pitchFamily="34" charset="0"/>
                <a:ea typeface="Calibri" pitchFamily="34" charset="-122"/>
                <a:cs typeface="Calibri"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6EEF6"/>
        </a:solidFill>
      </p:bgPr>
    </p:bg>
    <p:spTree>
      <p:nvGrpSpPr>
        <p:cNvPr id="1" name=""/>
        <p:cNvGrpSpPr/>
        <p:nvPr/>
      </p:nvGrpSpPr>
      <p:grpSpPr>
        <a:xfrm>
          <a:off x="0" y="0"/>
          <a:ext cx="0" cy="0"/>
          <a:chOff x="0" y="0"/>
          <a:chExt cx="0" cy="0"/>
        </a:xfrm>
      </p:grpSpPr>
      <p:sp>
        <p:nvSpPr>
          <p:cNvPr id="2" name="Shape 0"/>
          <p:cNvSpPr/>
          <p:nvPr/>
        </p:nvSpPr>
        <p:spPr>
          <a:xfrm>
            <a:off x="548640" y="347472"/>
            <a:ext cx="2843784" cy="329184"/>
          </a:xfrm>
          <a:prstGeom prst="roundRect">
            <a:avLst>
              <a:gd name="adj" fmla="val 50000"/>
            </a:avLst>
          </a:prstGeom>
          <a:solidFill>
            <a:srgbClr val="F1F6FA"/>
          </a:solidFill>
          <a:ln w="12700">
            <a:solidFill>
              <a:srgbClr val="F1F6FA"/>
            </a:solidFill>
            <a:prstDash val="solid"/>
          </a:ln>
        </p:spPr>
      </p:sp>
      <p:sp>
        <p:nvSpPr>
          <p:cNvPr id="3" name="Text 1"/>
          <p:cNvSpPr txBox="1"/>
          <p:nvPr/>
        </p:nvSpPr>
        <p:spPr>
          <a:xfrm>
            <a:off x="548640" y="347472"/>
            <a:ext cx="2843784" cy="329184"/>
          </a:xfrm>
          <a:prstGeom prst="rect">
            <a:avLst/>
          </a:prstGeom>
          <a:noFill/>
          <a:ln/>
        </p:spPr>
        <p:txBody>
          <a:bodyPr wrap="square" lIns="0" tIns="0" rIns="0" bIns="0" rtlCol="0" anchor="ctr"/>
          <a:lstStyle/>
          <a:p>
            <a:pPr algn="ctr" indent="0" marL="0">
              <a:buNone/>
            </a:pPr>
            <a:r>
              <a:rPr lang="en-US" sz="1200" b="1" dirty="0">
                <a:solidFill>
                  <a:srgbClr val="3F6E8C"/>
                </a:solidFill>
                <a:latin typeface="Calibri" pitchFamily="34" charset="0"/>
                <a:ea typeface="Calibri" pitchFamily="34" charset="-122"/>
                <a:cs typeface="Calibri" pitchFamily="34" charset="-120"/>
              </a:rPr>
              <a:t>Scenario 1: Incident Response</a:t>
            </a:r>
            <a:endParaRPr lang="en-US" sz="1200" dirty="0"/>
          </a:p>
        </p:txBody>
      </p:sp>
      <p:sp>
        <p:nvSpPr>
          <p:cNvPr id="4" name="Text 2"/>
          <p:cNvSpPr txBox="1"/>
          <p:nvPr/>
        </p:nvSpPr>
        <p:spPr>
          <a:xfrm>
            <a:off x="548640" y="749808"/>
            <a:ext cx="11064240" cy="640080"/>
          </a:xfrm>
          <a:prstGeom prst="rect">
            <a:avLst/>
          </a:prstGeom>
          <a:noFill/>
          <a:ln/>
        </p:spPr>
        <p:txBody>
          <a:bodyPr wrap="square" lIns="0" tIns="0" rIns="0" bIns="0" rtlCol="0" anchor="ctr"/>
          <a:lstStyle/>
          <a:p>
            <a:pPr indent="0" marL="0">
              <a:buNone/>
            </a:pPr>
            <a:r>
              <a:rPr lang="en-US" sz="2800" b="1" dirty="0">
                <a:solidFill>
                  <a:srgbClr val="23405A"/>
                </a:solidFill>
                <a:latin typeface="Calibri" pitchFamily="34" charset="0"/>
                <a:ea typeface="Calibri" pitchFamily="34" charset="-122"/>
                <a:cs typeface="Calibri" pitchFamily="34" charset="-120"/>
              </a:rPr>
              <a:t>T+0: Initial Signal</a:t>
            </a:r>
            <a:endParaRPr lang="en-US" sz="2800" dirty="0"/>
          </a:p>
        </p:txBody>
      </p:sp>
      <p:sp>
        <p:nvSpPr>
          <p:cNvPr id="5" name="Shape 3"/>
          <p:cNvSpPr/>
          <p:nvPr/>
        </p:nvSpPr>
        <p:spPr>
          <a:xfrm>
            <a:off x="10705795" y="347472"/>
            <a:ext cx="937260" cy="329184"/>
          </a:xfrm>
          <a:prstGeom prst="roundRect">
            <a:avLst>
              <a:gd name="adj" fmla="val 50000"/>
            </a:avLst>
          </a:prstGeom>
          <a:solidFill>
            <a:srgbClr val="FFFFFF"/>
          </a:solidFill>
          <a:ln w="12700">
            <a:solidFill>
              <a:srgbClr val="FFFFFF"/>
            </a:solidFill>
            <a:prstDash val="solid"/>
          </a:ln>
        </p:spPr>
      </p:sp>
      <p:sp>
        <p:nvSpPr>
          <p:cNvPr id="6" name="Text 4"/>
          <p:cNvSpPr txBox="1"/>
          <p:nvPr/>
        </p:nvSpPr>
        <p:spPr>
          <a:xfrm>
            <a:off x="10705795" y="347472"/>
            <a:ext cx="937260" cy="329184"/>
          </a:xfrm>
          <a:prstGeom prst="rect">
            <a:avLst/>
          </a:prstGeom>
          <a:noFill/>
          <a:ln/>
        </p:spPr>
        <p:txBody>
          <a:bodyPr wrap="square" lIns="0" tIns="0" rIns="0" bIns="0" rtlCol="0" anchor="ctr"/>
          <a:lstStyle/>
          <a:p>
            <a:pPr algn="ctr" indent="0" marL="0">
              <a:buNone/>
            </a:pPr>
            <a:r>
              <a:rPr lang="en-US" sz="1200" dirty="0">
                <a:solidFill>
                  <a:srgbClr val="465A69"/>
                </a:solidFill>
                <a:latin typeface="Calibri" pitchFamily="34" charset="0"/>
                <a:ea typeface="Calibri" pitchFamily="34" charset="-122"/>
                <a:cs typeface="Calibri" pitchFamily="34" charset="-120"/>
              </a:rPr>
              <a:t>Hotwash</a:t>
            </a:r>
            <a:endParaRPr lang="en-US" sz="1200" dirty="0"/>
          </a:p>
        </p:txBody>
      </p:sp>
      <p:sp>
        <p:nvSpPr>
          <p:cNvPr id="7" name="Shape 5"/>
          <p:cNvSpPr/>
          <p:nvPr/>
        </p:nvSpPr>
        <p:spPr>
          <a:xfrm>
            <a:off x="9608515" y="347472"/>
            <a:ext cx="1024128" cy="329184"/>
          </a:xfrm>
          <a:prstGeom prst="roundRect">
            <a:avLst>
              <a:gd name="adj" fmla="val 50000"/>
            </a:avLst>
          </a:prstGeom>
          <a:solidFill>
            <a:srgbClr val="FFFFFF"/>
          </a:solidFill>
          <a:ln w="12700">
            <a:solidFill>
              <a:srgbClr val="FFFFFF"/>
            </a:solidFill>
            <a:prstDash val="solid"/>
          </a:ln>
        </p:spPr>
      </p:sp>
      <p:sp>
        <p:nvSpPr>
          <p:cNvPr id="8" name="Text 6"/>
          <p:cNvSpPr txBox="1"/>
          <p:nvPr/>
        </p:nvSpPr>
        <p:spPr>
          <a:xfrm>
            <a:off x="9608515" y="347472"/>
            <a:ext cx="1024128" cy="329184"/>
          </a:xfrm>
          <a:prstGeom prst="rect">
            <a:avLst/>
          </a:prstGeom>
          <a:noFill/>
          <a:ln/>
        </p:spPr>
        <p:txBody>
          <a:bodyPr wrap="square" lIns="0" tIns="0" rIns="0" bIns="0" rtlCol="0" anchor="ctr"/>
          <a:lstStyle/>
          <a:p>
            <a:pPr algn="ctr" indent="0" marL="0">
              <a:buNone/>
            </a:pPr>
            <a:r>
              <a:rPr lang="en-US" sz="1200" dirty="0">
                <a:solidFill>
                  <a:srgbClr val="465A69"/>
                </a:solidFill>
                <a:latin typeface="Calibri" pitchFamily="34" charset="0"/>
                <a:ea typeface="Calibri" pitchFamily="34" charset="-122"/>
                <a:cs typeface="Calibri" pitchFamily="34" charset="-120"/>
              </a:rPr>
              <a:t>Recovery</a:t>
            </a:r>
            <a:endParaRPr lang="en-US" sz="1200" dirty="0"/>
          </a:p>
        </p:txBody>
      </p:sp>
      <p:sp>
        <p:nvSpPr>
          <p:cNvPr id="9" name="Shape 7"/>
          <p:cNvSpPr/>
          <p:nvPr/>
        </p:nvSpPr>
        <p:spPr>
          <a:xfrm>
            <a:off x="8598103" y="347472"/>
            <a:ext cx="937260" cy="329184"/>
          </a:xfrm>
          <a:prstGeom prst="roundRect">
            <a:avLst>
              <a:gd name="adj" fmla="val 50000"/>
            </a:avLst>
          </a:prstGeom>
          <a:solidFill>
            <a:srgbClr val="FFFFFF"/>
          </a:solidFill>
          <a:ln w="12700">
            <a:solidFill>
              <a:srgbClr val="FFFFFF"/>
            </a:solidFill>
            <a:prstDash val="solid"/>
          </a:ln>
        </p:spPr>
      </p:sp>
      <p:sp>
        <p:nvSpPr>
          <p:cNvPr id="10" name="Text 8"/>
          <p:cNvSpPr txBox="1"/>
          <p:nvPr/>
        </p:nvSpPr>
        <p:spPr>
          <a:xfrm>
            <a:off x="8598103" y="347472"/>
            <a:ext cx="937260" cy="329184"/>
          </a:xfrm>
          <a:prstGeom prst="rect">
            <a:avLst/>
          </a:prstGeom>
          <a:noFill/>
          <a:ln/>
        </p:spPr>
        <p:txBody>
          <a:bodyPr wrap="square" lIns="0" tIns="0" rIns="0" bIns="0" rtlCol="0" anchor="ctr"/>
          <a:lstStyle/>
          <a:p>
            <a:pPr algn="ctr" indent="0" marL="0">
              <a:buNone/>
            </a:pPr>
            <a:r>
              <a:rPr lang="en-US" sz="1200" dirty="0">
                <a:solidFill>
                  <a:srgbClr val="465A69"/>
                </a:solidFill>
                <a:latin typeface="Calibri" pitchFamily="34" charset="0"/>
                <a:ea typeface="Calibri" pitchFamily="34" charset="-122"/>
                <a:cs typeface="Calibri" pitchFamily="34" charset="-120"/>
              </a:rPr>
              <a:t>Injects</a:t>
            </a:r>
            <a:endParaRPr lang="en-US" sz="1200" dirty="0"/>
          </a:p>
        </p:txBody>
      </p:sp>
      <p:sp>
        <p:nvSpPr>
          <p:cNvPr id="11" name="Shape 9"/>
          <p:cNvSpPr/>
          <p:nvPr/>
        </p:nvSpPr>
        <p:spPr>
          <a:xfrm>
            <a:off x="7674559" y="347472"/>
            <a:ext cx="850392" cy="329184"/>
          </a:xfrm>
          <a:prstGeom prst="roundRect">
            <a:avLst>
              <a:gd name="adj" fmla="val 50000"/>
            </a:avLst>
          </a:prstGeom>
          <a:solidFill>
            <a:srgbClr val="FFFFFF"/>
          </a:solidFill>
          <a:ln w="12700">
            <a:solidFill>
              <a:srgbClr val="FFFFFF"/>
            </a:solidFill>
            <a:prstDash val="solid"/>
          </a:ln>
        </p:spPr>
      </p:sp>
      <p:sp>
        <p:nvSpPr>
          <p:cNvPr id="12" name="Text 10"/>
          <p:cNvSpPr txBox="1"/>
          <p:nvPr/>
        </p:nvSpPr>
        <p:spPr>
          <a:xfrm>
            <a:off x="7674559" y="347472"/>
            <a:ext cx="850392" cy="329184"/>
          </a:xfrm>
          <a:prstGeom prst="rect">
            <a:avLst/>
          </a:prstGeom>
          <a:noFill/>
          <a:ln/>
        </p:spPr>
        <p:txBody>
          <a:bodyPr wrap="square" lIns="0" tIns="0" rIns="0" bIns="0" rtlCol="0" anchor="ctr"/>
          <a:lstStyle/>
          <a:p>
            <a:pPr algn="ctr" indent="0" marL="0">
              <a:buNone/>
            </a:pPr>
            <a:r>
              <a:rPr lang="en-US" sz="1200" dirty="0">
                <a:solidFill>
                  <a:srgbClr val="465A69"/>
                </a:solidFill>
                <a:latin typeface="Calibri" pitchFamily="34" charset="0"/>
                <a:ea typeface="Calibri" pitchFamily="34" charset="-122"/>
                <a:cs typeface="Calibri" pitchFamily="34" charset="-120"/>
              </a:rPr>
              <a:t>Decide</a:t>
            </a:r>
            <a:endParaRPr lang="en-US" sz="1200" dirty="0"/>
          </a:p>
        </p:txBody>
      </p:sp>
      <p:sp>
        <p:nvSpPr>
          <p:cNvPr id="13" name="Shape 11"/>
          <p:cNvSpPr/>
          <p:nvPr/>
        </p:nvSpPr>
        <p:spPr>
          <a:xfrm>
            <a:off x="7011619" y="347472"/>
            <a:ext cx="589788" cy="329184"/>
          </a:xfrm>
          <a:prstGeom prst="roundRect">
            <a:avLst>
              <a:gd name="adj" fmla="val 50000"/>
            </a:avLst>
          </a:prstGeom>
          <a:solidFill>
            <a:srgbClr val="3F6E8C"/>
          </a:solidFill>
          <a:ln w="12700">
            <a:solidFill>
              <a:srgbClr val="3F6E8C"/>
            </a:solidFill>
            <a:prstDash val="solid"/>
          </a:ln>
        </p:spPr>
      </p:sp>
      <p:sp>
        <p:nvSpPr>
          <p:cNvPr id="14" name="Text 12"/>
          <p:cNvSpPr txBox="1"/>
          <p:nvPr/>
        </p:nvSpPr>
        <p:spPr>
          <a:xfrm>
            <a:off x="7011619" y="347472"/>
            <a:ext cx="589788"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T+0</a:t>
            </a:r>
            <a:endParaRPr lang="en-US" sz="1200" dirty="0"/>
          </a:p>
        </p:txBody>
      </p:sp>
      <p:sp>
        <p:nvSpPr>
          <p:cNvPr id="15" name="Shape 13"/>
          <p:cNvSpPr/>
          <p:nvPr/>
        </p:nvSpPr>
        <p:spPr>
          <a:xfrm>
            <a:off x="5740603" y="347472"/>
            <a:ext cx="1197864" cy="329184"/>
          </a:xfrm>
          <a:prstGeom prst="roundRect">
            <a:avLst>
              <a:gd name="adj" fmla="val 50000"/>
            </a:avLst>
          </a:prstGeom>
          <a:solidFill>
            <a:srgbClr val="F1F6FA"/>
          </a:solidFill>
          <a:ln w="12700">
            <a:solidFill>
              <a:srgbClr val="F1F6FA"/>
            </a:solidFill>
            <a:prstDash val="solid"/>
          </a:ln>
        </p:spPr>
      </p:sp>
      <p:sp>
        <p:nvSpPr>
          <p:cNvPr id="16" name="Text 14"/>
          <p:cNvSpPr txBox="1"/>
          <p:nvPr/>
        </p:nvSpPr>
        <p:spPr>
          <a:xfrm>
            <a:off x="5740603" y="347472"/>
            <a:ext cx="1197864" cy="329184"/>
          </a:xfrm>
          <a:prstGeom prst="rect">
            <a:avLst/>
          </a:prstGeom>
          <a:noFill/>
          <a:ln/>
        </p:spPr>
        <p:txBody>
          <a:bodyPr wrap="square" lIns="0" tIns="0" rIns="0" bIns="0" rtlCol="0" anchor="ctr"/>
          <a:lstStyle/>
          <a:p>
            <a:pPr algn="ctr" indent="0" marL="0">
              <a:buNone/>
            </a:pPr>
            <a:r>
              <a:rPr lang="en-US" sz="1200" dirty="0">
                <a:solidFill>
                  <a:srgbClr val="3F6E8C"/>
                </a:solidFill>
                <a:latin typeface="Calibri" pitchFamily="34" charset="0"/>
                <a:ea typeface="Calibri" pitchFamily="34" charset="-122"/>
                <a:cs typeface="Calibri" pitchFamily="34" charset="-120"/>
              </a:rPr>
              <a:t>Background</a:t>
            </a:r>
            <a:endParaRPr lang="en-US" sz="1200" dirty="0"/>
          </a:p>
        </p:txBody>
      </p:sp>
      <p:sp>
        <p:nvSpPr>
          <p:cNvPr id="17" name="Shape 15"/>
          <p:cNvSpPr/>
          <p:nvPr/>
        </p:nvSpPr>
        <p:spPr>
          <a:xfrm>
            <a:off x="548640" y="1600200"/>
            <a:ext cx="2377440" cy="4572000"/>
          </a:xfrm>
          <a:prstGeom prst="roundRect">
            <a:avLst>
              <a:gd name="adj" fmla="val 5385"/>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18" name="Text 16"/>
          <p:cNvSpPr txBox="1"/>
          <p:nvPr/>
        </p:nvSpPr>
        <p:spPr>
          <a:xfrm>
            <a:off x="822960" y="1783080"/>
            <a:ext cx="1874520" cy="320040"/>
          </a:xfrm>
          <a:prstGeom prst="rect">
            <a:avLst/>
          </a:prstGeom>
          <a:noFill/>
          <a:ln/>
        </p:spPr>
        <p:txBody>
          <a:bodyPr wrap="square" lIns="0" tIns="0" rIns="0" bIns="0" rtlCol="0" anchor="t"/>
          <a:lstStyle/>
          <a:p>
            <a:pPr indent="0" marL="0">
              <a:buNone/>
            </a:pPr>
            <a:r>
              <a:rPr lang="en-US" sz="1400" b="1" dirty="0">
                <a:solidFill>
                  <a:srgbClr val="465A69"/>
                </a:solidFill>
                <a:latin typeface="Calibri" pitchFamily="34" charset="0"/>
                <a:ea typeface="Calibri" pitchFamily="34" charset="-122"/>
                <a:cs typeface="Calibri" pitchFamily="34" charset="-120"/>
              </a:rPr>
              <a:t>Timeline</a:t>
            </a:r>
            <a:endParaRPr lang="en-US" sz="1400" dirty="0"/>
          </a:p>
        </p:txBody>
      </p:sp>
      <p:sp>
        <p:nvSpPr>
          <p:cNvPr id="19" name="Shape 17"/>
          <p:cNvSpPr/>
          <p:nvPr/>
        </p:nvSpPr>
        <p:spPr>
          <a:xfrm>
            <a:off x="905256" y="2551176"/>
            <a:ext cx="0" cy="257338"/>
          </a:xfrm>
          <a:prstGeom prst="line">
            <a:avLst/>
          </a:prstGeom>
          <a:noFill/>
          <a:ln w="19050">
            <a:solidFill>
              <a:srgbClr val="C9D5D2"/>
            </a:solidFill>
            <a:prstDash val="solid"/>
          </a:ln>
        </p:spPr>
      </p:sp>
      <p:sp>
        <p:nvSpPr>
          <p:cNvPr id="20" name="Shape 18"/>
          <p:cNvSpPr/>
          <p:nvPr/>
        </p:nvSpPr>
        <p:spPr>
          <a:xfrm>
            <a:off x="777240" y="2267712"/>
            <a:ext cx="256032" cy="256032"/>
          </a:xfrm>
          <a:prstGeom prst="ellipse">
            <a:avLst/>
          </a:prstGeom>
          <a:solidFill>
            <a:srgbClr val="3F6E8C"/>
          </a:solidFill>
          <a:ln w="12700">
            <a:solidFill>
              <a:srgbClr val="3F6E8C"/>
            </a:solidFill>
            <a:prstDash val="solid"/>
          </a:ln>
        </p:spPr>
      </p:sp>
      <p:sp>
        <p:nvSpPr>
          <p:cNvPr id="21" name="Text 19"/>
          <p:cNvSpPr txBox="1"/>
          <p:nvPr/>
        </p:nvSpPr>
        <p:spPr>
          <a:xfrm>
            <a:off x="1188720" y="2203704"/>
            <a:ext cx="1645920" cy="568234"/>
          </a:xfrm>
          <a:prstGeom prst="rect">
            <a:avLst/>
          </a:prstGeom>
          <a:noFill/>
          <a:ln/>
        </p:spPr>
        <p:txBody>
          <a:bodyPr wrap="square" lIns="0" tIns="0" rIns="0" bIns="0" rtlCol="0" anchor="t"/>
          <a:lstStyle/>
          <a:p>
            <a:pPr indent="0" marL="0">
              <a:buNone/>
            </a:pPr>
            <a:r>
              <a:rPr lang="en-US" sz="1200" b="1" dirty="0">
                <a:solidFill>
                  <a:srgbClr val="3F6E8C"/>
                </a:solidFill>
                <a:latin typeface="Calibri" pitchFamily="34" charset="0"/>
                <a:ea typeface="Calibri" pitchFamily="34" charset="-122"/>
                <a:cs typeface="Calibri" pitchFamily="34" charset="-120"/>
              </a:rPr>
              <a:t>T+0</a:t>
            </a:r>
            <a:endParaRPr lang="en-US" sz="1200" dirty="0"/>
          </a:p>
          <a:p>
            <a:pPr indent="0" marL="0">
              <a:buNone/>
            </a:pPr>
            <a:r>
              <a:rPr lang="en-US" sz="1200" b="1" dirty="0">
                <a:solidFill>
                  <a:srgbClr val="3F6E8C"/>
                </a:solidFill>
                <a:latin typeface="Calibri" pitchFamily="34" charset="0"/>
                <a:ea typeface="Calibri" pitchFamily="34" charset="-122"/>
                <a:cs typeface="Calibri" pitchFamily="34" charset="-120"/>
              </a:rPr>
              <a:t>Initial signal</a:t>
            </a:r>
            <a:endParaRPr lang="en-US" sz="1200" dirty="0"/>
          </a:p>
        </p:txBody>
      </p:sp>
      <p:sp>
        <p:nvSpPr>
          <p:cNvPr id="22" name="Shape 20"/>
          <p:cNvSpPr/>
          <p:nvPr/>
        </p:nvSpPr>
        <p:spPr>
          <a:xfrm>
            <a:off x="905256" y="3119410"/>
            <a:ext cx="0" cy="257338"/>
          </a:xfrm>
          <a:prstGeom prst="line">
            <a:avLst/>
          </a:prstGeom>
          <a:noFill/>
          <a:ln w="19050">
            <a:solidFill>
              <a:srgbClr val="C9D5D2"/>
            </a:solidFill>
            <a:prstDash val="solid"/>
          </a:ln>
        </p:spPr>
      </p:sp>
      <p:sp>
        <p:nvSpPr>
          <p:cNvPr id="23" name="Shape 21"/>
          <p:cNvSpPr/>
          <p:nvPr/>
        </p:nvSpPr>
        <p:spPr>
          <a:xfrm>
            <a:off x="777240" y="2835946"/>
            <a:ext cx="256032" cy="256032"/>
          </a:xfrm>
          <a:prstGeom prst="ellipse">
            <a:avLst/>
          </a:prstGeom>
          <a:solidFill>
            <a:srgbClr val="FFFFFF"/>
          </a:solidFill>
          <a:ln w="15875">
            <a:solidFill>
              <a:srgbClr val="C9D5D2"/>
            </a:solidFill>
            <a:prstDash val="solid"/>
          </a:ln>
        </p:spPr>
      </p:sp>
      <p:sp>
        <p:nvSpPr>
          <p:cNvPr id="24" name="Shape 22"/>
          <p:cNvSpPr/>
          <p:nvPr/>
        </p:nvSpPr>
        <p:spPr>
          <a:xfrm>
            <a:off x="905256" y="3687645"/>
            <a:ext cx="0" cy="257338"/>
          </a:xfrm>
          <a:prstGeom prst="line">
            <a:avLst/>
          </a:prstGeom>
          <a:noFill/>
          <a:ln w="19050">
            <a:solidFill>
              <a:srgbClr val="C9D5D2"/>
            </a:solidFill>
            <a:prstDash val="solid"/>
          </a:ln>
        </p:spPr>
      </p:sp>
      <p:sp>
        <p:nvSpPr>
          <p:cNvPr id="25" name="Shape 23"/>
          <p:cNvSpPr/>
          <p:nvPr/>
        </p:nvSpPr>
        <p:spPr>
          <a:xfrm>
            <a:off x="777240" y="3404181"/>
            <a:ext cx="256032" cy="256032"/>
          </a:xfrm>
          <a:prstGeom prst="ellipse">
            <a:avLst/>
          </a:prstGeom>
          <a:solidFill>
            <a:srgbClr val="FFFFFF"/>
          </a:solidFill>
          <a:ln w="15875">
            <a:solidFill>
              <a:srgbClr val="C9D5D2"/>
            </a:solidFill>
            <a:prstDash val="solid"/>
          </a:ln>
        </p:spPr>
      </p:sp>
      <p:sp>
        <p:nvSpPr>
          <p:cNvPr id="26" name="Shape 24"/>
          <p:cNvSpPr/>
          <p:nvPr/>
        </p:nvSpPr>
        <p:spPr>
          <a:xfrm>
            <a:off x="905256" y="4255879"/>
            <a:ext cx="0" cy="257338"/>
          </a:xfrm>
          <a:prstGeom prst="line">
            <a:avLst/>
          </a:prstGeom>
          <a:noFill/>
          <a:ln w="19050">
            <a:solidFill>
              <a:srgbClr val="C9D5D2"/>
            </a:solidFill>
            <a:prstDash val="solid"/>
          </a:ln>
        </p:spPr>
      </p:sp>
      <p:sp>
        <p:nvSpPr>
          <p:cNvPr id="27" name="Shape 25"/>
          <p:cNvSpPr/>
          <p:nvPr/>
        </p:nvSpPr>
        <p:spPr>
          <a:xfrm>
            <a:off x="777240" y="3972415"/>
            <a:ext cx="256032" cy="256032"/>
          </a:xfrm>
          <a:prstGeom prst="ellipse">
            <a:avLst/>
          </a:prstGeom>
          <a:solidFill>
            <a:srgbClr val="FFFFFF"/>
          </a:solidFill>
          <a:ln w="15875">
            <a:solidFill>
              <a:srgbClr val="C9D5D2"/>
            </a:solidFill>
            <a:prstDash val="solid"/>
          </a:ln>
        </p:spPr>
      </p:sp>
      <p:sp>
        <p:nvSpPr>
          <p:cNvPr id="28" name="Shape 26"/>
          <p:cNvSpPr/>
          <p:nvPr/>
        </p:nvSpPr>
        <p:spPr>
          <a:xfrm>
            <a:off x="905256" y="4824113"/>
            <a:ext cx="0" cy="257338"/>
          </a:xfrm>
          <a:prstGeom prst="line">
            <a:avLst/>
          </a:prstGeom>
          <a:noFill/>
          <a:ln w="19050">
            <a:solidFill>
              <a:srgbClr val="C9D5D2"/>
            </a:solidFill>
            <a:prstDash val="solid"/>
          </a:ln>
        </p:spPr>
      </p:sp>
      <p:sp>
        <p:nvSpPr>
          <p:cNvPr id="29" name="Shape 27"/>
          <p:cNvSpPr/>
          <p:nvPr/>
        </p:nvSpPr>
        <p:spPr>
          <a:xfrm>
            <a:off x="777240" y="4540649"/>
            <a:ext cx="256032" cy="256032"/>
          </a:xfrm>
          <a:prstGeom prst="ellipse">
            <a:avLst/>
          </a:prstGeom>
          <a:solidFill>
            <a:srgbClr val="FFFFFF"/>
          </a:solidFill>
          <a:ln w="15875">
            <a:solidFill>
              <a:srgbClr val="C9D5D2"/>
            </a:solidFill>
            <a:prstDash val="solid"/>
          </a:ln>
        </p:spPr>
      </p:sp>
      <p:sp>
        <p:nvSpPr>
          <p:cNvPr id="30" name="Shape 28"/>
          <p:cNvSpPr/>
          <p:nvPr/>
        </p:nvSpPr>
        <p:spPr>
          <a:xfrm>
            <a:off x="905256" y="5392347"/>
            <a:ext cx="0" cy="257338"/>
          </a:xfrm>
          <a:prstGeom prst="line">
            <a:avLst/>
          </a:prstGeom>
          <a:noFill/>
          <a:ln w="19050">
            <a:solidFill>
              <a:srgbClr val="C9D5D2"/>
            </a:solidFill>
            <a:prstDash val="solid"/>
          </a:ln>
        </p:spPr>
      </p:sp>
      <p:sp>
        <p:nvSpPr>
          <p:cNvPr id="31" name="Shape 29"/>
          <p:cNvSpPr/>
          <p:nvPr/>
        </p:nvSpPr>
        <p:spPr>
          <a:xfrm>
            <a:off x="777240" y="5108883"/>
            <a:ext cx="256032" cy="256032"/>
          </a:xfrm>
          <a:prstGeom prst="ellipse">
            <a:avLst/>
          </a:prstGeom>
          <a:solidFill>
            <a:srgbClr val="FFFFFF"/>
          </a:solidFill>
          <a:ln w="15875">
            <a:solidFill>
              <a:srgbClr val="C9D5D2"/>
            </a:solidFill>
            <a:prstDash val="solid"/>
          </a:ln>
        </p:spPr>
      </p:sp>
      <p:sp>
        <p:nvSpPr>
          <p:cNvPr id="32" name="Shape 30"/>
          <p:cNvSpPr/>
          <p:nvPr/>
        </p:nvSpPr>
        <p:spPr>
          <a:xfrm>
            <a:off x="777240" y="5677118"/>
            <a:ext cx="256032" cy="256032"/>
          </a:xfrm>
          <a:prstGeom prst="ellipse">
            <a:avLst/>
          </a:prstGeom>
          <a:solidFill>
            <a:srgbClr val="FFFFFF"/>
          </a:solidFill>
          <a:ln w="15875">
            <a:solidFill>
              <a:srgbClr val="C9D5D2"/>
            </a:solidFill>
            <a:prstDash val="solid"/>
          </a:ln>
        </p:spPr>
      </p:sp>
      <p:sp>
        <p:nvSpPr>
          <p:cNvPr id="33" name="Shape 31"/>
          <p:cNvSpPr/>
          <p:nvPr/>
        </p:nvSpPr>
        <p:spPr>
          <a:xfrm>
            <a:off x="3154680" y="1600200"/>
            <a:ext cx="5696712" cy="4572000"/>
          </a:xfrm>
          <a:prstGeom prst="roundRect">
            <a:avLst>
              <a:gd name="adj" fmla="val 2800"/>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34" name="Shape 32"/>
          <p:cNvSpPr/>
          <p:nvPr/>
        </p:nvSpPr>
        <p:spPr>
          <a:xfrm>
            <a:off x="3429000" y="1874520"/>
            <a:ext cx="2011680" cy="420624"/>
          </a:xfrm>
          <a:prstGeom prst="roundRect">
            <a:avLst>
              <a:gd name="adj" fmla="val 50000"/>
            </a:avLst>
          </a:prstGeom>
          <a:solidFill>
            <a:srgbClr val="3F6E8C"/>
          </a:solidFill>
          <a:ln w="12700">
            <a:solidFill>
              <a:srgbClr val="3F6E8C"/>
            </a:solidFill>
            <a:prstDash val="solid"/>
          </a:ln>
        </p:spPr>
      </p:sp>
      <p:pic>
        <p:nvPicPr>
          <p:cNvPr id="35" name="Image 0" descr="preencoded.png">    </p:cNvPr>
          <p:cNvPicPr>
            <a:picLocks noChangeAspect="1"/>
          </p:cNvPicPr>
          <p:nvPr/>
        </p:nvPicPr>
        <p:blipFill>
          <a:blip r:embed="rId1"/>
          <a:stretch>
            <a:fillRect/>
          </a:stretch>
        </p:blipFill>
        <p:spPr>
          <a:xfrm>
            <a:off x="3566160" y="1947672"/>
            <a:ext cx="256032" cy="256032"/>
          </a:xfrm>
          <a:prstGeom prst="rect">
            <a:avLst/>
          </a:prstGeom>
        </p:spPr>
      </p:pic>
      <p:sp>
        <p:nvSpPr>
          <p:cNvPr id="36" name="Text 33"/>
          <p:cNvSpPr txBox="1"/>
          <p:nvPr/>
        </p:nvSpPr>
        <p:spPr>
          <a:xfrm>
            <a:off x="3886200" y="1874520"/>
            <a:ext cx="1554480" cy="42062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T+0, 9:05 AM</a:t>
            </a:r>
            <a:endParaRPr lang="en-US" sz="1400" dirty="0"/>
          </a:p>
        </p:txBody>
      </p:sp>
      <p:sp>
        <p:nvSpPr>
          <p:cNvPr id="37" name="Text 34"/>
          <p:cNvSpPr txBox="1"/>
          <p:nvPr/>
        </p:nvSpPr>
        <p:spPr>
          <a:xfrm>
            <a:off x="3429000" y="2514600"/>
            <a:ext cx="5166360" cy="3108960"/>
          </a:xfrm>
          <a:prstGeom prst="rect">
            <a:avLst/>
          </a:prstGeom>
          <a:noFill/>
          <a:ln/>
        </p:spPr>
        <p:txBody>
          <a:bodyPr wrap="square" lIns="0" tIns="0" rIns="0" bIns="0" rtlCol="0" anchor="t"/>
          <a:lstStyle/>
          <a:p>
            <a:pPr indent="0" marL="0">
              <a:buNone/>
            </a:pPr>
            <a:r>
              <a:rPr lang="en-US" sz="1800" dirty="0">
                <a:solidFill>
                  <a:srgbClr val="1E2E3A"/>
                </a:solidFill>
                <a:latin typeface="Calibri" pitchFamily="34" charset="0"/>
                <a:ea typeface="Calibri" pitchFamily="34" charset="-122"/>
                <a:cs typeface="Calibri" pitchFamily="34" charset="-120"/>
              </a:rPr>
              <a:t>An employee forwards an email to the Helpdesk and asks whether it is legitimate. It comes from Pulse Surveys, the company's employee engagement vendor, and asks staff to complete the Q3 Employee Experience Survey. Several colleagues say they have already clicked it. Nothing else is known.</a:t>
            </a:r>
            <a:endParaRPr lang="en-US" sz="1800" dirty="0"/>
          </a:p>
        </p:txBody>
      </p:sp>
      <p:sp>
        <p:nvSpPr>
          <p:cNvPr id="38" name="Shape 35"/>
          <p:cNvSpPr/>
          <p:nvPr/>
        </p:nvSpPr>
        <p:spPr>
          <a:xfrm>
            <a:off x="9079992" y="1600200"/>
            <a:ext cx="2560320" cy="4572000"/>
          </a:xfrm>
          <a:prstGeom prst="roundRect">
            <a:avLst>
              <a:gd name="adj" fmla="val 5000"/>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39" name="Text 36"/>
          <p:cNvSpPr txBox="1"/>
          <p:nvPr/>
        </p:nvSpPr>
        <p:spPr>
          <a:xfrm>
            <a:off x="9262872" y="1728216"/>
            <a:ext cx="2194560" cy="457200"/>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Sample email received by an employee</a:t>
            </a:r>
            <a:endParaRPr lang="en-US" sz="1300" dirty="0"/>
          </a:p>
        </p:txBody>
      </p:sp>
      <p:sp>
        <p:nvSpPr>
          <p:cNvPr id="40" name="Shape 37"/>
          <p:cNvSpPr/>
          <p:nvPr/>
        </p:nvSpPr>
        <p:spPr>
          <a:xfrm>
            <a:off x="9262872" y="2221992"/>
            <a:ext cx="2194560" cy="3767328"/>
          </a:xfrm>
          <a:prstGeom prst="roundRect">
            <a:avLst>
              <a:gd name="adj" fmla="val 3333"/>
            </a:avLst>
          </a:prstGeom>
          <a:solidFill>
            <a:srgbClr val="FFFFFF"/>
          </a:solidFill>
          <a:ln w="9525">
            <a:solidFill>
              <a:srgbClr val="C9D3DE"/>
            </a:solidFill>
            <a:prstDash val="solid"/>
          </a:ln>
        </p:spPr>
      </p:sp>
      <p:sp>
        <p:nvSpPr>
          <p:cNvPr id="41" name="Text 38"/>
          <p:cNvSpPr txBox="1"/>
          <p:nvPr/>
        </p:nvSpPr>
        <p:spPr>
          <a:xfrm>
            <a:off x="9381744" y="2386584"/>
            <a:ext cx="1956816" cy="599313"/>
          </a:xfrm>
          <a:prstGeom prst="rect">
            <a:avLst/>
          </a:prstGeom>
          <a:noFill/>
          <a:ln/>
        </p:spPr>
        <p:txBody>
          <a:bodyPr wrap="square" lIns="0" tIns="0" rIns="0" bIns="0" rtlCol="0" anchor="t"/>
          <a:lstStyle/>
          <a:p>
            <a:pPr indent="0" marL="0">
              <a:buNone/>
            </a:pPr>
            <a:r>
              <a:rPr lang="en-US" sz="1250" b="1" dirty="0">
                <a:solidFill>
                  <a:srgbClr val="1E2E3A"/>
                </a:solidFill>
                <a:latin typeface="Calibri" pitchFamily="34" charset="0"/>
                <a:ea typeface="Calibri" pitchFamily="34" charset="-122"/>
                <a:cs typeface="Calibri" pitchFamily="34" charset="-120"/>
              </a:rPr>
              <a:t>From: </a:t>
            </a:r>
            <a:pPr indent="0" marL="0">
              <a:buNone/>
            </a:pPr>
            <a:r>
              <a:rPr lang="en-US" sz="1250" dirty="0">
                <a:solidFill>
                  <a:srgbClr val="1E2E3A"/>
                </a:solidFill>
                <a:latin typeface="Calibri" pitchFamily="34" charset="0"/>
                <a:ea typeface="Calibri" pitchFamily="34" charset="-122"/>
                <a:cs typeface="Calibri" pitchFamily="34" charset="-120"/>
              </a:rPr>
              <a:t>Pulse Surveys &lt;noreply@pulsesurveys.com&gt;</a:t>
            </a:r>
            <a:endParaRPr lang="en-US" sz="1250" dirty="0"/>
          </a:p>
        </p:txBody>
      </p:sp>
      <p:sp>
        <p:nvSpPr>
          <p:cNvPr id="42" name="Text 39"/>
          <p:cNvSpPr txBox="1"/>
          <p:nvPr/>
        </p:nvSpPr>
        <p:spPr>
          <a:xfrm>
            <a:off x="9381744" y="2985897"/>
            <a:ext cx="1956816" cy="405638"/>
          </a:xfrm>
          <a:prstGeom prst="rect">
            <a:avLst/>
          </a:prstGeom>
          <a:noFill/>
          <a:ln/>
        </p:spPr>
        <p:txBody>
          <a:bodyPr wrap="square" lIns="0" tIns="0" rIns="0" bIns="0" rtlCol="0" anchor="t"/>
          <a:lstStyle/>
          <a:p>
            <a:pPr indent="0" marL="0">
              <a:buNone/>
            </a:pPr>
            <a:r>
              <a:rPr lang="en-US" sz="1250" b="1" dirty="0">
                <a:solidFill>
                  <a:srgbClr val="1E2E3A"/>
                </a:solidFill>
                <a:latin typeface="Calibri" pitchFamily="34" charset="0"/>
                <a:ea typeface="Calibri" pitchFamily="34" charset="-122"/>
                <a:cs typeface="Calibri" pitchFamily="34" charset="-120"/>
              </a:rPr>
              <a:t>To: </a:t>
            </a:r>
            <a:pPr indent="0" marL="0">
              <a:buNone/>
            </a:pPr>
            <a:r>
              <a:rPr lang="en-US" sz="1250" dirty="0">
                <a:solidFill>
                  <a:srgbClr val="1E2E3A"/>
                </a:solidFill>
                <a:latin typeface="Calibri" pitchFamily="34" charset="0"/>
                <a:ea typeface="Calibri" pitchFamily="34" charset="-122"/>
                <a:cs typeface="Calibri" pitchFamily="34" charset="-120"/>
              </a:rPr>
              <a:t>employee@company.com</a:t>
            </a:r>
            <a:endParaRPr lang="en-US" sz="1250" dirty="0"/>
          </a:p>
        </p:txBody>
      </p:sp>
      <p:sp>
        <p:nvSpPr>
          <p:cNvPr id="43" name="Text 40"/>
          <p:cNvSpPr txBox="1"/>
          <p:nvPr/>
        </p:nvSpPr>
        <p:spPr>
          <a:xfrm>
            <a:off x="9381744" y="3391535"/>
            <a:ext cx="1956816" cy="405638"/>
          </a:xfrm>
          <a:prstGeom prst="rect">
            <a:avLst/>
          </a:prstGeom>
          <a:noFill/>
          <a:ln/>
        </p:spPr>
        <p:txBody>
          <a:bodyPr wrap="square" lIns="0" tIns="0" rIns="0" bIns="0" rtlCol="0" anchor="t"/>
          <a:lstStyle/>
          <a:p>
            <a:pPr indent="0" marL="0">
              <a:buNone/>
            </a:pPr>
            <a:r>
              <a:rPr lang="en-US" sz="1250" b="1" dirty="0">
                <a:solidFill>
                  <a:srgbClr val="1E2E3A"/>
                </a:solidFill>
                <a:latin typeface="Calibri" pitchFamily="34" charset="0"/>
                <a:ea typeface="Calibri" pitchFamily="34" charset="-122"/>
                <a:cs typeface="Calibri" pitchFamily="34" charset="-120"/>
              </a:rPr>
              <a:t>Subject: </a:t>
            </a:r>
            <a:pPr indent="0" marL="0">
              <a:buNone/>
            </a:pPr>
            <a:r>
              <a:rPr lang="en-US" sz="1250" dirty="0">
                <a:solidFill>
                  <a:srgbClr val="1E2E3A"/>
                </a:solidFill>
                <a:latin typeface="Calibri" pitchFamily="34" charset="0"/>
                <a:ea typeface="Calibri" pitchFamily="34" charset="-122"/>
                <a:cs typeface="Calibri" pitchFamily="34" charset="-120"/>
              </a:rPr>
              <a:t>We value your feedback!</a:t>
            </a:r>
            <a:endParaRPr lang="en-US" sz="1250" dirty="0"/>
          </a:p>
        </p:txBody>
      </p:sp>
      <p:sp>
        <p:nvSpPr>
          <p:cNvPr id="44" name="Shape 41"/>
          <p:cNvSpPr/>
          <p:nvPr/>
        </p:nvSpPr>
        <p:spPr>
          <a:xfrm>
            <a:off x="9674352" y="3934333"/>
            <a:ext cx="310896" cy="310896"/>
          </a:xfrm>
          <a:prstGeom prst="ellipse">
            <a:avLst/>
          </a:prstGeom>
          <a:solidFill>
            <a:srgbClr val="6F86C4"/>
          </a:solidFill>
          <a:ln w="12700">
            <a:solidFill>
              <a:srgbClr val="6F86C4"/>
            </a:solidFill>
            <a:prstDash val="solid"/>
          </a:ln>
        </p:spPr>
      </p:sp>
      <p:sp>
        <p:nvSpPr>
          <p:cNvPr id="45" name="Shape 42"/>
          <p:cNvSpPr/>
          <p:nvPr/>
        </p:nvSpPr>
        <p:spPr>
          <a:xfrm>
            <a:off x="9756648" y="4016629"/>
            <a:ext cx="146304" cy="146304"/>
          </a:xfrm>
          <a:prstGeom prst="ellipse">
            <a:avLst/>
          </a:prstGeom>
          <a:solidFill>
            <a:srgbClr val="FFFFFF"/>
          </a:solidFill>
          <a:ln w="12700">
            <a:solidFill>
              <a:srgbClr val="FFFFFF"/>
            </a:solidFill>
            <a:prstDash val="solid"/>
          </a:ln>
        </p:spPr>
      </p:sp>
      <p:sp>
        <p:nvSpPr>
          <p:cNvPr id="46" name="Text 43"/>
          <p:cNvSpPr txBox="1"/>
          <p:nvPr/>
        </p:nvSpPr>
        <p:spPr>
          <a:xfrm>
            <a:off x="10058400" y="3870325"/>
            <a:ext cx="1051560" cy="438912"/>
          </a:xfrm>
          <a:prstGeom prst="rect">
            <a:avLst/>
          </a:prstGeom>
          <a:noFill/>
          <a:ln/>
        </p:spPr>
        <p:txBody>
          <a:bodyPr wrap="square" lIns="0" tIns="0" rIns="0" bIns="0" rtlCol="0" anchor="ctr"/>
          <a:lstStyle/>
          <a:p>
            <a:pPr indent="0" marL="0">
              <a:buNone/>
            </a:pPr>
            <a:r>
              <a:rPr lang="en-US" sz="1850" b="1" dirty="0">
                <a:solidFill>
                  <a:srgbClr val="5F76B4"/>
                </a:solidFill>
                <a:latin typeface="Calibri" pitchFamily="34" charset="0"/>
                <a:ea typeface="Calibri" pitchFamily="34" charset="-122"/>
                <a:cs typeface="Calibri" pitchFamily="34" charset="-120"/>
              </a:rPr>
              <a:t>Company</a:t>
            </a:r>
            <a:endParaRPr lang="en-US" sz="1850" dirty="0"/>
          </a:p>
        </p:txBody>
      </p:sp>
      <p:sp>
        <p:nvSpPr>
          <p:cNvPr id="47" name="Text 44"/>
          <p:cNvSpPr txBox="1"/>
          <p:nvPr/>
        </p:nvSpPr>
        <p:spPr>
          <a:xfrm>
            <a:off x="9381744" y="4327525"/>
            <a:ext cx="1956816" cy="230251"/>
          </a:xfrm>
          <a:prstGeom prst="rect">
            <a:avLst/>
          </a:prstGeom>
          <a:noFill/>
          <a:ln/>
        </p:spPr>
        <p:txBody>
          <a:bodyPr wrap="square" lIns="0" tIns="0" rIns="0" bIns="0" rtlCol="0" anchor="t"/>
          <a:lstStyle/>
          <a:p>
            <a:pPr indent="0" marL="0">
              <a:buNone/>
            </a:pPr>
            <a:r>
              <a:rPr lang="en-US" sz="1250" dirty="0">
                <a:solidFill>
                  <a:srgbClr val="1E2E3A"/>
                </a:solidFill>
                <a:latin typeface="Calibri" pitchFamily="34" charset="0"/>
                <a:ea typeface="Calibri" pitchFamily="34" charset="-122"/>
                <a:cs typeface="Calibri" pitchFamily="34" charset="-120"/>
              </a:rPr>
              <a:t>Hi there!</a:t>
            </a:r>
            <a:endParaRPr lang="en-US" sz="1250" dirty="0"/>
          </a:p>
        </p:txBody>
      </p:sp>
      <p:sp>
        <p:nvSpPr>
          <p:cNvPr id="48" name="Text 45"/>
          <p:cNvSpPr txBox="1"/>
          <p:nvPr/>
        </p:nvSpPr>
        <p:spPr>
          <a:xfrm>
            <a:off x="9381744" y="4594352"/>
            <a:ext cx="1956816" cy="811276"/>
          </a:xfrm>
          <a:prstGeom prst="rect">
            <a:avLst/>
          </a:prstGeom>
          <a:noFill/>
          <a:ln/>
        </p:spPr>
        <p:txBody>
          <a:bodyPr wrap="square" lIns="0" tIns="0" rIns="0" bIns="0" rtlCol="0" anchor="t"/>
          <a:lstStyle/>
          <a:p>
            <a:pPr indent="0" marL="0">
              <a:buNone/>
            </a:pPr>
            <a:r>
              <a:rPr lang="en-US" sz="1250" dirty="0">
                <a:solidFill>
                  <a:srgbClr val="1E2E3A"/>
                </a:solidFill>
                <a:latin typeface="Calibri" pitchFamily="34" charset="0"/>
                <a:ea typeface="Calibri" pitchFamily="34" charset="-122"/>
                <a:cs typeface="Calibri" pitchFamily="34" charset="-120"/>
              </a:rPr>
              <a:t>Take 5 minutes to share your feedback in our Q3 Employee Experience Survey.</a:t>
            </a:r>
            <a:endParaRPr lang="en-US" sz="1250" dirty="0"/>
          </a:p>
        </p:txBody>
      </p:sp>
      <p:sp>
        <p:nvSpPr>
          <p:cNvPr id="49" name="Shape 46"/>
          <p:cNvSpPr/>
          <p:nvPr/>
        </p:nvSpPr>
        <p:spPr>
          <a:xfrm>
            <a:off x="9678924" y="5515356"/>
            <a:ext cx="1362456" cy="292608"/>
          </a:xfrm>
          <a:prstGeom prst="roundRect">
            <a:avLst>
              <a:gd name="adj" fmla="val 15625"/>
            </a:avLst>
          </a:prstGeom>
          <a:solidFill>
            <a:srgbClr val="5E86A8"/>
          </a:solidFill>
          <a:ln w="12700">
            <a:solidFill>
              <a:srgbClr val="5E86A8"/>
            </a:solidFill>
            <a:prstDash val="solid"/>
          </a:ln>
        </p:spPr>
      </p:sp>
      <p:sp>
        <p:nvSpPr>
          <p:cNvPr id="50" name="Text 47"/>
          <p:cNvSpPr txBox="1"/>
          <p:nvPr/>
        </p:nvSpPr>
        <p:spPr>
          <a:xfrm>
            <a:off x="9678924" y="5515356"/>
            <a:ext cx="1362456" cy="29260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Take Survey</a:t>
            </a:r>
            <a:endParaRPr lang="en-US" sz="1250" dirty="0"/>
          </a:p>
        </p:txBody>
      </p:sp>
      <p:sp>
        <p:nvSpPr>
          <p:cNvPr id="51" name="Text 48"/>
          <p:cNvSpPr txBox="1"/>
          <p:nvPr/>
        </p:nvSpPr>
        <p:spPr>
          <a:xfrm>
            <a:off x="548640" y="6254496"/>
            <a:ext cx="11091672" cy="256032"/>
          </a:xfrm>
          <a:prstGeom prst="rect">
            <a:avLst/>
          </a:prstGeom>
          <a:noFill/>
          <a:ln/>
        </p:spPr>
        <p:txBody>
          <a:bodyPr wrap="square" lIns="0" tIns="0" rIns="0" bIns="0" rtlCol="0" anchor="ctr"/>
          <a:lstStyle/>
          <a:p>
            <a:pPr indent="0" marL="0">
              <a:buNone/>
            </a:pPr>
            <a:r>
              <a:rPr lang="en-US" sz="1200" b="1" dirty="0">
                <a:solidFill>
                  <a:srgbClr val="465A69"/>
                </a:solidFill>
                <a:latin typeface="Calibri" pitchFamily="34" charset="0"/>
                <a:ea typeface="Calibri" pitchFamily="34" charset="-122"/>
                <a:cs typeface="Calibri" pitchFamily="34" charset="-120"/>
              </a:rPr>
              <a:t>Acronyms:  </a:t>
            </a:r>
            <a:pPr indent="0" marL="0">
              <a:buNone/>
            </a:pPr>
            <a:r>
              <a:rPr lang="en-US" sz="1200" dirty="0">
                <a:solidFill>
                  <a:srgbClr val="465A69"/>
                </a:solidFill>
                <a:latin typeface="Calibri" pitchFamily="34" charset="0"/>
                <a:ea typeface="Calibri" pitchFamily="34" charset="-122"/>
                <a:cs typeface="Calibri" pitchFamily="34" charset="-120"/>
              </a:rPr>
              <a:t>T+: time since the first signal;  Q3: third quarter</a:t>
            </a:r>
            <a:endParaRPr lang="en-US" sz="1200" dirty="0"/>
          </a:p>
        </p:txBody>
      </p:sp>
      <p:sp>
        <p:nvSpPr>
          <p:cNvPr id="52" name="Shape 49"/>
          <p:cNvSpPr/>
          <p:nvPr/>
        </p:nvSpPr>
        <p:spPr>
          <a:xfrm>
            <a:off x="548640" y="6537960"/>
            <a:ext cx="763524" cy="274320"/>
          </a:xfrm>
          <a:prstGeom prst="roundRect">
            <a:avLst>
              <a:gd name="adj" fmla="val 50000"/>
            </a:avLst>
          </a:prstGeom>
          <a:solidFill>
            <a:srgbClr val="E4ECF2"/>
          </a:solidFill>
          <a:ln w="12700">
            <a:solidFill>
              <a:srgbClr val="E4ECF2"/>
            </a:solidFill>
            <a:prstDash val="solid"/>
          </a:ln>
        </p:spPr>
      </p:sp>
      <p:sp>
        <p:nvSpPr>
          <p:cNvPr id="53" name="Text 50"/>
          <p:cNvSpPr txBox="1"/>
          <p:nvPr/>
        </p:nvSpPr>
        <p:spPr>
          <a:xfrm>
            <a:off x="548640" y="6537960"/>
            <a:ext cx="763524" cy="274320"/>
          </a:xfrm>
          <a:prstGeom prst="rect">
            <a:avLst/>
          </a:prstGeom>
          <a:noFill/>
          <a:ln/>
        </p:spPr>
        <p:txBody>
          <a:bodyPr wrap="square" lIns="0" tIns="0" rIns="0" bIns="0" rtlCol="0" anchor="ctr"/>
          <a:lstStyle/>
          <a:p>
            <a:pPr algn="ctr" indent="0" marL="0">
              <a:buNone/>
            </a:pPr>
            <a:r>
              <a:rPr lang="en-US" sz="1200" b="1" dirty="0">
                <a:solidFill>
                  <a:srgbClr val="23405A"/>
                </a:solidFill>
                <a:latin typeface="Calibri" pitchFamily="34" charset="0"/>
                <a:ea typeface="Calibri" pitchFamily="34" charset="-122"/>
                <a:cs typeface="Calibri" pitchFamily="34" charset="-120"/>
              </a:rPr>
              <a:t>Start</a:t>
            </a:r>
            <a:endParaRPr lang="en-US" sz="1200" dirty="0"/>
          </a:p>
        </p:txBody>
      </p:sp>
      <p:pic>
        <p:nvPicPr>
          <p:cNvPr id="54" name="Image 1" descr="preencoded.png">
            <a:hlinkClick r:id="rId3" tooltip="Go to Start" action="ppaction://hlinksldjump"/>
          </p:cNvPr>
          <p:cNvPicPr>
            <a:picLocks noChangeAspect="1"/>
          </p:cNvPicPr>
          <p:nvPr/>
        </p:nvPicPr>
        <p:blipFill>
          <a:blip r:embed="rId2"/>
          <a:stretch>
            <a:fillRect/>
          </a:stretch>
        </p:blipFill>
        <p:spPr>
          <a:xfrm>
            <a:off x="548640" y="6537960"/>
            <a:ext cx="763524" cy="274320"/>
          </a:xfrm>
          <a:prstGeom prst="rect">
            <a:avLst/>
          </a:prstGeom>
        </p:spPr>
      </p:pic>
      <p:sp>
        <p:nvSpPr>
          <p:cNvPr id="55" name="Shape 51"/>
          <p:cNvSpPr/>
          <p:nvPr/>
        </p:nvSpPr>
        <p:spPr>
          <a:xfrm>
            <a:off x="1385316" y="6537960"/>
            <a:ext cx="1197864" cy="274320"/>
          </a:xfrm>
          <a:prstGeom prst="roundRect">
            <a:avLst>
              <a:gd name="adj" fmla="val 50000"/>
            </a:avLst>
          </a:prstGeom>
          <a:solidFill>
            <a:srgbClr val="3F6E8C"/>
          </a:solidFill>
          <a:ln w="12700">
            <a:solidFill>
              <a:srgbClr val="3F6E8C"/>
            </a:solidFill>
            <a:prstDash val="solid"/>
          </a:ln>
        </p:spPr>
      </p:sp>
      <p:sp>
        <p:nvSpPr>
          <p:cNvPr id="56" name="Text 52"/>
          <p:cNvSpPr txBox="1"/>
          <p:nvPr/>
        </p:nvSpPr>
        <p:spPr>
          <a:xfrm>
            <a:off x="1385316" y="6537960"/>
            <a:ext cx="1197864"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Scenario 1</a:t>
            </a:r>
            <a:endParaRPr lang="en-US" sz="1200" dirty="0"/>
          </a:p>
        </p:txBody>
      </p:sp>
      <p:pic>
        <p:nvPicPr>
          <p:cNvPr id="57" name="Image 2" descr="preencoded.png">
            <a:hlinkClick r:id="rId5" tooltip="Go to Scenario 1" action="ppaction://hlinksldjump"/>
          </p:cNvPr>
          <p:cNvPicPr>
            <a:picLocks noChangeAspect="1"/>
          </p:cNvPicPr>
          <p:nvPr/>
        </p:nvPicPr>
        <p:blipFill>
          <a:blip r:embed="rId4"/>
          <a:stretch>
            <a:fillRect/>
          </a:stretch>
        </p:blipFill>
        <p:spPr>
          <a:xfrm>
            <a:off x="1385316" y="6537960"/>
            <a:ext cx="1197864" cy="274320"/>
          </a:xfrm>
          <a:prstGeom prst="rect">
            <a:avLst/>
          </a:prstGeom>
        </p:spPr>
      </p:pic>
      <p:sp>
        <p:nvSpPr>
          <p:cNvPr id="58" name="Shape 53"/>
          <p:cNvSpPr/>
          <p:nvPr/>
        </p:nvSpPr>
        <p:spPr>
          <a:xfrm>
            <a:off x="2656332" y="6537960"/>
            <a:ext cx="1197864" cy="274320"/>
          </a:xfrm>
          <a:prstGeom prst="roundRect">
            <a:avLst>
              <a:gd name="adj" fmla="val 50000"/>
            </a:avLst>
          </a:prstGeom>
          <a:solidFill>
            <a:srgbClr val="F1F8F3"/>
          </a:solidFill>
          <a:ln w="12700">
            <a:solidFill>
              <a:srgbClr val="F1F8F3"/>
            </a:solidFill>
            <a:prstDash val="solid"/>
          </a:ln>
        </p:spPr>
      </p:sp>
      <p:sp>
        <p:nvSpPr>
          <p:cNvPr id="59" name="Text 54"/>
          <p:cNvSpPr txBox="1"/>
          <p:nvPr/>
        </p:nvSpPr>
        <p:spPr>
          <a:xfrm>
            <a:off x="2656332" y="6537960"/>
            <a:ext cx="1197864" cy="274320"/>
          </a:xfrm>
          <a:prstGeom prst="rect">
            <a:avLst/>
          </a:prstGeom>
          <a:noFill/>
          <a:ln/>
        </p:spPr>
        <p:txBody>
          <a:bodyPr wrap="square" lIns="0" tIns="0" rIns="0" bIns="0" rtlCol="0" anchor="ctr"/>
          <a:lstStyle/>
          <a:p>
            <a:pPr algn="ctr" indent="0" marL="0">
              <a:buNone/>
            </a:pPr>
            <a:r>
              <a:rPr lang="en-US" sz="1200" b="1" dirty="0">
                <a:solidFill>
                  <a:srgbClr val="4C8068"/>
                </a:solidFill>
                <a:latin typeface="Calibri" pitchFamily="34" charset="0"/>
                <a:ea typeface="Calibri" pitchFamily="34" charset="-122"/>
                <a:cs typeface="Calibri" pitchFamily="34" charset="-120"/>
              </a:rPr>
              <a:t>Scenario 2</a:t>
            </a:r>
            <a:endParaRPr lang="en-US" sz="1200" dirty="0"/>
          </a:p>
        </p:txBody>
      </p:sp>
      <p:pic>
        <p:nvPicPr>
          <p:cNvPr id="60" name="Image 3" descr="preencoded.png">
            <a:hlinkClick r:id="rId7" tooltip="Go to Scenario 2" action="ppaction://hlinksldjump"/>
          </p:cNvPr>
          <p:cNvPicPr>
            <a:picLocks noChangeAspect="1"/>
          </p:cNvPicPr>
          <p:nvPr/>
        </p:nvPicPr>
        <p:blipFill>
          <a:blip r:embed="rId6"/>
          <a:stretch>
            <a:fillRect/>
          </a:stretch>
        </p:blipFill>
        <p:spPr>
          <a:xfrm>
            <a:off x="2656332" y="6537960"/>
            <a:ext cx="1197864" cy="274320"/>
          </a:xfrm>
          <a:prstGeom prst="rect">
            <a:avLst/>
          </a:prstGeom>
        </p:spPr>
      </p:pic>
      <p:sp>
        <p:nvSpPr>
          <p:cNvPr id="61" name="Shape 55"/>
          <p:cNvSpPr/>
          <p:nvPr/>
        </p:nvSpPr>
        <p:spPr>
          <a:xfrm>
            <a:off x="3927348" y="6537960"/>
            <a:ext cx="1197864" cy="274320"/>
          </a:xfrm>
          <a:prstGeom prst="roundRect">
            <a:avLst>
              <a:gd name="adj" fmla="val 50000"/>
            </a:avLst>
          </a:prstGeom>
          <a:solidFill>
            <a:srgbClr val="F6F3FA"/>
          </a:solidFill>
          <a:ln w="12700">
            <a:solidFill>
              <a:srgbClr val="F6F3FA"/>
            </a:solidFill>
            <a:prstDash val="solid"/>
          </a:ln>
        </p:spPr>
      </p:sp>
      <p:sp>
        <p:nvSpPr>
          <p:cNvPr id="62" name="Text 56"/>
          <p:cNvSpPr txBox="1"/>
          <p:nvPr/>
        </p:nvSpPr>
        <p:spPr>
          <a:xfrm>
            <a:off x="3927348" y="6537960"/>
            <a:ext cx="1197864" cy="274320"/>
          </a:xfrm>
          <a:prstGeom prst="rect">
            <a:avLst/>
          </a:prstGeom>
          <a:noFill/>
          <a:ln/>
        </p:spPr>
        <p:txBody>
          <a:bodyPr wrap="square" lIns="0" tIns="0" rIns="0" bIns="0" rtlCol="0" anchor="ctr"/>
          <a:lstStyle/>
          <a:p>
            <a:pPr algn="ctr" indent="0" marL="0">
              <a:buNone/>
            </a:pPr>
            <a:r>
              <a:rPr lang="en-US" sz="1200" b="1" dirty="0">
                <a:solidFill>
                  <a:srgbClr val="6E5E94"/>
                </a:solidFill>
                <a:latin typeface="Calibri" pitchFamily="34" charset="0"/>
                <a:ea typeface="Calibri" pitchFamily="34" charset="-122"/>
                <a:cs typeface="Calibri" pitchFamily="34" charset="-120"/>
              </a:rPr>
              <a:t>Scenario 3</a:t>
            </a:r>
            <a:endParaRPr lang="en-US" sz="1200" dirty="0"/>
          </a:p>
        </p:txBody>
      </p:sp>
      <p:pic>
        <p:nvPicPr>
          <p:cNvPr id="63" name="Image 4" descr="preencoded.png">
            <a:hlinkClick r:id="rId9" tooltip="Go to Scenario 3" action="ppaction://hlinksldjump"/>
          </p:cNvPr>
          <p:cNvPicPr>
            <a:picLocks noChangeAspect="1"/>
          </p:cNvPicPr>
          <p:nvPr/>
        </p:nvPicPr>
        <p:blipFill>
          <a:blip r:embed="rId8"/>
          <a:stretch>
            <a:fillRect/>
          </a:stretch>
        </p:blipFill>
        <p:spPr>
          <a:xfrm>
            <a:off x="3927348" y="6537960"/>
            <a:ext cx="1197864" cy="274320"/>
          </a:xfrm>
          <a:prstGeom prst="rect">
            <a:avLst/>
          </a:prstGeom>
        </p:spPr>
      </p:pic>
      <p:sp>
        <p:nvSpPr>
          <p:cNvPr id="64" name="Shape 57"/>
          <p:cNvSpPr/>
          <p:nvPr/>
        </p:nvSpPr>
        <p:spPr>
          <a:xfrm>
            <a:off x="5198364" y="6537960"/>
            <a:ext cx="937260" cy="274320"/>
          </a:xfrm>
          <a:prstGeom prst="roundRect">
            <a:avLst>
              <a:gd name="adj" fmla="val 50000"/>
            </a:avLst>
          </a:prstGeom>
          <a:solidFill>
            <a:srgbClr val="E4ECF2"/>
          </a:solidFill>
          <a:ln w="12700">
            <a:solidFill>
              <a:srgbClr val="E4ECF2"/>
            </a:solidFill>
            <a:prstDash val="solid"/>
          </a:ln>
        </p:spPr>
      </p:sp>
      <p:sp>
        <p:nvSpPr>
          <p:cNvPr id="65" name="Text 58"/>
          <p:cNvSpPr txBox="1"/>
          <p:nvPr/>
        </p:nvSpPr>
        <p:spPr>
          <a:xfrm>
            <a:off x="5198364" y="6537960"/>
            <a:ext cx="937260" cy="274320"/>
          </a:xfrm>
          <a:prstGeom prst="rect">
            <a:avLst/>
          </a:prstGeom>
          <a:noFill/>
          <a:ln/>
        </p:spPr>
        <p:txBody>
          <a:bodyPr wrap="square" lIns="0" tIns="0" rIns="0" bIns="0" rtlCol="0" anchor="ctr"/>
          <a:lstStyle/>
          <a:p>
            <a:pPr algn="ctr" indent="0" marL="0">
              <a:buNone/>
            </a:pPr>
            <a:r>
              <a:rPr lang="en-US" sz="1200" b="1" dirty="0">
                <a:solidFill>
                  <a:srgbClr val="23405A"/>
                </a:solidFill>
                <a:latin typeface="Calibri" pitchFamily="34" charset="0"/>
                <a:ea typeface="Calibri" pitchFamily="34" charset="-122"/>
                <a:cs typeface="Calibri" pitchFamily="34" charset="-120"/>
              </a:rPr>
              <a:t>Closing</a:t>
            </a:r>
            <a:endParaRPr lang="en-US" sz="1200" dirty="0"/>
          </a:p>
        </p:txBody>
      </p:sp>
      <p:pic>
        <p:nvPicPr>
          <p:cNvPr id="66" name="Image 5" descr="preencoded.png">
            <a:hlinkClick r:id="rId11" tooltip="Go to Closing" action="ppaction://hlinksldjump"/>
          </p:cNvPr>
          <p:cNvPicPr>
            <a:picLocks noChangeAspect="1"/>
          </p:cNvPicPr>
          <p:nvPr/>
        </p:nvPicPr>
        <p:blipFill>
          <a:blip r:embed="rId10"/>
          <a:stretch>
            <a:fillRect/>
          </a:stretch>
        </p:blipFill>
        <p:spPr>
          <a:xfrm>
            <a:off x="5198364" y="6537960"/>
            <a:ext cx="937260" cy="274320"/>
          </a:xfrm>
          <a:prstGeom prst="rect">
            <a:avLst/>
          </a:prstGeom>
        </p:spPr>
      </p:pic>
      <p:sp>
        <p:nvSpPr>
          <p:cNvPr id="67" name="Text 59"/>
          <p:cNvSpPr txBox="1"/>
          <p:nvPr/>
        </p:nvSpPr>
        <p:spPr>
          <a:xfrm>
            <a:off x="11277295" y="6537960"/>
            <a:ext cx="365760" cy="274320"/>
          </a:xfrm>
          <a:prstGeom prst="rect">
            <a:avLst/>
          </a:prstGeom>
          <a:noFill/>
          <a:ln/>
        </p:spPr>
        <p:txBody>
          <a:bodyPr wrap="square" lIns="0" tIns="0" rIns="0" bIns="0" rtlCol="0" anchor="ctr"/>
          <a:lstStyle/>
          <a:p>
            <a:pPr algn="r" indent="0" marL="0">
              <a:buNone/>
            </a:pPr>
            <a:r>
              <a:rPr lang="en-US" sz="1200" dirty="0">
                <a:solidFill>
                  <a:srgbClr val="465A69"/>
                </a:solidFill>
                <a:latin typeface="Calibri" pitchFamily="34" charset="0"/>
                <a:ea typeface="Calibri" pitchFamily="34" charset="-122"/>
                <a:cs typeface="Calibri"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6EEF6"/>
        </a:solidFill>
      </p:bgPr>
    </p:bg>
    <p:spTree>
      <p:nvGrpSpPr>
        <p:cNvPr id="1" name=""/>
        <p:cNvGrpSpPr/>
        <p:nvPr/>
      </p:nvGrpSpPr>
      <p:grpSpPr>
        <a:xfrm>
          <a:off x="0" y="0"/>
          <a:ext cx="0" cy="0"/>
          <a:chOff x="0" y="0"/>
          <a:chExt cx="0" cy="0"/>
        </a:xfrm>
      </p:grpSpPr>
      <p:sp>
        <p:nvSpPr>
          <p:cNvPr id="2" name="Shape 0"/>
          <p:cNvSpPr/>
          <p:nvPr/>
        </p:nvSpPr>
        <p:spPr>
          <a:xfrm>
            <a:off x="548640" y="347472"/>
            <a:ext cx="2843784" cy="329184"/>
          </a:xfrm>
          <a:prstGeom prst="roundRect">
            <a:avLst>
              <a:gd name="adj" fmla="val 50000"/>
            </a:avLst>
          </a:prstGeom>
          <a:solidFill>
            <a:srgbClr val="F1F6FA"/>
          </a:solidFill>
          <a:ln w="12700">
            <a:solidFill>
              <a:srgbClr val="F1F6FA"/>
            </a:solidFill>
            <a:prstDash val="solid"/>
          </a:ln>
        </p:spPr>
      </p:sp>
      <p:sp>
        <p:nvSpPr>
          <p:cNvPr id="3" name="Text 1"/>
          <p:cNvSpPr txBox="1"/>
          <p:nvPr/>
        </p:nvSpPr>
        <p:spPr>
          <a:xfrm>
            <a:off x="548640" y="347472"/>
            <a:ext cx="2843784" cy="329184"/>
          </a:xfrm>
          <a:prstGeom prst="rect">
            <a:avLst/>
          </a:prstGeom>
          <a:noFill/>
          <a:ln/>
        </p:spPr>
        <p:txBody>
          <a:bodyPr wrap="square" lIns="0" tIns="0" rIns="0" bIns="0" rtlCol="0" anchor="ctr"/>
          <a:lstStyle/>
          <a:p>
            <a:pPr algn="ctr" indent="0" marL="0">
              <a:buNone/>
            </a:pPr>
            <a:r>
              <a:rPr lang="en-US" sz="1200" b="1" dirty="0">
                <a:solidFill>
                  <a:srgbClr val="3F6E8C"/>
                </a:solidFill>
                <a:latin typeface="Calibri" pitchFamily="34" charset="0"/>
                <a:ea typeface="Calibri" pitchFamily="34" charset="-122"/>
                <a:cs typeface="Calibri" pitchFamily="34" charset="-120"/>
              </a:rPr>
              <a:t>Scenario 1: Incident Response</a:t>
            </a:r>
            <a:endParaRPr lang="en-US" sz="1200" dirty="0"/>
          </a:p>
        </p:txBody>
      </p:sp>
      <p:sp>
        <p:nvSpPr>
          <p:cNvPr id="4" name="Text 2"/>
          <p:cNvSpPr txBox="1"/>
          <p:nvPr/>
        </p:nvSpPr>
        <p:spPr>
          <a:xfrm>
            <a:off x="548640" y="749808"/>
            <a:ext cx="11064240" cy="640080"/>
          </a:xfrm>
          <a:prstGeom prst="rect">
            <a:avLst/>
          </a:prstGeom>
          <a:noFill/>
          <a:ln/>
        </p:spPr>
        <p:txBody>
          <a:bodyPr wrap="square" lIns="0" tIns="0" rIns="0" bIns="0" rtlCol="0" anchor="ctr"/>
          <a:lstStyle/>
          <a:p>
            <a:pPr indent="0" marL="0">
              <a:buNone/>
            </a:pPr>
            <a:r>
              <a:rPr lang="en-US" sz="2800" b="1" dirty="0">
                <a:solidFill>
                  <a:srgbClr val="23405A"/>
                </a:solidFill>
                <a:latin typeface="Calibri" pitchFamily="34" charset="0"/>
                <a:ea typeface="Calibri" pitchFamily="34" charset="-122"/>
                <a:cs typeface="Calibri" pitchFamily="34" charset="-120"/>
              </a:rPr>
              <a:t>Decide: what would you actually do?</a:t>
            </a:r>
            <a:endParaRPr lang="en-US" sz="2800" dirty="0"/>
          </a:p>
        </p:txBody>
      </p:sp>
      <p:sp>
        <p:nvSpPr>
          <p:cNvPr id="5" name="Shape 3"/>
          <p:cNvSpPr/>
          <p:nvPr/>
        </p:nvSpPr>
        <p:spPr>
          <a:xfrm>
            <a:off x="10705795" y="347472"/>
            <a:ext cx="937260" cy="329184"/>
          </a:xfrm>
          <a:prstGeom prst="roundRect">
            <a:avLst>
              <a:gd name="adj" fmla="val 50000"/>
            </a:avLst>
          </a:prstGeom>
          <a:solidFill>
            <a:srgbClr val="FFFFFF"/>
          </a:solidFill>
          <a:ln w="12700">
            <a:solidFill>
              <a:srgbClr val="FFFFFF"/>
            </a:solidFill>
            <a:prstDash val="solid"/>
          </a:ln>
        </p:spPr>
      </p:sp>
      <p:sp>
        <p:nvSpPr>
          <p:cNvPr id="6" name="Text 4"/>
          <p:cNvSpPr txBox="1"/>
          <p:nvPr/>
        </p:nvSpPr>
        <p:spPr>
          <a:xfrm>
            <a:off x="10705795" y="347472"/>
            <a:ext cx="937260" cy="329184"/>
          </a:xfrm>
          <a:prstGeom prst="rect">
            <a:avLst/>
          </a:prstGeom>
          <a:noFill/>
          <a:ln/>
        </p:spPr>
        <p:txBody>
          <a:bodyPr wrap="square" lIns="0" tIns="0" rIns="0" bIns="0" rtlCol="0" anchor="ctr"/>
          <a:lstStyle/>
          <a:p>
            <a:pPr algn="ctr" indent="0" marL="0">
              <a:buNone/>
            </a:pPr>
            <a:r>
              <a:rPr lang="en-US" sz="1200" dirty="0">
                <a:solidFill>
                  <a:srgbClr val="465A69"/>
                </a:solidFill>
                <a:latin typeface="Calibri" pitchFamily="34" charset="0"/>
                <a:ea typeface="Calibri" pitchFamily="34" charset="-122"/>
                <a:cs typeface="Calibri" pitchFamily="34" charset="-120"/>
              </a:rPr>
              <a:t>Hotwash</a:t>
            </a:r>
            <a:endParaRPr lang="en-US" sz="1200" dirty="0"/>
          </a:p>
        </p:txBody>
      </p:sp>
      <p:sp>
        <p:nvSpPr>
          <p:cNvPr id="7" name="Shape 5"/>
          <p:cNvSpPr/>
          <p:nvPr/>
        </p:nvSpPr>
        <p:spPr>
          <a:xfrm>
            <a:off x="9608515" y="347472"/>
            <a:ext cx="1024128" cy="329184"/>
          </a:xfrm>
          <a:prstGeom prst="roundRect">
            <a:avLst>
              <a:gd name="adj" fmla="val 50000"/>
            </a:avLst>
          </a:prstGeom>
          <a:solidFill>
            <a:srgbClr val="FFFFFF"/>
          </a:solidFill>
          <a:ln w="12700">
            <a:solidFill>
              <a:srgbClr val="FFFFFF"/>
            </a:solidFill>
            <a:prstDash val="solid"/>
          </a:ln>
        </p:spPr>
      </p:sp>
      <p:sp>
        <p:nvSpPr>
          <p:cNvPr id="8" name="Text 6"/>
          <p:cNvSpPr txBox="1"/>
          <p:nvPr/>
        </p:nvSpPr>
        <p:spPr>
          <a:xfrm>
            <a:off x="9608515" y="347472"/>
            <a:ext cx="1024128" cy="329184"/>
          </a:xfrm>
          <a:prstGeom prst="rect">
            <a:avLst/>
          </a:prstGeom>
          <a:noFill/>
          <a:ln/>
        </p:spPr>
        <p:txBody>
          <a:bodyPr wrap="square" lIns="0" tIns="0" rIns="0" bIns="0" rtlCol="0" anchor="ctr"/>
          <a:lstStyle/>
          <a:p>
            <a:pPr algn="ctr" indent="0" marL="0">
              <a:buNone/>
            </a:pPr>
            <a:r>
              <a:rPr lang="en-US" sz="1200" dirty="0">
                <a:solidFill>
                  <a:srgbClr val="465A69"/>
                </a:solidFill>
                <a:latin typeface="Calibri" pitchFamily="34" charset="0"/>
                <a:ea typeface="Calibri" pitchFamily="34" charset="-122"/>
                <a:cs typeface="Calibri" pitchFamily="34" charset="-120"/>
              </a:rPr>
              <a:t>Recovery</a:t>
            </a:r>
            <a:endParaRPr lang="en-US" sz="1200" dirty="0"/>
          </a:p>
        </p:txBody>
      </p:sp>
      <p:sp>
        <p:nvSpPr>
          <p:cNvPr id="9" name="Shape 7"/>
          <p:cNvSpPr/>
          <p:nvPr/>
        </p:nvSpPr>
        <p:spPr>
          <a:xfrm>
            <a:off x="8598103" y="347472"/>
            <a:ext cx="937260" cy="329184"/>
          </a:xfrm>
          <a:prstGeom prst="roundRect">
            <a:avLst>
              <a:gd name="adj" fmla="val 50000"/>
            </a:avLst>
          </a:prstGeom>
          <a:solidFill>
            <a:srgbClr val="FFFFFF"/>
          </a:solidFill>
          <a:ln w="12700">
            <a:solidFill>
              <a:srgbClr val="FFFFFF"/>
            </a:solidFill>
            <a:prstDash val="solid"/>
          </a:ln>
        </p:spPr>
      </p:sp>
      <p:sp>
        <p:nvSpPr>
          <p:cNvPr id="10" name="Text 8"/>
          <p:cNvSpPr txBox="1"/>
          <p:nvPr/>
        </p:nvSpPr>
        <p:spPr>
          <a:xfrm>
            <a:off x="8598103" y="347472"/>
            <a:ext cx="937260" cy="329184"/>
          </a:xfrm>
          <a:prstGeom prst="rect">
            <a:avLst/>
          </a:prstGeom>
          <a:noFill/>
          <a:ln/>
        </p:spPr>
        <p:txBody>
          <a:bodyPr wrap="square" lIns="0" tIns="0" rIns="0" bIns="0" rtlCol="0" anchor="ctr"/>
          <a:lstStyle/>
          <a:p>
            <a:pPr algn="ctr" indent="0" marL="0">
              <a:buNone/>
            </a:pPr>
            <a:r>
              <a:rPr lang="en-US" sz="1200" dirty="0">
                <a:solidFill>
                  <a:srgbClr val="465A69"/>
                </a:solidFill>
                <a:latin typeface="Calibri" pitchFamily="34" charset="0"/>
                <a:ea typeface="Calibri" pitchFamily="34" charset="-122"/>
                <a:cs typeface="Calibri" pitchFamily="34" charset="-120"/>
              </a:rPr>
              <a:t>Injects</a:t>
            </a:r>
            <a:endParaRPr lang="en-US" sz="1200" dirty="0"/>
          </a:p>
        </p:txBody>
      </p:sp>
      <p:sp>
        <p:nvSpPr>
          <p:cNvPr id="11" name="Shape 9"/>
          <p:cNvSpPr/>
          <p:nvPr/>
        </p:nvSpPr>
        <p:spPr>
          <a:xfrm>
            <a:off x="7674559" y="347472"/>
            <a:ext cx="850392" cy="329184"/>
          </a:xfrm>
          <a:prstGeom prst="roundRect">
            <a:avLst>
              <a:gd name="adj" fmla="val 50000"/>
            </a:avLst>
          </a:prstGeom>
          <a:solidFill>
            <a:srgbClr val="3F6E8C"/>
          </a:solidFill>
          <a:ln w="12700">
            <a:solidFill>
              <a:srgbClr val="3F6E8C"/>
            </a:solidFill>
            <a:prstDash val="solid"/>
          </a:ln>
        </p:spPr>
      </p:sp>
      <p:sp>
        <p:nvSpPr>
          <p:cNvPr id="12" name="Text 10"/>
          <p:cNvSpPr txBox="1"/>
          <p:nvPr/>
        </p:nvSpPr>
        <p:spPr>
          <a:xfrm>
            <a:off x="7674559" y="347472"/>
            <a:ext cx="850392"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Decide</a:t>
            </a:r>
            <a:endParaRPr lang="en-US" sz="1200" dirty="0"/>
          </a:p>
        </p:txBody>
      </p:sp>
      <p:sp>
        <p:nvSpPr>
          <p:cNvPr id="13" name="Shape 11"/>
          <p:cNvSpPr/>
          <p:nvPr/>
        </p:nvSpPr>
        <p:spPr>
          <a:xfrm>
            <a:off x="7011619" y="347472"/>
            <a:ext cx="589788" cy="329184"/>
          </a:xfrm>
          <a:prstGeom prst="roundRect">
            <a:avLst>
              <a:gd name="adj" fmla="val 50000"/>
            </a:avLst>
          </a:prstGeom>
          <a:solidFill>
            <a:srgbClr val="F1F6FA"/>
          </a:solidFill>
          <a:ln w="12700">
            <a:solidFill>
              <a:srgbClr val="F1F6FA"/>
            </a:solidFill>
            <a:prstDash val="solid"/>
          </a:ln>
        </p:spPr>
      </p:sp>
      <p:sp>
        <p:nvSpPr>
          <p:cNvPr id="14" name="Text 12"/>
          <p:cNvSpPr txBox="1"/>
          <p:nvPr/>
        </p:nvSpPr>
        <p:spPr>
          <a:xfrm>
            <a:off x="7011619" y="347472"/>
            <a:ext cx="589788" cy="329184"/>
          </a:xfrm>
          <a:prstGeom prst="rect">
            <a:avLst/>
          </a:prstGeom>
          <a:noFill/>
          <a:ln/>
        </p:spPr>
        <p:txBody>
          <a:bodyPr wrap="square" lIns="0" tIns="0" rIns="0" bIns="0" rtlCol="0" anchor="ctr"/>
          <a:lstStyle/>
          <a:p>
            <a:pPr algn="ctr" indent="0" marL="0">
              <a:buNone/>
            </a:pPr>
            <a:r>
              <a:rPr lang="en-US" sz="1200" dirty="0">
                <a:solidFill>
                  <a:srgbClr val="3F6E8C"/>
                </a:solidFill>
                <a:latin typeface="Calibri" pitchFamily="34" charset="0"/>
                <a:ea typeface="Calibri" pitchFamily="34" charset="-122"/>
                <a:cs typeface="Calibri" pitchFamily="34" charset="-120"/>
              </a:rPr>
              <a:t>T+0</a:t>
            </a:r>
            <a:endParaRPr lang="en-US" sz="1200" dirty="0"/>
          </a:p>
        </p:txBody>
      </p:sp>
      <p:sp>
        <p:nvSpPr>
          <p:cNvPr id="15" name="Shape 13"/>
          <p:cNvSpPr/>
          <p:nvPr/>
        </p:nvSpPr>
        <p:spPr>
          <a:xfrm>
            <a:off x="5740603" y="347472"/>
            <a:ext cx="1197864" cy="329184"/>
          </a:xfrm>
          <a:prstGeom prst="roundRect">
            <a:avLst>
              <a:gd name="adj" fmla="val 50000"/>
            </a:avLst>
          </a:prstGeom>
          <a:solidFill>
            <a:srgbClr val="F1F6FA"/>
          </a:solidFill>
          <a:ln w="12700">
            <a:solidFill>
              <a:srgbClr val="F1F6FA"/>
            </a:solidFill>
            <a:prstDash val="solid"/>
          </a:ln>
        </p:spPr>
      </p:sp>
      <p:sp>
        <p:nvSpPr>
          <p:cNvPr id="16" name="Text 14"/>
          <p:cNvSpPr txBox="1"/>
          <p:nvPr/>
        </p:nvSpPr>
        <p:spPr>
          <a:xfrm>
            <a:off x="5740603" y="347472"/>
            <a:ext cx="1197864" cy="329184"/>
          </a:xfrm>
          <a:prstGeom prst="rect">
            <a:avLst/>
          </a:prstGeom>
          <a:noFill/>
          <a:ln/>
        </p:spPr>
        <p:txBody>
          <a:bodyPr wrap="square" lIns="0" tIns="0" rIns="0" bIns="0" rtlCol="0" anchor="ctr"/>
          <a:lstStyle/>
          <a:p>
            <a:pPr algn="ctr" indent="0" marL="0">
              <a:buNone/>
            </a:pPr>
            <a:r>
              <a:rPr lang="en-US" sz="1200" dirty="0">
                <a:solidFill>
                  <a:srgbClr val="3F6E8C"/>
                </a:solidFill>
                <a:latin typeface="Calibri" pitchFamily="34" charset="0"/>
                <a:ea typeface="Calibri" pitchFamily="34" charset="-122"/>
                <a:cs typeface="Calibri" pitchFamily="34" charset="-120"/>
              </a:rPr>
              <a:t>Background</a:t>
            </a:r>
            <a:endParaRPr lang="en-US" sz="1200" dirty="0"/>
          </a:p>
        </p:txBody>
      </p:sp>
      <p:sp>
        <p:nvSpPr>
          <p:cNvPr id="17" name="Shape 15"/>
          <p:cNvSpPr/>
          <p:nvPr/>
        </p:nvSpPr>
        <p:spPr>
          <a:xfrm>
            <a:off x="548640" y="1600200"/>
            <a:ext cx="2377440" cy="4572000"/>
          </a:xfrm>
          <a:prstGeom prst="roundRect">
            <a:avLst>
              <a:gd name="adj" fmla="val 5385"/>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18" name="Text 16"/>
          <p:cNvSpPr txBox="1"/>
          <p:nvPr/>
        </p:nvSpPr>
        <p:spPr>
          <a:xfrm>
            <a:off x="822960" y="1783080"/>
            <a:ext cx="1874520" cy="320040"/>
          </a:xfrm>
          <a:prstGeom prst="rect">
            <a:avLst/>
          </a:prstGeom>
          <a:noFill/>
          <a:ln/>
        </p:spPr>
        <p:txBody>
          <a:bodyPr wrap="square" lIns="0" tIns="0" rIns="0" bIns="0" rtlCol="0" anchor="t"/>
          <a:lstStyle/>
          <a:p>
            <a:pPr indent="0" marL="0">
              <a:buNone/>
            </a:pPr>
            <a:r>
              <a:rPr lang="en-US" sz="1400" b="1" dirty="0">
                <a:solidFill>
                  <a:srgbClr val="465A69"/>
                </a:solidFill>
                <a:latin typeface="Calibri" pitchFamily="34" charset="0"/>
                <a:ea typeface="Calibri" pitchFamily="34" charset="-122"/>
                <a:cs typeface="Calibri" pitchFamily="34" charset="-120"/>
              </a:rPr>
              <a:t>Timeline</a:t>
            </a:r>
            <a:endParaRPr lang="en-US" sz="1400" dirty="0"/>
          </a:p>
        </p:txBody>
      </p:sp>
      <p:sp>
        <p:nvSpPr>
          <p:cNvPr id="19" name="Shape 17"/>
          <p:cNvSpPr/>
          <p:nvPr/>
        </p:nvSpPr>
        <p:spPr>
          <a:xfrm>
            <a:off x="905256" y="2551176"/>
            <a:ext cx="0" cy="257338"/>
          </a:xfrm>
          <a:prstGeom prst="line">
            <a:avLst/>
          </a:prstGeom>
          <a:noFill/>
          <a:ln w="19050">
            <a:solidFill>
              <a:srgbClr val="C9D5D2"/>
            </a:solidFill>
            <a:prstDash val="solid"/>
          </a:ln>
        </p:spPr>
      </p:sp>
      <p:sp>
        <p:nvSpPr>
          <p:cNvPr id="20" name="Shape 18"/>
          <p:cNvSpPr/>
          <p:nvPr/>
        </p:nvSpPr>
        <p:spPr>
          <a:xfrm>
            <a:off x="777240" y="2267712"/>
            <a:ext cx="256032" cy="256032"/>
          </a:xfrm>
          <a:prstGeom prst="ellipse">
            <a:avLst/>
          </a:prstGeom>
          <a:solidFill>
            <a:srgbClr val="3F6E8C"/>
          </a:solidFill>
          <a:ln w="12700">
            <a:solidFill>
              <a:srgbClr val="3F6E8C"/>
            </a:solidFill>
            <a:prstDash val="solid"/>
          </a:ln>
        </p:spPr>
      </p:sp>
      <p:sp>
        <p:nvSpPr>
          <p:cNvPr id="21" name="Text 19"/>
          <p:cNvSpPr txBox="1"/>
          <p:nvPr/>
        </p:nvSpPr>
        <p:spPr>
          <a:xfrm>
            <a:off x="1188720" y="2203704"/>
            <a:ext cx="1645920" cy="568234"/>
          </a:xfrm>
          <a:prstGeom prst="rect">
            <a:avLst/>
          </a:prstGeom>
          <a:noFill/>
          <a:ln/>
        </p:spPr>
        <p:txBody>
          <a:bodyPr wrap="square" lIns="0" tIns="0" rIns="0" bIns="0" rtlCol="0" anchor="t"/>
          <a:lstStyle/>
          <a:p>
            <a:pPr indent="0" marL="0">
              <a:buNone/>
            </a:pPr>
            <a:r>
              <a:rPr lang="en-US" sz="1200" b="1" dirty="0">
                <a:solidFill>
                  <a:srgbClr val="3F6E8C"/>
                </a:solidFill>
                <a:latin typeface="Calibri" pitchFamily="34" charset="0"/>
                <a:ea typeface="Calibri" pitchFamily="34" charset="-122"/>
                <a:cs typeface="Calibri" pitchFamily="34" charset="-120"/>
              </a:rPr>
              <a:t>T+0</a:t>
            </a:r>
            <a:endParaRPr lang="en-US" sz="1200" dirty="0"/>
          </a:p>
          <a:p>
            <a:pPr indent="0" marL="0">
              <a:buNone/>
            </a:pPr>
            <a:r>
              <a:rPr lang="en-US" sz="1200" b="1" dirty="0">
                <a:solidFill>
                  <a:srgbClr val="3F6E8C"/>
                </a:solidFill>
                <a:latin typeface="Calibri" pitchFamily="34" charset="0"/>
                <a:ea typeface="Calibri" pitchFamily="34" charset="-122"/>
                <a:cs typeface="Calibri" pitchFamily="34" charset="-120"/>
              </a:rPr>
              <a:t>Initial signal</a:t>
            </a:r>
            <a:endParaRPr lang="en-US" sz="1200" dirty="0"/>
          </a:p>
        </p:txBody>
      </p:sp>
      <p:sp>
        <p:nvSpPr>
          <p:cNvPr id="22" name="Shape 20"/>
          <p:cNvSpPr/>
          <p:nvPr/>
        </p:nvSpPr>
        <p:spPr>
          <a:xfrm>
            <a:off x="905256" y="3119410"/>
            <a:ext cx="0" cy="257338"/>
          </a:xfrm>
          <a:prstGeom prst="line">
            <a:avLst/>
          </a:prstGeom>
          <a:noFill/>
          <a:ln w="19050">
            <a:solidFill>
              <a:srgbClr val="C9D5D2"/>
            </a:solidFill>
            <a:prstDash val="solid"/>
          </a:ln>
        </p:spPr>
      </p:sp>
      <p:sp>
        <p:nvSpPr>
          <p:cNvPr id="23" name="Shape 21"/>
          <p:cNvSpPr/>
          <p:nvPr/>
        </p:nvSpPr>
        <p:spPr>
          <a:xfrm>
            <a:off x="777240" y="2835946"/>
            <a:ext cx="256032" cy="256032"/>
          </a:xfrm>
          <a:prstGeom prst="ellipse">
            <a:avLst/>
          </a:prstGeom>
          <a:solidFill>
            <a:srgbClr val="FFFFFF"/>
          </a:solidFill>
          <a:ln w="15875">
            <a:solidFill>
              <a:srgbClr val="C9D5D2"/>
            </a:solidFill>
            <a:prstDash val="solid"/>
          </a:ln>
        </p:spPr>
      </p:sp>
      <p:sp>
        <p:nvSpPr>
          <p:cNvPr id="24" name="Shape 22"/>
          <p:cNvSpPr/>
          <p:nvPr/>
        </p:nvSpPr>
        <p:spPr>
          <a:xfrm>
            <a:off x="905256" y="3687645"/>
            <a:ext cx="0" cy="257338"/>
          </a:xfrm>
          <a:prstGeom prst="line">
            <a:avLst/>
          </a:prstGeom>
          <a:noFill/>
          <a:ln w="19050">
            <a:solidFill>
              <a:srgbClr val="C9D5D2"/>
            </a:solidFill>
            <a:prstDash val="solid"/>
          </a:ln>
        </p:spPr>
      </p:sp>
      <p:sp>
        <p:nvSpPr>
          <p:cNvPr id="25" name="Shape 23"/>
          <p:cNvSpPr/>
          <p:nvPr/>
        </p:nvSpPr>
        <p:spPr>
          <a:xfrm>
            <a:off x="777240" y="3404181"/>
            <a:ext cx="256032" cy="256032"/>
          </a:xfrm>
          <a:prstGeom prst="ellipse">
            <a:avLst/>
          </a:prstGeom>
          <a:solidFill>
            <a:srgbClr val="FFFFFF"/>
          </a:solidFill>
          <a:ln w="15875">
            <a:solidFill>
              <a:srgbClr val="C9D5D2"/>
            </a:solidFill>
            <a:prstDash val="solid"/>
          </a:ln>
        </p:spPr>
      </p:sp>
      <p:sp>
        <p:nvSpPr>
          <p:cNvPr id="26" name="Shape 24"/>
          <p:cNvSpPr/>
          <p:nvPr/>
        </p:nvSpPr>
        <p:spPr>
          <a:xfrm>
            <a:off x="905256" y="4255879"/>
            <a:ext cx="0" cy="257338"/>
          </a:xfrm>
          <a:prstGeom prst="line">
            <a:avLst/>
          </a:prstGeom>
          <a:noFill/>
          <a:ln w="19050">
            <a:solidFill>
              <a:srgbClr val="C9D5D2"/>
            </a:solidFill>
            <a:prstDash val="solid"/>
          </a:ln>
        </p:spPr>
      </p:sp>
      <p:sp>
        <p:nvSpPr>
          <p:cNvPr id="27" name="Shape 25"/>
          <p:cNvSpPr/>
          <p:nvPr/>
        </p:nvSpPr>
        <p:spPr>
          <a:xfrm>
            <a:off x="777240" y="3972415"/>
            <a:ext cx="256032" cy="256032"/>
          </a:xfrm>
          <a:prstGeom prst="ellipse">
            <a:avLst/>
          </a:prstGeom>
          <a:solidFill>
            <a:srgbClr val="FFFFFF"/>
          </a:solidFill>
          <a:ln w="15875">
            <a:solidFill>
              <a:srgbClr val="C9D5D2"/>
            </a:solidFill>
            <a:prstDash val="solid"/>
          </a:ln>
        </p:spPr>
      </p:sp>
      <p:sp>
        <p:nvSpPr>
          <p:cNvPr id="28" name="Shape 26"/>
          <p:cNvSpPr/>
          <p:nvPr/>
        </p:nvSpPr>
        <p:spPr>
          <a:xfrm>
            <a:off x="905256" y="4824113"/>
            <a:ext cx="0" cy="257338"/>
          </a:xfrm>
          <a:prstGeom prst="line">
            <a:avLst/>
          </a:prstGeom>
          <a:noFill/>
          <a:ln w="19050">
            <a:solidFill>
              <a:srgbClr val="C9D5D2"/>
            </a:solidFill>
            <a:prstDash val="solid"/>
          </a:ln>
        </p:spPr>
      </p:sp>
      <p:sp>
        <p:nvSpPr>
          <p:cNvPr id="29" name="Shape 27"/>
          <p:cNvSpPr/>
          <p:nvPr/>
        </p:nvSpPr>
        <p:spPr>
          <a:xfrm>
            <a:off x="777240" y="4540649"/>
            <a:ext cx="256032" cy="256032"/>
          </a:xfrm>
          <a:prstGeom prst="ellipse">
            <a:avLst/>
          </a:prstGeom>
          <a:solidFill>
            <a:srgbClr val="FFFFFF"/>
          </a:solidFill>
          <a:ln w="15875">
            <a:solidFill>
              <a:srgbClr val="C9D5D2"/>
            </a:solidFill>
            <a:prstDash val="solid"/>
          </a:ln>
        </p:spPr>
      </p:sp>
      <p:sp>
        <p:nvSpPr>
          <p:cNvPr id="30" name="Shape 28"/>
          <p:cNvSpPr/>
          <p:nvPr/>
        </p:nvSpPr>
        <p:spPr>
          <a:xfrm>
            <a:off x="905256" y="5392347"/>
            <a:ext cx="0" cy="257338"/>
          </a:xfrm>
          <a:prstGeom prst="line">
            <a:avLst/>
          </a:prstGeom>
          <a:noFill/>
          <a:ln w="19050">
            <a:solidFill>
              <a:srgbClr val="C9D5D2"/>
            </a:solidFill>
            <a:prstDash val="solid"/>
          </a:ln>
        </p:spPr>
      </p:sp>
      <p:sp>
        <p:nvSpPr>
          <p:cNvPr id="31" name="Shape 29"/>
          <p:cNvSpPr/>
          <p:nvPr/>
        </p:nvSpPr>
        <p:spPr>
          <a:xfrm>
            <a:off x="777240" y="5108883"/>
            <a:ext cx="256032" cy="256032"/>
          </a:xfrm>
          <a:prstGeom prst="ellipse">
            <a:avLst/>
          </a:prstGeom>
          <a:solidFill>
            <a:srgbClr val="FFFFFF"/>
          </a:solidFill>
          <a:ln w="15875">
            <a:solidFill>
              <a:srgbClr val="C9D5D2"/>
            </a:solidFill>
            <a:prstDash val="solid"/>
          </a:ln>
        </p:spPr>
      </p:sp>
      <p:sp>
        <p:nvSpPr>
          <p:cNvPr id="32" name="Shape 30"/>
          <p:cNvSpPr/>
          <p:nvPr/>
        </p:nvSpPr>
        <p:spPr>
          <a:xfrm>
            <a:off x="777240" y="5677118"/>
            <a:ext cx="256032" cy="256032"/>
          </a:xfrm>
          <a:prstGeom prst="ellipse">
            <a:avLst/>
          </a:prstGeom>
          <a:solidFill>
            <a:srgbClr val="FFFFFF"/>
          </a:solidFill>
          <a:ln w="15875">
            <a:solidFill>
              <a:srgbClr val="C9D5D2"/>
            </a:solidFill>
            <a:prstDash val="solid"/>
          </a:ln>
        </p:spPr>
      </p:sp>
      <p:sp>
        <p:nvSpPr>
          <p:cNvPr id="33" name="Shape 31"/>
          <p:cNvSpPr/>
          <p:nvPr/>
        </p:nvSpPr>
        <p:spPr>
          <a:xfrm>
            <a:off x="3154680" y="1600200"/>
            <a:ext cx="8485632" cy="2971800"/>
          </a:xfrm>
          <a:prstGeom prst="roundRect">
            <a:avLst>
              <a:gd name="adj" fmla="val 4308"/>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pic>
        <p:nvPicPr>
          <p:cNvPr id="34" name="Image 0" descr="preencoded.png">    </p:cNvPr>
          <p:cNvPicPr>
            <a:picLocks noChangeAspect="1"/>
          </p:cNvPicPr>
          <p:nvPr/>
        </p:nvPicPr>
        <p:blipFill>
          <a:blip r:embed="rId1"/>
          <a:stretch>
            <a:fillRect/>
          </a:stretch>
        </p:blipFill>
        <p:spPr>
          <a:xfrm>
            <a:off x="3474720" y="1828800"/>
            <a:ext cx="274320" cy="274320"/>
          </a:xfrm>
          <a:prstGeom prst="rect">
            <a:avLst/>
          </a:prstGeom>
        </p:spPr>
      </p:pic>
      <p:sp>
        <p:nvSpPr>
          <p:cNvPr id="35" name="Text 32"/>
          <p:cNvSpPr txBox="1"/>
          <p:nvPr/>
        </p:nvSpPr>
        <p:spPr>
          <a:xfrm>
            <a:off x="3867912" y="1810512"/>
            <a:ext cx="5486400" cy="320040"/>
          </a:xfrm>
          <a:prstGeom prst="rect">
            <a:avLst/>
          </a:prstGeom>
          <a:noFill/>
          <a:ln/>
        </p:spPr>
        <p:txBody>
          <a:bodyPr wrap="square" lIns="0" tIns="0" rIns="0" bIns="0" rtlCol="0" anchor="t"/>
          <a:lstStyle/>
          <a:p>
            <a:pPr indent="0" marL="0">
              <a:buNone/>
            </a:pPr>
            <a:r>
              <a:rPr lang="en-US" sz="1400" b="1" dirty="0">
                <a:solidFill>
                  <a:srgbClr val="3F6E8C"/>
                </a:solidFill>
                <a:latin typeface="Calibri" pitchFamily="34" charset="0"/>
                <a:ea typeface="Calibri" pitchFamily="34" charset="-122"/>
                <a:cs typeface="Calibri" pitchFamily="34" charset="-120"/>
              </a:rPr>
              <a:t>Work through these as a team</a:t>
            </a:r>
            <a:endParaRPr lang="en-US" sz="1400" dirty="0"/>
          </a:p>
        </p:txBody>
      </p:sp>
      <p:sp>
        <p:nvSpPr>
          <p:cNvPr id="36" name="Shape 33"/>
          <p:cNvSpPr/>
          <p:nvPr/>
        </p:nvSpPr>
        <p:spPr>
          <a:xfrm>
            <a:off x="3474720" y="2286000"/>
            <a:ext cx="347472" cy="347472"/>
          </a:xfrm>
          <a:prstGeom prst="ellipse">
            <a:avLst/>
          </a:prstGeom>
          <a:solidFill>
            <a:srgbClr val="F1F6FA"/>
          </a:solidFill>
          <a:ln w="12700">
            <a:solidFill>
              <a:srgbClr val="F1F6FA"/>
            </a:solidFill>
            <a:prstDash val="solid"/>
          </a:ln>
        </p:spPr>
      </p:sp>
      <p:sp>
        <p:nvSpPr>
          <p:cNvPr id="37" name="Text 34"/>
          <p:cNvSpPr txBox="1"/>
          <p:nvPr/>
        </p:nvSpPr>
        <p:spPr>
          <a:xfrm>
            <a:off x="3474720" y="2286000"/>
            <a:ext cx="347472" cy="347472"/>
          </a:xfrm>
          <a:prstGeom prst="rect">
            <a:avLst/>
          </a:prstGeom>
          <a:noFill/>
          <a:ln/>
        </p:spPr>
        <p:txBody>
          <a:bodyPr wrap="square" lIns="0" tIns="0" rIns="0" bIns="0" rtlCol="0" anchor="ctr"/>
          <a:lstStyle/>
          <a:p>
            <a:pPr algn="ctr" indent="0" marL="0">
              <a:buNone/>
            </a:pPr>
            <a:r>
              <a:rPr lang="en-US" sz="1200" b="1" dirty="0">
                <a:solidFill>
                  <a:srgbClr val="3F6E8C"/>
                </a:solidFill>
                <a:latin typeface="Calibri" pitchFamily="34" charset="0"/>
                <a:ea typeface="Calibri" pitchFamily="34" charset="-122"/>
                <a:cs typeface="Calibri" pitchFamily="34" charset="-120"/>
              </a:rPr>
              <a:t>1</a:t>
            </a:r>
            <a:endParaRPr lang="en-US" sz="1200" dirty="0"/>
          </a:p>
        </p:txBody>
      </p:sp>
      <p:sp>
        <p:nvSpPr>
          <p:cNvPr id="38" name="Text 35"/>
          <p:cNvSpPr txBox="1"/>
          <p:nvPr/>
        </p:nvSpPr>
        <p:spPr>
          <a:xfrm>
            <a:off x="3950208" y="2286000"/>
            <a:ext cx="3566160" cy="347472"/>
          </a:xfrm>
          <a:prstGeom prst="rect">
            <a:avLst/>
          </a:prstGeom>
          <a:noFill/>
          <a:ln/>
        </p:spPr>
        <p:txBody>
          <a:bodyPr wrap="square" lIns="0" tIns="0" rIns="0" bIns="0" rtlCol="0" anchor="ctr"/>
          <a:lstStyle/>
          <a:p>
            <a:pPr indent="0" marL="0">
              <a:buNone/>
            </a:pPr>
            <a:r>
              <a:rPr lang="en-US" sz="1500" dirty="0">
                <a:solidFill>
                  <a:srgbClr val="1E2E3A"/>
                </a:solidFill>
                <a:latin typeface="Calibri" pitchFamily="34" charset="0"/>
                <a:ea typeface="Calibri" pitchFamily="34" charset="-122"/>
                <a:cs typeface="Calibri" pitchFamily="34" charset="-120"/>
              </a:rPr>
              <a:t>What do you know?</a:t>
            </a:r>
            <a:endParaRPr lang="en-US" sz="1500" dirty="0"/>
          </a:p>
        </p:txBody>
      </p:sp>
      <p:sp>
        <p:nvSpPr>
          <p:cNvPr id="39" name="Shape 36"/>
          <p:cNvSpPr/>
          <p:nvPr/>
        </p:nvSpPr>
        <p:spPr>
          <a:xfrm>
            <a:off x="3474720" y="2834640"/>
            <a:ext cx="347472" cy="347472"/>
          </a:xfrm>
          <a:prstGeom prst="ellipse">
            <a:avLst/>
          </a:prstGeom>
          <a:solidFill>
            <a:srgbClr val="F1F6FA"/>
          </a:solidFill>
          <a:ln w="12700">
            <a:solidFill>
              <a:srgbClr val="F1F6FA"/>
            </a:solidFill>
            <a:prstDash val="solid"/>
          </a:ln>
        </p:spPr>
      </p:sp>
      <p:sp>
        <p:nvSpPr>
          <p:cNvPr id="40" name="Text 37"/>
          <p:cNvSpPr txBox="1"/>
          <p:nvPr/>
        </p:nvSpPr>
        <p:spPr>
          <a:xfrm>
            <a:off x="3474720" y="2834640"/>
            <a:ext cx="347472" cy="347472"/>
          </a:xfrm>
          <a:prstGeom prst="rect">
            <a:avLst/>
          </a:prstGeom>
          <a:noFill/>
          <a:ln/>
        </p:spPr>
        <p:txBody>
          <a:bodyPr wrap="square" lIns="0" tIns="0" rIns="0" bIns="0" rtlCol="0" anchor="ctr"/>
          <a:lstStyle/>
          <a:p>
            <a:pPr algn="ctr" indent="0" marL="0">
              <a:buNone/>
            </a:pPr>
            <a:r>
              <a:rPr lang="en-US" sz="1200" b="1" dirty="0">
                <a:solidFill>
                  <a:srgbClr val="3F6E8C"/>
                </a:solidFill>
                <a:latin typeface="Calibri" pitchFamily="34" charset="0"/>
                <a:ea typeface="Calibri" pitchFamily="34" charset="-122"/>
                <a:cs typeface="Calibri" pitchFamily="34" charset="-120"/>
              </a:rPr>
              <a:t>2</a:t>
            </a:r>
            <a:endParaRPr lang="en-US" sz="1200" dirty="0"/>
          </a:p>
        </p:txBody>
      </p:sp>
      <p:sp>
        <p:nvSpPr>
          <p:cNvPr id="41" name="Text 38"/>
          <p:cNvSpPr txBox="1"/>
          <p:nvPr/>
        </p:nvSpPr>
        <p:spPr>
          <a:xfrm>
            <a:off x="3950208" y="2834640"/>
            <a:ext cx="3566160" cy="347472"/>
          </a:xfrm>
          <a:prstGeom prst="rect">
            <a:avLst/>
          </a:prstGeom>
          <a:noFill/>
          <a:ln/>
        </p:spPr>
        <p:txBody>
          <a:bodyPr wrap="square" lIns="0" tIns="0" rIns="0" bIns="0" rtlCol="0" anchor="ctr"/>
          <a:lstStyle/>
          <a:p>
            <a:pPr indent="0" marL="0">
              <a:buNone/>
            </a:pPr>
            <a:r>
              <a:rPr lang="en-US" sz="1500" dirty="0">
                <a:solidFill>
                  <a:srgbClr val="1E2E3A"/>
                </a:solidFill>
                <a:latin typeface="Calibri" pitchFamily="34" charset="0"/>
                <a:ea typeface="Calibri" pitchFamily="34" charset="-122"/>
                <a:cs typeface="Calibri" pitchFamily="34" charset="-120"/>
              </a:rPr>
              <a:t>What don't you know?</a:t>
            </a:r>
            <a:endParaRPr lang="en-US" sz="1500" dirty="0"/>
          </a:p>
        </p:txBody>
      </p:sp>
      <p:sp>
        <p:nvSpPr>
          <p:cNvPr id="42" name="Shape 39"/>
          <p:cNvSpPr/>
          <p:nvPr/>
        </p:nvSpPr>
        <p:spPr>
          <a:xfrm>
            <a:off x="3474720" y="3383280"/>
            <a:ext cx="347472" cy="347472"/>
          </a:xfrm>
          <a:prstGeom prst="ellipse">
            <a:avLst/>
          </a:prstGeom>
          <a:solidFill>
            <a:srgbClr val="F1F6FA"/>
          </a:solidFill>
          <a:ln w="12700">
            <a:solidFill>
              <a:srgbClr val="F1F6FA"/>
            </a:solidFill>
            <a:prstDash val="solid"/>
          </a:ln>
        </p:spPr>
      </p:sp>
      <p:sp>
        <p:nvSpPr>
          <p:cNvPr id="43" name="Text 40"/>
          <p:cNvSpPr txBox="1"/>
          <p:nvPr/>
        </p:nvSpPr>
        <p:spPr>
          <a:xfrm>
            <a:off x="3474720" y="3383280"/>
            <a:ext cx="347472" cy="347472"/>
          </a:xfrm>
          <a:prstGeom prst="rect">
            <a:avLst/>
          </a:prstGeom>
          <a:noFill/>
          <a:ln/>
        </p:spPr>
        <p:txBody>
          <a:bodyPr wrap="square" lIns="0" tIns="0" rIns="0" bIns="0" rtlCol="0" anchor="ctr"/>
          <a:lstStyle/>
          <a:p>
            <a:pPr algn="ctr" indent="0" marL="0">
              <a:buNone/>
            </a:pPr>
            <a:r>
              <a:rPr lang="en-US" sz="1200" b="1" dirty="0">
                <a:solidFill>
                  <a:srgbClr val="3F6E8C"/>
                </a:solidFill>
                <a:latin typeface="Calibri" pitchFamily="34" charset="0"/>
                <a:ea typeface="Calibri" pitchFamily="34" charset="-122"/>
                <a:cs typeface="Calibri" pitchFamily="34" charset="-120"/>
              </a:rPr>
              <a:t>3</a:t>
            </a:r>
            <a:endParaRPr lang="en-US" sz="1200" dirty="0"/>
          </a:p>
        </p:txBody>
      </p:sp>
      <p:sp>
        <p:nvSpPr>
          <p:cNvPr id="44" name="Text 41"/>
          <p:cNvSpPr txBox="1"/>
          <p:nvPr/>
        </p:nvSpPr>
        <p:spPr>
          <a:xfrm>
            <a:off x="3950208" y="3383280"/>
            <a:ext cx="3566160" cy="347472"/>
          </a:xfrm>
          <a:prstGeom prst="rect">
            <a:avLst/>
          </a:prstGeom>
          <a:noFill/>
          <a:ln/>
        </p:spPr>
        <p:txBody>
          <a:bodyPr wrap="square" lIns="0" tIns="0" rIns="0" bIns="0" rtlCol="0" anchor="ctr"/>
          <a:lstStyle/>
          <a:p>
            <a:pPr indent="0" marL="0">
              <a:buNone/>
            </a:pPr>
            <a:r>
              <a:rPr lang="en-US" sz="1500" dirty="0">
                <a:solidFill>
                  <a:srgbClr val="1E2E3A"/>
                </a:solidFill>
                <a:latin typeface="Calibri" pitchFamily="34" charset="0"/>
                <a:ea typeface="Calibri" pitchFamily="34" charset="-122"/>
                <a:cs typeface="Calibri" pitchFamily="34" charset="-120"/>
              </a:rPr>
              <a:t>Who owns this?</a:t>
            </a:r>
            <a:endParaRPr lang="en-US" sz="1500" dirty="0"/>
          </a:p>
        </p:txBody>
      </p:sp>
      <p:sp>
        <p:nvSpPr>
          <p:cNvPr id="45" name="Shape 42"/>
          <p:cNvSpPr/>
          <p:nvPr/>
        </p:nvSpPr>
        <p:spPr>
          <a:xfrm>
            <a:off x="3474720" y="3931920"/>
            <a:ext cx="347472" cy="347472"/>
          </a:xfrm>
          <a:prstGeom prst="ellipse">
            <a:avLst/>
          </a:prstGeom>
          <a:solidFill>
            <a:srgbClr val="F1F6FA"/>
          </a:solidFill>
          <a:ln w="12700">
            <a:solidFill>
              <a:srgbClr val="F1F6FA"/>
            </a:solidFill>
            <a:prstDash val="solid"/>
          </a:ln>
        </p:spPr>
      </p:sp>
      <p:sp>
        <p:nvSpPr>
          <p:cNvPr id="46" name="Text 43"/>
          <p:cNvSpPr txBox="1"/>
          <p:nvPr/>
        </p:nvSpPr>
        <p:spPr>
          <a:xfrm>
            <a:off x="3474720" y="3931920"/>
            <a:ext cx="347472" cy="347472"/>
          </a:xfrm>
          <a:prstGeom prst="rect">
            <a:avLst/>
          </a:prstGeom>
          <a:noFill/>
          <a:ln/>
        </p:spPr>
        <p:txBody>
          <a:bodyPr wrap="square" lIns="0" tIns="0" rIns="0" bIns="0" rtlCol="0" anchor="ctr"/>
          <a:lstStyle/>
          <a:p>
            <a:pPr algn="ctr" indent="0" marL="0">
              <a:buNone/>
            </a:pPr>
            <a:r>
              <a:rPr lang="en-US" sz="1200" b="1" dirty="0">
                <a:solidFill>
                  <a:srgbClr val="3F6E8C"/>
                </a:solidFill>
                <a:latin typeface="Calibri" pitchFamily="34" charset="0"/>
                <a:ea typeface="Calibri" pitchFamily="34" charset="-122"/>
                <a:cs typeface="Calibri" pitchFamily="34" charset="-120"/>
              </a:rPr>
              <a:t>4</a:t>
            </a:r>
            <a:endParaRPr lang="en-US" sz="1200" dirty="0"/>
          </a:p>
        </p:txBody>
      </p:sp>
      <p:sp>
        <p:nvSpPr>
          <p:cNvPr id="47" name="Text 44"/>
          <p:cNvSpPr txBox="1"/>
          <p:nvPr/>
        </p:nvSpPr>
        <p:spPr>
          <a:xfrm>
            <a:off x="3950208" y="3931920"/>
            <a:ext cx="3566160" cy="347472"/>
          </a:xfrm>
          <a:prstGeom prst="rect">
            <a:avLst/>
          </a:prstGeom>
          <a:noFill/>
          <a:ln/>
        </p:spPr>
        <p:txBody>
          <a:bodyPr wrap="square" lIns="0" tIns="0" rIns="0" bIns="0" rtlCol="0" anchor="ctr"/>
          <a:lstStyle/>
          <a:p>
            <a:pPr indent="0" marL="0">
              <a:buNone/>
            </a:pPr>
            <a:r>
              <a:rPr lang="en-US" sz="1500" dirty="0">
                <a:solidFill>
                  <a:srgbClr val="1E2E3A"/>
                </a:solidFill>
                <a:latin typeface="Calibri" pitchFamily="34" charset="0"/>
                <a:ea typeface="Calibri" pitchFamily="34" charset="-122"/>
                <a:cs typeface="Calibri" pitchFamily="34" charset="-120"/>
              </a:rPr>
              <a:t>How do you validate the problem?</a:t>
            </a:r>
            <a:endParaRPr lang="en-US" sz="1500" dirty="0"/>
          </a:p>
        </p:txBody>
      </p:sp>
      <p:sp>
        <p:nvSpPr>
          <p:cNvPr id="48" name="Shape 45"/>
          <p:cNvSpPr/>
          <p:nvPr/>
        </p:nvSpPr>
        <p:spPr>
          <a:xfrm>
            <a:off x="7589520" y="2286000"/>
            <a:ext cx="347472" cy="347472"/>
          </a:xfrm>
          <a:prstGeom prst="ellipse">
            <a:avLst/>
          </a:prstGeom>
          <a:solidFill>
            <a:srgbClr val="F1F6FA"/>
          </a:solidFill>
          <a:ln w="12700">
            <a:solidFill>
              <a:srgbClr val="F1F6FA"/>
            </a:solidFill>
            <a:prstDash val="solid"/>
          </a:ln>
        </p:spPr>
      </p:sp>
      <p:sp>
        <p:nvSpPr>
          <p:cNvPr id="49" name="Text 46"/>
          <p:cNvSpPr txBox="1"/>
          <p:nvPr/>
        </p:nvSpPr>
        <p:spPr>
          <a:xfrm>
            <a:off x="7589520" y="2286000"/>
            <a:ext cx="347472" cy="347472"/>
          </a:xfrm>
          <a:prstGeom prst="rect">
            <a:avLst/>
          </a:prstGeom>
          <a:noFill/>
          <a:ln/>
        </p:spPr>
        <p:txBody>
          <a:bodyPr wrap="square" lIns="0" tIns="0" rIns="0" bIns="0" rtlCol="0" anchor="ctr"/>
          <a:lstStyle/>
          <a:p>
            <a:pPr algn="ctr" indent="0" marL="0">
              <a:buNone/>
            </a:pPr>
            <a:r>
              <a:rPr lang="en-US" sz="1200" b="1" dirty="0">
                <a:solidFill>
                  <a:srgbClr val="3F6E8C"/>
                </a:solidFill>
                <a:latin typeface="Calibri" pitchFamily="34" charset="0"/>
                <a:ea typeface="Calibri" pitchFamily="34" charset="-122"/>
                <a:cs typeface="Calibri" pitchFamily="34" charset="-120"/>
              </a:rPr>
              <a:t>5</a:t>
            </a:r>
            <a:endParaRPr lang="en-US" sz="1200" dirty="0"/>
          </a:p>
        </p:txBody>
      </p:sp>
      <p:sp>
        <p:nvSpPr>
          <p:cNvPr id="50" name="Text 47"/>
          <p:cNvSpPr txBox="1"/>
          <p:nvPr/>
        </p:nvSpPr>
        <p:spPr>
          <a:xfrm>
            <a:off x="8065008" y="2286000"/>
            <a:ext cx="3566160" cy="347472"/>
          </a:xfrm>
          <a:prstGeom prst="rect">
            <a:avLst/>
          </a:prstGeom>
          <a:noFill/>
          <a:ln/>
        </p:spPr>
        <p:txBody>
          <a:bodyPr wrap="square" lIns="0" tIns="0" rIns="0" bIns="0" rtlCol="0" anchor="ctr"/>
          <a:lstStyle/>
          <a:p>
            <a:pPr indent="0" marL="0">
              <a:buNone/>
            </a:pPr>
            <a:r>
              <a:rPr lang="en-US" sz="1500" dirty="0">
                <a:solidFill>
                  <a:srgbClr val="1E2E3A"/>
                </a:solidFill>
                <a:latin typeface="Calibri" pitchFamily="34" charset="0"/>
                <a:ea typeface="Calibri" pitchFamily="34" charset="-122"/>
                <a:cs typeface="Calibri" pitchFamily="34" charset="-120"/>
              </a:rPr>
              <a:t>Who gets notified?</a:t>
            </a:r>
            <a:endParaRPr lang="en-US" sz="1500" dirty="0"/>
          </a:p>
        </p:txBody>
      </p:sp>
      <p:sp>
        <p:nvSpPr>
          <p:cNvPr id="51" name="Shape 48"/>
          <p:cNvSpPr/>
          <p:nvPr/>
        </p:nvSpPr>
        <p:spPr>
          <a:xfrm>
            <a:off x="7589520" y="2834640"/>
            <a:ext cx="347472" cy="347472"/>
          </a:xfrm>
          <a:prstGeom prst="ellipse">
            <a:avLst/>
          </a:prstGeom>
          <a:solidFill>
            <a:srgbClr val="F1F6FA"/>
          </a:solidFill>
          <a:ln w="12700">
            <a:solidFill>
              <a:srgbClr val="F1F6FA"/>
            </a:solidFill>
            <a:prstDash val="solid"/>
          </a:ln>
        </p:spPr>
      </p:sp>
      <p:sp>
        <p:nvSpPr>
          <p:cNvPr id="52" name="Text 49"/>
          <p:cNvSpPr txBox="1"/>
          <p:nvPr/>
        </p:nvSpPr>
        <p:spPr>
          <a:xfrm>
            <a:off x="7589520" y="2834640"/>
            <a:ext cx="347472" cy="347472"/>
          </a:xfrm>
          <a:prstGeom prst="rect">
            <a:avLst/>
          </a:prstGeom>
          <a:noFill/>
          <a:ln/>
        </p:spPr>
        <p:txBody>
          <a:bodyPr wrap="square" lIns="0" tIns="0" rIns="0" bIns="0" rtlCol="0" anchor="ctr"/>
          <a:lstStyle/>
          <a:p>
            <a:pPr algn="ctr" indent="0" marL="0">
              <a:buNone/>
            </a:pPr>
            <a:r>
              <a:rPr lang="en-US" sz="1200" b="1" dirty="0">
                <a:solidFill>
                  <a:srgbClr val="3F6E8C"/>
                </a:solidFill>
                <a:latin typeface="Calibri" pitchFamily="34" charset="0"/>
                <a:ea typeface="Calibri" pitchFamily="34" charset="-122"/>
                <a:cs typeface="Calibri" pitchFamily="34" charset="-120"/>
              </a:rPr>
              <a:t>6</a:t>
            </a:r>
            <a:endParaRPr lang="en-US" sz="1200" dirty="0"/>
          </a:p>
        </p:txBody>
      </p:sp>
      <p:sp>
        <p:nvSpPr>
          <p:cNvPr id="53" name="Text 50"/>
          <p:cNvSpPr txBox="1"/>
          <p:nvPr/>
        </p:nvSpPr>
        <p:spPr>
          <a:xfrm>
            <a:off x="8065008" y="2834640"/>
            <a:ext cx="3566160" cy="347472"/>
          </a:xfrm>
          <a:prstGeom prst="rect">
            <a:avLst/>
          </a:prstGeom>
          <a:noFill/>
          <a:ln/>
        </p:spPr>
        <p:txBody>
          <a:bodyPr wrap="square" lIns="0" tIns="0" rIns="0" bIns="0" rtlCol="0" anchor="ctr"/>
          <a:lstStyle/>
          <a:p>
            <a:pPr indent="0" marL="0">
              <a:buNone/>
            </a:pPr>
            <a:r>
              <a:rPr lang="en-US" sz="1500" dirty="0">
                <a:solidFill>
                  <a:srgbClr val="1E2E3A"/>
                </a:solidFill>
                <a:latin typeface="Calibri" pitchFamily="34" charset="0"/>
                <a:ea typeface="Calibri" pitchFamily="34" charset="-122"/>
                <a:cs typeface="Calibri" pitchFamily="34" charset="-120"/>
              </a:rPr>
              <a:t>What systems do you check?</a:t>
            </a:r>
            <a:endParaRPr lang="en-US" sz="1500" dirty="0"/>
          </a:p>
        </p:txBody>
      </p:sp>
      <p:sp>
        <p:nvSpPr>
          <p:cNvPr id="54" name="Shape 51"/>
          <p:cNvSpPr/>
          <p:nvPr/>
        </p:nvSpPr>
        <p:spPr>
          <a:xfrm>
            <a:off x="7589520" y="3383280"/>
            <a:ext cx="347472" cy="347472"/>
          </a:xfrm>
          <a:prstGeom prst="ellipse">
            <a:avLst/>
          </a:prstGeom>
          <a:solidFill>
            <a:srgbClr val="F1F6FA"/>
          </a:solidFill>
          <a:ln w="12700">
            <a:solidFill>
              <a:srgbClr val="F1F6FA"/>
            </a:solidFill>
            <a:prstDash val="solid"/>
          </a:ln>
        </p:spPr>
      </p:sp>
      <p:sp>
        <p:nvSpPr>
          <p:cNvPr id="55" name="Text 52"/>
          <p:cNvSpPr txBox="1"/>
          <p:nvPr/>
        </p:nvSpPr>
        <p:spPr>
          <a:xfrm>
            <a:off x="7589520" y="3383280"/>
            <a:ext cx="347472" cy="347472"/>
          </a:xfrm>
          <a:prstGeom prst="rect">
            <a:avLst/>
          </a:prstGeom>
          <a:noFill/>
          <a:ln/>
        </p:spPr>
        <p:txBody>
          <a:bodyPr wrap="square" lIns="0" tIns="0" rIns="0" bIns="0" rtlCol="0" anchor="ctr"/>
          <a:lstStyle/>
          <a:p>
            <a:pPr algn="ctr" indent="0" marL="0">
              <a:buNone/>
            </a:pPr>
            <a:r>
              <a:rPr lang="en-US" sz="1200" b="1" dirty="0">
                <a:solidFill>
                  <a:srgbClr val="3F6E8C"/>
                </a:solidFill>
                <a:latin typeface="Calibri" pitchFamily="34" charset="0"/>
                <a:ea typeface="Calibri" pitchFamily="34" charset="-122"/>
                <a:cs typeface="Calibri" pitchFamily="34" charset="-120"/>
              </a:rPr>
              <a:t>7</a:t>
            </a:r>
            <a:endParaRPr lang="en-US" sz="1200" dirty="0"/>
          </a:p>
        </p:txBody>
      </p:sp>
      <p:sp>
        <p:nvSpPr>
          <p:cNvPr id="56" name="Text 53"/>
          <p:cNvSpPr txBox="1"/>
          <p:nvPr/>
        </p:nvSpPr>
        <p:spPr>
          <a:xfrm>
            <a:off x="8065008" y="3383280"/>
            <a:ext cx="3566160" cy="347472"/>
          </a:xfrm>
          <a:prstGeom prst="rect">
            <a:avLst/>
          </a:prstGeom>
          <a:noFill/>
          <a:ln/>
        </p:spPr>
        <p:txBody>
          <a:bodyPr wrap="square" lIns="0" tIns="0" rIns="0" bIns="0" rtlCol="0" anchor="ctr"/>
          <a:lstStyle/>
          <a:p>
            <a:pPr indent="0" marL="0">
              <a:buNone/>
            </a:pPr>
            <a:r>
              <a:rPr lang="en-US" sz="1500" dirty="0">
                <a:solidFill>
                  <a:srgbClr val="1E2E3A"/>
                </a:solidFill>
                <a:latin typeface="Calibri" pitchFamily="34" charset="0"/>
                <a:ea typeface="Calibri" pitchFamily="34" charset="-122"/>
                <a:cs typeface="Calibri" pitchFamily="34" charset="-120"/>
              </a:rPr>
              <a:t>At what point would you escalate?</a:t>
            </a:r>
            <a:endParaRPr lang="en-US" sz="1500" dirty="0"/>
          </a:p>
        </p:txBody>
      </p:sp>
      <p:sp>
        <p:nvSpPr>
          <p:cNvPr id="57" name="Shape 54"/>
          <p:cNvSpPr/>
          <p:nvPr/>
        </p:nvSpPr>
        <p:spPr>
          <a:xfrm>
            <a:off x="3154680" y="4800600"/>
            <a:ext cx="8485632" cy="1371600"/>
          </a:xfrm>
          <a:prstGeom prst="roundRect">
            <a:avLst>
              <a:gd name="adj" fmla="val 9333"/>
            </a:avLst>
          </a:prstGeom>
          <a:solidFill>
            <a:srgbClr val="F1F6FA"/>
          </a:solidFill>
          <a:ln w="12700">
            <a:solidFill>
              <a:srgbClr val="F1F6FA"/>
            </a:solidFill>
            <a:prstDash val="solid"/>
          </a:ln>
          <a:effectLst>
            <a:outerShdw sx="100000" sy="100000" kx="0" ky="0" algn="bl" rotWithShape="0" blurRad="177800" dist="50800" dir="5400000">
              <a:srgbClr val="1B4965">
                <a:alpha val="16000"/>
              </a:srgbClr>
            </a:outerShdw>
          </a:effectLst>
        </p:spPr>
      </p:sp>
      <p:sp>
        <p:nvSpPr>
          <p:cNvPr id="58" name="Text 55"/>
          <p:cNvSpPr txBox="1"/>
          <p:nvPr/>
        </p:nvSpPr>
        <p:spPr>
          <a:xfrm>
            <a:off x="3474720" y="4937760"/>
            <a:ext cx="2743200" cy="274320"/>
          </a:xfrm>
          <a:prstGeom prst="rect">
            <a:avLst/>
          </a:prstGeom>
          <a:noFill/>
          <a:ln/>
        </p:spPr>
        <p:txBody>
          <a:bodyPr wrap="square" lIns="0" tIns="0" rIns="0" bIns="0" rtlCol="0" anchor="t"/>
          <a:lstStyle/>
          <a:p>
            <a:pPr indent="0" marL="0">
              <a:buNone/>
            </a:pPr>
            <a:r>
              <a:rPr lang="en-US" sz="1400" b="1" dirty="0">
                <a:solidFill>
                  <a:srgbClr val="3F6E8C"/>
                </a:solidFill>
                <a:latin typeface="Calibri" pitchFamily="34" charset="0"/>
                <a:ea typeface="Calibri" pitchFamily="34" charset="-122"/>
                <a:cs typeface="Calibri" pitchFamily="34" charset="-120"/>
              </a:rPr>
              <a:t>Record</a:t>
            </a:r>
            <a:endParaRPr lang="en-US" sz="1400" dirty="0"/>
          </a:p>
        </p:txBody>
      </p:sp>
      <p:sp>
        <p:nvSpPr>
          <p:cNvPr id="59" name="Shape 56"/>
          <p:cNvSpPr/>
          <p:nvPr/>
        </p:nvSpPr>
        <p:spPr>
          <a:xfrm>
            <a:off x="3474720" y="5303520"/>
            <a:ext cx="1874520" cy="658368"/>
          </a:xfrm>
          <a:prstGeom prst="roundRect">
            <a:avLst>
              <a:gd name="adj" fmla="val 11111"/>
            </a:avLst>
          </a:prstGeom>
          <a:solidFill>
            <a:srgbClr val="FFFFFF"/>
          </a:solidFill>
          <a:ln w="12700">
            <a:solidFill>
              <a:srgbClr val="FFFFFF"/>
            </a:solidFill>
            <a:prstDash val="solid"/>
          </a:ln>
        </p:spPr>
      </p:sp>
      <p:sp>
        <p:nvSpPr>
          <p:cNvPr id="60" name="Text 57"/>
          <p:cNvSpPr txBox="1"/>
          <p:nvPr/>
        </p:nvSpPr>
        <p:spPr>
          <a:xfrm>
            <a:off x="3584448" y="5349240"/>
            <a:ext cx="1463040" cy="256032"/>
          </a:xfrm>
          <a:prstGeom prst="rect">
            <a:avLst/>
          </a:prstGeom>
          <a:noFill/>
          <a:ln/>
        </p:spPr>
        <p:txBody>
          <a:bodyPr wrap="square" lIns="0" tIns="0" rIns="0" bIns="0" rtlCol="0" anchor="t"/>
          <a:lstStyle/>
          <a:p>
            <a:pPr indent="0" marL="0">
              <a:buNone/>
            </a:pPr>
            <a:r>
              <a:rPr lang="en-US" sz="1200" b="1" dirty="0">
                <a:solidFill>
                  <a:srgbClr val="465A69"/>
                </a:solidFill>
                <a:latin typeface="Calibri" pitchFamily="34" charset="0"/>
                <a:ea typeface="Calibri" pitchFamily="34" charset="-122"/>
                <a:cs typeface="Calibri" pitchFamily="34" charset="-120"/>
              </a:rPr>
              <a:t>Decision</a:t>
            </a:r>
            <a:endParaRPr lang="en-US" sz="1200" dirty="0"/>
          </a:p>
        </p:txBody>
      </p:sp>
      <p:sp>
        <p:nvSpPr>
          <p:cNvPr id="61" name="Shape 58"/>
          <p:cNvSpPr/>
          <p:nvPr/>
        </p:nvSpPr>
        <p:spPr>
          <a:xfrm>
            <a:off x="5486400" y="5303520"/>
            <a:ext cx="1874520" cy="658368"/>
          </a:xfrm>
          <a:prstGeom prst="roundRect">
            <a:avLst>
              <a:gd name="adj" fmla="val 11111"/>
            </a:avLst>
          </a:prstGeom>
          <a:solidFill>
            <a:srgbClr val="FFFFFF"/>
          </a:solidFill>
          <a:ln w="12700">
            <a:solidFill>
              <a:srgbClr val="FFFFFF"/>
            </a:solidFill>
            <a:prstDash val="solid"/>
          </a:ln>
        </p:spPr>
      </p:sp>
      <p:sp>
        <p:nvSpPr>
          <p:cNvPr id="62" name="Text 59"/>
          <p:cNvSpPr txBox="1"/>
          <p:nvPr/>
        </p:nvSpPr>
        <p:spPr>
          <a:xfrm>
            <a:off x="5596128" y="5349240"/>
            <a:ext cx="1463040" cy="256032"/>
          </a:xfrm>
          <a:prstGeom prst="rect">
            <a:avLst/>
          </a:prstGeom>
          <a:noFill/>
          <a:ln/>
        </p:spPr>
        <p:txBody>
          <a:bodyPr wrap="square" lIns="0" tIns="0" rIns="0" bIns="0" rtlCol="0" anchor="t"/>
          <a:lstStyle/>
          <a:p>
            <a:pPr indent="0" marL="0">
              <a:buNone/>
            </a:pPr>
            <a:r>
              <a:rPr lang="en-US" sz="1200" b="1" dirty="0">
                <a:solidFill>
                  <a:srgbClr val="465A69"/>
                </a:solidFill>
                <a:latin typeface="Calibri" pitchFamily="34" charset="0"/>
                <a:ea typeface="Calibri" pitchFamily="34" charset="-122"/>
                <a:cs typeface="Calibri" pitchFamily="34" charset="-120"/>
              </a:rPr>
              <a:t>Owner</a:t>
            </a:r>
            <a:endParaRPr lang="en-US" sz="1200" dirty="0"/>
          </a:p>
        </p:txBody>
      </p:sp>
      <p:sp>
        <p:nvSpPr>
          <p:cNvPr id="63" name="Shape 60"/>
          <p:cNvSpPr/>
          <p:nvPr/>
        </p:nvSpPr>
        <p:spPr>
          <a:xfrm>
            <a:off x="7498080" y="5303520"/>
            <a:ext cx="1874520" cy="658368"/>
          </a:xfrm>
          <a:prstGeom prst="roundRect">
            <a:avLst>
              <a:gd name="adj" fmla="val 11111"/>
            </a:avLst>
          </a:prstGeom>
          <a:solidFill>
            <a:srgbClr val="FFFFFF"/>
          </a:solidFill>
          <a:ln w="12700">
            <a:solidFill>
              <a:srgbClr val="FFFFFF"/>
            </a:solidFill>
            <a:prstDash val="solid"/>
          </a:ln>
        </p:spPr>
      </p:sp>
      <p:sp>
        <p:nvSpPr>
          <p:cNvPr id="64" name="Text 61"/>
          <p:cNvSpPr txBox="1"/>
          <p:nvPr/>
        </p:nvSpPr>
        <p:spPr>
          <a:xfrm>
            <a:off x="7607808" y="5349240"/>
            <a:ext cx="1463040" cy="256032"/>
          </a:xfrm>
          <a:prstGeom prst="rect">
            <a:avLst/>
          </a:prstGeom>
          <a:noFill/>
          <a:ln/>
        </p:spPr>
        <p:txBody>
          <a:bodyPr wrap="square" lIns="0" tIns="0" rIns="0" bIns="0" rtlCol="0" anchor="t"/>
          <a:lstStyle/>
          <a:p>
            <a:pPr indent="0" marL="0">
              <a:buNone/>
            </a:pPr>
            <a:r>
              <a:rPr lang="en-US" sz="1200" b="1" dirty="0">
                <a:solidFill>
                  <a:srgbClr val="465A69"/>
                </a:solidFill>
                <a:latin typeface="Calibri" pitchFamily="34" charset="0"/>
                <a:ea typeface="Calibri" pitchFamily="34" charset="-122"/>
                <a:cs typeface="Calibri" pitchFamily="34" charset="-120"/>
              </a:rPr>
              <a:t>Rationale</a:t>
            </a:r>
            <a:endParaRPr lang="en-US" sz="1200" dirty="0"/>
          </a:p>
        </p:txBody>
      </p:sp>
      <p:sp>
        <p:nvSpPr>
          <p:cNvPr id="65" name="Shape 62"/>
          <p:cNvSpPr/>
          <p:nvPr/>
        </p:nvSpPr>
        <p:spPr>
          <a:xfrm>
            <a:off x="9509760" y="5303520"/>
            <a:ext cx="1874520" cy="658368"/>
          </a:xfrm>
          <a:prstGeom prst="roundRect">
            <a:avLst>
              <a:gd name="adj" fmla="val 11111"/>
            </a:avLst>
          </a:prstGeom>
          <a:solidFill>
            <a:srgbClr val="FFFFFF"/>
          </a:solidFill>
          <a:ln w="12700">
            <a:solidFill>
              <a:srgbClr val="FFFFFF"/>
            </a:solidFill>
            <a:prstDash val="solid"/>
          </a:ln>
        </p:spPr>
      </p:sp>
      <p:sp>
        <p:nvSpPr>
          <p:cNvPr id="66" name="Text 63"/>
          <p:cNvSpPr txBox="1"/>
          <p:nvPr/>
        </p:nvSpPr>
        <p:spPr>
          <a:xfrm>
            <a:off x="9619488" y="5349240"/>
            <a:ext cx="1463040" cy="256032"/>
          </a:xfrm>
          <a:prstGeom prst="rect">
            <a:avLst/>
          </a:prstGeom>
          <a:noFill/>
          <a:ln/>
        </p:spPr>
        <p:txBody>
          <a:bodyPr wrap="square" lIns="0" tIns="0" rIns="0" bIns="0" rtlCol="0" anchor="t"/>
          <a:lstStyle/>
          <a:p>
            <a:pPr indent="0" marL="0">
              <a:buNone/>
            </a:pPr>
            <a:r>
              <a:rPr lang="en-US" sz="1200" b="1" dirty="0">
                <a:solidFill>
                  <a:srgbClr val="465A69"/>
                </a:solidFill>
                <a:latin typeface="Calibri" pitchFamily="34" charset="0"/>
                <a:ea typeface="Calibri" pitchFamily="34" charset="-122"/>
                <a:cs typeface="Calibri" pitchFamily="34" charset="-120"/>
              </a:rPr>
              <a:t>Time</a:t>
            </a:r>
            <a:endParaRPr lang="en-US" sz="1200" dirty="0"/>
          </a:p>
        </p:txBody>
      </p:sp>
      <p:sp>
        <p:nvSpPr>
          <p:cNvPr id="67" name="Text 64"/>
          <p:cNvSpPr txBox="1"/>
          <p:nvPr/>
        </p:nvSpPr>
        <p:spPr>
          <a:xfrm>
            <a:off x="548640" y="6254496"/>
            <a:ext cx="11091672" cy="256032"/>
          </a:xfrm>
          <a:prstGeom prst="rect">
            <a:avLst/>
          </a:prstGeom>
          <a:noFill/>
          <a:ln/>
        </p:spPr>
        <p:txBody>
          <a:bodyPr wrap="square" lIns="0" tIns="0" rIns="0" bIns="0" rtlCol="0" anchor="ctr"/>
          <a:lstStyle/>
          <a:p>
            <a:pPr indent="0" marL="0">
              <a:buNone/>
            </a:pPr>
            <a:r>
              <a:rPr lang="en-US" sz="1200" b="1" dirty="0">
                <a:solidFill>
                  <a:srgbClr val="465A69"/>
                </a:solidFill>
                <a:latin typeface="Calibri" pitchFamily="34" charset="0"/>
                <a:ea typeface="Calibri" pitchFamily="34" charset="-122"/>
                <a:cs typeface="Calibri" pitchFamily="34" charset="-120"/>
              </a:rPr>
              <a:t>Acronyms:  </a:t>
            </a:r>
            <a:pPr indent="0" marL="0">
              <a:buNone/>
            </a:pPr>
            <a:r>
              <a:rPr lang="en-US" sz="1200" dirty="0">
                <a:solidFill>
                  <a:srgbClr val="465A69"/>
                </a:solidFill>
                <a:latin typeface="Calibri" pitchFamily="34" charset="0"/>
                <a:ea typeface="Calibri" pitchFamily="34" charset="-122"/>
                <a:cs typeface="Calibri" pitchFamily="34" charset="-120"/>
              </a:rPr>
              <a:t>T+: time since the first signal</a:t>
            </a:r>
            <a:endParaRPr lang="en-US" sz="1200" dirty="0"/>
          </a:p>
        </p:txBody>
      </p:sp>
      <p:sp>
        <p:nvSpPr>
          <p:cNvPr id="68" name="Shape 65"/>
          <p:cNvSpPr/>
          <p:nvPr/>
        </p:nvSpPr>
        <p:spPr>
          <a:xfrm>
            <a:off x="548640" y="6537960"/>
            <a:ext cx="763524" cy="274320"/>
          </a:xfrm>
          <a:prstGeom prst="roundRect">
            <a:avLst>
              <a:gd name="adj" fmla="val 50000"/>
            </a:avLst>
          </a:prstGeom>
          <a:solidFill>
            <a:srgbClr val="E4ECF2"/>
          </a:solidFill>
          <a:ln w="12700">
            <a:solidFill>
              <a:srgbClr val="E4ECF2"/>
            </a:solidFill>
            <a:prstDash val="solid"/>
          </a:ln>
        </p:spPr>
      </p:sp>
      <p:sp>
        <p:nvSpPr>
          <p:cNvPr id="69" name="Text 66"/>
          <p:cNvSpPr txBox="1"/>
          <p:nvPr/>
        </p:nvSpPr>
        <p:spPr>
          <a:xfrm>
            <a:off x="548640" y="6537960"/>
            <a:ext cx="763524" cy="274320"/>
          </a:xfrm>
          <a:prstGeom prst="rect">
            <a:avLst/>
          </a:prstGeom>
          <a:noFill/>
          <a:ln/>
        </p:spPr>
        <p:txBody>
          <a:bodyPr wrap="square" lIns="0" tIns="0" rIns="0" bIns="0" rtlCol="0" anchor="ctr"/>
          <a:lstStyle/>
          <a:p>
            <a:pPr algn="ctr" indent="0" marL="0">
              <a:buNone/>
            </a:pPr>
            <a:r>
              <a:rPr lang="en-US" sz="1200" b="1" dirty="0">
                <a:solidFill>
                  <a:srgbClr val="23405A"/>
                </a:solidFill>
                <a:latin typeface="Calibri" pitchFamily="34" charset="0"/>
                <a:ea typeface="Calibri" pitchFamily="34" charset="-122"/>
                <a:cs typeface="Calibri" pitchFamily="34" charset="-120"/>
              </a:rPr>
              <a:t>Start</a:t>
            </a:r>
            <a:endParaRPr lang="en-US" sz="1200" dirty="0"/>
          </a:p>
        </p:txBody>
      </p:sp>
      <p:pic>
        <p:nvPicPr>
          <p:cNvPr id="70" name="Image 1" descr="preencoded.png">
            <a:hlinkClick r:id="rId3" tooltip="Go to Start" action="ppaction://hlinksldjump"/>
          </p:cNvPr>
          <p:cNvPicPr>
            <a:picLocks noChangeAspect="1"/>
          </p:cNvPicPr>
          <p:nvPr/>
        </p:nvPicPr>
        <p:blipFill>
          <a:blip r:embed="rId2"/>
          <a:stretch>
            <a:fillRect/>
          </a:stretch>
        </p:blipFill>
        <p:spPr>
          <a:xfrm>
            <a:off x="548640" y="6537960"/>
            <a:ext cx="763524" cy="274320"/>
          </a:xfrm>
          <a:prstGeom prst="rect">
            <a:avLst/>
          </a:prstGeom>
        </p:spPr>
      </p:pic>
      <p:sp>
        <p:nvSpPr>
          <p:cNvPr id="71" name="Shape 67"/>
          <p:cNvSpPr/>
          <p:nvPr/>
        </p:nvSpPr>
        <p:spPr>
          <a:xfrm>
            <a:off x="1385316" y="6537960"/>
            <a:ext cx="1197864" cy="274320"/>
          </a:xfrm>
          <a:prstGeom prst="roundRect">
            <a:avLst>
              <a:gd name="adj" fmla="val 50000"/>
            </a:avLst>
          </a:prstGeom>
          <a:solidFill>
            <a:srgbClr val="3F6E8C"/>
          </a:solidFill>
          <a:ln w="12700">
            <a:solidFill>
              <a:srgbClr val="3F6E8C"/>
            </a:solidFill>
            <a:prstDash val="solid"/>
          </a:ln>
        </p:spPr>
      </p:sp>
      <p:sp>
        <p:nvSpPr>
          <p:cNvPr id="72" name="Text 68"/>
          <p:cNvSpPr txBox="1"/>
          <p:nvPr/>
        </p:nvSpPr>
        <p:spPr>
          <a:xfrm>
            <a:off x="1385316" y="6537960"/>
            <a:ext cx="1197864"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Scenario 1</a:t>
            </a:r>
            <a:endParaRPr lang="en-US" sz="1200" dirty="0"/>
          </a:p>
        </p:txBody>
      </p:sp>
      <p:pic>
        <p:nvPicPr>
          <p:cNvPr id="73" name="Image 2" descr="preencoded.png">
            <a:hlinkClick r:id="rId5" tooltip="Go to Scenario 1" action="ppaction://hlinksldjump"/>
          </p:cNvPr>
          <p:cNvPicPr>
            <a:picLocks noChangeAspect="1"/>
          </p:cNvPicPr>
          <p:nvPr/>
        </p:nvPicPr>
        <p:blipFill>
          <a:blip r:embed="rId4"/>
          <a:stretch>
            <a:fillRect/>
          </a:stretch>
        </p:blipFill>
        <p:spPr>
          <a:xfrm>
            <a:off x="1385316" y="6537960"/>
            <a:ext cx="1197864" cy="274320"/>
          </a:xfrm>
          <a:prstGeom prst="rect">
            <a:avLst/>
          </a:prstGeom>
        </p:spPr>
      </p:pic>
      <p:sp>
        <p:nvSpPr>
          <p:cNvPr id="74" name="Shape 69"/>
          <p:cNvSpPr/>
          <p:nvPr/>
        </p:nvSpPr>
        <p:spPr>
          <a:xfrm>
            <a:off x="2656332" y="6537960"/>
            <a:ext cx="1197864" cy="274320"/>
          </a:xfrm>
          <a:prstGeom prst="roundRect">
            <a:avLst>
              <a:gd name="adj" fmla="val 50000"/>
            </a:avLst>
          </a:prstGeom>
          <a:solidFill>
            <a:srgbClr val="F1F8F3"/>
          </a:solidFill>
          <a:ln w="12700">
            <a:solidFill>
              <a:srgbClr val="F1F8F3"/>
            </a:solidFill>
            <a:prstDash val="solid"/>
          </a:ln>
        </p:spPr>
      </p:sp>
      <p:sp>
        <p:nvSpPr>
          <p:cNvPr id="75" name="Text 70"/>
          <p:cNvSpPr txBox="1"/>
          <p:nvPr/>
        </p:nvSpPr>
        <p:spPr>
          <a:xfrm>
            <a:off x="2656332" y="6537960"/>
            <a:ext cx="1197864" cy="274320"/>
          </a:xfrm>
          <a:prstGeom prst="rect">
            <a:avLst/>
          </a:prstGeom>
          <a:noFill/>
          <a:ln/>
        </p:spPr>
        <p:txBody>
          <a:bodyPr wrap="square" lIns="0" tIns="0" rIns="0" bIns="0" rtlCol="0" anchor="ctr"/>
          <a:lstStyle/>
          <a:p>
            <a:pPr algn="ctr" indent="0" marL="0">
              <a:buNone/>
            </a:pPr>
            <a:r>
              <a:rPr lang="en-US" sz="1200" b="1" dirty="0">
                <a:solidFill>
                  <a:srgbClr val="4C8068"/>
                </a:solidFill>
                <a:latin typeface="Calibri" pitchFamily="34" charset="0"/>
                <a:ea typeface="Calibri" pitchFamily="34" charset="-122"/>
                <a:cs typeface="Calibri" pitchFamily="34" charset="-120"/>
              </a:rPr>
              <a:t>Scenario 2</a:t>
            </a:r>
            <a:endParaRPr lang="en-US" sz="1200" dirty="0"/>
          </a:p>
        </p:txBody>
      </p:sp>
      <p:pic>
        <p:nvPicPr>
          <p:cNvPr id="76" name="Image 3" descr="preencoded.png">
            <a:hlinkClick r:id="rId7" tooltip="Go to Scenario 2" action="ppaction://hlinksldjump"/>
          </p:cNvPr>
          <p:cNvPicPr>
            <a:picLocks noChangeAspect="1"/>
          </p:cNvPicPr>
          <p:nvPr/>
        </p:nvPicPr>
        <p:blipFill>
          <a:blip r:embed="rId6"/>
          <a:stretch>
            <a:fillRect/>
          </a:stretch>
        </p:blipFill>
        <p:spPr>
          <a:xfrm>
            <a:off x="2656332" y="6537960"/>
            <a:ext cx="1197864" cy="274320"/>
          </a:xfrm>
          <a:prstGeom prst="rect">
            <a:avLst/>
          </a:prstGeom>
        </p:spPr>
      </p:pic>
      <p:sp>
        <p:nvSpPr>
          <p:cNvPr id="77" name="Shape 71"/>
          <p:cNvSpPr/>
          <p:nvPr/>
        </p:nvSpPr>
        <p:spPr>
          <a:xfrm>
            <a:off x="3927348" y="6537960"/>
            <a:ext cx="1197864" cy="274320"/>
          </a:xfrm>
          <a:prstGeom prst="roundRect">
            <a:avLst>
              <a:gd name="adj" fmla="val 50000"/>
            </a:avLst>
          </a:prstGeom>
          <a:solidFill>
            <a:srgbClr val="F6F3FA"/>
          </a:solidFill>
          <a:ln w="12700">
            <a:solidFill>
              <a:srgbClr val="F6F3FA"/>
            </a:solidFill>
            <a:prstDash val="solid"/>
          </a:ln>
        </p:spPr>
      </p:sp>
      <p:sp>
        <p:nvSpPr>
          <p:cNvPr id="78" name="Text 72"/>
          <p:cNvSpPr txBox="1"/>
          <p:nvPr/>
        </p:nvSpPr>
        <p:spPr>
          <a:xfrm>
            <a:off x="3927348" y="6537960"/>
            <a:ext cx="1197864" cy="274320"/>
          </a:xfrm>
          <a:prstGeom prst="rect">
            <a:avLst/>
          </a:prstGeom>
          <a:noFill/>
          <a:ln/>
        </p:spPr>
        <p:txBody>
          <a:bodyPr wrap="square" lIns="0" tIns="0" rIns="0" bIns="0" rtlCol="0" anchor="ctr"/>
          <a:lstStyle/>
          <a:p>
            <a:pPr algn="ctr" indent="0" marL="0">
              <a:buNone/>
            </a:pPr>
            <a:r>
              <a:rPr lang="en-US" sz="1200" b="1" dirty="0">
                <a:solidFill>
                  <a:srgbClr val="6E5E94"/>
                </a:solidFill>
                <a:latin typeface="Calibri" pitchFamily="34" charset="0"/>
                <a:ea typeface="Calibri" pitchFamily="34" charset="-122"/>
                <a:cs typeface="Calibri" pitchFamily="34" charset="-120"/>
              </a:rPr>
              <a:t>Scenario 3</a:t>
            </a:r>
            <a:endParaRPr lang="en-US" sz="1200" dirty="0"/>
          </a:p>
        </p:txBody>
      </p:sp>
      <p:pic>
        <p:nvPicPr>
          <p:cNvPr id="79" name="Image 4" descr="preencoded.png">
            <a:hlinkClick r:id="rId9" tooltip="Go to Scenario 3" action="ppaction://hlinksldjump"/>
          </p:cNvPr>
          <p:cNvPicPr>
            <a:picLocks noChangeAspect="1"/>
          </p:cNvPicPr>
          <p:nvPr/>
        </p:nvPicPr>
        <p:blipFill>
          <a:blip r:embed="rId8"/>
          <a:stretch>
            <a:fillRect/>
          </a:stretch>
        </p:blipFill>
        <p:spPr>
          <a:xfrm>
            <a:off x="3927348" y="6537960"/>
            <a:ext cx="1197864" cy="274320"/>
          </a:xfrm>
          <a:prstGeom prst="rect">
            <a:avLst/>
          </a:prstGeom>
        </p:spPr>
      </p:pic>
      <p:sp>
        <p:nvSpPr>
          <p:cNvPr id="80" name="Shape 73"/>
          <p:cNvSpPr/>
          <p:nvPr/>
        </p:nvSpPr>
        <p:spPr>
          <a:xfrm>
            <a:off x="5198364" y="6537960"/>
            <a:ext cx="937260" cy="274320"/>
          </a:xfrm>
          <a:prstGeom prst="roundRect">
            <a:avLst>
              <a:gd name="adj" fmla="val 50000"/>
            </a:avLst>
          </a:prstGeom>
          <a:solidFill>
            <a:srgbClr val="E4ECF2"/>
          </a:solidFill>
          <a:ln w="12700">
            <a:solidFill>
              <a:srgbClr val="E4ECF2"/>
            </a:solidFill>
            <a:prstDash val="solid"/>
          </a:ln>
        </p:spPr>
      </p:sp>
      <p:sp>
        <p:nvSpPr>
          <p:cNvPr id="81" name="Text 74"/>
          <p:cNvSpPr txBox="1"/>
          <p:nvPr/>
        </p:nvSpPr>
        <p:spPr>
          <a:xfrm>
            <a:off x="5198364" y="6537960"/>
            <a:ext cx="937260" cy="274320"/>
          </a:xfrm>
          <a:prstGeom prst="rect">
            <a:avLst/>
          </a:prstGeom>
          <a:noFill/>
          <a:ln/>
        </p:spPr>
        <p:txBody>
          <a:bodyPr wrap="square" lIns="0" tIns="0" rIns="0" bIns="0" rtlCol="0" anchor="ctr"/>
          <a:lstStyle/>
          <a:p>
            <a:pPr algn="ctr" indent="0" marL="0">
              <a:buNone/>
            </a:pPr>
            <a:r>
              <a:rPr lang="en-US" sz="1200" b="1" dirty="0">
                <a:solidFill>
                  <a:srgbClr val="23405A"/>
                </a:solidFill>
                <a:latin typeface="Calibri" pitchFamily="34" charset="0"/>
                <a:ea typeface="Calibri" pitchFamily="34" charset="-122"/>
                <a:cs typeface="Calibri" pitchFamily="34" charset="-120"/>
              </a:rPr>
              <a:t>Closing</a:t>
            </a:r>
            <a:endParaRPr lang="en-US" sz="1200" dirty="0"/>
          </a:p>
        </p:txBody>
      </p:sp>
      <p:pic>
        <p:nvPicPr>
          <p:cNvPr id="82" name="Image 5" descr="preencoded.png">
            <a:hlinkClick r:id="rId11" tooltip="Go to Closing" action="ppaction://hlinksldjump"/>
          </p:cNvPr>
          <p:cNvPicPr>
            <a:picLocks noChangeAspect="1"/>
          </p:cNvPicPr>
          <p:nvPr/>
        </p:nvPicPr>
        <p:blipFill>
          <a:blip r:embed="rId10"/>
          <a:stretch>
            <a:fillRect/>
          </a:stretch>
        </p:blipFill>
        <p:spPr>
          <a:xfrm>
            <a:off x="5198364" y="6537960"/>
            <a:ext cx="937260" cy="274320"/>
          </a:xfrm>
          <a:prstGeom prst="rect">
            <a:avLst/>
          </a:prstGeom>
        </p:spPr>
      </p:pic>
      <p:sp>
        <p:nvSpPr>
          <p:cNvPr id="83" name="Text 75"/>
          <p:cNvSpPr txBox="1"/>
          <p:nvPr/>
        </p:nvSpPr>
        <p:spPr>
          <a:xfrm>
            <a:off x="11277295" y="6537960"/>
            <a:ext cx="365760" cy="274320"/>
          </a:xfrm>
          <a:prstGeom prst="rect">
            <a:avLst/>
          </a:prstGeom>
          <a:noFill/>
          <a:ln/>
        </p:spPr>
        <p:txBody>
          <a:bodyPr wrap="square" lIns="0" tIns="0" rIns="0" bIns="0" rtlCol="0" anchor="ctr"/>
          <a:lstStyle/>
          <a:p>
            <a:pPr algn="r" indent="0" marL="0">
              <a:buNone/>
            </a:pPr>
            <a:r>
              <a:rPr lang="en-US" sz="1200" dirty="0">
                <a:solidFill>
                  <a:srgbClr val="465A69"/>
                </a:solidFill>
                <a:latin typeface="Calibri" pitchFamily="34" charset="0"/>
                <a:ea typeface="Calibri" pitchFamily="34" charset="-122"/>
                <a:cs typeface="Calibri"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6EEF6"/>
        </a:solidFill>
      </p:bgPr>
    </p:bg>
    <p:spTree>
      <p:nvGrpSpPr>
        <p:cNvPr id="1" name=""/>
        <p:cNvGrpSpPr/>
        <p:nvPr/>
      </p:nvGrpSpPr>
      <p:grpSpPr>
        <a:xfrm>
          <a:off x="0" y="0"/>
          <a:ext cx="0" cy="0"/>
          <a:chOff x="0" y="0"/>
          <a:chExt cx="0" cy="0"/>
        </a:xfrm>
      </p:grpSpPr>
      <p:sp>
        <p:nvSpPr>
          <p:cNvPr id="2" name="Shape 0"/>
          <p:cNvSpPr/>
          <p:nvPr/>
        </p:nvSpPr>
        <p:spPr>
          <a:xfrm>
            <a:off x="548640" y="347472"/>
            <a:ext cx="2843784" cy="329184"/>
          </a:xfrm>
          <a:prstGeom prst="roundRect">
            <a:avLst>
              <a:gd name="adj" fmla="val 50000"/>
            </a:avLst>
          </a:prstGeom>
          <a:solidFill>
            <a:srgbClr val="F1F6FA"/>
          </a:solidFill>
          <a:ln w="12700">
            <a:solidFill>
              <a:srgbClr val="F1F6FA"/>
            </a:solidFill>
            <a:prstDash val="solid"/>
          </a:ln>
        </p:spPr>
      </p:sp>
      <p:sp>
        <p:nvSpPr>
          <p:cNvPr id="3" name="Text 1"/>
          <p:cNvSpPr txBox="1"/>
          <p:nvPr/>
        </p:nvSpPr>
        <p:spPr>
          <a:xfrm>
            <a:off x="548640" y="347472"/>
            <a:ext cx="2843784" cy="329184"/>
          </a:xfrm>
          <a:prstGeom prst="rect">
            <a:avLst/>
          </a:prstGeom>
          <a:noFill/>
          <a:ln/>
        </p:spPr>
        <p:txBody>
          <a:bodyPr wrap="square" lIns="0" tIns="0" rIns="0" bIns="0" rtlCol="0" anchor="ctr"/>
          <a:lstStyle/>
          <a:p>
            <a:pPr algn="ctr" indent="0" marL="0">
              <a:buNone/>
            </a:pPr>
            <a:r>
              <a:rPr lang="en-US" sz="1200" b="1" dirty="0">
                <a:solidFill>
                  <a:srgbClr val="3F6E8C"/>
                </a:solidFill>
                <a:latin typeface="Calibri" pitchFamily="34" charset="0"/>
                <a:ea typeface="Calibri" pitchFamily="34" charset="-122"/>
                <a:cs typeface="Calibri" pitchFamily="34" charset="-120"/>
              </a:rPr>
              <a:t>Scenario 1: Incident Response</a:t>
            </a:r>
            <a:endParaRPr lang="en-US" sz="1200" dirty="0"/>
          </a:p>
        </p:txBody>
      </p:sp>
      <p:sp>
        <p:nvSpPr>
          <p:cNvPr id="4" name="Text 2"/>
          <p:cNvSpPr txBox="1"/>
          <p:nvPr/>
        </p:nvSpPr>
        <p:spPr>
          <a:xfrm>
            <a:off x="548640" y="749808"/>
            <a:ext cx="11064240" cy="640080"/>
          </a:xfrm>
          <a:prstGeom prst="rect">
            <a:avLst/>
          </a:prstGeom>
          <a:noFill/>
          <a:ln/>
        </p:spPr>
        <p:txBody>
          <a:bodyPr wrap="square" lIns="0" tIns="0" rIns="0" bIns="0" rtlCol="0" anchor="ctr"/>
          <a:lstStyle/>
          <a:p>
            <a:pPr indent="0" marL="0">
              <a:buNone/>
            </a:pPr>
            <a:r>
              <a:rPr lang="en-US" sz="2800" b="1" dirty="0">
                <a:solidFill>
                  <a:srgbClr val="23405A"/>
                </a:solidFill>
                <a:latin typeface="Calibri" pitchFamily="34" charset="0"/>
                <a:ea typeface="Calibri" pitchFamily="34" charset="-122"/>
                <a:cs typeface="Calibri" pitchFamily="34" charset="-120"/>
              </a:rPr>
              <a:t>T+30m: Suspicious Activity</a:t>
            </a:r>
            <a:endParaRPr lang="en-US" sz="2800" dirty="0"/>
          </a:p>
        </p:txBody>
      </p:sp>
      <p:sp>
        <p:nvSpPr>
          <p:cNvPr id="5" name="Shape 3"/>
          <p:cNvSpPr/>
          <p:nvPr/>
        </p:nvSpPr>
        <p:spPr>
          <a:xfrm>
            <a:off x="10705795" y="347472"/>
            <a:ext cx="937260" cy="329184"/>
          </a:xfrm>
          <a:prstGeom prst="roundRect">
            <a:avLst>
              <a:gd name="adj" fmla="val 50000"/>
            </a:avLst>
          </a:prstGeom>
          <a:solidFill>
            <a:srgbClr val="FFFFFF"/>
          </a:solidFill>
          <a:ln w="12700">
            <a:solidFill>
              <a:srgbClr val="FFFFFF"/>
            </a:solidFill>
            <a:prstDash val="solid"/>
          </a:ln>
        </p:spPr>
      </p:sp>
      <p:sp>
        <p:nvSpPr>
          <p:cNvPr id="6" name="Text 4"/>
          <p:cNvSpPr txBox="1"/>
          <p:nvPr/>
        </p:nvSpPr>
        <p:spPr>
          <a:xfrm>
            <a:off x="10705795" y="347472"/>
            <a:ext cx="937260" cy="329184"/>
          </a:xfrm>
          <a:prstGeom prst="rect">
            <a:avLst/>
          </a:prstGeom>
          <a:noFill/>
          <a:ln/>
        </p:spPr>
        <p:txBody>
          <a:bodyPr wrap="square" lIns="0" tIns="0" rIns="0" bIns="0" rtlCol="0" anchor="ctr"/>
          <a:lstStyle/>
          <a:p>
            <a:pPr algn="ctr" indent="0" marL="0">
              <a:buNone/>
            </a:pPr>
            <a:r>
              <a:rPr lang="en-US" sz="1200" dirty="0">
                <a:solidFill>
                  <a:srgbClr val="465A69"/>
                </a:solidFill>
                <a:latin typeface="Calibri" pitchFamily="34" charset="0"/>
                <a:ea typeface="Calibri" pitchFamily="34" charset="-122"/>
                <a:cs typeface="Calibri" pitchFamily="34" charset="-120"/>
              </a:rPr>
              <a:t>Hotwash</a:t>
            </a:r>
            <a:endParaRPr lang="en-US" sz="1200" dirty="0"/>
          </a:p>
        </p:txBody>
      </p:sp>
      <p:sp>
        <p:nvSpPr>
          <p:cNvPr id="7" name="Shape 5"/>
          <p:cNvSpPr/>
          <p:nvPr/>
        </p:nvSpPr>
        <p:spPr>
          <a:xfrm>
            <a:off x="9608515" y="347472"/>
            <a:ext cx="1024128" cy="329184"/>
          </a:xfrm>
          <a:prstGeom prst="roundRect">
            <a:avLst>
              <a:gd name="adj" fmla="val 50000"/>
            </a:avLst>
          </a:prstGeom>
          <a:solidFill>
            <a:srgbClr val="FFFFFF"/>
          </a:solidFill>
          <a:ln w="12700">
            <a:solidFill>
              <a:srgbClr val="FFFFFF"/>
            </a:solidFill>
            <a:prstDash val="solid"/>
          </a:ln>
        </p:spPr>
      </p:sp>
      <p:sp>
        <p:nvSpPr>
          <p:cNvPr id="8" name="Text 6"/>
          <p:cNvSpPr txBox="1"/>
          <p:nvPr/>
        </p:nvSpPr>
        <p:spPr>
          <a:xfrm>
            <a:off x="9608515" y="347472"/>
            <a:ext cx="1024128" cy="329184"/>
          </a:xfrm>
          <a:prstGeom prst="rect">
            <a:avLst/>
          </a:prstGeom>
          <a:noFill/>
          <a:ln/>
        </p:spPr>
        <p:txBody>
          <a:bodyPr wrap="square" lIns="0" tIns="0" rIns="0" bIns="0" rtlCol="0" anchor="ctr"/>
          <a:lstStyle/>
          <a:p>
            <a:pPr algn="ctr" indent="0" marL="0">
              <a:buNone/>
            </a:pPr>
            <a:r>
              <a:rPr lang="en-US" sz="1200" dirty="0">
                <a:solidFill>
                  <a:srgbClr val="465A69"/>
                </a:solidFill>
                <a:latin typeface="Calibri" pitchFamily="34" charset="0"/>
                <a:ea typeface="Calibri" pitchFamily="34" charset="-122"/>
                <a:cs typeface="Calibri" pitchFamily="34" charset="-120"/>
              </a:rPr>
              <a:t>Recovery</a:t>
            </a:r>
            <a:endParaRPr lang="en-US" sz="1200" dirty="0"/>
          </a:p>
        </p:txBody>
      </p:sp>
      <p:sp>
        <p:nvSpPr>
          <p:cNvPr id="9" name="Shape 7"/>
          <p:cNvSpPr/>
          <p:nvPr/>
        </p:nvSpPr>
        <p:spPr>
          <a:xfrm>
            <a:off x="8598103" y="347472"/>
            <a:ext cx="937260" cy="329184"/>
          </a:xfrm>
          <a:prstGeom prst="roundRect">
            <a:avLst>
              <a:gd name="adj" fmla="val 50000"/>
            </a:avLst>
          </a:prstGeom>
          <a:solidFill>
            <a:srgbClr val="3F6E8C"/>
          </a:solidFill>
          <a:ln w="12700">
            <a:solidFill>
              <a:srgbClr val="3F6E8C"/>
            </a:solidFill>
            <a:prstDash val="solid"/>
          </a:ln>
        </p:spPr>
      </p:sp>
      <p:sp>
        <p:nvSpPr>
          <p:cNvPr id="10" name="Text 8"/>
          <p:cNvSpPr txBox="1"/>
          <p:nvPr/>
        </p:nvSpPr>
        <p:spPr>
          <a:xfrm>
            <a:off x="8598103" y="347472"/>
            <a:ext cx="93726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Injects</a:t>
            </a:r>
            <a:endParaRPr lang="en-US" sz="1200" dirty="0"/>
          </a:p>
        </p:txBody>
      </p:sp>
      <p:sp>
        <p:nvSpPr>
          <p:cNvPr id="11" name="Shape 9"/>
          <p:cNvSpPr/>
          <p:nvPr/>
        </p:nvSpPr>
        <p:spPr>
          <a:xfrm>
            <a:off x="7674559" y="347472"/>
            <a:ext cx="850392" cy="329184"/>
          </a:xfrm>
          <a:prstGeom prst="roundRect">
            <a:avLst>
              <a:gd name="adj" fmla="val 50000"/>
            </a:avLst>
          </a:prstGeom>
          <a:solidFill>
            <a:srgbClr val="F1F6FA"/>
          </a:solidFill>
          <a:ln w="12700">
            <a:solidFill>
              <a:srgbClr val="F1F6FA"/>
            </a:solidFill>
            <a:prstDash val="solid"/>
          </a:ln>
        </p:spPr>
      </p:sp>
      <p:sp>
        <p:nvSpPr>
          <p:cNvPr id="12" name="Text 10"/>
          <p:cNvSpPr txBox="1"/>
          <p:nvPr/>
        </p:nvSpPr>
        <p:spPr>
          <a:xfrm>
            <a:off x="7674559" y="347472"/>
            <a:ext cx="850392" cy="329184"/>
          </a:xfrm>
          <a:prstGeom prst="rect">
            <a:avLst/>
          </a:prstGeom>
          <a:noFill/>
          <a:ln/>
        </p:spPr>
        <p:txBody>
          <a:bodyPr wrap="square" lIns="0" tIns="0" rIns="0" bIns="0" rtlCol="0" anchor="ctr"/>
          <a:lstStyle/>
          <a:p>
            <a:pPr algn="ctr" indent="0" marL="0">
              <a:buNone/>
            </a:pPr>
            <a:r>
              <a:rPr lang="en-US" sz="1200" dirty="0">
                <a:solidFill>
                  <a:srgbClr val="3F6E8C"/>
                </a:solidFill>
                <a:latin typeface="Calibri" pitchFamily="34" charset="0"/>
                <a:ea typeface="Calibri" pitchFamily="34" charset="-122"/>
                <a:cs typeface="Calibri" pitchFamily="34" charset="-120"/>
              </a:rPr>
              <a:t>Decide</a:t>
            </a:r>
            <a:endParaRPr lang="en-US" sz="1200" dirty="0"/>
          </a:p>
        </p:txBody>
      </p:sp>
      <p:sp>
        <p:nvSpPr>
          <p:cNvPr id="13" name="Shape 11"/>
          <p:cNvSpPr/>
          <p:nvPr/>
        </p:nvSpPr>
        <p:spPr>
          <a:xfrm>
            <a:off x="7011619" y="347472"/>
            <a:ext cx="589788" cy="329184"/>
          </a:xfrm>
          <a:prstGeom prst="roundRect">
            <a:avLst>
              <a:gd name="adj" fmla="val 50000"/>
            </a:avLst>
          </a:prstGeom>
          <a:solidFill>
            <a:srgbClr val="F1F6FA"/>
          </a:solidFill>
          <a:ln w="12700">
            <a:solidFill>
              <a:srgbClr val="F1F6FA"/>
            </a:solidFill>
            <a:prstDash val="solid"/>
          </a:ln>
        </p:spPr>
      </p:sp>
      <p:sp>
        <p:nvSpPr>
          <p:cNvPr id="14" name="Text 12"/>
          <p:cNvSpPr txBox="1"/>
          <p:nvPr/>
        </p:nvSpPr>
        <p:spPr>
          <a:xfrm>
            <a:off x="7011619" y="347472"/>
            <a:ext cx="589788" cy="329184"/>
          </a:xfrm>
          <a:prstGeom prst="rect">
            <a:avLst/>
          </a:prstGeom>
          <a:noFill/>
          <a:ln/>
        </p:spPr>
        <p:txBody>
          <a:bodyPr wrap="square" lIns="0" tIns="0" rIns="0" bIns="0" rtlCol="0" anchor="ctr"/>
          <a:lstStyle/>
          <a:p>
            <a:pPr algn="ctr" indent="0" marL="0">
              <a:buNone/>
            </a:pPr>
            <a:r>
              <a:rPr lang="en-US" sz="1200" dirty="0">
                <a:solidFill>
                  <a:srgbClr val="3F6E8C"/>
                </a:solidFill>
                <a:latin typeface="Calibri" pitchFamily="34" charset="0"/>
                <a:ea typeface="Calibri" pitchFamily="34" charset="-122"/>
                <a:cs typeface="Calibri" pitchFamily="34" charset="-120"/>
              </a:rPr>
              <a:t>T+0</a:t>
            </a:r>
            <a:endParaRPr lang="en-US" sz="1200" dirty="0"/>
          </a:p>
        </p:txBody>
      </p:sp>
      <p:sp>
        <p:nvSpPr>
          <p:cNvPr id="15" name="Shape 13"/>
          <p:cNvSpPr/>
          <p:nvPr/>
        </p:nvSpPr>
        <p:spPr>
          <a:xfrm>
            <a:off x="5740603" y="347472"/>
            <a:ext cx="1197864" cy="329184"/>
          </a:xfrm>
          <a:prstGeom prst="roundRect">
            <a:avLst>
              <a:gd name="adj" fmla="val 50000"/>
            </a:avLst>
          </a:prstGeom>
          <a:solidFill>
            <a:srgbClr val="F1F6FA"/>
          </a:solidFill>
          <a:ln w="12700">
            <a:solidFill>
              <a:srgbClr val="F1F6FA"/>
            </a:solidFill>
            <a:prstDash val="solid"/>
          </a:ln>
        </p:spPr>
      </p:sp>
      <p:sp>
        <p:nvSpPr>
          <p:cNvPr id="16" name="Text 14"/>
          <p:cNvSpPr txBox="1"/>
          <p:nvPr/>
        </p:nvSpPr>
        <p:spPr>
          <a:xfrm>
            <a:off x="5740603" y="347472"/>
            <a:ext cx="1197864" cy="329184"/>
          </a:xfrm>
          <a:prstGeom prst="rect">
            <a:avLst/>
          </a:prstGeom>
          <a:noFill/>
          <a:ln/>
        </p:spPr>
        <p:txBody>
          <a:bodyPr wrap="square" lIns="0" tIns="0" rIns="0" bIns="0" rtlCol="0" anchor="ctr"/>
          <a:lstStyle/>
          <a:p>
            <a:pPr algn="ctr" indent="0" marL="0">
              <a:buNone/>
            </a:pPr>
            <a:r>
              <a:rPr lang="en-US" sz="1200" dirty="0">
                <a:solidFill>
                  <a:srgbClr val="3F6E8C"/>
                </a:solidFill>
                <a:latin typeface="Calibri" pitchFamily="34" charset="0"/>
                <a:ea typeface="Calibri" pitchFamily="34" charset="-122"/>
                <a:cs typeface="Calibri" pitchFamily="34" charset="-120"/>
              </a:rPr>
              <a:t>Background</a:t>
            </a:r>
            <a:endParaRPr lang="en-US" sz="1200" dirty="0"/>
          </a:p>
        </p:txBody>
      </p:sp>
      <p:sp>
        <p:nvSpPr>
          <p:cNvPr id="17" name="Shape 15"/>
          <p:cNvSpPr/>
          <p:nvPr/>
        </p:nvSpPr>
        <p:spPr>
          <a:xfrm>
            <a:off x="548640" y="1600200"/>
            <a:ext cx="2377440" cy="4572000"/>
          </a:xfrm>
          <a:prstGeom prst="roundRect">
            <a:avLst>
              <a:gd name="adj" fmla="val 5385"/>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18" name="Text 16"/>
          <p:cNvSpPr txBox="1"/>
          <p:nvPr/>
        </p:nvSpPr>
        <p:spPr>
          <a:xfrm>
            <a:off x="822960" y="1783080"/>
            <a:ext cx="1874520" cy="320040"/>
          </a:xfrm>
          <a:prstGeom prst="rect">
            <a:avLst/>
          </a:prstGeom>
          <a:noFill/>
          <a:ln/>
        </p:spPr>
        <p:txBody>
          <a:bodyPr wrap="square" lIns="0" tIns="0" rIns="0" bIns="0" rtlCol="0" anchor="t"/>
          <a:lstStyle/>
          <a:p>
            <a:pPr indent="0" marL="0">
              <a:buNone/>
            </a:pPr>
            <a:r>
              <a:rPr lang="en-US" sz="1400" b="1" dirty="0">
                <a:solidFill>
                  <a:srgbClr val="465A69"/>
                </a:solidFill>
                <a:latin typeface="Calibri" pitchFamily="34" charset="0"/>
                <a:ea typeface="Calibri" pitchFamily="34" charset="-122"/>
                <a:cs typeface="Calibri" pitchFamily="34" charset="-120"/>
              </a:rPr>
              <a:t>Timeline</a:t>
            </a:r>
            <a:endParaRPr lang="en-US" sz="1400" dirty="0"/>
          </a:p>
        </p:txBody>
      </p:sp>
      <p:sp>
        <p:nvSpPr>
          <p:cNvPr id="19" name="Shape 17"/>
          <p:cNvSpPr/>
          <p:nvPr/>
        </p:nvSpPr>
        <p:spPr>
          <a:xfrm>
            <a:off x="905256" y="2551176"/>
            <a:ext cx="0" cy="257338"/>
          </a:xfrm>
          <a:prstGeom prst="line">
            <a:avLst/>
          </a:prstGeom>
          <a:noFill/>
          <a:ln w="19050">
            <a:solidFill>
              <a:srgbClr val="3F6E8C"/>
            </a:solidFill>
            <a:prstDash val="solid"/>
          </a:ln>
        </p:spPr>
      </p:sp>
      <p:sp>
        <p:nvSpPr>
          <p:cNvPr id="20" name="Shape 18"/>
          <p:cNvSpPr/>
          <p:nvPr/>
        </p:nvSpPr>
        <p:spPr>
          <a:xfrm>
            <a:off x="777240" y="2267712"/>
            <a:ext cx="256032" cy="256032"/>
          </a:xfrm>
          <a:prstGeom prst="ellipse">
            <a:avLst/>
          </a:prstGeom>
          <a:solidFill>
            <a:srgbClr val="F1F6FA"/>
          </a:solidFill>
          <a:ln w="12700">
            <a:solidFill>
              <a:srgbClr val="F1F6FA"/>
            </a:solidFill>
            <a:prstDash val="solid"/>
          </a:ln>
        </p:spPr>
      </p:sp>
      <p:sp>
        <p:nvSpPr>
          <p:cNvPr id="21" name="Text 19"/>
          <p:cNvSpPr txBox="1"/>
          <p:nvPr/>
        </p:nvSpPr>
        <p:spPr>
          <a:xfrm>
            <a:off x="1188720" y="2203704"/>
            <a:ext cx="1645920" cy="568234"/>
          </a:xfrm>
          <a:prstGeom prst="rect">
            <a:avLst/>
          </a:prstGeom>
          <a:noFill/>
          <a:ln/>
        </p:spPr>
        <p:txBody>
          <a:bodyPr wrap="square" lIns="0" tIns="0" rIns="0" bIns="0" rtlCol="0" anchor="t"/>
          <a:lstStyle/>
          <a:p>
            <a:pPr indent="0" marL="0">
              <a:buNone/>
            </a:pPr>
            <a:r>
              <a:rPr lang="en-US" sz="1200" b="1" dirty="0">
                <a:solidFill>
                  <a:srgbClr val="465A69"/>
                </a:solidFill>
                <a:latin typeface="Calibri" pitchFamily="34" charset="0"/>
                <a:ea typeface="Calibri" pitchFamily="34" charset="-122"/>
                <a:cs typeface="Calibri" pitchFamily="34" charset="-120"/>
              </a:rPr>
              <a:t>T+0</a:t>
            </a:r>
            <a:endParaRPr lang="en-US" sz="1200" dirty="0"/>
          </a:p>
          <a:p>
            <a:pPr indent="0" marL="0">
              <a:buNone/>
            </a:pPr>
            <a:r>
              <a:rPr lang="en-US" sz="1200" dirty="0">
                <a:solidFill>
                  <a:srgbClr val="1E2E3A"/>
                </a:solidFill>
                <a:latin typeface="Calibri" pitchFamily="34" charset="0"/>
                <a:ea typeface="Calibri" pitchFamily="34" charset="-122"/>
                <a:cs typeface="Calibri" pitchFamily="34" charset="-120"/>
              </a:rPr>
              <a:t>Initial signal</a:t>
            </a:r>
            <a:endParaRPr lang="en-US" sz="1200" dirty="0"/>
          </a:p>
        </p:txBody>
      </p:sp>
      <p:sp>
        <p:nvSpPr>
          <p:cNvPr id="22" name="Shape 20"/>
          <p:cNvSpPr/>
          <p:nvPr/>
        </p:nvSpPr>
        <p:spPr>
          <a:xfrm>
            <a:off x="905256" y="3119410"/>
            <a:ext cx="0" cy="257338"/>
          </a:xfrm>
          <a:prstGeom prst="line">
            <a:avLst/>
          </a:prstGeom>
          <a:noFill/>
          <a:ln w="19050">
            <a:solidFill>
              <a:srgbClr val="C9D5D2"/>
            </a:solidFill>
            <a:prstDash val="solid"/>
          </a:ln>
        </p:spPr>
      </p:sp>
      <p:sp>
        <p:nvSpPr>
          <p:cNvPr id="23" name="Shape 21"/>
          <p:cNvSpPr/>
          <p:nvPr/>
        </p:nvSpPr>
        <p:spPr>
          <a:xfrm>
            <a:off x="777240" y="2835946"/>
            <a:ext cx="256032" cy="256032"/>
          </a:xfrm>
          <a:prstGeom prst="ellipse">
            <a:avLst/>
          </a:prstGeom>
          <a:solidFill>
            <a:srgbClr val="3F6E8C"/>
          </a:solidFill>
          <a:ln w="12700">
            <a:solidFill>
              <a:srgbClr val="3F6E8C"/>
            </a:solidFill>
            <a:prstDash val="solid"/>
          </a:ln>
        </p:spPr>
      </p:sp>
      <p:sp>
        <p:nvSpPr>
          <p:cNvPr id="24" name="Text 22"/>
          <p:cNvSpPr txBox="1"/>
          <p:nvPr/>
        </p:nvSpPr>
        <p:spPr>
          <a:xfrm>
            <a:off x="1188720" y="2771938"/>
            <a:ext cx="1645920" cy="568234"/>
          </a:xfrm>
          <a:prstGeom prst="rect">
            <a:avLst/>
          </a:prstGeom>
          <a:noFill/>
          <a:ln/>
        </p:spPr>
        <p:txBody>
          <a:bodyPr wrap="square" lIns="0" tIns="0" rIns="0" bIns="0" rtlCol="0" anchor="t"/>
          <a:lstStyle/>
          <a:p>
            <a:pPr indent="0" marL="0">
              <a:buNone/>
            </a:pPr>
            <a:r>
              <a:rPr lang="en-US" sz="1200" b="1" dirty="0">
                <a:solidFill>
                  <a:srgbClr val="3F6E8C"/>
                </a:solidFill>
                <a:latin typeface="Calibri" pitchFamily="34" charset="0"/>
                <a:ea typeface="Calibri" pitchFamily="34" charset="-122"/>
                <a:cs typeface="Calibri" pitchFamily="34" charset="-120"/>
              </a:rPr>
              <a:t>T+30m</a:t>
            </a:r>
            <a:endParaRPr lang="en-US" sz="1200" dirty="0"/>
          </a:p>
          <a:p>
            <a:pPr indent="0" marL="0">
              <a:buNone/>
            </a:pPr>
            <a:r>
              <a:rPr lang="en-US" sz="1200" b="1" dirty="0">
                <a:solidFill>
                  <a:srgbClr val="3F6E8C"/>
                </a:solidFill>
                <a:latin typeface="Calibri" pitchFamily="34" charset="0"/>
                <a:ea typeface="Calibri" pitchFamily="34" charset="-122"/>
                <a:cs typeface="Calibri" pitchFamily="34" charset="-120"/>
              </a:rPr>
              <a:t>Suspicious activity</a:t>
            </a:r>
            <a:endParaRPr lang="en-US" sz="1200" dirty="0"/>
          </a:p>
        </p:txBody>
      </p:sp>
      <p:sp>
        <p:nvSpPr>
          <p:cNvPr id="25" name="Shape 23"/>
          <p:cNvSpPr/>
          <p:nvPr/>
        </p:nvSpPr>
        <p:spPr>
          <a:xfrm>
            <a:off x="905256" y="3687645"/>
            <a:ext cx="0" cy="257338"/>
          </a:xfrm>
          <a:prstGeom prst="line">
            <a:avLst/>
          </a:prstGeom>
          <a:noFill/>
          <a:ln w="19050">
            <a:solidFill>
              <a:srgbClr val="C9D5D2"/>
            </a:solidFill>
            <a:prstDash val="solid"/>
          </a:ln>
        </p:spPr>
      </p:sp>
      <p:sp>
        <p:nvSpPr>
          <p:cNvPr id="26" name="Shape 24"/>
          <p:cNvSpPr/>
          <p:nvPr/>
        </p:nvSpPr>
        <p:spPr>
          <a:xfrm>
            <a:off x="777240" y="3404181"/>
            <a:ext cx="256032" cy="256032"/>
          </a:xfrm>
          <a:prstGeom prst="ellipse">
            <a:avLst/>
          </a:prstGeom>
          <a:solidFill>
            <a:srgbClr val="FFFFFF"/>
          </a:solidFill>
          <a:ln w="15875">
            <a:solidFill>
              <a:srgbClr val="C9D5D2"/>
            </a:solidFill>
            <a:prstDash val="solid"/>
          </a:ln>
        </p:spPr>
      </p:sp>
      <p:sp>
        <p:nvSpPr>
          <p:cNvPr id="27" name="Shape 25"/>
          <p:cNvSpPr/>
          <p:nvPr/>
        </p:nvSpPr>
        <p:spPr>
          <a:xfrm>
            <a:off x="905256" y="4255879"/>
            <a:ext cx="0" cy="257338"/>
          </a:xfrm>
          <a:prstGeom prst="line">
            <a:avLst/>
          </a:prstGeom>
          <a:noFill/>
          <a:ln w="19050">
            <a:solidFill>
              <a:srgbClr val="C9D5D2"/>
            </a:solidFill>
            <a:prstDash val="solid"/>
          </a:ln>
        </p:spPr>
      </p:sp>
      <p:sp>
        <p:nvSpPr>
          <p:cNvPr id="28" name="Shape 26"/>
          <p:cNvSpPr/>
          <p:nvPr/>
        </p:nvSpPr>
        <p:spPr>
          <a:xfrm>
            <a:off x="777240" y="3972415"/>
            <a:ext cx="256032" cy="256032"/>
          </a:xfrm>
          <a:prstGeom prst="ellipse">
            <a:avLst/>
          </a:prstGeom>
          <a:solidFill>
            <a:srgbClr val="FFFFFF"/>
          </a:solidFill>
          <a:ln w="15875">
            <a:solidFill>
              <a:srgbClr val="C9D5D2"/>
            </a:solidFill>
            <a:prstDash val="solid"/>
          </a:ln>
        </p:spPr>
      </p:sp>
      <p:sp>
        <p:nvSpPr>
          <p:cNvPr id="29" name="Shape 27"/>
          <p:cNvSpPr/>
          <p:nvPr/>
        </p:nvSpPr>
        <p:spPr>
          <a:xfrm>
            <a:off x="905256" y="4824113"/>
            <a:ext cx="0" cy="257338"/>
          </a:xfrm>
          <a:prstGeom prst="line">
            <a:avLst/>
          </a:prstGeom>
          <a:noFill/>
          <a:ln w="19050">
            <a:solidFill>
              <a:srgbClr val="C9D5D2"/>
            </a:solidFill>
            <a:prstDash val="solid"/>
          </a:ln>
        </p:spPr>
      </p:sp>
      <p:sp>
        <p:nvSpPr>
          <p:cNvPr id="30" name="Shape 28"/>
          <p:cNvSpPr/>
          <p:nvPr/>
        </p:nvSpPr>
        <p:spPr>
          <a:xfrm>
            <a:off x="777240" y="4540649"/>
            <a:ext cx="256032" cy="256032"/>
          </a:xfrm>
          <a:prstGeom prst="ellipse">
            <a:avLst/>
          </a:prstGeom>
          <a:solidFill>
            <a:srgbClr val="FFFFFF"/>
          </a:solidFill>
          <a:ln w="15875">
            <a:solidFill>
              <a:srgbClr val="C9D5D2"/>
            </a:solidFill>
            <a:prstDash val="solid"/>
          </a:ln>
        </p:spPr>
      </p:sp>
      <p:sp>
        <p:nvSpPr>
          <p:cNvPr id="31" name="Shape 29"/>
          <p:cNvSpPr/>
          <p:nvPr/>
        </p:nvSpPr>
        <p:spPr>
          <a:xfrm>
            <a:off x="905256" y="5392347"/>
            <a:ext cx="0" cy="257338"/>
          </a:xfrm>
          <a:prstGeom prst="line">
            <a:avLst/>
          </a:prstGeom>
          <a:noFill/>
          <a:ln w="19050">
            <a:solidFill>
              <a:srgbClr val="C9D5D2"/>
            </a:solidFill>
            <a:prstDash val="solid"/>
          </a:ln>
        </p:spPr>
      </p:sp>
      <p:sp>
        <p:nvSpPr>
          <p:cNvPr id="32" name="Shape 30"/>
          <p:cNvSpPr/>
          <p:nvPr/>
        </p:nvSpPr>
        <p:spPr>
          <a:xfrm>
            <a:off x="777240" y="5108883"/>
            <a:ext cx="256032" cy="256032"/>
          </a:xfrm>
          <a:prstGeom prst="ellipse">
            <a:avLst/>
          </a:prstGeom>
          <a:solidFill>
            <a:srgbClr val="FFFFFF"/>
          </a:solidFill>
          <a:ln w="15875">
            <a:solidFill>
              <a:srgbClr val="C9D5D2"/>
            </a:solidFill>
            <a:prstDash val="solid"/>
          </a:ln>
        </p:spPr>
      </p:sp>
      <p:sp>
        <p:nvSpPr>
          <p:cNvPr id="33" name="Shape 31"/>
          <p:cNvSpPr/>
          <p:nvPr/>
        </p:nvSpPr>
        <p:spPr>
          <a:xfrm>
            <a:off x="777240" y="5677118"/>
            <a:ext cx="256032" cy="256032"/>
          </a:xfrm>
          <a:prstGeom prst="ellipse">
            <a:avLst/>
          </a:prstGeom>
          <a:solidFill>
            <a:srgbClr val="FFFFFF"/>
          </a:solidFill>
          <a:ln w="15875">
            <a:solidFill>
              <a:srgbClr val="C9D5D2"/>
            </a:solidFill>
            <a:prstDash val="solid"/>
          </a:ln>
        </p:spPr>
      </p:sp>
      <p:sp>
        <p:nvSpPr>
          <p:cNvPr id="34" name="Shape 32"/>
          <p:cNvSpPr/>
          <p:nvPr/>
        </p:nvSpPr>
        <p:spPr>
          <a:xfrm>
            <a:off x="3154680" y="1600200"/>
            <a:ext cx="5696712" cy="3017520"/>
          </a:xfrm>
          <a:prstGeom prst="roundRect">
            <a:avLst>
              <a:gd name="adj" fmla="val 4242"/>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35" name="Shape 33"/>
          <p:cNvSpPr/>
          <p:nvPr/>
        </p:nvSpPr>
        <p:spPr>
          <a:xfrm>
            <a:off x="3429000" y="1810512"/>
            <a:ext cx="2240280" cy="384048"/>
          </a:xfrm>
          <a:prstGeom prst="roundRect">
            <a:avLst>
              <a:gd name="adj" fmla="val 50000"/>
            </a:avLst>
          </a:prstGeom>
          <a:solidFill>
            <a:srgbClr val="3F6E8C"/>
          </a:solidFill>
          <a:ln w="12700">
            <a:solidFill>
              <a:srgbClr val="3F6E8C"/>
            </a:solidFill>
            <a:prstDash val="solid"/>
          </a:ln>
        </p:spPr>
      </p:sp>
      <p:pic>
        <p:nvPicPr>
          <p:cNvPr id="36" name="Image 0" descr="preencoded.png">    </p:cNvPr>
          <p:cNvPicPr>
            <a:picLocks noChangeAspect="1"/>
          </p:cNvPicPr>
          <p:nvPr/>
        </p:nvPicPr>
        <p:blipFill>
          <a:blip r:embed="rId1"/>
          <a:stretch>
            <a:fillRect/>
          </a:stretch>
        </p:blipFill>
        <p:spPr>
          <a:xfrm>
            <a:off x="3547872" y="1874520"/>
            <a:ext cx="246888" cy="246888"/>
          </a:xfrm>
          <a:prstGeom prst="rect">
            <a:avLst/>
          </a:prstGeom>
        </p:spPr>
      </p:pic>
      <p:sp>
        <p:nvSpPr>
          <p:cNvPr id="37" name="Text 34"/>
          <p:cNvSpPr txBox="1"/>
          <p:nvPr/>
        </p:nvSpPr>
        <p:spPr>
          <a:xfrm>
            <a:off x="3867912" y="1810512"/>
            <a:ext cx="1783080" cy="38404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T+30m  |  9:35 AM</a:t>
            </a:r>
            <a:endParaRPr lang="en-US" sz="1300" dirty="0"/>
          </a:p>
        </p:txBody>
      </p:sp>
      <p:sp>
        <p:nvSpPr>
          <p:cNvPr id="38" name="Text 35"/>
          <p:cNvSpPr txBox="1"/>
          <p:nvPr/>
        </p:nvSpPr>
        <p:spPr>
          <a:xfrm>
            <a:off x="3429000" y="2286000"/>
            <a:ext cx="2743200" cy="256032"/>
          </a:xfrm>
          <a:prstGeom prst="rect">
            <a:avLst/>
          </a:prstGeom>
          <a:noFill/>
          <a:ln/>
        </p:spPr>
        <p:txBody>
          <a:bodyPr wrap="square" lIns="0" tIns="0" rIns="0" bIns="0" rtlCol="0" anchor="t"/>
          <a:lstStyle/>
          <a:p>
            <a:pPr indent="0" marL="0">
              <a:buNone/>
            </a:pPr>
            <a:r>
              <a:rPr lang="en-US" sz="1200" b="1" dirty="0">
                <a:solidFill>
                  <a:srgbClr val="465A69"/>
                </a:solidFill>
                <a:latin typeface="Calibri" pitchFamily="34" charset="0"/>
                <a:ea typeface="Calibri" pitchFamily="34" charset="-122"/>
                <a:cs typeface="Calibri" pitchFamily="34" charset="-120"/>
              </a:rPr>
              <a:t>New information</a:t>
            </a:r>
            <a:endParaRPr lang="en-US" sz="1200" dirty="0"/>
          </a:p>
        </p:txBody>
      </p:sp>
      <p:sp>
        <p:nvSpPr>
          <p:cNvPr id="39" name="Text 36"/>
          <p:cNvSpPr txBox="1"/>
          <p:nvPr/>
        </p:nvSpPr>
        <p:spPr>
          <a:xfrm>
            <a:off x="3429000" y="2560320"/>
            <a:ext cx="5166360" cy="1965960"/>
          </a:xfrm>
          <a:prstGeom prst="rect">
            <a:avLst/>
          </a:prstGeom>
          <a:noFill/>
          <a:ln/>
        </p:spPr>
        <p:txBody>
          <a:bodyPr wrap="square" lIns="0" tIns="0" rIns="0" bIns="0" rtlCol="0" anchor="t"/>
          <a:lstStyle/>
          <a:p>
            <a:pPr indent="0" marL="0">
              <a:buNone/>
            </a:pPr>
            <a:r>
              <a:rPr lang="en-US" sz="1600" dirty="0">
                <a:solidFill>
                  <a:srgbClr val="1E2E3A"/>
                </a:solidFill>
                <a:latin typeface="Calibri" pitchFamily="34" charset="0"/>
                <a:ea typeface="Calibri" pitchFamily="34" charset="-122"/>
                <a:cs typeface="Calibri" pitchFamily="34" charset="-120"/>
              </a:rPr>
              <a:t>Microsoft Entra ID flags unusual sign-ins on several accounts that clicked the survey, including new MFA methods registered this morning. Two executives report they are locked out.</a:t>
            </a:r>
            <a:endParaRPr lang="en-US" sz="1600" dirty="0"/>
          </a:p>
        </p:txBody>
      </p:sp>
      <p:sp>
        <p:nvSpPr>
          <p:cNvPr id="40" name="Shape 37"/>
          <p:cNvSpPr/>
          <p:nvPr/>
        </p:nvSpPr>
        <p:spPr>
          <a:xfrm>
            <a:off x="3154680" y="4800600"/>
            <a:ext cx="5696712" cy="1371600"/>
          </a:xfrm>
          <a:prstGeom prst="roundRect">
            <a:avLst>
              <a:gd name="adj" fmla="val 9333"/>
            </a:avLst>
          </a:prstGeom>
          <a:solidFill>
            <a:srgbClr val="F1F6FA"/>
          </a:solidFill>
          <a:ln w="12700">
            <a:solidFill>
              <a:srgbClr val="F1F6FA"/>
            </a:solidFill>
            <a:prstDash val="solid"/>
          </a:ln>
          <a:effectLst>
            <a:outerShdw sx="100000" sy="100000" kx="0" ky="0" algn="bl" rotWithShape="0" blurRad="177800" dist="50800" dir="5400000">
              <a:srgbClr val="1B4965">
                <a:alpha val="16000"/>
              </a:srgbClr>
            </a:outerShdw>
          </a:effectLst>
        </p:spPr>
      </p:sp>
      <p:sp>
        <p:nvSpPr>
          <p:cNvPr id="41" name="Text 38"/>
          <p:cNvSpPr txBox="1"/>
          <p:nvPr/>
        </p:nvSpPr>
        <p:spPr>
          <a:xfrm>
            <a:off x="3429000" y="4901184"/>
            <a:ext cx="2743200" cy="256032"/>
          </a:xfrm>
          <a:prstGeom prst="rect">
            <a:avLst/>
          </a:prstGeom>
          <a:noFill/>
          <a:ln/>
        </p:spPr>
        <p:txBody>
          <a:bodyPr wrap="square" lIns="0" tIns="0" rIns="0" bIns="0" rtlCol="0" anchor="t"/>
          <a:lstStyle/>
          <a:p>
            <a:pPr indent="0" marL="0">
              <a:buNone/>
            </a:pPr>
            <a:r>
              <a:rPr lang="en-US" sz="1300" b="1" dirty="0">
                <a:solidFill>
                  <a:srgbClr val="3F6E8C"/>
                </a:solidFill>
                <a:latin typeface="Calibri" pitchFamily="34" charset="0"/>
                <a:ea typeface="Calibri" pitchFamily="34" charset="-122"/>
                <a:cs typeface="Calibri" pitchFamily="34" charset="-120"/>
              </a:rPr>
              <a:t>Decide</a:t>
            </a:r>
            <a:endParaRPr lang="en-US" sz="1300" dirty="0"/>
          </a:p>
        </p:txBody>
      </p:sp>
      <p:sp>
        <p:nvSpPr>
          <p:cNvPr id="42" name="Text 39"/>
          <p:cNvSpPr txBox="1"/>
          <p:nvPr/>
        </p:nvSpPr>
        <p:spPr>
          <a:xfrm>
            <a:off x="3429000" y="5175504"/>
            <a:ext cx="5166360" cy="914400"/>
          </a:xfrm>
          <a:prstGeom prst="rect">
            <a:avLst/>
          </a:prstGeom>
          <a:noFill/>
          <a:ln/>
        </p:spPr>
        <p:txBody>
          <a:bodyPr wrap="square" lIns="0" tIns="0" rIns="0" bIns="0" rtlCol="0" anchor="t"/>
          <a:lstStyle/>
          <a:p>
            <a:pPr indent="0" marL="0">
              <a:buNone/>
            </a:pPr>
            <a:r>
              <a:rPr lang="en-US" sz="1600" b="1" dirty="0">
                <a:solidFill>
                  <a:srgbClr val="1E2E3A"/>
                </a:solidFill>
                <a:latin typeface="Calibri" pitchFamily="34" charset="0"/>
                <a:ea typeface="Calibri" pitchFamily="34" charset="-122"/>
                <a:cs typeface="Calibri" pitchFamily="34" charset="-120"/>
              </a:rPr>
              <a:t>Do you reset credentials now, or keep monitoring? How do you determine scope?</a:t>
            </a:r>
            <a:endParaRPr lang="en-US" sz="1600" dirty="0"/>
          </a:p>
        </p:txBody>
      </p:sp>
      <p:sp>
        <p:nvSpPr>
          <p:cNvPr id="43" name="Shape 40"/>
          <p:cNvSpPr/>
          <p:nvPr/>
        </p:nvSpPr>
        <p:spPr>
          <a:xfrm>
            <a:off x="9079992" y="1600200"/>
            <a:ext cx="2560320" cy="4572000"/>
          </a:xfrm>
          <a:prstGeom prst="roundRect">
            <a:avLst>
              <a:gd name="adj" fmla="val 5000"/>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44" name="Text 41"/>
          <p:cNvSpPr txBox="1"/>
          <p:nvPr/>
        </p:nvSpPr>
        <p:spPr>
          <a:xfrm>
            <a:off x="9262872" y="1728216"/>
            <a:ext cx="2194560" cy="457200"/>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M365 sign-in alert (simulated)</a:t>
            </a:r>
            <a:endParaRPr lang="en-US" sz="1300" dirty="0"/>
          </a:p>
        </p:txBody>
      </p:sp>
      <p:sp>
        <p:nvSpPr>
          <p:cNvPr id="45" name="Shape 42"/>
          <p:cNvSpPr/>
          <p:nvPr/>
        </p:nvSpPr>
        <p:spPr>
          <a:xfrm>
            <a:off x="9262872" y="2221992"/>
            <a:ext cx="2194560" cy="3767328"/>
          </a:xfrm>
          <a:prstGeom prst="roundRect">
            <a:avLst>
              <a:gd name="adj" fmla="val 3333"/>
            </a:avLst>
          </a:prstGeom>
          <a:solidFill>
            <a:srgbClr val="FFFFFF"/>
          </a:solidFill>
          <a:ln w="9525">
            <a:solidFill>
              <a:srgbClr val="C9D3DE"/>
            </a:solidFill>
            <a:prstDash val="solid"/>
          </a:ln>
        </p:spPr>
      </p:sp>
      <p:sp>
        <p:nvSpPr>
          <p:cNvPr id="46" name="Shape 43"/>
          <p:cNvSpPr/>
          <p:nvPr/>
        </p:nvSpPr>
        <p:spPr>
          <a:xfrm>
            <a:off x="9381744" y="2432304"/>
            <a:ext cx="109728" cy="109728"/>
          </a:xfrm>
          <a:prstGeom prst="rect">
            <a:avLst/>
          </a:prstGeom>
          <a:solidFill>
            <a:srgbClr val="D99A8A"/>
          </a:solidFill>
          <a:ln w="12700">
            <a:solidFill>
              <a:srgbClr val="D99A8A"/>
            </a:solidFill>
            <a:prstDash val="solid"/>
          </a:ln>
        </p:spPr>
      </p:sp>
      <p:sp>
        <p:nvSpPr>
          <p:cNvPr id="47" name="Shape 44"/>
          <p:cNvSpPr/>
          <p:nvPr/>
        </p:nvSpPr>
        <p:spPr>
          <a:xfrm>
            <a:off x="9500616" y="2432304"/>
            <a:ext cx="109728" cy="109728"/>
          </a:xfrm>
          <a:prstGeom prst="rect">
            <a:avLst/>
          </a:prstGeom>
          <a:solidFill>
            <a:srgbClr val="A9C38A"/>
          </a:solidFill>
          <a:ln w="12700">
            <a:solidFill>
              <a:srgbClr val="A9C38A"/>
            </a:solidFill>
            <a:prstDash val="solid"/>
          </a:ln>
        </p:spPr>
      </p:sp>
      <p:sp>
        <p:nvSpPr>
          <p:cNvPr id="48" name="Shape 45"/>
          <p:cNvSpPr/>
          <p:nvPr/>
        </p:nvSpPr>
        <p:spPr>
          <a:xfrm>
            <a:off x="9381744" y="2551176"/>
            <a:ext cx="109728" cy="109728"/>
          </a:xfrm>
          <a:prstGeom prst="rect">
            <a:avLst/>
          </a:prstGeom>
          <a:solidFill>
            <a:srgbClr val="8FBCD6"/>
          </a:solidFill>
          <a:ln w="12700">
            <a:solidFill>
              <a:srgbClr val="8FBCD6"/>
            </a:solidFill>
            <a:prstDash val="solid"/>
          </a:ln>
        </p:spPr>
      </p:sp>
      <p:sp>
        <p:nvSpPr>
          <p:cNvPr id="49" name="Shape 46"/>
          <p:cNvSpPr/>
          <p:nvPr/>
        </p:nvSpPr>
        <p:spPr>
          <a:xfrm>
            <a:off x="9500616" y="2551176"/>
            <a:ext cx="109728" cy="109728"/>
          </a:xfrm>
          <a:prstGeom prst="rect">
            <a:avLst/>
          </a:prstGeom>
          <a:solidFill>
            <a:srgbClr val="E0C58A"/>
          </a:solidFill>
          <a:ln w="12700">
            <a:solidFill>
              <a:srgbClr val="E0C58A"/>
            </a:solidFill>
            <a:prstDash val="solid"/>
          </a:ln>
        </p:spPr>
      </p:sp>
      <p:sp>
        <p:nvSpPr>
          <p:cNvPr id="50" name="Text 47"/>
          <p:cNvSpPr txBox="1"/>
          <p:nvPr/>
        </p:nvSpPr>
        <p:spPr>
          <a:xfrm>
            <a:off x="9729216" y="2386584"/>
            <a:ext cx="1591056" cy="292608"/>
          </a:xfrm>
          <a:prstGeom prst="rect">
            <a:avLst/>
          </a:prstGeom>
          <a:noFill/>
          <a:ln/>
        </p:spPr>
        <p:txBody>
          <a:bodyPr wrap="square" lIns="0" tIns="0" rIns="0" bIns="0" rtlCol="0" anchor="ctr"/>
          <a:lstStyle/>
          <a:p>
            <a:pPr indent="0" marL="0">
              <a:buNone/>
            </a:pPr>
            <a:r>
              <a:rPr lang="en-US" sz="1600" dirty="0">
                <a:solidFill>
                  <a:srgbClr val="3C3C3C"/>
                </a:solidFill>
                <a:latin typeface="Calibri" pitchFamily="34" charset="0"/>
                <a:ea typeface="Calibri" pitchFamily="34" charset="-122"/>
                <a:cs typeface="Calibri" pitchFamily="34" charset="-120"/>
              </a:rPr>
              <a:t>Microsoft</a:t>
            </a:r>
            <a:endParaRPr lang="en-US" sz="1600" dirty="0"/>
          </a:p>
        </p:txBody>
      </p:sp>
      <p:sp>
        <p:nvSpPr>
          <p:cNvPr id="51" name="Text 48"/>
          <p:cNvSpPr txBox="1"/>
          <p:nvPr/>
        </p:nvSpPr>
        <p:spPr>
          <a:xfrm>
            <a:off x="9381744" y="2770632"/>
            <a:ext cx="1956816" cy="454914"/>
          </a:xfrm>
          <a:prstGeom prst="rect">
            <a:avLst/>
          </a:prstGeom>
          <a:noFill/>
          <a:ln/>
        </p:spPr>
        <p:txBody>
          <a:bodyPr wrap="square" lIns="0" tIns="0" rIns="0" bIns="0" rtlCol="0" anchor="t"/>
          <a:lstStyle/>
          <a:p>
            <a:pPr indent="0" marL="0">
              <a:buNone/>
            </a:pPr>
            <a:r>
              <a:rPr lang="en-US" sz="1350" b="1" dirty="0">
                <a:solidFill>
                  <a:srgbClr val="1B2A4A"/>
                </a:solidFill>
                <a:latin typeface="Calibri" pitchFamily="34" charset="0"/>
                <a:ea typeface="Calibri" pitchFamily="34" charset="-122"/>
                <a:cs typeface="Calibri" pitchFamily="34" charset="-120"/>
              </a:rPr>
              <a:t>Unusual sign-in activity</a:t>
            </a:r>
            <a:endParaRPr lang="en-US" sz="1350" dirty="0"/>
          </a:p>
        </p:txBody>
      </p:sp>
      <p:sp>
        <p:nvSpPr>
          <p:cNvPr id="52" name="Text 49"/>
          <p:cNvSpPr txBox="1"/>
          <p:nvPr/>
        </p:nvSpPr>
        <p:spPr>
          <a:xfrm>
            <a:off x="9381744" y="3262122"/>
            <a:ext cx="1956816" cy="402844"/>
          </a:xfrm>
          <a:prstGeom prst="rect">
            <a:avLst/>
          </a:prstGeom>
          <a:noFill/>
          <a:ln/>
        </p:spPr>
        <p:txBody>
          <a:bodyPr wrap="square" lIns="0" tIns="0" rIns="0" bIns="0" rtlCol="0" anchor="t"/>
          <a:lstStyle/>
          <a:p>
            <a:pPr indent="0" marL="0">
              <a:buNone/>
            </a:pPr>
            <a:r>
              <a:rPr lang="en-US" sz="1300" dirty="0">
                <a:solidFill>
                  <a:srgbClr val="1E2E3A"/>
                </a:solidFill>
                <a:latin typeface="Calibri" pitchFamily="34" charset="0"/>
                <a:ea typeface="Calibri" pitchFamily="34" charset="-122"/>
                <a:cs typeface="Calibri" pitchFamily="34" charset="-120"/>
              </a:rPr>
              <a:t>User: j.smith@company.com</a:t>
            </a:r>
            <a:endParaRPr lang="en-US" sz="1300" dirty="0"/>
          </a:p>
        </p:txBody>
      </p:sp>
      <p:sp>
        <p:nvSpPr>
          <p:cNvPr id="53" name="Text 50"/>
          <p:cNvSpPr txBox="1"/>
          <p:nvPr/>
        </p:nvSpPr>
        <p:spPr>
          <a:xfrm>
            <a:off x="9381744" y="3683254"/>
            <a:ext cx="1956816" cy="201422"/>
          </a:xfrm>
          <a:prstGeom prst="rect">
            <a:avLst/>
          </a:prstGeom>
          <a:noFill/>
          <a:ln/>
        </p:spPr>
        <p:txBody>
          <a:bodyPr wrap="square" lIns="0" tIns="0" rIns="0" bIns="0" rtlCol="0" anchor="t"/>
          <a:lstStyle/>
          <a:p>
            <a:pPr indent="0" marL="0">
              <a:buNone/>
            </a:pPr>
            <a:r>
              <a:rPr lang="en-US" sz="1300" dirty="0">
                <a:solidFill>
                  <a:srgbClr val="1E2E3A"/>
                </a:solidFill>
                <a:latin typeface="Calibri" pitchFamily="34" charset="0"/>
                <a:ea typeface="Calibri" pitchFamily="34" charset="-122"/>
                <a:cs typeface="Calibri" pitchFamily="34" charset="-120"/>
              </a:rPr>
              <a:t>Location: Berlin, DE</a:t>
            </a:r>
            <a:endParaRPr lang="en-US" sz="1300" dirty="0"/>
          </a:p>
        </p:txBody>
      </p:sp>
      <p:sp>
        <p:nvSpPr>
          <p:cNvPr id="54" name="Text 51"/>
          <p:cNvSpPr txBox="1"/>
          <p:nvPr/>
        </p:nvSpPr>
        <p:spPr>
          <a:xfrm>
            <a:off x="9381744" y="3902964"/>
            <a:ext cx="1956816" cy="201422"/>
          </a:xfrm>
          <a:prstGeom prst="rect">
            <a:avLst/>
          </a:prstGeom>
          <a:noFill/>
          <a:ln/>
        </p:spPr>
        <p:txBody>
          <a:bodyPr wrap="square" lIns="0" tIns="0" rIns="0" bIns="0" rtlCol="0" anchor="t"/>
          <a:lstStyle/>
          <a:p>
            <a:pPr indent="0" marL="0">
              <a:buNone/>
            </a:pPr>
            <a:r>
              <a:rPr lang="en-US" sz="1300" dirty="0">
                <a:solidFill>
                  <a:srgbClr val="1E2E3A"/>
                </a:solidFill>
                <a:latin typeface="Calibri" pitchFamily="34" charset="0"/>
                <a:ea typeface="Calibri" pitchFamily="34" charset="-122"/>
                <a:cs typeface="Calibri" pitchFamily="34" charset="-120"/>
              </a:rPr>
              <a:t>Time: 9:14 AM (EDT)</a:t>
            </a:r>
            <a:endParaRPr lang="en-US" sz="1300" dirty="0"/>
          </a:p>
        </p:txBody>
      </p:sp>
      <p:sp>
        <p:nvSpPr>
          <p:cNvPr id="55" name="Text 52"/>
          <p:cNvSpPr txBox="1"/>
          <p:nvPr/>
        </p:nvSpPr>
        <p:spPr>
          <a:xfrm>
            <a:off x="9381744" y="4195826"/>
            <a:ext cx="1956816" cy="402844"/>
          </a:xfrm>
          <a:prstGeom prst="rect">
            <a:avLst/>
          </a:prstGeom>
          <a:noFill/>
          <a:ln/>
        </p:spPr>
        <p:txBody>
          <a:bodyPr wrap="square" lIns="0" tIns="0" rIns="0" bIns="0" rtlCol="0" anchor="t"/>
          <a:lstStyle/>
          <a:p>
            <a:pPr indent="0" marL="0">
              <a:buNone/>
            </a:pPr>
            <a:r>
              <a:rPr lang="en-US" sz="1300" b="1" dirty="0">
                <a:solidFill>
                  <a:srgbClr val="1B2A4A"/>
                </a:solidFill>
                <a:latin typeface="Calibri" pitchFamily="34" charset="0"/>
                <a:ea typeface="Calibri" pitchFamily="34" charset="-122"/>
                <a:cs typeface="Calibri" pitchFamily="34" charset="-120"/>
              </a:rPr>
              <a:t>New MFA method registered</a:t>
            </a:r>
            <a:endParaRPr lang="en-US" sz="1300" dirty="0"/>
          </a:p>
        </p:txBody>
      </p:sp>
      <p:pic>
        <p:nvPicPr>
          <p:cNvPr id="56" name="Image 1" descr="preencoded.png">    </p:cNvPr>
          <p:cNvPicPr>
            <a:picLocks noChangeAspect="1"/>
          </p:cNvPicPr>
          <p:nvPr/>
        </p:nvPicPr>
        <p:blipFill>
          <a:blip r:embed="rId2"/>
          <a:stretch>
            <a:fillRect/>
          </a:stretch>
        </p:blipFill>
        <p:spPr>
          <a:xfrm>
            <a:off x="9381744" y="4662678"/>
            <a:ext cx="219456" cy="219456"/>
          </a:xfrm>
          <a:prstGeom prst="rect">
            <a:avLst/>
          </a:prstGeom>
        </p:spPr>
      </p:pic>
      <p:sp>
        <p:nvSpPr>
          <p:cNvPr id="57" name="Text 53"/>
          <p:cNvSpPr txBox="1"/>
          <p:nvPr/>
        </p:nvSpPr>
        <p:spPr>
          <a:xfrm>
            <a:off x="9674352" y="4635246"/>
            <a:ext cx="1636776" cy="237998"/>
          </a:xfrm>
          <a:prstGeom prst="rect">
            <a:avLst/>
          </a:prstGeom>
          <a:noFill/>
          <a:ln/>
        </p:spPr>
        <p:txBody>
          <a:bodyPr wrap="square" lIns="0" tIns="0" rIns="0" bIns="0" rtlCol="0" anchor="ctr"/>
          <a:lstStyle/>
          <a:p>
            <a:pPr indent="0" marL="0">
              <a:buNone/>
            </a:pPr>
            <a:r>
              <a:rPr lang="en-US" sz="1300" dirty="0">
                <a:solidFill>
                  <a:srgbClr val="1B2A4A"/>
                </a:solidFill>
                <a:latin typeface="Calibri" pitchFamily="34" charset="0"/>
                <a:ea typeface="Calibri" pitchFamily="34" charset="-122"/>
                <a:cs typeface="Calibri" pitchFamily="34" charset="-120"/>
              </a:rPr>
              <a:t>Authenticator app</a:t>
            </a:r>
            <a:endParaRPr lang="en-US" sz="1300" dirty="0"/>
          </a:p>
        </p:txBody>
      </p:sp>
      <p:sp>
        <p:nvSpPr>
          <p:cNvPr id="58" name="Text 54"/>
          <p:cNvSpPr txBox="1"/>
          <p:nvPr/>
        </p:nvSpPr>
        <p:spPr>
          <a:xfrm>
            <a:off x="9381744" y="4928108"/>
            <a:ext cx="1956816" cy="439420"/>
          </a:xfrm>
          <a:prstGeom prst="rect">
            <a:avLst/>
          </a:prstGeom>
          <a:noFill/>
          <a:ln/>
        </p:spPr>
        <p:txBody>
          <a:bodyPr wrap="square" lIns="0" tIns="0" rIns="0" bIns="0" rtlCol="0" anchor="t"/>
          <a:lstStyle/>
          <a:p>
            <a:pPr indent="0" marL="0">
              <a:buNone/>
            </a:pPr>
            <a:r>
              <a:rPr lang="en-US" sz="1300" dirty="0">
                <a:solidFill>
                  <a:srgbClr val="1E2E3A"/>
                </a:solidFill>
                <a:latin typeface="Calibri" pitchFamily="34" charset="0"/>
                <a:ea typeface="Calibri" pitchFamily="34" charset="-122"/>
                <a:cs typeface="Calibri" pitchFamily="34" charset="-120"/>
              </a:rPr>
              <a:t>This is unusual for this user.</a:t>
            </a:r>
            <a:endParaRPr lang="en-US" sz="1300" dirty="0"/>
          </a:p>
        </p:txBody>
      </p:sp>
      <p:sp>
        <p:nvSpPr>
          <p:cNvPr id="59" name="Shape 55"/>
          <p:cNvSpPr/>
          <p:nvPr/>
        </p:nvSpPr>
        <p:spPr>
          <a:xfrm>
            <a:off x="9473184" y="5477256"/>
            <a:ext cx="1773936" cy="292608"/>
          </a:xfrm>
          <a:prstGeom prst="roundRect">
            <a:avLst>
              <a:gd name="adj" fmla="val 15625"/>
            </a:avLst>
          </a:prstGeom>
          <a:solidFill>
            <a:srgbClr val="FFFFFF"/>
          </a:solidFill>
          <a:ln w="9525">
            <a:solidFill>
              <a:srgbClr val="5E86A8"/>
            </a:solidFill>
            <a:prstDash val="solid"/>
          </a:ln>
        </p:spPr>
      </p:sp>
      <p:sp>
        <p:nvSpPr>
          <p:cNvPr id="60" name="Text 56"/>
          <p:cNvSpPr txBox="1"/>
          <p:nvPr/>
        </p:nvSpPr>
        <p:spPr>
          <a:xfrm>
            <a:off x="9473184" y="5477256"/>
            <a:ext cx="1773936" cy="292608"/>
          </a:xfrm>
          <a:prstGeom prst="rect">
            <a:avLst/>
          </a:prstGeom>
          <a:noFill/>
          <a:ln/>
        </p:spPr>
        <p:txBody>
          <a:bodyPr wrap="square" lIns="0" tIns="0" rIns="0" bIns="0" rtlCol="0" anchor="ctr"/>
          <a:lstStyle/>
          <a:p>
            <a:pPr algn="ctr" indent="0" marL="0">
              <a:buNone/>
            </a:pPr>
            <a:r>
              <a:rPr lang="en-US" sz="1250" dirty="0">
                <a:solidFill>
                  <a:srgbClr val="5E86A8"/>
                </a:solidFill>
                <a:latin typeface="Calibri" pitchFamily="34" charset="0"/>
                <a:ea typeface="Calibri" pitchFamily="34" charset="-122"/>
                <a:cs typeface="Calibri" pitchFamily="34" charset="-120"/>
              </a:rPr>
              <a:t>View in Entra ID</a:t>
            </a:r>
            <a:endParaRPr lang="en-US" sz="1250" dirty="0"/>
          </a:p>
        </p:txBody>
      </p:sp>
      <p:sp>
        <p:nvSpPr>
          <p:cNvPr id="61" name="Text 57"/>
          <p:cNvSpPr txBox="1"/>
          <p:nvPr/>
        </p:nvSpPr>
        <p:spPr>
          <a:xfrm>
            <a:off x="548640" y="6254496"/>
            <a:ext cx="11091672" cy="256032"/>
          </a:xfrm>
          <a:prstGeom prst="rect">
            <a:avLst/>
          </a:prstGeom>
          <a:noFill/>
          <a:ln/>
        </p:spPr>
        <p:txBody>
          <a:bodyPr wrap="square" lIns="0" tIns="0" rIns="0" bIns="0" rtlCol="0" anchor="ctr"/>
          <a:lstStyle/>
          <a:p>
            <a:pPr indent="0" marL="0">
              <a:buNone/>
            </a:pPr>
            <a:r>
              <a:rPr lang="en-US" sz="1200" b="1" dirty="0">
                <a:solidFill>
                  <a:srgbClr val="465A69"/>
                </a:solidFill>
                <a:latin typeface="Calibri" pitchFamily="34" charset="0"/>
                <a:ea typeface="Calibri" pitchFamily="34" charset="-122"/>
                <a:cs typeface="Calibri" pitchFamily="34" charset="-120"/>
              </a:rPr>
              <a:t>Acronyms:  </a:t>
            </a:r>
            <a:pPr indent="0" marL="0">
              <a:buNone/>
            </a:pPr>
            <a:r>
              <a:rPr lang="en-US" sz="1200" dirty="0">
                <a:solidFill>
                  <a:srgbClr val="465A69"/>
                </a:solidFill>
                <a:latin typeface="Calibri" pitchFamily="34" charset="0"/>
                <a:ea typeface="Calibri" pitchFamily="34" charset="-122"/>
                <a:cs typeface="Calibri" pitchFamily="34" charset="-120"/>
              </a:rPr>
              <a:t>T+: time since the first signal;  M365: Microsoft 365;  MFA: multi-factor authentication;  EDT: Eastern Daylight Time</a:t>
            </a:r>
            <a:endParaRPr lang="en-US" sz="1200" dirty="0"/>
          </a:p>
        </p:txBody>
      </p:sp>
      <p:sp>
        <p:nvSpPr>
          <p:cNvPr id="62" name="Shape 58"/>
          <p:cNvSpPr/>
          <p:nvPr/>
        </p:nvSpPr>
        <p:spPr>
          <a:xfrm>
            <a:off x="548640" y="6537960"/>
            <a:ext cx="763524" cy="274320"/>
          </a:xfrm>
          <a:prstGeom prst="roundRect">
            <a:avLst>
              <a:gd name="adj" fmla="val 50000"/>
            </a:avLst>
          </a:prstGeom>
          <a:solidFill>
            <a:srgbClr val="E4ECF2"/>
          </a:solidFill>
          <a:ln w="12700">
            <a:solidFill>
              <a:srgbClr val="E4ECF2"/>
            </a:solidFill>
            <a:prstDash val="solid"/>
          </a:ln>
        </p:spPr>
      </p:sp>
      <p:sp>
        <p:nvSpPr>
          <p:cNvPr id="63" name="Text 59"/>
          <p:cNvSpPr txBox="1"/>
          <p:nvPr/>
        </p:nvSpPr>
        <p:spPr>
          <a:xfrm>
            <a:off x="548640" y="6537960"/>
            <a:ext cx="763524" cy="274320"/>
          </a:xfrm>
          <a:prstGeom prst="rect">
            <a:avLst/>
          </a:prstGeom>
          <a:noFill/>
          <a:ln/>
        </p:spPr>
        <p:txBody>
          <a:bodyPr wrap="square" lIns="0" tIns="0" rIns="0" bIns="0" rtlCol="0" anchor="ctr"/>
          <a:lstStyle/>
          <a:p>
            <a:pPr algn="ctr" indent="0" marL="0">
              <a:buNone/>
            </a:pPr>
            <a:r>
              <a:rPr lang="en-US" sz="1200" b="1" dirty="0">
                <a:solidFill>
                  <a:srgbClr val="23405A"/>
                </a:solidFill>
                <a:latin typeface="Calibri" pitchFamily="34" charset="0"/>
                <a:ea typeface="Calibri" pitchFamily="34" charset="-122"/>
                <a:cs typeface="Calibri" pitchFamily="34" charset="-120"/>
              </a:rPr>
              <a:t>Start</a:t>
            </a:r>
            <a:endParaRPr lang="en-US" sz="1200" dirty="0"/>
          </a:p>
        </p:txBody>
      </p:sp>
      <p:pic>
        <p:nvPicPr>
          <p:cNvPr id="64" name="Image 2" descr="preencoded.png">
            <a:hlinkClick r:id="rId4" tooltip="Go to Start" action="ppaction://hlinksldjump"/>
          </p:cNvPr>
          <p:cNvPicPr>
            <a:picLocks noChangeAspect="1"/>
          </p:cNvPicPr>
          <p:nvPr/>
        </p:nvPicPr>
        <p:blipFill>
          <a:blip r:embed="rId3"/>
          <a:stretch>
            <a:fillRect/>
          </a:stretch>
        </p:blipFill>
        <p:spPr>
          <a:xfrm>
            <a:off x="548640" y="6537960"/>
            <a:ext cx="763524" cy="274320"/>
          </a:xfrm>
          <a:prstGeom prst="rect">
            <a:avLst/>
          </a:prstGeom>
        </p:spPr>
      </p:pic>
      <p:sp>
        <p:nvSpPr>
          <p:cNvPr id="65" name="Shape 60"/>
          <p:cNvSpPr/>
          <p:nvPr/>
        </p:nvSpPr>
        <p:spPr>
          <a:xfrm>
            <a:off x="1385316" y="6537960"/>
            <a:ext cx="1197864" cy="274320"/>
          </a:xfrm>
          <a:prstGeom prst="roundRect">
            <a:avLst>
              <a:gd name="adj" fmla="val 50000"/>
            </a:avLst>
          </a:prstGeom>
          <a:solidFill>
            <a:srgbClr val="3F6E8C"/>
          </a:solidFill>
          <a:ln w="12700">
            <a:solidFill>
              <a:srgbClr val="3F6E8C"/>
            </a:solidFill>
            <a:prstDash val="solid"/>
          </a:ln>
        </p:spPr>
      </p:sp>
      <p:sp>
        <p:nvSpPr>
          <p:cNvPr id="66" name="Text 61"/>
          <p:cNvSpPr txBox="1"/>
          <p:nvPr/>
        </p:nvSpPr>
        <p:spPr>
          <a:xfrm>
            <a:off x="1385316" y="6537960"/>
            <a:ext cx="1197864"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Scenario 1</a:t>
            </a:r>
            <a:endParaRPr lang="en-US" sz="1200" dirty="0"/>
          </a:p>
        </p:txBody>
      </p:sp>
      <p:pic>
        <p:nvPicPr>
          <p:cNvPr id="67" name="Image 3" descr="preencoded.png">
            <a:hlinkClick r:id="rId6" tooltip="Go to Scenario 1" action="ppaction://hlinksldjump"/>
          </p:cNvPr>
          <p:cNvPicPr>
            <a:picLocks noChangeAspect="1"/>
          </p:cNvPicPr>
          <p:nvPr/>
        </p:nvPicPr>
        <p:blipFill>
          <a:blip r:embed="rId5"/>
          <a:stretch>
            <a:fillRect/>
          </a:stretch>
        </p:blipFill>
        <p:spPr>
          <a:xfrm>
            <a:off x="1385316" y="6537960"/>
            <a:ext cx="1197864" cy="274320"/>
          </a:xfrm>
          <a:prstGeom prst="rect">
            <a:avLst/>
          </a:prstGeom>
        </p:spPr>
      </p:pic>
      <p:sp>
        <p:nvSpPr>
          <p:cNvPr id="68" name="Shape 62"/>
          <p:cNvSpPr/>
          <p:nvPr/>
        </p:nvSpPr>
        <p:spPr>
          <a:xfrm>
            <a:off x="2656332" y="6537960"/>
            <a:ext cx="1197864" cy="274320"/>
          </a:xfrm>
          <a:prstGeom prst="roundRect">
            <a:avLst>
              <a:gd name="adj" fmla="val 50000"/>
            </a:avLst>
          </a:prstGeom>
          <a:solidFill>
            <a:srgbClr val="F1F8F3"/>
          </a:solidFill>
          <a:ln w="12700">
            <a:solidFill>
              <a:srgbClr val="F1F8F3"/>
            </a:solidFill>
            <a:prstDash val="solid"/>
          </a:ln>
        </p:spPr>
      </p:sp>
      <p:sp>
        <p:nvSpPr>
          <p:cNvPr id="69" name="Text 63"/>
          <p:cNvSpPr txBox="1"/>
          <p:nvPr/>
        </p:nvSpPr>
        <p:spPr>
          <a:xfrm>
            <a:off x="2656332" y="6537960"/>
            <a:ext cx="1197864" cy="274320"/>
          </a:xfrm>
          <a:prstGeom prst="rect">
            <a:avLst/>
          </a:prstGeom>
          <a:noFill/>
          <a:ln/>
        </p:spPr>
        <p:txBody>
          <a:bodyPr wrap="square" lIns="0" tIns="0" rIns="0" bIns="0" rtlCol="0" anchor="ctr"/>
          <a:lstStyle/>
          <a:p>
            <a:pPr algn="ctr" indent="0" marL="0">
              <a:buNone/>
            </a:pPr>
            <a:r>
              <a:rPr lang="en-US" sz="1200" b="1" dirty="0">
                <a:solidFill>
                  <a:srgbClr val="4C8068"/>
                </a:solidFill>
                <a:latin typeface="Calibri" pitchFamily="34" charset="0"/>
                <a:ea typeface="Calibri" pitchFamily="34" charset="-122"/>
                <a:cs typeface="Calibri" pitchFamily="34" charset="-120"/>
              </a:rPr>
              <a:t>Scenario 2</a:t>
            </a:r>
            <a:endParaRPr lang="en-US" sz="1200" dirty="0"/>
          </a:p>
        </p:txBody>
      </p:sp>
      <p:pic>
        <p:nvPicPr>
          <p:cNvPr id="70" name="Image 4" descr="preencoded.png">
            <a:hlinkClick r:id="rId8" tooltip="Go to Scenario 2" action="ppaction://hlinksldjump"/>
          </p:cNvPr>
          <p:cNvPicPr>
            <a:picLocks noChangeAspect="1"/>
          </p:cNvPicPr>
          <p:nvPr/>
        </p:nvPicPr>
        <p:blipFill>
          <a:blip r:embed="rId7"/>
          <a:stretch>
            <a:fillRect/>
          </a:stretch>
        </p:blipFill>
        <p:spPr>
          <a:xfrm>
            <a:off x="2656332" y="6537960"/>
            <a:ext cx="1197864" cy="274320"/>
          </a:xfrm>
          <a:prstGeom prst="rect">
            <a:avLst/>
          </a:prstGeom>
        </p:spPr>
      </p:pic>
      <p:sp>
        <p:nvSpPr>
          <p:cNvPr id="71" name="Shape 64"/>
          <p:cNvSpPr/>
          <p:nvPr/>
        </p:nvSpPr>
        <p:spPr>
          <a:xfrm>
            <a:off x="3927348" y="6537960"/>
            <a:ext cx="1197864" cy="274320"/>
          </a:xfrm>
          <a:prstGeom prst="roundRect">
            <a:avLst>
              <a:gd name="adj" fmla="val 50000"/>
            </a:avLst>
          </a:prstGeom>
          <a:solidFill>
            <a:srgbClr val="F6F3FA"/>
          </a:solidFill>
          <a:ln w="12700">
            <a:solidFill>
              <a:srgbClr val="F6F3FA"/>
            </a:solidFill>
            <a:prstDash val="solid"/>
          </a:ln>
        </p:spPr>
      </p:sp>
      <p:sp>
        <p:nvSpPr>
          <p:cNvPr id="72" name="Text 65"/>
          <p:cNvSpPr txBox="1"/>
          <p:nvPr/>
        </p:nvSpPr>
        <p:spPr>
          <a:xfrm>
            <a:off x="3927348" y="6537960"/>
            <a:ext cx="1197864" cy="274320"/>
          </a:xfrm>
          <a:prstGeom prst="rect">
            <a:avLst/>
          </a:prstGeom>
          <a:noFill/>
          <a:ln/>
        </p:spPr>
        <p:txBody>
          <a:bodyPr wrap="square" lIns="0" tIns="0" rIns="0" bIns="0" rtlCol="0" anchor="ctr"/>
          <a:lstStyle/>
          <a:p>
            <a:pPr algn="ctr" indent="0" marL="0">
              <a:buNone/>
            </a:pPr>
            <a:r>
              <a:rPr lang="en-US" sz="1200" b="1" dirty="0">
                <a:solidFill>
                  <a:srgbClr val="6E5E94"/>
                </a:solidFill>
                <a:latin typeface="Calibri" pitchFamily="34" charset="0"/>
                <a:ea typeface="Calibri" pitchFamily="34" charset="-122"/>
                <a:cs typeface="Calibri" pitchFamily="34" charset="-120"/>
              </a:rPr>
              <a:t>Scenario 3</a:t>
            </a:r>
            <a:endParaRPr lang="en-US" sz="1200" dirty="0"/>
          </a:p>
        </p:txBody>
      </p:sp>
      <p:pic>
        <p:nvPicPr>
          <p:cNvPr id="73" name="Image 5" descr="preencoded.png">
            <a:hlinkClick r:id="rId10" tooltip="Go to Scenario 3" action="ppaction://hlinksldjump"/>
          </p:cNvPr>
          <p:cNvPicPr>
            <a:picLocks noChangeAspect="1"/>
          </p:cNvPicPr>
          <p:nvPr/>
        </p:nvPicPr>
        <p:blipFill>
          <a:blip r:embed="rId9"/>
          <a:stretch>
            <a:fillRect/>
          </a:stretch>
        </p:blipFill>
        <p:spPr>
          <a:xfrm>
            <a:off x="3927348" y="6537960"/>
            <a:ext cx="1197864" cy="274320"/>
          </a:xfrm>
          <a:prstGeom prst="rect">
            <a:avLst/>
          </a:prstGeom>
        </p:spPr>
      </p:pic>
      <p:sp>
        <p:nvSpPr>
          <p:cNvPr id="74" name="Shape 66"/>
          <p:cNvSpPr/>
          <p:nvPr/>
        </p:nvSpPr>
        <p:spPr>
          <a:xfrm>
            <a:off x="5198364" y="6537960"/>
            <a:ext cx="937260" cy="274320"/>
          </a:xfrm>
          <a:prstGeom prst="roundRect">
            <a:avLst>
              <a:gd name="adj" fmla="val 50000"/>
            </a:avLst>
          </a:prstGeom>
          <a:solidFill>
            <a:srgbClr val="E4ECF2"/>
          </a:solidFill>
          <a:ln w="12700">
            <a:solidFill>
              <a:srgbClr val="E4ECF2"/>
            </a:solidFill>
            <a:prstDash val="solid"/>
          </a:ln>
        </p:spPr>
      </p:sp>
      <p:sp>
        <p:nvSpPr>
          <p:cNvPr id="75" name="Text 67"/>
          <p:cNvSpPr txBox="1"/>
          <p:nvPr/>
        </p:nvSpPr>
        <p:spPr>
          <a:xfrm>
            <a:off x="5198364" y="6537960"/>
            <a:ext cx="937260" cy="274320"/>
          </a:xfrm>
          <a:prstGeom prst="rect">
            <a:avLst/>
          </a:prstGeom>
          <a:noFill/>
          <a:ln/>
        </p:spPr>
        <p:txBody>
          <a:bodyPr wrap="square" lIns="0" tIns="0" rIns="0" bIns="0" rtlCol="0" anchor="ctr"/>
          <a:lstStyle/>
          <a:p>
            <a:pPr algn="ctr" indent="0" marL="0">
              <a:buNone/>
            </a:pPr>
            <a:r>
              <a:rPr lang="en-US" sz="1200" b="1" dirty="0">
                <a:solidFill>
                  <a:srgbClr val="23405A"/>
                </a:solidFill>
                <a:latin typeface="Calibri" pitchFamily="34" charset="0"/>
                <a:ea typeface="Calibri" pitchFamily="34" charset="-122"/>
                <a:cs typeface="Calibri" pitchFamily="34" charset="-120"/>
              </a:rPr>
              <a:t>Closing</a:t>
            </a:r>
            <a:endParaRPr lang="en-US" sz="1200" dirty="0"/>
          </a:p>
        </p:txBody>
      </p:sp>
      <p:pic>
        <p:nvPicPr>
          <p:cNvPr id="76" name="Image 6" descr="preencoded.png">
            <a:hlinkClick r:id="rId12" tooltip="Go to Closing" action="ppaction://hlinksldjump"/>
          </p:cNvPr>
          <p:cNvPicPr>
            <a:picLocks noChangeAspect="1"/>
          </p:cNvPicPr>
          <p:nvPr/>
        </p:nvPicPr>
        <p:blipFill>
          <a:blip r:embed="rId11"/>
          <a:stretch>
            <a:fillRect/>
          </a:stretch>
        </p:blipFill>
        <p:spPr>
          <a:xfrm>
            <a:off x="5198364" y="6537960"/>
            <a:ext cx="937260" cy="274320"/>
          </a:xfrm>
          <a:prstGeom prst="rect">
            <a:avLst/>
          </a:prstGeom>
        </p:spPr>
      </p:pic>
      <p:sp>
        <p:nvSpPr>
          <p:cNvPr id="77" name="Text 68"/>
          <p:cNvSpPr txBox="1"/>
          <p:nvPr/>
        </p:nvSpPr>
        <p:spPr>
          <a:xfrm>
            <a:off x="11277295" y="6537960"/>
            <a:ext cx="365760" cy="274320"/>
          </a:xfrm>
          <a:prstGeom prst="rect">
            <a:avLst/>
          </a:prstGeom>
          <a:noFill/>
          <a:ln/>
        </p:spPr>
        <p:txBody>
          <a:bodyPr wrap="square" lIns="0" tIns="0" rIns="0" bIns="0" rtlCol="0" anchor="ctr"/>
          <a:lstStyle/>
          <a:p>
            <a:pPr algn="r" indent="0" marL="0">
              <a:buNone/>
            </a:pPr>
            <a:r>
              <a:rPr lang="en-US" sz="1200" dirty="0">
                <a:solidFill>
                  <a:srgbClr val="465A69"/>
                </a:solidFill>
                <a:latin typeface="Calibri" pitchFamily="34" charset="0"/>
                <a:ea typeface="Calibri" pitchFamily="34" charset="-122"/>
                <a:cs typeface="Calibri"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6EEF6"/>
        </a:solidFill>
      </p:bgPr>
    </p:bg>
    <p:spTree>
      <p:nvGrpSpPr>
        <p:cNvPr id="1" name=""/>
        <p:cNvGrpSpPr/>
        <p:nvPr/>
      </p:nvGrpSpPr>
      <p:grpSpPr>
        <a:xfrm>
          <a:off x="0" y="0"/>
          <a:ext cx="0" cy="0"/>
          <a:chOff x="0" y="0"/>
          <a:chExt cx="0" cy="0"/>
        </a:xfrm>
      </p:grpSpPr>
      <p:sp>
        <p:nvSpPr>
          <p:cNvPr id="2" name="Shape 0"/>
          <p:cNvSpPr/>
          <p:nvPr/>
        </p:nvSpPr>
        <p:spPr>
          <a:xfrm>
            <a:off x="548640" y="347472"/>
            <a:ext cx="2843784" cy="329184"/>
          </a:xfrm>
          <a:prstGeom prst="roundRect">
            <a:avLst>
              <a:gd name="adj" fmla="val 50000"/>
            </a:avLst>
          </a:prstGeom>
          <a:solidFill>
            <a:srgbClr val="F1F6FA"/>
          </a:solidFill>
          <a:ln w="12700">
            <a:solidFill>
              <a:srgbClr val="F1F6FA"/>
            </a:solidFill>
            <a:prstDash val="solid"/>
          </a:ln>
        </p:spPr>
      </p:sp>
      <p:sp>
        <p:nvSpPr>
          <p:cNvPr id="3" name="Text 1"/>
          <p:cNvSpPr txBox="1"/>
          <p:nvPr/>
        </p:nvSpPr>
        <p:spPr>
          <a:xfrm>
            <a:off x="548640" y="347472"/>
            <a:ext cx="2843784" cy="329184"/>
          </a:xfrm>
          <a:prstGeom prst="rect">
            <a:avLst/>
          </a:prstGeom>
          <a:noFill/>
          <a:ln/>
        </p:spPr>
        <p:txBody>
          <a:bodyPr wrap="square" lIns="0" tIns="0" rIns="0" bIns="0" rtlCol="0" anchor="ctr"/>
          <a:lstStyle/>
          <a:p>
            <a:pPr algn="ctr" indent="0" marL="0">
              <a:buNone/>
            </a:pPr>
            <a:r>
              <a:rPr lang="en-US" sz="1200" b="1" dirty="0">
                <a:solidFill>
                  <a:srgbClr val="3F6E8C"/>
                </a:solidFill>
                <a:latin typeface="Calibri" pitchFamily="34" charset="0"/>
                <a:ea typeface="Calibri" pitchFamily="34" charset="-122"/>
                <a:cs typeface="Calibri" pitchFamily="34" charset="-120"/>
              </a:rPr>
              <a:t>Scenario 1: Incident Response</a:t>
            </a:r>
            <a:endParaRPr lang="en-US" sz="1200" dirty="0"/>
          </a:p>
        </p:txBody>
      </p:sp>
      <p:sp>
        <p:nvSpPr>
          <p:cNvPr id="4" name="Text 2"/>
          <p:cNvSpPr txBox="1"/>
          <p:nvPr/>
        </p:nvSpPr>
        <p:spPr>
          <a:xfrm>
            <a:off x="548640" y="749808"/>
            <a:ext cx="11064240" cy="640080"/>
          </a:xfrm>
          <a:prstGeom prst="rect">
            <a:avLst/>
          </a:prstGeom>
          <a:noFill/>
          <a:ln/>
        </p:spPr>
        <p:txBody>
          <a:bodyPr wrap="square" lIns="0" tIns="0" rIns="0" bIns="0" rtlCol="0" anchor="ctr"/>
          <a:lstStyle/>
          <a:p>
            <a:pPr indent="0" marL="0">
              <a:buNone/>
            </a:pPr>
            <a:r>
              <a:rPr lang="en-US" sz="2800" b="1" dirty="0">
                <a:solidFill>
                  <a:srgbClr val="23405A"/>
                </a:solidFill>
                <a:latin typeface="Calibri" pitchFamily="34" charset="0"/>
                <a:ea typeface="Calibri" pitchFamily="34" charset="-122"/>
                <a:cs typeface="Calibri" pitchFamily="34" charset="-120"/>
              </a:rPr>
              <a:t>T+1h: Persistence</a:t>
            </a:r>
            <a:endParaRPr lang="en-US" sz="2800" dirty="0"/>
          </a:p>
        </p:txBody>
      </p:sp>
      <p:sp>
        <p:nvSpPr>
          <p:cNvPr id="5" name="Shape 3"/>
          <p:cNvSpPr/>
          <p:nvPr/>
        </p:nvSpPr>
        <p:spPr>
          <a:xfrm>
            <a:off x="10705795" y="347472"/>
            <a:ext cx="937260" cy="329184"/>
          </a:xfrm>
          <a:prstGeom prst="roundRect">
            <a:avLst>
              <a:gd name="adj" fmla="val 50000"/>
            </a:avLst>
          </a:prstGeom>
          <a:solidFill>
            <a:srgbClr val="FFFFFF"/>
          </a:solidFill>
          <a:ln w="12700">
            <a:solidFill>
              <a:srgbClr val="FFFFFF"/>
            </a:solidFill>
            <a:prstDash val="solid"/>
          </a:ln>
        </p:spPr>
      </p:sp>
      <p:sp>
        <p:nvSpPr>
          <p:cNvPr id="6" name="Text 4"/>
          <p:cNvSpPr txBox="1"/>
          <p:nvPr/>
        </p:nvSpPr>
        <p:spPr>
          <a:xfrm>
            <a:off x="10705795" y="347472"/>
            <a:ext cx="937260" cy="329184"/>
          </a:xfrm>
          <a:prstGeom prst="rect">
            <a:avLst/>
          </a:prstGeom>
          <a:noFill/>
          <a:ln/>
        </p:spPr>
        <p:txBody>
          <a:bodyPr wrap="square" lIns="0" tIns="0" rIns="0" bIns="0" rtlCol="0" anchor="ctr"/>
          <a:lstStyle/>
          <a:p>
            <a:pPr algn="ctr" indent="0" marL="0">
              <a:buNone/>
            </a:pPr>
            <a:r>
              <a:rPr lang="en-US" sz="1200" dirty="0">
                <a:solidFill>
                  <a:srgbClr val="465A69"/>
                </a:solidFill>
                <a:latin typeface="Calibri" pitchFamily="34" charset="0"/>
                <a:ea typeface="Calibri" pitchFamily="34" charset="-122"/>
                <a:cs typeface="Calibri" pitchFamily="34" charset="-120"/>
              </a:rPr>
              <a:t>Hotwash</a:t>
            </a:r>
            <a:endParaRPr lang="en-US" sz="1200" dirty="0"/>
          </a:p>
        </p:txBody>
      </p:sp>
      <p:sp>
        <p:nvSpPr>
          <p:cNvPr id="7" name="Shape 5"/>
          <p:cNvSpPr/>
          <p:nvPr/>
        </p:nvSpPr>
        <p:spPr>
          <a:xfrm>
            <a:off x="9608515" y="347472"/>
            <a:ext cx="1024128" cy="329184"/>
          </a:xfrm>
          <a:prstGeom prst="roundRect">
            <a:avLst>
              <a:gd name="adj" fmla="val 50000"/>
            </a:avLst>
          </a:prstGeom>
          <a:solidFill>
            <a:srgbClr val="FFFFFF"/>
          </a:solidFill>
          <a:ln w="12700">
            <a:solidFill>
              <a:srgbClr val="FFFFFF"/>
            </a:solidFill>
            <a:prstDash val="solid"/>
          </a:ln>
        </p:spPr>
      </p:sp>
      <p:sp>
        <p:nvSpPr>
          <p:cNvPr id="8" name="Text 6"/>
          <p:cNvSpPr txBox="1"/>
          <p:nvPr/>
        </p:nvSpPr>
        <p:spPr>
          <a:xfrm>
            <a:off x="9608515" y="347472"/>
            <a:ext cx="1024128" cy="329184"/>
          </a:xfrm>
          <a:prstGeom prst="rect">
            <a:avLst/>
          </a:prstGeom>
          <a:noFill/>
          <a:ln/>
        </p:spPr>
        <p:txBody>
          <a:bodyPr wrap="square" lIns="0" tIns="0" rIns="0" bIns="0" rtlCol="0" anchor="ctr"/>
          <a:lstStyle/>
          <a:p>
            <a:pPr algn="ctr" indent="0" marL="0">
              <a:buNone/>
            </a:pPr>
            <a:r>
              <a:rPr lang="en-US" sz="1200" dirty="0">
                <a:solidFill>
                  <a:srgbClr val="465A69"/>
                </a:solidFill>
                <a:latin typeface="Calibri" pitchFamily="34" charset="0"/>
                <a:ea typeface="Calibri" pitchFamily="34" charset="-122"/>
                <a:cs typeface="Calibri" pitchFamily="34" charset="-120"/>
              </a:rPr>
              <a:t>Recovery</a:t>
            </a:r>
            <a:endParaRPr lang="en-US" sz="1200" dirty="0"/>
          </a:p>
        </p:txBody>
      </p:sp>
      <p:sp>
        <p:nvSpPr>
          <p:cNvPr id="9" name="Shape 7"/>
          <p:cNvSpPr/>
          <p:nvPr/>
        </p:nvSpPr>
        <p:spPr>
          <a:xfrm>
            <a:off x="8598103" y="347472"/>
            <a:ext cx="937260" cy="329184"/>
          </a:xfrm>
          <a:prstGeom prst="roundRect">
            <a:avLst>
              <a:gd name="adj" fmla="val 50000"/>
            </a:avLst>
          </a:prstGeom>
          <a:solidFill>
            <a:srgbClr val="3F6E8C"/>
          </a:solidFill>
          <a:ln w="12700">
            <a:solidFill>
              <a:srgbClr val="3F6E8C"/>
            </a:solidFill>
            <a:prstDash val="solid"/>
          </a:ln>
        </p:spPr>
      </p:sp>
      <p:sp>
        <p:nvSpPr>
          <p:cNvPr id="10" name="Text 8"/>
          <p:cNvSpPr txBox="1"/>
          <p:nvPr/>
        </p:nvSpPr>
        <p:spPr>
          <a:xfrm>
            <a:off x="8598103" y="347472"/>
            <a:ext cx="93726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Injects</a:t>
            </a:r>
            <a:endParaRPr lang="en-US" sz="1200" dirty="0"/>
          </a:p>
        </p:txBody>
      </p:sp>
      <p:sp>
        <p:nvSpPr>
          <p:cNvPr id="11" name="Shape 9"/>
          <p:cNvSpPr/>
          <p:nvPr/>
        </p:nvSpPr>
        <p:spPr>
          <a:xfrm>
            <a:off x="7674559" y="347472"/>
            <a:ext cx="850392" cy="329184"/>
          </a:xfrm>
          <a:prstGeom prst="roundRect">
            <a:avLst>
              <a:gd name="adj" fmla="val 50000"/>
            </a:avLst>
          </a:prstGeom>
          <a:solidFill>
            <a:srgbClr val="F1F6FA"/>
          </a:solidFill>
          <a:ln w="12700">
            <a:solidFill>
              <a:srgbClr val="F1F6FA"/>
            </a:solidFill>
            <a:prstDash val="solid"/>
          </a:ln>
        </p:spPr>
      </p:sp>
      <p:sp>
        <p:nvSpPr>
          <p:cNvPr id="12" name="Text 10"/>
          <p:cNvSpPr txBox="1"/>
          <p:nvPr/>
        </p:nvSpPr>
        <p:spPr>
          <a:xfrm>
            <a:off x="7674559" y="347472"/>
            <a:ext cx="850392" cy="329184"/>
          </a:xfrm>
          <a:prstGeom prst="rect">
            <a:avLst/>
          </a:prstGeom>
          <a:noFill/>
          <a:ln/>
        </p:spPr>
        <p:txBody>
          <a:bodyPr wrap="square" lIns="0" tIns="0" rIns="0" bIns="0" rtlCol="0" anchor="ctr"/>
          <a:lstStyle/>
          <a:p>
            <a:pPr algn="ctr" indent="0" marL="0">
              <a:buNone/>
            </a:pPr>
            <a:r>
              <a:rPr lang="en-US" sz="1200" dirty="0">
                <a:solidFill>
                  <a:srgbClr val="3F6E8C"/>
                </a:solidFill>
                <a:latin typeface="Calibri" pitchFamily="34" charset="0"/>
                <a:ea typeface="Calibri" pitchFamily="34" charset="-122"/>
                <a:cs typeface="Calibri" pitchFamily="34" charset="-120"/>
              </a:rPr>
              <a:t>Decide</a:t>
            </a:r>
            <a:endParaRPr lang="en-US" sz="1200" dirty="0"/>
          </a:p>
        </p:txBody>
      </p:sp>
      <p:sp>
        <p:nvSpPr>
          <p:cNvPr id="13" name="Shape 11"/>
          <p:cNvSpPr/>
          <p:nvPr/>
        </p:nvSpPr>
        <p:spPr>
          <a:xfrm>
            <a:off x="7011619" y="347472"/>
            <a:ext cx="589788" cy="329184"/>
          </a:xfrm>
          <a:prstGeom prst="roundRect">
            <a:avLst>
              <a:gd name="adj" fmla="val 50000"/>
            </a:avLst>
          </a:prstGeom>
          <a:solidFill>
            <a:srgbClr val="F1F6FA"/>
          </a:solidFill>
          <a:ln w="12700">
            <a:solidFill>
              <a:srgbClr val="F1F6FA"/>
            </a:solidFill>
            <a:prstDash val="solid"/>
          </a:ln>
        </p:spPr>
      </p:sp>
      <p:sp>
        <p:nvSpPr>
          <p:cNvPr id="14" name="Text 12"/>
          <p:cNvSpPr txBox="1"/>
          <p:nvPr/>
        </p:nvSpPr>
        <p:spPr>
          <a:xfrm>
            <a:off x="7011619" y="347472"/>
            <a:ext cx="589788" cy="329184"/>
          </a:xfrm>
          <a:prstGeom prst="rect">
            <a:avLst/>
          </a:prstGeom>
          <a:noFill/>
          <a:ln/>
        </p:spPr>
        <p:txBody>
          <a:bodyPr wrap="square" lIns="0" tIns="0" rIns="0" bIns="0" rtlCol="0" anchor="ctr"/>
          <a:lstStyle/>
          <a:p>
            <a:pPr algn="ctr" indent="0" marL="0">
              <a:buNone/>
            </a:pPr>
            <a:r>
              <a:rPr lang="en-US" sz="1200" dirty="0">
                <a:solidFill>
                  <a:srgbClr val="3F6E8C"/>
                </a:solidFill>
                <a:latin typeface="Calibri" pitchFamily="34" charset="0"/>
                <a:ea typeface="Calibri" pitchFamily="34" charset="-122"/>
                <a:cs typeface="Calibri" pitchFamily="34" charset="-120"/>
              </a:rPr>
              <a:t>T+0</a:t>
            </a:r>
            <a:endParaRPr lang="en-US" sz="1200" dirty="0"/>
          </a:p>
        </p:txBody>
      </p:sp>
      <p:sp>
        <p:nvSpPr>
          <p:cNvPr id="15" name="Shape 13"/>
          <p:cNvSpPr/>
          <p:nvPr/>
        </p:nvSpPr>
        <p:spPr>
          <a:xfrm>
            <a:off x="5740603" y="347472"/>
            <a:ext cx="1197864" cy="329184"/>
          </a:xfrm>
          <a:prstGeom prst="roundRect">
            <a:avLst>
              <a:gd name="adj" fmla="val 50000"/>
            </a:avLst>
          </a:prstGeom>
          <a:solidFill>
            <a:srgbClr val="F1F6FA"/>
          </a:solidFill>
          <a:ln w="12700">
            <a:solidFill>
              <a:srgbClr val="F1F6FA"/>
            </a:solidFill>
            <a:prstDash val="solid"/>
          </a:ln>
        </p:spPr>
      </p:sp>
      <p:sp>
        <p:nvSpPr>
          <p:cNvPr id="16" name="Text 14"/>
          <p:cNvSpPr txBox="1"/>
          <p:nvPr/>
        </p:nvSpPr>
        <p:spPr>
          <a:xfrm>
            <a:off x="5740603" y="347472"/>
            <a:ext cx="1197864" cy="329184"/>
          </a:xfrm>
          <a:prstGeom prst="rect">
            <a:avLst/>
          </a:prstGeom>
          <a:noFill/>
          <a:ln/>
        </p:spPr>
        <p:txBody>
          <a:bodyPr wrap="square" lIns="0" tIns="0" rIns="0" bIns="0" rtlCol="0" anchor="ctr"/>
          <a:lstStyle/>
          <a:p>
            <a:pPr algn="ctr" indent="0" marL="0">
              <a:buNone/>
            </a:pPr>
            <a:r>
              <a:rPr lang="en-US" sz="1200" dirty="0">
                <a:solidFill>
                  <a:srgbClr val="3F6E8C"/>
                </a:solidFill>
                <a:latin typeface="Calibri" pitchFamily="34" charset="0"/>
                <a:ea typeface="Calibri" pitchFamily="34" charset="-122"/>
                <a:cs typeface="Calibri" pitchFamily="34" charset="-120"/>
              </a:rPr>
              <a:t>Background</a:t>
            </a:r>
            <a:endParaRPr lang="en-US" sz="1200" dirty="0"/>
          </a:p>
        </p:txBody>
      </p:sp>
      <p:sp>
        <p:nvSpPr>
          <p:cNvPr id="17" name="Shape 15"/>
          <p:cNvSpPr/>
          <p:nvPr/>
        </p:nvSpPr>
        <p:spPr>
          <a:xfrm>
            <a:off x="548640" y="1600200"/>
            <a:ext cx="2377440" cy="4572000"/>
          </a:xfrm>
          <a:prstGeom prst="roundRect">
            <a:avLst>
              <a:gd name="adj" fmla="val 5385"/>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18" name="Text 16"/>
          <p:cNvSpPr txBox="1"/>
          <p:nvPr/>
        </p:nvSpPr>
        <p:spPr>
          <a:xfrm>
            <a:off x="822960" y="1783080"/>
            <a:ext cx="1874520" cy="320040"/>
          </a:xfrm>
          <a:prstGeom prst="rect">
            <a:avLst/>
          </a:prstGeom>
          <a:noFill/>
          <a:ln/>
        </p:spPr>
        <p:txBody>
          <a:bodyPr wrap="square" lIns="0" tIns="0" rIns="0" bIns="0" rtlCol="0" anchor="t"/>
          <a:lstStyle/>
          <a:p>
            <a:pPr indent="0" marL="0">
              <a:buNone/>
            </a:pPr>
            <a:r>
              <a:rPr lang="en-US" sz="1400" b="1" dirty="0">
                <a:solidFill>
                  <a:srgbClr val="465A69"/>
                </a:solidFill>
                <a:latin typeface="Calibri" pitchFamily="34" charset="0"/>
                <a:ea typeface="Calibri" pitchFamily="34" charset="-122"/>
                <a:cs typeface="Calibri" pitchFamily="34" charset="-120"/>
              </a:rPr>
              <a:t>Timeline</a:t>
            </a:r>
            <a:endParaRPr lang="en-US" sz="1400" dirty="0"/>
          </a:p>
        </p:txBody>
      </p:sp>
      <p:sp>
        <p:nvSpPr>
          <p:cNvPr id="19" name="Shape 17"/>
          <p:cNvSpPr/>
          <p:nvPr/>
        </p:nvSpPr>
        <p:spPr>
          <a:xfrm>
            <a:off x="905256" y="2551176"/>
            <a:ext cx="0" cy="257338"/>
          </a:xfrm>
          <a:prstGeom prst="line">
            <a:avLst/>
          </a:prstGeom>
          <a:noFill/>
          <a:ln w="19050">
            <a:solidFill>
              <a:srgbClr val="3F6E8C"/>
            </a:solidFill>
            <a:prstDash val="solid"/>
          </a:ln>
        </p:spPr>
      </p:sp>
      <p:sp>
        <p:nvSpPr>
          <p:cNvPr id="20" name="Shape 18"/>
          <p:cNvSpPr/>
          <p:nvPr/>
        </p:nvSpPr>
        <p:spPr>
          <a:xfrm>
            <a:off x="777240" y="2267712"/>
            <a:ext cx="256032" cy="256032"/>
          </a:xfrm>
          <a:prstGeom prst="ellipse">
            <a:avLst/>
          </a:prstGeom>
          <a:solidFill>
            <a:srgbClr val="F1F6FA"/>
          </a:solidFill>
          <a:ln w="12700">
            <a:solidFill>
              <a:srgbClr val="F1F6FA"/>
            </a:solidFill>
            <a:prstDash val="solid"/>
          </a:ln>
        </p:spPr>
      </p:sp>
      <p:sp>
        <p:nvSpPr>
          <p:cNvPr id="21" name="Text 19"/>
          <p:cNvSpPr txBox="1"/>
          <p:nvPr/>
        </p:nvSpPr>
        <p:spPr>
          <a:xfrm>
            <a:off x="1188720" y="2203704"/>
            <a:ext cx="1645920" cy="568234"/>
          </a:xfrm>
          <a:prstGeom prst="rect">
            <a:avLst/>
          </a:prstGeom>
          <a:noFill/>
          <a:ln/>
        </p:spPr>
        <p:txBody>
          <a:bodyPr wrap="square" lIns="0" tIns="0" rIns="0" bIns="0" rtlCol="0" anchor="t"/>
          <a:lstStyle/>
          <a:p>
            <a:pPr indent="0" marL="0">
              <a:buNone/>
            </a:pPr>
            <a:r>
              <a:rPr lang="en-US" sz="1200" b="1" dirty="0">
                <a:solidFill>
                  <a:srgbClr val="465A69"/>
                </a:solidFill>
                <a:latin typeface="Calibri" pitchFamily="34" charset="0"/>
                <a:ea typeface="Calibri" pitchFamily="34" charset="-122"/>
                <a:cs typeface="Calibri" pitchFamily="34" charset="-120"/>
              </a:rPr>
              <a:t>T+0</a:t>
            </a:r>
            <a:endParaRPr lang="en-US" sz="1200" dirty="0"/>
          </a:p>
          <a:p>
            <a:pPr indent="0" marL="0">
              <a:buNone/>
            </a:pPr>
            <a:r>
              <a:rPr lang="en-US" sz="1200" dirty="0">
                <a:solidFill>
                  <a:srgbClr val="1E2E3A"/>
                </a:solidFill>
                <a:latin typeface="Calibri" pitchFamily="34" charset="0"/>
                <a:ea typeface="Calibri" pitchFamily="34" charset="-122"/>
                <a:cs typeface="Calibri" pitchFamily="34" charset="-120"/>
              </a:rPr>
              <a:t>Initial signal</a:t>
            </a:r>
            <a:endParaRPr lang="en-US" sz="1200" dirty="0"/>
          </a:p>
        </p:txBody>
      </p:sp>
      <p:sp>
        <p:nvSpPr>
          <p:cNvPr id="22" name="Shape 20"/>
          <p:cNvSpPr/>
          <p:nvPr/>
        </p:nvSpPr>
        <p:spPr>
          <a:xfrm>
            <a:off x="905256" y="3119410"/>
            <a:ext cx="0" cy="257338"/>
          </a:xfrm>
          <a:prstGeom prst="line">
            <a:avLst/>
          </a:prstGeom>
          <a:noFill/>
          <a:ln w="19050">
            <a:solidFill>
              <a:srgbClr val="3F6E8C"/>
            </a:solidFill>
            <a:prstDash val="solid"/>
          </a:ln>
        </p:spPr>
      </p:sp>
      <p:sp>
        <p:nvSpPr>
          <p:cNvPr id="23" name="Shape 21"/>
          <p:cNvSpPr/>
          <p:nvPr/>
        </p:nvSpPr>
        <p:spPr>
          <a:xfrm>
            <a:off x="777240" y="2835946"/>
            <a:ext cx="256032" cy="256032"/>
          </a:xfrm>
          <a:prstGeom prst="ellipse">
            <a:avLst/>
          </a:prstGeom>
          <a:solidFill>
            <a:srgbClr val="F1F6FA"/>
          </a:solidFill>
          <a:ln w="12700">
            <a:solidFill>
              <a:srgbClr val="F1F6FA"/>
            </a:solidFill>
            <a:prstDash val="solid"/>
          </a:ln>
        </p:spPr>
      </p:sp>
      <p:sp>
        <p:nvSpPr>
          <p:cNvPr id="24" name="Text 22"/>
          <p:cNvSpPr txBox="1"/>
          <p:nvPr/>
        </p:nvSpPr>
        <p:spPr>
          <a:xfrm>
            <a:off x="1188720" y="2771938"/>
            <a:ext cx="1645920" cy="568234"/>
          </a:xfrm>
          <a:prstGeom prst="rect">
            <a:avLst/>
          </a:prstGeom>
          <a:noFill/>
          <a:ln/>
        </p:spPr>
        <p:txBody>
          <a:bodyPr wrap="square" lIns="0" tIns="0" rIns="0" bIns="0" rtlCol="0" anchor="t"/>
          <a:lstStyle/>
          <a:p>
            <a:pPr indent="0" marL="0">
              <a:buNone/>
            </a:pPr>
            <a:r>
              <a:rPr lang="en-US" sz="1200" b="1" dirty="0">
                <a:solidFill>
                  <a:srgbClr val="465A69"/>
                </a:solidFill>
                <a:latin typeface="Calibri" pitchFamily="34" charset="0"/>
                <a:ea typeface="Calibri" pitchFamily="34" charset="-122"/>
                <a:cs typeface="Calibri" pitchFamily="34" charset="-120"/>
              </a:rPr>
              <a:t>T+30m</a:t>
            </a:r>
            <a:endParaRPr lang="en-US" sz="1200" dirty="0"/>
          </a:p>
          <a:p>
            <a:pPr indent="0" marL="0">
              <a:buNone/>
            </a:pPr>
            <a:r>
              <a:rPr lang="en-US" sz="1200" dirty="0">
                <a:solidFill>
                  <a:srgbClr val="1E2E3A"/>
                </a:solidFill>
                <a:latin typeface="Calibri" pitchFamily="34" charset="0"/>
                <a:ea typeface="Calibri" pitchFamily="34" charset="-122"/>
                <a:cs typeface="Calibri" pitchFamily="34" charset="-120"/>
              </a:rPr>
              <a:t>Suspicious activity</a:t>
            </a:r>
            <a:endParaRPr lang="en-US" sz="1200" dirty="0"/>
          </a:p>
        </p:txBody>
      </p:sp>
      <p:sp>
        <p:nvSpPr>
          <p:cNvPr id="25" name="Shape 23"/>
          <p:cNvSpPr/>
          <p:nvPr/>
        </p:nvSpPr>
        <p:spPr>
          <a:xfrm>
            <a:off x="905256" y="3687645"/>
            <a:ext cx="0" cy="257338"/>
          </a:xfrm>
          <a:prstGeom prst="line">
            <a:avLst/>
          </a:prstGeom>
          <a:noFill/>
          <a:ln w="19050">
            <a:solidFill>
              <a:srgbClr val="C9D5D2"/>
            </a:solidFill>
            <a:prstDash val="solid"/>
          </a:ln>
        </p:spPr>
      </p:sp>
      <p:sp>
        <p:nvSpPr>
          <p:cNvPr id="26" name="Shape 24"/>
          <p:cNvSpPr/>
          <p:nvPr/>
        </p:nvSpPr>
        <p:spPr>
          <a:xfrm>
            <a:off x="777240" y="3404181"/>
            <a:ext cx="256032" cy="256032"/>
          </a:xfrm>
          <a:prstGeom prst="ellipse">
            <a:avLst/>
          </a:prstGeom>
          <a:solidFill>
            <a:srgbClr val="3F6E8C"/>
          </a:solidFill>
          <a:ln w="12700">
            <a:solidFill>
              <a:srgbClr val="3F6E8C"/>
            </a:solidFill>
            <a:prstDash val="solid"/>
          </a:ln>
        </p:spPr>
      </p:sp>
      <p:sp>
        <p:nvSpPr>
          <p:cNvPr id="27" name="Text 25"/>
          <p:cNvSpPr txBox="1"/>
          <p:nvPr/>
        </p:nvSpPr>
        <p:spPr>
          <a:xfrm>
            <a:off x="1188720" y="3340173"/>
            <a:ext cx="1645920" cy="568234"/>
          </a:xfrm>
          <a:prstGeom prst="rect">
            <a:avLst/>
          </a:prstGeom>
          <a:noFill/>
          <a:ln/>
        </p:spPr>
        <p:txBody>
          <a:bodyPr wrap="square" lIns="0" tIns="0" rIns="0" bIns="0" rtlCol="0" anchor="t"/>
          <a:lstStyle/>
          <a:p>
            <a:pPr indent="0" marL="0">
              <a:buNone/>
            </a:pPr>
            <a:r>
              <a:rPr lang="en-US" sz="1200" b="1" dirty="0">
                <a:solidFill>
                  <a:srgbClr val="3F6E8C"/>
                </a:solidFill>
                <a:latin typeface="Calibri" pitchFamily="34" charset="0"/>
                <a:ea typeface="Calibri" pitchFamily="34" charset="-122"/>
                <a:cs typeface="Calibri" pitchFamily="34" charset="-120"/>
              </a:rPr>
              <a:t>T+1h</a:t>
            </a:r>
            <a:endParaRPr lang="en-US" sz="1200" dirty="0"/>
          </a:p>
          <a:p>
            <a:pPr indent="0" marL="0">
              <a:buNone/>
            </a:pPr>
            <a:r>
              <a:rPr lang="en-US" sz="1200" b="1" dirty="0">
                <a:solidFill>
                  <a:srgbClr val="3F6E8C"/>
                </a:solidFill>
                <a:latin typeface="Calibri" pitchFamily="34" charset="0"/>
                <a:ea typeface="Calibri" pitchFamily="34" charset="-122"/>
                <a:cs typeface="Calibri" pitchFamily="34" charset="-120"/>
              </a:rPr>
              <a:t>Persistence</a:t>
            </a:r>
            <a:endParaRPr lang="en-US" sz="1200" dirty="0"/>
          </a:p>
        </p:txBody>
      </p:sp>
      <p:sp>
        <p:nvSpPr>
          <p:cNvPr id="28" name="Shape 26"/>
          <p:cNvSpPr/>
          <p:nvPr/>
        </p:nvSpPr>
        <p:spPr>
          <a:xfrm>
            <a:off x="905256" y="4255879"/>
            <a:ext cx="0" cy="257338"/>
          </a:xfrm>
          <a:prstGeom prst="line">
            <a:avLst/>
          </a:prstGeom>
          <a:noFill/>
          <a:ln w="19050">
            <a:solidFill>
              <a:srgbClr val="C9D5D2"/>
            </a:solidFill>
            <a:prstDash val="solid"/>
          </a:ln>
        </p:spPr>
      </p:sp>
      <p:sp>
        <p:nvSpPr>
          <p:cNvPr id="29" name="Shape 27"/>
          <p:cNvSpPr/>
          <p:nvPr/>
        </p:nvSpPr>
        <p:spPr>
          <a:xfrm>
            <a:off x="777240" y="3972415"/>
            <a:ext cx="256032" cy="256032"/>
          </a:xfrm>
          <a:prstGeom prst="ellipse">
            <a:avLst/>
          </a:prstGeom>
          <a:solidFill>
            <a:srgbClr val="FFFFFF"/>
          </a:solidFill>
          <a:ln w="15875">
            <a:solidFill>
              <a:srgbClr val="C9D5D2"/>
            </a:solidFill>
            <a:prstDash val="solid"/>
          </a:ln>
        </p:spPr>
      </p:sp>
      <p:sp>
        <p:nvSpPr>
          <p:cNvPr id="30" name="Shape 28"/>
          <p:cNvSpPr/>
          <p:nvPr/>
        </p:nvSpPr>
        <p:spPr>
          <a:xfrm>
            <a:off x="905256" y="4824113"/>
            <a:ext cx="0" cy="257338"/>
          </a:xfrm>
          <a:prstGeom prst="line">
            <a:avLst/>
          </a:prstGeom>
          <a:noFill/>
          <a:ln w="19050">
            <a:solidFill>
              <a:srgbClr val="C9D5D2"/>
            </a:solidFill>
            <a:prstDash val="solid"/>
          </a:ln>
        </p:spPr>
      </p:sp>
      <p:sp>
        <p:nvSpPr>
          <p:cNvPr id="31" name="Shape 29"/>
          <p:cNvSpPr/>
          <p:nvPr/>
        </p:nvSpPr>
        <p:spPr>
          <a:xfrm>
            <a:off x="777240" y="4540649"/>
            <a:ext cx="256032" cy="256032"/>
          </a:xfrm>
          <a:prstGeom prst="ellipse">
            <a:avLst/>
          </a:prstGeom>
          <a:solidFill>
            <a:srgbClr val="FFFFFF"/>
          </a:solidFill>
          <a:ln w="15875">
            <a:solidFill>
              <a:srgbClr val="C9D5D2"/>
            </a:solidFill>
            <a:prstDash val="solid"/>
          </a:ln>
        </p:spPr>
      </p:sp>
      <p:sp>
        <p:nvSpPr>
          <p:cNvPr id="32" name="Shape 30"/>
          <p:cNvSpPr/>
          <p:nvPr/>
        </p:nvSpPr>
        <p:spPr>
          <a:xfrm>
            <a:off x="905256" y="5392347"/>
            <a:ext cx="0" cy="257338"/>
          </a:xfrm>
          <a:prstGeom prst="line">
            <a:avLst/>
          </a:prstGeom>
          <a:noFill/>
          <a:ln w="19050">
            <a:solidFill>
              <a:srgbClr val="C9D5D2"/>
            </a:solidFill>
            <a:prstDash val="solid"/>
          </a:ln>
        </p:spPr>
      </p:sp>
      <p:sp>
        <p:nvSpPr>
          <p:cNvPr id="33" name="Shape 31"/>
          <p:cNvSpPr/>
          <p:nvPr/>
        </p:nvSpPr>
        <p:spPr>
          <a:xfrm>
            <a:off x="777240" y="5108883"/>
            <a:ext cx="256032" cy="256032"/>
          </a:xfrm>
          <a:prstGeom prst="ellipse">
            <a:avLst/>
          </a:prstGeom>
          <a:solidFill>
            <a:srgbClr val="FFFFFF"/>
          </a:solidFill>
          <a:ln w="15875">
            <a:solidFill>
              <a:srgbClr val="C9D5D2"/>
            </a:solidFill>
            <a:prstDash val="solid"/>
          </a:ln>
        </p:spPr>
      </p:sp>
      <p:sp>
        <p:nvSpPr>
          <p:cNvPr id="34" name="Shape 32"/>
          <p:cNvSpPr/>
          <p:nvPr/>
        </p:nvSpPr>
        <p:spPr>
          <a:xfrm>
            <a:off x="777240" y="5677118"/>
            <a:ext cx="256032" cy="256032"/>
          </a:xfrm>
          <a:prstGeom prst="ellipse">
            <a:avLst/>
          </a:prstGeom>
          <a:solidFill>
            <a:srgbClr val="FFFFFF"/>
          </a:solidFill>
          <a:ln w="15875">
            <a:solidFill>
              <a:srgbClr val="C9D5D2"/>
            </a:solidFill>
            <a:prstDash val="solid"/>
          </a:ln>
        </p:spPr>
      </p:sp>
      <p:sp>
        <p:nvSpPr>
          <p:cNvPr id="35" name="Shape 33"/>
          <p:cNvSpPr/>
          <p:nvPr/>
        </p:nvSpPr>
        <p:spPr>
          <a:xfrm>
            <a:off x="3154680" y="1600200"/>
            <a:ext cx="5696712" cy="3017520"/>
          </a:xfrm>
          <a:prstGeom prst="roundRect">
            <a:avLst>
              <a:gd name="adj" fmla="val 4242"/>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36" name="Shape 34"/>
          <p:cNvSpPr/>
          <p:nvPr/>
        </p:nvSpPr>
        <p:spPr>
          <a:xfrm>
            <a:off x="3429000" y="1810512"/>
            <a:ext cx="2240280" cy="384048"/>
          </a:xfrm>
          <a:prstGeom prst="roundRect">
            <a:avLst>
              <a:gd name="adj" fmla="val 50000"/>
            </a:avLst>
          </a:prstGeom>
          <a:solidFill>
            <a:srgbClr val="3F6E8C"/>
          </a:solidFill>
          <a:ln w="12700">
            <a:solidFill>
              <a:srgbClr val="3F6E8C"/>
            </a:solidFill>
            <a:prstDash val="solid"/>
          </a:ln>
        </p:spPr>
      </p:sp>
      <p:pic>
        <p:nvPicPr>
          <p:cNvPr id="37" name="Image 0" descr="preencoded.png">    </p:cNvPr>
          <p:cNvPicPr>
            <a:picLocks noChangeAspect="1"/>
          </p:cNvPicPr>
          <p:nvPr/>
        </p:nvPicPr>
        <p:blipFill>
          <a:blip r:embed="rId1"/>
          <a:stretch>
            <a:fillRect/>
          </a:stretch>
        </p:blipFill>
        <p:spPr>
          <a:xfrm>
            <a:off x="3547872" y="1874520"/>
            <a:ext cx="246888" cy="246888"/>
          </a:xfrm>
          <a:prstGeom prst="rect">
            <a:avLst/>
          </a:prstGeom>
        </p:spPr>
      </p:pic>
      <p:sp>
        <p:nvSpPr>
          <p:cNvPr id="38" name="Text 35"/>
          <p:cNvSpPr txBox="1"/>
          <p:nvPr/>
        </p:nvSpPr>
        <p:spPr>
          <a:xfrm>
            <a:off x="3867912" y="1810512"/>
            <a:ext cx="1783080" cy="38404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T+1h  |  10:35 AM</a:t>
            </a:r>
            <a:endParaRPr lang="en-US" sz="1300" dirty="0"/>
          </a:p>
        </p:txBody>
      </p:sp>
      <p:sp>
        <p:nvSpPr>
          <p:cNvPr id="39" name="Text 36"/>
          <p:cNvSpPr txBox="1"/>
          <p:nvPr/>
        </p:nvSpPr>
        <p:spPr>
          <a:xfrm>
            <a:off x="3429000" y="2286000"/>
            <a:ext cx="2743200" cy="256032"/>
          </a:xfrm>
          <a:prstGeom prst="rect">
            <a:avLst/>
          </a:prstGeom>
          <a:noFill/>
          <a:ln/>
        </p:spPr>
        <p:txBody>
          <a:bodyPr wrap="square" lIns="0" tIns="0" rIns="0" bIns="0" rtlCol="0" anchor="t"/>
          <a:lstStyle/>
          <a:p>
            <a:pPr indent="0" marL="0">
              <a:buNone/>
            </a:pPr>
            <a:r>
              <a:rPr lang="en-US" sz="1200" b="1" dirty="0">
                <a:solidFill>
                  <a:srgbClr val="465A69"/>
                </a:solidFill>
                <a:latin typeface="Calibri" pitchFamily="34" charset="0"/>
                <a:ea typeface="Calibri" pitchFamily="34" charset="-122"/>
                <a:cs typeface="Calibri" pitchFamily="34" charset="-120"/>
              </a:rPr>
              <a:t>New information</a:t>
            </a:r>
            <a:endParaRPr lang="en-US" sz="1200" dirty="0"/>
          </a:p>
        </p:txBody>
      </p:sp>
      <p:sp>
        <p:nvSpPr>
          <p:cNvPr id="40" name="Text 37"/>
          <p:cNvSpPr txBox="1"/>
          <p:nvPr/>
        </p:nvSpPr>
        <p:spPr>
          <a:xfrm>
            <a:off x="3429000" y="2560320"/>
            <a:ext cx="5166360" cy="1965960"/>
          </a:xfrm>
          <a:prstGeom prst="rect">
            <a:avLst/>
          </a:prstGeom>
          <a:noFill/>
          <a:ln/>
        </p:spPr>
        <p:txBody>
          <a:bodyPr wrap="square" lIns="0" tIns="0" rIns="0" bIns="0" rtlCol="0" anchor="t"/>
          <a:lstStyle/>
          <a:p>
            <a:pPr indent="0" marL="0">
              <a:buNone/>
            </a:pPr>
            <a:r>
              <a:rPr lang="en-US" sz="1600" dirty="0">
                <a:solidFill>
                  <a:srgbClr val="1E2E3A"/>
                </a:solidFill>
                <a:latin typeface="Calibri" pitchFamily="34" charset="0"/>
                <a:ea typeface="Calibri" pitchFamily="34" charset="-122"/>
                <a:cs typeface="Calibri" pitchFamily="34" charset="-120"/>
              </a:rPr>
              <a:t>Security finds new inbox rules forwarding mail to an external address on affected accounts. On one account, attacker activity continues even after the password was reset.</a:t>
            </a:r>
            <a:endParaRPr lang="en-US" sz="1600" dirty="0"/>
          </a:p>
        </p:txBody>
      </p:sp>
      <p:sp>
        <p:nvSpPr>
          <p:cNvPr id="41" name="Shape 38"/>
          <p:cNvSpPr/>
          <p:nvPr/>
        </p:nvSpPr>
        <p:spPr>
          <a:xfrm>
            <a:off x="3154680" y="4800600"/>
            <a:ext cx="5696712" cy="1371600"/>
          </a:xfrm>
          <a:prstGeom prst="roundRect">
            <a:avLst>
              <a:gd name="adj" fmla="val 9333"/>
            </a:avLst>
          </a:prstGeom>
          <a:solidFill>
            <a:srgbClr val="F1F6FA"/>
          </a:solidFill>
          <a:ln w="12700">
            <a:solidFill>
              <a:srgbClr val="F1F6FA"/>
            </a:solidFill>
            <a:prstDash val="solid"/>
          </a:ln>
          <a:effectLst>
            <a:outerShdw sx="100000" sy="100000" kx="0" ky="0" algn="bl" rotWithShape="0" blurRad="177800" dist="50800" dir="5400000">
              <a:srgbClr val="1B4965">
                <a:alpha val="16000"/>
              </a:srgbClr>
            </a:outerShdw>
          </a:effectLst>
        </p:spPr>
      </p:sp>
      <p:sp>
        <p:nvSpPr>
          <p:cNvPr id="42" name="Text 39"/>
          <p:cNvSpPr txBox="1"/>
          <p:nvPr/>
        </p:nvSpPr>
        <p:spPr>
          <a:xfrm>
            <a:off x="3429000" y="4901184"/>
            <a:ext cx="2743200" cy="256032"/>
          </a:xfrm>
          <a:prstGeom prst="rect">
            <a:avLst/>
          </a:prstGeom>
          <a:noFill/>
          <a:ln/>
        </p:spPr>
        <p:txBody>
          <a:bodyPr wrap="square" lIns="0" tIns="0" rIns="0" bIns="0" rtlCol="0" anchor="t"/>
          <a:lstStyle/>
          <a:p>
            <a:pPr indent="0" marL="0">
              <a:buNone/>
            </a:pPr>
            <a:r>
              <a:rPr lang="en-US" sz="1300" b="1" dirty="0">
                <a:solidFill>
                  <a:srgbClr val="3F6E8C"/>
                </a:solidFill>
                <a:latin typeface="Calibri" pitchFamily="34" charset="0"/>
                <a:ea typeface="Calibri" pitchFamily="34" charset="-122"/>
                <a:cs typeface="Calibri" pitchFamily="34" charset="-120"/>
              </a:rPr>
              <a:t>Decide</a:t>
            </a:r>
            <a:endParaRPr lang="en-US" sz="1300" dirty="0"/>
          </a:p>
        </p:txBody>
      </p:sp>
      <p:sp>
        <p:nvSpPr>
          <p:cNvPr id="43" name="Text 40"/>
          <p:cNvSpPr txBox="1"/>
          <p:nvPr/>
        </p:nvSpPr>
        <p:spPr>
          <a:xfrm>
            <a:off x="3429000" y="5175504"/>
            <a:ext cx="5166360" cy="914400"/>
          </a:xfrm>
          <a:prstGeom prst="rect">
            <a:avLst/>
          </a:prstGeom>
          <a:noFill/>
          <a:ln/>
        </p:spPr>
        <p:txBody>
          <a:bodyPr wrap="square" lIns="0" tIns="0" rIns="0" bIns="0" rtlCol="0" anchor="t"/>
          <a:lstStyle/>
          <a:p>
            <a:pPr indent="0" marL="0">
              <a:buNone/>
            </a:pPr>
            <a:r>
              <a:rPr lang="en-US" sz="1600" b="1" dirty="0">
                <a:solidFill>
                  <a:srgbClr val="1E2E3A"/>
                </a:solidFill>
                <a:latin typeface="Calibri" pitchFamily="34" charset="0"/>
                <a:ea typeface="Calibri" pitchFamily="34" charset="-122"/>
                <a:cs typeface="Calibri" pitchFamily="34" charset="-120"/>
              </a:rPr>
              <a:t>Do you disable affected accounts or keep them operational? What containment actions do you take?</a:t>
            </a:r>
            <a:endParaRPr lang="en-US" sz="1600" dirty="0"/>
          </a:p>
        </p:txBody>
      </p:sp>
      <p:sp>
        <p:nvSpPr>
          <p:cNvPr id="44" name="Shape 41"/>
          <p:cNvSpPr/>
          <p:nvPr/>
        </p:nvSpPr>
        <p:spPr>
          <a:xfrm>
            <a:off x="9079992" y="1600200"/>
            <a:ext cx="2560320" cy="4572000"/>
          </a:xfrm>
          <a:prstGeom prst="roundRect">
            <a:avLst>
              <a:gd name="adj" fmla="val 5000"/>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45" name="Text 42"/>
          <p:cNvSpPr txBox="1"/>
          <p:nvPr/>
        </p:nvSpPr>
        <p:spPr>
          <a:xfrm>
            <a:off x="9262872" y="1728216"/>
            <a:ext cx="2194560" cy="457200"/>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Mailbox forwarding rule (simulated)</a:t>
            </a:r>
            <a:endParaRPr lang="en-US" sz="1300" dirty="0"/>
          </a:p>
        </p:txBody>
      </p:sp>
      <p:sp>
        <p:nvSpPr>
          <p:cNvPr id="46" name="Shape 43"/>
          <p:cNvSpPr/>
          <p:nvPr/>
        </p:nvSpPr>
        <p:spPr>
          <a:xfrm>
            <a:off x="9262872" y="2221992"/>
            <a:ext cx="2194560" cy="3767328"/>
          </a:xfrm>
          <a:prstGeom prst="roundRect">
            <a:avLst>
              <a:gd name="adj" fmla="val 3333"/>
            </a:avLst>
          </a:prstGeom>
          <a:solidFill>
            <a:srgbClr val="FFFFFF"/>
          </a:solidFill>
          <a:ln w="9525">
            <a:solidFill>
              <a:srgbClr val="C9D3DE"/>
            </a:solidFill>
            <a:prstDash val="solid"/>
          </a:ln>
        </p:spPr>
      </p:sp>
      <p:sp>
        <p:nvSpPr>
          <p:cNvPr id="47" name="Shape 44"/>
          <p:cNvSpPr/>
          <p:nvPr/>
        </p:nvSpPr>
        <p:spPr>
          <a:xfrm>
            <a:off x="9381744" y="2404872"/>
            <a:ext cx="256032" cy="256032"/>
          </a:xfrm>
          <a:prstGeom prst="roundRect">
            <a:avLst>
              <a:gd name="adj" fmla="val 17857"/>
            </a:avLst>
          </a:prstGeom>
          <a:solidFill>
            <a:srgbClr val="6F93B3"/>
          </a:solidFill>
          <a:ln w="12700">
            <a:solidFill>
              <a:srgbClr val="6F93B3"/>
            </a:solidFill>
            <a:prstDash val="solid"/>
          </a:ln>
        </p:spPr>
      </p:sp>
      <p:sp>
        <p:nvSpPr>
          <p:cNvPr id="48" name="Text 45"/>
          <p:cNvSpPr txBox="1"/>
          <p:nvPr/>
        </p:nvSpPr>
        <p:spPr>
          <a:xfrm>
            <a:off x="9381744" y="2404872"/>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a:t>
            </a:r>
            <a:endParaRPr lang="en-US" sz="1200" dirty="0"/>
          </a:p>
        </p:txBody>
      </p:sp>
      <p:sp>
        <p:nvSpPr>
          <p:cNvPr id="49" name="Text 46"/>
          <p:cNvSpPr txBox="1"/>
          <p:nvPr/>
        </p:nvSpPr>
        <p:spPr>
          <a:xfrm>
            <a:off x="9729216" y="2386584"/>
            <a:ext cx="1591056" cy="292608"/>
          </a:xfrm>
          <a:prstGeom prst="rect">
            <a:avLst/>
          </a:prstGeom>
          <a:noFill/>
          <a:ln/>
        </p:spPr>
        <p:txBody>
          <a:bodyPr wrap="square" lIns="0" tIns="0" rIns="0" bIns="0" rtlCol="0" anchor="ctr"/>
          <a:lstStyle/>
          <a:p>
            <a:pPr indent="0" marL="0">
              <a:buNone/>
            </a:pPr>
            <a:r>
              <a:rPr lang="en-US" sz="1600" dirty="0">
                <a:solidFill>
                  <a:srgbClr val="1F3A5F"/>
                </a:solidFill>
                <a:latin typeface="Calibri" pitchFamily="34" charset="0"/>
                <a:ea typeface="Calibri" pitchFamily="34" charset="-122"/>
                <a:cs typeface="Calibri" pitchFamily="34" charset="-120"/>
              </a:rPr>
              <a:t>Exchange Online</a:t>
            </a:r>
            <a:endParaRPr lang="en-US" sz="1600" dirty="0"/>
          </a:p>
        </p:txBody>
      </p:sp>
      <p:sp>
        <p:nvSpPr>
          <p:cNvPr id="50" name="Text 47"/>
          <p:cNvSpPr txBox="1"/>
          <p:nvPr/>
        </p:nvSpPr>
        <p:spPr>
          <a:xfrm>
            <a:off x="9381744" y="2770632"/>
            <a:ext cx="1956816" cy="485902"/>
          </a:xfrm>
          <a:prstGeom prst="rect">
            <a:avLst/>
          </a:prstGeom>
          <a:noFill/>
          <a:ln/>
        </p:spPr>
        <p:txBody>
          <a:bodyPr wrap="square" lIns="0" tIns="0" rIns="0" bIns="0" rtlCol="0" anchor="t"/>
          <a:lstStyle/>
          <a:p>
            <a:pPr indent="0" marL="0">
              <a:buNone/>
            </a:pPr>
            <a:r>
              <a:rPr lang="en-US" sz="1450" b="1" dirty="0">
                <a:solidFill>
                  <a:srgbClr val="1B2A4A"/>
                </a:solidFill>
                <a:latin typeface="Calibri" pitchFamily="34" charset="0"/>
                <a:ea typeface="Calibri" pitchFamily="34" charset="-122"/>
                <a:cs typeface="Calibri" pitchFamily="34" charset="-120"/>
              </a:rPr>
              <a:t>New inbox rule detected</a:t>
            </a:r>
            <a:endParaRPr lang="en-US" sz="1450" dirty="0"/>
          </a:p>
        </p:txBody>
      </p:sp>
      <p:sp>
        <p:nvSpPr>
          <p:cNvPr id="51" name="Text 48"/>
          <p:cNvSpPr txBox="1"/>
          <p:nvPr/>
        </p:nvSpPr>
        <p:spPr>
          <a:xfrm>
            <a:off x="9381744" y="3293110"/>
            <a:ext cx="1956816" cy="433832"/>
          </a:xfrm>
          <a:prstGeom prst="rect">
            <a:avLst/>
          </a:prstGeom>
          <a:noFill/>
          <a:ln/>
        </p:spPr>
        <p:txBody>
          <a:bodyPr wrap="square" lIns="0" tIns="0" rIns="0" bIns="0" rtlCol="0" anchor="t"/>
          <a:lstStyle/>
          <a:p>
            <a:pPr indent="0" marL="0">
              <a:buNone/>
            </a:pPr>
            <a:r>
              <a:rPr lang="en-US" sz="1400" dirty="0">
                <a:solidFill>
                  <a:srgbClr val="1E2E3A"/>
                </a:solidFill>
                <a:latin typeface="Calibri" pitchFamily="34" charset="0"/>
                <a:ea typeface="Calibri" pitchFamily="34" charset="-122"/>
                <a:cs typeface="Calibri" pitchFamily="34" charset="-120"/>
              </a:rPr>
              <a:t>Rule name: Forward to external</a:t>
            </a:r>
            <a:endParaRPr lang="en-US" sz="1400" dirty="0"/>
          </a:p>
        </p:txBody>
      </p:sp>
      <p:sp>
        <p:nvSpPr>
          <p:cNvPr id="52" name="Text 49"/>
          <p:cNvSpPr txBox="1"/>
          <p:nvPr/>
        </p:nvSpPr>
        <p:spPr>
          <a:xfrm>
            <a:off x="9381744" y="3745230"/>
            <a:ext cx="1956816" cy="433832"/>
          </a:xfrm>
          <a:prstGeom prst="rect">
            <a:avLst/>
          </a:prstGeom>
          <a:noFill/>
          <a:ln/>
        </p:spPr>
        <p:txBody>
          <a:bodyPr wrap="square" lIns="0" tIns="0" rIns="0" bIns="0" rtlCol="0" anchor="t"/>
          <a:lstStyle/>
          <a:p>
            <a:pPr indent="0" marL="0">
              <a:buNone/>
            </a:pPr>
            <a:r>
              <a:rPr lang="en-US" sz="1400" dirty="0">
                <a:solidFill>
                  <a:srgbClr val="1E2E3A"/>
                </a:solidFill>
                <a:latin typeface="Calibri" pitchFamily="34" charset="0"/>
                <a:ea typeface="Calibri" pitchFamily="34" charset="-122"/>
                <a:cs typeface="Calibri" pitchFamily="34" charset="-120"/>
              </a:rPr>
              <a:t>Created: 10:32 AM (EDT)</a:t>
            </a:r>
            <a:endParaRPr lang="en-US" sz="1400" dirty="0"/>
          </a:p>
        </p:txBody>
      </p:sp>
      <p:sp>
        <p:nvSpPr>
          <p:cNvPr id="53" name="Text 50"/>
          <p:cNvSpPr txBox="1"/>
          <p:nvPr/>
        </p:nvSpPr>
        <p:spPr>
          <a:xfrm>
            <a:off x="9381744" y="4270502"/>
            <a:ext cx="1956816" cy="433832"/>
          </a:xfrm>
          <a:prstGeom prst="rect">
            <a:avLst/>
          </a:prstGeom>
          <a:noFill/>
          <a:ln/>
        </p:spPr>
        <p:txBody>
          <a:bodyPr wrap="square" lIns="0" tIns="0" rIns="0" bIns="0" rtlCol="0" anchor="t"/>
          <a:lstStyle/>
          <a:p>
            <a:pPr indent="0" marL="0">
              <a:buNone/>
            </a:pPr>
            <a:r>
              <a:rPr lang="en-US" sz="1400" b="1" dirty="0">
                <a:solidFill>
                  <a:srgbClr val="1B2A4A"/>
                </a:solidFill>
                <a:latin typeface="Calibri" pitchFamily="34" charset="0"/>
                <a:ea typeface="Calibri" pitchFamily="34" charset="-122"/>
                <a:cs typeface="Calibri" pitchFamily="34" charset="-120"/>
              </a:rPr>
              <a:t>Forward all email to:</a:t>
            </a:r>
            <a:endParaRPr lang="en-US" sz="1400" dirty="0"/>
          </a:p>
        </p:txBody>
      </p:sp>
      <p:sp>
        <p:nvSpPr>
          <p:cNvPr id="54" name="Text 51"/>
          <p:cNvSpPr txBox="1"/>
          <p:nvPr/>
        </p:nvSpPr>
        <p:spPr>
          <a:xfrm>
            <a:off x="9381744" y="4740910"/>
            <a:ext cx="1956816" cy="433832"/>
          </a:xfrm>
          <a:prstGeom prst="rect">
            <a:avLst/>
          </a:prstGeom>
          <a:noFill/>
          <a:ln/>
        </p:spPr>
        <p:txBody>
          <a:bodyPr wrap="square" lIns="0" tIns="0" rIns="0" bIns="0" rtlCol="0" anchor="t"/>
          <a:lstStyle/>
          <a:p>
            <a:pPr indent="0" marL="0">
              <a:buNone/>
            </a:pPr>
            <a:r>
              <a:rPr lang="en-US" sz="1400" dirty="0">
                <a:solidFill>
                  <a:srgbClr val="B06A6A"/>
                </a:solidFill>
                <a:latin typeface="Calibri" pitchFamily="34" charset="0"/>
                <a:ea typeface="Calibri" pitchFamily="34" charset="-122"/>
                <a:cs typeface="Calibri" pitchFamily="34" charset="-120"/>
              </a:rPr>
              <a:t>attacker@external-mail.com</a:t>
            </a:r>
            <a:endParaRPr lang="en-US" sz="1400" dirty="0"/>
          </a:p>
        </p:txBody>
      </p:sp>
      <p:sp>
        <p:nvSpPr>
          <p:cNvPr id="55" name="Text 52"/>
          <p:cNvSpPr txBox="1"/>
          <p:nvPr/>
        </p:nvSpPr>
        <p:spPr>
          <a:xfrm>
            <a:off x="9381744" y="5266182"/>
            <a:ext cx="1956816" cy="470408"/>
          </a:xfrm>
          <a:prstGeom prst="rect">
            <a:avLst/>
          </a:prstGeom>
          <a:noFill/>
          <a:ln/>
        </p:spPr>
        <p:txBody>
          <a:bodyPr wrap="square" lIns="0" tIns="0" rIns="0" bIns="0" rtlCol="0" anchor="t"/>
          <a:lstStyle/>
          <a:p>
            <a:pPr indent="0" marL="0">
              <a:buNone/>
            </a:pPr>
            <a:r>
              <a:rPr lang="en-US" sz="1400" dirty="0">
                <a:solidFill>
                  <a:srgbClr val="1E2E3A"/>
                </a:solidFill>
                <a:latin typeface="Calibri" pitchFamily="34" charset="0"/>
                <a:ea typeface="Calibri" pitchFamily="34" charset="-122"/>
                <a:cs typeface="Calibri" pitchFamily="34" charset="-120"/>
              </a:rPr>
              <a:t>This rule was not created by the user.</a:t>
            </a:r>
            <a:endParaRPr lang="en-US" sz="1400" dirty="0"/>
          </a:p>
        </p:txBody>
      </p:sp>
      <p:sp>
        <p:nvSpPr>
          <p:cNvPr id="56" name="Text 53"/>
          <p:cNvSpPr txBox="1"/>
          <p:nvPr/>
        </p:nvSpPr>
        <p:spPr>
          <a:xfrm>
            <a:off x="548640" y="6254496"/>
            <a:ext cx="11091672" cy="256032"/>
          </a:xfrm>
          <a:prstGeom prst="rect">
            <a:avLst/>
          </a:prstGeom>
          <a:noFill/>
          <a:ln/>
        </p:spPr>
        <p:txBody>
          <a:bodyPr wrap="square" lIns="0" tIns="0" rIns="0" bIns="0" rtlCol="0" anchor="ctr"/>
          <a:lstStyle/>
          <a:p>
            <a:pPr indent="0" marL="0">
              <a:buNone/>
            </a:pPr>
            <a:r>
              <a:rPr lang="en-US" sz="1200" b="1" dirty="0">
                <a:solidFill>
                  <a:srgbClr val="465A69"/>
                </a:solidFill>
                <a:latin typeface="Calibri" pitchFamily="34" charset="0"/>
                <a:ea typeface="Calibri" pitchFamily="34" charset="-122"/>
                <a:cs typeface="Calibri" pitchFamily="34" charset="-120"/>
              </a:rPr>
              <a:t>Acronyms:  </a:t>
            </a:r>
            <a:pPr indent="0" marL="0">
              <a:buNone/>
            </a:pPr>
            <a:r>
              <a:rPr lang="en-US" sz="1200" dirty="0">
                <a:solidFill>
                  <a:srgbClr val="465A69"/>
                </a:solidFill>
                <a:latin typeface="Calibri" pitchFamily="34" charset="0"/>
                <a:ea typeface="Calibri" pitchFamily="34" charset="-122"/>
                <a:cs typeface="Calibri" pitchFamily="34" charset="-120"/>
              </a:rPr>
              <a:t>T+: time since the first signal;  EDT: Eastern Daylight Time</a:t>
            </a:r>
            <a:endParaRPr lang="en-US" sz="1200" dirty="0"/>
          </a:p>
        </p:txBody>
      </p:sp>
      <p:sp>
        <p:nvSpPr>
          <p:cNvPr id="57" name="Shape 54"/>
          <p:cNvSpPr/>
          <p:nvPr/>
        </p:nvSpPr>
        <p:spPr>
          <a:xfrm>
            <a:off x="548640" y="6537960"/>
            <a:ext cx="763524" cy="274320"/>
          </a:xfrm>
          <a:prstGeom prst="roundRect">
            <a:avLst>
              <a:gd name="adj" fmla="val 50000"/>
            </a:avLst>
          </a:prstGeom>
          <a:solidFill>
            <a:srgbClr val="E4ECF2"/>
          </a:solidFill>
          <a:ln w="12700">
            <a:solidFill>
              <a:srgbClr val="E4ECF2"/>
            </a:solidFill>
            <a:prstDash val="solid"/>
          </a:ln>
        </p:spPr>
      </p:sp>
      <p:sp>
        <p:nvSpPr>
          <p:cNvPr id="58" name="Text 55"/>
          <p:cNvSpPr txBox="1"/>
          <p:nvPr/>
        </p:nvSpPr>
        <p:spPr>
          <a:xfrm>
            <a:off x="548640" y="6537960"/>
            <a:ext cx="763524" cy="274320"/>
          </a:xfrm>
          <a:prstGeom prst="rect">
            <a:avLst/>
          </a:prstGeom>
          <a:noFill/>
          <a:ln/>
        </p:spPr>
        <p:txBody>
          <a:bodyPr wrap="square" lIns="0" tIns="0" rIns="0" bIns="0" rtlCol="0" anchor="ctr"/>
          <a:lstStyle/>
          <a:p>
            <a:pPr algn="ctr" indent="0" marL="0">
              <a:buNone/>
            </a:pPr>
            <a:r>
              <a:rPr lang="en-US" sz="1200" b="1" dirty="0">
                <a:solidFill>
                  <a:srgbClr val="23405A"/>
                </a:solidFill>
                <a:latin typeface="Calibri" pitchFamily="34" charset="0"/>
                <a:ea typeface="Calibri" pitchFamily="34" charset="-122"/>
                <a:cs typeface="Calibri" pitchFamily="34" charset="-120"/>
              </a:rPr>
              <a:t>Start</a:t>
            </a:r>
            <a:endParaRPr lang="en-US" sz="1200" dirty="0"/>
          </a:p>
        </p:txBody>
      </p:sp>
      <p:pic>
        <p:nvPicPr>
          <p:cNvPr id="59" name="Image 1" descr="preencoded.png">
            <a:hlinkClick r:id="rId3" tooltip="Go to Start" action="ppaction://hlinksldjump"/>
          </p:cNvPr>
          <p:cNvPicPr>
            <a:picLocks noChangeAspect="1"/>
          </p:cNvPicPr>
          <p:nvPr/>
        </p:nvPicPr>
        <p:blipFill>
          <a:blip r:embed="rId2"/>
          <a:stretch>
            <a:fillRect/>
          </a:stretch>
        </p:blipFill>
        <p:spPr>
          <a:xfrm>
            <a:off x="548640" y="6537960"/>
            <a:ext cx="763524" cy="274320"/>
          </a:xfrm>
          <a:prstGeom prst="rect">
            <a:avLst/>
          </a:prstGeom>
        </p:spPr>
      </p:pic>
      <p:sp>
        <p:nvSpPr>
          <p:cNvPr id="60" name="Shape 56"/>
          <p:cNvSpPr/>
          <p:nvPr/>
        </p:nvSpPr>
        <p:spPr>
          <a:xfrm>
            <a:off x="1385316" y="6537960"/>
            <a:ext cx="1197864" cy="274320"/>
          </a:xfrm>
          <a:prstGeom prst="roundRect">
            <a:avLst>
              <a:gd name="adj" fmla="val 50000"/>
            </a:avLst>
          </a:prstGeom>
          <a:solidFill>
            <a:srgbClr val="3F6E8C"/>
          </a:solidFill>
          <a:ln w="12700">
            <a:solidFill>
              <a:srgbClr val="3F6E8C"/>
            </a:solidFill>
            <a:prstDash val="solid"/>
          </a:ln>
        </p:spPr>
      </p:sp>
      <p:sp>
        <p:nvSpPr>
          <p:cNvPr id="61" name="Text 57"/>
          <p:cNvSpPr txBox="1"/>
          <p:nvPr/>
        </p:nvSpPr>
        <p:spPr>
          <a:xfrm>
            <a:off x="1385316" y="6537960"/>
            <a:ext cx="1197864"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Scenario 1</a:t>
            </a:r>
            <a:endParaRPr lang="en-US" sz="1200" dirty="0"/>
          </a:p>
        </p:txBody>
      </p:sp>
      <p:pic>
        <p:nvPicPr>
          <p:cNvPr id="62" name="Image 2" descr="preencoded.png">
            <a:hlinkClick r:id="rId5" tooltip="Go to Scenario 1" action="ppaction://hlinksldjump"/>
          </p:cNvPr>
          <p:cNvPicPr>
            <a:picLocks noChangeAspect="1"/>
          </p:cNvPicPr>
          <p:nvPr/>
        </p:nvPicPr>
        <p:blipFill>
          <a:blip r:embed="rId4"/>
          <a:stretch>
            <a:fillRect/>
          </a:stretch>
        </p:blipFill>
        <p:spPr>
          <a:xfrm>
            <a:off x="1385316" y="6537960"/>
            <a:ext cx="1197864" cy="274320"/>
          </a:xfrm>
          <a:prstGeom prst="rect">
            <a:avLst/>
          </a:prstGeom>
        </p:spPr>
      </p:pic>
      <p:sp>
        <p:nvSpPr>
          <p:cNvPr id="63" name="Shape 58"/>
          <p:cNvSpPr/>
          <p:nvPr/>
        </p:nvSpPr>
        <p:spPr>
          <a:xfrm>
            <a:off x="2656332" y="6537960"/>
            <a:ext cx="1197864" cy="274320"/>
          </a:xfrm>
          <a:prstGeom prst="roundRect">
            <a:avLst>
              <a:gd name="adj" fmla="val 50000"/>
            </a:avLst>
          </a:prstGeom>
          <a:solidFill>
            <a:srgbClr val="F1F8F3"/>
          </a:solidFill>
          <a:ln w="12700">
            <a:solidFill>
              <a:srgbClr val="F1F8F3"/>
            </a:solidFill>
            <a:prstDash val="solid"/>
          </a:ln>
        </p:spPr>
      </p:sp>
      <p:sp>
        <p:nvSpPr>
          <p:cNvPr id="64" name="Text 59"/>
          <p:cNvSpPr txBox="1"/>
          <p:nvPr/>
        </p:nvSpPr>
        <p:spPr>
          <a:xfrm>
            <a:off x="2656332" y="6537960"/>
            <a:ext cx="1197864" cy="274320"/>
          </a:xfrm>
          <a:prstGeom prst="rect">
            <a:avLst/>
          </a:prstGeom>
          <a:noFill/>
          <a:ln/>
        </p:spPr>
        <p:txBody>
          <a:bodyPr wrap="square" lIns="0" tIns="0" rIns="0" bIns="0" rtlCol="0" anchor="ctr"/>
          <a:lstStyle/>
          <a:p>
            <a:pPr algn="ctr" indent="0" marL="0">
              <a:buNone/>
            </a:pPr>
            <a:r>
              <a:rPr lang="en-US" sz="1200" b="1" dirty="0">
                <a:solidFill>
                  <a:srgbClr val="4C8068"/>
                </a:solidFill>
                <a:latin typeface="Calibri" pitchFamily="34" charset="0"/>
                <a:ea typeface="Calibri" pitchFamily="34" charset="-122"/>
                <a:cs typeface="Calibri" pitchFamily="34" charset="-120"/>
              </a:rPr>
              <a:t>Scenario 2</a:t>
            </a:r>
            <a:endParaRPr lang="en-US" sz="1200" dirty="0"/>
          </a:p>
        </p:txBody>
      </p:sp>
      <p:pic>
        <p:nvPicPr>
          <p:cNvPr id="65" name="Image 3" descr="preencoded.png">
            <a:hlinkClick r:id="rId7" tooltip="Go to Scenario 2" action="ppaction://hlinksldjump"/>
          </p:cNvPr>
          <p:cNvPicPr>
            <a:picLocks noChangeAspect="1"/>
          </p:cNvPicPr>
          <p:nvPr/>
        </p:nvPicPr>
        <p:blipFill>
          <a:blip r:embed="rId6"/>
          <a:stretch>
            <a:fillRect/>
          </a:stretch>
        </p:blipFill>
        <p:spPr>
          <a:xfrm>
            <a:off x="2656332" y="6537960"/>
            <a:ext cx="1197864" cy="274320"/>
          </a:xfrm>
          <a:prstGeom prst="rect">
            <a:avLst/>
          </a:prstGeom>
        </p:spPr>
      </p:pic>
      <p:sp>
        <p:nvSpPr>
          <p:cNvPr id="66" name="Shape 60"/>
          <p:cNvSpPr/>
          <p:nvPr/>
        </p:nvSpPr>
        <p:spPr>
          <a:xfrm>
            <a:off x="3927348" y="6537960"/>
            <a:ext cx="1197864" cy="274320"/>
          </a:xfrm>
          <a:prstGeom prst="roundRect">
            <a:avLst>
              <a:gd name="adj" fmla="val 50000"/>
            </a:avLst>
          </a:prstGeom>
          <a:solidFill>
            <a:srgbClr val="F6F3FA"/>
          </a:solidFill>
          <a:ln w="12700">
            <a:solidFill>
              <a:srgbClr val="F6F3FA"/>
            </a:solidFill>
            <a:prstDash val="solid"/>
          </a:ln>
        </p:spPr>
      </p:sp>
      <p:sp>
        <p:nvSpPr>
          <p:cNvPr id="67" name="Text 61"/>
          <p:cNvSpPr txBox="1"/>
          <p:nvPr/>
        </p:nvSpPr>
        <p:spPr>
          <a:xfrm>
            <a:off x="3927348" y="6537960"/>
            <a:ext cx="1197864" cy="274320"/>
          </a:xfrm>
          <a:prstGeom prst="rect">
            <a:avLst/>
          </a:prstGeom>
          <a:noFill/>
          <a:ln/>
        </p:spPr>
        <p:txBody>
          <a:bodyPr wrap="square" lIns="0" tIns="0" rIns="0" bIns="0" rtlCol="0" anchor="ctr"/>
          <a:lstStyle/>
          <a:p>
            <a:pPr algn="ctr" indent="0" marL="0">
              <a:buNone/>
            </a:pPr>
            <a:r>
              <a:rPr lang="en-US" sz="1200" b="1" dirty="0">
                <a:solidFill>
                  <a:srgbClr val="6E5E94"/>
                </a:solidFill>
                <a:latin typeface="Calibri" pitchFamily="34" charset="0"/>
                <a:ea typeface="Calibri" pitchFamily="34" charset="-122"/>
                <a:cs typeface="Calibri" pitchFamily="34" charset="-120"/>
              </a:rPr>
              <a:t>Scenario 3</a:t>
            </a:r>
            <a:endParaRPr lang="en-US" sz="1200" dirty="0"/>
          </a:p>
        </p:txBody>
      </p:sp>
      <p:pic>
        <p:nvPicPr>
          <p:cNvPr id="68" name="Image 4" descr="preencoded.png">
            <a:hlinkClick r:id="rId9" tooltip="Go to Scenario 3" action="ppaction://hlinksldjump"/>
          </p:cNvPr>
          <p:cNvPicPr>
            <a:picLocks noChangeAspect="1"/>
          </p:cNvPicPr>
          <p:nvPr/>
        </p:nvPicPr>
        <p:blipFill>
          <a:blip r:embed="rId8"/>
          <a:stretch>
            <a:fillRect/>
          </a:stretch>
        </p:blipFill>
        <p:spPr>
          <a:xfrm>
            <a:off x="3927348" y="6537960"/>
            <a:ext cx="1197864" cy="274320"/>
          </a:xfrm>
          <a:prstGeom prst="rect">
            <a:avLst/>
          </a:prstGeom>
        </p:spPr>
      </p:pic>
      <p:sp>
        <p:nvSpPr>
          <p:cNvPr id="69" name="Shape 62"/>
          <p:cNvSpPr/>
          <p:nvPr/>
        </p:nvSpPr>
        <p:spPr>
          <a:xfrm>
            <a:off x="5198364" y="6537960"/>
            <a:ext cx="937260" cy="274320"/>
          </a:xfrm>
          <a:prstGeom prst="roundRect">
            <a:avLst>
              <a:gd name="adj" fmla="val 50000"/>
            </a:avLst>
          </a:prstGeom>
          <a:solidFill>
            <a:srgbClr val="E4ECF2"/>
          </a:solidFill>
          <a:ln w="12700">
            <a:solidFill>
              <a:srgbClr val="E4ECF2"/>
            </a:solidFill>
            <a:prstDash val="solid"/>
          </a:ln>
        </p:spPr>
      </p:sp>
      <p:sp>
        <p:nvSpPr>
          <p:cNvPr id="70" name="Text 63"/>
          <p:cNvSpPr txBox="1"/>
          <p:nvPr/>
        </p:nvSpPr>
        <p:spPr>
          <a:xfrm>
            <a:off x="5198364" y="6537960"/>
            <a:ext cx="937260" cy="274320"/>
          </a:xfrm>
          <a:prstGeom prst="rect">
            <a:avLst/>
          </a:prstGeom>
          <a:noFill/>
          <a:ln/>
        </p:spPr>
        <p:txBody>
          <a:bodyPr wrap="square" lIns="0" tIns="0" rIns="0" bIns="0" rtlCol="0" anchor="ctr"/>
          <a:lstStyle/>
          <a:p>
            <a:pPr algn="ctr" indent="0" marL="0">
              <a:buNone/>
            </a:pPr>
            <a:r>
              <a:rPr lang="en-US" sz="1200" b="1" dirty="0">
                <a:solidFill>
                  <a:srgbClr val="23405A"/>
                </a:solidFill>
                <a:latin typeface="Calibri" pitchFamily="34" charset="0"/>
                <a:ea typeface="Calibri" pitchFamily="34" charset="-122"/>
                <a:cs typeface="Calibri" pitchFamily="34" charset="-120"/>
              </a:rPr>
              <a:t>Closing</a:t>
            </a:r>
            <a:endParaRPr lang="en-US" sz="1200" dirty="0"/>
          </a:p>
        </p:txBody>
      </p:sp>
      <p:pic>
        <p:nvPicPr>
          <p:cNvPr id="71" name="Image 5" descr="preencoded.png">
            <a:hlinkClick r:id="rId11" tooltip="Go to Closing" action="ppaction://hlinksldjump"/>
          </p:cNvPr>
          <p:cNvPicPr>
            <a:picLocks noChangeAspect="1"/>
          </p:cNvPicPr>
          <p:nvPr/>
        </p:nvPicPr>
        <p:blipFill>
          <a:blip r:embed="rId10"/>
          <a:stretch>
            <a:fillRect/>
          </a:stretch>
        </p:blipFill>
        <p:spPr>
          <a:xfrm>
            <a:off x="5198364" y="6537960"/>
            <a:ext cx="937260" cy="274320"/>
          </a:xfrm>
          <a:prstGeom prst="rect">
            <a:avLst/>
          </a:prstGeom>
        </p:spPr>
      </p:pic>
      <p:sp>
        <p:nvSpPr>
          <p:cNvPr id="72" name="Text 64"/>
          <p:cNvSpPr txBox="1"/>
          <p:nvPr/>
        </p:nvSpPr>
        <p:spPr>
          <a:xfrm>
            <a:off x="11277295" y="6537960"/>
            <a:ext cx="365760" cy="274320"/>
          </a:xfrm>
          <a:prstGeom prst="rect">
            <a:avLst/>
          </a:prstGeom>
          <a:noFill/>
          <a:ln/>
        </p:spPr>
        <p:txBody>
          <a:bodyPr wrap="square" lIns="0" tIns="0" rIns="0" bIns="0" rtlCol="0" anchor="ctr"/>
          <a:lstStyle/>
          <a:p>
            <a:pPr algn="r" indent="0" marL="0">
              <a:buNone/>
            </a:pPr>
            <a:r>
              <a:rPr lang="en-US" sz="1200" dirty="0">
                <a:solidFill>
                  <a:srgbClr val="465A69"/>
                </a:solidFill>
                <a:latin typeface="Calibri" pitchFamily="34" charset="0"/>
                <a:ea typeface="Calibri" pitchFamily="34" charset="-122"/>
                <a:cs typeface="Calibri"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6EEF6"/>
        </a:solidFill>
      </p:bgPr>
    </p:bg>
    <p:spTree>
      <p:nvGrpSpPr>
        <p:cNvPr id="1" name=""/>
        <p:cNvGrpSpPr/>
        <p:nvPr/>
      </p:nvGrpSpPr>
      <p:grpSpPr>
        <a:xfrm>
          <a:off x="0" y="0"/>
          <a:ext cx="0" cy="0"/>
          <a:chOff x="0" y="0"/>
          <a:chExt cx="0" cy="0"/>
        </a:xfrm>
      </p:grpSpPr>
      <p:sp>
        <p:nvSpPr>
          <p:cNvPr id="2" name="Shape 0"/>
          <p:cNvSpPr/>
          <p:nvPr/>
        </p:nvSpPr>
        <p:spPr>
          <a:xfrm>
            <a:off x="548640" y="347472"/>
            <a:ext cx="2843784" cy="329184"/>
          </a:xfrm>
          <a:prstGeom prst="roundRect">
            <a:avLst>
              <a:gd name="adj" fmla="val 50000"/>
            </a:avLst>
          </a:prstGeom>
          <a:solidFill>
            <a:srgbClr val="F1F6FA"/>
          </a:solidFill>
          <a:ln w="12700">
            <a:solidFill>
              <a:srgbClr val="F1F6FA"/>
            </a:solidFill>
            <a:prstDash val="solid"/>
          </a:ln>
        </p:spPr>
      </p:sp>
      <p:sp>
        <p:nvSpPr>
          <p:cNvPr id="3" name="Text 1"/>
          <p:cNvSpPr txBox="1"/>
          <p:nvPr/>
        </p:nvSpPr>
        <p:spPr>
          <a:xfrm>
            <a:off x="548640" y="347472"/>
            <a:ext cx="2843784" cy="329184"/>
          </a:xfrm>
          <a:prstGeom prst="rect">
            <a:avLst/>
          </a:prstGeom>
          <a:noFill/>
          <a:ln/>
        </p:spPr>
        <p:txBody>
          <a:bodyPr wrap="square" lIns="0" tIns="0" rIns="0" bIns="0" rtlCol="0" anchor="ctr"/>
          <a:lstStyle/>
          <a:p>
            <a:pPr algn="ctr" indent="0" marL="0">
              <a:buNone/>
            </a:pPr>
            <a:r>
              <a:rPr lang="en-US" sz="1200" b="1" dirty="0">
                <a:solidFill>
                  <a:srgbClr val="3F6E8C"/>
                </a:solidFill>
                <a:latin typeface="Calibri" pitchFamily="34" charset="0"/>
                <a:ea typeface="Calibri" pitchFamily="34" charset="-122"/>
                <a:cs typeface="Calibri" pitchFamily="34" charset="-120"/>
              </a:rPr>
              <a:t>Scenario 1: Incident Response</a:t>
            </a:r>
            <a:endParaRPr lang="en-US" sz="1200" dirty="0"/>
          </a:p>
        </p:txBody>
      </p:sp>
      <p:sp>
        <p:nvSpPr>
          <p:cNvPr id="4" name="Text 2"/>
          <p:cNvSpPr txBox="1"/>
          <p:nvPr/>
        </p:nvSpPr>
        <p:spPr>
          <a:xfrm>
            <a:off x="548640" y="749808"/>
            <a:ext cx="11064240" cy="640080"/>
          </a:xfrm>
          <a:prstGeom prst="rect">
            <a:avLst/>
          </a:prstGeom>
          <a:noFill/>
          <a:ln/>
        </p:spPr>
        <p:txBody>
          <a:bodyPr wrap="square" lIns="0" tIns="0" rIns="0" bIns="0" rtlCol="0" anchor="ctr"/>
          <a:lstStyle/>
          <a:p>
            <a:pPr indent="0" marL="0">
              <a:buNone/>
            </a:pPr>
            <a:r>
              <a:rPr lang="en-US" sz="2800" b="1" dirty="0">
                <a:solidFill>
                  <a:srgbClr val="23405A"/>
                </a:solidFill>
                <a:latin typeface="Calibri" pitchFamily="34" charset="0"/>
                <a:ea typeface="Calibri" pitchFamily="34" charset="-122"/>
                <a:cs typeface="Calibri" pitchFamily="34" charset="-120"/>
              </a:rPr>
              <a:t>T+2h: Executive Access</a:t>
            </a:r>
            <a:endParaRPr lang="en-US" sz="2800" dirty="0"/>
          </a:p>
        </p:txBody>
      </p:sp>
      <p:sp>
        <p:nvSpPr>
          <p:cNvPr id="5" name="Shape 3"/>
          <p:cNvSpPr/>
          <p:nvPr/>
        </p:nvSpPr>
        <p:spPr>
          <a:xfrm>
            <a:off x="10705795" y="347472"/>
            <a:ext cx="937260" cy="329184"/>
          </a:xfrm>
          <a:prstGeom prst="roundRect">
            <a:avLst>
              <a:gd name="adj" fmla="val 50000"/>
            </a:avLst>
          </a:prstGeom>
          <a:solidFill>
            <a:srgbClr val="FFFFFF"/>
          </a:solidFill>
          <a:ln w="12700">
            <a:solidFill>
              <a:srgbClr val="FFFFFF"/>
            </a:solidFill>
            <a:prstDash val="solid"/>
          </a:ln>
        </p:spPr>
      </p:sp>
      <p:sp>
        <p:nvSpPr>
          <p:cNvPr id="6" name="Text 4"/>
          <p:cNvSpPr txBox="1"/>
          <p:nvPr/>
        </p:nvSpPr>
        <p:spPr>
          <a:xfrm>
            <a:off x="10705795" y="347472"/>
            <a:ext cx="937260" cy="329184"/>
          </a:xfrm>
          <a:prstGeom prst="rect">
            <a:avLst/>
          </a:prstGeom>
          <a:noFill/>
          <a:ln/>
        </p:spPr>
        <p:txBody>
          <a:bodyPr wrap="square" lIns="0" tIns="0" rIns="0" bIns="0" rtlCol="0" anchor="ctr"/>
          <a:lstStyle/>
          <a:p>
            <a:pPr algn="ctr" indent="0" marL="0">
              <a:buNone/>
            </a:pPr>
            <a:r>
              <a:rPr lang="en-US" sz="1200" dirty="0">
                <a:solidFill>
                  <a:srgbClr val="465A69"/>
                </a:solidFill>
                <a:latin typeface="Calibri" pitchFamily="34" charset="0"/>
                <a:ea typeface="Calibri" pitchFamily="34" charset="-122"/>
                <a:cs typeface="Calibri" pitchFamily="34" charset="-120"/>
              </a:rPr>
              <a:t>Hotwash</a:t>
            </a:r>
            <a:endParaRPr lang="en-US" sz="1200" dirty="0"/>
          </a:p>
        </p:txBody>
      </p:sp>
      <p:sp>
        <p:nvSpPr>
          <p:cNvPr id="7" name="Shape 5"/>
          <p:cNvSpPr/>
          <p:nvPr/>
        </p:nvSpPr>
        <p:spPr>
          <a:xfrm>
            <a:off x="9608515" y="347472"/>
            <a:ext cx="1024128" cy="329184"/>
          </a:xfrm>
          <a:prstGeom prst="roundRect">
            <a:avLst>
              <a:gd name="adj" fmla="val 50000"/>
            </a:avLst>
          </a:prstGeom>
          <a:solidFill>
            <a:srgbClr val="FFFFFF"/>
          </a:solidFill>
          <a:ln w="12700">
            <a:solidFill>
              <a:srgbClr val="FFFFFF"/>
            </a:solidFill>
            <a:prstDash val="solid"/>
          </a:ln>
        </p:spPr>
      </p:sp>
      <p:sp>
        <p:nvSpPr>
          <p:cNvPr id="8" name="Text 6"/>
          <p:cNvSpPr txBox="1"/>
          <p:nvPr/>
        </p:nvSpPr>
        <p:spPr>
          <a:xfrm>
            <a:off x="9608515" y="347472"/>
            <a:ext cx="1024128" cy="329184"/>
          </a:xfrm>
          <a:prstGeom prst="rect">
            <a:avLst/>
          </a:prstGeom>
          <a:noFill/>
          <a:ln/>
        </p:spPr>
        <p:txBody>
          <a:bodyPr wrap="square" lIns="0" tIns="0" rIns="0" bIns="0" rtlCol="0" anchor="ctr"/>
          <a:lstStyle/>
          <a:p>
            <a:pPr algn="ctr" indent="0" marL="0">
              <a:buNone/>
            </a:pPr>
            <a:r>
              <a:rPr lang="en-US" sz="1200" dirty="0">
                <a:solidFill>
                  <a:srgbClr val="465A69"/>
                </a:solidFill>
                <a:latin typeface="Calibri" pitchFamily="34" charset="0"/>
                <a:ea typeface="Calibri" pitchFamily="34" charset="-122"/>
                <a:cs typeface="Calibri" pitchFamily="34" charset="-120"/>
              </a:rPr>
              <a:t>Recovery</a:t>
            </a:r>
            <a:endParaRPr lang="en-US" sz="1200" dirty="0"/>
          </a:p>
        </p:txBody>
      </p:sp>
      <p:sp>
        <p:nvSpPr>
          <p:cNvPr id="9" name="Shape 7"/>
          <p:cNvSpPr/>
          <p:nvPr/>
        </p:nvSpPr>
        <p:spPr>
          <a:xfrm>
            <a:off x="8598103" y="347472"/>
            <a:ext cx="937260" cy="329184"/>
          </a:xfrm>
          <a:prstGeom prst="roundRect">
            <a:avLst>
              <a:gd name="adj" fmla="val 50000"/>
            </a:avLst>
          </a:prstGeom>
          <a:solidFill>
            <a:srgbClr val="3F6E8C"/>
          </a:solidFill>
          <a:ln w="12700">
            <a:solidFill>
              <a:srgbClr val="3F6E8C"/>
            </a:solidFill>
            <a:prstDash val="solid"/>
          </a:ln>
        </p:spPr>
      </p:sp>
      <p:sp>
        <p:nvSpPr>
          <p:cNvPr id="10" name="Text 8"/>
          <p:cNvSpPr txBox="1"/>
          <p:nvPr/>
        </p:nvSpPr>
        <p:spPr>
          <a:xfrm>
            <a:off x="8598103" y="347472"/>
            <a:ext cx="93726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Injects</a:t>
            </a:r>
            <a:endParaRPr lang="en-US" sz="1200" dirty="0"/>
          </a:p>
        </p:txBody>
      </p:sp>
      <p:sp>
        <p:nvSpPr>
          <p:cNvPr id="11" name="Shape 9"/>
          <p:cNvSpPr/>
          <p:nvPr/>
        </p:nvSpPr>
        <p:spPr>
          <a:xfrm>
            <a:off x="7674559" y="347472"/>
            <a:ext cx="850392" cy="329184"/>
          </a:xfrm>
          <a:prstGeom prst="roundRect">
            <a:avLst>
              <a:gd name="adj" fmla="val 50000"/>
            </a:avLst>
          </a:prstGeom>
          <a:solidFill>
            <a:srgbClr val="F1F6FA"/>
          </a:solidFill>
          <a:ln w="12700">
            <a:solidFill>
              <a:srgbClr val="F1F6FA"/>
            </a:solidFill>
            <a:prstDash val="solid"/>
          </a:ln>
        </p:spPr>
      </p:sp>
      <p:sp>
        <p:nvSpPr>
          <p:cNvPr id="12" name="Text 10"/>
          <p:cNvSpPr txBox="1"/>
          <p:nvPr/>
        </p:nvSpPr>
        <p:spPr>
          <a:xfrm>
            <a:off x="7674559" y="347472"/>
            <a:ext cx="850392" cy="329184"/>
          </a:xfrm>
          <a:prstGeom prst="rect">
            <a:avLst/>
          </a:prstGeom>
          <a:noFill/>
          <a:ln/>
        </p:spPr>
        <p:txBody>
          <a:bodyPr wrap="square" lIns="0" tIns="0" rIns="0" bIns="0" rtlCol="0" anchor="ctr"/>
          <a:lstStyle/>
          <a:p>
            <a:pPr algn="ctr" indent="0" marL="0">
              <a:buNone/>
            </a:pPr>
            <a:r>
              <a:rPr lang="en-US" sz="1200" dirty="0">
                <a:solidFill>
                  <a:srgbClr val="3F6E8C"/>
                </a:solidFill>
                <a:latin typeface="Calibri" pitchFamily="34" charset="0"/>
                <a:ea typeface="Calibri" pitchFamily="34" charset="-122"/>
                <a:cs typeface="Calibri" pitchFamily="34" charset="-120"/>
              </a:rPr>
              <a:t>Decide</a:t>
            </a:r>
            <a:endParaRPr lang="en-US" sz="1200" dirty="0"/>
          </a:p>
        </p:txBody>
      </p:sp>
      <p:sp>
        <p:nvSpPr>
          <p:cNvPr id="13" name="Shape 11"/>
          <p:cNvSpPr/>
          <p:nvPr/>
        </p:nvSpPr>
        <p:spPr>
          <a:xfrm>
            <a:off x="7011619" y="347472"/>
            <a:ext cx="589788" cy="329184"/>
          </a:xfrm>
          <a:prstGeom prst="roundRect">
            <a:avLst>
              <a:gd name="adj" fmla="val 50000"/>
            </a:avLst>
          </a:prstGeom>
          <a:solidFill>
            <a:srgbClr val="F1F6FA"/>
          </a:solidFill>
          <a:ln w="12700">
            <a:solidFill>
              <a:srgbClr val="F1F6FA"/>
            </a:solidFill>
            <a:prstDash val="solid"/>
          </a:ln>
        </p:spPr>
      </p:sp>
      <p:sp>
        <p:nvSpPr>
          <p:cNvPr id="14" name="Text 12"/>
          <p:cNvSpPr txBox="1"/>
          <p:nvPr/>
        </p:nvSpPr>
        <p:spPr>
          <a:xfrm>
            <a:off x="7011619" y="347472"/>
            <a:ext cx="589788" cy="329184"/>
          </a:xfrm>
          <a:prstGeom prst="rect">
            <a:avLst/>
          </a:prstGeom>
          <a:noFill/>
          <a:ln/>
        </p:spPr>
        <p:txBody>
          <a:bodyPr wrap="square" lIns="0" tIns="0" rIns="0" bIns="0" rtlCol="0" anchor="ctr"/>
          <a:lstStyle/>
          <a:p>
            <a:pPr algn="ctr" indent="0" marL="0">
              <a:buNone/>
            </a:pPr>
            <a:r>
              <a:rPr lang="en-US" sz="1200" dirty="0">
                <a:solidFill>
                  <a:srgbClr val="3F6E8C"/>
                </a:solidFill>
                <a:latin typeface="Calibri" pitchFamily="34" charset="0"/>
                <a:ea typeface="Calibri" pitchFamily="34" charset="-122"/>
                <a:cs typeface="Calibri" pitchFamily="34" charset="-120"/>
              </a:rPr>
              <a:t>T+0</a:t>
            </a:r>
            <a:endParaRPr lang="en-US" sz="1200" dirty="0"/>
          </a:p>
        </p:txBody>
      </p:sp>
      <p:sp>
        <p:nvSpPr>
          <p:cNvPr id="15" name="Shape 13"/>
          <p:cNvSpPr/>
          <p:nvPr/>
        </p:nvSpPr>
        <p:spPr>
          <a:xfrm>
            <a:off x="5740603" y="347472"/>
            <a:ext cx="1197864" cy="329184"/>
          </a:xfrm>
          <a:prstGeom prst="roundRect">
            <a:avLst>
              <a:gd name="adj" fmla="val 50000"/>
            </a:avLst>
          </a:prstGeom>
          <a:solidFill>
            <a:srgbClr val="F1F6FA"/>
          </a:solidFill>
          <a:ln w="12700">
            <a:solidFill>
              <a:srgbClr val="F1F6FA"/>
            </a:solidFill>
            <a:prstDash val="solid"/>
          </a:ln>
        </p:spPr>
      </p:sp>
      <p:sp>
        <p:nvSpPr>
          <p:cNvPr id="16" name="Text 14"/>
          <p:cNvSpPr txBox="1"/>
          <p:nvPr/>
        </p:nvSpPr>
        <p:spPr>
          <a:xfrm>
            <a:off x="5740603" y="347472"/>
            <a:ext cx="1197864" cy="329184"/>
          </a:xfrm>
          <a:prstGeom prst="rect">
            <a:avLst/>
          </a:prstGeom>
          <a:noFill/>
          <a:ln/>
        </p:spPr>
        <p:txBody>
          <a:bodyPr wrap="square" lIns="0" tIns="0" rIns="0" bIns="0" rtlCol="0" anchor="ctr"/>
          <a:lstStyle/>
          <a:p>
            <a:pPr algn="ctr" indent="0" marL="0">
              <a:buNone/>
            </a:pPr>
            <a:r>
              <a:rPr lang="en-US" sz="1200" dirty="0">
                <a:solidFill>
                  <a:srgbClr val="3F6E8C"/>
                </a:solidFill>
                <a:latin typeface="Calibri" pitchFamily="34" charset="0"/>
                <a:ea typeface="Calibri" pitchFamily="34" charset="-122"/>
                <a:cs typeface="Calibri" pitchFamily="34" charset="-120"/>
              </a:rPr>
              <a:t>Background</a:t>
            </a:r>
            <a:endParaRPr lang="en-US" sz="1200" dirty="0"/>
          </a:p>
        </p:txBody>
      </p:sp>
      <p:sp>
        <p:nvSpPr>
          <p:cNvPr id="17" name="Shape 15"/>
          <p:cNvSpPr/>
          <p:nvPr/>
        </p:nvSpPr>
        <p:spPr>
          <a:xfrm>
            <a:off x="548640" y="1600200"/>
            <a:ext cx="2377440" cy="4572000"/>
          </a:xfrm>
          <a:prstGeom prst="roundRect">
            <a:avLst>
              <a:gd name="adj" fmla="val 5385"/>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18" name="Text 16"/>
          <p:cNvSpPr txBox="1"/>
          <p:nvPr/>
        </p:nvSpPr>
        <p:spPr>
          <a:xfrm>
            <a:off x="822960" y="1783080"/>
            <a:ext cx="1874520" cy="320040"/>
          </a:xfrm>
          <a:prstGeom prst="rect">
            <a:avLst/>
          </a:prstGeom>
          <a:noFill/>
          <a:ln/>
        </p:spPr>
        <p:txBody>
          <a:bodyPr wrap="square" lIns="0" tIns="0" rIns="0" bIns="0" rtlCol="0" anchor="t"/>
          <a:lstStyle/>
          <a:p>
            <a:pPr indent="0" marL="0">
              <a:buNone/>
            </a:pPr>
            <a:r>
              <a:rPr lang="en-US" sz="1400" b="1" dirty="0">
                <a:solidFill>
                  <a:srgbClr val="465A69"/>
                </a:solidFill>
                <a:latin typeface="Calibri" pitchFamily="34" charset="0"/>
                <a:ea typeface="Calibri" pitchFamily="34" charset="-122"/>
                <a:cs typeface="Calibri" pitchFamily="34" charset="-120"/>
              </a:rPr>
              <a:t>Timeline</a:t>
            </a:r>
            <a:endParaRPr lang="en-US" sz="1400" dirty="0"/>
          </a:p>
        </p:txBody>
      </p:sp>
      <p:sp>
        <p:nvSpPr>
          <p:cNvPr id="19" name="Shape 17"/>
          <p:cNvSpPr/>
          <p:nvPr/>
        </p:nvSpPr>
        <p:spPr>
          <a:xfrm>
            <a:off x="905256" y="2551176"/>
            <a:ext cx="0" cy="257338"/>
          </a:xfrm>
          <a:prstGeom prst="line">
            <a:avLst/>
          </a:prstGeom>
          <a:noFill/>
          <a:ln w="19050">
            <a:solidFill>
              <a:srgbClr val="3F6E8C"/>
            </a:solidFill>
            <a:prstDash val="solid"/>
          </a:ln>
        </p:spPr>
      </p:sp>
      <p:sp>
        <p:nvSpPr>
          <p:cNvPr id="20" name="Shape 18"/>
          <p:cNvSpPr/>
          <p:nvPr/>
        </p:nvSpPr>
        <p:spPr>
          <a:xfrm>
            <a:off x="777240" y="2267712"/>
            <a:ext cx="256032" cy="256032"/>
          </a:xfrm>
          <a:prstGeom prst="ellipse">
            <a:avLst/>
          </a:prstGeom>
          <a:solidFill>
            <a:srgbClr val="F1F6FA"/>
          </a:solidFill>
          <a:ln w="12700">
            <a:solidFill>
              <a:srgbClr val="F1F6FA"/>
            </a:solidFill>
            <a:prstDash val="solid"/>
          </a:ln>
        </p:spPr>
      </p:sp>
      <p:sp>
        <p:nvSpPr>
          <p:cNvPr id="21" name="Text 19"/>
          <p:cNvSpPr txBox="1"/>
          <p:nvPr/>
        </p:nvSpPr>
        <p:spPr>
          <a:xfrm>
            <a:off x="1188720" y="2203704"/>
            <a:ext cx="1645920" cy="568234"/>
          </a:xfrm>
          <a:prstGeom prst="rect">
            <a:avLst/>
          </a:prstGeom>
          <a:noFill/>
          <a:ln/>
        </p:spPr>
        <p:txBody>
          <a:bodyPr wrap="square" lIns="0" tIns="0" rIns="0" bIns="0" rtlCol="0" anchor="t"/>
          <a:lstStyle/>
          <a:p>
            <a:pPr indent="0" marL="0">
              <a:buNone/>
            </a:pPr>
            <a:r>
              <a:rPr lang="en-US" sz="1200" b="1" dirty="0">
                <a:solidFill>
                  <a:srgbClr val="465A69"/>
                </a:solidFill>
                <a:latin typeface="Calibri" pitchFamily="34" charset="0"/>
                <a:ea typeface="Calibri" pitchFamily="34" charset="-122"/>
                <a:cs typeface="Calibri" pitchFamily="34" charset="-120"/>
              </a:rPr>
              <a:t>T+0</a:t>
            </a:r>
            <a:endParaRPr lang="en-US" sz="1200" dirty="0"/>
          </a:p>
          <a:p>
            <a:pPr indent="0" marL="0">
              <a:buNone/>
            </a:pPr>
            <a:r>
              <a:rPr lang="en-US" sz="1200" dirty="0">
                <a:solidFill>
                  <a:srgbClr val="1E2E3A"/>
                </a:solidFill>
                <a:latin typeface="Calibri" pitchFamily="34" charset="0"/>
                <a:ea typeface="Calibri" pitchFamily="34" charset="-122"/>
                <a:cs typeface="Calibri" pitchFamily="34" charset="-120"/>
              </a:rPr>
              <a:t>Initial signal</a:t>
            </a:r>
            <a:endParaRPr lang="en-US" sz="1200" dirty="0"/>
          </a:p>
        </p:txBody>
      </p:sp>
      <p:sp>
        <p:nvSpPr>
          <p:cNvPr id="22" name="Shape 20"/>
          <p:cNvSpPr/>
          <p:nvPr/>
        </p:nvSpPr>
        <p:spPr>
          <a:xfrm>
            <a:off x="905256" y="3119410"/>
            <a:ext cx="0" cy="257338"/>
          </a:xfrm>
          <a:prstGeom prst="line">
            <a:avLst/>
          </a:prstGeom>
          <a:noFill/>
          <a:ln w="19050">
            <a:solidFill>
              <a:srgbClr val="3F6E8C"/>
            </a:solidFill>
            <a:prstDash val="solid"/>
          </a:ln>
        </p:spPr>
      </p:sp>
      <p:sp>
        <p:nvSpPr>
          <p:cNvPr id="23" name="Shape 21"/>
          <p:cNvSpPr/>
          <p:nvPr/>
        </p:nvSpPr>
        <p:spPr>
          <a:xfrm>
            <a:off x="777240" y="2835946"/>
            <a:ext cx="256032" cy="256032"/>
          </a:xfrm>
          <a:prstGeom prst="ellipse">
            <a:avLst/>
          </a:prstGeom>
          <a:solidFill>
            <a:srgbClr val="F1F6FA"/>
          </a:solidFill>
          <a:ln w="12700">
            <a:solidFill>
              <a:srgbClr val="F1F6FA"/>
            </a:solidFill>
            <a:prstDash val="solid"/>
          </a:ln>
        </p:spPr>
      </p:sp>
      <p:sp>
        <p:nvSpPr>
          <p:cNvPr id="24" name="Text 22"/>
          <p:cNvSpPr txBox="1"/>
          <p:nvPr/>
        </p:nvSpPr>
        <p:spPr>
          <a:xfrm>
            <a:off x="1188720" y="2771938"/>
            <a:ext cx="1645920" cy="568234"/>
          </a:xfrm>
          <a:prstGeom prst="rect">
            <a:avLst/>
          </a:prstGeom>
          <a:noFill/>
          <a:ln/>
        </p:spPr>
        <p:txBody>
          <a:bodyPr wrap="square" lIns="0" tIns="0" rIns="0" bIns="0" rtlCol="0" anchor="t"/>
          <a:lstStyle/>
          <a:p>
            <a:pPr indent="0" marL="0">
              <a:buNone/>
            </a:pPr>
            <a:r>
              <a:rPr lang="en-US" sz="1200" b="1" dirty="0">
                <a:solidFill>
                  <a:srgbClr val="465A69"/>
                </a:solidFill>
                <a:latin typeface="Calibri" pitchFamily="34" charset="0"/>
                <a:ea typeface="Calibri" pitchFamily="34" charset="-122"/>
                <a:cs typeface="Calibri" pitchFamily="34" charset="-120"/>
              </a:rPr>
              <a:t>T+30m</a:t>
            </a:r>
            <a:endParaRPr lang="en-US" sz="1200" dirty="0"/>
          </a:p>
          <a:p>
            <a:pPr indent="0" marL="0">
              <a:buNone/>
            </a:pPr>
            <a:r>
              <a:rPr lang="en-US" sz="1200" dirty="0">
                <a:solidFill>
                  <a:srgbClr val="1E2E3A"/>
                </a:solidFill>
                <a:latin typeface="Calibri" pitchFamily="34" charset="0"/>
                <a:ea typeface="Calibri" pitchFamily="34" charset="-122"/>
                <a:cs typeface="Calibri" pitchFamily="34" charset="-120"/>
              </a:rPr>
              <a:t>Suspicious activity</a:t>
            </a:r>
            <a:endParaRPr lang="en-US" sz="1200" dirty="0"/>
          </a:p>
        </p:txBody>
      </p:sp>
      <p:sp>
        <p:nvSpPr>
          <p:cNvPr id="25" name="Shape 23"/>
          <p:cNvSpPr/>
          <p:nvPr/>
        </p:nvSpPr>
        <p:spPr>
          <a:xfrm>
            <a:off x="905256" y="3687645"/>
            <a:ext cx="0" cy="257338"/>
          </a:xfrm>
          <a:prstGeom prst="line">
            <a:avLst/>
          </a:prstGeom>
          <a:noFill/>
          <a:ln w="19050">
            <a:solidFill>
              <a:srgbClr val="3F6E8C"/>
            </a:solidFill>
            <a:prstDash val="solid"/>
          </a:ln>
        </p:spPr>
      </p:sp>
      <p:sp>
        <p:nvSpPr>
          <p:cNvPr id="26" name="Shape 24"/>
          <p:cNvSpPr/>
          <p:nvPr/>
        </p:nvSpPr>
        <p:spPr>
          <a:xfrm>
            <a:off x="777240" y="3404181"/>
            <a:ext cx="256032" cy="256032"/>
          </a:xfrm>
          <a:prstGeom prst="ellipse">
            <a:avLst/>
          </a:prstGeom>
          <a:solidFill>
            <a:srgbClr val="F1F6FA"/>
          </a:solidFill>
          <a:ln w="12700">
            <a:solidFill>
              <a:srgbClr val="F1F6FA"/>
            </a:solidFill>
            <a:prstDash val="solid"/>
          </a:ln>
        </p:spPr>
      </p:sp>
      <p:sp>
        <p:nvSpPr>
          <p:cNvPr id="27" name="Text 25"/>
          <p:cNvSpPr txBox="1"/>
          <p:nvPr/>
        </p:nvSpPr>
        <p:spPr>
          <a:xfrm>
            <a:off x="1188720" y="3340173"/>
            <a:ext cx="1645920" cy="568234"/>
          </a:xfrm>
          <a:prstGeom prst="rect">
            <a:avLst/>
          </a:prstGeom>
          <a:noFill/>
          <a:ln/>
        </p:spPr>
        <p:txBody>
          <a:bodyPr wrap="square" lIns="0" tIns="0" rIns="0" bIns="0" rtlCol="0" anchor="t"/>
          <a:lstStyle/>
          <a:p>
            <a:pPr indent="0" marL="0">
              <a:buNone/>
            </a:pPr>
            <a:r>
              <a:rPr lang="en-US" sz="1200" b="1" dirty="0">
                <a:solidFill>
                  <a:srgbClr val="465A69"/>
                </a:solidFill>
                <a:latin typeface="Calibri" pitchFamily="34" charset="0"/>
                <a:ea typeface="Calibri" pitchFamily="34" charset="-122"/>
                <a:cs typeface="Calibri" pitchFamily="34" charset="-120"/>
              </a:rPr>
              <a:t>T+1h</a:t>
            </a:r>
            <a:endParaRPr lang="en-US" sz="1200" dirty="0"/>
          </a:p>
          <a:p>
            <a:pPr indent="0" marL="0">
              <a:buNone/>
            </a:pPr>
            <a:r>
              <a:rPr lang="en-US" sz="1200" dirty="0">
                <a:solidFill>
                  <a:srgbClr val="1E2E3A"/>
                </a:solidFill>
                <a:latin typeface="Calibri" pitchFamily="34" charset="0"/>
                <a:ea typeface="Calibri" pitchFamily="34" charset="-122"/>
                <a:cs typeface="Calibri" pitchFamily="34" charset="-120"/>
              </a:rPr>
              <a:t>Persistence</a:t>
            </a:r>
            <a:endParaRPr lang="en-US" sz="1200" dirty="0"/>
          </a:p>
        </p:txBody>
      </p:sp>
      <p:sp>
        <p:nvSpPr>
          <p:cNvPr id="28" name="Shape 26"/>
          <p:cNvSpPr/>
          <p:nvPr/>
        </p:nvSpPr>
        <p:spPr>
          <a:xfrm>
            <a:off x="905256" y="4255879"/>
            <a:ext cx="0" cy="257338"/>
          </a:xfrm>
          <a:prstGeom prst="line">
            <a:avLst/>
          </a:prstGeom>
          <a:noFill/>
          <a:ln w="19050">
            <a:solidFill>
              <a:srgbClr val="C9D5D2"/>
            </a:solidFill>
            <a:prstDash val="solid"/>
          </a:ln>
        </p:spPr>
      </p:sp>
      <p:sp>
        <p:nvSpPr>
          <p:cNvPr id="29" name="Shape 27"/>
          <p:cNvSpPr/>
          <p:nvPr/>
        </p:nvSpPr>
        <p:spPr>
          <a:xfrm>
            <a:off x="777240" y="3972415"/>
            <a:ext cx="256032" cy="256032"/>
          </a:xfrm>
          <a:prstGeom prst="ellipse">
            <a:avLst/>
          </a:prstGeom>
          <a:solidFill>
            <a:srgbClr val="3F6E8C"/>
          </a:solidFill>
          <a:ln w="12700">
            <a:solidFill>
              <a:srgbClr val="3F6E8C"/>
            </a:solidFill>
            <a:prstDash val="solid"/>
          </a:ln>
        </p:spPr>
      </p:sp>
      <p:sp>
        <p:nvSpPr>
          <p:cNvPr id="30" name="Text 28"/>
          <p:cNvSpPr txBox="1"/>
          <p:nvPr/>
        </p:nvSpPr>
        <p:spPr>
          <a:xfrm>
            <a:off x="1188720" y="3908407"/>
            <a:ext cx="1645920" cy="568234"/>
          </a:xfrm>
          <a:prstGeom prst="rect">
            <a:avLst/>
          </a:prstGeom>
          <a:noFill/>
          <a:ln/>
        </p:spPr>
        <p:txBody>
          <a:bodyPr wrap="square" lIns="0" tIns="0" rIns="0" bIns="0" rtlCol="0" anchor="t"/>
          <a:lstStyle/>
          <a:p>
            <a:pPr indent="0" marL="0">
              <a:buNone/>
            </a:pPr>
            <a:r>
              <a:rPr lang="en-US" sz="1200" b="1" dirty="0">
                <a:solidFill>
                  <a:srgbClr val="3F6E8C"/>
                </a:solidFill>
                <a:latin typeface="Calibri" pitchFamily="34" charset="0"/>
                <a:ea typeface="Calibri" pitchFamily="34" charset="-122"/>
                <a:cs typeface="Calibri" pitchFamily="34" charset="-120"/>
              </a:rPr>
              <a:t>T+2h</a:t>
            </a:r>
            <a:endParaRPr lang="en-US" sz="1200" dirty="0"/>
          </a:p>
          <a:p>
            <a:pPr indent="0" marL="0">
              <a:buNone/>
            </a:pPr>
            <a:r>
              <a:rPr lang="en-US" sz="1200" b="1" dirty="0">
                <a:solidFill>
                  <a:srgbClr val="3F6E8C"/>
                </a:solidFill>
                <a:latin typeface="Calibri" pitchFamily="34" charset="0"/>
                <a:ea typeface="Calibri" pitchFamily="34" charset="-122"/>
                <a:cs typeface="Calibri" pitchFamily="34" charset="-120"/>
              </a:rPr>
              <a:t>Executive access</a:t>
            </a:r>
            <a:endParaRPr lang="en-US" sz="1200" dirty="0"/>
          </a:p>
        </p:txBody>
      </p:sp>
      <p:sp>
        <p:nvSpPr>
          <p:cNvPr id="31" name="Shape 29"/>
          <p:cNvSpPr/>
          <p:nvPr/>
        </p:nvSpPr>
        <p:spPr>
          <a:xfrm>
            <a:off x="905256" y="4824113"/>
            <a:ext cx="0" cy="257338"/>
          </a:xfrm>
          <a:prstGeom prst="line">
            <a:avLst/>
          </a:prstGeom>
          <a:noFill/>
          <a:ln w="19050">
            <a:solidFill>
              <a:srgbClr val="C9D5D2"/>
            </a:solidFill>
            <a:prstDash val="solid"/>
          </a:ln>
        </p:spPr>
      </p:sp>
      <p:sp>
        <p:nvSpPr>
          <p:cNvPr id="32" name="Shape 30"/>
          <p:cNvSpPr/>
          <p:nvPr/>
        </p:nvSpPr>
        <p:spPr>
          <a:xfrm>
            <a:off x="777240" y="4540649"/>
            <a:ext cx="256032" cy="256032"/>
          </a:xfrm>
          <a:prstGeom prst="ellipse">
            <a:avLst/>
          </a:prstGeom>
          <a:solidFill>
            <a:srgbClr val="FFFFFF"/>
          </a:solidFill>
          <a:ln w="15875">
            <a:solidFill>
              <a:srgbClr val="C9D5D2"/>
            </a:solidFill>
            <a:prstDash val="solid"/>
          </a:ln>
        </p:spPr>
      </p:sp>
      <p:sp>
        <p:nvSpPr>
          <p:cNvPr id="33" name="Shape 31"/>
          <p:cNvSpPr/>
          <p:nvPr/>
        </p:nvSpPr>
        <p:spPr>
          <a:xfrm>
            <a:off x="905256" y="5392347"/>
            <a:ext cx="0" cy="257338"/>
          </a:xfrm>
          <a:prstGeom prst="line">
            <a:avLst/>
          </a:prstGeom>
          <a:noFill/>
          <a:ln w="19050">
            <a:solidFill>
              <a:srgbClr val="C9D5D2"/>
            </a:solidFill>
            <a:prstDash val="solid"/>
          </a:ln>
        </p:spPr>
      </p:sp>
      <p:sp>
        <p:nvSpPr>
          <p:cNvPr id="34" name="Shape 32"/>
          <p:cNvSpPr/>
          <p:nvPr/>
        </p:nvSpPr>
        <p:spPr>
          <a:xfrm>
            <a:off x="777240" y="5108883"/>
            <a:ext cx="256032" cy="256032"/>
          </a:xfrm>
          <a:prstGeom prst="ellipse">
            <a:avLst/>
          </a:prstGeom>
          <a:solidFill>
            <a:srgbClr val="FFFFFF"/>
          </a:solidFill>
          <a:ln w="15875">
            <a:solidFill>
              <a:srgbClr val="C9D5D2"/>
            </a:solidFill>
            <a:prstDash val="solid"/>
          </a:ln>
        </p:spPr>
      </p:sp>
      <p:sp>
        <p:nvSpPr>
          <p:cNvPr id="35" name="Shape 33"/>
          <p:cNvSpPr/>
          <p:nvPr/>
        </p:nvSpPr>
        <p:spPr>
          <a:xfrm>
            <a:off x="777240" y="5677118"/>
            <a:ext cx="256032" cy="256032"/>
          </a:xfrm>
          <a:prstGeom prst="ellipse">
            <a:avLst/>
          </a:prstGeom>
          <a:solidFill>
            <a:srgbClr val="FFFFFF"/>
          </a:solidFill>
          <a:ln w="15875">
            <a:solidFill>
              <a:srgbClr val="C9D5D2"/>
            </a:solidFill>
            <a:prstDash val="solid"/>
          </a:ln>
        </p:spPr>
      </p:sp>
      <p:sp>
        <p:nvSpPr>
          <p:cNvPr id="36" name="Shape 34"/>
          <p:cNvSpPr/>
          <p:nvPr/>
        </p:nvSpPr>
        <p:spPr>
          <a:xfrm>
            <a:off x="3154680" y="1600200"/>
            <a:ext cx="5696712" cy="3017520"/>
          </a:xfrm>
          <a:prstGeom prst="roundRect">
            <a:avLst>
              <a:gd name="adj" fmla="val 4242"/>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37" name="Shape 35"/>
          <p:cNvSpPr/>
          <p:nvPr/>
        </p:nvSpPr>
        <p:spPr>
          <a:xfrm>
            <a:off x="3429000" y="1810512"/>
            <a:ext cx="2240280" cy="384048"/>
          </a:xfrm>
          <a:prstGeom prst="roundRect">
            <a:avLst>
              <a:gd name="adj" fmla="val 50000"/>
            </a:avLst>
          </a:prstGeom>
          <a:solidFill>
            <a:srgbClr val="3F6E8C"/>
          </a:solidFill>
          <a:ln w="12700">
            <a:solidFill>
              <a:srgbClr val="3F6E8C"/>
            </a:solidFill>
            <a:prstDash val="solid"/>
          </a:ln>
        </p:spPr>
      </p:sp>
      <p:pic>
        <p:nvPicPr>
          <p:cNvPr id="38" name="Image 0" descr="preencoded.png">    </p:cNvPr>
          <p:cNvPicPr>
            <a:picLocks noChangeAspect="1"/>
          </p:cNvPicPr>
          <p:nvPr/>
        </p:nvPicPr>
        <p:blipFill>
          <a:blip r:embed="rId1"/>
          <a:stretch>
            <a:fillRect/>
          </a:stretch>
        </p:blipFill>
        <p:spPr>
          <a:xfrm>
            <a:off x="3547872" y="1874520"/>
            <a:ext cx="246888" cy="246888"/>
          </a:xfrm>
          <a:prstGeom prst="rect">
            <a:avLst/>
          </a:prstGeom>
        </p:spPr>
      </p:pic>
      <p:sp>
        <p:nvSpPr>
          <p:cNvPr id="39" name="Text 36"/>
          <p:cNvSpPr txBox="1"/>
          <p:nvPr/>
        </p:nvSpPr>
        <p:spPr>
          <a:xfrm>
            <a:off x="3867912" y="1810512"/>
            <a:ext cx="1783080" cy="38404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T+2h  |  11:35 AM</a:t>
            </a:r>
            <a:endParaRPr lang="en-US" sz="1300" dirty="0"/>
          </a:p>
        </p:txBody>
      </p:sp>
      <p:sp>
        <p:nvSpPr>
          <p:cNvPr id="40" name="Text 37"/>
          <p:cNvSpPr txBox="1"/>
          <p:nvPr/>
        </p:nvSpPr>
        <p:spPr>
          <a:xfrm>
            <a:off x="3429000" y="2286000"/>
            <a:ext cx="2743200" cy="256032"/>
          </a:xfrm>
          <a:prstGeom prst="rect">
            <a:avLst/>
          </a:prstGeom>
          <a:noFill/>
          <a:ln/>
        </p:spPr>
        <p:txBody>
          <a:bodyPr wrap="square" lIns="0" tIns="0" rIns="0" bIns="0" rtlCol="0" anchor="t"/>
          <a:lstStyle/>
          <a:p>
            <a:pPr indent="0" marL="0">
              <a:buNone/>
            </a:pPr>
            <a:r>
              <a:rPr lang="en-US" sz="1200" b="1" dirty="0">
                <a:solidFill>
                  <a:srgbClr val="465A69"/>
                </a:solidFill>
                <a:latin typeface="Calibri" pitchFamily="34" charset="0"/>
                <a:ea typeface="Calibri" pitchFamily="34" charset="-122"/>
                <a:cs typeface="Calibri" pitchFamily="34" charset="-120"/>
              </a:rPr>
              <a:t>New information</a:t>
            </a:r>
            <a:endParaRPr lang="en-US" sz="1200" dirty="0"/>
          </a:p>
        </p:txBody>
      </p:sp>
      <p:sp>
        <p:nvSpPr>
          <p:cNvPr id="41" name="Text 38"/>
          <p:cNvSpPr txBox="1"/>
          <p:nvPr/>
        </p:nvSpPr>
        <p:spPr>
          <a:xfrm>
            <a:off x="3429000" y="2560320"/>
            <a:ext cx="5166360" cy="1965960"/>
          </a:xfrm>
          <a:prstGeom prst="rect">
            <a:avLst/>
          </a:prstGeom>
          <a:noFill/>
          <a:ln/>
        </p:spPr>
        <p:txBody>
          <a:bodyPr wrap="square" lIns="0" tIns="0" rIns="0" bIns="0" rtlCol="0" anchor="t"/>
          <a:lstStyle/>
          <a:p>
            <a:pPr indent="0" marL="0">
              <a:buNone/>
            </a:pPr>
            <a:r>
              <a:rPr lang="en-US" sz="1600" dirty="0">
                <a:solidFill>
                  <a:srgbClr val="1E2E3A"/>
                </a:solidFill>
                <a:latin typeface="Calibri" pitchFamily="34" charset="0"/>
                <a:ea typeface="Calibri" pitchFamily="34" charset="-122"/>
                <a:cs typeface="Calibri" pitchFamily="34" charset="-120"/>
              </a:rPr>
              <a:t>Executive mailboxes have been accessed through a compromised assistant account. Audit logs show sensitive documents were viewed and downloaded this morning.</a:t>
            </a:r>
            <a:endParaRPr lang="en-US" sz="1600" dirty="0"/>
          </a:p>
        </p:txBody>
      </p:sp>
      <p:sp>
        <p:nvSpPr>
          <p:cNvPr id="42" name="Shape 39"/>
          <p:cNvSpPr/>
          <p:nvPr/>
        </p:nvSpPr>
        <p:spPr>
          <a:xfrm>
            <a:off x="3154680" y="4800600"/>
            <a:ext cx="5696712" cy="1371600"/>
          </a:xfrm>
          <a:prstGeom prst="roundRect">
            <a:avLst>
              <a:gd name="adj" fmla="val 9333"/>
            </a:avLst>
          </a:prstGeom>
          <a:solidFill>
            <a:srgbClr val="F1F6FA"/>
          </a:solidFill>
          <a:ln w="12700">
            <a:solidFill>
              <a:srgbClr val="F1F6FA"/>
            </a:solidFill>
            <a:prstDash val="solid"/>
          </a:ln>
          <a:effectLst>
            <a:outerShdw sx="100000" sy="100000" kx="0" ky="0" algn="bl" rotWithShape="0" blurRad="177800" dist="50800" dir="5400000">
              <a:srgbClr val="1B4965">
                <a:alpha val="16000"/>
              </a:srgbClr>
            </a:outerShdw>
          </a:effectLst>
        </p:spPr>
      </p:sp>
      <p:sp>
        <p:nvSpPr>
          <p:cNvPr id="43" name="Text 40"/>
          <p:cNvSpPr txBox="1"/>
          <p:nvPr/>
        </p:nvSpPr>
        <p:spPr>
          <a:xfrm>
            <a:off x="3429000" y="4901184"/>
            <a:ext cx="2743200" cy="256032"/>
          </a:xfrm>
          <a:prstGeom prst="rect">
            <a:avLst/>
          </a:prstGeom>
          <a:noFill/>
          <a:ln/>
        </p:spPr>
        <p:txBody>
          <a:bodyPr wrap="square" lIns="0" tIns="0" rIns="0" bIns="0" rtlCol="0" anchor="t"/>
          <a:lstStyle/>
          <a:p>
            <a:pPr indent="0" marL="0">
              <a:buNone/>
            </a:pPr>
            <a:r>
              <a:rPr lang="en-US" sz="1300" b="1" dirty="0">
                <a:solidFill>
                  <a:srgbClr val="3F6E8C"/>
                </a:solidFill>
                <a:latin typeface="Calibri" pitchFamily="34" charset="0"/>
                <a:ea typeface="Calibri" pitchFamily="34" charset="-122"/>
                <a:cs typeface="Calibri" pitchFamily="34" charset="-120"/>
              </a:rPr>
              <a:t>Decide</a:t>
            </a:r>
            <a:endParaRPr lang="en-US" sz="1300" dirty="0"/>
          </a:p>
        </p:txBody>
      </p:sp>
      <p:sp>
        <p:nvSpPr>
          <p:cNvPr id="44" name="Text 41"/>
          <p:cNvSpPr txBox="1"/>
          <p:nvPr/>
        </p:nvSpPr>
        <p:spPr>
          <a:xfrm>
            <a:off x="3429000" y="5175504"/>
            <a:ext cx="5166360" cy="914400"/>
          </a:xfrm>
          <a:prstGeom prst="rect">
            <a:avLst/>
          </a:prstGeom>
          <a:noFill/>
          <a:ln/>
        </p:spPr>
        <p:txBody>
          <a:bodyPr wrap="square" lIns="0" tIns="0" rIns="0" bIns="0" rtlCol="0" anchor="t"/>
          <a:lstStyle/>
          <a:p>
            <a:pPr indent="0" marL="0">
              <a:buNone/>
            </a:pPr>
            <a:r>
              <a:rPr lang="en-US" sz="1600" b="1" dirty="0">
                <a:solidFill>
                  <a:srgbClr val="1E2E3A"/>
                </a:solidFill>
                <a:latin typeface="Calibri" pitchFamily="34" charset="0"/>
                <a:ea typeface="Calibri" pitchFamily="34" charset="-122"/>
                <a:cs typeface="Calibri" pitchFamily="34" charset="-120"/>
              </a:rPr>
              <a:t>Do you notify executives and Legal now? How do you confirm what data was accessed?</a:t>
            </a:r>
            <a:endParaRPr lang="en-US" sz="1600" dirty="0"/>
          </a:p>
        </p:txBody>
      </p:sp>
      <p:sp>
        <p:nvSpPr>
          <p:cNvPr id="45" name="Shape 42"/>
          <p:cNvSpPr/>
          <p:nvPr/>
        </p:nvSpPr>
        <p:spPr>
          <a:xfrm>
            <a:off x="9079992" y="1600200"/>
            <a:ext cx="2560320" cy="4572000"/>
          </a:xfrm>
          <a:prstGeom prst="roundRect">
            <a:avLst>
              <a:gd name="adj" fmla="val 5000"/>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46" name="Text 43"/>
          <p:cNvSpPr txBox="1"/>
          <p:nvPr/>
        </p:nvSpPr>
        <p:spPr>
          <a:xfrm>
            <a:off x="9262872" y="1728216"/>
            <a:ext cx="2194560" cy="457200"/>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Executive email access (simulated)</a:t>
            </a:r>
            <a:endParaRPr lang="en-US" sz="1300" dirty="0"/>
          </a:p>
        </p:txBody>
      </p:sp>
      <p:sp>
        <p:nvSpPr>
          <p:cNvPr id="47" name="Shape 44"/>
          <p:cNvSpPr/>
          <p:nvPr/>
        </p:nvSpPr>
        <p:spPr>
          <a:xfrm>
            <a:off x="9262872" y="2221992"/>
            <a:ext cx="2194560" cy="3767328"/>
          </a:xfrm>
          <a:prstGeom prst="roundRect">
            <a:avLst>
              <a:gd name="adj" fmla="val 3333"/>
            </a:avLst>
          </a:prstGeom>
          <a:solidFill>
            <a:srgbClr val="FFFFFF"/>
          </a:solidFill>
          <a:ln w="9525">
            <a:solidFill>
              <a:srgbClr val="C9D3DE"/>
            </a:solidFill>
            <a:prstDash val="solid"/>
          </a:ln>
        </p:spPr>
      </p:sp>
      <p:sp>
        <p:nvSpPr>
          <p:cNvPr id="48" name="Text 45"/>
          <p:cNvSpPr txBox="1"/>
          <p:nvPr/>
        </p:nvSpPr>
        <p:spPr>
          <a:xfrm>
            <a:off x="9381744" y="2386584"/>
            <a:ext cx="1956816" cy="261239"/>
          </a:xfrm>
          <a:prstGeom prst="rect">
            <a:avLst/>
          </a:prstGeom>
          <a:noFill/>
          <a:ln/>
        </p:spPr>
        <p:txBody>
          <a:bodyPr wrap="square" lIns="0" tIns="0" rIns="0" bIns="0" rtlCol="0" anchor="t"/>
          <a:lstStyle/>
          <a:p>
            <a:pPr indent="0" marL="0">
              <a:buNone/>
            </a:pPr>
            <a:r>
              <a:rPr lang="en-US" sz="1450" b="1" dirty="0">
                <a:solidFill>
                  <a:srgbClr val="1B2A4A"/>
                </a:solidFill>
                <a:latin typeface="Calibri" pitchFamily="34" charset="0"/>
                <a:ea typeface="Calibri" pitchFamily="34" charset="-122"/>
                <a:cs typeface="Calibri" pitchFamily="34" charset="-120"/>
              </a:rPr>
              <a:t>Files accessed:</a:t>
            </a:r>
            <a:endParaRPr lang="en-US" sz="1450" dirty="0"/>
          </a:p>
        </p:txBody>
      </p:sp>
      <p:sp>
        <p:nvSpPr>
          <p:cNvPr id="49" name="Shape 46"/>
          <p:cNvSpPr/>
          <p:nvPr/>
        </p:nvSpPr>
        <p:spPr>
          <a:xfrm>
            <a:off x="9381744" y="2720975"/>
            <a:ext cx="219456" cy="274320"/>
          </a:xfrm>
          <a:prstGeom prst="roundRect">
            <a:avLst>
              <a:gd name="adj" fmla="val 16667"/>
            </a:avLst>
          </a:prstGeom>
          <a:solidFill>
            <a:srgbClr val="6F8DB5"/>
          </a:solidFill>
          <a:ln w="12700">
            <a:solidFill>
              <a:srgbClr val="6F8DB5"/>
            </a:solidFill>
            <a:prstDash val="solid"/>
          </a:ln>
        </p:spPr>
      </p:sp>
      <p:sp>
        <p:nvSpPr>
          <p:cNvPr id="50" name="Text 47"/>
          <p:cNvSpPr txBox="1"/>
          <p:nvPr/>
        </p:nvSpPr>
        <p:spPr>
          <a:xfrm>
            <a:off x="9381744" y="2720975"/>
            <a:ext cx="219456"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W</a:t>
            </a:r>
            <a:endParaRPr lang="en-US" sz="1000" dirty="0"/>
          </a:p>
        </p:txBody>
      </p:sp>
      <p:sp>
        <p:nvSpPr>
          <p:cNvPr id="51" name="Text 48"/>
          <p:cNvSpPr txBox="1"/>
          <p:nvPr/>
        </p:nvSpPr>
        <p:spPr>
          <a:xfrm>
            <a:off x="9729216" y="2684399"/>
            <a:ext cx="1591056" cy="696468"/>
          </a:xfrm>
          <a:prstGeom prst="rect">
            <a:avLst/>
          </a:prstGeom>
          <a:noFill/>
          <a:ln/>
        </p:spPr>
        <p:txBody>
          <a:bodyPr wrap="square" lIns="0" tIns="0" rIns="0" bIns="0" rtlCol="0" anchor="t"/>
          <a:lstStyle/>
          <a:p>
            <a:pPr indent="0" marL="0">
              <a:buNone/>
            </a:pPr>
            <a:r>
              <a:rPr lang="en-US" sz="1400" dirty="0">
                <a:solidFill>
                  <a:srgbClr val="1E2E3A"/>
                </a:solidFill>
                <a:latin typeface="Calibri" pitchFamily="34" charset="0"/>
                <a:ea typeface="Calibri" pitchFamily="34" charset="-122"/>
                <a:cs typeface="Calibri" pitchFamily="34" charset="-120"/>
              </a:rPr>
              <a:t>Board_Materials_Q3.docx</a:t>
            </a:r>
            <a:endParaRPr lang="en-US" sz="1400" dirty="0"/>
          </a:p>
          <a:p>
            <a:pPr indent="0" marL="0">
              <a:buNone/>
            </a:pPr>
            <a:r>
              <a:rPr lang="en-US" sz="1400" dirty="0">
                <a:solidFill>
                  <a:srgbClr val="465A69"/>
                </a:solidFill>
                <a:latin typeface="Calibri" pitchFamily="34" charset="0"/>
                <a:ea typeface="Calibri" pitchFamily="34" charset="-122"/>
                <a:cs typeface="Calibri" pitchFamily="34" charset="-120"/>
              </a:rPr>
              <a:t>Viewed 10:58 AM</a:t>
            </a:r>
            <a:endParaRPr lang="en-US" sz="1400" dirty="0"/>
          </a:p>
        </p:txBody>
      </p:sp>
      <p:sp>
        <p:nvSpPr>
          <p:cNvPr id="52" name="Shape 49"/>
          <p:cNvSpPr/>
          <p:nvPr/>
        </p:nvSpPr>
        <p:spPr>
          <a:xfrm>
            <a:off x="9381744" y="3370199"/>
            <a:ext cx="219456" cy="274320"/>
          </a:xfrm>
          <a:prstGeom prst="roundRect">
            <a:avLst>
              <a:gd name="adj" fmla="val 16667"/>
            </a:avLst>
          </a:prstGeom>
          <a:solidFill>
            <a:srgbClr val="C98D78"/>
          </a:solidFill>
          <a:ln w="12700">
            <a:solidFill>
              <a:srgbClr val="C98D78"/>
            </a:solidFill>
            <a:prstDash val="solid"/>
          </a:ln>
        </p:spPr>
      </p:sp>
      <p:sp>
        <p:nvSpPr>
          <p:cNvPr id="53" name="Text 50"/>
          <p:cNvSpPr txBox="1"/>
          <p:nvPr/>
        </p:nvSpPr>
        <p:spPr>
          <a:xfrm>
            <a:off x="9381744" y="3370199"/>
            <a:ext cx="219456"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a:t>
            </a:r>
            <a:endParaRPr lang="en-US" sz="1000" dirty="0"/>
          </a:p>
        </p:txBody>
      </p:sp>
      <p:sp>
        <p:nvSpPr>
          <p:cNvPr id="54" name="Text 51"/>
          <p:cNvSpPr txBox="1"/>
          <p:nvPr/>
        </p:nvSpPr>
        <p:spPr>
          <a:xfrm>
            <a:off x="9729216" y="3333623"/>
            <a:ext cx="1591056" cy="696468"/>
          </a:xfrm>
          <a:prstGeom prst="rect">
            <a:avLst/>
          </a:prstGeom>
          <a:noFill/>
          <a:ln/>
        </p:spPr>
        <p:txBody>
          <a:bodyPr wrap="square" lIns="0" tIns="0" rIns="0" bIns="0" rtlCol="0" anchor="t"/>
          <a:lstStyle/>
          <a:p>
            <a:pPr indent="0" marL="0">
              <a:buNone/>
            </a:pPr>
            <a:r>
              <a:rPr lang="en-US" sz="1400" dirty="0">
                <a:solidFill>
                  <a:srgbClr val="1E2E3A"/>
                </a:solidFill>
                <a:latin typeface="Calibri" pitchFamily="34" charset="0"/>
                <a:ea typeface="Calibri" pitchFamily="34" charset="-122"/>
                <a:cs typeface="Calibri" pitchFamily="34" charset="-120"/>
              </a:rPr>
              <a:t>Commercial_Plan_2026.pptx</a:t>
            </a:r>
            <a:endParaRPr lang="en-US" sz="1400" dirty="0"/>
          </a:p>
          <a:p>
            <a:pPr indent="0" marL="0">
              <a:buNone/>
            </a:pPr>
            <a:r>
              <a:rPr lang="en-US" sz="1400" dirty="0">
                <a:solidFill>
                  <a:srgbClr val="465A69"/>
                </a:solidFill>
                <a:latin typeface="Calibri" pitchFamily="34" charset="0"/>
                <a:ea typeface="Calibri" pitchFamily="34" charset="-122"/>
                <a:cs typeface="Calibri" pitchFamily="34" charset="-120"/>
              </a:rPr>
              <a:t>Downloaded 11:04 AM</a:t>
            </a:r>
            <a:endParaRPr lang="en-US" sz="1400" dirty="0"/>
          </a:p>
        </p:txBody>
      </p:sp>
      <p:sp>
        <p:nvSpPr>
          <p:cNvPr id="55" name="Shape 52"/>
          <p:cNvSpPr/>
          <p:nvPr/>
        </p:nvSpPr>
        <p:spPr>
          <a:xfrm>
            <a:off x="9381744" y="4205351"/>
            <a:ext cx="219456" cy="274320"/>
          </a:xfrm>
          <a:prstGeom prst="roundRect">
            <a:avLst>
              <a:gd name="adj" fmla="val 16667"/>
            </a:avLst>
          </a:prstGeom>
          <a:solidFill>
            <a:srgbClr val="C27C7C"/>
          </a:solidFill>
          <a:ln w="12700">
            <a:solidFill>
              <a:srgbClr val="C27C7C"/>
            </a:solidFill>
            <a:prstDash val="solid"/>
          </a:ln>
        </p:spPr>
      </p:sp>
      <p:sp>
        <p:nvSpPr>
          <p:cNvPr id="56" name="Text 53"/>
          <p:cNvSpPr txBox="1"/>
          <p:nvPr/>
        </p:nvSpPr>
        <p:spPr>
          <a:xfrm>
            <a:off x="9381744" y="4205351"/>
            <a:ext cx="219456" cy="274320"/>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PDF</a:t>
            </a:r>
            <a:endParaRPr lang="en-US" sz="700" dirty="0"/>
          </a:p>
        </p:txBody>
      </p:sp>
      <p:sp>
        <p:nvSpPr>
          <p:cNvPr id="57" name="Text 54"/>
          <p:cNvSpPr txBox="1"/>
          <p:nvPr/>
        </p:nvSpPr>
        <p:spPr>
          <a:xfrm>
            <a:off x="9729216" y="4168775"/>
            <a:ext cx="1591056" cy="479552"/>
          </a:xfrm>
          <a:prstGeom prst="rect">
            <a:avLst/>
          </a:prstGeom>
          <a:noFill/>
          <a:ln/>
        </p:spPr>
        <p:txBody>
          <a:bodyPr wrap="square" lIns="0" tIns="0" rIns="0" bIns="0" rtlCol="0" anchor="t"/>
          <a:lstStyle/>
          <a:p>
            <a:pPr indent="0" marL="0">
              <a:buNone/>
            </a:pPr>
            <a:r>
              <a:rPr lang="en-US" sz="1400" dirty="0">
                <a:solidFill>
                  <a:srgbClr val="1E2E3A"/>
                </a:solidFill>
                <a:latin typeface="Calibri" pitchFamily="34" charset="0"/>
                <a:ea typeface="Calibri" pitchFamily="34" charset="-122"/>
                <a:cs typeface="Calibri" pitchFamily="34" charset="-120"/>
              </a:rPr>
              <a:t>M&amp;A_Strategy.pdf</a:t>
            </a:r>
            <a:endParaRPr lang="en-US" sz="1400" dirty="0"/>
          </a:p>
          <a:p>
            <a:pPr indent="0" marL="0">
              <a:buNone/>
            </a:pPr>
            <a:r>
              <a:rPr lang="en-US" sz="1400" dirty="0">
                <a:solidFill>
                  <a:srgbClr val="465A69"/>
                </a:solidFill>
                <a:latin typeface="Calibri" pitchFamily="34" charset="0"/>
                <a:ea typeface="Calibri" pitchFamily="34" charset="-122"/>
                <a:cs typeface="Calibri" pitchFamily="34" charset="-120"/>
              </a:rPr>
              <a:t>Downloaded 11:07 AM</a:t>
            </a:r>
            <a:endParaRPr lang="en-US" sz="1400" dirty="0"/>
          </a:p>
        </p:txBody>
      </p:sp>
      <p:sp>
        <p:nvSpPr>
          <p:cNvPr id="58" name="Shape 55"/>
          <p:cNvSpPr/>
          <p:nvPr/>
        </p:nvSpPr>
        <p:spPr>
          <a:xfrm>
            <a:off x="9381744" y="4854575"/>
            <a:ext cx="219456" cy="274320"/>
          </a:xfrm>
          <a:prstGeom prst="roundRect">
            <a:avLst>
              <a:gd name="adj" fmla="val 16667"/>
            </a:avLst>
          </a:prstGeom>
          <a:solidFill>
            <a:srgbClr val="6FA38A"/>
          </a:solidFill>
          <a:ln w="12700">
            <a:solidFill>
              <a:srgbClr val="6FA38A"/>
            </a:solidFill>
            <a:prstDash val="solid"/>
          </a:ln>
        </p:spPr>
      </p:sp>
      <p:sp>
        <p:nvSpPr>
          <p:cNvPr id="59" name="Text 56"/>
          <p:cNvSpPr txBox="1"/>
          <p:nvPr/>
        </p:nvSpPr>
        <p:spPr>
          <a:xfrm>
            <a:off x="9381744" y="4854575"/>
            <a:ext cx="219456"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X</a:t>
            </a:r>
            <a:endParaRPr lang="en-US" sz="1000" dirty="0"/>
          </a:p>
        </p:txBody>
      </p:sp>
      <p:sp>
        <p:nvSpPr>
          <p:cNvPr id="60" name="Text 57"/>
          <p:cNvSpPr txBox="1"/>
          <p:nvPr/>
        </p:nvSpPr>
        <p:spPr>
          <a:xfrm>
            <a:off x="9729216" y="4817999"/>
            <a:ext cx="1591056" cy="696468"/>
          </a:xfrm>
          <a:prstGeom prst="rect">
            <a:avLst/>
          </a:prstGeom>
          <a:noFill/>
          <a:ln/>
        </p:spPr>
        <p:txBody>
          <a:bodyPr wrap="square" lIns="0" tIns="0" rIns="0" bIns="0" rtlCol="0" anchor="t"/>
          <a:lstStyle/>
          <a:p>
            <a:pPr indent="0" marL="0">
              <a:buNone/>
            </a:pPr>
            <a:r>
              <a:rPr lang="en-US" sz="1400" dirty="0">
                <a:solidFill>
                  <a:srgbClr val="1E2E3A"/>
                </a:solidFill>
                <a:latin typeface="Calibri" pitchFamily="34" charset="0"/>
                <a:ea typeface="Calibri" pitchFamily="34" charset="-122"/>
                <a:cs typeface="Calibri" pitchFamily="34" charset="-120"/>
              </a:rPr>
              <a:t>R&amp;D_Pipeline.xlsx</a:t>
            </a:r>
            <a:endParaRPr lang="en-US" sz="1400" dirty="0"/>
          </a:p>
          <a:p>
            <a:pPr indent="0" marL="0">
              <a:buNone/>
            </a:pPr>
            <a:r>
              <a:rPr lang="en-US" sz="1400" dirty="0">
                <a:solidFill>
                  <a:srgbClr val="465A69"/>
                </a:solidFill>
                <a:latin typeface="Calibri" pitchFamily="34" charset="0"/>
                <a:ea typeface="Calibri" pitchFamily="34" charset="-122"/>
                <a:cs typeface="Calibri" pitchFamily="34" charset="-120"/>
              </a:rPr>
              <a:t>Downloaded 11:09 AM</a:t>
            </a:r>
            <a:endParaRPr lang="en-US" sz="1400" dirty="0"/>
          </a:p>
        </p:txBody>
      </p:sp>
      <p:sp>
        <p:nvSpPr>
          <p:cNvPr id="61" name="Text 58"/>
          <p:cNvSpPr txBox="1"/>
          <p:nvPr/>
        </p:nvSpPr>
        <p:spPr>
          <a:xfrm>
            <a:off x="548640" y="6254496"/>
            <a:ext cx="11091672" cy="256032"/>
          </a:xfrm>
          <a:prstGeom prst="rect">
            <a:avLst/>
          </a:prstGeom>
          <a:noFill/>
          <a:ln/>
        </p:spPr>
        <p:txBody>
          <a:bodyPr wrap="square" lIns="0" tIns="0" rIns="0" bIns="0" rtlCol="0" anchor="ctr"/>
          <a:lstStyle/>
          <a:p>
            <a:pPr indent="0" marL="0">
              <a:buNone/>
            </a:pPr>
            <a:r>
              <a:rPr lang="en-US" sz="1200" b="1" dirty="0">
                <a:solidFill>
                  <a:srgbClr val="465A69"/>
                </a:solidFill>
                <a:latin typeface="Calibri" pitchFamily="34" charset="0"/>
                <a:ea typeface="Calibri" pitchFamily="34" charset="-122"/>
                <a:cs typeface="Calibri" pitchFamily="34" charset="-120"/>
              </a:rPr>
              <a:t>Acronyms:  </a:t>
            </a:r>
            <a:pPr indent="0" marL="0">
              <a:buNone/>
            </a:pPr>
            <a:r>
              <a:rPr lang="en-US" sz="1200" dirty="0">
                <a:solidFill>
                  <a:srgbClr val="465A69"/>
                </a:solidFill>
                <a:latin typeface="Calibri" pitchFamily="34" charset="0"/>
                <a:ea typeface="Calibri" pitchFamily="34" charset="-122"/>
                <a:cs typeface="Calibri" pitchFamily="34" charset="-120"/>
              </a:rPr>
              <a:t>T+: time since the first signal;  R&amp;D: research and development;  M&amp;A: mergers and acquisitions</a:t>
            </a:r>
            <a:endParaRPr lang="en-US" sz="1200" dirty="0"/>
          </a:p>
        </p:txBody>
      </p:sp>
      <p:sp>
        <p:nvSpPr>
          <p:cNvPr id="62" name="Shape 59"/>
          <p:cNvSpPr/>
          <p:nvPr/>
        </p:nvSpPr>
        <p:spPr>
          <a:xfrm>
            <a:off x="548640" y="6537960"/>
            <a:ext cx="763524" cy="274320"/>
          </a:xfrm>
          <a:prstGeom prst="roundRect">
            <a:avLst>
              <a:gd name="adj" fmla="val 50000"/>
            </a:avLst>
          </a:prstGeom>
          <a:solidFill>
            <a:srgbClr val="E4ECF2"/>
          </a:solidFill>
          <a:ln w="12700">
            <a:solidFill>
              <a:srgbClr val="E4ECF2"/>
            </a:solidFill>
            <a:prstDash val="solid"/>
          </a:ln>
        </p:spPr>
      </p:sp>
      <p:sp>
        <p:nvSpPr>
          <p:cNvPr id="63" name="Text 60"/>
          <p:cNvSpPr txBox="1"/>
          <p:nvPr/>
        </p:nvSpPr>
        <p:spPr>
          <a:xfrm>
            <a:off x="548640" y="6537960"/>
            <a:ext cx="763524" cy="274320"/>
          </a:xfrm>
          <a:prstGeom prst="rect">
            <a:avLst/>
          </a:prstGeom>
          <a:noFill/>
          <a:ln/>
        </p:spPr>
        <p:txBody>
          <a:bodyPr wrap="square" lIns="0" tIns="0" rIns="0" bIns="0" rtlCol="0" anchor="ctr"/>
          <a:lstStyle/>
          <a:p>
            <a:pPr algn="ctr" indent="0" marL="0">
              <a:buNone/>
            </a:pPr>
            <a:r>
              <a:rPr lang="en-US" sz="1200" b="1" dirty="0">
                <a:solidFill>
                  <a:srgbClr val="23405A"/>
                </a:solidFill>
                <a:latin typeface="Calibri" pitchFamily="34" charset="0"/>
                <a:ea typeface="Calibri" pitchFamily="34" charset="-122"/>
                <a:cs typeface="Calibri" pitchFamily="34" charset="-120"/>
              </a:rPr>
              <a:t>Start</a:t>
            </a:r>
            <a:endParaRPr lang="en-US" sz="1200" dirty="0"/>
          </a:p>
        </p:txBody>
      </p:sp>
      <p:pic>
        <p:nvPicPr>
          <p:cNvPr id="64" name="Image 1" descr="preencoded.png">
            <a:hlinkClick r:id="rId3" tooltip="Go to Start" action="ppaction://hlinksldjump"/>
          </p:cNvPr>
          <p:cNvPicPr>
            <a:picLocks noChangeAspect="1"/>
          </p:cNvPicPr>
          <p:nvPr/>
        </p:nvPicPr>
        <p:blipFill>
          <a:blip r:embed="rId2"/>
          <a:stretch>
            <a:fillRect/>
          </a:stretch>
        </p:blipFill>
        <p:spPr>
          <a:xfrm>
            <a:off x="548640" y="6537960"/>
            <a:ext cx="763524" cy="274320"/>
          </a:xfrm>
          <a:prstGeom prst="rect">
            <a:avLst/>
          </a:prstGeom>
        </p:spPr>
      </p:pic>
      <p:sp>
        <p:nvSpPr>
          <p:cNvPr id="65" name="Shape 61"/>
          <p:cNvSpPr/>
          <p:nvPr/>
        </p:nvSpPr>
        <p:spPr>
          <a:xfrm>
            <a:off x="1385316" y="6537960"/>
            <a:ext cx="1197864" cy="274320"/>
          </a:xfrm>
          <a:prstGeom prst="roundRect">
            <a:avLst>
              <a:gd name="adj" fmla="val 50000"/>
            </a:avLst>
          </a:prstGeom>
          <a:solidFill>
            <a:srgbClr val="3F6E8C"/>
          </a:solidFill>
          <a:ln w="12700">
            <a:solidFill>
              <a:srgbClr val="3F6E8C"/>
            </a:solidFill>
            <a:prstDash val="solid"/>
          </a:ln>
        </p:spPr>
      </p:sp>
      <p:sp>
        <p:nvSpPr>
          <p:cNvPr id="66" name="Text 62"/>
          <p:cNvSpPr txBox="1"/>
          <p:nvPr/>
        </p:nvSpPr>
        <p:spPr>
          <a:xfrm>
            <a:off x="1385316" y="6537960"/>
            <a:ext cx="1197864"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Scenario 1</a:t>
            </a:r>
            <a:endParaRPr lang="en-US" sz="1200" dirty="0"/>
          </a:p>
        </p:txBody>
      </p:sp>
      <p:pic>
        <p:nvPicPr>
          <p:cNvPr id="67" name="Image 2" descr="preencoded.png">
            <a:hlinkClick r:id="rId5" tooltip="Go to Scenario 1" action="ppaction://hlinksldjump"/>
          </p:cNvPr>
          <p:cNvPicPr>
            <a:picLocks noChangeAspect="1"/>
          </p:cNvPicPr>
          <p:nvPr/>
        </p:nvPicPr>
        <p:blipFill>
          <a:blip r:embed="rId4"/>
          <a:stretch>
            <a:fillRect/>
          </a:stretch>
        </p:blipFill>
        <p:spPr>
          <a:xfrm>
            <a:off x="1385316" y="6537960"/>
            <a:ext cx="1197864" cy="274320"/>
          </a:xfrm>
          <a:prstGeom prst="rect">
            <a:avLst/>
          </a:prstGeom>
        </p:spPr>
      </p:pic>
      <p:sp>
        <p:nvSpPr>
          <p:cNvPr id="68" name="Shape 63"/>
          <p:cNvSpPr/>
          <p:nvPr/>
        </p:nvSpPr>
        <p:spPr>
          <a:xfrm>
            <a:off x="2656332" y="6537960"/>
            <a:ext cx="1197864" cy="274320"/>
          </a:xfrm>
          <a:prstGeom prst="roundRect">
            <a:avLst>
              <a:gd name="adj" fmla="val 50000"/>
            </a:avLst>
          </a:prstGeom>
          <a:solidFill>
            <a:srgbClr val="F1F8F3"/>
          </a:solidFill>
          <a:ln w="12700">
            <a:solidFill>
              <a:srgbClr val="F1F8F3"/>
            </a:solidFill>
            <a:prstDash val="solid"/>
          </a:ln>
        </p:spPr>
      </p:sp>
      <p:sp>
        <p:nvSpPr>
          <p:cNvPr id="69" name="Text 64"/>
          <p:cNvSpPr txBox="1"/>
          <p:nvPr/>
        </p:nvSpPr>
        <p:spPr>
          <a:xfrm>
            <a:off x="2656332" y="6537960"/>
            <a:ext cx="1197864" cy="274320"/>
          </a:xfrm>
          <a:prstGeom prst="rect">
            <a:avLst/>
          </a:prstGeom>
          <a:noFill/>
          <a:ln/>
        </p:spPr>
        <p:txBody>
          <a:bodyPr wrap="square" lIns="0" tIns="0" rIns="0" bIns="0" rtlCol="0" anchor="ctr"/>
          <a:lstStyle/>
          <a:p>
            <a:pPr algn="ctr" indent="0" marL="0">
              <a:buNone/>
            </a:pPr>
            <a:r>
              <a:rPr lang="en-US" sz="1200" b="1" dirty="0">
                <a:solidFill>
                  <a:srgbClr val="4C8068"/>
                </a:solidFill>
                <a:latin typeface="Calibri" pitchFamily="34" charset="0"/>
                <a:ea typeface="Calibri" pitchFamily="34" charset="-122"/>
                <a:cs typeface="Calibri" pitchFamily="34" charset="-120"/>
              </a:rPr>
              <a:t>Scenario 2</a:t>
            </a:r>
            <a:endParaRPr lang="en-US" sz="1200" dirty="0"/>
          </a:p>
        </p:txBody>
      </p:sp>
      <p:pic>
        <p:nvPicPr>
          <p:cNvPr id="70" name="Image 3" descr="preencoded.png">
            <a:hlinkClick r:id="rId7" tooltip="Go to Scenario 2" action="ppaction://hlinksldjump"/>
          </p:cNvPr>
          <p:cNvPicPr>
            <a:picLocks noChangeAspect="1"/>
          </p:cNvPicPr>
          <p:nvPr/>
        </p:nvPicPr>
        <p:blipFill>
          <a:blip r:embed="rId6"/>
          <a:stretch>
            <a:fillRect/>
          </a:stretch>
        </p:blipFill>
        <p:spPr>
          <a:xfrm>
            <a:off x="2656332" y="6537960"/>
            <a:ext cx="1197864" cy="274320"/>
          </a:xfrm>
          <a:prstGeom prst="rect">
            <a:avLst/>
          </a:prstGeom>
        </p:spPr>
      </p:pic>
      <p:sp>
        <p:nvSpPr>
          <p:cNvPr id="71" name="Shape 65"/>
          <p:cNvSpPr/>
          <p:nvPr/>
        </p:nvSpPr>
        <p:spPr>
          <a:xfrm>
            <a:off x="3927348" y="6537960"/>
            <a:ext cx="1197864" cy="274320"/>
          </a:xfrm>
          <a:prstGeom prst="roundRect">
            <a:avLst>
              <a:gd name="adj" fmla="val 50000"/>
            </a:avLst>
          </a:prstGeom>
          <a:solidFill>
            <a:srgbClr val="F6F3FA"/>
          </a:solidFill>
          <a:ln w="12700">
            <a:solidFill>
              <a:srgbClr val="F6F3FA"/>
            </a:solidFill>
            <a:prstDash val="solid"/>
          </a:ln>
        </p:spPr>
      </p:sp>
      <p:sp>
        <p:nvSpPr>
          <p:cNvPr id="72" name="Text 66"/>
          <p:cNvSpPr txBox="1"/>
          <p:nvPr/>
        </p:nvSpPr>
        <p:spPr>
          <a:xfrm>
            <a:off x="3927348" y="6537960"/>
            <a:ext cx="1197864" cy="274320"/>
          </a:xfrm>
          <a:prstGeom prst="rect">
            <a:avLst/>
          </a:prstGeom>
          <a:noFill/>
          <a:ln/>
        </p:spPr>
        <p:txBody>
          <a:bodyPr wrap="square" lIns="0" tIns="0" rIns="0" bIns="0" rtlCol="0" anchor="ctr"/>
          <a:lstStyle/>
          <a:p>
            <a:pPr algn="ctr" indent="0" marL="0">
              <a:buNone/>
            </a:pPr>
            <a:r>
              <a:rPr lang="en-US" sz="1200" b="1" dirty="0">
                <a:solidFill>
                  <a:srgbClr val="6E5E94"/>
                </a:solidFill>
                <a:latin typeface="Calibri" pitchFamily="34" charset="0"/>
                <a:ea typeface="Calibri" pitchFamily="34" charset="-122"/>
                <a:cs typeface="Calibri" pitchFamily="34" charset="-120"/>
              </a:rPr>
              <a:t>Scenario 3</a:t>
            </a:r>
            <a:endParaRPr lang="en-US" sz="1200" dirty="0"/>
          </a:p>
        </p:txBody>
      </p:sp>
      <p:pic>
        <p:nvPicPr>
          <p:cNvPr id="73" name="Image 4" descr="preencoded.png">
            <a:hlinkClick r:id="rId9" tooltip="Go to Scenario 3" action="ppaction://hlinksldjump"/>
          </p:cNvPr>
          <p:cNvPicPr>
            <a:picLocks noChangeAspect="1"/>
          </p:cNvPicPr>
          <p:nvPr/>
        </p:nvPicPr>
        <p:blipFill>
          <a:blip r:embed="rId8"/>
          <a:stretch>
            <a:fillRect/>
          </a:stretch>
        </p:blipFill>
        <p:spPr>
          <a:xfrm>
            <a:off x="3927348" y="6537960"/>
            <a:ext cx="1197864" cy="274320"/>
          </a:xfrm>
          <a:prstGeom prst="rect">
            <a:avLst/>
          </a:prstGeom>
        </p:spPr>
      </p:pic>
      <p:sp>
        <p:nvSpPr>
          <p:cNvPr id="74" name="Shape 67"/>
          <p:cNvSpPr/>
          <p:nvPr/>
        </p:nvSpPr>
        <p:spPr>
          <a:xfrm>
            <a:off x="5198364" y="6537960"/>
            <a:ext cx="937260" cy="274320"/>
          </a:xfrm>
          <a:prstGeom prst="roundRect">
            <a:avLst>
              <a:gd name="adj" fmla="val 50000"/>
            </a:avLst>
          </a:prstGeom>
          <a:solidFill>
            <a:srgbClr val="E4ECF2"/>
          </a:solidFill>
          <a:ln w="12700">
            <a:solidFill>
              <a:srgbClr val="E4ECF2"/>
            </a:solidFill>
            <a:prstDash val="solid"/>
          </a:ln>
        </p:spPr>
      </p:sp>
      <p:sp>
        <p:nvSpPr>
          <p:cNvPr id="75" name="Text 68"/>
          <p:cNvSpPr txBox="1"/>
          <p:nvPr/>
        </p:nvSpPr>
        <p:spPr>
          <a:xfrm>
            <a:off x="5198364" y="6537960"/>
            <a:ext cx="937260" cy="274320"/>
          </a:xfrm>
          <a:prstGeom prst="rect">
            <a:avLst/>
          </a:prstGeom>
          <a:noFill/>
          <a:ln/>
        </p:spPr>
        <p:txBody>
          <a:bodyPr wrap="square" lIns="0" tIns="0" rIns="0" bIns="0" rtlCol="0" anchor="ctr"/>
          <a:lstStyle/>
          <a:p>
            <a:pPr algn="ctr" indent="0" marL="0">
              <a:buNone/>
            </a:pPr>
            <a:r>
              <a:rPr lang="en-US" sz="1200" b="1" dirty="0">
                <a:solidFill>
                  <a:srgbClr val="23405A"/>
                </a:solidFill>
                <a:latin typeface="Calibri" pitchFamily="34" charset="0"/>
                <a:ea typeface="Calibri" pitchFamily="34" charset="-122"/>
                <a:cs typeface="Calibri" pitchFamily="34" charset="-120"/>
              </a:rPr>
              <a:t>Closing</a:t>
            </a:r>
            <a:endParaRPr lang="en-US" sz="1200" dirty="0"/>
          </a:p>
        </p:txBody>
      </p:sp>
      <p:pic>
        <p:nvPicPr>
          <p:cNvPr id="76" name="Image 5" descr="preencoded.png">
            <a:hlinkClick r:id="rId11" tooltip="Go to Closing" action="ppaction://hlinksldjump"/>
          </p:cNvPr>
          <p:cNvPicPr>
            <a:picLocks noChangeAspect="1"/>
          </p:cNvPicPr>
          <p:nvPr/>
        </p:nvPicPr>
        <p:blipFill>
          <a:blip r:embed="rId10"/>
          <a:stretch>
            <a:fillRect/>
          </a:stretch>
        </p:blipFill>
        <p:spPr>
          <a:xfrm>
            <a:off x="5198364" y="6537960"/>
            <a:ext cx="937260" cy="274320"/>
          </a:xfrm>
          <a:prstGeom prst="rect">
            <a:avLst/>
          </a:prstGeom>
        </p:spPr>
      </p:pic>
      <p:sp>
        <p:nvSpPr>
          <p:cNvPr id="77" name="Text 69"/>
          <p:cNvSpPr txBox="1"/>
          <p:nvPr/>
        </p:nvSpPr>
        <p:spPr>
          <a:xfrm>
            <a:off x="11277295" y="6537960"/>
            <a:ext cx="365760" cy="274320"/>
          </a:xfrm>
          <a:prstGeom prst="rect">
            <a:avLst/>
          </a:prstGeom>
          <a:noFill/>
          <a:ln/>
        </p:spPr>
        <p:txBody>
          <a:bodyPr wrap="square" lIns="0" tIns="0" rIns="0" bIns="0" rtlCol="0" anchor="ctr"/>
          <a:lstStyle/>
          <a:p>
            <a:pPr algn="r" indent="0" marL="0">
              <a:buNone/>
            </a:pPr>
            <a:r>
              <a:rPr lang="en-US" sz="1200" dirty="0">
                <a:solidFill>
                  <a:srgbClr val="465A69"/>
                </a:solidFill>
                <a:latin typeface="Calibri" pitchFamily="34" charset="0"/>
                <a:ea typeface="Calibri" pitchFamily="34" charset="-122"/>
                <a:cs typeface="Calibri"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6EEF6"/>
        </a:solidFill>
      </p:bgPr>
    </p:bg>
    <p:spTree>
      <p:nvGrpSpPr>
        <p:cNvPr id="1" name=""/>
        <p:cNvGrpSpPr/>
        <p:nvPr/>
      </p:nvGrpSpPr>
      <p:grpSpPr>
        <a:xfrm>
          <a:off x="0" y="0"/>
          <a:ext cx="0" cy="0"/>
          <a:chOff x="0" y="0"/>
          <a:chExt cx="0" cy="0"/>
        </a:xfrm>
      </p:grpSpPr>
      <p:sp>
        <p:nvSpPr>
          <p:cNvPr id="2" name="Shape 0"/>
          <p:cNvSpPr/>
          <p:nvPr/>
        </p:nvSpPr>
        <p:spPr>
          <a:xfrm>
            <a:off x="548640" y="347472"/>
            <a:ext cx="2843784" cy="329184"/>
          </a:xfrm>
          <a:prstGeom prst="roundRect">
            <a:avLst>
              <a:gd name="adj" fmla="val 50000"/>
            </a:avLst>
          </a:prstGeom>
          <a:solidFill>
            <a:srgbClr val="F1F6FA"/>
          </a:solidFill>
          <a:ln w="12700">
            <a:solidFill>
              <a:srgbClr val="F1F6FA"/>
            </a:solidFill>
            <a:prstDash val="solid"/>
          </a:ln>
        </p:spPr>
      </p:sp>
      <p:sp>
        <p:nvSpPr>
          <p:cNvPr id="3" name="Text 1"/>
          <p:cNvSpPr txBox="1"/>
          <p:nvPr/>
        </p:nvSpPr>
        <p:spPr>
          <a:xfrm>
            <a:off x="548640" y="347472"/>
            <a:ext cx="2843784" cy="329184"/>
          </a:xfrm>
          <a:prstGeom prst="rect">
            <a:avLst/>
          </a:prstGeom>
          <a:noFill/>
          <a:ln/>
        </p:spPr>
        <p:txBody>
          <a:bodyPr wrap="square" lIns="0" tIns="0" rIns="0" bIns="0" rtlCol="0" anchor="ctr"/>
          <a:lstStyle/>
          <a:p>
            <a:pPr algn="ctr" indent="0" marL="0">
              <a:buNone/>
            </a:pPr>
            <a:r>
              <a:rPr lang="en-US" sz="1200" b="1" dirty="0">
                <a:solidFill>
                  <a:srgbClr val="3F6E8C"/>
                </a:solidFill>
                <a:latin typeface="Calibri" pitchFamily="34" charset="0"/>
                <a:ea typeface="Calibri" pitchFamily="34" charset="-122"/>
                <a:cs typeface="Calibri" pitchFamily="34" charset="-120"/>
              </a:rPr>
              <a:t>Scenario 1: Incident Response</a:t>
            </a:r>
            <a:endParaRPr lang="en-US" sz="1200" dirty="0"/>
          </a:p>
        </p:txBody>
      </p:sp>
      <p:sp>
        <p:nvSpPr>
          <p:cNvPr id="4" name="Text 2"/>
          <p:cNvSpPr txBox="1"/>
          <p:nvPr/>
        </p:nvSpPr>
        <p:spPr>
          <a:xfrm>
            <a:off x="548640" y="749808"/>
            <a:ext cx="11064240" cy="640080"/>
          </a:xfrm>
          <a:prstGeom prst="rect">
            <a:avLst/>
          </a:prstGeom>
          <a:noFill/>
          <a:ln/>
        </p:spPr>
        <p:txBody>
          <a:bodyPr wrap="square" lIns="0" tIns="0" rIns="0" bIns="0" rtlCol="0" anchor="ctr"/>
          <a:lstStyle/>
          <a:p>
            <a:pPr indent="0" marL="0">
              <a:buNone/>
            </a:pPr>
            <a:r>
              <a:rPr lang="en-US" sz="2800" b="1" dirty="0">
                <a:solidFill>
                  <a:srgbClr val="23405A"/>
                </a:solidFill>
                <a:latin typeface="Calibri" pitchFamily="34" charset="0"/>
                <a:ea typeface="Calibri" pitchFamily="34" charset="-122"/>
                <a:cs typeface="Calibri" pitchFamily="34" charset="-120"/>
              </a:rPr>
              <a:t>T+3h: Expansion Attempt</a:t>
            </a:r>
            <a:endParaRPr lang="en-US" sz="2800" dirty="0"/>
          </a:p>
        </p:txBody>
      </p:sp>
      <p:sp>
        <p:nvSpPr>
          <p:cNvPr id="5" name="Shape 3"/>
          <p:cNvSpPr/>
          <p:nvPr/>
        </p:nvSpPr>
        <p:spPr>
          <a:xfrm>
            <a:off x="10705795" y="347472"/>
            <a:ext cx="937260" cy="329184"/>
          </a:xfrm>
          <a:prstGeom prst="roundRect">
            <a:avLst>
              <a:gd name="adj" fmla="val 50000"/>
            </a:avLst>
          </a:prstGeom>
          <a:solidFill>
            <a:srgbClr val="FFFFFF"/>
          </a:solidFill>
          <a:ln w="12700">
            <a:solidFill>
              <a:srgbClr val="FFFFFF"/>
            </a:solidFill>
            <a:prstDash val="solid"/>
          </a:ln>
        </p:spPr>
      </p:sp>
      <p:sp>
        <p:nvSpPr>
          <p:cNvPr id="6" name="Text 4"/>
          <p:cNvSpPr txBox="1"/>
          <p:nvPr/>
        </p:nvSpPr>
        <p:spPr>
          <a:xfrm>
            <a:off x="10705795" y="347472"/>
            <a:ext cx="937260" cy="329184"/>
          </a:xfrm>
          <a:prstGeom prst="rect">
            <a:avLst/>
          </a:prstGeom>
          <a:noFill/>
          <a:ln/>
        </p:spPr>
        <p:txBody>
          <a:bodyPr wrap="square" lIns="0" tIns="0" rIns="0" bIns="0" rtlCol="0" anchor="ctr"/>
          <a:lstStyle/>
          <a:p>
            <a:pPr algn="ctr" indent="0" marL="0">
              <a:buNone/>
            </a:pPr>
            <a:r>
              <a:rPr lang="en-US" sz="1200" dirty="0">
                <a:solidFill>
                  <a:srgbClr val="465A69"/>
                </a:solidFill>
                <a:latin typeface="Calibri" pitchFamily="34" charset="0"/>
                <a:ea typeface="Calibri" pitchFamily="34" charset="-122"/>
                <a:cs typeface="Calibri" pitchFamily="34" charset="-120"/>
              </a:rPr>
              <a:t>Hotwash</a:t>
            </a:r>
            <a:endParaRPr lang="en-US" sz="1200" dirty="0"/>
          </a:p>
        </p:txBody>
      </p:sp>
      <p:sp>
        <p:nvSpPr>
          <p:cNvPr id="7" name="Shape 5"/>
          <p:cNvSpPr/>
          <p:nvPr/>
        </p:nvSpPr>
        <p:spPr>
          <a:xfrm>
            <a:off x="9608515" y="347472"/>
            <a:ext cx="1024128" cy="329184"/>
          </a:xfrm>
          <a:prstGeom prst="roundRect">
            <a:avLst>
              <a:gd name="adj" fmla="val 50000"/>
            </a:avLst>
          </a:prstGeom>
          <a:solidFill>
            <a:srgbClr val="FFFFFF"/>
          </a:solidFill>
          <a:ln w="12700">
            <a:solidFill>
              <a:srgbClr val="FFFFFF"/>
            </a:solidFill>
            <a:prstDash val="solid"/>
          </a:ln>
        </p:spPr>
      </p:sp>
      <p:sp>
        <p:nvSpPr>
          <p:cNvPr id="8" name="Text 6"/>
          <p:cNvSpPr txBox="1"/>
          <p:nvPr/>
        </p:nvSpPr>
        <p:spPr>
          <a:xfrm>
            <a:off x="9608515" y="347472"/>
            <a:ext cx="1024128" cy="329184"/>
          </a:xfrm>
          <a:prstGeom prst="rect">
            <a:avLst/>
          </a:prstGeom>
          <a:noFill/>
          <a:ln/>
        </p:spPr>
        <p:txBody>
          <a:bodyPr wrap="square" lIns="0" tIns="0" rIns="0" bIns="0" rtlCol="0" anchor="ctr"/>
          <a:lstStyle/>
          <a:p>
            <a:pPr algn="ctr" indent="0" marL="0">
              <a:buNone/>
            </a:pPr>
            <a:r>
              <a:rPr lang="en-US" sz="1200" dirty="0">
                <a:solidFill>
                  <a:srgbClr val="465A69"/>
                </a:solidFill>
                <a:latin typeface="Calibri" pitchFamily="34" charset="0"/>
                <a:ea typeface="Calibri" pitchFamily="34" charset="-122"/>
                <a:cs typeface="Calibri" pitchFamily="34" charset="-120"/>
              </a:rPr>
              <a:t>Recovery</a:t>
            </a:r>
            <a:endParaRPr lang="en-US" sz="1200" dirty="0"/>
          </a:p>
        </p:txBody>
      </p:sp>
      <p:sp>
        <p:nvSpPr>
          <p:cNvPr id="9" name="Shape 7"/>
          <p:cNvSpPr/>
          <p:nvPr/>
        </p:nvSpPr>
        <p:spPr>
          <a:xfrm>
            <a:off x="8598103" y="347472"/>
            <a:ext cx="937260" cy="329184"/>
          </a:xfrm>
          <a:prstGeom prst="roundRect">
            <a:avLst>
              <a:gd name="adj" fmla="val 50000"/>
            </a:avLst>
          </a:prstGeom>
          <a:solidFill>
            <a:srgbClr val="3F6E8C"/>
          </a:solidFill>
          <a:ln w="12700">
            <a:solidFill>
              <a:srgbClr val="3F6E8C"/>
            </a:solidFill>
            <a:prstDash val="solid"/>
          </a:ln>
        </p:spPr>
      </p:sp>
      <p:sp>
        <p:nvSpPr>
          <p:cNvPr id="10" name="Text 8"/>
          <p:cNvSpPr txBox="1"/>
          <p:nvPr/>
        </p:nvSpPr>
        <p:spPr>
          <a:xfrm>
            <a:off x="8598103" y="347472"/>
            <a:ext cx="93726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Injects</a:t>
            </a:r>
            <a:endParaRPr lang="en-US" sz="1200" dirty="0"/>
          </a:p>
        </p:txBody>
      </p:sp>
      <p:sp>
        <p:nvSpPr>
          <p:cNvPr id="11" name="Shape 9"/>
          <p:cNvSpPr/>
          <p:nvPr/>
        </p:nvSpPr>
        <p:spPr>
          <a:xfrm>
            <a:off x="7674559" y="347472"/>
            <a:ext cx="850392" cy="329184"/>
          </a:xfrm>
          <a:prstGeom prst="roundRect">
            <a:avLst>
              <a:gd name="adj" fmla="val 50000"/>
            </a:avLst>
          </a:prstGeom>
          <a:solidFill>
            <a:srgbClr val="F1F6FA"/>
          </a:solidFill>
          <a:ln w="12700">
            <a:solidFill>
              <a:srgbClr val="F1F6FA"/>
            </a:solidFill>
            <a:prstDash val="solid"/>
          </a:ln>
        </p:spPr>
      </p:sp>
      <p:sp>
        <p:nvSpPr>
          <p:cNvPr id="12" name="Text 10"/>
          <p:cNvSpPr txBox="1"/>
          <p:nvPr/>
        </p:nvSpPr>
        <p:spPr>
          <a:xfrm>
            <a:off x="7674559" y="347472"/>
            <a:ext cx="850392" cy="329184"/>
          </a:xfrm>
          <a:prstGeom prst="rect">
            <a:avLst/>
          </a:prstGeom>
          <a:noFill/>
          <a:ln/>
        </p:spPr>
        <p:txBody>
          <a:bodyPr wrap="square" lIns="0" tIns="0" rIns="0" bIns="0" rtlCol="0" anchor="ctr"/>
          <a:lstStyle/>
          <a:p>
            <a:pPr algn="ctr" indent="0" marL="0">
              <a:buNone/>
            </a:pPr>
            <a:r>
              <a:rPr lang="en-US" sz="1200" dirty="0">
                <a:solidFill>
                  <a:srgbClr val="3F6E8C"/>
                </a:solidFill>
                <a:latin typeface="Calibri" pitchFamily="34" charset="0"/>
                <a:ea typeface="Calibri" pitchFamily="34" charset="-122"/>
                <a:cs typeface="Calibri" pitchFamily="34" charset="-120"/>
              </a:rPr>
              <a:t>Decide</a:t>
            </a:r>
            <a:endParaRPr lang="en-US" sz="1200" dirty="0"/>
          </a:p>
        </p:txBody>
      </p:sp>
      <p:sp>
        <p:nvSpPr>
          <p:cNvPr id="13" name="Shape 11"/>
          <p:cNvSpPr/>
          <p:nvPr/>
        </p:nvSpPr>
        <p:spPr>
          <a:xfrm>
            <a:off x="7011619" y="347472"/>
            <a:ext cx="589788" cy="329184"/>
          </a:xfrm>
          <a:prstGeom prst="roundRect">
            <a:avLst>
              <a:gd name="adj" fmla="val 50000"/>
            </a:avLst>
          </a:prstGeom>
          <a:solidFill>
            <a:srgbClr val="F1F6FA"/>
          </a:solidFill>
          <a:ln w="12700">
            <a:solidFill>
              <a:srgbClr val="F1F6FA"/>
            </a:solidFill>
            <a:prstDash val="solid"/>
          </a:ln>
        </p:spPr>
      </p:sp>
      <p:sp>
        <p:nvSpPr>
          <p:cNvPr id="14" name="Text 12"/>
          <p:cNvSpPr txBox="1"/>
          <p:nvPr/>
        </p:nvSpPr>
        <p:spPr>
          <a:xfrm>
            <a:off x="7011619" y="347472"/>
            <a:ext cx="589788" cy="329184"/>
          </a:xfrm>
          <a:prstGeom prst="rect">
            <a:avLst/>
          </a:prstGeom>
          <a:noFill/>
          <a:ln/>
        </p:spPr>
        <p:txBody>
          <a:bodyPr wrap="square" lIns="0" tIns="0" rIns="0" bIns="0" rtlCol="0" anchor="ctr"/>
          <a:lstStyle/>
          <a:p>
            <a:pPr algn="ctr" indent="0" marL="0">
              <a:buNone/>
            </a:pPr>
            <a:r>
              <a:rPr lang="en-US" sz="1200" dirty="0">
                <a:solidFill>
                  <a:srgbClr val="3F6E8C"/>
                </a:solidFill>
                <a:latin typeface="Calibri" pitchFamily="34" charset="0"/>
                <a:ea typeface="Calibri" pitchFamily="34" charset="-122"/>
                <a:cs typeface="Calibri" pitchFamily="34" charset="-120"/>
              </a:rPr>
              <a:t>T+0</a:t>
            </a:r>
            <a:endParaRPr lang="en-US" sz="1200" dirty="0"/>
          </a:p>
        </p:txBody>
      </p:sp>
      <p:sp>
        <p:nvSpPr>
          <p:cNvPr id="15" name="Shape 13"/>
          <p:cNvSpPr/>
          <p:nvPr/>
        </p:nvSpPr>
        <p:spPr>
          <a:xfrm>
            <a:off x="5740603" y="347472"/>
            <a:ext cx="1197864" cy="329184"/>
          </a:xfrm>
          <a:prstGeom prst="roundRect">
            <a:avLst>
              <a:gd name="adj" fmla="val 50000"/>
            </a:avLst>
          </a:prstGeom>
          <a:solidFill>
            <a:srgbClr val="F1F6FA"/>
          </a:solidFill>
          <a:ln w="12700">
            <a:solidFill>
              <a:srgbClr val="F1F6FA"/>
            </a:solidFill>
            <a:prstDash val="solid"/>
          </a:ln>
        </p:spPr>
      </p:sp>
      <p:sp>
        <p:nvSpPr>
          <p:cNvPr id="16" name="Text 14"/>
          <p:cNvSpPr txBox="1"/>
          <p:nvPr/>
        </p:nvSpPr>
        <p:spPr>
          <a:xfrm>
            <a:off x="5740603" y="347472"/>
            <a:ext cx="1197864" cy="329184"/>
          </a:xfrm>
          <a:prstGeom prst="rect">
            <a:avLst/>
          </a:prstGeom>
          <a:noFill/>
          <a:ln/>
        </p:spPr>
        <p:txBody>
          <a:bodyPr wrap="square" lIns="0" tIns="0" rIns="0" bIns="0" rtlCol="0" anchor="ctr"/>
          <a:lstStyle/>
          <a:p>
            <a:pPr algn="ctr" indent="0" marL="0">
              <a:buNone/>
            </a:pPr>
            <a:r>
              <a:rPr lang="en-US" sz="1200" dirty="0">
                <a:solidFill>
                  <a:srgbClr val="3F6E8C"/>
                </a:solidFill>
                <a:latin typeface="Calibri" pitchFamily="34" charset="0"/>
                <a:ea typeface="Calibri" pitchFamily="34" charset="-122"/>
                <a:cs typeface="Calibri" pitchFamily="34" charset="-120"/>
              </a:rPr>
              <a:t>Background</a:t>
            </a:r>
            <a:endParaRPr lang="en-US" sz="1200" dirty="0"/>
          </a:p>
        </p:txBody>
      </p:sp>
      <p:sp>
        <p:nvSpPr>
          <p:cNvPr id="17" name="Shape 15"/>
          <p:cNvSpPr/>
          <p:nvPr/>
        </p:nvSpPr>
        <p:spPr>
          <a:xfrm>
            <a:off x="548640" y="1600200"/>
            <a:ext cx="2377440" cy="4572000"/>
          </a:xfrm>
          <a:prstGeom prst="roundRect">
            <a:avLst>
              <a:gd name="adj" fmla="val 5385"/>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18" name="Text 16"/>
          <p:cNvSpPr txBox="1"/>
          <p:nvPr/>
        </p:nvSpPr>
        <p:spPr>
          <a:xfrm>
            <a:off x="822960" y="1783080"/>
            <a:ext cx="1874520" cy="320040"/>
          </a:xfrm>
          <a:prstGeom prst="rect">
            <a:avLst/>
          </a:prstGeom>
          <a:noFill/>
          <a:ln/>
        </p:spPr>
        <p:txBody>
          <a:bodyPr wrap="square" lIns="0" tIns="0" rIns="0" bIns="0" rtlCol="0" anchor="t"/>
          <a:lstStyle/>
          <a:p>
            <a:pPr indent="0" marL="0">
              <a:buNone/>
            </a:pPr>
            <a:r>
              <a:rPr lang="en-US" sz="1400" b="1" dirty="0">
                <a:solidFill>
                  <a:srgbClr val="465A69"/>
                </a:solidFill>
                <a:latin typeface="Calibri" pitchFamily="34" charset="0"/>
                <a:ea typeface="Calibri" pitchFamily="34" charset="-122"/>
                <a:cs typeface="Calibri" pitchFamily="34" charset="-120"/>
              </a:rPr>
              <a:t>Timeline</a:t>
            </a:r>
            <a:endParaRPr lang="en-US" sz="1400" dirty="0"/>
          </a:p>
        </p:txBody>
      </p:sp>
      <p:sp>
        <p:nvSpPr>
          <p:cNvPr id="19" name="Shape 17"/>
          <p:cNvSpPr/>
          <p:nvPr/>
        </p:nvSpPr>
        <p:spPr>
          <a:xfrm>
            <a:off x="905256" y="2551176"/>
            <a:ext cx="0" cy="257338"/>
          </a:xfrm>
          <a:prstGeom prst="line">
            <a:avLst/>
          </a:prstGeom>
          <a:noFill/>
          <a:ln w="19050">
            <a:solidFill>
              <a:srgbClr val="3F6E8C"/>
            </a:solidFill>
            <a:prstDash val="solid"/>
          </a:ln>
        </p:spPr>
      </p:sp>
      <p:sp>
        <p:nvSpPr>
          <p:cNvPr id="20" name="Shape 18"/>
          <p:cNvSpPr/>
          <p:nvPr/>
        </p:nvSpPr>
        <p:spPr>
          <a:xfrm>
            <a:off x="777240" y="2267712"/>
            <a:ext cx="256032" cy="256032"/>
          </a:xfrm>
          <a:prstGeom prst="ellipse">
            <a:avLst/>
          </a:prstGeom>
          <a:solidFill>
            <a:srgbClr val="F1F6FA"/>
          </a:solidFill>
          <a:ln w="12700">
            <a:solidFill>
              <a:srgbClr val="F1F6FA"/>
            </a:solidFill>
            <a:prstDash val="solid"/>
          </a:ln>
        </p:spPr>
      </p:sp>
      <p:sp>
        <p:nvSpPr>
          <p:cNvPr id="21" name="Text 19"/>
          <p:cNvSpPr txBox="1"/>
          <p:nvPr/>
        </p:nvSpPr>
        <p:spPr>
          <a:xfrm>
            <a:off x="1188720" y="2203704"/>
            <a:ext cx="1645920" cy="568234"/>
          </a:xfrm>
          <a:prstGeom prst="rect">
            <a:avLst/>
          </a:prstGeom>
          <a:noFill/>
          <a:ln/>
        </p:spPr>
        <p:txBody>
          <a:bodyPr wrap="square" lIns="0" tIns="0" rIns="0" bIns="0" rtlCol="0" anchor="t"/>
          <a:lstStyle/>
          <a:p>
            <a:pPr indent="0" marL="0">
              <a:buNone/>
            </a:pPr>
            <a:r>
              <a:rPr lang="en-US" sz="1200" b="1" dirty="0">
                <a:solidFill>
                  <a:srgbClr val="465A69"/>
                </a:solidFill>
                <a:latin typeface="Calibri" pitchFamily="34" charset="0"/>
                <a:ea typeface="Calibri" pitchFamily="34" charset="-122"/>
                <a:cs typeface="Calibri" pitchFamily="34" charset="-120"/>
              </a:rPr>
              <a:t>T+0</a:t>
            </a:r>
            <a:endParaRPr lang="en-US" sz="1200" dirty="0"/>
          </a:p>
          <a:p>
            <a:pPr indent="0" marL="0">
              <a:buNone/>
            </a:pPr>
            <a:r>
              <a:rPr lang="en-US" sz="1200" dirty="0">
                <a:solidFill>
                  <a:srgbClr val="1E2E3A"/>
                </a:solidFill>
                <a:latin typeface="Calibri" pitchFamily="34" charset="0"/>
                <a:ea typeface="Calibri" pitchFamily="34" charset="-122"/>
                <a:cs typeface="Calibri" pitchFamily="34" charset="-120"/>
              </a:rPr>
              <a:t>Initial signal</a:t>
            </a:r>
            <a:endParaRPr lang="en-US" sz="1200" dirty="0"/>
          </a:p>
        </p:txBody>
      </p:sp>
      <p:sp>
        <p:nvSpPr>
          <p:cNvPr id="22" name="Shape 20"/>
          <p:cNvSpPr/>
          <p:nvPr/>
        </p:nvSpPr>
        <p:spPr>
          <a:xfrm>
            <a:off x="905256" y="3119410"/>
            <a:ext cx="0" cy="257338"/>
          </a:xfrm>
          <a:prstGeom prst="line">
            <a:avLst/>
          </a:prstGeom>
          <a:noFill/>
          <a:ln w="19050">
            <a:solidFill>
              <a:srgbClr val="3F6E8C"/>
            </a:solidFill>
            <a:prstDash val="solid"/>
          </a:ln>
        </p:spPr>
      </p:sp>
      <p:sp>
        <p:nvSpPr>
          <p:cNvPr id="23" name="Shape 21"/>
          <p:cNvSpPr/>
          <p:nvPr/>
        </p:nvSpPr>
        <p:spPr>
          <a:xfrm>
            <a:off x="777240" y="2835946"/>
            <a:ext cx="256032" cy="256032"/>
          </a:xfrm>
          <a:prstGeom prst="ellipse">
            <a:avLst/>
          </a:prstGeom>
          <a:solidFill>
            <a:srgbClr val="F1F6FA"/>
          </a:solidFill>
          <a:ln w="12700">
            <a:solidFill>
              <a:srgbClr val="F1F6FA"/>
            </a:solidFill>
            <a:prstDash val="solid"/>
          </a:ln>
        </p:spPr>
      </p:sp>
      <p:sp>
        <p:nvSpPr>
          <p:cNvPr id="24" name="Text 22"/>
          <p:cNvSpPr txBox="1"/>
          <p:nvPr/>
        </p:nvSpPr>
        <p:spPr>
          <a:xfrm>
            <a:off x="1188720" y="2771938"/>
            <a:ext cx="1645920" cy="568234"/>
          </a:xfrm>
          <a:prstGeom prst="rect">
            <a:avLst/>
          </a:prstGeom>
          <a:noFill/>
          <a:ln/>
        </p:spPr>
        <p:txBody>
          <a:bodyPr wrap="square" lIns="0" tIns="0" rIns="0" bIns="0" rtlCol="0" anchor="t"/>
          <a:lstStyle/>
          <a:p>
            <a:pPr indent="0" marL="0">
              <a:buNone/>
            </a:pPr>
            <a:r>
              <a:rPr lang="en-US" sz="1200" b="1" dirty="0">
                <a:solidFill>
                  <a:srgbClr val="465A69"/>
                </a:solidFill>
                <a:latin typeface="Calibri" pitchFamily="34" charset="0"/>
                <a:ea typeface="Calibri" pitchFamily="34" charset="-122"/>
                <a:cs typeface="Calibri" pitchFamily="34" charset="-120"/>
              </a:rPr>
              <a:t>T+30m</a:t>
            </a:r>
            <a:endParaRPr lang="en-US" sz="1200" dirty="0"/>
          </a:p>
          <a:p>
            <a:pPr indent="0" marL="0">
              <a:buNone/>
            </a:pPr>
            <a:r>
              <a:rPr lang="en-US" sz="1200" dirty="0">
                <a:solidFill>
                  <a:srgbClr val="1E2E3A"/>
                </a:solidFill>
                <a:latin typeface="Calibri" pitchFamily="34" charset="0"/>
                <a:ea typeface="Calibri" pitchFamily="34" charset="-122"/>
                <a:cs typeface="Calibri" pitchFamily="34" charset="-120"/>
              </a:rPr>
              <a:t>Suspicious activity</a:t>
            </a:r>
            <a:endParaRPr lang="en-US" sz="1200" dirty="0"/>
          </a:p>
        </p:txBody>
      </p:sp>
      <p:sp>
        <p:nvSpPr>
          <p:cNvPr id="25" name="Shape 23"/>
          <p:cNvSpPr/>
          <p:nvPr/>
        </p:nvSpPr>
        <p:spPr>
          <a:xfrm>
            <a:off x="905256" y="3687645"/>
            <a:ext cx="0" cy="257338"/>
          </a:xfrm>
          <a:prstGeom prst="line">
            <a:avLst/>
          </a:prstGeom>
          <a:noFill/>
          <a:ln w="19050">
            <a:solidFill>
              <a:srgbClr val="3F6E8C"/>
            </a:solidFill>
            <a:prstDash val="solid"/>
          </a:ln>
        </p:spPr>
      </p:sp>
      <p:sp>
        <p:nvSpPr>
          <p:cNvPr id="26" name="Shape 24"/>
          <p:cNvSpPr/>
          <p:nvPr/>
        </p:nvSpPr>
        <p:spPr>
          <a:xfrm>
            <a:off x="777240" y="3404181"/>
            <a:ext cx="256032" cy="256032"/>
          </a:xfrm>
          <a:prstGeom prst="ellipse">
            <a:avLst/>
          </a:prstGeom>
          <a:solidFill>
            <a:srgbClr val="F1F6FA"/>
          </a:solidFill>
          <a:ln w="12700">
            <a:solidFill>
              <a:srgbClr val="F1F6FA"/>
            </a:solidFill>
            <a:prstDash val="solid"/>
          </a:ln>
        </p:spPr>
      </p:sp>
      <p:sp>
        <p:nvSpPr>
          <p:cNvPr id="27" name="Text 25"/>
          <p:cNvSpPr txBox="1"/>
          <p:nvPr/>
        </p:nvSpPr>
        <p:spPr>
          <a:xfrm>
            <a:off x="1188720" y="3340173"/>
            <a:ext cx="1645920" cy="568234"/>
          </a:xfrm>
          <a:prstGeom prst="rect">
            <a:avLst/>
          </a:prstGeom>
          <a:noFill/>
          <a:ln/>
        </p:spPr>
        <p:txBody>
          <a:bodyPr wrap="square" lIns="0" tIns="0" rIns="0" bIns="0" rtlCol="0" anchor="t"/>
          <a:lstStyle/>
          <a:p>
            <a:pPr indent="0" marL="0">
              <a:buNone/>
            </a:pPr>
            <a:r>
              <a:rPr lang="en-US" sz="1200" b="1" dirty="0">
                <a:solidFill>
                  <a:srgbClr val="465A69"/>
                </a:solidFill>
                <a:latin typeface="Calibri" pitchFamily="34" charset="0"/>
                <a:ea typeface="Calibri" pitchFamily="34" charset="-122"/>
                <a:cs typeface="Calibri" pitchFamily="34" charset="-120"/>
              </a:rPr>
              <a:t>T+1h</a:t>
            </a:r>
            <a:endParaRPr lang="en-US" sz="1200" dirty="0"/>
          </a:p>
          <a:p>
            <a:pPr indent="0" marL="0">
              <a:buNone/>
            </a:pPr>
            <a:r>
              <a:rPr lang="en-US" sz="1200" dirty="0">
                <a:solidFill>
                  <a:srgbClr val="1E2E3A"/>
                </a:solidFill>
                <a:latin typeface="Calibri" pitchFamily="34" charset="0"/>
                <a:ea typeface="Calibri" pitchFamily="34" charset="-122"/>
                <a:cs typeface="Calibri" pitchFamily="34" charset="-120"/>
              </a:rPr>
              <a:t>Persistence</a:t>
            </a:r>
            <a:endParaRPr lang="en-US" sz="1200" dirty="0"/>
          </a:p>
        </p:txBody>
      </p:sp>
      <p:sp>
        <p:nvSpPr>
          <p:cNvPr id="28" name="Shape 26"/>
          <p:cNvSpPr/>
          <p:nvPr/>
        </p:nvSpPr>
        <p:spPr>
          <a:xfrm>
            <a:off x="905256" y="4255879"/>
            <a:ext cx="0" cy="257338"/>
          </a:xfrm>
          <a:prstGeom prst="line">
            <a:avLst/>
          </a:prstGeom>
          <a:noFill/>
          <a:ln w="19050">
            <a:solidFill>
              <a:srgbClr val="3F6E8C"/>
            </a:solidFill>
            <a:prstDash val="solid"/>
          </a:ln>
        </p:spPr>
      </p:sp>
      <p:sp>
        <p:nvSpPr>
          <p:cNvPr id="29" name="Shape 27"/>
          <p:cNvSpPr/>
          <p:nvPr/>
        </p:nvSpPr>
        <p:spPr>
          <a:xfrm>
            <a:off x="777240" y="3972415"/>
            <a:ext cx="256032" cy="256032"/>
          </a:xfrm>
          <a:prstGeom prst="ellipse">
            <a:avLst/>
          </a:prstGeom>
          <a:solidFill>
            <a:srgbClr val="F1F6FA"/>
          </a:solidFill>
          <a:ln w="12700">
            <a:solidFill>
              <a:srgbClr val="F1F6FA"/>
            </a:solidFill>
            <a:prstDash val="solid"/>
          </a:ln>
        </p:spPr>
      </p:sp>
      <p:sp>
        <p:nvSpPr>
          <p:cNvPr id="30" name="Text 28"/>
          <p:cNvSpPr txBox="1"/>
          <p:nvPr/>
        </p:nvSpPr>
        <p:spPr>
          <a:xfrm>
            <a:off x="1188720" y="3908407"/>
            <a:ext cx="1645920" cy="568234"/>
          </a:xfrm>
          <a:prstGeom prst="rect">
            <a:avLst/>
          </a:prstGeom>
          <a:noFill/>
          <a:ln/>
        </p:spPr>
        <p:txBody>
          <a:bodyPr wrap="square" lIns="0" tIns="0" rIns="0" bIns="0" rtlCol="0" anchor="t"/>
          <a:lstStyle/>
          <a:p>
            <a:pPr indent="0" marL="0">
              <a:buNone/>
            </a:pPr>
            <a:r>
              <a:rPr lang="en-US" sz="1200" b="1" dirty="0">
                <a:solidFill>
                  <a:srgbClr val="465A69"/>
                </a:solidFill>
                <a:latin typeface="Calibri" pitchFamily="34" charset="0"/>
                <a:ea typeface="Calibri" pitchFamily="34" charset="-122"/>
                <a:cs typeface="Calibri" pitchFamily="34" charset="-120"/>
              </a:rPr>
              <a:t>T+2h</a:t>
            </a:r>
            <a:endParaRPr lang="en-US" sz="1200" dirty="0"/>
          </a:p>
          <a:p>
            <a:pPr indent="0" marL="0">
              <a:buNone/>
            </a:pPr>
            <a:r>
              <a:rPr lang="en-US" sz="1200" dirty="0">
                <a:solidFill>
                  <a:srgbClr val="1E2E3A"/>
                </a:solidFill>
                <a:latin typeface="Calibri" pitchFamily="34" charset="0"/>
                <a:ea typeface="Calibri" pitchFamily="34" charset="-122"/>
                <a:cs typeface="Calibri" pitchFamily="34" charset="-120"/>
              </a:rPr>
              <a:t>Executive access</a:t>
            </a:r>
            <a:endParaRPr lang="en-US" sz="1200" dirty="0"/>
          </a:p>
        </p:txBody>
      </p:sp>
      <p:sp>
        <p:nvSpPr>
          <p:cNvPr id="31" name="Shape 29"/>
          <p:cNvSpPr/>
          <p:nvPr/>
        </p:nvSpPr>
        <p:spPr>
          <a:xfrm>
            <a:off x="905256" y="4824113"/>
            <a:ext cx="0" cy="257338"/>
          </a:xfrm>
          <a:prstGeom prst="line">
            <a:avLst/>
          </a:prstGeom>
          <a:noFill/>
          <a:ln w="19050">
            <a:solidFill>
              <a:srgbClr val="C9D5D2"/>
            </a:solidFill>
            <a:prstDash val="solid"/>
          </a:ln>
        </p:spPr>
      </p:sp>
      <p:sp>
        <p:nvSpPr>
          <p:cNvPr id="32" name="Shape 30"/>
          <p:cNvSpPr/>
          <p:nvPr/>
        </p:nvSpPr>
        <p:spPr>
          <a:xfrm>
            <a:off x="777240" y="4540649"/>
            <a:ext cx="256032" cy="256032"/>
          </a:xfrm>
          <a:prstGeom prst="ellipse">
            <a:avLst/>
          </a:prstGeom>
          <a:solidFill>
            <a:srgbClr val="3F6E8C"/>
          </a:solidFill>
          <a:ln w="12700">
            <a:solidFill>
              <a:srgbClr val="3F6E8C"/>
            </a:solidFill>
            <a:prstDash val="solid"/>
          </a:ln>
        </p:spPr>
      </p:sp>
      <p:sp>
        <p:nvSpPr>
          <p:cNvPr id="33" name="Text 31"/>
          <p:cNvSpPr txBox="1"/>
          <p:nvPr/>
        </p:nvSpPr>
        <p:spPr>
          <a:xfrm>
            <a:off x="1188720" y="4476641"/>
            <a:ext cx="1645920" cy="568234"/>
          </a:xfrm>
          <a:prstGeom prst="rect">
            <a:avLst/>
          </a:prstGeom>
          <a:noFill/>
          <a:ln/>
        </p:spPr>
        <p:txBody>
          <a:bodyPr wrap="square" lIns="0" tIns="0" rIns="0" bIns="0" rtlCol="0" anchor="t"/>
          <a:lstStyle/>
          <a:p>
            <a:pPr indent="0" marL="0">
              <a:buNone/>
            </a:pPr>
            <a:r>
              <a:rPr lang="en-US" sz="1200" b="1" dirty="0">
                <a:solidFill>
                  <a:srgbClr val="3F6E8C"/>
                </a:solidFill>
                <a:latin typeface="Calibri" pitchFamily="34" charset="0"/>
                <a:ea typeface="Calibri" pitchFamily="34" charset="-122"/>
                <a:cs typeface="Calibri" pitchFamily="34" charset="-120"/>
              </a:rPr>
              <a:t>T+3h</a:t>
            </a:r>
            <a:endParaRPr lang="en-US" sz="1200" dirty="0"/>
          </a:p>
          <a:p>
            <a:pPr indent="0" marL="0">
              <a:buNone/>
            </a:pPr>
            <a:r>
              <a:rPr lang="en-US" sz="1200" b="1" dirty="0">
                <a:solidFill>
                  <a:srgbClr val="3F6E8C"/>
                </a:solidFill>
                <a:latin typeface="Calibri" pitchFamily="34" charset="0"/>
                <a:ea typeface="Calibri" pitchFamily="34" charset="-122"/>
                <a:cs typeface="Calibri" pitchFamily="34" charset="-120"/>
              </a:rPr>
              <a:t>Expansion attempt</a:t>
            </a:r>
            <a:endParaRPr lang="en-US" sz="1200" dirty="0"/>
          </a:p>
        </p:txBody>
      </p:sp>
      <p:sp>
        <p:nvSpPr>
          <p:cNvPr id="34" name="Shape 32"/>
          <p:cNvSpPr/>
          <p:nvPr/>
        </p:nvSpPr>
        <p:spPr>
          <a:xfrm>
            <a:off x="905256" y="5392347"/>
            <a:ext cx="0" cy="257338"/>
          </a:xfrm>
          <a:prstGeom prst="line">
            <a:avLst/>
          </a:prstGeom>
          <a:noFill/>
          <a:ln w="19050">
            <a:solidFill>
              <a:srgbClr val="C9D5D2"/>
            </a:solidFill>
            <a:prstDash val="solid"/>
          </a:ln>
        </p:spPr>
      </p:sp>
      <p:sp>
        <p:nvSpPr>
          <p:cNvPr id="35" name="Shape 33"/>
          <p:cNvSpPr/>
          <p:nvPr/>
        </p:nvSpPr>
        <p:spPr>
          <a:xfrm>
            <a:off x="777240" y="5108883"/>
            <a:ext cx="256032" cy="256032"/>
          </a:xfrm>
          <a:prstGeom prst="ellipse">
            <a:avLst/>
          </a:prstGeom>
          <a:solidFill>
            <a:srgbClr val="FFFFFF"/>
          </a:solidFill>
          <a:ln w="15875">
            <a:solidFill>
              <a:srgbClr val="C9D5D2"/>
            </a:solidFill>
            <a:prstDash val="solid"/>
          </a:ln>
        </p:spPr>
      </p:sp>
      <p:sp>
        <p:nvSpPr>
          <p:cNvPr id="36" name="Shape 34"/>
          <p:cNvSpPr/>
          <p:nvPr/>
        </p:nvSpPr>
        <p:spPr>
          <a:xfrm>
            <a:off x="777240" y="5677118"/>
            <a:ext cx="256032" cy="256032"/>
          </a:xfrm>
          <a:prstGeom prst="ellipse">
            <a:avLst/>
          </a:prstGeom>
          <a:solidFill>
            <a:srgbClr val="FFFFFF"/>
          </a:solidFill>
          <a:ln w="15875">
            <a:solidFill>
              <a:srgbClr val="C9D5D2"/>
            </a:solidFill>
            <a:prstDash val="solid"/>
          </a:ln>
        </p:spPr>
      </p:sp>
      <p:sp>
        <p:nvSpPr>
          <p:cNvPr id="37" name="Shape 35"/>
          <p:cNvSpPr/>
          <p:nvPr/>
        </p:nvSpPr>
        <p:spPr>
          <a:xfrm>
            <a:off x="3154680" y="1600200"/>
            <a:ext cx="5696712" cy="3017520"/>
          </a:xfrm>
          <a:prstGeom prst="roundRect">
            <a:avLst>
              <a:gd name="adj" fmla="val 4242"/>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38" name="Shape 36"/>
          <p:cNvSpPr/>
          <p:nvPr/>
        </p:nvSpPr>
        <p:spPr>
          <a:xfrm>
            <a:off x="3429000" y="1810512"/>
            <a:ext cx="2240280" cy="384048"/>
          </a:xfrm>
          <a:prstGeom prst="roundRect">
            <a:avLst>
              <a:gd name="adj" fmla="val 50000"/>
            </a:avLst>
          </a:prstGeom>
          <a:solidFill>
            <a:srgbClr val="3F6E8C"/>
          </a:solidFill>
          <a:ln w="12700">
            <a:solidFill>
              <a:srgbClr val="3F6E8C"/>
            </a:solidFill>
            <a:prstDash val="solid"/>
          </a:ln>
        </p:spPr>
      </p:sp>
      <p:pic>
        <p:nvPicPr>
          <p:cNvPr id="39" name="Image 0" descr="preencoded.png">    </p:cNvPr>
          <p:cNvPicPr>
            <a:picLocks noChangeAspect="1"/>
          </p:cNvPicPr>
          <p:nvPr/>
        </p:nvPicPr>
        <p:blipFill>
          <a:blip r:embed="rId1"/>
          <a:stretch>
            <a:fillRect/>
          </a:stretch>
        </p:blipFill>
        <p:spPr>
          <a:xfrm>
            <a:off x="3547872" y="1874520"/>
            <a:ext cx="246888" cy="246888"/>
          </a:xfrm>
          <a:prstGeom prst="rect">
            <a:avLst/>
          </a:prstGeom>
        </p:spPr>
      </p:pic>
      <p:sp>
        <p:nvSpPr>
          <p:cNvPr id="40" name="Text 37"/>
          <p:cNvSpPr txBox="1"/>
          <p:nvPr/>
        </p:nvSpPr>
        <p:spPr>
          <a:xfrm>
            <a:off x="3867912" y="1810512"/>
            <a:ext cx="1783080" cy="38404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T+3h  |  12:35 PM</a:t>
            </a:r>
            <a:endParaRPr lang="en-US" sz="1300" dirty="0"/>
          </a:p>
        </p:txBody>
      </p:sp>
      <p:sp>
        <p:nvSpPr>
          <p:cNvPr id="41" name="Text 38"/>
          <p:cNvSpPr txBox="1"/>
          <p:nvPr/>
        </p:nvSpPr>
        <p:spPr>
          <a:xfrm>
            <a:off x="3429000" y="2286000"/>
            <a:ext cx="2743200" cy="256032"/>
          </a:xfrm>
          <a:prstGeom prst="rect">
            <a:avLst/>
          </a:prstGeom>
          <a:noFill/>
          <a:ln/>
        </p:spPr>
        <p:txBody>
          <a:bodyPr wrap="square" lIns="0" tIns="0" rIns="0" bIns="0" rtlCol="0" anchor="t"/>
          <a:lstStyle/>
          <a:p>
            <a:pPr indent="0" marL="0">
              <a:buNone/>
            </a:pPr>
            <a:r>
              <a:rPr lang="en-US" sz="1200" b="1" dirty="0">
                <a:solidFill>
                  <a:srgbClr val="465A69"/>
                </a:solidFill>
                <a:latin typeface="Calibri" pitchFamily="34" charset="0"/>
                <a:ea typeface="Calibri" pitchFamily="34" charset="-122"/>
                <a:cs typeface="Calibri" pitchFamily="34" charset="-120"/>
              </a:rPr>
              <a:t>New information</a:t>
            </a:r>
            <a:endParaRPr lang="en-US" sz="1200" dirty="0"/>
          </a:p>
        </p:txBody>
      </p:sp>
      <p:sp>
        <p:nvSpPr>
          <p:cNvPr id="42" name="Text 39"/>
          <p:cNvSpPr txBox="1"/>
          <p:nvPr/>
        </p:nvSpPr>
        <p:spPr>
          <a:xfrm>
            <a:off x="3429000" y="2560320"/>
            <a:ext cx="5166360" cy="1965960"/>
          </a:xfrm>
          <a:prstGeom prst="rect">
            <a:avLst/>
          </a:prstGeom>
          <a:noFill/>
          <a:ln/>
        </p:spPr>
        <p:txBody>
          <a:bodyPr wrap="square" lIns="0" tIns="0" rIns="0" bIns="0" rtlCol="0" anchor="t"/>
          <a:lstStyle/>
          <a:p>
            <a:pPr indent="0" marL="0">
              <a:buNone/>
            </a:pPr>
            <a:r>
              <a:rPr lang="en-US" sz="1600" dirty="0">
                <a:solidFill>
                  <a:srgbClr val="1E2E3A"/>
                </a:solidFill>
                <a:latin typeface="Calibri" pitchFamily="34" charset="0"/>
                <a:ea typeface="Calibri" pitchFamily="34" charset="-122"/>
                <a:cs typeface="Calibri" pitchFamily="34" charset="-120"/>
              </a:rPr>
              <a:t>Several employees receive a Microsoft prompt asking them to grant an app called WorkSync access to their mail and SharePoint files. At least one person may have accepted.</a:t>
            </a:r>
            <a:endParaRPr lang="en-US" sz="1600" dirty="0"/>
          </a:p>
        </p:txBody>
      </p:sp>
      <p:sp>
        <p:nvSpPr>
          <p:cNvPr id="43" name="Shape 40"/>
          <p:cNvSpPr/>
          <p:nvPr/>
        </p:nvSpPr>
        <p:spPr>
          <a:xfrm>
            <a:off x="3154680" y="4800600"/>
            <a:ext cx="5696712" cy="1371600"/>
          </a:xfrm>
          <a:prstGeom prst="roundRect">
            <a:avLst>
              <a:gd name="adj" fmla="val 9333"/>
            </a:avLst>
          </a:prstGeom>
          <a:solidFill>
            <a:srgbClr val="F1F6FA"/>
          </a:solidFill>
          <a:ln w="12700">
            <a:solidFill>
              <a:srgbClr val="F1F6FA"/>
            </a:solidFill>
            <a:prstDash val="solid"/>
          </a:ln>
          <a:effectLst>
            <a:outerShdw sx="100000" sy="100000" kx="0" ky="0" algn="bl" rotWithShape="0" blurRad="177800" dist="50800" dir="5400000">
              <a:srgbClr val="1B4965">
                <a:alpha val="16000"/>
              </a:srgbClr>
            </a:outerShdw>
          </a:effectLst>
        </p:spPr>
      </p:sp>
      <p:sp>
        <p:nvSpPr>
          <p:cNvPr id="44" name="Text 41"/>
          <p:cNvSpPr txBox="1"/>
          <p:nvPr/>
        </p:nvSpPr>
        <p:spPr>
          <a:xfrm>
            <a:off x="3429000" y="4901184"/>
            <a:ext cx="2743200" cy="256032"/>
          </a:xfrm>
          <a:prstGeom prst="rect">
            <a:avLst/>
          </a:prstGeom>
          <a:noFill/>
          <a:ln/>
        </p:spPr>
        <p:txBody>
          <a:bodyPr wrap="square" lIns="0" tIns="0" rIns="0" bIns="0" rtlCol="0" anchor="t"/>
          <a:lstStyle/>
          <a:p>
            <a:pPr indent="0" marL="0">
              <a:buNone/>
            </a:pPr>
            <a:r>
              <a:rPr lang="en-US" sz="1300" b="1" dirty="0">
                <a:solidFill>
                  <a:srgbClr val="3F6E8C"/>
                </a:solidFill>
                <a:latin typeface="Calibri" pitchFamily="34" charset="0"/>
                <a:ea typeface="Calibri" pitchFamily="34" charset="-122"/>
                <a:cs typeface="Calibri" pitchFamily="34" charset="-120"/>
              </a:rPr>
              <a:t>Decide</a:t>
            </a:r>
            <a:endParaRPr lang="en-US" sz="1300" dirty="0"/>
          </a:p>
        </p:txBody>
      </p:sp>
      <p:sp>
        <p:nvSpPr>
          <p:cNvPr id="45" name="Text 42"/>
          <p:cNvSpPr txBox="1"/>
          <p:nvPr/>
        </p:nvSpPr>
        <p:spPr>
          <a:xfrm>
            <a:off x="3429000" y="5175504"/>
            <a:ext cx="5166360" cy="914400"/>
          </a:xfrm>
          <a:prstGeom prst="rect">
            <a:avLst/>
          </a:prstGeom>
          <a:noFill/>
          <a:ln/>
        </p:spPr>
        <p:txBody>
          <a:bodyPr wrap="square" lIns="0" tIns="0" rIns="0" bIns="0" rtlCol="0" anchor="t"/>
          <a:lstStyle/>
          <a:p>
            <a:pPr indent="0" marL="0">
              <a:buNone/>
            </a:pPr>
            <a:r>
              <a:rPr lang="en-US" sz="1600" b="1" dirty="0">
                <a:solidFill>
                  <a:srgbClr val="1E2E3A"/>
                </a:solidFill>
                <a:latin typeface="Calibri" pitchFamily="34" charset="0"/>
                <a:ea typeface="Calibri" pitchFamily="34" charset="-122"/>
                <a:cs typeface="Calibri" pitchFamily="34" charset="-120"/>
              </a:rPr>
              <a:t>Do you block all OAuth app consents? How do you find grants that were already made?</a:t>
            </a:r>
            <a:endParaRPr lang="en-US" sz="1600" dirty="0"/>
          </a:p>
        </p:txBody>
      </p:sp>
      <p:sp>
        <p:nvSpPr>
          <p:cNvPr id="46" name="Shape 43"/>
          <p:cNvSpPr/>
          <p:nvPr/>
        </p:nvSpPr>
        <p:spPr>
          <a:xfrm>
            <a:off x="9079992" y="1600200"/>
            <a:ext cx="2560320" cy="4572000"/>
          </a:xfrm>
          <a:prstGeom prst="roundRect">
            <a:avLst>
              <a:gd name="adj" fmla="val 5000"/>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47" name="Text 44"/>
          <p:cNvSpPr txBox="1"/>
          <p:nvPr/>
        </p:nvSpPr>
        <p:spPr>
          <a:xfrm>
            <a:off x="9262872" y="1728216"/>
            <a:ext cx="2194560" cy="457200"/>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OAuth consent attempt (simulated)</a:t>
            </a:r>
            <a:endParaRPr lang="en-US" sz="1300" dirty="0"/>
          </a:p>
        </p:txBody>
      </p:sp>
      <p:sp>
        <p:nvSpPr>
          <p:cNvPr id="48" name="Shape 45"/>
          <p:cNvSpPr/>
          <p:nvPr/>
        </p:nvSpPr>
        <p:spPr>
          <a:xfrm>
            <a:off x="9262872" y="2221992"/>
            <a:ext cx="2194560" cy="3767328"/>
          </a:xfrm>
          <a:prstGeom prst="roundRect">
            <a:avLst>
              <a:gd name="adj" fmla="val 3333"/>
            </a:avLst>
          </a:prstGeom>
          <a:solidFill>
            <a:srgbClr val="FFFFFF"/>
          </a:solidFill>
          <a:ln w="9525">
            <a:solidFill>
              <a:srgbClr val="C9D3DE"/>
            </a:solidFill>
            <a:prstDash val="solid"/>
          </a:ln>
        </p:spPr>
      </p:sp>
      <p:sp>
        <p:nvSpPr>
          <p:cNvPr id="49" name="Shape 46"/>
          <p:cNvSpPr/>
          <p:nvPr/>
        </p:nvSpPr>
        <p:spPr>
          <a:xfrm>
            <a:off x="9381744" y="2432304"/>
            <a:ext cx="109728" cy="109728"/>
          </a:xfrm>
          <a:prstGeom prst="rect">
            <a:avLst/>
          </a:prstGeom>
          <a:solidFill>
            <a:srgbClr val="D99A8A"/>
          </a:solidFill>
          <a:ln w="12700">
            <a:solidFill>
              <a:srgbClr val="D99A8A"/>
            </a:solidFill>
            <a:prstDash val="solid"/>
          </a:ln>
        </p:spPr>
      </p:sp>
      <p:sp>
        <p:nvSpPr>
          <p:cNvPr id="50" name="Shape 47"/>
          <p:cNvSpPr/>
          <p:nvPr/>
        </p:nvSpPr>
        <p:spPr>
          <a:xfrm>
            <a:off x="9500616" y="2432304"/>
            <a:ext cx="109728" cy="109728"/>
          </a:xfrm>
          <a:prstGeom prst="rect">
            <a:avLst/>
          </a:prstGeom>
          <a:solidFill>
            <a:srgbClr val="A9C38A"/>
          </a:solidFill>
          <a:ln w="12700">
            <a:solidFill>
              <a:srgbClr val="A9C38A"/>
            </a:solidFill>
            <a:prstDash val="solid"/>
          </a:ln>
        </p:spPr>
      </p:sp>
      <p:sp>
        <p:nvSpPr>
          <p:cNvPr id="51" name="Shape 48"/>
          <p:cNvSpPr/>
          <p:nvPr/>
        </p:nvSpPr>
        <p:spPr>
          <a:xfrm>
            <a:off x="9381744" y="2551176"/>
            <a:ext cx="109728" cy="109728"/>
          </a:xfrm>
          <a:prstGeom prst="rect">
            <a:avLst/>
          </a:prstGeom>
          <a:solidFill>
            <a:srgbClr val="8FBCD6"/>
          </a:solidFill>
          <a:ln w="12700">
            <a:solidFill>
              <a:srgbClr val="8FBCD6"/>
            </a:solidFill>
            <a:prstDash val="solid"/>
          </a:ln>
        </p:spPr>
      </p:sp>
      <p:sp>
        <p:nvSpPr>
          <p:cNvPr id="52" name="Shape 49"/>
          <p:cNvSpPr/>
          <p:nvPr/>
        </p:nvSpPr>
        <p:spPr>
          <a:xfrm>
            <a:off x="9500616" y="2551176"/>
            <a:ext cx="109728" cy="109728"/>
          </a:xfrm>
          <a:prstGeom prst="rect">
            <a:avLst/>
          </a:prstGeom>
          <a:solidFill>
            <a:srgbClr val="E0C58A"/>
          </a:solidFill>
          <a:ln w="12700">
            <a:solidFill>
              <a:srgbClr val="E0C58A"/>
            </a:solidFill>
            <a:prstDash val="solid"/>
          </a:ln>
        </p:spPr>
      </p:sp>
      <p:sp>
        <p:nvSpPr>
          <p:cNvPr id="53" name="Text 50"/>
          <p:cNvSpPr txBox="1"/>
          <p:nvPr/>
        </p:nvSpPr>
        <p:spPr>
          <a:xfrm>
            <a:off x="9729216" y="2386584"/>
            <a:ext cx="1591056" cy="292608"/>
          </a:xfrm>
          <a:prstGeom prst="rect">
            <a:avLst/>
          </a:prstGeom>
          <a:noFill/>
          <a:ln/>
        </p:spPr>
        <p:txBody>
          <a:bodyPr wrap="square" lIns="0" tIns="0" rIns="0" bIns="0" rtlCol="0" anchor="ctr"/>
          <a:lstStyle/>
          <a:p>
            <a:pPr indent="0" marL="0">
              <a:buNone/>
            </a:pPr>
            <a:r>
              <a:rPr lang="en-US" sz="1600" dirty="0">
                <a:solidFill>
                  <a:srgbClr val="3C3C3C"/>
                </a:solidFill>
                <a:latin typeface="Calibri" pitchFamily="34" charset="0"/>
                <a:ea typeface="Calibri" pitchFamily="34" charset="-122"/>
                <a:cs typeface="Calibri" pitchFamily="34" charset="-120"/>
              </a:rPr>
              <a:t>Microsoft</a:t>
            </a:r>
            <a:endParaRPr lang="en-US" sz="1600" dirty="0"/>
          </a:p>
        </p:txBody>
      </p:sp>
      <p:sp>
        <p:nvSpPr>
          <p:cNvPr id="54" name="Text 51"/>
          <p:cNvSpPr txBox="1"/>
          <p:nvPr/>
        </p:nvSpPr>
        <p:spPr>
          <a:xfrm>
            <a:off x="9381744" y="2770632"/>
            <a:ext cx="1956816" cy="664083"/>
          </a:xfrm>
          <a:prstGeom prst="rect">
            <a:avLst/>
          </a:prstGeom>
          <a:noFill/>
          <a:ln/>
        </p:spPr>
        <p:txBody>
          <a:bodyPr wrap="square" lIns="0" tIns="0" rIns="0" bIns="0" rtlCol="0" anchor="t"/>
          <a:lstStyle/>
          <a:p>
            <a:pPr indent="0" marL="0">
              <a:buNone/>
            </a:pPr>
            <a:r>
              <a:rPr lang="en-US" sz="1350" b="1" dirty="0">
                <a:solidFill>
                  <a:srgbClr val="1B2A4A"/>
                </a:solidFill>
                <a:latin typeface="Calibri" pitchFamily="34" charset="0"/>
                <a:ea typeface="Calibri" pitchFamily="34" charset="-122"/>
                <a:cs typeface="Calibri" pitchFamily="34" charset="-120"/>
              </a:rPr>
              <a:t>An app is requesting access to your organization</a:t>
            </a:r>
            <a:endParaRPr lang="en-US" sz="1350" dirty="0"/>
          </a:p>
        </p:txBody>
      </p:sp>
      <p:sp>
        <p:nvSpPr>
          <p:cNvPr id="55" name="Text 52"/>
          <p:cNvSpPr txBox="1"/>
          <p:nvPr/>
        </p:nvSpPr>
        <p:spPr>
          <a:xfrm>
            <a:off x="9381744" y="3471291"/>
            <a:ext cx="1956816" cy="402844"/>
          </a:xfrm>
          <a:prstGeom prst="rect">
            <a:avLst/>
          </a:prstGeom>
          <a:noFill/>
          <a:ln/>
        </p:spPr>
        <p:txBody>
          <a:bodyPr wrap="square" lIns="0" tIns="0" rIns="0" bIns="0" rtlCol="0" anchor="t"/>
          <a:lstStyle/>
          <a:p>
            <a:pPr indent="0" marL="0">
              <a:buNone/>
            </a:pPr>
            <a:r>
              <a:rPr lang="en-US" sz="1300" dirty="0">
                <a:solidFill>
                  <a:srgbClr val="1E2E3A"/>
                </a:solidFill>
                <a:latin typeface="Calibri" pitchFamily="34" charset="0"/>
                <a:ea typeface="Calibri" pitchFamily="34" charset="-122"/>
                <a:cs typeface="Calibri" pitchFamily="34" charset="-120"/>
              </a:rPr>
              <a:t>App: WorkSync (worksync-app.com)</a:t>
            </a:r>
            <a:endParaRPr lang="en-US" sz="1300" dirty="0"/>
          </a:p>
        </p:txBody>
      </p:sp>
      <p:sp>
        <p:nvSpPr>
          <p:cNvPr id="56" name="Text 53"/>
          <p:cNvSpPr txBox="1"/>
          <p:nvPr/>
        </p:nvSpPr>
        <p:spPr>
          <a:xfrm>
            <a:off x="9381744" y="3965575"/>
            <a:ext cx="1956816" cy="402844"/>
          </a:xfrm>
          <a:prstGeom prst="rect">
            <a:avLst/>
          </a:prstGeom>
          <a:noFill/>
          <a:ln/>
        </p:spPr>
        <p:txBody>
          <a:bodyPr wrap="square" lIns="0" tIns="0" rIns="0" bIns="0" rtlCol="0" anchor="t"/>
          <a:lstStyle/>
          <a:p>
            <a:pPr indent="0" marL="0">
              <a:buNone/>
            </a:pPr>
            <a:r>
              <a:rPr lang="en-US" sz="1300" b="1" dirty="0">
                <a:solidFill>
                  <a:srgbClr val="1B2A4A"/>
                </a:solidFill>
                <a:latin typeface="Calibri" pitchFamily="34" charset="0"/>
                <a:ea typeface="Calibri" pitchFamily="34" charset="-122"/>
                <a:cs typeface="Calibri" pitchFamily="34" charset="-120"/>
              </a:rPr>
              <a:t>Permissions requested:</a:t>
            </a:r>
            <a:endParaRPr lang="en-US" sz="1300" dirty="0"/>
          </a:p>
        </p:txBody>
      </p:sp>
      <p:sp>
        <p:nvSpPr>
          <p:cNvPr id="57" name="Text 54"/>
          <p:cNvSpPr txBox="1"/>
          <p:nvPr/>
        </p:nvSpPr>
        <p:spPr>
          <a:xfrm>
            <a:off x="9381744" y="4404995"/>
            <a:ext cx="1956816" cy="933704"/>
          </a:xfrm>
          <a:prstGeom prst="rect">
            <a:avLst/>
          </a:prstGeom>
          <a:noFill/>
          <a:ln/>
        </p:spPr>
        <p:txBody>
          <a:bodyPr wrap="square" lIns="0" tIns="0" rIns="0" bIns="0" rtlCol="0" anchor="t"/>
          <a:lstStyle/>
          <a:p>
            <a:pPr marL="165100" indent="-165100">
              <a:spcAft>
                <a:spcPts val="200"/>
              </a:spcAft>
              <a:buSzPct val="100000"/>
              <a:buChar char="•"/>
            </a:pPr>
            <a:r>
              <a:rPr lang="en-US" sz="1300" dirty="0">
                <a:solidFill>
                  <a:srgbClr val="1E2E3A"/>
                </a:solidFill>
                <a:latin typeface="Calibri" pitchFamily="34" charset="0"/>
                <a:ea typeface="Calibri" pitchFamily="34" charset="-122"/>
                <a:cs typeface="Calibri" pitchFamily="34" charset="-120"/>
              </a:rPr>
              <a:t>Read and write mail</a:t>
            </a:r>
            <a:endParaRPr lang="en-US" sz="1300" dirty="0"/>
          </a:p>
          <a:p>
            <a:pPr marL="165100" indent="-165100">
              <a:spcAft>
                <a:spcPts val="200"/>
              </a:spcAft>
              <a:buSzPct val="100000"/>
              <a:buChar char="•"/>
            </a:pPr>
            <a:r>
              <a:rPr lang="en-US" sz="1300" dirty="0">
                <a:solidFill>
                  <a:srgbClr val="1E2E3A"/>
                </a:solidFill>
                <a:latin typeface="Calibri" pitchFamily="34" charset="0"/>
                <a:ea typeface="Calibri" pitchFamily="34" charset="-122"/>
                <a:cs typeface="Calibri" pitchFamily="34" charset="-120"/>
              </a:rPr>
              <a:t>Access files in SharePoint</a:t>
            </a:r>
            <a:endParaRPr lang="en-US" sz="1300" dirty="0"/>
          </a:p>
          <a:p>
            <a:pPr marL="165100" indent="-165100">
              <a:spcAft>
                <a:spcPts val="200"/>
              </a:spcAft>
              <a:buSzPct val="100000"/>
              <a:buChar char="•"/>
            </a:pPr>
            <a:r>
              <a:rPr lang="en-US" sz="1300" dirty="0">
                <a:solidFill>
                  <a:srgbClr val="1E2E3A"/>
                </a:solidFill>
                <a:latin typeface="Calibri" pitchFamily="34" charset="0"/>
                <a:ea typeface="Calibri" pitchFamily="34" charset="-122"/>
                <a:cs typeface="Calibri" pitchFamily="34" charset="-120"/>
              </a:rPr>
              <a:t>Read user profiles</a:t>
            </a:r>
            <a:endParaRPr lang="en-US" sz="1300" dirty="0"/>
          </a:p>
        </p:txBody>
      </p:sp>
      <p:sp>
        <p:nvSpPr>
          <p:cNvPr id="58" name="Shape 55"/>
          <p:cNvSpPr/>
          <p:nvPr/>
        </p:nvSpPr>
        <p:spPr>
          <a:xfrm>
            <a:off x="9390888" y="5420995"/>
            <a:ext cx="1938528" cy="292608"/>
          </a:xfrm>
          <a:prstGeom prst="roundRect">
            <a:avLst>
              <a:gd name="adj" fmla="val 15625"/>
            </a:avLst>
          </a:prstGeom>
          <a:solidFill>
            <a:srgbClr val="FFFFFF"/>
          </a:solidFill>
          <a:ln w="9525">
            <a:solidFill>
              <a:srgbClr val="5E86A8"/>
            </a:solidFill>
            <a:prstDash val="solid"/>
          </a:ln>
        </p:spPr>
      </p:sp>
      <p:sp>
        <p:nvSpPr>
          <p:cNvPr id="59" name="Text 56"/>
          <p:cNvSpPr txBox="1"/>
          <p:nvPr/>
        </p:nvSpPr>
        <p:spPr>
          <a:xfrm>
            <a:off x="9390888" y="5420995"/>
            <a:ext cx="1938528" cy="292608"/>
          </a:xfrm>
          <a:prstGeom prst="rect">
            <a:avLst/>
          </a:prstGeom>
          <a:noFill/>
          <a:ln/>
        </p:spPr>
        <p:txBody>
          <a:bodyPr wrap="square" lIns="0" tIns="0" rIns="0" bIns="0" rtlCol="0" anchor="ctr"/>
          <a:lstStyle/>
          <a:p>
            <a:pPr algn="ctr" indent="0" marL="0">
              <a:buNone/>
            </a:pPr>
            <a:r>
              <a:rPr lang="en-US" sz="1250" dirty="0">
                <a:solidFill>
                  <a:srgbClr val="5E86A8"/>
                </a:solidFill>
                <a:latin typeface="Calibri" pitchFamily="34" charset="0"/>
                <a:ea typeface="Calibri" pitchFamily="34" charset="-122"/>
                <a:cs typeface="Calibri" pitchFamily="34" charset="-120"/>
              </a:rPr>
              <a:t>Review permissions</a:t>
            </a:r>
            <a:endParaRPr lang="en-US" sz="1250" dirty="0"/>
          </a:p>
        </p:txBody>
      </p:sp>
      <p:sp>
        <p:nvSpPr>
          <p:cNvPr id="60" name="Text 57"/>
          <p:cNvSpPr txBox="1"/>
          <p:nvPr/>
        </p:nvSpPr>
        <p:spPr>
          <a:xfrm>
            <a:off x="548640" y="6254496"/>
            <a:ext cx="11091672" cy="256032"/>
          </a:xfrm>
          <a:prstGeom prst="rect">
            <a:avLst/>
          </a:prstGeom>
          <a:noFill/>
          <a:ln/>
        </p:spPr>
        <p:txBody>
          <a:bodyPr wrap="square" lIns="0" tIns="0" rIns="0" bIns="0" rtlCol="0" anchor="ctr"/>
          <a:lstStyle/>
          <a:p>
            <a:pPr indent="0" marL="0">
              <a:buNone/>
            </a:pPr>
            <a:r>
              <a:rPr lang="en-US" sz="1200" b="1" dirty="0">
                <a:solidFill>
                  <a:srgbClr val="465A69"/>
                </a:solidFill>
                <a:latin typeface="Calibri" pitchFamily="34" charset="0"/>
                <a:ea typeface="Calibri" pitchFamily="34" charset="-122"/>
                <a:cs typeface="Calibri" pitchFamily="34" charset="-120"/>
              </a:rPr>
              <a:t>Acronyms:  </a:t>
            </a:r>
            <a:pPr indent="0" marL="0">
              <a:buNone/>
            </a:pPr>
            <a:r>
              <a:rPr lang="en-US" sz="1200" dirty="0">
                <a:solidFill>
                  <a:srgbClr val="465A69"/>
                </a:solidFill>
                <a:latin typeface="Calibri" pitchFamily="34" charset="0"/>
                <a:ea typeface="Calibri" pitchFamily="34" charset="-122"/>
                <a:cs typeface="Calibri" pitchFamily="34" charset="-120"/>
              </a:rPr>
              <a:t>T+: time since the first signal;  OAuth: Open Authorization</a:t>
            </a:r>
            <a:endParaRPr lang="en-US" sz="1200" dirty="0"/>
          </a:p>
        </p:txBody>
      </p:sp>
      <p:sp>
        <p:nvSpPr>
          <p:cNvPr id="61" name="Shape 58"/>
          <p:cNvSpPr/>
          <p:nvPr/>
        </p:nvSpPr>
        <p:spPr>
          <a:xfrm>
            <a:off x="548640" y="6537960"/>
            <a:ext cx="763524" cy="274320"/>
          </a:xfrm>
          <a:prstGeom prst="roundRect">
            <a:avLst>
              <a:gd name="adj" fmla="val 50000"/>
            </a:avLst>
          </a:prstGeom>
          <a:solidFill>
            <a:srgbClr val="E4ECF2"/>
          </a:solidFill>
          <a:ln w="12700">
            <a:solidFill>
              <a:srgbClr val="E4ECF2"/>
            </a:solidFill>
            <a:prstDash val="solid"/>
          </a:ln>
        </p:spPr>
      </p:sp>
      <p:sp>
        <p:nvSpPr>
          <p:cNvPr id="62" name="Text 59"/>
          <p:cNvSpPr txBox="1"/>
          <p:nvPr/>
        </p:nvSpPr>
        <p:spPr>
          <a:xfrm>
            <a:off x="548640" y="6537960"/>
            <a:ext cx="763524" cy="274320"/>
          </a:xfrm>
          <a:prstGeom prst="rect">
            <a:avLst/>
          </a:prstGeom>
          <a:noFill/>
          <a:ln/>
        </p:spPr>
        <p:txBody>
          <a:bodyPr wrap="square" lIns="0" tIns="0" rIns="0" bIns="0" rtlCol="0" anchor="ctr"/>
          <a:lstStyle/>
          <a:p>
            <a:pPr algn="ctr" indent="0" marL="0">
              <a:buNone/>
            </a:pPr>
            <a:r>
              <a:rPr lang="en-US" sz="1200" b="1" dirty="0">
                <a:solidFill>
                  <a:srgbClr val="23405A"/>
                </a:solidFill>
                <a:latin typeface="Calibri" pitchFamily="34" charset="0"/>
                <a:ea typeface="Calibri" pitchFamily="34" charset="-122"/>
                <a:cs typeface="Calibri" pitchFamily="34" charset="-120"/>
              </a:rPr>
              <a:t>Start</a:t>
            </a:r>
            <a:endParaRPr lang="en-US" sz="1200" dirty="0"/>
          </a:p>
        </p:txBody>
      </p:sp>
      <p:pic>
        <p:nvPicPr>
          <p:cNvPr id="63" name="Image 1" descr="preencoded.png">
            <a:hlinkClick r:id="rId3" tooltip="Go to Start" action="ppaction://hlinksldjump"/>
          </p:cNvPr>
          <p:cNvPicPr>
            <a:picLocks noChangeAspect="1"/>
          </p:cNvPicPr>
          <p:nvPr/>
        </p:nvPicPr>
        <p:blipFill>
          <a:blip r:embed="rId2"/>
          <a:stretch>
            <a:fillRect/>
          </a:stretch>
        </p:blipFill>
        <p:spPr>
          <a:xfrm>
            <a:off x="548640" y="6537960"/>
            <a:ext cx="763524" cy="274320"/>
          </a:xfrm>
          <a:prstGeom prst="rect">
            <a:avLst/>
          </a:prstGeom>
        </p:spPr>
      </p:pic>
      <p:sp>
        <p:nvSpPr>
          <p:cNvPr id="64" name="Shape 60"/>
          <p:cNvSpPr/>
          <p:nvPr/>
        </p:nvSpPr>
        <p:spPr>
          <a:xfrm>
            <a:off x="1385316" y="6537960"/>
            <a:ext cx="1197864" cy="274320"/>
          </a:xfrm>
          <a:prstGeom prst="roundRect">
            <a:avLst>
              <a:gd name="adj" fmla="val 50000"/>
            </a:avLst>
          </a:prstGeom>
          <a:solidFill>
            <a:srgbClr val="3F6E8C"/>
          </a:solidFill>
          <a:ln w="12700">
            <a:solidFill>
              <a:srgbClr val="3F6E8C"/>
            </a:solidFill>
            <a:prstDash val="solid"/>
          </a:ln>
        </p:spPr>
      </p:sp>
      <p:sp>
        <p:nvSpPr>
          <p:cNvPr id="65" name="Text 61"/>
          <p:cNvSpPr txBox="1"/>
          <p:nvPr/>
        </p:nvSpPr>
        <p:spPr>
          <a:xfrm>
            <a:off x="1385316" y="6537960"/>
            <a:ext cx="1197864"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Scenario 1</a:t>
            </a:r>
            <a:endParaRPr lang="en-US" sz="1200" dirty="0"/>
          </a:p>
        </p:txBody>
      </p:sp>
      <p:pic>
        <p:nvPicPr>
          <p:cNvPr id="66" name="Image 2" descr="preencoded.png">
            <a:hlinkClick r:id="rId5" tooltip="Go to Scenario 1" action="ppaction://hlinksldjump"/>
          </p:cNvPr>
          <p:cNvPicPr>
            <a:picLocks noChangeAspect="1"/>
          </p:cNvPicPr>
          <p:nvPr/>
        </p:nvPicPr>
        <p:blipFill>
          <a:blip r:embed="rId4"/>
          <a:stretch>
            <a:fillRect/>
          </a:stretch>
        </p:blipFill>
        <p:spPr>
          <a:xfrm>
            <a:off x="1385316" y="6537960"/>
            <a:ext cx="1197864" cy="274320"/>
          </a:xfrm>
          <a:prstGeom prst="rect">
            <a:avLst/>
          </a:prstGeom>
        </p:spPr>
      </p:pic>
      <p:sp>
        <p:nvSpPr>
          <p:cNvPr id="67" name="Shape 62"/>
          <p:cNvSpPr/>
          <p:nvPr/>
        </p:nvSpPr>
        <p:spPr>
          <a:xfrm>
            <a:off x="2656332" y="6537960"/>
            <a:ext cx="1197864" cy="274320"/>
          </a:xfrm>
          <a:prstGeom prst="roundRect">
            <a:avLst>
              <a:gd name="adj" fmla="val 50000"/>
            </a:avLst>
          </a:prstGeom>
          <a:solidFill>
            <a:srgbClr val="F1F8F3"/>
          </a:solidFill>
          <a:ln w="12700">
            <a:solidFill>
              <a:srgbClr val="F1F8F3"/>
            </a:solidFill>
            <a:prstDash val="solid"/>
          </a:ln>
        </p:spPr>
      </p:sp>
      <p:sp>
        <p:nvSpPr>
          <p:cNvPr id="68" name="Text 63"/>
          <p:cNvSpPr txBox="1"/>
          <p:nvPr/>
        </p:nvSpPr>
        <p:spPr>
          <a:xfrm>
            <a:off x="2656332" y="6537960"/>
            <a:ext cx="1197864" cy="274320"/>
          </a:xfrm>
          <a:prstGeom prst="rect">
            <a:avLst/>
          </a:prstGeom>
          <a:noFill/>
          <a:ln/>
        </p:spPr>
        <p:txBody>
          <a:bodyPr wrap="square" lIns="0" tIns="0" rIns="0" bIns="0" rtlCol="0" anchor="ctr"/>
          <a:lstStyle/>
          <a:p>
            <a:pPr algn="ctr" indent="0" marL="0">
              <a:buNone/>
            </a:pPr>
            <a:r>
              <a:rPr lang="en-US" sz="1200" b="1" dirty="0">
                <a:solidFill>
                  <a:srgbClr val="4C8068"/>
                </a:solidFill>
                <a:latin typeface="Calibri" pitchFamily="34" charset="0"/>
                <a:ea typeface="Calibri" pitchFamily="34" charset="-122"/>
                <a:cs typeface="Calibri" pitchFamily="34" charset="-120"/>
              </a:rPr>
              <a:t>Scenario 2</a:t>
            </a:r>
            <a:endParaRPr lang="en-US" sz="1200" dirty="0"/>
          </a:p>
        </p:txBody>
      </p:sp>
      <p:pic>
        <p:nvPicPr>
          <p:cNvPr id="69" name="Image 3" descr="preencoded.png">
            <a:hlinkClick r:id="rId7" tooltip="Go to Scenario 2" action="ppaction://hlinksldjump"/>
          </p:cNvPr>
          <p:cNvPicPr>
            <a:picLocks noChangeAspect="1"/>
          </p:cNvPicPr>
          <p:nvPr/>
        </p:nvPicPr>
        <p:blipFill>
          <a:blip r:embed="rId6"/>
          <a:stretch>
            <a:fillRect/>
          </a:stretch>
        </p:blipFill>
        <p:spPr>
          <a:xfrm>
            <a:off x="2656332" y="6537960"/>
            <a:ext cx="1197864" cy="274320"/>
          </a:xfrm>
          <a:prstGeom prst="rect">
            <a:avLst/>
          </a:prstGeom>
        </p:spPr>
      </p:pic>
      <p:sp>
        <p:nvSpPr>
          <p:cNvPr id="70" name="Shape 64"/>
          <p:cNvSpPr/>
          <p:nvPr/>
        </p:nvSpPr>
        <p:spPr>
          <a:xfrm>
            <a:off x="3927348" y="6537960"/>
            <a:ext cx="1197864" cy="274320"/>
          </a:xfrm>
          <a:prstGeom prst="roundRect">
            <a:avLst>
              <a:gd name="adj" fmla="val 50000"/>
            </a:avLst>
          </a:prstGeom>
          <a:solidFill>
            <a:srgbClr val="F6F3FA"/>
          </a:solidFill>
          <a:ln w="12700">
            <a:solidFill>
              <a:srgbClr val="F6F3FA"/>
            </a:solidFill>
            <a:prstDash val="solid"/>
          </a:ln>
        </p:spPr>
      </p:sp>
      <p:sp>
        <p:nvSpPr>
          <p:cNvPr id="71" name="Text 65"/>
          <p:cNvSpPr txBox="1"/>
          <p:nvPr/>
        </p:nvSpPr>
        <p:spPr>
          <a:xfrm>
            <a:off x="3927348" y="6537960"/>
            <a:ext cx="1197864" cy="274320"/>
          </a:xfrm>
          <a:prstGeom prst="rect">
            <a:avLst/>
          </a:prstGeom>
          <a:noFill/>
          <a:ln/>
        </p:spPr>
        <p:txBody>
          <a:bodyPr wrap="square" lIns="0" tIns="0" rIns="0" bIns="0" rtlCol="0" anchor="ctr"/>
          <a:lstStyle/>
          <a:p>
            <a:pPr algn="ctr" indent="0" marL="0">
              <a:buNone/>
            </a:pPr>
            <a:r>
              <a:rPr lang="en-US" sz="1200" b="1" dirty="0">
                <a:solidFill>
                  <a:srgbClr val="6E5E94"/>
                </a:solidFill>
                <a:latin typeface="Calibri" pitchFamily="34" charset="0"/>
                <a:ea typeface="Calibri" pitchFamily="34" charset="-122"/>
                <a:cs typeface="Calibri" pitchFamily="34" charset="-120"/>
              </a:rPr>
              <a:t>Scenario 3</a:t>
            </a:r>
            <a:endParaRPr lang="en-US" sz="1200" dirty="0"/>
          </a:p>
        </p:txBody>
      </p:sp>
      <p:pic>
        <p:nvPicPr>
          <p:cNvPr id="72" name="Image 4" descr="preencoded.png">
            <a:hlinkClick r:id="rId9" tooltip="Go to Scenario 3" action="ppaction://hlinksldjump"/>
          </p:cNvPr>
          <p:cNvPicPr>
            <a:picLocks noChangeAspect="1"/>
          </p:cNvPicPr>
          <p:nvPr/>
        </p:nvPicPr>
        <p:blipFill>
          <a:blip r:embed="rId8"/>
          <a:stretch>
            <a:fillRect/>
          </a:stretch>
        </p:blipFill>
        <p:spPr>
          <a:xfrm>
            <a:off x="3927348" y="6537960"/>
            <a:ext cx="1197864" cy="274320"/>
          </a:xfrm>
          <a:prstGeom prst="rect">
            <a:avLst/>
          </a:prstGeom>
        </p:spPr>
      </p:pic>
      <p:sp>
        <p:nvSpPr>
          <p:cNvPr id="73" name="Shape 66"/>
          <p:cNvSpPr/>
          <p:nvPr/>
        </p:nvSpPr>
        <p:spPr>
          <a:xfrm>
            <a:off x="5198364" y="6537960"/>
            <a:ext cx="937260" cy="274320"/>
          </a:xfrm>
          <a:prstGeom prst="roundRect">
            <a:avLst>
              <a:gd name="adj" fmla="val 50000"/>
            </a:avLst>
          </a:prstGeom>
          <a:solidFill>
            <a:srgbClr val="E4ECF2"/>
          </a:solidFill>
          <a:ln w="12700">
            <a:solidFill>
              <a:srgbClr val="E4ECF2"/>
            </a:solidFill>
            <a:prstDash val="solid"/>
          </a:ln>
        </p:spPr>
      </p:sp>
      <p:sp>
        <p:nvSpPr>
          <p:cNvPr id="74" name="Text 67"/>
          <p:cNvSpPr txBox="1"/>
          <p:nvPr/>
        </p:nvSpPr>
        <p:spPr>
          <a:xfrm>
            <a:off x="5198364" y="6537960"/>
            <a:ext cx="937260" cy="274320"/>
          </a:xfrm>
          <a:prstGeom prst="rect">
            <a:avLst/>
          </a:prstGeom>
          <a:noFill/>
          <a:ln/>
        </p:spPr>
        <p:txBody>
          <a:bodyPr wrap="square" lIns="0" tIns="0" rIns="0" bIns="0" rtlCol="0" anchor="ctr"/>
          <a:lstStyle/>
          <a:p>
            <a:pPr algn="ctr" indent="0" marL="0">
              <a:buNone/>
            </a:pPr>
            <a:r>
              <a:rPr lang="en-US" sz="1200" b="1" dirty="0">
                <a:solidFill>
                  <a:srgbClr val="23405A"/>
                </a:solidFill>
                <a:latin typeface="Calibri" pitchFamily="34" charset="0"/>
                <a:ea typeface="Calibri" pitchFamily="34" charset="-122"/>
                <a:cs typeface="Calibri" pitchFamily="34" charset="-120"/>
              </a:rPr>
              <a:t>Closing</a:t>
            </a:r>
            <a:endParaRPr lang="en-US" sz="1200" dirty="0"/>
          </a:p>
        </p:txBody>
      </p:sp>
      <p:pic>
        <p:nvPicPr>
          <p:cNvPr id="75" name="Image 5" descr="preencoded.png">
            <a:hlinkClick r:id="rId11" tooltip="Go to Closing" action="ppaction://hlinksldjump"/>
          </p:cNvPr>
          <p:cNvPicPr>
            <a:picLocks noChangeAspect="1"/>
          </p:cNvPicPr>
          <p:nvPr/>
        </p:nvPicPr>
        <p:blipFill>
          <a:blip r:embed="rId10"/>
          <a:stretch>
            <a:fillRect/>
          </a:stretch>
        </p:blipFill>
        <p:spPr>
          <a:xfrm>
            <a:off x="5198364" y="6537960"/>
            <a:ext cx="937260" cy="274320"/>
          </a:xfrm>
          <a:prstGeom prst="rect">
            <a:avLst/>
          </a:prstGeom>
        </p:spPr>
      </p:pic>
      <p:sp>
        <p:nvSpPr>
          <p:cNvPr id="76" name="Text 68"/>
          <p:cNvSpPr txBox="1"/>
          <p:nvPr/>
        </p:nvSpPr>
        <p:spPr>
          <a:xfrm>
            <a:off x="11277295" y="6537960"/>
            <a:ext cx="365760" cy="274320"/>
          </a:xfrm>
          <a:prstGeom prst="rect">
            <a:avLst/>
          </a:prstGeom>
          <a:noFill/>
          <a:ln/>
        </p:spPr>
        <p:txBody>
          <a:bodyPr wrap="square" lIns="0" tIns="0" rIns="0" bIns="0" rtlCol="0" anchor="ctr"/>
          <a:lstStyle/>
          <a:p>
            <a:pPr algn="r" indent="0" marL="0">
              <a:buNone/>
            </a:pPr>
            <a:r>
              <a:rPr lang="en-US" sz="1200" dirty="0">
                <a:solidFill>
                  <a:srgbClr val="465A69"/>
                </a:solidFill>
                <a:latin typeface="Calibri" pitchFamily="34" charset="0"/>
                <a:ea typeface="Calibri" pitchFamily="34" charset="-122"/>
                <a:cs typeface="Calibri"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6EEF6"/>
        </a:solidFill>
      </p:bgPr>
    </p:bg>
    <p:spTree>
      <p:nvGrpSpPr>
        <p:cNvPr id="1" name=""/>
        <p:cNvGrpSpPr/>
        <p:nvPr/>
      </p:nvGrpSpPr>
      <p:grpSpPr>
        <a:xfrm>
          <a:off x="0" y="0"/>
          <a:ext cx="0" cy="0"/>
          <a:chOff x="0" y="0"/>
          <a:chExt cx="0" cy="0"/>
        </a:xfrm>
      </p:grpSpPr>
      <p:sp>
        <p:nvSpPr>
          <p:cNvPr id="2" name="Shape 0"/>
          <p:cNvSpPr/>
          <p:nvPr/>
        </p:nvSpPr>
        <p:spPr>
          <a:xfrm>
            <a:off x="548640" y="347472"/>
            <a:ext cx="2843784" cy="329184"/>
          </a:xfrm>
          <a:prstGeom prst="roundRect">
            <a:avLst>
              <a:gd name="adj" fmla="val 50000"/>
            </a:avLst>
          </a:prstGeom>
          <a:solidFill>
            <a:srgbClr val="F1F6FA"/>
          </a:solidFill>
          <a:ln w="12700">
            <a:solidFill>
              <a:srgbClr val="F1F6FA"/>
            </a:solidFill>
            <a:prstDash val="solid"/>
          </a:ln>
        </p:spPr>
      </p:sp>
      <p:sp>
        <p:nvSpPr>
          <p:cNvPr id="3" name="Text 1"/>
          <p:cNvSpPr txBox="1"/>
          <p:nvPr/>
        </p:nvSpPr>
        <p:spPr>
          <a:xfrm>
            <a:off x="548640" y="347472"/>
            <a:ext cx="2843784" cy="329184"/>
          </a:xfrm>
          <a:prstGeom prst="rect">
            <a:avLst/>
          </a:prstGeom>
          <a:noFill/>
          <a:ln/>
        </p:spPr>
        <p:txBody>
          <a:bodyPr wrap="square" lIns="0" tIns="0" rIns="0" bIns="0" rtlCol="0" anchor="ctr"/>
          <a:lstStyle/>
          <a:p>
            <a:pPr algn="ctr" indent="0" marL="0">
              <a:buNone/>
            </a:pPr>
            <a:r>
              <a:rPr lang="en-US" sz="1200" b="1" dirty="0">
                <a:solidFill>
                  <a:srgbClr val="3F6E8C"/>
                </a:solidFill>
                <a:latin typeface="Calibri" pitchFamily="34" charset="0"/>
                <a:ea typeface="Calibri" pitchFamily="34" charset="-122"/>
                <a:cs typeface="Calibri" pitchFamily="34" charset="-120"/>
              </a:rPr>
              <a:t>Scenario 1: Incident Response</a:t>
            </a:r>
            <a:endParaRPr lang="en-US" sz="1200" dirty="0"/>
          </a:p>
        </p:txBody>
      </p:sp>
      <p:sp>
        <p:nvSpPr>
          <p:cNvPr id="4" name="Text 2"/>
          <p:cNvSpPr txBox="1"/>
          <p:nvPr/>
        </p:nvSpPr>
        <p:spPr>
          <a:xfrm>
            <a:off x="548640" y="749808"/>
            <a:ext cx="11064240" cy="640080"/>
          </a:xfrm>
          <a:prstGeom prst="rect">
            <a:avLst/>
          </a:prstGeom>
          <a:noFill/>
          <a:ln/>
        </p:spPr>
        <p:txBody>
          <a:bodyPr wrap="square" lIns="0" tIns="0" rIns="0" bIns="0" rtlCol="0" anchor="ctr"/>
          <a:lstStyle/>
          <a:p>
            <a:pPr indent="0" marL="0">
              <a:buNone/>
            </a:pPr>
            <a:r>
              <a:rPr lang="en-US" sz="2800" b="1" dirty="0">
                <a:solidFill>
                  <a:srgbClr val="23405A"/>
                </a:solidFill>
                <a:latin typeface="Calibri" pitchFamily="34" charset="0"/>
                <a:ea typeface="Calibri" pitchFamily="34" charset="-122"/>
                <a:cs typeface="Calibri" pitchFamily="34" charset="-120"/>
              </a:rPr>
              <a:t>T+4h: Vendor Confirmation</a:t>
            </a:r>
            <a:endParaRPr lang="en-US" sz="2800" dirty="0"/>
          </a:p>
        </p:txBody>
      </p:sp>
      <p:sp>
        <p:nvSpPr>
          <p:cNvPr id="5" name="Shape 3"/>
          <p:cNvSpPr/>
          <p:nvPr/>
        </p:nvSpPr>
        <p:spPr>
          <a:xfrm>
            <a:off x="10705795" y="347472"/>
            <a:ext cx="937260" cy="329184"/>
          </a:xfrm>
          <a:prstGeom prst="roundRect">
            <a:avLst>
              <a:gd name="adj" fmla="val 50000"/>
            </a:avLst>
          </a:prstGeom>
          <a:solidFill>
            <a:srgbClr val="FFFFFF"/>
          </a:solidFill>
          <a:ln w="12700">
            <a:solidFill>
              <a:srgbClr val="FFFFFF"/>
            </a:solidFill>
            <a:prstDash val="solid"/>
          </a:ln>
        </p:spPr>
      </p:sp>
      <p:sp>
        <p:nvSpPr>
          <p:cNvPr id="6" name="Text 4"/>
          <p:cNvSpPr txBox="1"/>
          <p:nvPr/>
        </p:nvSpPr>
        <p:spPr>
          <a:xfrm>
            <a:off x="10705795" y="347472"/>
            <a:ext cx="937260" cy="329184"/>
          </a:xfrm>
          <a:prstGeom prst="rect">
            <a:avLst/>
          </a:prstGeom>
          <a:noFill/>
          <a:ln/>
        </p:spPr>
        <p:txBody>
          <a:bodyPr wrap="square" lIns="0" tIns="0" rIns="0" bIns="0" rtlCol="0" anchor="ctr"/>
          <a:lstStyle/>
          <a:p>
            <a:pPr algn="ctr" indent="0" marL="0">
              <a:buNone/>
            </a:pPr>
            <a:r>
              <a:rPr lang="en-US" sz="1200" dirty="0">
                <a:solidFill>
                  <a:srgbClr val="465A69"/>
                </a:solidFill>
                <a:latin typeface="Calibri" pitchFamily="34" charset="0"/>
                <a:ea typeface="Calibri" pitchFamily="34" charset="-122"/>
                <a:cs typeface="Calibri" pitchFamily="34" charset="-120"/>
              </a:rPr>
              <a:t>Hotwash</a:t>
            </a:r>
            <a:endParaRPr lang="en-US" sz="1200" dirty="0"/>
          </a:p>
        </p:txBody>
      </p:sp>
      <p:sp>
        <p:nvSpPr>
          <p:cNvPr id="7" name="Shape 5"/>
          <p:cNvSpPr/>
          <p:nvPr/>
        </p:nvSpPr>
        <p:spPr>
          <a:xfrm>
            <a:off x="9608515" y="347472"/>
            <a:ext cx="1024128" cy="329184"/>
          </a:xfrm>
          <a:prstGeom prst="roundRect">
            <a:avLst>
              <a:gd name="adj" fmla="val 50000"/>
            </a:avLst>
          </a:prstGeom>
          <a:solidFill>
            <a:srgbClr val="FFFFFF"/>
          </a:solidFill>
          <a:ln w="12700">
            <a:solidFill>
              <a:srgbClr val="FFFFFF"/>
            </a:solidFill>
            <a:prstDash val="solid"/>
          </a:ln>
        </p:spPr>
      </p:sp>
      <p:sp>
        <p:nvSpPr>
          <p:cNvPr id="8" name="Text 6"/>
          <p:cNvSpPr txBox="1"/>
          <p:nvPr/>
        </p:nvSpPr>
        <p:spPr>
          <a:xfrm>
            <a:off x="9608515" y="347472"/>
            <a:ext cx="1024128" cy="329184"/>
          </a:xfrm>
          <a:prstGeom prst="rect">
            <a:avLst/>
          </a:prstGeom>
          <a:noFill/>
          <a:ln/>
        </p:spPr>
        <p:txBody>
          <a:bodyPr wrap="square" lIns="0" tIns="0" rIns="0" bIns="0" rtlCol="0" anchor="ctr"/>
          <a:lstStyle/>
          <a:p>
            <a:pPr algn="ctr" indent="0" marL="0">
              <a:buNone/>
            </a:pPr>
            <a:r>
              <a:rPr lang="en-US" sz="1200" dirty="0">
                <a:solidFill>
                  <a:srgbClr val="465A69"/>
                </a:solidFill>
                <a:latin typeface="Calibri" pitchFamily="34" charset="0"/>
                <a:ea typeface="Calibri" pitchFamily="34" charset="-122"/>
                <a:cs typeface="Calibri" pitchFamily="34" charset="-120"/>
              </a:rPr>
              <a:t>Recovery</a:t>
            </a:r>
            <a:endParaRPr lang="en-US" sz="1200" dirty="0"/>
          </a:p>
        </p:txBody>
      </p:sp>
      <p:sp>
        <p:nvSpPr>
          <p:cNvPr id="9" name="Shape 7"/>
          <p:cNvSpPr/>
          <p:nvPr/>
        </p:nvSpPr>
        <p:spPr>
          <a:xfrm>
            <a:off x="8598103" y="347472"/>
            <a:ext cx="937260" cy="329184"/>
          </a:xfrm>
          <a:prstGeom prst="roundRect">
            <a:avLst>
              <a:gd name="adj" fmla="val 50000"/>
            </a:avLst>
          </a:prstGeom>
          <a:solidFill>
            <a:srgbClr val="3F6E8C"/>
          </a:solidFill>
          <a:ln w="12700">
            <a:solidFill>
              <a:srgbClr val="3F6E8C"/>
            </a:solidFill>
            <a:prstDash val="solid"/>
          </a:ln>
        </p:spPr>
      </p:sp>
      <p:sp>
        <p:nvSpPr>
          <p:cNvPr id="10" name="Text 8"/>
          <p:cNvSpPr txBox="1"/>
          <p:nvPr/>
        </p:nvSpPr>
        <p:spPr>
          <a:xfrm>
            <a:off x="8598103" y="347472"/>
            <a:ext cx="93726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Injects</a:t>
            </a:r>
            <a:endParaRPr lang="en-US" sz="1200" dirty="0"/>
          </a:p>
        </p:txBody>
      </p:sp>
      <p:sp>
        <p:nvSpPr>
          <p:cNvPr id="11" name="Shape 9"/>
          <p:cNvSpPr/>
          <p:nvPr/>
        </p:nvSpPr>
        <p:spPr>
          <a:xfrm>
            <a:off x="7674559" y="347472"/>
            <a:ext cx="850392" cy="329184"/>
          </a:xfrm>
          <a:prstGeom prst="roundRect">
            <a:avLst>
              <a:gd name="adj" fmla="val 50000"/>
            </a:avLst>
          </a:prstGeom>
          <a:solidFill>
            <a:srgbClr val="F1F6FA"/>
          </a:solidFill>
          <a:ln w="12700">
            <a:solidFill>
              <a:srgbClr val="F1F6FA"/>
            </a:solidFill>
            <a:prstDash val="solid"/>
          </a:ln>
        </p:spPr>
      </p:sp>
      <p:sp>
        <p:nvSpPr>
          <p:cNvPr id="12" name="Text 10"/>
          <p:cNvSpPr txBox="1"/>
          <p:nvPr/>
        </p:nvSpPr>
        <p:spPr>
          <a:xfrm>
            <a:off x="7674559" y="347472"/>
            <a:ext cx="850392" cy="329184"/>
          </a:xfrm>
          <a:prstGeom prst="rect">
            <a:avLst/>
          </a:prstGeom>
          <a:noFill/>
          <a:ln/>
        </p:spPr>
        <p:txBody>
          <a:bodyPr wrap="square" lIns="0" tIns="0" rIns="0" bIns="0" rtlCol="0" anchor="ctr"/>
          <a:lstStyle/>
          <a:p>
            <a:pPr algn="ctr" indent="0" marL="0">
              <a:buNone/>
            </a:pPr>
            <a:r>
              <a:rPr lang="en-US" sz="1200" dirty="0">
                <a:solidFill>
                  <a:srgbClr val="3F6E8C"/>
                </a:solidFill>
                <a:latin typeface="Calibri" pitchFamily="34" charset="0"/>
                <a:ea typeface="Calibri" pitchFamily="34" charset="-122"/>
                <a:cs typeface="Calibri" pitchFamily="34" charset="-120"/>
              </a:rPr>
              <a:t>Decide</a:t>
            </a:r>
            <a:endParaRPr lang="en-US" sz="1200" dirty="0"/>
          </a:p>
        </p:txBody>
      </p:sp>
      <p:sp>
        <p:nvSpPr>
          <p:cNvPr id="13" name="Shape 11"/>
          <p:cNvSpPr/>
          <p:nvPr/>
        </p:nvSpPr>
        <p:spPr>
          <a:xfrm>
            <a:off x="7011619" y="347472"/>
            <a:ext cx="589788" cy="329184"/>
          </a:xfrm>
          <a:prstGeom prst="roundRect">
            <a:avLst>
              <a:gd name="adj" fmla="val 50000"/>
            </a:avLst>
          </a:prstGeom>
          <a:solidFill>
            <a:srgbClr val="F1F6FA"/>
          </a:solidFill>
          <a:ln w="12700">
            <a:solidFill>
              <a:srgbClr val="F1F6FA"/>
            </a:solidFill>
            <a:prstDash val="solid"/>
          </a:ln>
        </p:spPr>
      </p:sp>
      <p:sp>
        <p:nvSpPr>
          <p:cNvPr id="14" name="Text 12"/>
          <p:cNvSpPr txBox="1"/>
          <p:nvPr/>
        </p:nvSpPr>
        <p:spPr>
          <a:xfrm>
            <a:off x="7011619" y="347472"/>
            <a:ext cx="589788" cy="329184"/>
          </a:xfrm>
          <a:prstGeom prst="rect">
            <a:avLst/>
          </a:prstGeom>
          <a:noFill/>
          <a:ln/>
        </p:spPr>
        <p:txBody>
          <a:bodyPr wrap="square" lIns="0" tIns="0" rIns="0" bIns="0" rtlCol="0" anchor="ctr"/>
          <a:lstStyle/>
          <a:p>
            <a:pPr algn="ctr" indent="0" marL="0">
              <a:buNone/>
            </a:pPr>
            <a:r>
              <a:rPr lang="en-US" sz="1200" dirty="0">
                <a:solidFill>
                  <a:srgbClr val="3F6E8C"/>
                </a:solidFill>
                <a:latin typeface="Calibri" pitchFamily="34" charset="0"/>
                <a:ea typeface="Calibri" pitchFamily="34" charset="-122"/>
                <a:cs typeface="Calibri" pitchFamily="34" charset="-120"/>
              </a:rPr>
              <a:t>T+0</a:t>
            </a:r>
            <a:endParaRPr lang="en-US" sz="1200" dirty="0"/>
          </a:p>
        </p:txBody>
      </p:sp>
      <p:sp>
        <p:nvSpPr>
          <p:cNvPr id="15" name="Shape 13"/>
          <p:cNvSpPr/>
          <p:nvPr/>
        </p:nvSpPr>
        <p:spPr>
          <a:xfrm>
            <a:off x="5740603" y="347472"/>
            <a:ext cx="1197864" cy="329184"/>
          </a:xfrm>
          <a:prstGeom prst="roundRect">
            <a:avLst>
              <a:gd name="adj" fmla="val 50000"/>
            </a:avLst>
          </a:prstGeom>
          <a:solidFill>
            <a:srgbClr val="F1F6FA"/>
          </a:solidFill>
          <a:ln w="12700">
            <a:solidFill>
              <a:srgbClr val="F1F6FA"/>
            </a:solidFill>
            <a:prstDash val="solid"/>
          </a:ln>
        </p:spPr>
      </p:sp>
      <p:sp>
        <p:nvSpPr>
          <p:cNvPr id="16" name="Text 14"/>
          <p:cNvSpPr txBox="1"/>
          <p:nvPr/>
        </p:nvSpPr>
        <p:spPr>
          <a:xfrm>
            <a:off x="5740603" y="347472"/>
            <a:ext cx="1197864" cy="329184"/>
          </a:xfrm>
          <a:prstGeom prst="rect">
            <a:avLst/>
          </a:prstGeom>
          <a:noFill/>
          <a:ln/>
        </p:spPr>
        <p:txBody>
          <a:bodyPr wrap="square" lIns="0" tIns="0" rIns="0" bIns="0" rtlCol="0" anchor="ctr"/>
          <a:lstStyle/>
          <a:p>
            <a:pPr algn="ctr" indent="0" marL="0">
              <a:buNone/>
            </a:pPr>
            <a:r>
              <a:rPr lang="en-US" sz="1200" dirty="0">
                <a:solidFill>
                  <a:srgbClr val="3F6E8C"/>
                </a:solidFill>
                <a:latin typeface="Calibri" pitchFamily="34" charset="0"/>
                <a:ea typeface="Calibri" pitchFamily="34" charset="-122"/>
                <a:cs typeface="Calibri" pitchFamily="34" charset="-120"/>
              </a:rPr>
              <a:t>Background</a:t>
            </a:r>
            <a:endParaRPr lang="en-US" sz="1200" dirty="0"/>
          </a:p>
        </p:txBody>
      </p:sp>
      <p:sp>
        <p:nvSpPr>
          <p:cNvPr id="17" name="Shape 15"/>
          <p:cNvSpPr/>
          <p:nvPr/>
        </p:nvSpPr>
        <p:spPr>
          <a:xfrm>
            <a:off x="548640" y="1600200"/>
            <a:ext cx="2377440" cy="4572000"/>
          </a:xfrm>
          <a:prstGeom prst="roundRect">
            <a:avLst>
              <a:gd name="adj" fmla="val 5385"/>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18" name="Text 16"/>
          <p:cNvSpPr txBox="1"/>
          <p:nvPr/>
        </p:nvSpPr>
        <p:spPr>
          <a:xfrm>
            <a:off x="822960" y="1783080"/>
            <a:ext cx="1874520" cy="320040"/>
          </a:xfrm>
          <a:prstGeom prst="rect">
            <a:avLst/>
          </a:prstGeom>
          <a:noFill/>
          <a:ln/>
        </p:spPr>
        <p:txBody>
          <a:bodyPr wrap="square" lIns="0" tIns="0" rIns="0" bIns="0" rtlCol="0" anchor="t"/>
          <a:lstStyle/>
          <a:p>
            <a:pPr indent="0" marL="0">
              <a:buNone/>
            </a:pPr>
            <a:r>
              <a:rPr lang="en-US" sz="1400" b="1" dirty="0">
                <a:solidFill>
                  <a:srgbClr val="465A69"/>
                </a:solidFill>
                <a:latin typeface="Calibri" pitchFamily="34" charset="0"/>
                <a:ea typeface="Calibri" pitchFamily="34" charset="-122"/>
                <a:cs typeface="Calibri" pitchFamily="34" charset="-120"/>
              </a:rPr>
              <a:t>Timeline</a:t>
            </a:r>
            <a:endParaRPr lang="en-US" sz="1400" dirty="0"/>
          </a:p>
        </p:txBody>
      </p:sp>
      <p:sp>
        <p:nvSpPr>
          <p:cNvPr id="19" name="Shape 17"/>
          <p:cNvSpPr/>
          <p:nvPr/>
        </p:nvSpPr>
        <p:spPr>
          <a:xfrm>
            <a:off x="905256" y="2551176"/>
            <a:ext cx="0" cy="257338"/>
          </a:xfrm>
          <a:prstGeom prst="line">
            <a:avLst/>
          </a:prstGeom>
          <a:noFill/>
          <a:ln w="19050">
            <a:solidFill>
              <a:srgbClr val="3F6E8C"/>
            </a:solidFill>
            <a:prstDash val="solid"/>
          </a:ln>
        </p:spPr>
      </p:sp>
      <p:sp>
        <p:nvSpPr>
          <p:cNvPr id="20" name="Shape 18"/>
          <p:cNvSpPr/>
          <p:nvPr/>
        </p:nvSpPr>
        <p:spPr>
          <a:xfrm>
            <a:off x="777240" y="2267712"/>
            <a:ext cx="256032" cy="256032"/>
          </a:xfrm>
          <a:prstGeom prst="ellipse">
            <a:avLst/>
          </a:prstGeom>
          <a:solidFill>
            <a:srgbClr val="F1F6FA"/>
          </a:solidFill>
          <a:ln w="12700">
            <a:solidFill>
              <a:srgbClr val="F1F6FA"/>
            </a:solidFill>
            <a:prstDash val="solid"/>
          </a:ln>
        </p:spPr>
      </p:sp>
      <p:sp>
        <p:nvSpPr>
          <p:cNvPr id="21" name="Text 19"/>
          <p:cNvSpPr txBox="1"/>
          <p:nvPr/>
        </p:nvSpPr>
        <p:spPr>
          <a:xfrm>
            <a:off x="1188720" y="2203704"/>
            <a:ext cx="1645920" cy="568234"/>
          </a:xfrm>
          <a:prstGeom prst="rect">
            <a:avLst/>
          </a:prstGeom>
          <a:noFill/>
          <a:ln/>
        </p:spPr>
        <p:txBody>
          <a:bodyPr wrap="square" lIns="0" tIns="0" rIns="0" bIns="0" rtlCol="0" anchor="t"/>
          <a:lstStyle/>
          <a:p>
            <a:pPr indent="0" marL="0">
              <a:buNone/>
            </a:pPr>
            <a:r>
              <a:rPr lang="en-US" sz="1200" b="1" dirty="0">
                <a:solidFill>
                  <a:srgbClr val="465A69"/>
                </a:solidFill>
                <a:latin typeface="Calibri" pitchFamily="34" charset="0"/>
                <a:ea typeface="Calibri" pitchFamily="34" charset="-122"/>
                <a:cs typeface="Calibri" pitchFamily="34" charset="-120"/>
              </a:rPr>
              <a:t>T+0</a:t>
            </a:r>
            <a:endParaRPr lang="en-US" sz="1200" dirty="0"/>
          </a:p>
          <a:p>
            <a:pPr indent="0" marL="0">
              <a:buNone/>
            </a:pPr>
            <a:r>
              <a:rPr lang="en-US" sz="1200" dirty="0">
                <a:solidFill>
                  <a:srgbClr val="1E2E3A"/>
                </a:solidFill>
                <a:latin typeface="Calibri" pitchFamily="34" charset="0"/>
                <a:ea typeface="Calibri" pitchFamily="34" charset="-122"/>
                <a:cs typeface="Calibri" pitchFamily="34" charset="-120"/>
              </a:rPr>
              <a:t>Initial signal</a:t>
            </a:r>
            <a:endParaRPr lang="en-US" sz="1200" dirty="0"/>
          </a:p>
        </p:txBody>
      </p:sp>
      <p:sp>
        <p:nvSpPr>
          <p:cNvPr id="22" name="Shape 20"/>
          <p:cNvSpPr/>
          <p:nvPr/>
        </p:nvSpPr>
        <p:spPr>
          <a:xfrm>
            <a:off x="905256" y="3119410"/>
            <a:ext cx="0" cy="257338"/>
          </a:xfrm>
          <a:prstGeom prst="line">
            <a:avLst/>
          </a:prstGeom>
          <a:noFill/>
          <a:ln w="19050">
            <a:solidFill>
              <a:srgbClr val="3F6E8C"/>
            </a:solidFill>
            <a:prstDash val="solid"/>
          </a:ln>
        </p:spPr>
      </p:sp>
      <p:sp>
        <p:nvSpPr>
          <p:cNvPr id="23" name="Shape 21"/>
          <p:cNvSpPr/>
          <p:nvPr/>
        </p:nvSpPr>
        <p:spPr>
          <a:xfrm>
            <a:off x="777240" y="2835946"/>
            <a:ext cx="256032" cy="256032"/>
          </a:xfrm>
          <a:prstGeom prst="ellipse">
            <a:avLst/>
          </a:prstGeom>
          <a:solidFill>
            <a:srgbClr val="F1F6FA"/>
          </a:solidFill>
          <a:ln w="12700">
            <a:solidFill>
              <a:srgbClr val="F1F6FA"/>
            </a:solidFill>
            <a:prstDash val="solid"/>
          </a:ln>
        </p:spPr>
      </p:sp>
      <p:sp>
        <p:nvSpPr>
          <p:cNvPr id="24" name="Text 22"/>
          <p:cNvSpPr txBox="1"/>
          <p:nvPr/>
        </p:nvSpPr>
        <p:spPr>
          <a:xfrm>
            <a:off x="1188720" y="2771938"/>
            <a:ext cx="1645920" cy="568234"/>
          </a:xfrm>
          <a:prstGeom prst="rect">
            <a:avLst/>
          </a:prstGeom>
          <a:noFill/>
          <a:ln/>
        </p:spPr>
        <p:txBody>
          <a:bodyPr wrap="square" lIns="0" tIns="0" rIns="0" bIns="0" rtlCol="0" anchor="t"/>
          <a:lstStyle/>
          <a:p>
            <a:pPr indent="0" marL="0">
              <a:buNone/>
            </a:pPr>
            <a:r>
              <a:rPr lang="en-US" sz="1200" b="1" dirty="0">
                <a:solidFill>
                  <a:srgbClr val="465A69"/>
                </a:solidFill>
                <a:latin typeface="Calibri" pitchFamily="34" charset="0"/>
                <a:ea typeface="Calibri" pitchFamily="34" charset="-122"/>
                <a:cs typeface="Calibri" pitchFamily="34" charset="-120"/>
              </a:rPr>
              <a:t>T+30m</a:t>
            </a:r>
            <a:endParaRPr lang="en-US" sz="1200" dirty="0"/>
          </a:p>
          <a:p>
            <a:pPr indent="0" marL="0">
              <a:buNone/>
            </a:pPr>
            <a:r>
              <a:rPr lang="en-US" sz="1200" dirty="0">
                <a:solidFill>
                  <a:srgbClr val="1E2E3A"/>
                </a:solidFill>
                <a:latin typeface="Calibri" pitchFamily="34" charset="0"/>
                <a:ea typeface="Calibri" pitchFamily="34" charset="-122"/>
                <a:cs typeface="Calibri" pitchFamily="34" charset="-120"/>
              </a:rPr>
              <a:t>Suspicious activity</a:t>
            </a:r>
            <a:endParaRPr lang="en-US" sz="1200" dirty="0"/>
          </a:p>
        </p:txBody>
      </p:sp>
      <p:sp>
        <p:nvSpPr>
          <p:cNvPr id="25" name="Shape 23"/>
          <p:cNvSpPr/>
          <p:nvPr/>
        </p:nvSpPr>
        <p:spPr>
          <a:xfrm>
            <a:off x="905256" y="3687645"/>
            <a:ext cx="0" cy="257338"/>
          </a:xfrm>
          <a:prstGeom prst="line">
            <a:avLst/>
          </a:prstGeom>
          <a:noFill/>
          <a:ln w="19050">
            <a:solidFill>
              <a:srgbClr val="3F6E8C"/>
            </a:solidFill>
            <a:prstDash val="solid"/>
          </a:ln>
        </p:spPr>
      </p:sp>
      <p:sp>
        <p:nvSpPr>
          <p:cNvPr id="26" name="Shape 24"/>
          <p:cNvSpPr/>
          <p:nvPr/>
        </p:nvSpPr>
        <p:spPr>
          <a:xfrm>
            <a:off x="777240" y="3404181"/>
            <a:ext cx="256032" cy="256032"/>
          </a:xfrm>
          <a:prstGeom prst="ellipse">
            <a:avLst/>
          </a:prstGeom>
          <a:solidFill>
            <a:srgbClr val="F1F6FA"/>
          </a:solidFill>
          <a:ln w="12700">
            <a:solidFill>
              <a:srgbClr val="F1F6FA"/>
            </a:solidFill>
            <a:prstDash val="solid"/>
          </a:ln>
        </p:spPr>
      </p:sp>
      <p:sp>
        <p:nvSpPr>
          <p:cNvPr id="27" name="Text 25"/>
          <p:cNvSpPr txBox="1"/>
          <p:nvPr/>
        </p:nvSpPr>
        <p:spPr>
          <a:xfrm>
            <a:off x="1188720" y="3340173"/>
            <a:ext cx="1645920" cy="568234"/>
          </a:xfrm>
          <a:prstGeom prst="rect">
            <a:avLst/>
          </a:prstGeom>
          <a:noFill/>
          <a:ln/>
        </p:spPr>
        <p:txBody>
          <a:bodyPr wrap="square" lIns="0" tIns="0" rIns="0" bIns="0" rtlCol="0" anchor="t"/>
          <a:lstStyle/>
          <a:p>
            <a:pPr indent="0" marL="0">
              <a:buNone/>
            </a:pPr>
            <a:r>
              <a:rPr lang="en-US" sz="1200" b="1" dirty="0">
                <a:solidFill>
                  <a:srgbClr val="465A69"/>
                </a:solidFill>
                <a:latin typeface="Calibri" pitchFamily="34" charset="0"/>
                <a:ea typeface="Calibri" pitchFamily="34" charset="-122"/>
                <a:cs typeface="Calibri" pitchFamily="34" charset="-120"/>
              </a:rPr>
              <a:t>T+1h</a:t>
            </a:r>
            <a:endParaRPr lang="en-US" sz="1200" dirty="0"/>
          </a:p>
          <a:p>
            <a:pPr indent="0" marL="0">
              <a:buNone/>
            </a:pPr>
            <a:r>
              <a:rPr lang="en-US" sz="1200" dirty="0">
                <a:solidFill>
                  <a:srgbClr val="1E2E3A"/>
                </a:solidFill>
                <a:latin typeface="Calibri" pitchFamily="34" charset="0"/>
                <a:ea typeface="Calibri" pitchFamily="34" charset="-122"/>
                <a:cs typeface="Calibri" pitchFamily="34" charset="-120"/>
              </a:rPr>
              <a:t>Persistence</a:t>
            </a:r>
            <a:endParaRPr lang="en-US" sz="1200" dirty="0"/>
          </a:p>
        </p:txBody>
      </p:sp>
      <p:sp>
        <p:nvSpPr>
          <p:cNvPr id="28" name="Shape 26"/>
          <p:cNvSpPr/>
          <p:nvPr/>
        </p:nvSpPr>
        <p:spPr>
          <a:xfrm>
            <a:off x="905256" y="4255879"/>
            <a:ext cx="0" cy="257338"/>
          </a:xfrm>
          <a:prstGeom prst="line">
            <a:avLst/>
          </a:prstGeom>
          <a:noFill/>
          <a:ln w="19050">
            <a:solidFill>
              <a:srgbClr val="3F6E8C"/>
            </a:solidFill>
            <a:prstDash val="solid"/>
          </a:ln>
        </p:spPr>
      </p:sp>
      <p:sp>
        <p:nvSpPr>
          <p:cNvPr id="29" name="Shape 27"/>
          <p:cNvSpPr/>
          <p:nvPr/>
        </p:nvSpPr>
        <p:spPr>
          <a:xfrm>
            <a:off x="777240" y="3972415"/>
            <a:ext cx="256032" cy="256032"/>
          </a:xfrm>
          <a:prstGeom prst="ellipse">
            <a:avLst/>
          </a:prstGeom>
          <a:solidFill>
            <a:srgbClr val="F1F6FA"/>
          </a:solidFill>
          <a:ln w="12700">
            <a:solidFill>
              <a:srgbClr val="F1F6FA"/>
            </a:solidFill>
            <a:prstDash val="solid"/>
          </a:ln>
        </p:spPr>
      </p:sp>
      <p:sp>
        <p:nvSpPr>
          <p:cNvPr id="30" name="Text 28"/>
          <p:cNvSpPr txBox="1"/>
          <p:nvPr/>
        </p:nvSpPr>
        <p:spPr>
          <a:xfrm>
            <a:off x="1188720" y="3908407"/>
            <a:ext cx="1645920" cy="568234"/>
          </a:xfrm>
          <a:prstGeom prst="rect">
            <a:avLst/>
          </a:prstGeom>
          <a:noFill/>
          <a:ln/>
        </p:spPr>
        <p:txBody>
          <a:bodyPr wrap="square" lIns="0" tIns="0" rIns="0" bIns="0" rtlCol="0" anchor="t"/>
          <a:lstStyle/>
          <a:p>
            <a:pPr indent="0" marL="0">
              <a:buNone/>
            </a:pPr>
            <a:r>
              <a:rPr lang="en-US" sz="1200" b="1" dirty="0">
                <a:solidFill>
                  <a:srgbClr val="465A69"/>
                </a:solidFill>
                <a:latin typeface="Calibri" pitchFamily="34" charset="0"/>
                <a:ea typeface="Calibri" pitchFamily="34" charset="-122"/>
                <a:cs typeface="Calibri" pitchFamily="34" charset="-120"/>
              </a:rPr>
              <a:t>T+2h</a:t>
            </a:r>
            <a:endParaRPr lang="en-US" sz="1200" dirty="0"/>
          </a:p>
          <a:p>
            <a:pPr indent="0" marL="0">
              <a:buNone/>
            </a:pPr>
            <a:r>
              <a:rPr lang="en-US" sz="1200" dirty="0">
                <a:solidFill>
                  <a:srgbClr val="1E2E3A"/>
                </a:solidFill>
                <a:latin typeface="Calibri" pitchFamily="34" charset="0"/>
                <a:ea typeface="Calibri" pitchFamily="34" charset="-122"/>
                <a:cs typeface="Calibri" pitchFamily="34" charset="-120"/>
              </a:rPr>
              <a:t>Executive access</a:t>
            </a:r>
            <a:endParaRPr lang="en-US" sz="1200" dirty="0"/>
          </a:p>
        </p:txBody>
      </p:sp>
      <p:sp>
        <p:nvSpPr>
          <p:cNvPr id="31" name="Shape 29"/>
          <p:cNvSpPr/>
          <p:nvPr/>
        </p:nvSpPr>
        <p:spPr>
          <a:xfrm>
            <a:off x="905256" y="4824113"/>
            <a:ext cx="0" cy="257338"/>
          </a:xfrm>
          <a:prstGeom prst="line">
            <a:avLst/>
          </a:prstGeom>
          <a:noFill/>
          <a:ln w="19050">
            <a:solidFill>
              <a:srgbClr val="3F6E8C"/>
            </a:solidFill>
            <a:prstDash val="solid"/>
          </a:ln>
        </p:spPr>
      </p:sp>
      <p:sp>
        <p:nvSpPr>
          <p:cNvPr id="32" name="Shape 30"/>
          <p:cNvSpPr/>
          <p:nvPr/>
        </p:nvSpPr>
        <p:spPr>
          <a:xfrm>
            <a:off x="777240" y="4540649"/>
            <a:ext cx="256032" cy="256032"/>
          </a:xfrm>
          <a:prstGeom prst="ellipse">
            <a:avLst/>
          </a:prstGeom>
          <a:solidFill>
            <a:srgbClr val="F1F6FA"/>
          </a:solidFill>
          <a:ln w="12700">
            <a:solidFill>
              <a:srgbClr val="F1F6FA"/>
            </a:solidFill>
            <a:prstDash val="solid"/>
          </a:ln>
        </p:spPr>
      </p:sp>
      <p:sp>
        <p:nvSpPr>
          <p:cNvPr id="33" name="Text 31"/>
          <p:cNvSpPr txBox="1"/>
          <p:nvPr/>
        </p:nvSpPr>
        <p:spPr>
          <a:xfrm>
            <a:off x="1188720" y="4476641"/>
            <a:ext cx="1645920" cy="568234"/>
          </a:xfrm>
          <a:prstGeom prst="rect">
            <a:avLst/>
          </a:prstGeom>
          <a:noFill/>
          <a:ln/>
        </p:spPr>
        <p:txBody>
          <a:bodyPr wrap="square" lIns="0" tIns="0" rIns="0" bIns="0" rtlCol="0" anchor="t"/>
          <a:lstStyle/>
          <a:p>
            <a:pPr indent="0" marL="0">
              <a:buNone/>
            </a:pPr>
            <a:r>
              <a:rPr lang="en-US" sz="1200" b="1" dirty="0">
                <a:solidFill>
                  <a:srgbClr val="465A69"/>
                </a:solidFill>
                <a:latin typeface="Calibri" pitchFamily="34" charset="0"/>
                <a:ea typeface="Calibri" pitchFamily="34" charset="-122"/>
                <a:cs typeface="Calibri" pitchFamily="34" charset="-120"/>
              </a:rPr>
              <a:t>T+3h</a:t>
            </a:r>
            <a:endParaRPr lang="en-US" sz="1200" dirty="0"/>
          </a:p>
          <a:p>
            <a:pPr indent="0" marL="0">
              <a:buNone/>
            </a:pPr>
            <a:r>
              <a:rPr lang="en-US" sz="1200" dirty="0">
                <a:solidFill>
                  <a:srgbClr val="1E2E3A"/>
                </a:solidFill>
                <a:latin typeface="Calibri" pitchFamily="34" charset="0"/>
                <a:ea typeface="Calibri" pitchFamily="34" charset="-122"/>
                <a:cs typeface="Calibri" pitchFamily="34" charset="-120"/>
              </a:rPr>
              <a:t>Expansion attempt</a:t>
            </a:r>
            <a:endParaRPr lang="en-US" sz="1200" dirty="0"/>
          </a:p>
        </p:txBody>
      </p:sp>
      <p:sp>
        <p:nvSpPr>
          <p:cNvPr id="34" name="Shape 32"/>
          <p:cNvSpPr/>
          <p:nvPr/>
        </p:nvSpPr>
        <p:spPr>
          <a:xfrm>
            <a:off x="905256" y="5392347"/>
            <a:ext cx="0" cy="257338"/>
          </a:xfrm>
          <a:prstGeom prst="line">
            <a:avLst/>
          </a:prstGeom>
          <a:noFill/>
          <a:ln w="19050">
            <a:solidFill>
              <a:srgbClr val="C9D5D2"/>
            </a:solidFill>
            <a:prstDash val="solid"/>
          </a:ln>
        </p:spPr>
      </p:sp>
      <p:sp>
        <p:nvSpPr>
          <p:cNvPr id="35" name="Shape 33"/>
          <p:cNvSpPr/>
          <p:nvPr/>
        </p:nvSpPr>
        <p:spPr>
          <a:xfrm>
            <a:off x="777240" y="5108883"/>
            <a:ext cx="256032" cy="256032"/>
          </a:xfrm>
          <a:prstGeom prst="ellipse">
            <a:avLst/>
          </a:prstGeom>
          <a:solidFill>
            <a:srgbClr val="3F6E8C"/>
          </a:solidFill>
          <a:ln w="12700">
            <a:solidFill>
              <a:srgbClr val="3F6E8C"/>
            </a:solidFill>
            <a:prstDash val="solid"/>
          </a:ln>
        </p:spPr>
      </p:sp>
      <p:sp>
        <p:nvSpPr>
          <p:cNvPr id="36" name="Text 34"/>
          <p:cNvSpPr txBox="1"/>
          <p:nvPr/>
        </p:nvSpPr>
        <p:spPr>
          <a:xfrm>
            <a:off x="1188720" y="5044875"/>
            <a:ext cx="1645920" cy="568234"/>
          </a:xfrm>
          <a:prstGeom prst="rect">
            <a:avLst/>
          </a:prstGeom>
          <a:noFill/>
          <a:ln/>
        </p:spPr>
        <p:txBody>
          <a:bodyPr wrap="square" lIns="0" tIns="0" rIns="0" bIns="0" rtlCol="0" anchor="t"/>
          <a:lstStyle/>
          <a:p>
            <a:pPr indent="0" marL="0">
              <a:buNone/>
            </a:pPr>
            <a:r>
              <a:rPr lang="en-US" sz="1200" b="1" dirty="0">
                <a:solidFill>
                  <a:srgbClr val="3F6E8C"/>
                </a:solidFill>
                <a:latin typeface="Calibri" pitchFamily="34" charset="0"/>
                <a:ea typeface="Calibri" pitchFamily="34" charset="-122"/>
                <a:cs typeface="Calibri" pitchFamily="34" charset="-120"/>
              </a:rPr>
              <a:t>T+4h</a:t>
            </a:r>
            <a:endParaRPr lang="en-US" sz="1200" dirty="0"/>
          </a:p>
          <a:p>
            <a:pPr indent="0" marL="0">
              <a:buNone/>
            </a:pPr>
            <a:r>
              <a:rPr lang="en-US" sz="1200" b="1" dirty="0">
                <a:solidFill>
                  <a:srgbClr val="3F6E8C"/>
                </a:solidFill>
                <a:latin typeface="Calibri" pitchFamily="34" charset="0"/>
                <a:ea typeface="Calibri" pitchFamily="34" charset="-122"/>
                <a:cs typeface="Calibri" pitchFamily="34" charset="-120"/>
              </a:rPr>
              <a:t>Vendor confirmation</a:t>
            </a:r>
            <a:endParaRPr lang="en-US" sz="1200" dirty="0"/>
          </a:p>
        </p:txBody>
      </p:sp>
      <p:sp>
        <p:nvSpPr>
          <p:cNvPr id="37" name="Shape 35"/>
          <p:cNvSpPr/>
          <p:nvPr/>
        </p:nvSpPr>
        <p:spPr>
          <a:xfrm>
            <a:off x="777240" y="5677118"/>
            <a:ext cx="256032" cy="256032"/>
          </a:xfrm>
          <a:prstGeom prst="ellipse">
            <a:avLst/>
          </a:prstGeom>
          <a:solidFill>
            <a:srgbClr val="FFFFFF"/>
          </a:solidFill>
          <a:ln w="15875">
            <a:solidFill>
              <a:srgbClr val="C9D5D2"/>
            </a:solidFill>
            <a:prstDash val="solid"/>
          </a:ln>
        </p:spPr>
      </p:sp>
      <p:sp>
        <p:nvSpPr>
          <p:cNvPr id="38" name="Shape 36"/>
          <p:cNvSpPr/>
          <p:nvPr/>
        </p:nvSpPr>
        <p:spPr>
          <a:xfrm>
            <a:off x="3154680" y="1600200"/>
            <a:ext cx="5696712" cy="3017520"/>
          </a:xfrm>
          <a:prstGeom prst="roundRect">
            <a:avLst>
              <a:gd name="adj" fmla="val 4242"/>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39" name="Shape 37"/>
          <p:cNvSpPr/>
          <p:nvPr/>
        </p:nvSpPr>
        <p:spPr>
          <a:xfrm>
            <a:off x="3429000" y="1810512"/>
            <a:ext cx="2148840" cy="384048"/>
          </a:xfrm>
          <a:prstGeom prst="roundRect">
            <a:avLst>
              <a:gd name="adj" fmla="val 50000"/>
            </a:avLst>
          </a:prstGeom>
          <a:solidFill>
            <a:srgbClr val="3F6E8C"/>
          </a:solidFill>
          <a:ln w="12700">
            <a:solidFill>
              <a:srgbClr val="3F6E8C"/>
            </a:solidFill>
            <a:prstDash val="solid"/>
          </a:ln>
        </p:spPr>
      </p:sp>
      <p:pic>
        <p:nvPicPr>
          <p:cNvPr id="40" name="Image 0" descr="preencoded.png">    </p:cNvPr>
          <p:cNvPicPr>
            <a:picLocks noChangeAspect="1"/>
          </p:cNvPicPr>
          <p:nvPr/>
        </p:nvPicPr>
        <p:blipFill>
          <a:blip r:embed="rId1"/>
          <a:stretch>
            <a:fillRect/>
          </a:stretch>
        </p:blipFill>
        <p:spPr>
          <a:xfrm>
            <a:off x="3547872" y="1874520"/>
            <a:ext cx="246888" cy="246888"/>
          </a:xfrm>
          <a:prstGeom prst="rect">
            <a:avLst/>
          </a:prstGeom>
        </p:spPr>
      </p:pic>
      <p:sp>
        <p:nvSpPr>
          <p:cNvPr id="41" name="Text 38"/>
          <p:cNvSpPr txBox="1"/>
          <p:nvPr/>
        </p:nvSpPr>
        <p:spPr>
          <a:xfrm>
            <a:off x="3867912" y="1810512"/>
            <a:ext cx="1691640" cy="38404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T+4h  |  1:35 PM</a:t>
            </a:r>
            <a:endParaRPr lang="en-US" sz="1300" dirty="0"/>
          </a:p>
        </p:txBody>
      </p:sp>
      <p:sp>
        <p:nvSpPr>
          <p:cNvPr id="42" name="Text 39"/>
          <p:cNvSpPr txBox="1"/>
          <p:nvPr/>
        </p:nvSpPr>
        <p:spPr>
          <a:xfrm>
            <a:off x="3429000" y="2286000"/>
            <a:ext cx="2743200" cy="256032"/>
          </a:xfrm>
          <a:prstGeom prst="rect">
            <a:avLst/>
          </a:prstGeom>
          <a:noFill/>
          <a:ln/>
        </p:spPr>
        <p:txBody>
          <a:bodyPr wrap="square" lIns="0" tIns="0" rIns="0" bIns="0" rtlCol="0" anchor="t"/>
          <a:lstStyle/>
          <a:p>
            <a:pPr indent="0" marL="0">
              <a:buNone/>
            </a:pPr>
            <a:r>
              <a:rPr lang="en-US" sz="1200" b="1" dirty="0">
                <a:solidFill>
                  <a:srgbClr val="465A69"/>
                </a:solidFill>
                <a:latin typeface="Calibri" pitchFamily="34" charset="0"/>
                <a:ea typeface="Calibri" pitchFamily="34" charset="-122"/>
                <a:cs typeface="Calibri" pitchFamily="34" charset="-120"/>
              </a:rPr>
              <a:t>New information</a:t>
            </a:r>
            <a:endParaRPr lang="en-US" sz="1200" dirty="0"/>
          </a:p>
        </p:txBody>
      </p:sp>
      <p:sp>
        <p:nvSpPr>
          <p:cNvPr id="43" name="Text 40"/>
          <p:cNvSpPr txBox="1"/>
          <p:nvPr/>
        </p:nvSpPr>
        <p:spPr>
          <a:xfrm>
            <a:off x="3429000" y="2560320"/>
            <a:ext cx="5166360" cy="1965960"/>
          </a:xfrm>
          <a:prstGeom prst="rect">
            <a:avLst/>
          </a:prstGeom>
          <a:noFill/>
          <a:ln/>
        </p:spPr>
        <p:txBody>
          <a:bodyPr wrap="square" lIns="0" tIns="0" rIns="0" bIns="0" rtlCol="0" anchor="t"/>
          <a:lstStyle/>
          <a:p>
            <a:pPr indent="0" marL="0">
              <a:buNone/>
            </a:pPr>
            <a:r>
              <a:rPr lang="en-US" sz="1600" dirty="0">
                <a:solidFill>
                  <a:srgbClr val="1E2E3A"/>
                </a:solidFill>
                <a:latin typeface="Calibri" pitchFamily="34" charset="0"/>
                <a:ea typeface="Calibri" pitchFamily="34" charset="-122"/>
                <a:cs typeface="Calibri" pitchFamily="34" charset="-120"/>
              </a:rPr>
              <a:t>Pulse Surveys confirms a security breach affecting multiple customers. Separately, threat intelligence reports company credentials for sale on a criminal forum.</a:t>
            </a:r>
            <a:endParaRPr lang="en-US" sz="1600" dirty="0"/>
          </a:p>
        </p:txBody>
      </p:sp>
      <p:sp>
        <p:nvSpPr>
          <p:cNvPr id="44" name="Shape 41"/>
          <p:cNvSpPr/>
          <p:nvPr/>
        </p:nvSpPr>
        <p:spPr>
          <a:xfrm>
            <a:off x="3154680" y="4800600"/>
            <a:ext cx="5696712" cy="1371600"/>
          </a:xfrm>
          <a:prstGeom prst="roundRect">
            <a:avLst>
              <a:gd name="adj" fmla="val 9333"/>
            </a:avLst>
          </a:prstGeom>
          <a:solidFill>
            <a:srgbClr val="F1F6FA"/>
          </a:solidFill>
          <a:ln w="12700">
            <a:solidFill>
              <a:srgbClr val="F1F6FA"/>
            </a:solidFill>
            <a:prstDash val="solid"/>
          </a:ln>
          <a:effectLst>
            <a:outerShdw sx="100000" sy="100000" kx="0" ky="0" algn="bl" rotWithShape="0" blurRad="177800" dist="50800" dir="5400000">
              <a:srgbClr val="1B4965">
                <a:alpha val="16000"/>
              </a:srgbClr>
            </a:outerShdw>
          </a:effectLst>
        </p:spPr>
      </p:sp>
      <p:sp>
        <p:nvSpPr>
          <p:cNvPr id="45" name="Text 42"/>
          <p:cNvSpPr txBox="1"/>
          <p:nvPr/>
        </p:nvSpPr>
        <p:spPr>
          <a:xfrm>
            <a:off x="3429000" y="4901184"/>
            <a:ext cx="2743200" cy="256032"/>
          </a:xfrm>
          <a:prstGeom prst="rect">
            <a:avLst/>
          </a:prstGeom>
          <a:noFill/>
          <a:ln/>
        </p:spPr>
        <p:txBody>
          <a:bodyPr wrap="square" lIns="0" tIns="0" rIns="0" bIns="0" rtlCol="0" anchor="t"/>
          <a:lstStyle/>
          <a:p>
            <a:pPr indent="0" marL="0">
              <a:buNone/>
            </a:pPr>
            <a:r>
              <a:rPr lang="en-US" sz="1300" b="1" dirty="0">
                <a:solidFill>
                  <a:srgbClr val="3F6E8C"/>
                </a:solidFill>
                <a:latin typeface="Calibri" pitchFamily="34" charset="0"/>
                <a:ea typeface="Calibri" pitchFamily="34" charset="-122"/>
                <a:cs typeface="Calibri" pitchFamily="34" charset="-120"/>
              </a:rPr>
              <a:t>Decide</a:t>
            </a:r>
            <a:endParaRPr lang="en-US" sz="1300" dirty="0"/>
          </a:p>
        </p:txBody>
      </p:sp>
      <p:sp>
        <p:nvSpPr>
          <p:cNvPr id="46" name="Text 43"/>
          <p:cNvSpPr txBox="1"/>
          <p:nvPr/>
        </p:nvSpPr>
        <p:spPr>
          <a:xfrm>
            <a:off x="3429000" y="5175504"/>
            <a:ext cx="5166360" cy="914400"/>
          </a:xfrm>
          <a:prstGeom prst="rect">
            <a:avLst/>
          </a:prstGeom>
          <a:noFill/>
          <a:ln/>
        </p:spPr>
        <p:txBody>
          <a:bodyPr wrap="square" lIns="0" tIns="0" rIns="0" bIns="0" rtlCol="0" anchor="t"/>
          <a:lstStyle/>
          <a:p>
            <a:pPr indent="0" marL="0">
              <a:buNone/>
            </a:pPr>
            <a:r>
              <a:rPr lang="en-US" sz="1600" b="1" dirty="0">
                <a:solidFill>
                  <a:srgbClr val="1E2E3A"/>
                </a:solidFill>
                <a:latin typeface="Calibri" pitchFamily="34" charset="0"/>
                <a:ea typeface="Calibri" pitchFamily="34" charset="-122"/>
                <a:cs typeface="Calibri" pitchFamily="34" charset="-120"/>
              </a:rPr>
              <a:t>Do you suspend the vendor integration? What do you need from the vendor, and who else do you notify?</a:t>
            </a:r>
            <a:endParaRPr lang="en-US" sz="1600" dirty="0"/>
          </a:p>
        </p:txBody>
      </p:sp>
      <p:sp>
        <p:nvSpPr>
          <p:cNvPr id="47" name="Shape 44"/>
          <p:cNvSpPr/>
          <p:nvPr/>
        </p:nvSpPr>
        <p:spPr>
          <a:xfrm>
            <a:off x="9079992" y="1600200"/>
            <a:ext cx="2560320" cy="4572000"/>
          </a:xfrm>
          <a:prstGeom prst="roundRect">
            <a:avLst>
              <a:gd name="adj" fmla="val 5000"/>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48" name="Text 45"/>
          <p:cNvSpPr txBox="1"/>
          <p:nvPr/>
        </p:nvSpPr>
        <p:spPr>
          <a:xfrm>
            <a:off x="9262872" y="1728216"/>
            <a:ext cx="2194560" cy="457200"/>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Vendor notification (simulated)</a:t>
            </a:r>
            <a:endParaRPr lang="en-US" sz="1300" dirty="0"/>
          </a:p>
        </p:txBody>
      </p:sp>
      <p:sp>
        <p:nvSpPr>
          <p:cNvPr id="49" name="Shape 46"/>
          <p:cNvSpPr/>
          <p:nvPr/>
        </p:nvSpPr>
        <p:spPr>
          <a:xfrm>
            <a:off x="9262872" y="2221992"/>
            <a:ext cx="2194560" cy="3767328"/>
          </a:xfrm>
          <a:prstGeom prst="roundRect">
            <a:avLst>
              <a:gd name="adj" fmla="val 3333"/>
            </a:avLst>
          </a:prstGeom>
          <a:solidFill>
            <a:srgbClr val="FFFFFF"/>
          </a:solidFill>
          <a:ln w="9525">
            <a:solidFill>
              <a:srgbClr val="C9D3DE"/>
            </a:solidFill>
            <a:prstDash val="solid"/>
          </a:ln>
        </p:spPr>
      </p:sp>
      <p:sp>
        <p:nvSpPr>
          <p:cNvPr id="50" name="Shape 47"/>
          <p:cNvSpPr/>
          <p:nvPr/>
        </p:nvSpPr>
        <p:spPr>
          <a:xfrm>
            <a:off x="9381744" y="2404872"/>
            <a:ext cx="274320" cy="274320"/>
          </a:xfrm>
          <a:prstGeom prst="ellipse">
            <a:avLst/>
          </a:prstGeom>
          <a:solidFill>
            <a:srgbClr val="8290C8"/>
          </a:solidFill>
          <a:ln w="12700">
            <a:solidFill>
              <a:srgbClr val="8290C8"/>
            </a:solidFill>
            <a:prstDash val="solid"/>
          </a:ln>
        </p:spPr>
      </p:sp>
      <p:sp>
        <p:nvSpPr>
          <p:cNvPr id="51" name="Shape 48"/>
          <p:cNvSpPr/>
          <p:nvPr/>
        </p:nvSpPr>
        <p:spPr>
          <a:xfrm>
            <a:off x="9454896" y="2478024"/>
            <a:ext cx="128016" cy="128016"/>
          </a:xfrm>
          <a:prstGeom prst="ellipse">
            <a:avLst/>
          </a:prstGeom>
          <a:solidFill>
            <a:srgbClr val="FFFFFF"/>
          </a:solidFill>
          <a:ln w="12700">
            <a:solidFill>
              <a:srgbClr val="FFFFFF"/>
            </a:solidFill>
            <a:prstDash val="solid"/>
          </a:ln>
        </p:spPr>
      </p:sp>
      <p:sp>
        <p:nvSpPr>
          <p:cNvPr id="52" name="Text 49"/>
          <p:cNvSpPr txBox="1"/>
          <p:nvPr/>
        </p:nvSpPr>
        <p:spPr>
          <a:xfrm>
            <a:off x="9747504" y="2386584"/>
            <a:ext cx="1591056" cy="310896"/>
          </a:xfrm>
          <a:prstGeom prst="rect">
            <a:avLst/>
          </a:prstGeom>
          <a:noFill/>
          <a:ln/>
        </p:spPr>
        <p:txBody>
          <a:bodyPr wrap="square" lIns="0" tIns="0" rIns="0" bIns="0" rtlCol="0" anchor="ctr"/>
          <a:lstStyle/>
          <a:p>
            <a:pPr indent="0" marL="0">
              <a:buNone/>
            </a:pPr>
            <a:r>
              <a:rPr lang="en-US" sz="1650" dirty="0">
                <a:solidFill>
                  <a:srgbClr val="6F7EB8"/>
                </a:solidFill>
                <a:latin typeface="Calibri" pitchFamily="34" charset="0"/>
                <a:ea typeface="Calibri" pitchFamily="34" charset="-122"/>
                <a:cs typeface="Calibri" pitchFamily="34" charset="-120"/>
              </a:rPr>
              <a:t>Pulse Surveys</a:t>
            </a:r>
            <a:endParaRPr lang="en-US" sz="1650" dirty="0"/>
          </a:p>
        </p:txBody>
      </p:sp>
      <p:sp>
        <p:nvSpPr>
          <p:cNvPr id="53" name="Text 50"/>
          <p:cNvSpPr txBox="1"/>
          <p:nvPr/>
        </p:nvSpPr>
        <p:spPr>
          <a:xfrm>
            <a:off x="9381744" y="2798064"/>
            <a:ext cx="1956816" cy="237998"/>
          </a:xfrm>
          <a:prstGeom prst="rect">
            <a:avLst/>
          </a:prstGeom>
          <a:noFill/>
          <a:ln/>
        </p:spPr>
        <p:txBody>
          <a:bodyPr wrap="square" lIns="0" tIns="0" rIns="0" bIns="0" rtlCol="0" anchor="t"/>
          <a:lstStyle/>
          <a:p>
            <a:pPr indent="0" marL="0">
              <a:buNone/>
            </a:pPr>
            <a:r>
              <a:rPr lang="en-US" sz="1300" b="1" dirty="0">
                <a:solidFill>
                  <a:srgbClr val="1B2A4A"/>
                </a:solidFill>
                <a:latin typeface="Calibri" pitchFamily="34" charset="0"/>
                <a:ea typeface="Calibri" pitchFamily="34" charset="-122"/>
                <a:cs typeface="Calibri" pitchFamily="34" charset="-120"/>
              </a:rPr>
              <a:t>Security Notification</a:t>
            </a:r>
            <a:endParaRPr lang="en-US" sz="1300" dirty="0"/>
          </a:p>
        </p:txBody>
      </p:sp>
      <p:sp>
        <p:nvSpPr>
          <p:cNvPr id="54" name="Text 51"/>
          <p:cNvSpPr txBox="1"/>
          <p:nvPr/>
        </p:nvSpPr>
        <p:spPr>
          <a:xfrm>
            <a:off x="9381744" y="3072638"/>
            <a:ext cx="1956816" cy="617601"/>
          </a:xfrm>
          <a:prstGeom prst="rect">
            <a:avLst/>
          </a:prstGeom>
          <a:noFill/>
          <a:ln/>
        </p:spPr>
        <p:txBody>
          <a:bodyPr wrap="square" lIns="0" tIns="0" rIns="0" bIns="0" rtlCol="0" anchor="t"/>
          <a:lstStyle/>
          <a:p>
            <a:pPr indent="0" marL="0">
              <a:buNone/>
            </a:pPr>
            <a:r>
              <a:rPr lang="en-US" sz="1250" dirty="0">
                <a:solidFill>
                  <a:srgbClr val="1E2E3A"/>
                </a:solidFill>
                <a:latin typeface="Calibri" pitchFamily="34" charset="0"/>
                <a:ea typeface="Calibri" pitchFamily="34" charset="-122"/>
                <a:cs typeface="Calibri" pitchFamily="34" charset="-120"/>
              </a:rPr>
              <a:t>We are investigating a security incident in our environment.</a:t>
            </a:r>
            <a:endParaRPr lang="en-US" sz="1250" dirty="0"/>
          </a:p>
        </p:txBody>
      </p:sp>
      <p:sp>
        <p:nvSpPr>
          <p:cNvPr id="55" name="Text 52"/>
          <p:cNvSpPr txBox="1"/>
          <p:nvPr/>
        </p:nvSpPr>
        <p:spPr>
          <a:xfrm>
            <a:off x="9381744" y="3726815"/>
            <a:ext cx="1956816" cy="1392301"/>
          </a:xfrm>
          <a:prstGeom prst="rect">
            <a:avLst/>
          </a:prstGeom>
          <a:noFill/>
          <a:ln/>
        </p:spPr>
        <p:txBody>
          <a:bodyPr wrap="square" lIns="0" tIns="0" rIns="0" bIns="0" rtlCol="0" anchor="t"/>
          <a:lstStyle/>
          <a:p>
            <a:pPr indent="0" marL="0">
              <a:buNone/>
            </a:pPr>
            <a:r>
              <a:rPr lang="en-US" sz="1250" dirty="0">
                <a:solidFill>
                  <a:srgbClr val="1E2E3A"/>
                </a:solidFill>
                <a:latin typeface="Calibri" pitchFamily="34" charset="0"/>
                <a:ea typeface="Calibri" pitchFamily="34" charset="-122"/>
                <a:cs typeface="Calibri" pitchFamily="34" charset="-120"/>
              </a:rPr>
              <a:t>A threat actor gained access and may have sent unauthorized communications through our platform. Multiple customers are impacted.</a:t>
            </a:r>
            <a:endParaRPr lang="en-US" sz="1250" dirty="0"/>
          </a:p>
        </p:txBody>
      </p:sp>
      <p:sp>
        <p:nvSpPr>
          <p:cNvPr id="56" name="Text 53"/>
          <p:cNvSpPr txBox="1"/>
          <p:nvPr/>
        </p:nvSpPr>
        <p:spPr>
          <a:xfrm>
            <a:off x="9381744" y="5155692"/>
            <a:ext cx="1956816" cy="617601"/>
          </a:xfrm>
          <a:prstGeom prst="rect">
            <a:avLst/>
          </a:prstGeom>
          <a:noFill/>
          <a:ln/>
        </p:spPr>
        <p:txBody>
          <a:bodyPr wrap="square" lIns="0" tIns="0" rIns="0" bIns="0" rtlCol="0" anchor="t"/>
          <a:lstStyle/>
          <a:p>
            <a:pPr indent="0" marL="0">
              <a:buNone/>
            </a:pPr>
            <a:r>
              <a:rPr lang="en-US" sz="1250" dirty="0">
                <a:solidFill>
                  <a:srgbClr val="1E2E3A"/>
                </a:solidFill>
                <a:latin typeface="Calibri" pitchFamily="34" charset="0"/>
                <a:ea typeface="Calibri" pitchFamily="34" charset="-122"/>
                <a:cs typeface="Calibri" pitchFamily="34" charset="-120"/>
              </a:rPr>
              <a:t>We will provide updates as we learn more.</a:t>
            </a:r>
            <a:endParaRPr lang="en-US" sz="1250" dirty="0"/>
          </a:p>
        </p:txBody>
      </p:sp>
      <p:sp>
        <p:nvSpPr>
          <p:cNvPr id="57" name="Text 54"/>
          <p:cNvSpPr txBox="1"/>
          <p:nvPr/>
        </p:nvSpPr>
        <p:spPr>
          <a:xfrm>
            <a:off x="548640" y="6254496"/>
            <a:ext cx="11091672" cy="256032"/>
          </a:xfrm>
          <a:prstGeom prst="rect">
            <a:avLst/>
          </a:prstGeom>
          <a:noFill/>
          <a:ln/>
        </p:spPr>
        <p:txBody>
          <a:bodyPr wrap="square" lIns="0" tIns="0" rIns="0" bIns="0" rtlCol="0" anchor="ctr"/>
          <a:lstStyle/>
          <a:p>
            <a:pPr indent="0" marL="0">
              <a:buNone/>
            </a:pPr>
            <a:r>
              <a:rPr lang="en-US" sz="1200" b="1" dirty="0">
                <a:solidFill>
                  <a:srgbClr val="465A69"/>
                </a:solidFill>
                <a:latin typeface="Calibri" pitchFamily="34" charset="0"/>
                <a:ea typeface="Calibri" pitchFamily="34" charset="-122"/>
                <a:cs typeface="Calibri" pitchFamily="34" charset="-120"/>
              </a:rPr>
              <a:t>Acronyms:  </a:t>
            </a:r>
            <a:pPr indent="0" marL="0">
              <a:buNone/>
            </a:pPr>
            <a:r>
              <a:rPr lang="en-US" sz="1200" dirty="0">
                <a:solidFill>
                  <a:srgbClr val="465A69"/>
                </a:solidFill>
                <a:latin typeface="Calibri" pitchFamily="34" charset="0"/>
                <a:ea typeface="Calibri" pitchFamily="34" charset="-122"/>
                <a:cs typeface="Calibri" pitchFamily="34" charset="-120"/>
              </a:rPr>
              <a:t>T+: time since the first signal</a:t>
            </a:r>
            <a:endParaRPr lang="en-US" sz="1200" dirty="0"/>
          </a:p>
        </p:txBody>
      </p:sp>
      <p:sp>
        <p:nvSpPr>
          <p:cNvPr id="58" name="Shape 55"/>
          <p:cNvSpPr/>
          <p:nvPr/>
        </p:nvSpPr>
        <p:spPr>
          <a:xfrm>
            <a:off x="548640" y="6537960"/>
            <a:ext cx="763524" cy="274320"/>
          </a:xfrm>
          <a:prstGeom prst="roundRect">
            <a:avLst>
              <a:gd name="adj" fmla="val 50000"/>
            </a:avLst>
          </a:prstGeom>
          <a:solidFill>
            <a:srgbClr val="E4ECF2"/>
          </a:solidFill>
          <a:ln w="12700">
            <a:solidFill>
              <a:srgbClr val="E4ECF2"/>
            </a:solidFill>
            <a:prstDash val="solid"/>
          </a:ln>
        </p:spPr>
      </p:sp>
      <p:sp>
        <p:nvSpPr>
          <p:cNvPr id="59" name="Text 56"/>
          <p:cNvSpPr txBox="1"/>
          <p:nvPr/>
        </p:nvSpPr>
        <p:spPr>
          <a:xfrm>
            <a:off x="548640" y="6537960"/>
            <a:ext cx="763524" cy="274320"/>
          </a:xfrm>
          <a:prstGeom prst="rect">
            <a:avLst/>
          </a:prstGeom>
          <a:noFill/>
          <a:ln/>
        </p:spPr>
        <p:txBody>
          <a:bodyPr wrap="square" lIns="0" tIns="0" rIns="0" bIns="0" rtlCol="0" anchor="ctr"/>
          <a:lstStyle/>
          <a:p>
            <a:pPr algn="ctr" indent="0" marL="0">
              <a:buNone/>
            </a:pPr>
            <a:r>
              <a:rPr lang="en-US" sz="1200" b="1" dirty="0">
                <a:solidFill>
                  <a:srgbClr val="23405A"/>
                </a:solidFill>
                <a:latin typeface="Calibri" pitchFamily="34" charset="0"/>
                <a:ea typeface="Calibri" pitchFamily="34" charset="-122"/>
                <a:cs typeface="Calibri" pitchFamily="34" charset="-120"/>
              </a:rPr>
              <a:t>Start</a:t>
            </a:r>
            <a:endParaRPr lang="en-US" sz="1200" dirty="0"/>
          </a:p>
        </p:txBody>
      </p:sp>
      <p:pic>
        <p:nvPicPr>
          <p:cNvPr id="60" name="Image 1" descr="preencoded.png">
            <a:hlinkClick r:id="rId3" tooltip="Go to Start" action="ppaction://hlinksldjump"/>
          </p:cNvPr>
          <p:cNvPicPr>
            <a:picLocks noChangeAspect="1"/>
          </p:cNvPicPr>
          <p:nvPr/>
        </p:nvPicPr>
        <p:blipFill>
          <a:blip r:embed="rId2"/>
          <a:stretch>
            <a:fillRect/>
          </a:stretch>
        </p:blipFill>
        <p:spPr>
          <a:xfrm>
            <a:off x="548640" y="6537960"/>
            <a:ext cx="763524" cy="274320"/>
          </a:xfrm>
          <a:prstGeom prst="rect">
            <a:avLst/>
          </a:prstGeom>
        </p:spPr>
      </p:pic>
      <p:sp>
        <p:nvSpPr>
          <p:cNvPr id="61" name="Shape 57"/>
          <p:cNvSpPr/>
          <p:nvPr/>
        </p:nvSpPr>
        <p:spPr>
          <a:xfrm>
            <a:off x="1385316" y="6537960"/>
            <a:ext cx="1197864" cy="274320"/>
          </a:xfrm>
          <a:prstGeom prst="roundRect">
            <a:avLst>
              <a:gd name="adj" fmla="val 50000"/>
            </a:avLst>
          </a:prstGeom>
          <a:solidFill>
            <a:srgbClr val="3F6E8C"/>
          </a:solidFill>
          <a:ln w="12700">
            <a:solidFill>
              <a:srgbClr val="3F6E8C"/>
            </a:solidFill>
            <a:prstDash val="solid"/>
          </a:ln>
        </p:spPr>
      </p:sp>
      <p:sp>
        <p:nvSpPr>
          <p:cNvPr id="62" name="Text 58"/>
          <p:cNvSpPr txBox="1"/>
          <p:nvPr/>
        </p:nvSpPr>
        <p:spPr>
          <a:xfrm>
            <a:off x="1385316" y="6537960"/>
            <a:ext cx="1197864"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Scenario 1</a:t>
            </a:r>
            <a:endParaRPr lang="en-US" sz="1200" dirty="0"/>
          </a:p>
        </p:txBody>
      </p:sp>
      <p:pic>
        <p:nvPicPr>
          <p:cNvPr id="63" name="Image 2" descr="preencoded.png">
            <a:hlinkClick r:id="rId5" tooltip="Go to Scenario 1" action="ppaction://hlinksldjump"/>
          </p:cNvPr>
          <p:cNvPicPr>
            <a:picLocks noChangeAspect="1"/>
          </p:cNvPicPr>
          <p:nvPr/>
        </p:nvPicPr>
        <p:blipFill>
          <a:blip r:embed="rId4"/>
          <a:stretch>
            <a:fillRect/>
          </a:stretch>
        </p:blipFill>
        <p:spPr>
          <a:xfrm>
            <a:off x="1385316" y="6537960"/>
            <a:ext cx="1197864" cy="274320"/>
          </a:xfrm>
          <a:prstGeom prst="rect">
            <a:avLst/>
          </a:prstGeom>
        </p:spPr>
      </p:pic>
      <p:sp>
        <p:nvSpPr>
          <p:cNvPr id="64" name="Shape 59"/>
          <p:cNvSpPr/>
          <p:nvPr/>
        </p:nvSpPr>
        <p:spPr>
          <a:xfrm>
            <a:off x="2656332" y="6537960"/>
            <a:ext cx="1197864" cy="274320"/>
          </a:xfrm>
          <a:prstGeom prst="roundRect">
            <a:avLst>
              <a:gd name="adj" fmla="val 50000"/>
            </a:avLst>
          </a:prstGeom>
          <a:solidFill>
            <a:srgbClr val="F1F8F3"/>
          </a:solidFill>
          <a:ln w="12700">
            <a:solidFill>
              <a:srgbClr val="F1F8F3"/>
            </a:solidFill>
            <a:prstDash val="solid"/>
          </a:ln>
        </p:spPr>
      </p:sp>
      <p:sp>
        <p:nvSpPr>
          <p:cNvPr id="65" name="Text 60"/>
          <p:cNvSpPr txBox="1"/>
          <p:nvPr/>
        </p:nvSpPr>
        <p:spPr>
          <a:xfrm>
            <a:off x="2656332" y="6537960"/>
            <a:ext cx="1197864" cy="274320"/>
          </a:xfrm>
          <a:prstGeom prst="rect">
            <a:avLst/>
          </a:prstGeom>
          <a:noFill/>
          <a:ln/>
        </p:spPr>
        <p:txBody>
          <a:bodyPr wrap="square" lIns="0" tIns="0" rIns="0" bIns="0" rtlCol="0" anchor="ctr"/>
          <a:lstStyle/>
          <a:p>
            <a:pPr algn="ctr" indent="0" marL="0">
              <a:buNone/>
            </a:pPr>
            <a:r>
              <a:rPr lang="en-US" sz="1200" b="1" dirty="0">
                <a:solidFill>
                  <a:srgbClr val="4C8068"/>
                </a:solidFill>
                <a:latin typeface="Calibri" pitchFamily="34" charset="0"/>
                <a:ea typeface="Calibri" pitchFamily="34" charset="-122"/>
                <a:cs typeface="Calibri" pitchFamily="34" charset="-120"/>
              </a:rPr>
              <a:t>Scenario 2</a:t>
            </a:r>
            <a:endParaRPr lang="en-US" sz="1200" dirty="0"/>
          </a:p>
        </p:txBody>
      </p:sp>
      <p:pic>
        <p:nvPicPr>
          <p:cNvPr id="66" name="Image 3" descr="preencoded.png">
            <a:hlinkClick r:id="rId7" tooltip="Go to Scenario 2" action="ppaction://hlinksldjump"/>
          </p:cNvPr>
          <p:cNvPicPr>
            <a:picLocks noChangeAspect="1"/>
          </p:cNvPicPr>
          <p:nvPr/>
        </p:nvPicPr>
        <p:blipFill>
          <a:blip r:embed="rId6"/>
          <a:stretch>
            <a:fillRect/>
          </a:stretch>
        </p:blipFill>
        <p:spPr>
          <a:xfrm>
            <a:off x="2656332" y="6537960"/>
            <a:ext cx="1197864" cy="274320"/>
          </a:xfrm>
          <a:prstGeom prst="rect">
            <a:avLst/>
          </a:prstGeom>
        </p:spPr>
      </p:pic>
      <p:sp>
        <p:nvSpPr>
          <p:cNvPr id="67" name="Shape 61"/>
          <p:cNvSpPr/>
          <p:nvPr/>
        </p:nvSpPr>
        <p:spPr>
          <a:xfrm>
            <a:off x="3927348" y="6537960"/>
            <a:ext cx="1197864" cy="274320"/>
          </a:xfrm>
          <a:prstGeom prst="roundRect">
            <a:avLst>
              <a:gd name="adj" fmla="val 50000"/>
            </a:avLst>
          </a:prstGeom>
          <a:solidFill>
            <a:srgbClr val="F6F3FA"/>
          </a:solidFill>
          <a:ln w="12700">
            <a:solidFill>
              <a:srgbClr val="F6F3FA"/>
            </a:solidFill>
            <a:prstDash val="solid"/>
          </a:ln>
        </p:spPr>
      </p:sp>
      <p:sp>
        <p:nvSpPr>
          <p:cNvPr id="68" name="Text 62"/>
          <p:cNvSpPr txBox="1"/>
          <p:nvPr/>
        </p:nvSpPr>
        <p:spPr>
          <a:xfrm>
            <a:off x="3927348" y="6537960"/>
            <a:ext cx="1197864" cy="274320"/>
          </a:xfrm>
          <a:prstGeom prst="rect">
            <a:avLst/>
          </a:prstGeom>
          <a:noFill/>
          <a:ln/>
        </p:spPr>
        <p:txBody>
          <a:bodyPr wrap="square" lIns="0" tIns="0" rIns="0" bIns="0" rtlCol="0" anchor="ctr"/>
          <a:lstStyle/>
          <a:p>
            <a:pPr algn="ctr" indent="0" marL="0">
              <a:buNone/>
            </a:pPr>
            <a:r>
              <a:rPr lang="en-US" sz="1200" b="1" dirty="0">
                <a:solidFill>
                  <a:srgbClr val="6E5E94"/>
                </a:solidFill>
                <a:latin typeface="Calibri" pitchFamily="34" charset="0"/>
                <a:ea typeface="Calibri" pitchFamily="34" charset="-122"/>
                <a:cs typeface="Calibri" pitchFamily="34" charset="-120"/>
              </a:rPr>
              <a:t>Scenario 3</a:t>
            </a:r>
            <a:endParaRPr lang="en-US" sz="1200" dirty="0"/>
          </a:p>
        </p:txBody>
      </p:sp>
      <p:pic>
        <p:nvPicPr>
          <p:cNvPr id="69" name="Image 4" descr="preencoded.png">
            <a:hlinkClick r:id="rId9" tooltip="Go to Scenario 3" action="ppaction://hlinksldjump"/>
          </p:cNvPr>
          <p:cNvPicPr>
            <a:picLocks noChangeAspect="1"/>
          </p:cNvPicPr>
          <p:nvPr/>
        </p:nvPicPr>
        <p:blipFill>
          <a:blip r:embed="rId8"/>
          <a:stretch>
            <a:fillRect/>
          </a:stretch>
        </p:blipFill>
        <p:spPr>
          <a:xfrm>
            <a:off x="3927348" y="6537960"/>
            <a:ext cx="1197864" cy="274320"/>
          </a:xfrm>
          <a:prstGeom prst="rect">
            <a:avLst/>
          </a:prstGeom>
        </p:spPr>
      </p:pic>
      <p:sp>
        <p:nvSpPr>
          <p:cNvPr id="70" name="Shape 63"/>
          <p:cNvSpPr/>
          <p:nvPr/>
        </p:nvSpPr>
        <p:spPr>
          <a:xfrm>
            <a:off x="5198364" y="6537960"/>
            <a:ext cx="937260" cy="274320"/>
          </a:xfrm>
          <a:prstGeom prst="roundRect">
            <a:avLst>
              <a:gd name="adj" fmla="val 50000"/>
            </a:avLst>
          </a:prstGeom>
          <a:solidFill>
            <a:srgbClr val="E4ECF2"/>
          </a:solidFill>
          <a:ln w="12700">
            <a:solidFill>
              <a:srgbClr val="E4ECF2"/>
            </a:solidFill>
            <a:prstDash val="solid"/>
          </a:ln>
        </p:spPr>
      </p:sp>
      <p:sp>
        <p:nvSpPr>
          <p:cNvPr id="71" name="Text 64"/>
          <p:cNvSpPr txBox="1"/>
          <p:nvPr/>
        </p:nvSpPr>
        <p:spPr>
          <a:xfrm>
            <a:off x="5198364" y="6537960"/>
            <a:ext cx="937260" cy="274320"/>
          </a:xfrm>
          <a:prstGeom prst="rect">
            <a:avLst/>
          </a:prstGeom>
          <a:noFill/>
          <a:ln/>
        </p:spPr>
        <p:txBody>
          <a:bodyPr wrap="square" lIns="0" tIns="0" rIns="0" bIns="0" rtlCol="0" anchor="ctr"/>
          <a:lstStyle/>
          <a:p>
            <a:pPr algn="ctr" indent="0" marL="0">
              <a:buNone/>
            </a:pPr>
            <a:r>
              <a:rPr lang="en-US" sz="1200" b="1" dirty="0">
                <a:solidFill>
                  <a:srgbClr val="23405A"/>
                </a:solidFill>
                <a:latin typeface="Calibri" pitchFamily="34" charset="0"/>
                <a:ea typeface="Calibri" pitchFamily="34" charset="-122"/>
                <a:cs typeface="Calibri" pitchFamily="34" charset="-120"/>
              </a:rPr>
              <a:t>Closing</a:t>
            </a:r>
            <a:endParaRPr lang="en-US" sz="1200" dirty="0"/>
          </a:p>
        </p:txBody>
      </p:sp>
      <p:pic>
        <p:nvPicPr>
          <p:cNvPr id="72" name="Image 5" descr="preencoded.png">
            <a:hlinkClick r:id="rId11" tooltip="Go to Closing" action="ppaction://hlinksldjump"/>
          </p:cNvPr>
          <p:cNvPicPr>
            <a:picLocks noChangeAspect="1"/>
          </p:cNvPicPr>
          <p:nvPr/>
        </p:nvPicPr>
        <p:blipFill>
          <a:blip r:embed="rId10"/>
          <a:stretch>
            <a:fillRect/>
          </a:stretch>
        </p:blipFill>
        <p:spPr>
          <a:xfrm>
            <a:off x="5198364" y="6537960"/>
            <a:ext cx="937260" cy="274320"/>
          </a:xfrm>
          <a:prstGeom prst="rect">
            <a:avLst/>
          </a:prstGeom>
        </p:spPr>
      </p:pic>
      <p:sp>
        <p:nvSpPr>
          <p:cNvPr id="73" name="Text 65"/>
          <p:cNvSpPr txBox="1"/>
          <p:nvPr/>
        </p:nvSpPr>
        <p:spPr>
          <a:xfrm>
            <a:off x="11277295" y="6537960"/>
            <a:ext cx="365760" cy="274320"/>
          </a:xfrm>
          <a:prstGeom prst="rect">
            <a:avLst/>
          </a:prstGeom>
          <a:noFill/>
          <a:ln/>
        </p:spPr>
        <p:txBody>
          <a:bodyPr wrap="square" lIns="0" tIns="0" rIns="0" bIns="0" rtlCol="0" anchor="ctr"/>
          <a:lstStyle/>
          <a:p>
            <a:pPr algn="r" indent="0" marL="0">
              <a:buNone/>
            </a:pPr>
            <a:r>
              <a:rPr lang="en-US" sz="1200" dirty="0">
                <a:solidFill>
                  <a:srgbClr val="465A69"/>
                </a:solidFill>
                <a:latin typeface="Calibri" pitchFamily="34" charset="0"/>
                <a:ea typeface="Calibri" pitchFamily="34" charset="-122"/>
                <a:cs typeface="Calibri"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6EEF6"/>
        </a:solidFill>
      </p:bgPr>
    </p:bg>
    <p:spTree>
      <p:nvGrpSpPr>
        <p:cNvPr id="1" name=""/>
        <p:cNvGrpSpPr/>
        <p:nvPr/>
      </p:nvGrpSpPr>
      <p:grpSpPr>
        <a:xfrm>
          <a:off x="0" y="0"/>
          <a:ext cx="0" cy="0"/>
          <a:chOff x="0" y="0"/>
          <a:chExt cx="0" cy="0"/>
        </a:xfrm>
      </p:grpSpPr>
      <p:sp>
        <p:nvSpPr>
          <p:cNvPr id="2" name="Shape 0"/>
          <p:cNvSpPr/>
          <p:nvPr/>
        </p:nvSpPr>
        <p:spPr>
          <a:xfrm>
            <a:off x="548640" y="347472"/>
            <a:ext cx="2843784" cy="329184"/>
          </a:xfrm>
          <a:prstGeom prst="roundRect">
            <a:avLst>
              <a:gd name="adj" fmla="val 50000"/>
            </a:avLst>
          </a:prstGeom>
          <a:solidFill>
            <a:srgbClr val="F1F6FA"/>
          </a:solidFill>
          <a:ln w="12700">
            <a:solidFill>
              <a:srgbClr val="F1F6FA"/>
            </a:solidFill>
            <a:prstDash val="solid"/>
          </a:ln>
        </p:spPr>
      </p:sp>
      <p:sp>
        <p:nvSpPr>
          <p:cNvPr id="3" name="Text 1"/>
          <p:cNvSpPr txBox="1"/>
          <p:nvPr/>
        </p:nvSpPr>
        <p:spPr>
          <a:xfrm>
            <a:off x="548640" y="347472"/>
            <a:ext cx="2843784" cy="329184"/>
          </a:xfrm>
          <a:prstGeom prst="rect">
            <a:avLst/>
          </a:prstGeom>
          <a:noFill/>
          <a:ln/>
        </p:spPr>
        <p:txBody>
          <a:bodyPr wrap="square" lIns="0" tIns="0" rIns="0" bIns="0" rtlCol="0" anchor="ctr"/>
          <a:lstStyle/>
          <a:p>
            <a:pPr algn="ctr" indent="0" marL="0">
              <a:buNone/>
            </a:pPr>
            <a:r>
              <a:rPr lang="en-US" sz="1200" b="1" dirty="0">
                <a:solidFill>
                  <a:srgbClr val="3F6E8C"/>
                </a:solidFill>
                <a:latin typeface="Calibri" pitchFamily="34" charset="0"/>
                <a:ea typeface="Calibri" pitchFamily="34" charset="-122"/>
                <a:cs typeface="Calibri" pitchFamily="34" charset="-120"/>
              </a:rPr>
              <a:t>Scenario 1: Incident Response</a:t>
            </a:r>
            <a:endParaRPr lang="en-US" sz="1200" dirty="0"/>
          </a:p>
        </p:txBody>
      </p:sp>
      <p:sp>
        <p:nvSpPr>
          <p:cNvPr id="4" name="Text 2"/>
          <p:cNvSpPr txBox="1"/>
          <p:nvPr/>
        </p:nvSpPr>
        <p:spPr>
          <a:xfrm>
            <a:off x="548640" y="749808"/>
            <a:ext cx="11064240" cy="640080"/>
          </a:xfrm>
          <a:prstGeom prst="rect">
            <a:avLst/>
          </a:prstGeom>
          <a:noFill/>
          <a:ln/>
        </p:spPr>
        <p:txBody>
          <a:bodyPr wrap="square" lIns="0" tIns="0" rIns="0" bIns="0" rtlCol="0" anchor="ctr"/>
          <a:lstStyle/>
          <a:p>
            <a:pPr indent="0" marL="0">
              <a:buNone/>
            </a:pPr>
            <a:r>
              <a:rPr lang="en-US" sz="2800" b="1" dirty="0">
                <a:solidFill>
                  <a:srgbClr val="23405A"/>
                </a:solidFill>
                <a:latin typeface="Calibri" pitchFamily="34" charset="0"/>
                <a:ea typeface="Calibri" pitchFamily="34" charset="-122"/>
                <a:cs typeface="Calibri" pitchFamily="34" charset="-120"/>
              </a:rPr>
              <a:t>T+6h: Leadership Pressure</a:t>
            </a:r>
            <a:endParaRPr lang="en-US" sz="2800" dirty="0"/>
          </a:p>
        </p:txBody>
      </p:sp>
      <p:sp>
        <p:nvSpPr>
          <p:cNvPr id="5" name="Shape 3"/>
          <p:cNvSpPr/>
          <p:nvPr/>
        </p:nvSpPr>
        <p:spPr>
          <a:xfrm>
            <a:off x="10705795" y="347472"/>
            <a:ext cx="937260" cy="329184"/>
          </a:xfrm>
          <a:prstGeom prst="roundRect">
            <a:avLst>
              <a:gd name="adj" fmla="val 50000"/>
            </a:avLst>
          </a:prstGeom>
          <a:solidFill>
            <a:srgbClr val="FFFFFF"/>
          </a:solidFill>
          <a:ln w="12700">
            <a:solidFill>
              <a:srgbClr val="FFFFFF"/>
            </a:solidFill>
            <a:prstDash val="solid"/>
          </a:ln>
        </p:spPr>
      </p:sp>
      <p:sp>
        <p:nvSpPr>
          <p:cNvPr id="6" name="Text 4"/>
          <p:cNvSpPr txBox="1"/>
          <p:nvPr/>
        </p:nvSpPr>
        <p:spPr>
          <a:xfrm>
            <a:off x="10705795" y="347472"/>
            <a:ext cx="937260" cy="329184"/>
          </a:xfrm>
          <a:prstGeom prst="rect">
            <a:avLst/>
          </a:prstGeom>
          <a:noFill/>
          <a:ln/>
        </p:spPr>
        <p:txBody>
          <a:bodyPr wrap="square" lIns="0" tIns="0" rIns="0" bIns="0" rtlCol="0" anchor="ctr"/>
          <a:lstStyle/>
          <a:p>
            <a:pPr algn="ctr" indent="0" marL="0">
              <a:buNone/>
            </a:pPr>
            <a:r>
              <a:rPr lang="en-US" sz="1200" dirty="0">
                <a:solidFill>
                  <a:srgbClr val="465A69"/>
                </a:solidFill>
                <a:latin typeface="Calibri" pitchFamily="34" charset="0"/>
                <a:ea typeface="Calibri" pitchFamily="34" charset="-122"/>
                <a:cs typeface="Calibri" pitchFamily="34" charset="-120"/>
              </a:rPr>
              <a:t>Hotwash</a:t>
            </a:r>
            <a:endParaRPr lang="en-US" sz="1200" dirty="0"/>
          </a:p>
        </p:txBody>
      </p:sp>
      <p:sp>
        <p:nvSpPr>
          <p:cNvPr id="7" name="Shape 5"/>
          <p:cNvSpPr/>
          <p:nvPr/>
        </p:nvSpPr>
        <p:spPr>
          <a:xfrm>
            <a:off x="9608515" y="347472"/>
            <a:ext cx="1024128" cy="329184"/>
          </a:xfrm>
          <a:prstGeom prst="roundRect">
            <a:avLst>
              <a:gd name="adj" fmla="val 50000"/>
            </a:avLst>
          </a:prstGeom>
          <a:solidFill>
            <a:srgbClr val="FFFFFF"/>
          </a:solidFill>
          <a:ln w="12700">
            <a:solidFill>
              <a:srgbClr val="FFFFFF"/>
            </a:solidFill>
            <a:prstDash val="solid"/>
          </a:ln>
        </p:spPr>
      </p:sp>
      <p:sp>
        <p:nvSpPr>
          <p:cNvPr id="8" name="Text 6"/>
          <p:cNvSpPr txBox="1"/>
          <p:nvPr/>
        </p:nvSpPr>
        <p:spPr>
          <a:xfrm>
            <a:off x="9608515" y="347472"/>
            <a:ext cx="1024128" cy="329184"/>
          </a:xfrm>
          <a:prstGeom prst="rect">
            <a:avLst/>
          </a:prstGeom>
          <a:noFill/>
          <a:ln/>
        </p:spPr>
        <p:txBody>
          <a:bodyPr wrap="square" lIns="0" tIns="0" rIns="0" bIns="0" rtlCol="0" anchor="ctr"/>
          <a:lstStyle/>
          <a:p>
            <a:pPr algn="ctr" indent="0" marL="0">
              <a:buNone/>
            </a:pPr>
            <a:r>
              <a:rPr lang="en-US" sz="1200" dirty="0">
                <a:solidFill>
                  <a:srgbClr val="465A69"/>
                </a:solidFill>
                <a:latin typeface="Calibri" pitchFamily="34" charset="0"/>
                <a:ea typeface="Calibri" pitchFamily="34" charset="-122"/>
                <a:cs typeface="Calibri" pitchFamily="34" charset="-120"/>
              </a:rPr>
              <a:t>Recovery</a:t>
            </a:r>
            <a:endParaRPr lang="en-US" sz="1200" dirty="0"/>
          </a:p>
        </p:txBody>
      </p:sp>
      <p:sp>
        <p:nvSpPr>
          <p:cNvPr id="9" name="Shape 7"/>
          <p:cNvSpPr/>
          <p:nvPr/>
        </p:nvSpPr>
        <p:spPr>
          <a:xfrm>
            <a:off x="8598103" y="347472"/>
            <a:ext cx="937260" cy="329184"/>
          </a:xfrm>
          <a:prstGeom prst="roundRect">
            <a:avLst>
              <a:gd name="adj" fmla="val 50000"/>
            </a:avLst>
          </a:prstGeom>
          <a:solidFill>
            <a:srgbClr val="3F6E8C"/>
          </a:solidFill>
          <a:ln w="12700">
            <a:solidFill>
              <a:srgbClr val="3F6E8C"/>
            </a:solidFill>
            <a:prstDash val="solid"/>
          </a:ln>
        </p:spPr>
      </p:sp>
      <p:sp>
        <p:nvSpPr>
          <p:cNvPr id="10" name="Text 8"/>
          <p:cNvSpPr txBox="1"/>
          <p:nvPr/>
        </p:nvSpPr>
        <p:spPr>
          <a:xfrm>
            <a:off x="8598103" y="347472"/>
            <a:ext cx="93726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Injects</a:t>
            </a:r>
            <a:endParaRPr lang="en-US" sz="1200" dirty="0"/>
          </a:p>
        </p:txBody>
      </p:sp>
      <p:sp>
        <p:nvSpPr>
          <p:cNvPr id="11" name="Shape 9"/>
          <p:cNvSpPr/>
          <p:nvPr/>
        </p:nvSpPr>
        <p:spPr>
          <a:xfrm>
            <a:off x="7674559" y="347472"/>
            <a:ext cx="850392" cy="329184"/>
          </a:xfrm>
          <a:prstGeom prst="roundRect">
            <a:avLst>
              <a:gd name="adj" fmla="val 50000"/>
            </a:avLst>
          </a:prstGeom>
          <a:solidFill>
            <a:srgbClr val="F1F6FA"/>
          </a:solidFill>
          <a:ln w="12700">
            <a:solidFill>
              <a:srgbClr val="F1F6FA"/>
            </a:solidFill>
            <a:prstDash val="solid"/>
          </a:ln>
        </p:spPr>
      </p:sp>
      <p:sp>
        <p:nvSpPr>
          <p:cNvPr id="12" name="Text 10"/>
          <p:cNvSpPr txBox="1"/>
          <p:nvPr/>
        </p:nvSpPr>
        <p:spPr>
          <a:xfrm>
            <a:off x="7674559" y="347472"/>
            <a:ext cx="850392" cy="329184"/>
          </a:xfrm>
          <a:prstGeom prst="rect">
            <a:avLst/>
          </a:prstGeom>
          <a:noFill/>
          <a:ln/>
        </p:spPr>
        <p:txBody>
          <a:bodyPr wrap="square" lIns="0" tIns="0" rIns="0" bIns="0" rtlCol="0" anchor="ctr"/>
          <a:lstStyle/>
          <a:p>
            <a:pPr algn="ctr" indent="0" marL="0">
              <a:buNone/>
            </a:pPr>
            <a:r>
              <a:rPr lang="en-US" sz="1200" dirty="0">
                <a:solidFill>
                  <a:srgbClr val="3F6E8C"/>
                </a:solidFill>
                <a:latin typeface="Calibri" pitchFamily="34" charset="0"/>
                <a:ea typeface="Calibri" pitchFamily="34" charset="-122"/>
                <a:cs typeface="Calibri" pitchFamily="34" charset="-120"/>
              </a:rPr>
              <a:t>Decide</a:t>
            </a:r>
            <a:endParaRPr lang="en-US" sz="1200" dirty="0"/>
          </a:p>
        </p:txBody>
      </p:sp>
      <p:sp>
        <p:nvSpPr>
          <p:cNvPr id="13" name="Shape 11"/>
          <p:cNvSpPr/>
          <p:nvPr/>
        </p:nvSpPr>
        <p:spPr>
          <a:xfrm>
            <a:off x="7011619" y="347472"/>
            <a:ext cx="589788" cy="329184"/>
          </a:xfrm>
          <a:prstGeom prst="roundRect">
            <a:avLst>
              <a:gd name="adj" fmla="val 50000"/>
            </a:avLst>
          </a:prstGeom>
          <a:solidFill>
            <a:srgbClr val="F1F6FA"/>
          </a:solidFill>
          <a:ln w="12700">
            <a:solidFill>
              <a:srgbClr val="F1F6FA"/>
            </a:solidFill>
            <a:prstDash val="solid"/>
          </a:ln>
        </p:spPr>
      </p:sp>
      <p:sp>
        <p:nvSpPr>
          <p:cNvPr id="14" name="Text 12"/>
          <p:cNvSpPr txBox="1"/>
          <p:nvPr/>
        </p:nvSpPr>
        <p:spPr>
          <a:xfrm>
            <a:off x="7011619" y="347472"/>
            <a:ext cx="589788" cy="329184"/>
          </a:xfrm>
          <a:prstGeom prst="rect">
            <a:avLst/>
          </a:prstGeom>
          <a:noFill/>
          <a:ln/>
        </p:spPr>
        <p:txBody>
          <a:bodyPr wrap="square" lIns="0" tIns="0" rIns="0" bIns="0" rtlCol="0" anchor="ctr"/>
          <a:lstStyle/>
          <a:p>
            <a:pPr algn="ctr" indent="0" marL="0">
              <a:buNone/>
            </a:pPr>
            <a:r>
              <a:rPr lang="en-US" sz="1200" dirty="0">
                <a:solidFill>
                  <a:srgbClr val="3F6E8C"/>
                </a:solidFill>
                <a:latin typeface="Calibri" pitchFamily="34" charset="0"/>
                <a:ea typeface="Calibri" pitchFamily="34" charset="-122"/>
                <a:cs typeface="Calibri" pitchFamily="34" charset="-120"/>
              </a:rPr>
              <a:t>T+0</a:t>
            </a:r>
            <a:endParaRPr lang="en-US" sz="1200" dirty="0"/>
          </a:p>
        </p:txBody>
      </p:sp>
      <p:sp>
        <p:nvSpPr>
          <p:cNvPr id="15" name="Shape 13"/>
          <p:cNvSpPr/>
          <p:nvPr/>
        </p:nvSpPr>
        <p:spPr>
          <a:xfrm>
            <a:off x="5740603" y="347472"/>
            <a:ext cx="1197864" cy="329184"/>
          </a:xfrm>
          <a:prstGeom prst="roundRect">
            <a:avLst>
              <a:gd name="adj" fmla="val 50000"/>
            </a:avLst>
          </a:prstGeom>
          <a:solidFill>
            <a:srgbClr val="F1F6FA"/>
          </a:solidFill>
          <a:ln w="12700">
            <a:solidFill>
              <a:srgbClr val="F1F6FA"/>
            </a:solidFill>
            <a:prstDash val="solid"/>
          </a:ln>
        </p:spPr>
      </p:sp>
      <p:sp>
        <p:nvSpPr>
          <p:cNvPr id="16" name="Text 14"/>
          <p:cNvSpPr txBox="1"/>
          <p:nvPr/>
        </p:nvSpPr>
        <p:spPr>
          <a:xfrm>
            <a:off x="5740603" y="347472"/>
            <a:ext cx="1197864" cy="329184"/>
          </a:xfrm>
          <a:prstGeom prst="rect">
            <a:avLst/>
          </a:prstGeom>
          <a:noFill/>
          <a:ln/>
        </p:spPr>
        <p:txBody>
          <a:bodyPr wrap="square" lIns="0" tIns="0" rIns="0" bIns="0" rtlCol="0" anchor="ctr"/>
          <a:lstStyle/>
          <a:p>
            <a:pPr algn="ctr" indent="0" marL="0">
              <a:buNone/>
            </a:pPr>
            <a:r>
              <a:rPr lang="en-US" sz="1200" dirty="0">
                <a:solidFill>
                  <a:srgbClr val="3F6E8C"/>
                </a:solidFill>
                <a:latin typeface="Calibri" pitchFamily="34" charset="0"/>
                <a:ea typeface="Calibri" pitchFamily="34" charset="-122"/>
                <a:cs typeface="Calibri" pitchFamily="34" charset="-120"/>
              </a:rPr>
              <a:t>Background</a:t>
            </a:r>
            <a:endParaRPr lang="en-US" sz="1200" dirty="0"/>
          </a:p>
        </p:txBody>
      </p:sp>
      <p:sp>
        <p:nvSpPr>
          <p:cNvPr id="17" name="Shape 15"/>
          <p:cNvSpPr/>
          <p:nvPr/>
        </p:nvSpPr>
        <p:spPr>
          <a:xfrm>
            <a:off x="548640" y="1600200"/>
            <a:ext cx="2377440" cy="4572000"/>
          </a:xfrm>
          <a:prstGeom prst="roundRect">
            <a:avLst>
              <a:gd name="adj" fmla="val 5385"/>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18" name="Text 16"/>
          <p:cNvSpPr txBox="1"/>
          <p:nvPr/>
        </p:nvSpPr>
        <p:spPr>
          <a:xfrm>
            <a:off x="822960" y="1783080"/>
            <a:ext cx="1874520" cy="320040"/>
          </a:xfrm>
          <a:prstGeom prst="rect">
            <a:avLst/>
          </a:prstGeom>
          <a:noFill/>
          <a:ln/>
        </p:spPr>
        <p:txBody>
          <a:bodyPr wrap="square" lIns="0" tIns="0" rIns="0" bIns="0" rtlCol="0" anchor="t"/>
          <a:lstStyle/>
          <a:p>
            <a:pPr indent="0" marL="0">
              <a:buNone/>
            </a:pPr>
            <a:r>
              <a:rPr lang="en-US" sz="1400" b="1" dirty="0">
                <a:solidFill>
                  <a:srgbClr val="465A69"/>
                </a:solidFill>
                <a:latin typeface="Calibri" pitchFamily="34" charset="0"/>
                <a:ea typeface="Calibri" pitchFamily="34" charset="-122"/>
                <a:cs typeface="Calibri" pitchFamily="34" charset="-120"/>
              </a:rPr>
              <a:t>Timeline</a:t>
            </a:r>
            <a:endParaRPr lang="en-US" sz="1400" dirty="0"/>
          </a:p>
        </p:txBody>
      </p:sp>
      <p:sp>
        <p:nvSpPr>
          <p:cNvPr id="19" name="Shape 17"/>
          <p:cNvSpPr/>
          <p:nvPr/>
        </p:nvSpPr>
        <p:spPr>
          <a:xfrm>
            <a:off x="905256" y="2551176"/>
            <a:ext cx="0" cy="257338"/>
          </a:xfrm>
          <a:prstGeom prst="line">
            <a:avLst/>
          </a:prstGeom>
          <a:noFill/>
          <a:ln w="19050">
            <a:solidFill>
              <a:srgbClr val="3F6E8C"/>
            </a:solidFill>
            <a:prstDash val="solid"/>
          </a:ln>
        </p:spPr>
      </p:sp>
      <p:sp>
        <p:nvSpPr>
          <p:cNvPr id="20" name="Shape 18"/>
          <p:cNvSpPr/>
          <p:nvPr/>
        </p:nvSpPr>
        <p:spPr>
          <a:xfrm>
            <a:off x="777240" y="2267712"/>
            <a:ext cx="256032" cy="256032"/>
          </a:xfrm>
          <a:prstGeom prst="ellipse">
            <a:avLst/>
          </a:prstGeom>
          <a:solidFill>
            <a:srgbClr val="F1F6FA"/>
          </a:solidFill>
          <a:ln w="12700">
            <a:solidFill>
              <a:srgbClr val="F1F6FA"/>
            </a:solidFill>
            <a:prstDash val="solid"/>
          </a:ln>
        </p:spPr>
      </p:sp>
      <p:sp>
        <p:nvSpPr>
          <p:cNvPr id="21" name="Text 19"/>
          <p:cNvSpPr txBox="1"/>
          <p:nvPr/>
        </p:nvSpPr>
        <p:spPr>
          <a:xfrm>
            <a:off x="1188720" y="2203704"/>
            <a:ext cx="1645920" cy="568234"/>
          </a:xfrm>
          <a:prstGeom prst="rect">
            <a:avLst/>
          </a:prstGeom>
          <a:noFill/>
          <a:ln/>
        </p:spPr>
        <p:txBody>
          <a:bodyPr wrap="square" lIns="0" tIns="0" rIns="0" bIns="0" rtlCol="0" anchor="t"/>
          <a:lstStyle/>
          <a:p>
            <a:pPr indent="0" marL="0">
              <a:buNone/>
            </a:pPr>
            <a:r>
              <a:rPr lang="en-US" sz="1200" b="1" dirty="0">
                <a:solidFill>
                  <a:srgbClr val="465A69"/>
                </a:solidFill>
                <a:latin typeface="Calibri" pitchFamily="34" charset="0"/>
                <a:ea typeface="Calibri" pitchFamily="34" charset="-122"/>
                <a:cs typeface="Calibri" pitchFamily="34" charset="-120"/>
              </a:rPr>
              <a:t>T+0</a:t>
            </a:r>
            <a:endParaRPr lang="en-US" sz="1200" dirty="0"/>
          </a:p>
          <a:p>
            <a:pPr indent="0" marL="0">
              <a:buNone/>
            </a:pPr>
            <a:r>
              <a:rPr lang="en-US" sz="1200" dirty="0">
                <a:solidFill>
                  <a:srgbClr val="1E2E3A"/>
                </a:solidFill>
                <a:latin typeface="Calibri" pitchFamily="34" charset="0"/>
                <a:ea typeface="Calibri" pitchFamily="34" charset="-122"/>
                <a:cs typeface="Calibri" pitchFamily="34" charset="-120"/>
              </a:rPr>
              <a:t>Initial signal</a:t>
            </a:r>
            <a:endParaRPr lang="en-US" sz="1200" dirty="0"/>
          </a:p>
        </p:txBody>
      </p:sp>
      <p:sp>
        <p:nvSpPr>
          <p:cNvPr id="22" name="Shape 20"/>
          <p:cNvSpPr/>
          <p:nvPr/>
        </p:nvSpPr>
        <p:spPr>
          <a:xfrm>
            <a:off x="905256" y="3119410"/>
            <a:ext cx="0" cy="257338"/>
          </a:xfrm>
          <a:prstGeom prst="line">
            <a:avLst/>
          </a:prstGeom>
          <a:noFill/>
          <a:ln w="19050">
            <a:solidFill>
              <a:srgbClr val="3F6E8C"/>
            </a:solidFill>
            <a:prstDash val="solid"/>
          </a:ln>
        </p:spPr>
      </p:sp>
      <p:sp>
        <p:nvSpPr>
          <p:cNvPr id="23" name="Shape 21"/>
          <p:cNvSpPr/>
          <p:nvPr/>
        </p:nvSpPr>
        <p:spPr>
          <a:xfrm>
            <a:off x="777240" y="2835946"/>
            <a:ext cx="256032" cy="256032"/>
          </a:xfrm>
          <a:prstGeom prst="ellipse">
            <a:avLst/>
          </a:prstGeom>
          <a:solidFill>
            <a:srgbClr val="F1F6FA"/>
          </a:solidFill>
          <a:ln w="12700">
            <a:solidFill>
              <a:srgbClr val="F1F6FA"/>
            </a:solidFill>
            <a:prstDash val="solid"/>
          </a:ln>
        </p:spPr>
      </p:sp>
      <p:sp>
        <p:nvSpPr>
          <p:cNvPr id="24" name="Text 22"/>
          <p:cNvSpPr txBox="1"/>
          <p:nvPr/>
        </p:nvSpPr>
        <p:spPr>
          <a:xfrm>
            <a:off x="1188720" y="2771938"/>
            <a:ext cx="1645920" cy="568234"/>
          </a:xfrm>
          <a:prstGeom prst="rect">
            <a:avLst/>
          </a:prstGeom>
          <a:noFill/>
          <a:ln/>
        </p:spPr>
        <p:txBody>
          <a:bodyPr wrap="square" lIns="0" tIns="0" rIns="0" bIns="0" rtlCol="0" anchor="t"/>
          <a:lstStyle/>
          <a:p>
            <a:pPr indent="0" marL="0">
              <a:buNone/>
            </a:pPr>
            <a:r>
              <a:rPr lang="en-US" sz="1200" b="1" dirty="0">
                <a:solidFill>
                  <a:srgbClr val="465A69"/>
                </a:solidFill>
                <a:latin typeface="Calibri" pitchFamily="34" charset="0"/>
                <a:ea typeface="Calibri" pitchFamily="34" charset="-122"/>
                <a:cs typeface="Calibri" pitchFamily="34" charset="-120"/>
              </a:rPr>
              <a:t>T+30m</a:t>
            </a:r>
            <a:endParaRPr lang="en-US" sz="1200" dirty="0"/>
          </a:p>
          <a:p>
            <a:pPr indent="0" marL="0">
              <a:buNone/>
            </a:pPr>
            <a:r>
              <a:rPr lang="en-US" sz="1200" dirty="0">
                <a:solidFill>
                  <a:srgbClr val="1E2E3A"/>
                </a:solidFill>
                <a:latin typeface="Calibri" pitchFamily="34" charset="0"/>
                <a:ea typeface="Calibri" pitchFamily="34" charset="-122"/>
                <a:cs typeface="Calibri" pitchFamily="34" charset="-120"/>
              </a:rPr>
              <a:t>Suspicious activity</a:t>
            </a:r>
            <a:endParaRPr lang="en-US" sz="1200" dirty="0"/>
          </a:p>
        </p:txBody>
      </p:sp>
      <p:sp>
        <p:nvSpPr>
          <p:cNvPr id="25" name="Shape 23"/>
          <p:cNvSpPr/>
          <p:nvPr/>
        </p:nvSpPr>
        <p:spPr>
          <a:xfrm>
            <a:off x="905256" y="3687645"/>
            <a:ext cx="0" cy="257338"/>
          </a:xfrm>
          <a:prstGeom prst="line">
            <a:avLst/>
          </a:prstGeom>
          <a:noFill/>
          <a:ln w="19050">
            <a:solidFill>
              <a:srgbClr val="3F6E8C"/>
            </a:solidFill>
            <a:prstDash val="solid"/>
          </a:ln>
        </p:spPr>
      </p:sp>
      <p:sp>
        <p:nvSpPr>
          <p:cNvPr id="26" name="Shape 24"/>
          <p:cNvSpPr/>
          <p:nvPr/>
        </p:nvSpPr>
        <p:spPr>
          <a:xfrm>
            <a:off x="777240" y="3404181"/>
            <a:ext cx="256032" cy="256032"/>
          </a:xfrm>
          <a:prstGeom prst="ellipse">
            <a:avLst/>
          </a:prstGeom>
          <a:solidFill>
            <a:srgbClr val="F1F6FA"/>
          </a:solidFill>
          <a:ln w="12700">
            <a:solidFill>
              <a:srgbClr val="F1F6FA"/>
            </a:solidFill>
            <a:prstDash val="solid"/>
          </a:ln>
        </p:spPr>
      </p:sp>
      <p:sp>
        <p:nvSpPr>
          <p:cNvPr id="27" name="Text 25"/>
          <p:cNvSpPr txBox="1"/>
          <p:nvPr/>
        </p:nvSpPr>
        <p:spPr>
          <a:xfrm>
            <a:off x="1188720" y="3340173"/>
            <a:ext cx="1645920" cy="568234"/>
          </a:xfrm>
          <a:prstGeom prst="rect">
            <a:avLst/>
          </a:prstGeom>
          <a:noFill/>
          <a:ln/>
        </p:spPr>
        <p:txBody>
          <a:bodyPr wrap="square" lIns="0" tIns="0" rIns="0" bIns="0" rtlCol="0" anchor="t"/>
          <a:lstStyle/>
          <a:p>
            <a:pPr indent="0" marL="0">
              <a:buNone/>
            </a:pPr>
            <a:r>
              <a:rPr lang="en-US" sz="1200" b="1" dirty="0">
                <a:solidFill>
                  <a:srgbClr val="465A69"/>
                </a:solidFill>
                <a:latin typeface="Calibri" pitchFamily="34" charset="0"/>
                <a:ea typeface="Calibri" pitchFamily="34" charset="-122"/>
                <a:cs typeface="Calibri" pitchFamily="34" charset="-120"/>
              </a:rPr>
              <a:t>T+1h</a:t>
            </a:r>
            <a:endParaRPr lang="en-US" sz="1200" dirty="0"/>
          </a:p>
          <a:p>
            <a:pPr indent="0" marL="0">
              <a:buNone/>
            </a:pPr>
            <a:r>
              <a:rPr lang="en-US" sz="1200" dirty="0">
                <a:solidFill>
                  <a:srgbClr val="1E2E3A"/>
                </a:solidFill>
                <a:latin typeface="Calibri" pitchFamily="34" charset="0"/>
                <a:ea typeface="Calibri" pitchFamily="34" charset="-122"/>
                <a:cs typeface="Calibri" pitchFamily="34" charset="-120"/>
              </a:rPr>
              <a:t>Persistence</a:t>
            </a:r>
            <a:endParaRPr lang="en-US" sz="1200" dirty="0"/>
          </a:p>
        </p:txBody>
      </p:sp>
      <p:sp>
        <p:nvSpPr>
          <p:cNvPr id="28" name="Shape 26"/>
          <p:cNvSpPr/>
          <p:nvPr/>
        </p:nvSpPr>
        <p:spPr>
          <a:xfrm>
            <a:off x="905256" y="4255879"/>
            <a:ext cx="0" cy="257338"/>
          </a:xfrm>
          <a:prstGeom prst="line">
            <a:avLst/>
          </a:prstGeom>
          <a:noFill/>
          <a:ln w="19050">
            <a:solidFill>
              <a:srgbClr val="3F6E8C"/>
            </a:solidFill>
            <a:prstDash val="solid"/>
          </a:ln>
        </p:spPr>
      </p:sp>
      <p:sp>
        <p:nvSpPr>
          <p:cNvPr id="29" name="Shape 27"/>
          <p:cNvSpPr/>
          <p:nvPr/>
        </p:nvSpPr>
        <p:spPr>
          <a:xfrm>
            <a:off x="777240" y="3972415"/>
            <a:ext cx="256032" cy="256032"/>
          </a:xfrm>
          <a:prstGeom prst="ellipse">
            <a:avLst/>
          </a:prstGeom>
          <a:solidFill>
            <a:srgbClr val="F1F6FA"/>
          </a:solidFill>
          <a:ln w="12700">
            <a:solidFill>
              <a:srgbClr val="F1F6FA"/>
            </a:solidFill>
            <a:prstDash val="solid"/>
          </a:ln>
        </p:spPr>
      </p:sp>
      <p:sp>
        <p:nvSpPr>
          <p:cNvPr id="30" name="Text 28"/>
          <p:cNvSpPr txBox="1"/>
          <p:nvPr/>
        </p:nvSpPr>
        <p:spPr>
          <a:xfrm>
            <a:off x="1188720" y="3908407"/>
            <a:ext cx="1645920" cy="568234"/>
          </a:xfrm>
          <a:prstGeom prst="rect">
            <a:avLst/>
          </a:prstGeom>
          <a:noFill/>
          <a:ln/>
        </p:spPr>
        <p:txBody>
          <a:bodyPr wrap="square" lIns="0" tIns="0" rIns="0" bIns="0" rtlCol="0" anchor="t"/>
          <a:lstStyle/>
          <a:p>
            <a:pPr indent="0" marL="0">
              <a:buNone/>
            </a:pPr>
            <a:r>
              <a:rPr lang="en-US" sz="1200" b="1" dirty="0">
                <a:solidFill>
                  <a:srgbClr val="465A69"/>
                </a:solidFill>
                <a:latin typeface="Calibri" pitchFamily="34" charset="0"/>
                <a:ea typeface="Calibri" pitchFamily="34" charset="-122"/>
                <a:cs typeface="Calibri" pitchFamily="34" charset="-120"/>
              </a:rPr>
              <a:t>T+2h</a:t>
            </a:r>
            <a:endParaRPr lang="en-US" sz="1200" dirty="0"/>
          </a:p>
          <a:p>
            <a:pPr indent="0" marL="0">
              <a:buNone/>
            </a:pPr>
            <a:r>
              <a:rPr lang="en-US" sz="1200" dirty="0">
                <a:solidFill>
                  <a:srgbClr val="1E2E3A"/>
                </a:solidFill>
                <a:latin typeface="Calibri" pitchFamily="34" charset="0"/>
                <a:ea typeface="Calibri" pitchFamily="34" charset="-122"/>
                <a:cs typeface="Calibri" pitchFamily="34" charset="-120"/>
              </a:rPr>
              <a:t>Executive access</a:t>
            </a:r>
            <a:endParaRPr lang="en-US" sz="1200" dirty="0"/>
          </a:p>
        </p:txBody>
      </p:sp>
      <p:sp>
        <p:nvSpPr>
          <p:cNvPr id="31" name="Shape 29"/>
          <p:cNvSpPr/>
          <p:nvPr/>
        </p:nvSpPr>
        <p:spPr>
          <a:xfrm>
            <a:off x="905256" y="4824113"/>
            <a:ext cx="0" cy="257338"/>
          </a:xfrm>
          <a:prstGeom prst="line">
            <a:avLst/>
          </a:prstGeom>
          <a:noFill/>
          <a:ln w="19050">
            <a:solidFill>
              <a:srgbClr val="3F6E8C"/>
            </a:solidFill>
            <a:prstDash val="solid"/>
          </a:ln>
        </p:spPr>
      </p:sp>
      <p:sp>
        <p:nvSpPr>
          <p:cNvPr id="32" name="Shape 30"/>
          <p:cNvSpPr/>
          <p:nvPr/>
        </p:nvSpPr>
        <p:spPr>
          <a:xfrm>
            <a:off x="777240" y="4540649"/>
            <a:ext cx="256032" cy="256032"/>
          </a:xfrm>
          <a:prstGeom prst="ellipse">
            <a:avLst/>
          </a:prstGeom>
          <a:solidFill>
            <a:srgbClr val="F1F6FA"/>
          </a:solidFill>
          <a:ln w="12700">
            <a:solidFill>
              <a:srgbClr val="F1F6FA"/>
            </a:solidFill>
            <a:prstDash val="solid"/>
          </a:ln>
        </p:spPr>
      </p:sp>
      <p:sp>
        <p:nvSpPr>
          <p:cNvPr id="33" name="Text 31"/>
          <p:cNvSpPr txBox="1"/>
          <p:nvPr/>
        </p:nvSpPr>
        <p:spPr>
          <a:xfrm>
            <a:off x="1188720" y="4476641"/>
            <a:ext cx="1645920" cy="568234"/>
          </a:xfrm>
          <a:prstGeom prst="rect">
            <a:avLst/>
          </a:prstGeom>
          <a:noFill/>
          <a:ln/>
        </p:spPr>
        <p:txBody>
          <a:bodyPr wrap="square" lIns="0" tIns="0" rIns="0" bIns="0" rtlCol="0" anchor="t"/>
          <a:lstStyle/>
          <a:p>
            <a:pPr indent="0" marL="0">
              <a:buNone/>
            </a:pPr>
            <a:r>
              <a:rPr lang="en-US" sz="1200" b="1" dirty="0">
                <a:solidFill>
                  <a:srgbClr val="465A69"/>
                </a:solidFill>
                <a:latin typeface="Calibri" pitchFamily="34" charset="0"/>
                <a:ea typeface="Calibri" pitchFamily="34" charset="-122"/>
                <a:cs typeface="Calibri" pitchFamily="34" charset="-120"/>
              </a:rPr>
              <a:t>T+3h</a:t>
            </a:r>
            <a:endParaRPr lang="en-US" sz="1200" dirty="0"/>
          </a:p>
          <a:p>
            <a:pPr indent="0" marL="0">
              <a:buNone/>
            </a:pPr>
            <a:r>
              <a:rPr lang="en-US" sz="1200" dirty="0">
                <a:solidFill>
                  <a:srgbClr val="1E2E3A"/>
                </a:solidFill>
                <a:latin typeface="Calibri" pitchFamily="34" charset="0"/>
                <a:ea typeface="Calibri" pitchFamily="34" charset="-122"/>
                <a:cs typeface="Calibri" pitchFamily="34" charset="-120"/>
              </a:rPr>
              <a:t>Expansion attempt</a:t>
            </a:r>
            <a:endParaRPr lang="en-US" sz="1200" dirty="0"/>
          </a:p>
        </p:txBody>
      </p:sp>
      <p:sp>
        <p:nvSpPr>
          <p:cNvPr id="34" name="Shape 32"/>
          <p:cNvSpPr/>
          <p:nvPr/>
        </p:nvSpPr>
        <p:spPr>
          <a:xfrm>
            <a:off x="905256" y="5392347"/>
            <a:ext cx="0" cy="257338"/>
          </a:xfrm>
          <a:prstGeom prst="line">
            <a:avLst/>
          </a:prstGeom>
          <a:noFill/>
          <a:ln w="19050">
            <a:solidFill>
              <a:srgbClr val="3F6E8C"/>
            </a:solidFill>
            <a:prstDash val="solid"/>
          </a:ln>
        </p:spPr>
      </p:sp>
      <p:sp>
        <p:nvSpPr>
          <p:cNvPr id="35" name="Shape 33"/>
          <p:cNvSpPr/>
          <p:nvPr/>
        </p:nvSpPr>
        <p:spPr>
          <a:xfrm>
            <a:off x="777240" y="5108883"/>
            <a:ext cx="256032" cy="256032"/>
          </a:xfrm>
          <a:prstGeom prst="ellipse">
            <a:avLst/>
          </a:prstGeom>
          <a:solidFill>
            <a:srgbClr val="F1F6FA"/>
          </a:solidFill>
          <a:ln w="12700">
            <a:solidFill>
              <a:srgbClr val="F1F6FA"/>
            </a:solidFill>
            <a:prstDash val="solid"/>
          </a:ln>
        </p:spPr>
      </p:sp>
      <p:sp>
        <p:nvSpPr>
          <p:cNvPr id="36" name="Text 34"/>
          <p:cNvSpPr txBox="1"/>
          <p:nvPr/>
        </p:nvSpPr>
        <p:spPr>
          <a:xfrm>
            <a:off x="1188720" y="5044875"/>
            <a:ext cx="1645920" cy="568234"/>
          </a:xfrm>
          <a:prstGeom prst="rect">
            <a:avLst/>
          </a:prstGeom>
          <a:noFill/>
          <a:ln/>
        </p:spPr>
        <p:txBody>
          <a:bodyPr wrap="square" lIns="0" tIns="0" rIns="0" bIns="0" rtlCol="0" anchor="t"/>
          <a:lstStyle/>
          <a:p>
            <a:pPr indent="0" marL="0">
              <a:buNone/>
            </a:pPr>
            <a:r>
              <a:rPr lang="en-US" sz="1200" b="1" dirty="0">
                <a:solidFill>
                  <a:srgbClr val="465A69"/>
                </a:solidFill>
                <a:latin typeface="Calibri" pitchFamily="34" charset="0"/>
                <a:ea typeface="Calibri" pitchFamily="34" charset="-122"/>
                <a:cs typeface="Calibri" pitchFamily="34" charset="-120"/>
              </a:rPr>
              <a:t>T+4h</a:t>
            </a:r>
            <a:endParaRPr lang="en-US" sz="1200" dirty="0"/>
          </a:p>
          <a:p>
            <a:pPr indent="0" marL="0">
              <a:buNone/>
            </a:pPr>
            <a:r>
              <a:rPr lang="en-US" sz="1200" dirty="0">
                <a:solidFill>
                  <a:srgbClr val="1E2E3A"/>
                </a:solidFill>
                <a:latin typeface="Calibri" pitchFamily="34" charset="0"/>
                <a:ea typeface="Calibri" pitchFamily="34" charset="-122"/>
                <a:cs typeface="Calibri" pitchFamily="34" charset="-120"/>
              </a:rPr>
              <a:t>Vendor confirmation</a:t>
            </a:r>
            <a:endParaRPr lang="en-US" sz="1200" dirty="0"/>
          </a:p>
        </p:txBody>
      </p:sp>
      <p:sp>
        <p:nvSpPr>
          <p:cNvPr id="37" name="Shape 35"/>
          <p:cNvSpPr/>
          <p:nvPr/>
        </p:nvSpPr>
        <p:spPr>
          <a:xfrm>
            <a:off x="777240" y="5677118"/>
            <a:ext cx="256032" cy="256032"/>
          </a:xfrm>
          <a:prstGeom prst="ellipse">
            <a:avLst/>
          </a:prstGeom>
          <a:solidFill>
            <a:srgbClr val="3F6E8C"/>
          </a:solidFill>
          <a:ln w="12700">
            <a:solidFill>
              <a:srgbClr val="3F6E8C"/>
            </a:solidFill>
            <a:prstDash val="solid"/>
          </a:ln>
        </p:spPr>
      </p:sp>
      <p:sp>
        <p:nvSpPr>
          <p:cNvPr id="38" name="Text 36"/>
          <p:cNvSpPr txBox="1"/>
          <p:nvPr/>
        </p:nvSpPr>
        <p:spPr>
          <a:xfrm>
            <a:off x="1188720" y="5613110"/>
            <a:ext cx="1645920" cy="568234"/>
          </a:xfrm>
          <a:prstGeom prst="rect">
            <a:avLst/>
          </a:prstGeom>
          <a:noFill/>
          <a:ln/>
        </p:spPr>
        <p:txBody>
          <a:bodyPr wrap="square" lIns="0" tIns="0" rIns="0" bIns="0" rtlCol="0" anchor="t"/>
          <a:lstStyle/>
          <a:p>
            <a:pPr indent="0" marL="0">
              <a:buNone/>
            </a:pPr>
            <a:r>
              <a:rPr lang="en-US" sz="1200" b="1" dirty="0">
                <a:solidFill>
                  <a:srgbClr val="3F6E8C"/>
                </a:solidFill>
                <a:latin typeface="Calibri" pitchFamily="34" charset="0"/>
                <a:ea typeface="Calibri" pitchFamily="34" charset="-122"/>
                <a:cs typeface="Calibri" pitchFamily="34" charset="-120"/>
              </a:rPr>
              <a:t>T+6h</a:t>
            </a:r>
            <a:endParaRPr lang="en-US" sz="1200" dirty="0"/>
          </a:p>
          <a:p>
            <a:pPr indent="0" marL="0">
              <a:buNone/>
            </a:pPr>
            <a:r>
              <a:rPr lang="en-US" sz="1200" b="1" dirty="0">
                <a:solidFill>
                  <a:srgbClr val="3F6E8C"/>
                </a:solidFill>
                <a:latin typeface="Calibri" pitchFamily="34" charset="0"/>
                <a:ea typeface="Calibri" pitchFamily="34" charset="-122"/>
                <a:cs typeface="Calibri" pitchFamily="34" charset="-120"/>
              </a:rPr>
              <a:t>Leadership pressure</a:t>
            </a:r>
            <a:endParaRPr lang="en-US" sz="1200" dirty="0"/>
          </a:p>
        </p:txBody>
      </p:sp>
      <p:sp>
        <p:nvSpPr>
          <p:cNvPr id="39" name="Shape 37"/>
          <p:cNvSpPr/>
          <p:nvPr/>
        </p:nvSpPr>
        <p:spPr>
          <a:xfrm>
            <a:off x="3154680" y="1600200"/>
            <a:ext cx="5696712" cy="3017520"/>
          </a:xfrm>
          <a:prstGeom prst="roundRect">
            <a:avLst>
              <a:gd name="adj" fmla="val 4242"/>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40" name="Shape 38"/>
          <p:cNvSpPr/>
          <p:nvPr/>
        </p:nvSpPr>
        <p:spPr>
          <a:xfrm>
            <a:off x="3429000" y="1810512"/>
            <a:ext cx="2148840" cy="384048"/>
          </a:xfrm>
          <a:prstGeom prst="roundRect">
            <a:avLst>
              <a:gd name="adj" fmla="val 50000"/>
            </a:avLst>
          </a:prstGeom>
          <a:solidFill>
            <a:srgbClr val="3F6E8C"/>
          </a:solidFill>
          <a:ln w="12700">
            <a:solidFill>
              <a:srgbClr val="3F6E8C"/>
            </a:solidFill>
            <a:prstDash val="solid"/>
          </a:ln>
        </p:spPr>
      </p:sp>
      <p:pic>
        <p:nvPicPr>
          <p:cNvPr id="41" name="Image 0" descr="preencoded.png">    </p:cNvPr>
          <p:cNvPicPr>
            <a:picLocks noChangeAspect="1"/>
          </p:cNvPicPr>
          <p:nvPr/>
        </p:nvPicPr>
        <p:blipFill>
          <a:blip r:embed="rId1"/>
          <a:stretch>
            <a:fillRect/>
          </a:stretch>
        </p:blipFill>
        <p:spPr>
          <a:xfrm>
            <a:off x="3547872" y="1874520"/>
            <a:ext cx="246888" cy="246888"/>
          </a:xfrm>
          <a:prstGeom prst="rect">
            <a:avLst/>
          </a:prstGeom>
        </p:spPr>
      </p:pic>
      <p:sp>
        <p:nvSpPr>
          <p:cNvPr id="42" name="Text 39"/>
          <p:cNvSpPr txBox="1"/>
          <p:nvPr/>
        </p:nvSpPr>
        <p:spPr>
          <a:xfrm>
            <a:off x="3867912" y="1810512"/>
            <a:ext cx="1691640" cy="38404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T+6h  |  3:35 PM</a:t>
            </a:r>
            <a:endParaRPr lang="en-US" sz="1300" dirty="0"/>
          </a:p>
        </p:txBody>
      </p:sp>
      <p:sp>
        <p:nvSpPr>
          <p:cNvPr id="43" name="Text 40"/>
          <p:cNvSpPr txBox="1"/>
          <p:nvPr/>
        </p:nvSpPr>
        <p:spPr>
          <a:xfrm>
            <a:off x="3429000" y="2286000"/>
            <a:ext cx="2743200" cy="256032"/>
          </a:xfrm>
          <a:prstGeom prst="rect">
            <a:avLst/>
          </a:prstGeom>
          <a:noFill/>
          <a:ln/>
        </p:spPr>
        <p:txBody>
          <a:bodyPr wrap="square" lIns="0" tIns="0" rIns="0" bIns="0" rtlCol="0" anchor="t"/>
          <a:lstStyle/>
          <a:p>
            <a:pPr indent="0" marL="0">
              <a:buNone/>
            </a:pPr>
            <a:r>
              <a:rPr lang="en-US" sz="1200" b="1" dirty="0">
                <a:solidFill>
                  <a:srgbClr val="465A69"/>
                </a:solidFill>
                <a:latin typeface="Calibri" pitchFamily="34" charset="0"/>
                <a:ea typeface="Calibri" pitchFamily="34" charset="-122"/>
                <a:cs typeface="Calibri" pitchFamily="34" charset="-120"/>
              </a:rPr>
              <a:t>New information</a:t>
            </a:r>
            <a:endParaRPr lang="en-US" sz="1200" dirty="0"/>
          </a:p>
        </p:txBody>
      </p:sp>
      <p:sp>
        <p:nvSpPr>
          <p:cNvPr id="44" name="Text 41"/>
          <p:cNvSpPr txBox="1"/>
          <p:nvPr/>
        </p:nvSpPr>
        <p:spPr>
          <a:xfrm>
            <a:off x="3429000" y="2560320"/>
            <a:ext cx="5166360" cy="1965960"/>
          </a:xfrm>
          <a:prstGeom prst="rect">
            <a:avLst/>
          </a:prstGeom>
          <a:noFill/>
          <a:ln/>
        </p:spPr>
        <p:txBody>
          <a:bodyPr wrap="square" lIns="0" tIns="0" rIns="0" bIns="0" rtlCol="0" anchor="t"/>
          <a:lstStyle/>
          <a:p>
            <a:pPr indent="0" marL="0">
              <a:buNone/>
            </a:pPr>
            <a:r>
              <a:rPr lang="en-US" sz="1400" dirty="0">
                <a:solidFill>
                  <a:srgbClr val="1E2E3A"/>
                </a:solidFill>
                <a:latin typeface="Calibri" pitchFamily="34" charset="0"/>
                <a:ea typeface="Calibri" pitchFamily="34" charset="-122"/>
                <a:cs typeface="Calibri" pitchFamily="34" charset="-120"/>
              </a:rPr>
              <a:t>A Board member emails the CEO and CISO asking whether Board materials were compromised. A biotech industry publication asks Communications to comment on leaked launch materials. Legal flags potential materiality.</a:t>
            </a:r>
            <a:endParaRPr lang="en-US" sz="1400" dirty="0"/>
          </a:p>
        </p:txBody>
      </p:sp>
      <p:sp>
        <p:nvSpPr>
          <p:cNvPr id="45" name="Shape 42"/>
          <p:cNvSpPr/>
          <p:nvPr/>
        </p:nvSpPr>
        <p:spPr>
          <a:xfrm>
            <a:off x="3154680" y="4800600"/>
            <a:ext cx="5696712" cy="1371600"/>
          </a:xfrm>
          <a:prstGeom prst="roundRect">
            <a:avLst>
              <a:gd name="adj" fmla="val 9333"/>
            </a:avLst>
          </a:prstGeom>
          <a:solidFill>
            <a:srgbClr val="F1F6FA"/>
          </a:solidFill>
          <a:ln w="12700">
            <a:solidFill>
              <a:srgbClr val="F1F6FA"/>
            </a:solidFill>
            <a:prstDash val="solid"/>
          </a:ln>
          <a:effectLst>
            <a:outerShdw sx="100000" sy="100000" kx="0" ky="0" algn="bl" rotWithShape="0" blurRad="177800" dist="50800" dir="5400000">
              <a:srgbClr val="1B4965">
                <a:alpha val="16000"/>
              </a:srgbClr>
            </a:outerShdw>
          </a:effectLst>
        </p:spPr>
      </p:sp>
      <p:sp>
        <p:nvSpPr>
          <p:cNvPr id="46" name="Text 43"/>
          <p:cNvSpPr txBox="1"/>
          <p:nvPr/>
        </p:nvSpPr>
        <p:spPr>
          <a:xfrm>
            <a:off x="3429000" y="4901184"/>
            <a:ext cx="2743200" cy="256032"/>
          </a:xfrm>
          <a:prstGeom prst="rect">
            <a:avLst/>
          </a:prstGeom>
          <a:noFill/>
          <a:ln/>
        </p:spPr>
        <p:txBody>
          <a:bodyPr wrap="square" lIns="0" tIns="0" rIns="0" bIns="0" rtlCol="0" anchor="t"/>
          <a:lstStyle/>
          <a:p>
            <a:pPr indent="0" marL="0">
              <a:buNone/>
            </a:pPr>
            <a:r>
              <a:rPr lang="en-US" sz="1300" b="1" dirty="0">
                <a:solidFill>
                  <a:srgbClr val="3F6E8C"/>
                </a:solidFill>
                <a:latin typeface="Calibri" pitchFamily="34" charset="0"/>
                <a:ea typeface="Calibri" pitchFamily="34" charset="-122"/>
                <a:cs typeface="Calibri" pitchFamily="34" charset="-120"/>
              </a:rPr>
              <a:t>Decide</a:t>
            </a:r>
            <a:endParaRPr lang="en-US" sz="1300" dirty="0"/>
          </a:p>
        </p:txBody>
      </p:sp>
      <p:sp>
        <p:nvSpPr>
          <p:cNvPr id="47" name="Text 44"/>
          <p:cNvSpPr txBox="1"/>
          <p:nvPr/>
        </p:nvSpPr>
        <p:spPr>
          <a:xfrm>
            <a:off x="3429000" y="5175504"/>
            <a:ext cx="5166360" cy="914400"/>
          </a:xfrm>
          <a:prstGeom prst="rect">
            <a:avLst/>
          </a:prstGeom>
          <a:noFill/>
          <a:ln/>
        </p:spPr>
        <p:txBody>
          <a:bodyPr wrap="square" lIns="0" tIns="0" rIns="0" bIns="0" rtlCol="0" anchor="t"/>
          <a:lstStyle/>
          <a:p>
            <a:pPr indent="0" marL="0">
              <a:buNone/>
            </a:pPr>
            <a:r>
              <a:rPr lang="en-US" sz="1400" b="1" dirty="0">
                <a:solidFill>
                  <a:srgbClr val="1E2E3A"/>
                </a:solidFill>
                <a:latin typeface="Calibri" pitchFamily="34" charset="0"/>
                <a:ea typeface="Calibri" pitchFamily="34" charset="-122"/>
                <a:cs typeface="Calibri" pitchFamily="34" charset="-120"/>
              </a:rPr>
              <a:t>What do you tell the Board, employees, customers, and regulators? Who approves external communications? Do you invoke crisis management?</a:t>
            </a:r>
            <a:endParaRPr lang="en-US" sz="1400" dirty="0"/>
          </a:p>
        </p:txBody>
      </p:sp>
      <p:sp>
        <p:nvSpPr>
          <p:cNvPr id="48" name="Shape 45"/>
          <p:cNvSpPr/>
          <p:nvPr/>
        </p:nvSpPr>
        <p:spPr>
          <a:xfrm>
            <a:off x="9079992" y="1600200"/>
            <a:ext cx="2560320" cy="4572000"/>
          </a:xfrm>
          <a:prstGeom prst="roundRect">
            <a:avLst>
              <a:gd name="adj" fmla="val 5000"/>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49" name="Text 46"/>
          <p:cNvSpPr txBox="1"/>
          <p:nvPr/>
        </p:nvSpPr>
        <p:spPr>
          <a:xfrm>
            <a:off x="9262872" y="1728216"/>
            <a:ext cx="2194560" cy="457200"/>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Board inquiry (simulated)</a:t>
            </a:r>
            <a:endParaRPr lang="en-US" sz="1300" dirty="0"/>
          </a:p>
        </p:txBody>
      </p:sp>
      <p:sp>
        <p:nvSpPr>
          <p:cNvPr id="50" name="Shape 47"/>
          <p:cNvSpPr/>
          <p:nvPr/>
        </p:nvSpPr>
        <p:spPr>
          <a:xfrm>
            <a:off x="9262872" y="2221992"/>
            <a:ext cx="2194560" cy="3767328"/>
          </a:xfrm>
          <a:prstGeom prst="roundRect">
            <a:avLst>
              <a:gd name="adj" fmla="val 3333"/>
            </a:avLst>
          </a:prstGeom>
          <a:solidFill>
            <a:srgbClr val="FFFFFF"/>
          </a:solidFill>
          <a:ln w="9525">
            <a:solidFill>
              <a:srgbClr val="C9D3DE"/>
            </a:solidFill>
            <a:prstDash val="solid"/>
          </a:ln>
        </p:spPr>
      </p:sp>
      <p:sp>
        <p:nvSpPr>
          <p:cNvPr id="51" name="Text 48"/>
          <p:cNvSpPr txBox="1"/>
          <p:nvPr/>
        </p:nvSpPr>
        <p:spPr>
          <a:xfrm>
            <a:off x="9381744" y="2386584"/>
            <a:ext cx="1956816" cy="235204"/>
          </a:xfrm>
          <a:prstGeom prst="rect">
            <a:avLst/>
          </a:prstGeom>
          <a:noFill/>
          <a:ln/>
        </p:spPr>
        <p:txBody>
          <a:bodyPr wrap="square" lIns="0" tIns="0" rIns="0" bIns="0" rtlCol="0" anchor="t"/>
          <a:lstStyle/>
          <a:p>
            <a:pPr indent="0" marL="0">
              <a:buNone/>
            </a:pPr>
            <a:r>
              <a:rPr lang="en-US" sz="1400" b="1" dirty="0">
                <a:solidFill>
                  <a:srgbClr val="1E2E3A"/>
                </a:solidFill>
                <a:latin typeface="Calibri" pitchFamily="34" charset="0"/>
                <a:ea typeface="Calibri" pitchFamily="34" charset="-122"/>
                <a:cs typeface="Calibri" pitchFamily="34" charset="-120"/>
              </a:rPr>
              <a:t>From: </a:t>
            </a:r>
            <a:pPr indent="0" marL="0">
              <a:buNone/>
            </a:pPr>
            <a:r>
              <a:rPr lang="en-US" sz="1400" dirty="0">
                <a:solidFill>
                  <a:srgbClr val="1E2E3A"/>
                </a:solidFill>
                <a:latin typeface="Calibri" pitchFamily="34" charset="0"/>
                <a:ea typeface="Calibri" pitchFamily="34" charset="-122"/>
                <a:cs typeface="Calibri" pitchFamily="34" charset="-120"/>
              </a:rPr>
              <a:t>Board Member</a:t>
            </a:r>
            <a:endParaRPr lang="en-US" sz="1400" dirty="0"/>
          </a:p>
        </p:txBody>
      </p:sp>
      <p:sp>
        <p:nvSpPr>
          <p:cNvPr id="52" name="Text 49"/>
          <p:cNvSpPr txBox="1"/>
          <p:nvPr/>
        </p:nvSpPr>
        <p:spPr>
          <a:xfrm>
            <a:off x="9381744" y="2621788"/>
            <a:ext cx="1956816" cy="235204"/>
          </a:xfrm>
          <a:prstGeom prst="rect">
            <a:avLst/>
          </a:prstGeom>
          <a:noFill/>
          <a:ln/>
        </p:spPr>
        <p:txBody>
          <a:bodyPr wrap="square" lIns="0" tIns="0" rIns="0" bIns="0" rtlCol="0" anchor="t"/>
          <a:lstStyle/>
          <a:p>
            <a:pPr indent="0" marL="0">
              <a:buNone/>
            </a:pPr>
            <a:r>
              <a:rPr lang="en-US" sz="1400" b="1" dirty="0">
                <a:solidFill>
                  <a:srgbClr val="1E2E3A"/>
                </a:solidFill>
                <a:latin typeface="Calibri" pitchFamily="34" charset="0"/>
                <a:ea typeface="Calibri" pitchFamily="34" charset="-122"/>
                <a:cs typeface="Calibri" pitchFamily="34" charset="-120"/>
              </a:rPr>
              <a:t>To: </a:t>
            </a:r>
            <a:pPr indent="0" marL="0">
              <a:buNone/>
            </a:pPr>
            <a:r>
              <a:rPr lang="en-US" sz="1400" dirty="0">
                <a:solidFill>
                  <a:srgbClr val="1E2E3A"/>
                </a:solidFill>
                <a:latin typeface="Calibri" pitchFamily="34" charset="0"/>
                <a:ea typeface="Calibri" pitchFamily="34" charset="-122"/>
                <a:cs typeface="Calibri" pitchFamily="34" charset="-120"/>
              </a:rPr>
              <a:t>CEO, CISO</a:t>
            </a:r>
            <a:endParaRPr lang="en-US" sz="1400" dirty="0"/>
          </a:p>
        </p:txBody>
      </p:sp>
      <p:sp>
        <p:nvSpPr>
          <p:cNvPr id="53" name="Text 50"/>
          <p:cNvSpPr txBox="1"/>
          <p:nvPr/>
        </p:nvSpPr>
        <p:spPr>
          <a:xfrm>
            <a:off x="9381744" y="2856992"/>
            <a:ext cx="1956816" cy="452120"/>
          </a:xfrm>
          <a:prstGeom prst="rect">
            <a:avLst/>
          </a:prstGeom>
          <a:noFill/>
          <a:ln/>
        </p:spPr>
        <p:txBody>
          <a:bodyPr wrap="square" lIns="0" tIns="0" rIns="0" bIns="0" rtlCol="0" anchor="t"/>
          <a:lstStyle/>
          <a:p>
            <a:pPr indent="0" marL="0">
              <a:buNone/>
            </a:pPr>
            <a:r>
              <a:rPr lang="en-US" sz="1400" b="1" dirty="0">
                <a:solidFill>
                  <a:srgbClr val="1E2E3A"/>
                </a:solidFill>
                <a:latin typeface="Calibri" pitchFamily="34" charset="0"/>
                <a:ea typeface="Calibri" pitchFamily="34" charset="-122"/>
                <a:cs typeface="Calibri" pitchFamily="34" charset="-120"/>
              </a:rPr>
              <a:t>Subject: </a:t>
            </a:r>
            <a:pPr indent="0" marL="0">
              <a:buNone/>
            </a:pPr>
            <a:r>
              <a:rPr lang="en-US" sz="1400" dirty="0">
                <a:solidFill>
                  <a:srgbClr val="1E2E3A"/>
                </a:solidFill>
                <a:latin typeface="Calibri" pitchFamily="34" charset="0"/>
                <a:ea typeface="Calibri" pitchFamily="34" charset="-122"/>
                <a:cs typeface="Calibri" pitchFamily="34" charset="-120"/>
              </a:rPr>
              <a:t>Board materials</a:t>
            </a:r>
            <a:endParaRPr lang="en-US" sz="1400" dirty="0"/>
          </a:p>
        </p:txBody>
      </p:sp>
      <p:sp>
        <p:nvSpPr>
          <p:cNvPr id="54" name="Text 51"/>
          <p:cNvSpPr txBox="1"/>
          <p:nvPr/>
        </p:nvSpPr>
        <p:spPr>
          <a:xfrm>
            <a:off x="9381744" y="3382264"/>
            <a:ext cx="1956816" cy="687324"/>
          </a:xfrm>
          <a:prstGeom prst="rect">
            <a:avLst/>
          </a:prstGeom>
          <a:noFill/>
          <a:ln/>
        </p:spPr>
        <p:txBody>
          <a:bodyPr wrap="square" lIns="0" tIns="0" rIns="0" bIns="0" rtlCol="0" anchor="t"/>
          <a:lstStyle/>
          <a:p>
            <a:pPr indent="0" marL="0">
              <a:buNone/>
            </a:pPr>
            <a:r>
              <a:rPr lang="en-US" sz="1400" dirty="0">
                <a:solidFill>
                  <a:srgbClr val="1E2E3A"/>
                </a:solidFill>
                <a:latin typeface="Calibri" pitchFamily="34" charset="0"/>
                <a:ea typeface="Calibri" pitchFamily="34" charset="-122"/>
                <a:cs typeface="Calibri" pitchFamily="34" charset="-120"/>
              </a:rPr>
              <a:t>I received a report that our email may have been accessed.</a:t>
            </a:r>
            <a:endParaRPr lang="en-US" sz="1400" dirty="0"/>
          </a:p>
        </p:txBody>
      </p:sp>
      <p:sp>
        <p:nvSpPr>
          <p:cNvPr id="55" name="Text 52"/>
          <p:cNvSpPr txBox="1"/>
          <p:nvPr/>
        </p:nvSpPr>
        <p:spPr>
          <a:xfrm>
            <a:off x="9381744" y="4106164"/>
            <a:ext cx="1956816" cy="687324"/>
          </a:xfrm>
          <a:prstGeom prst="rect">
            <a:avLst/>
          </a:prstGeom>
          <a:noFill/>
          <a:ln/>
        </p:spPr>
        <p:txBody>
          <a:bodyPr wrap="square" lIns="0" tIns="0" rIns="0" bIns="0" rtlCol="0" anchor="t"/>
          <a:lstStyle/>
          <a:p>
            <a:pPr indent="0" marL="0">
              <a:buNone/>
            </a:pPr>
            <a:r>
              <a:rPr lang="en-US" sz="1400" dirty="0">
                <a:solidFill>
                  <a:srgbClr val="1E2E3A"/>
                </a:solidFill>
                <a:latin typeface="Calibri" pitchFamily="34" charset="0"/>
                <a:ea typeface="Calibri" pitchFamily="34" charset="-122"/>
                <a:cs typeface="Calibri" pitchFamily="34" charset="-120"/>
              </a:rPr>
              <a:t>Have our Board materials been compromised?</a:t>
            </a:r>
            <a:endParaRPr lang="en-US" sz="1400" dirty="0"/>
          </a:p>
        </p:txBody>
      </p:sp>
      <p:sp>
        <p:nvSpPr>
          <p:cNvPr id="56" name="Text 53"/>
          <p:cNvSpPr txBox="1"/>
          <p:nvPr/>
        </p:nvSpPr>
        <p:spPr>
          <a:xfrm>
            <a:off x="9381744" y="4830064"/>
            <a:ext cx="1956816" cy="687324"/>
          </a:xfrm>
          <a:prstGeom prst="rect">
            <a:avLst/>
          </a:prstGeom>
          <a:noFill/>
          <a:ln/>
        </p:spPr>
        <p:txBody>
          <a:bodyPr wrap="square" lIns="0" tIns="0" rIns="0" bIns="0" rtlCol="0" anchor="t"/>
          <a:lstStyle/>
          <a:p>
            <a:pPr indent="0" marL="0">
              <a:buNone/>
            </a:pPr>
            <a:r>
              <a:rPr lang="en-US" sz="1400" dirty="0">
                <a:solidFill>
                  <a:srgbClr val="1E2E3A"/>
                </a:solidFill>
                <a:latin typeface="Calibri" pitchFamily="34" charset="0"/>
                <a:ea typeface="Calibri" pitchFamily="34" charset="-122"/>
                <a:cs typeface="Calibri" pitchFamily="34" charset="-120"/>
              </a:rPr>
              <a:t>Please provide an update as soon as possible.</a:t>
            </a:r>
            <a:endParaRPr lang="en-US" sz="1400" dirty="0"/>
          </a:p>
        </p:txBody>
      </p:sp>
      <p:sp>
        <p:nvSpPr>
          <p:cNvPr id="57" name="Text 54"/>
          <p:cNvSpPr txBox="1"/>
          <p:nvPr/>
        </p:nvSpPr>
        <p:spPr>
          <a:xfrm>
            <a:off x="9381744" y="5553964"/>
            <a:ext cx="1956816" cy="228600"/>
          </a:xfrm>
          <a:prstGeom prst="rect">
            <a:avLst/>
          </a:prstGeom>
          <a:noFill/>
          <a:ln/>
        </p:spPr>
        <p:txBody>
          <a:bodyPr wrap="square" lIns="0" tIns="0" rIns="0" bIns="0" rtlCol="0" anchor="t"/>
          <a:lstStyle/>
          <a:p>
            <a:pPr indent="0" marL="0">
              <a:buNone/>
            </a:pPr>
            <a:r>
              <a:rPr lang="en-US" sz="1400" i="1" dirty="0">
                <a:solidFill>
                  <a:srgbClr val="465A69"/>
                </a:solidFill>
                <a:latin typeface="Calibri" pitchFamily="34" charset="0"/>
                <a:ea typeface="Calibri" pitchFamily="34" charset="-122"/>
                <a:cs typeface="Calibri" pitchFamily="34" charset="-120"/>
              </a:rPr>
              <a:t>Board Member</a:t>
            </a:r>
            <a:endParaRPr lang="en-US" sz="1400" dirty="0"/>
          </a:p>
        </p:txBody>
      </p:sp>
      <p:sp>
        <p:nvSpPr>
          <p:cNvPr id="58" name="Text 55"/>
          <p:cNvSpPr txBox="1"/>
          <p:nvPr/>
        </p:nvSpPr>
        <p:spPr>
          <a:xfrm>
            <a:off x="548640" y="6254496"/>
            <a:ext cx="11091672" cy="256032"/>
          </a:xfrm>
          <a:prstGeom prst="rect">
            <a:avLst/>
          </a:prstGeom>
          <a:noFill/>
          <a:ln/>
        </p:spPr>
        <p:txBody>
          <a:bodyPr wrap="square" lIns="0" tIns="0" rIns="0" bIns="0" rtlCol="0" anchor="ctr"/>
          <a:lstStyle/>
          <a:p>
            <a:pPr indent="0" marL="0">
              <a:buNone/>
            </a:pPr>
            <a:r>
              <a:rPr lang="en-US" sz="1200" b="1" dirty="0">
                <a:solidFill>
                  <a:srgbClr val="465A69"/>
                </a:solidFill>
                <a:latin typeface="Calibri" pitchFamily="34" charset="0"/>
                <a:ea typeface="Calibri" pitchFamily="34" charset="-122"/>
                <a:cs typeface="Calibri" pitchFamily="34" charset="-120"/>
              </a:rPr>
              <a:t>Acronyms:  </a:t>
            </a:r>
            <a:pPr indent="0" marL="0">
              <a:buNone/>
            </a:pPr>
            <a:r>
              <a:rPr lang="en-US" sz="1200" dirty="0">
                <a:solidFill>
                  <a:srgbClr val="465A69"/>
                </a:solidFill>
                <a:latin typeface="Calibri" pitchFamily="34" charset="0"/>
                <a:ea typeface="Calibri" pitchFamily="34" charset="-122"/>
                <a:cs typeface="Calibri" pitchFamily="34" charset="-120"/>
              </a:rPr>
              <a:t>T+: time since the first signal;  CEO: chief executive officer;  CISO: chief information security officer</a:t>
            </a:r>
            <a:endParaRPr lang="en-US" sz="1200" dirty="0"/>
          </a:p>
        </p:txBody>
      </p:sp>
      <p:sp>
        <p:nvSpPr>
          <p:cNvPr id="59" name="Shape 56"/>
          <p:cNvSpPr/>
          <p:nvPr/>
        </p:nvSpPr>
        <p:spPr>
          <a:xfrm>
            <a:off x="548640" y="6537960"/>
            <a:ext cx="763524" cy="274320"/>
          </a:xfrm>
          <a:prstGeom prst="roundRect">
            <a:avLst>
              <a:gd name="adj" fmla="val 50000"/>
            </a:avLst>
          </a:prstGeom>
          <a:solidFill>
            <a:srgbClr val="E4ECF2"/>
          </a:solidFill>
          <a:ln w="12700">
            <a:solidFill>
              <a:srgbClr val="E4ECF2"/>
            </a:solidFill>
            <a:prstDash val="solid"/>
          </a:ln>
        </p:spPr>
      </p:sp>
      <p:sp>
        <p:nvSpPr>
          <p:cNvPr id="60" name="Text 57"/>
          <p:cNvSpPr txBox="1"/>
          <p:nvPr/>
        </p:nvSpPr>
        <p:spPr>
          <a:xfrm>
            <a:off x="548640" y="6537960"/>
            <a:ext cx="763524" cy="274320"/>
          </a:xfrm>
          <a:prstGeom prst="rect">
            <a:avLst/>
          </a:prstGeom>
          <a:noFill/>
          <a:ln/>
        </p:spPr>
        <p:txBody>
          <a:bodyPr wrap="square" lIns="0" tIns="0" rIns="0" bIns="0" rtlCol="0" anchor="ctr"/>
          <a:lstStyle/>
          <a:p>
            <a:pPr algn="ctr" indent="0" marL="0">
              <a:buNone/>
            </a:pPr>
            <a:r>
              <a:rPr lang="en-US" sz="1200" b="1" dirty="0">
                <a:solidFill>
                  <a:srgbClr val="23405A"/>
                </a:solidFill>
                <a:latin typeface="Calibri" pitchFamily="34" charset="0"/>
                <a:ea typeface="Calibri" pitchFamily="34" charset="-122"/>
                <a:cs typeface="Calibri" pitchFamily="34" charset="-120"/>
              </a:rPr>
              <a:t>Start</a:t>
            </a:r>
            <a:endParaRPr lang="en-US" sz="1200" dirty="0"/>
          </a:p>
        </p:txBody>
      </p:sp>
      <p:pic>
        <p:nvPicPr>
          <p:cNvPr id="61" name="Image 1" descr="preencoded.png">
            <a:hlinkClick r:id="rId3" tooltip="Go to Start" action="ppaction://hlinksldjump"/>
          </p:cNvPr>
          <p:cNvPicPr>
            <a:picLocks noChangeAspect="1"/>
          </p:cNvPicPr>
          <p:nvPr/>
        </p:nvPicPr>
        <p:blipFill>
          <a:blip r:embed="rId2"/>
          <a:stretch>
            <a:fillRect/>
          </a:stretch>
        </p:blipFill>
        <p:spPr>
          <a:xfrm>
            <a:off x="548640" y="6537960"/>
            <a:ext cx="763524" cy="274320"/>
          </a:xfrm>
          <a:prstGeom prst="rect">
            <a:avLst/>
          </a:prstGeom>
        </p:spPr>
      </p:pic>
      <p:sp>
        <p:nvSpPr>
          <p:cNvPr id="62" name="Shape 58"/>
          <p:cNvSpPr/>
          <p:nvPr/>
        </p:nvSpPr>
        <p:spPr>
          <a:xfrm>
            <a:off x="1385316" y="6537960"/>
            <a:ext cx="1197864" cy="274320"/>
          </a:xfrm>
          <a:prstGeom prst="roundRect">
            <a:avLst>
              <a:gd name="adj" fmla="val 50000"/>
            </a:avLst>
          </a:prstGeom>
          <a:solidFill>
            <a:srgbClr val="3F6E8C"/>
          </a:solidFill>
          <a:ln w="12700">
            <a:solidFill>
              <a:srgbClr val="3F6E8C"/>
            </a:solidFill>
            <a:prstDash val="solid"/>
          </a:ln>
        </p:spPr>
      </p:sp>
      <p:sp>
        <p:nvSpPr>
          <p:cNvPr id="63" name="Text 59"/>
          <p:cNvSpPr txBox="1"/>
          <p:nvPr/>
        </p:nvSpPr>
        <p:spPr>
          <a:xfrm>
            <a:off x="1385316" y="6537960"/>
            <a:ext cx="1197864"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Scenario 1</a:t>
            </a:r>
            <a:endParaRPr lang="en-US" sz="1200" dirty="0"/>
          </a:p>
        </p:txBody>
      </p:sp>
      <p:pic>
        <p:nvPicPr>
          <p:cNvPr id="64" name="Image 2" descr="preencoded.png">
            <a:hlinkClick r:id="rId5" tooltip="Go to Scenario 1" action="ppaction://hlinksldjump"/>
          </p:cNvPr>
          <p:cNvPicPr>
            <a:picLocks noChangeAspect="1"/>
          </p:cNvPicPr>
          <p:nvPr/>
        </p:nvPicPr>
        <p:blipFill>
          <a:blip r:embed="rId4"/>
          <a:stretch>
            <a:fillRect/>
          </a:stretch>
        </p:blipFill>
        <p:spPr>
          <a:xfrm>
            <a:off x="1385316" y="6537960"/>
            <a:ext cx="1197864" cy="274320"/>
          </a:xfrm>
          <a:prstGeom prst="rect">
            <a:avLst/>
          </a:prstGeom>
        </p:spPr>
      </p:pic>
      <p:sp>
        <p:nvSpPr>
          <p:cNvPr id="65" name="Shape 60"/>
          <p:cNvSpPr/>
          <p:nvPr/>
        </p:nvSpPr>
        <p:spPr>
          <a:xfrm>
            <a:off x="2656332" y="6537960"/>
            <a:ext cx="1197864" cy="274320"/>
          </a:xfrm>
          <a:prstGeom prst="roundRect">
            <a:avLst>
              <a:gd name="adj" fmla="val 50000"/>
            </a:avLst>
          </a:prstGeom>
          <a:solidFill>
            <a:srgbClr val="F1F8F3"/>
          </a:solidFill>
          <a:ln w="12700">
            <a:solidFill>
              <a:srgbClr val="F1F8F3"/>
            </a:solidFill>
            <a:prstDash val="solid"/>
          </a:ln>
        </p:spPr>
      </p:sp>
      <p:sp>
        <p:nvSpPr>
          <p:cNvPr id="66" name="Text 61"/>
          <p:cNvSpPr txBox="1"/>
          <p:nvPr/>
        </p:nvSpPr>
        <p:spPr>
          <a:xfrm>
            <a:off x="2656332" y="6537960"/>
            <a:ext cx="1197864" cy="274320"/>
          </a:xfrm>
          <a:prstGeom prst="rect">
            <a:avLst/>
          </a:prstGeom>
          <a:noFill/>
          <a:ln/>
        </p:spPr>
        <p:txBody>
          <a:bodyPr wrap="square" lIns="0" tIns="0" rIns="0" bIns="0" rtlCol="0" anchor="ctr"/>
          <a:lstStyle/>
          <a:p>
            <a:pPr algn="ctr" indent="0" marL="0">
              <a:buNone/>
            </a:pPr>
            <a:r>
              <a:rPr lang="en-US" sz="1200" b="1" dirty="0">
                <a:solidFill>
                  <a:srgbClr val="4C8068"/>
                </a:solidFill>
                <a:latin typeface="Calibri" pitchFamily="34" charset="0"/>
                <a:ea typeface="Calibri" pitchFamily="34" charset="-122"/>
                <a:cs typeface="Calibri" pitchFamily="34" charset="-120"/>
              </a:rPr>
              <a:t>Scenario 2</a:t>
            </a:r>
            <a:endParaRPr lang="en-US" sz="1200" dirty="0"/>
          </a:p>
        </p:txBody>
      </p:sp>
      <p:pic>
        <p:nvPicPr>
          <p:cNvPr id="67" name="Image 3" descr="preencoded.png">
            <a:hlinkClick r:id="rId7" tooltip="Go to Scenario 2" action="ppaction://hlinksldjump"/>
          </p:cNvPr>
          <p:cNvPicPr>
            <a:picLocks noChangeAspect="1"/>
          </p:cNvPicPr>
          <p:nvPr/>
        </p:nvPicPr>
        <p:blipFill>
          <a:blip r:embed="rId6"/>
          <a:stretch>
            <a:fillRect/>
          </a:stretch>
        </p:blipFill>
        <p:spPr>
          <a:xfrm>
            <a:off x="2656332" y="6537960"/>
            <a:ext cx="1197864" cy="274320"/>
          </a:xfrm>
          <a:prstGeom prst="rect">
            <a:avLst/>
          </a:prstGeom>
        </p:spPr>
      </p:pic>
      <p:sp>
        <p:nvSpPr>
          <p:cNvPr id="68" name="Shape 62"/>
          <p:cNvSpPr/>
          <p:nvPr/>
        </p:nvSpPr>
        <p:spPr>
          <a:xfrm>
            <a:off x="3927348" y="6537960"/>
            <a:ext cx="1197864" cy="274320"/>
          </a:xfrm>
          <a:prstGeom prst="roundRect">
            <a:avLst>
              <a:gd name="adj" fmla="val 50000"/>
            </a:avLst>
          </a:prstGeom>
          <a:solidFill>
            <a:srgbClr val="F6F3FA"/>
          </a:solidFill>
          <a:ln w="12700">
            <a:solidFill>
              <a:srgbClr val="F6F3FA"/>
            </a:solidFill>
            <a:prstDash val="solid"/>
          </a:ln>
        </p:spPr>
      </p:sp>
      <p:sp>
        <p:nvSpPr>
          <p:cNvPr id="69" name="Text 63"/>
          <p:cNvSpPr txBox="1"/>
          <p:nvPr/>
        </p:nvSpPr>
        <p:spPr>
          <a:xfrm>
            <a:off x="3927348" y="6537960"/>
            <a:ext cx="1197864" cy="274320"/>
          </a:xfrm>
          <a:prstGeom prst="rect">
            <a:avLst/>
          </a:prstGeom>
          <a:noFill/>
          <a:ln/>
        </p:spPr>
        <p:txBody>
          <a:bodyPr wrap="square" lIns="0" tIns="0" rIns="0" bIns="0" rtlCol="0" anchor="ctr"/>
          <a:lstStyle/>
          <a:p>
            <a:pPr algn="ctr" indent="0" marL="0">
              <a:buNone/>
            </a:pPr>
            <a:r>
              <a:rPr lang="en-US" sz="1200" b="1" dirty="0">
                <a:solidFill>
                  <a:srgbClr val="6E5E94"/>
                </a:solidFill>
                <a:latin typeface="Calibri" pitchFamily="34" charset="0"/>
                <a:ea typeface="Calibri" pitchFamily="34" charset="-122"/>
                <a:cs typeface="Calibri" pitchFamily="34" charset="-120"/>
              </a:rPr>
              <a:t>Scenario 3</a:t>
            </a:r>
            <a:endParaRPr lang="en-US" sz="1200" dirty="0"/>
          </a:p>
        </p:txBody>
      </p:sp>
      <p:pic>
        <p:nvPicPr>
          <p:cNvPr id="70" name="Image 4" descr="preencoded.png">
            <a:hlinkClick r:id="rId9" tooltip="Go to Scenario 3" action="ppaction://hlinksldjump"/>
          </p:cNvPr>
          <p:cNvPicPr>
            <a:picLocks noChangeAspect="1"/>
          </p:cNvPicPr>
          <p:nvPr/>
        </p:nvPicPr>
        <p:blipFill>
          <a:blip r:embed="rId8"/>
          <a:stretch>
            <a:fillRect/>
          </a:stretch>
        </p:blipFill>
        <p:spPr>
          <a:xfrm>
            <a:off x="3927348" y="6537960"/>
            <a:ext cx="1197864" cy="274320"/>
          </a:xfrm>
          <a:prstGeom prst="rect">
            <a:avLst/>
          </a:prstGeom>
        </p:spPr>
      </p:pic>
      <p:sp>
        <p:nvSpPr>
          <p:cNvPr id="71" name="Shape 64"/>
          <p:cNvSpPr/>
          <p:nvPr/>
        </p:nvSpPr>
        <p:spPr>
          <a:xfrm>
            <a:off x="5198364" y="6537960"/>
            <a:ext cx="937260" cy="274320"/>
          </a:xfrm>
          <a:prstGeom prst="roundRect">
            <a:avLst>
              <a:gd name="adj" fmla="val 50000"/>
            </a:avLst>
          </a:prstGeom>
          <a:solidFill>
            <a:srgbClr val="E4ECF2"/>
          </a:solidFill>
          <a:ln w="12700">
            <a:solidFill>
              <a:srgbClr val="E4ECF2"/>
            </a:solidFill>
            <a:prstDash val="solid"/>
          </a:ln>
        </p:spPr>
      </p:sp>
      <p:sp>
        <p:nvSpPr>
          <p:cNvPr id="72" name="Text 65"/>
          <p:cNvSpPr txBox="1"/>
          <p:nvPr/>
        </p:nvSpPr>
        <p:spPr>
          <a:xfrm>
            <a:off x="5198364" y="6537960"/>
            <a:ext cx="937260" cy="274320"/>
          </a:xfrm>
          <a:prstGeom prst="rect">
            <a:avLst/>
          </a:prstGeom>
          <a:noFill/>
          <a:ln/>
        </p:spPr>
        <p:txBody>
          <a:bodyPr wrap="square" lIns="0" tIns="0" rIns="0" bIns="0" rtlCol="0" anchor="ctr"/>
          <a:lstStyle/>
          <a:p>
            <a:pPr algn="ctr" indent="0" marL="0">
              <a:buNone/>
            </a:pPr>
            <a:r>
              <a:rPr lang="en-US" sz="1200" b="1" dirty="0">
                <a:solidFill>
                  <a:srgbClr val="23405A"/>
                </a:solidFill>
                <a:latin typeface="Calibri" pitchFamily="34" charset="0"/>
                <a:ea typeface="Calibri" pitchFamily="34" charset="-122"/>
                <a:cs typeface="Calibri" pitchFamily="34" charset="-120"/>
              </a:rPr>
              <a:t>Closing</a:t>
            </a:r>
            <a:endParaRPr lang="en-US" sz="1200" dirty="0"/>
          </a:p>
        </p:txBody>
      </p:sp>
      <p:pic>
        <p:nvPicPr>
          <p:cNvPr id="73" name="Image 5" descr="preencoded.png">
            <a:hlinkClick r:id="rId11" tooltip="Go to Closing" action="ppaction://hlinksldjump"/>
          </p:cNvPr>
          <p:cNvPicPr>
            <a:picLocks noChangeAspect="1"/>
          </p:cNvPicPr>
          <p:nvPr/>
        </p:nvPicPr>
        <p:blipFill>
          <a:blip r:embed="rId10"/>
          <a:stretch>
            <a:fillRect/>
          </a:stretch>
        </p:blipFill>
        <p:spPr>
          <a:xfrm>
            <a:off x="5198364" y="6537960"/>
            <a:ext cx="937260" cy="274320"/>
          </a:xfrm>
          <a:prstGeom prst="rect">
            <a:avLst/>
          </a:prstGeom>
        </p:spPr>
      </p:pic>
      <p:sp>
        <p:nvSpPr>
          <p:cNvPr id="74" name="Text 66"/>
          <p:cNvSpPr txBox="1"/>
          <p:nvPr/>
        </p:nvSpPr>
        <p:spPr>
          <a:xfrm>
            <a:off x="11277295" y="6537960"/>
            <a:ext cx="365760" cy="274320"/>
          </a:xfrm>
          <a:prstGeom prst="rect">
            <a:avLst/>
          </a:prstGeom>
          <a:noFill/>
          <a:ln/>
        </p:spPr>
        <p:txBody>
          <a:bodyPr wrap="square" lIns="0" tIns="0" rIns="0" bIns="0" rtlCol="0" anchor="ctr"/>
          <a:lstStyle/>
          <a:p>
            <a:pPr algn="r" indent="0" marL="0">
              <a:buNone/>
            </a:pPr>
            <a:r>
              <a:rPr lang="en-US" sz="1200" dirty="0">
                <a:solidFill>
                  <a:srgbClr val="465A69"/>
                </a:solidFill>
                <a:latin typeface="Calibri" pitchFamily="34" charset="0"/>
                <a:ea typeface="Calibri" pitchFamily="34" charset="-122"/>
                <a:cs typeface="Calibri"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6EEF6"/>
        </a:solidFill>
      </p:bgPr>
    </p:bg>
    <p:spTree>
      <p:nvGrpSpPr>
        <p:cNvPr id="1" name=""/>
        <p:cNvGrpSpPr/>
        <p:nvPr/>
      </p:nvGrpSpPr>
      <p:grpSpPr>
        <a:xfrm>
          <a:off x="0" y="0"/>
          <a:ext cx="0" cy="0"/>
          <a:chOff x="0" y="0"/>
          <a:chExt cx="0" cy="0"/>
        </a:xfrm>
      </p:grpSpPr>
      <p:sp>
        <p:nvSpPr>
          <p:cNvPr id="2" name="Shape 0"/>
          <p:cNvSpPr/>
          <p:nvPr/>
        </p:nvSpPr>
        <p:spPr>
          <a:xfrm>
            <a:off x="548640" y="347472"/>
            <a:ext cx="2843784" cy="329184"/>
          </a:xfrm>
          <a:prstGeom prst="roundRect">
            <a:avLst>
              <a:gd name="adj" fmla="val 50000"/>
            </a:avLst>
          </a:prstGeom>
          <a:solidFill>
            <a:srgbClr val="F1F6FA"/>
          </a:solidFill>
          <a:ln w="12700">
            <a:solidFill>
              <a:srgbClr val="F1F6FA"/>
            </a:solidFill>
            <a:prstDash val="solid"/>
          </a:ln>
        </p:spPr>
      </p:sp>
      <p:sp>
        <p:nvSpPr>
          <p:cNvPr id="3" name="Text 1"/>
          <p:cNvSpPr txBox="1"/>
          <p:nvPr/>
        </p:nvSpPr>
        <p:spPr>
          <a:xfrm>
            <a:off x="548640" y="347472"/>
            <a:ext cx="2843784" cy="329184"/>
          </a:xfrm>
          <a:prstGeom prst="rect">
            <a:avLst/>
          </a:prstGeom>
          <a:noFill/>
          <a:ln/>
        </p:spPr>
        <p:txBody>
          <a:bodyPr wrap="square" lIns="0" tIns="0" rIns="0" bIns="0" rtlCol="0" anchor="ctr"/>
          <a:lstStyle/>
          <a:p>
            <a:pPr algn="ctr" indent="0" marL="0">
              <a:buNone/>
            </a:pPr>
            <a:r>
              <a:rPr lang="en-US" sz="1200" b="1" dirty="0">
                <a:solidFill>
                  <a:srgbClr val="3F6E8C"/>
                </a:solidFill>
                <a:latin typeface="Calibri" pitchFamily="34" charset="0"/>
                <a:ea typeface="Calibri" pitchFamily="34" charset="-122"/>
                <a:cs typeface="Calibri" pitchFamily="34" charset="-120"/>
              </a:rPr>
              <a:t>Scenario 1: Incident Response</a:t>
            </a:r>
            <a:endParaRPr lang="en-US" sz="1200" dirty="0"/>
          </a:p>
        </p:txBody>
      </p:sp>
      <p:sp>
        <p:nvSpPr>
          <p:cNvPr id="4" name="Text 2"/>
          <p:cNvSpPr txBox="1"/>
          <p:nvPr/>
        </p:nvSpPr>
        <p:spPr>
          <a:xfrm>
            <a:off x="548640" y="749808"/>
            <a:ext cx="11064240" cy="640080"/>
          </a:xfrm>
          <a:prstGeom prst="rect">
            <a:avLst/>
          </a:prstGeom>
          <a:noFill/>
          <a:ln/>
        </p:spPr>
        <p:txBody>
          <a:bodyPr wrap="square" lIns="0" tIns="0" rIns="0" bIns="0" rtlCol="0" anchor="ctr"/>
          <a:lstStyle/>
          <a:p>
            <a:pPr indent="0" marL="0">
              <a:buNone/>
            </a:pPr>
            <a:r>
              <a:rPr lang="en-US" sz="2800" b="1" dirty="0">
                <a:solidFill>
                  <a:srgbClr val="23405A"/>
                </a:solidFill>
                <a:latin typeface="Calibri" pitchFamily="34" charset="0"/>
                <a:ea typeface="Calibri" pitchFamily="34" charset="-122"/>
                <a:cs typeface="Calibri" pitchFamily="34" charset="-120"/>
              </a:rPr>
              <a:t>Recovery: what would have to be true?</a:t>
            </a:r>
            <a:endParaRPr lang="en-US" sz="2800" dirty="0"/>
          </a:p>
        </p:txBody>
      </p:sp>
      <p:sp>
        <p:nvSpPr>
          <p:cNvPr id="5" name="Shape 3"/>
          <p:cNvSpPr/>
          <p:nvPr/>
        </p:nvSpPr>
        <p:spPr>
          <a:xfrm>
            <a:off x="10705795" y="347472"/>
            <a:ext cx="937260" cy="329184"/>
          </a:xfrm>
          <a:prstGeom prst="roundRect">
            <a:avLst>
              <a:gd name="adj" fmla="val 50000"/>
            </a:avLst>
          </a:prstGeom>
          <a:solidFill>
            <a:srgbClr val="FFFFFF"/>
          </a:solidFill>
          <a:ln w="12700">
            <a:solidFill>
              <a:srgbClr val="FFFFFF"/>
            </a:solidFill>
            <a:prstDash val="solid"/>
          </a:ln>
        </p:spPr>
      </p:sp>
      <p:sp>
        <p:nvSpPr>
          <p:cNvPr id="6" name="Text 4"/>
          <p:cNvSpPr txBox="1"/>
          <p:nvPr/>
        </p:nvSpPr>
        <p:spPr>
          <a:xfrm>
            <a:off x="10705795" y="347472"/>
            <a:ext cx="937260" cy="329184"/>
          </a:xfrm>
          <a:prstGeom prst="rect">
            <a:avLst/>
          </a:prstGeom>
          <a:noFill/>
          <a:ln/>
        </p:spPr>
        <p:txBody>
          <a:bodyPr wrap="square" lIns="0" tIns="0" rIns="0" bIns="0" rtlCol="0" anchor="ctr"/>
          <a:lstStyle/>
          <a:p>
            <a:pPr algn="ctr" indent="0" marL="0">
              <a:buNone/>
            </a:pPr>
            <a:r>
              <a:rPr lang="en-US" sz="1200" dirty="0">
                <a:solidFill>
                  <a:srgbClr val="465A69"/>
                </a:solidFill>
                <a:latin typeface="Calibri" pitchFamily="34" charset="0"/>
                <a:ea typeface="Calibri" pitchFamily="34" charset="-122"/>
                <a:cs typeface="Calibri" pitchFamily="34" charset="-120"/>
              </a:rPr>
              <a:t>Hotwash</a:t>
            </a:r>
            <a:endParaRPr lang="en-US" sz="1200" dirty="0"/>
          </a:p>
        </p:txBody>
      </p:sp>
      <p:sp>
        <p:nvSpPr>
          <p:cNvPr id="7" name="Shape 5"/>
          <p:cNvSpPr/>
          <p:nvPr/>
        </p:nvSpPr>
        <p:spPr>
          <a:xfrm>
            <a:off x="9608515" y="347472"/>
            <a:ext cx="1024128" cy="329184"/>
          </a:xfrm>
          <a:prstGeom prst="roundRect">
            <a:avLst>
              <a:gd name="adj" fmla="val 50000"/>
            </a:avLst>
          </a:prstGeom>
          <a:solidFill>
            <a:srgbClr val="3F6E8C"/>
          </a:solidFill>
          <a:ln w="12700">
            <a:solidFill>
              <a:srgbClr val="3F6E8C"/>
            </a:solidFill>
            <a:prstDash val="solid"/>
          </a:ln>
        </p:spPr>
      </p:sp>
      <p:sp>
        <p:nvSpPr>
          <p:cNvPr id="8" name="Text 6"/>
          <p:cNvSpPr txBox="1"/>
          <p:nvPr/>
        </p:nvSpPr>
        <p:spPr>
          <a:xfrm>
            <a:off x="9608515" y="347472"/>
            <a:ext cx="1024128"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Recovery</a:t>
            </a:r>
            <a:endParaRPr lang="en-US" sz="1200" dirty="0"/>
          </a:p>
        </p:txBody>
      </p:sp>
      <p:sp>
        <p:nvSpPr>
          <p:cNvPr id="9" name="Shape 7"/>
          <p:cNvSpPr/>
          <p:nvPr/>
        </p:nvSpPr>
        <p:spPr>
          <a:xfrm>
            <a:off x="8598103" y="347472"/>
            <a:ext cx="937260" cy="329184"/>
          </a:xfrm>
          <a:prstGeom prst="roundRect">
            <a:avLst>
              <a:gd name="adj" fmla="val 50000"/>
            </a:avLst>
          </a:prstGeom>
          <a:solidFill>
            <a:srgbClr val="F1F6FA"/>
          </a:solidFill>
          <a:ln w="12700">
            <a:solidFill>
              <a:srgbClr val="F1F6FA"/>
            </a:solidFill>
            <a:prstDash val="solid"/>
          </a:ln>
        </p:spPr>
      </p:sp>
      <p:sp>
        <p:nvSpPr>
          <p:cNvPr id="10" name="Text 8"/>
          <p:cNvSpPr txBox="1"/>
          <p:nvPr/>
        </p:nvSpPr>
        <p:spPr>
          <a:xfrm>
            <a:off x="8598103" y="347472"/>
            <a:ext cx="937260" cy="329184"/>
          </a:xfrm>
          <a:prstGeom prst="rect">
            <a:avLst/>
          </a:prstGeom>
          <a:noFill/>
          <a:ln/>
        </p:spPr>
        <p:txBody>
          <a:bodyPr wrap="square" lIns="0" tIns="0" rIns="0" bIns="0" rtlCol="0" anchor="ctr"/>
          <a:lstStyle/>
          <a:p>
            <a:pPr algn="ctr" indent="0" marL="0">
              <a:buNone/>
            </a:pPr>
            <a:r>
              <a:rPr lang="en-US" sz="1200" dirty="0">
                <a:solidFill>
                  <a:srgbClr val="3F6E8C"/>
                </a:solidFill>
                <a:latin typeface="Calibri" pitchFamily="34" charset="0"/>
                <a:ea typeface="Calibri" pitchFamily="34" charset="-122"/>
                <a:cs typeface="Calibri" pitchFamily="34" charset="-120"/>
              </a:rPr>
              <a:t>Injects</a:t>
            </a:r>
            <a:endParaRPr lang="en-US" sz="1200" dirty="0"/>
          </a:p>
        </p:txBody>
      </p:sp>
      <p:sp>
        <p:nvSpPr>
          <p:cNvPr id="11" name="Shape 9"/>
          <p:cNvSpPr/>
          <p:nvPr/>
        </p:nvSpPr>
        <p:spPr>
          <a:xfrm>
            <a:off x="7674559" y="347472"/>
            <a:ext cx="850392" cy="329184"/>
          </a:xfrm>
          <a:prstGeom prst="roundRect">
            <a:avLst>
              <a:gd name="adj" fmla="val 50000"/>
            </a:avLst>
          </a:prstGeom>
          <a:solidFill>
            <a:srgbClr val="F1F6FA"/>
          </a:solidFill>
          <a:ln w="12700">
            <a:solidFill>
              <a:srgbClr val="F1F6FA"/>
            </a:solidFill>
            <a:prstDash val="solid"/>
          </a:ln>
        </p:spPr>
      </p:sp>
      <p:sp>
        <p:nvSpPr>
          <p:cNvPr id="12" name="Text 10"/>
          <p:cNvSpPr txBox="1"/>
          <p:nvPr/>
        </p:nvSpPr>
        <p:spPr>
          <a:xfrm>
            <a:off x="7674559" y="347472"/>
            <a:ext cx="850392" cy="329184"/>
          </a:xfrm>
          <a:prstGeom prst="rect">
            <a:avLst/>
          </a:prstGeom>
          <a:noFill/>
          <a:ln/>
        </p:spPr>
        <p:txBody>
          <a:bodyPr wrap="square" lIns="0" tIns="0" rIns="0" bIns="0" rtlCol="0" anchor="ctr"/>
          <a:lstStyle/>
          <a:p>
            <a:pPr algn="ctr" indent="0" marL="0">
              <a:buNone/>
            </a:pPr>
            <a:r>
              <a:rPr lang="en-US" sz="1200" dirty="0">
                <a:solidFill>
                  <a:srgbClr val="3F6E8C"/>
                </a:solidFill>
                <a:latin typeface="Calibri" pitchFamily="34" charset="0"/>
                <a:ea typeface="Calibri" pitchFamily="34" charset="-122"/>
                <a:cs typeface="Calibri" pitchFamily="34" charset="-120"/>
              </a:rPr>
              <a:t>Decide</a:t>
            </a:r>
            <a:endParaRPr lang="en-US" sz="1200" dirty="0"/>
          </a:p>
        </p:txBody>
      </p:sp>
      <p:sp>
        <p:nvSpPr>
          <p:cNvPr id="13" name="Shape 11"/>
          <p:cNvSpPr/>
          <p:nvPr/>
        </p:nvSpPr>
        <p:spPr>
          <a:xfrm>
            <a:off x="7011619" y="347472"/>
            <a:ext cx="589788" cy="329184"/>
          </a:xfrm>
          <a:prstGeom prst="roundRect">
            <a:avLst>
              <a:gd name="adj" fmla="val 50000"/>
            </a:avLst>
          </a:prstGeom>
          <a:solidFill>
            <a:srgbClr val="F1F6FA"/>
          </a:solidFill>
          <a:ln w="12700">
            <a:solidFill>
              <a:srgbClr val="F1F6FA"/>
            </a:solidFill>
            <a:prstDash val="solid"/>
          </a:ln>
        </p:spPr>
      </p:sp>
      <p:sp>
        <p:nvSpPr>
          <p:cNvPr id="14" name="Text 12"/>
          <p:cNvSpPr txBox="1"/>
          <p:nvPr/>
        </p:nvSpPr>
        <p:spPr>
          <a:xfrm>
            <a:off x="7011619" y="347472"/>
            <a:ext cx="589788" cy="329184"/>
          </a:xfrm>
          <a:prstGeom prst="rect">
            <a:avLst/>
          </a:prstGeom>
          <a:noFill/>
          <a:ln/>
        </p:spPr>
        <p:txBody>
          <a:bodyPr wrap="square" lIns="0" tIns="0" rIns="0" bIns="0" rtlCol="0" anchor="ctr"/>
          <a:lstStyle/>
          <a:p>
            <a:pPr algn="ctr" indent="0" marL="0">
              <a:buNone/>
            </a:pPr>
            <a:r>
              <a:rPr lang="en-US" sz="1200" dirty="0">
                <a:solidFill>
                  <a:srgbClr val="3F6E8C"/>
                </a:solidFill>
                <a:latin typeface="Calibri" pitchFamily="34" charset="0"/>
                <a:ea typeface="Calibri" pitchFamily="34" charset="-122"/>
                <a:cs typeface="Calibri" pitchFamily="34" charset="-120"/>
              </a:rPr>
              <a:t>T+0</a:t>
            </a:r>
            <a:endParaRPr lang="en-US" sz="1200" dirty="0"/>
          </a:p>
        </p:txBody>
      </p:sp>
      <p:sp>
        <p:nvSpPr>
          <p:cNvPr id="15" name="Shape 13"/>
          <p:cNvSpPr/>
          <p:nvPr/>
        </p:nvSpPr>
        <p:spPr>
          <a:xfrm>
            <a:off x="5740603" y="347472"/>
            <a:ext cx="1197864" cy="329184"/>
          </a:xfrm>
          <a:prstGeom prst="roundRect">
            <a:avLst>
              <a:gd name="adj" fmla="val 50000"/>
            </a:avLst>
          </a:prstGeom>
          <a:solidFill>
            <a:srgbClr val="F1F6FA"/>
          </a:solidFill>
          <a:ln w="12700">
            <a:solidFill>
              <a:srgbClr val="F1F6FA"/>
            </a:solidFill>
            <a:prstDash val="solid"/>
          </a:ln>
        </p:spPr>
      </p:sp>
      <p:sp>
        <p:nvSpPr>
          <p:cNvPr id="16" name="Text 14"/>
          <p:cNvSpPr txBox="1"/>
          <p:nvPr/>
        </p:nvSpPr>
        <p:spPr>
          <a:xfrm>
            <a:off x="5740603" y="347472"/>
            <a:ext cx="1197864" cy="329184"/>
          </a:xfrm>
          <a:prstGeom prst="rect">
            <a:avLst/>
          </a:prstGeom>
          <a:noFill/>
          <a:ln/>
        </p:spPr>
        <p:txBody>
          <a:bodyPr wrap="square" lIns="0" tIns="0" rIns="0" bIns="0" rtlCol="0" anchor="ctr"/>
          <a:lstStyle/>
          <a:p>
            <a:pPr algn="ctr" indent="0" marL="0">
              <a:buNone/>
            </a:pPr>
            <a:r>
              <a:rPr lang="en-US" sz="1200" dirty="0">
                <a:solidFill>
                  <a:srgbClr val="3F6E8C"/>
                </a:solidFill>
                <a:latin typeface="Calibri" pitchFamily="34" charset="0"/>
                <a:ea typeface="Calibri" pitchFamily="34" charset="-122"/>
                <a:cs typeface="Calibri" pitchFamily="34" charset="-120"/>
              </a:rPr>
              <a:t>Background</a:t>
            </a:r>
            <a:endParaRPr lang="en-US" sz="1200" dirty="0"/>
          </a:p>
        </p:txBody>
      </p:sp>
      <p:sp>
        <p:nvSpPr>
          <p:cNvPr id="17" name="Shape 15"/>
          <p:cNvSpPr/>
          <p:nvPr/>
        </p:nvSpPr>
        <p:spPr>
          <a:xfrm>
            <a:off x="548640" y="1600200"/>
            <a:ext cx="8302752" cy="1417320"/>
          </a:xfrm>
          <a:prstGeom prst="roundRect">
            <a:avLst>
              <a:gd name="adj" fmla="val 9032"/>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pic>
        <p:nvPicPr>
          <p:cNvPr id="18" name="Image 0" descr="preencoded.png">    </p:cNvPr>
          <p:cNvPicPr>
            <a:picLocks noChangeAspect="1"/>
          </p:cNvPicPr>
          <p:nvPr/>
        </p:nvPicPr>
        <p:blipFill>
          <a:blip r:embed="rId1"/>
          <a:stretch>
            <a:fillRect/>
          </a:stretch>
        </p:blipFill>
        <p:spPr>
          <a:xfrm>
            <a:off x="822960" y="1874520"/>
            <a:ext cx="310896" cy="310896"/>
          </a:xfrm>
          <a:prstGeom prst="rect">
            <a:avLst/>
          </a:prstGeom>
        </p:spPr>
      </p:pic>
      <p:sp>
        <p:nvSpPr>
          <p:cNvPr id="19" name="Text 16"/>
          <p:cNvSpPr txBox="1"/>
          <p:nvPr/>
        </p:nvSpPr>
        <p:spPr>
          <a:xfrm>
            <a:off x="1280160" y="1755648"/>
            <a:ext cx="3657600" cy="274320"/>
          </a:xfrm>
          <a:prstGeom prst="rect">
            <a:avLst/>
          </a:prstGeom>
          <a:noFill/>
          <a:ln/>
        </p:spPr>
        <p:txBody>
          <a:bodyPr wrap="square" lIns="0" tIns="0" rIns="0" bIns="0" rtlCol="0" anchor="t"/>
          <a:lstStyle/>
          <a:p>
            <a:pPr indent="0" marL="0">
              <a:buNone/>
            </a:pPr>
            <a:r>
              <a:rPr lang="en-US" sz="1300" b="1" dirty="0">
                <a:solidFill>
                  <a:srgbClr val="3F6E8C"/>
                </a:solidFill>
                <a:latin typeface="Calibri" pitchFamily="34" charset="0"/>
                <a:ea typeface="Calibri" pitchFamily="34" charset="-122"/>
                <a:cs typeface="Calibri" pitchFamily="34" charset="-120"/>
              </a:rPr>
              <a:t>5:35 PM</a:t>
            </a:r>
            <a:endParaRPr lang="en-US" sz="1300" dirty="0"/>
          </a:p>
        </p:txBody>
      </p:sp>
      <p:sp>
        <p:nvSpPr>
          <p:cNvPr id="20" name="Text 17"/>
          <p:cNvSpPr txBox="1"/>
          <p:nvPr/>
        </p:nvSpPr>
        <p:spPr>
          <a:xfrm>
            <a:off x="1280160" y="2029968"/>
            <a:ext cx="7388352" cy="914400"/>
          </a:xfrm>
          <a:prstGeom prst="rect">
            <a:avLst/>
          </a:prstGeom>
          <a:noFill/>
          <a:ln/>
        </p:spPr>
        <p:txBody>
          <a:bodyPr wrap="square" lIns="0" tIns="0" rIns="0" bIns="0" rtlCol="0" anchor="t"/>
          <a:lstStyle/>
          <a:p>
            <a:pPr indent="0" marL="0">
              <a:buNone/>
            </a:pPr>
            <a:r>
              <a:rPr lang="en-US" sz="1300" dirty="0">
                <a:solidFill>
                  <a:srgbClr val="1E2E3A"/>
                </a:solidFill>
                <a:latin typeface="Calibri" pitchFamily="34" charset="0"/>
                <a:ea typeface="Calibri" pitchFamily="34" charset="-122"/>
                <a:cs typeface="Calibri" pitchFamily="34" charset="-120"/>
              </a:rPr>
              <a:t>Containment actions are complete. Sessions are revoked, unauthorized MFA devices and forwarding rules are removed, OAuth apps are revoked, and the vendor integration is blocked. A data loss assessment is under way.</a:t>
            </a:r>
            <a:endParaRPr lang="en-US" sz="1300" dirty="0"/>
          </a:p>
        </p:txBody>
      </p:sp>
      <p:sp>
        <p:nvSpPr>
          <p:cNvPr id="21" name="Shape 18"/>
          <p:cNvSpPr/>
          <p:nvPr/>
        </p:nvSpPr>
        <p:spPr>
          <a:xfrm>
            <a:off x="548640" y="3200400"/>
            <a:ext cx="8302752" cy="2971800"/>
          </a:xfrm>
          <a:prstGeom prst="roundRect">
            <a:avLst>
              <a:gd name="adj" fmla="val 4308"/>
            </a:avLst>
          </a:prstGeom>
          <a:solidFill>
            <a:srgbClr val="F1F6FA"/>
          </a:solidFill>
          <a:ln w="12700">
            <a:solidFill>
              <a:srgbClr val="F1F6FA"/>
            </a:solidFill>
            <a:prstDash val="solid"/>
          </a:ln>
          <a:effectLst>
            <a:outerShdw sx="100000" sy="100000" kx="0" ky="0" algn="bl" rotWithShape="0" blurRad="177800" dist="50800" dir="5400000">
              <a:srgbClr val="1B4965">
                <a:alpha val="16000"/>
              </a:srgbClr>
            </a:outerShdw>
          </a:effectLst>
        </p:spPr>
      </p:sp>
      <p:sp>
        <p:nvSpPr>
          <p:cNvPr id="22" name="Text 19"/>
          <p:cNvSpPr txBox="1"/>
          <p:nvPr/>
        </p:nvSpPr>
        <p:spPr>
          <a:xfrm>
            <a:off x="868680" y="3364992"/>
            <a:ext cx="7708392" cy="777240"/>
          </a:xfrm>
          <a:prstGeom prst="rect">
            <a:avLst/>
          </a:prstGeom>
          <a:noFill/>
          <a:ln/>
        </p:spPr>
        <p:txBody>
          <a:bodyPr wrap="square" lIns="0" tIns="0" rIns="0" bIns="0" rtlCol="0" anchor="t"/>
          <a:lstStyle/>
          <a:p>
            <a:pPr indent="0" marL="0">
              <a:buNone/>
            </a:pPr>
            <a:r>
              <a:rPr lang="en-US" sz="1900" b="1" dirty="0">
                <a:solidFill>
                  <a:srgbClr val="3F6E8C"/>
                </a:solidFill>
                <a:latin typeface="Calibri" pitchFamily="34" charset="0"/>
                <a:ea typeface="Calibri" pitchFamily="34" charset="-122"/>
                <a:cs typeface="Calibri" pitchFamily="34" charset="-120"/>
              </a:rPr>
              <a:t>What would have to be true before you re-enable accounts and services and declare recovery?</a:t>
            </a:r>
            <a:endParaRPr lang="en-US" sz="1900" dirty="0"/>
          </a:p>
        </p:txBody>
      </p:sp>
      <p:sp>
        <p:nvSpPr>
          <p:cNvPr id="23" name="Shape 20"/>
          <p:cNvSpPr/>
          <p:nvPr/>
        </p:nvSpPr>
        <p:spPr>
          <a:xfrm>
            <a:off x="868680" y="4343400"/>
            <a:ext cx="7662672" cy="420624"/>
          </a:xfrm>
          <a:prstGeom prst="roundRect">
            <a:avLst>
              <a:gd name="adj" fmla="val 17391"/>
            </a:avLst>
          </a:prstGeom>
          <a:solidFill>
            <a:srgbClr val="FFFFFF"/>
          </a:solidFill>
          <a:ln w="12700">
            <a:solidFill>
              <a:srgbClr val="FFFFFF"/>
            </a:solidFill>
            <a:prstDash val="solid"/>
          </a:ln>
        </p:spPr>
      </p:sp>
      <p:sp>
        <p:nvSpPr>
          <p:cNvPr id="24" name="Text 21"/>
          <p:cNvSpPr txBox="1"/>
          <p:nvPr/>
        </p:nvSpPr>
        <p:spPr>
          <a:xfrm>
            <a:off x="1005840" y="4343400"/>
            <a:ext cx="2743200" cy="384048"/>
          </a:xfrm>
          <a:prstGeom prst="rect">
            <a:avLst/>
          </a:prstGeom>
          <a:noFill/>
          <a:ln/>
        </p:spPr>
        <p:txBody>
          <a:bodyPr wrap="square" lIns="0" tIns="0" rIns="0" bIns="0" rtlCol="0" anchor="ctr"/>
          <a:lstStyle/>
          <a:p>
            <a:pPr indent="0" marL="0">
              <a:buNone/>
            </a:pPr>
            <a:r>
              <a:rPr lang="en-US" sz="1200" dirty="0">
                <a:solidFill>
                  <a:srgbClr val="465A69"/>
                </a:solidFill>
                <a:latin typeface="Calibri" pitchFamily="34" charset="0"/>
                <a:ea typeface="Calibri" pitchFamily="34" charset="-122"/>
                <a:cs typeface="Calibri" pitchFamily="34" charset="-120"/>
              </a:rPr>
              <a:t>Condition 1</a:t>
            </a:r>
            <a:endParaRPr lang="en-US" sz="1200" dirty="0"/>
          </a:p>
        </p:txBody>
      </p:sp>
      <p:sp>
        <p:nvSpPr>
          <p:cNvPr id="25" name="Shape 22"/>
          <p:cNvSpPr/>
          <p:nvPr/>
        </p:nvSpPr>
        <p:spPr>
          <a:xfrm>
            <a:off x="868680" y="4892040"/>
            <a:ext cx="7662672" cy="420624"/>
          </a:xfrm>
          <a:prstGeom prst="roundRect">
            <a:avLst>
              <a:gd name="adj" fmla="val 17391"/>
            </a:avLst>
          </a:prstGeom>
          <a:solidFill>
            <a:srgbClr val="FFFFFF"/>
          </a:solidFill>
          <a:ln w="12700">
            <a:solidFill>
              <a:srgbClr val="FFFFFF"/>
            </a:solidFill>
            <a:prstDash val="solid"/>
          </a:ln>
        </p:spPr>
      </p:sp>
      <p:sp>
        <p:nvSpPr>
          <p:cNvPr id="26" name="Text 23"/>
          <p:cNvSpPr txBox="1"/>
          <p:nvPr/>
        </p:nvSpPr>
        <p:spPr>
          <a:xfrm>
            <a:off x="1005840" y="4892040"/>
            <a:ext cx="2743200" cy="384048"/>
          </a:xfrm>
          <a:prstGeom prst="rect">
            <a:avLst/>
          </a:prstGeom>
          <a:noFill/>
          <a:ln/>
        </p:spPr>
        <p:txBody>
          <a:bodyPr wrap="square" lIns="0" tIns="0" rIns="0" bIns="0" rtlCol="0" anchor="ctr"/>
          <a:lstStyle/>
          <a:p>
            <a:pPr indent="0" marL="0">
              <a:buNone/>
            </a:pPr>
            <a:r>
              <a:rPr lang="en-US" sz="1200" dirty="0">
                <a:solidFill>
                  <a:srgbClr val="465A69"/>
                </a:solidFill>
                <a:latin typeface="Calibri" pitchFamily="34" charset="0"/>
                <a:ea typeface="Calibri" pitchFamily="34" charset="-122"/>
                <a:cs typeface="Calibri" pitchFamily="34" charset="-120"/>
              </a:rPr>
              <a:t>Condition 2</a:t>
            </a:r>
            <a:endParaRPr lang="en-US" sz="1200" dirty="0"/>
          </a:p>
        </p:txBody>
      </p:sp>
      <p:sp>
        <p:nvSpPr>
          <p:cNvPr id="27" name="Shape 24"/>
          <p:cNvSpPr/>
          <p:nvPr/>
        </p:nvSpPr>
        <p:spPr>
          <a:xfrm>
            <a:off x="868680" y="5440680"/>
            <a:ext cx="7662672" cy="420624"/>
          </a:xfrm>
          <a:prstGeom prst="roundRect">
            <a:avLst>
              <a:gd name="adj" fmla="val 17391"/>
            </a:avLst>
          </a:prstGeom>
          <a:solidFill>
            <a:srgbClr val="FFFFFF"/>
          </a:solidFill>
          <a:ln w="12700">
            <a:solidFill>
              <a:srgbClr val="FFFFFF"/>
            </a:solidFill>
            <a:prstDash val="solid"/>
          </a:ln>
        </p:spPr>
      </p:sp>
      <p:sp>
        <p:nvSpPr>
          <p:cNvPr id="28" name="Text 25"/>
          <p:cNvSpPr txBox="1"/>
          <p:nvPr/>
        </p:nvSpPr>
        <p:spPr>
          <a:xfrm>
            <a:off x="1005840" y="5440680"/>
            <a:ext cx="2743200" cy="384048"/>
          </a:xfrm>
          <a:prstGeom prst="rect">
            <a:avLst/>
          </a:prstGeom>
          <a:noFill/>
          <a:ln/>
        </p:spPr>
        <p:txBody>
          <a:bodyPr wrap="square" lIns="0" tIns="0" rIns="0" bIns="0" rtlCol="0" anchor="ctr"/>
          <a:lstStyle/>
          <a:p>
            <a:pPr indent="0" marL="0">
              <a:buNone/>
            </a:pPr>
            <a:r>
              <a:rPr lang="en-US" sz="1200" dirty="0">
                <a:solidFill>
                  <a:srgbClr val="465A69"/>
                </a:solidFill>
                <a:latin typeface="Calibri" pitchFamily="34" charset="0"/>
                <a:ea typeface="Calibri" pitchFamily="34" charset="-122"/>
                <a:cs typeface="Calibri" pitchFamily="34" charset="-120"/>
              </a:rPr>
              <a:t>Condition 3</a:t>
            </a:r>
            <a:endParaRPr lang="en-US" sz="1200" dirty="0"/>
          </a:p>
        </p:txBody>
      </p:sp>
      <p:sp>
        <p:nvSpPr>
          <p:cNvPr id="29" name="Shape 26"/>
          <p:cNvSpPr/>
          <p:nvPr/>
        </p:nvSpPr>
        <p:spPr>
          <a:xfrm>
            <a:off x="9079992" y="1600200"/>
            <a:ext cx="2560320" cy="4572000"/>
          </a:xfrm>
          <a:prstGeom prst="roundRect">
            <a:avLst>
              <a:gd name="adj" fmla="val 5000"/>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30" name="Text 27"/>
          <p:cNvSpPr txBox="1"/>
          <p:nvPr/>
        </p:nvSpPr>
        <p:spPr>
          <a:xfrm>
            <a:off x="9262872" y="1728216"/>
            <a:ext cx="2194560" cy="457200"/>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Containment actions (simulated)</a:t>
            </a:r>
            <a:endParaRPr lang="en-US" sz="1300" dirty="0"/>
          </a:p>
        </p:txBody>
      </p:sp>
      <p:sp>
        <p:nvSpPr>
          <p:cNvPr id="31" name="Shape 28"/>
          <p:cNvSpPr/>
          <p:nvPr/>
        </p:nvSpPr>
        <p:spPr>
          <a:xfrm>
            <a:off x="9262872" y="2221992"/>
            <a:ext cx="2194560" cy="3767328"/>
          </a:xfrm>
          <a:prstGeom prst="roundRect">
            <a:avLst>
              <a:gd name="adj" fmla="val 3333"/>
            </a:avLst>
          </a:prstGeom>
          <a:solidFill>
            <a:srgbClr val="FFFFFF"/>
          </a:solidFill>
          <a:ln w="9525">
            <a:solidFill>
              <a:srgbClr val="C9D3DE"/>
            </a:solidFill>
            <a:prstDash val="solid"/>
          </a:ln>
        </p:spPr>
      </p:sp>
      <p:pic>
        <p:nvPicPr>
          <p:cNvPr id="32" name="Image 1" descr="preencoded.png">    </p:cNvPr>
          <p:cNvPicPr>
            <a:picLocks noChangeAspect="1"/>
          </p:cNvPicPr>
          <p:nvPr/>
        </p:nvPicPr>
        <p:blipFill>
          <a:blip r:embed="rId2"/>
          <a:stretch>
            <a:fillRect/>
          </a:stretch>
        </p:blipFill>
        <p:spPr>
          <a:xfrm>
            <a:off x="9381744" y="2404872"/>
            <a:ext cx="182880" cy="182880"/>
          </a:xfrm>
          <a:prstGeom prst="rect">
            <a:avLst/>
          </a:prstGeom>
        </p:spPr>
      </p:pic>
      <p:sp>
        <p:nvSpPr>
          <p:cNvPr id="33" name="Text 29"/>
          <p:cNvSpPr txBox="1"/>
          <p:nvPr/>
        </p:nvSpPr>
        <p:spPr>
          <a:xfrm>
            <a:off x="9656064" y="2386584"/>
            <a:ext cx="1664208" cy="371856"/>
          </a:xfrm>
          <a:prstGeom prst="rect">
            <a:avLst/>
          </a:prstGeom>
          <a:noFill/>
          <a:ln/>
        </p:spPr>
        <p:txBody>
          <a:bodyPr wrap="square" lIns="0" tIns="0" rIns="0" bIns="0" rtlCol="0" anchor="t"/>
          <a:lstStyle/>
          <a:p>
            <a:pPr indent="0" marL="0">
              <a:buNone/>
            </a:pPr>
            <a:r>
              <a:rPr lang="en-US" sz="1200" dirty="0">
                <a:solidFill>
                  <a:srgbClr val="1E2E3A"/>
                </a:solidFill>
                <a:latin typeface="Calibri" pitchFamily="34" charset="0"/>
                <a:ea typeface="Calibri" pitchFamily="34" charset="-122"/>
                <a:cs typeface="Calibri" pitchFamily="34" charset="-120"/>
              </a:rPr>
              <a:t>Revoke all user sessions</a:t>
            </a:r>
            <a:endParaRPr lang="en-US" sz="1200" dirty="0"/>
          </a:p>
        </p:txBody>
      </p:sp>
      <p:pic>
        <p:nvPicPr>
          <p:cNvPr id="34" name="Image 2" descr="preencoded.png">    </p:cNvPr>
          <p:cNvPicPr>
            <a:picLocks noChangeAspect="1"/>
          </p:cNvPicPr>
          <p:nvPr/>
        </p:nvPicPr>
        <p:blipFill>
          <a:blip r:embed="rId3"/>
          <a:stretch>
            <a:fillRect/>
          </a:stretch>
        </p:blipFill>
        <p:spPr>
          <a:xfrm>
            <a:off x="9381744" y="2831592"/>
            <a:ext cx="182880" cy="182880"/>
          </a:xfrm>
          <a:prstGeom prst="rect">
            <a:avLst/>
          </a:prstGeom>
        </p:spPr>
      </p:pic>
      <p:sp>
        <p:nvSpPr>
          <p:cNvPr id="35" name="Text 30"/>
          <p:cNvSpPr txBox="1"/>
          <p:nvPr/>
        </p:nvSpPr>
        <p:spPr>
          <a:xfrm>
            <a:off x="9656064" y="2813304"/>
            <a:ext cx="1664208" cy="371856"/>
          </a:xfrm>
          <a:prstGeom prst="rect">
            <a:avLst/>
          </a:prstGeom>
          <a:noFill/>
          <a:ln/>
        </p:spPr>
        <p:txBody>
          <a:bodyPr wrap="square" lIns="0" tIns="0" rIns="0" bIns="0" rtlCol="0" anchor="t"/>
          <a:lstStyle/>
          <a:p>
            <a:pPr indent="0" marL="0">
              <a:buNone/>
            </a:pPr>
            <a:r>
              <a:rPr lang="en-US" sz="1200" dirty="0">
                <a:solidFill>
                  <a:srgbClr val="1E2E3A"/>
                </a:solidFill>
                <a:latin typeface="Calibri" pitchFamily="34" charset="0"/>
                <a:ea typeface="Calibri" pitchFamily="34" charset="-122"/>
                <a:cs typeface="Calibri" pitchFamily="34" charset="-120"/>
              </a:rPr>
              <a:t>Remove unauthorized MFA devices</a:t>
            </a:r>
            <a:endParaRPr lang="en-US" sz="1200" dirty="0"/>
          </a:p>
        </p:txBody>
      </p:sp>
      <p:pic>
        <p:nvPicPr>
          <p:cNvPr id="36" name="Image 3" descr="preencoded.png">    </p:cNvPr>
          <p:cNvPicPr>
            <a:picLocks noChangeAspect="1"/>
          </p:cNvPicPr>
          <p:nvPr/>
        </p:nvPicPr>
        <p:blipFill>
          <a:blip r:embed="rId4"/>
          <a:stretch>
            <a:fillRect/>
          </a:stretch>
        </p:blipFill>
        <p:spPr>
          <a:xfrm>
            <a:off x="9381744" y="3258312"/>
            <a:ext cx="182880" cy="182880"/>
          </a:xfrm>
          <a:prstGeom prst="rect">
            <a:avLst/>
          </a:prstGeom>
        </p:spPr>
      </p:pic>
      <p:sp>
        <p:nvSpPr>
          <p:cNvPr id="37" name="Text 31"/>
          <p:cNvSpPr txBox="1"/>
          <p:nvPr/>
        </p:nvSpPr>
        <p:spPr>
          <a:xfrm>
            <a:off x="9656064" y="3240024"/>
            <a:ext cx="1664208" cy="371856"/>
          </a:xfrm>
          <a:prstGeom prst="rect">
            <a:avLst/>
          </a:prstGeom>
          <a:noFill/>
          <a:ln/>
        </p:spPr>
        <p:txBody>
          <a:bodyPr wrap="square" lIns="0" tIns="0" rIns="0" bIns="0" rtlCol="0" anchor="t"/>
          <a:lstStyle/>
          <a:p>
            <a:pPr indent="0" marL="0">
              <a:buNone/>
            </a:pPr>
            <a:r>
              <a:rPr lang="en-US" sz="1200" dirty="0">
                <a:solidFill>
                  <a:srgbClr val="1E2E3A"/>
                </a:solidFill>
                <a:latin typeface="Calibri" pitchFamily="34" charset="0"/>
                <a:ea typeface="Calibri" pitchFamily="34" charset="-122"/>
                <a:cs typeface="Calibri" pitchFamily="34" charset="-120"/>
              </a:rPr>
              <a:t>Delete malicious forwarding rules</a:t>
            </a:r>
            <a:endParaRPr lang="en-US" sz="1200" dirty="0"/>
          </a:p>
        </p:txBody>
      </p:sp>
      <p:pic>
        <p:nvPicPr>
          <p:cNvPr id="38" name="Image 4" descr="preencoded.png">    </p:cNvPr>
          <p:cNvPicPr>
            <a:picLocks noChangeAspect="1"/>
          </p:cNvPicPr>
          <p:nvPr/>
        </p:nvPicPr>
        <p:blipFill>
          <a:blip r:embed="rId5"/>
          <a:stretch>
            <a:fillRect/>
          </a:stretch>
        </p:blipFill>
        <p:spPr>
          <a:xfrm>
            <a:off x="9381744" y="3685032"/>
            <a:ext cx="182880" cy="182880"/>
          </a:xfrm>
          <a:prstGeom prst="rect">
            <a:avLst/>
          </a:prstGeom>
        </p:spPr>
      </p:pic>
      <p:sp>
        <p:nvSpPr>
          <p:cNvPr id="39" name="Text 32"/>
          <p:cNvSpPr txBox="1"/>
          <p:nvPr/>
        </p:nvSpPr>
        <p:spPr>
          <a:xfrm>
            <a:off x="9656064" y="3666744"/>
            <a:ext cx="1664208" cy="371856"/>
          </a:xfrm>
          <a:prstGeom prst="rect">
            <a:avLst/>
          </a:prstGeom>
          <a:noFill/>
          <a:ln/>
        </p:spPr>
        <p:txBody>
          <a:bodyPr wrap="square" lIns="0" tIns="0" rIns="0" bIns="0" rtlCol="0" anchor="t"/>
          <a:lstStyle/>
          <a:p>
            <a:pPr indent="0" marL="0">
              <a:buNone/>
            </a:pPr>
            <a:r>
              <a:rPr lang="en-US" sz="1200" dirty="0">
                <a:solidFill>
                  <a:srgbClr val="1E2E3A"/>
                </a:solidFill>
                <a:latin typeface="Calibri" pitchFamily="34" charset="0"/>
                <a:ea typeface="Calibri" pitchFamily="34" charset="-122"/>
                <a:cs typeface="Calibri" pitchFamily="34" charset="-120"/>
              </a:rPr>
              <a:t>Review and revoke OAuth applications</a:t>
            </a:r>
            <a:endParaRPr lang="en-US" sz="1200" dirty="0"/>
          </a:p>
        </p:txBody>
      </p:sp>
      <p:pic>
        <p:nvPicPr>
          <p:cNvPr id="40" name="Image 5" descr="preencoded.png">    </p:cNvPr>
          <p:cNvPicPr>
            <a:picLocks noChangeAspect="1"/>
          </p:cNvPicPr>
          <p:nvPr/>
        </p:nvPicPr>
        <p:blipFill>
          <a:blip r:embed="rId6"/>
          <a:stretch>
            <a:fillRect/>
          </a:stretch>
        </p:blipFill>
        <p:spPr>
          <a:xfrm>
            <a:off x="9381744" y="4111752"/>
            <a:ext cx="182880" cy="182880"/>
          </a:xfrm>
          <a:prstGeom prst="rect">
            <a:avLst/>
          </a:prstGeom>
        </p:spPr>
      </p:pic>
      <p:sp>
        <p:nvSpPr>
          <p:cNvPr id="41" name="Text 33"/>
          <p:cNvSpPr txBox="1"/>
          <p:nvPr/>
        </p:nvSpPr>
        <p:spPr>
          <a:xfrm>
            <a:off x="9656064" y="4093464"/>
            <a:ext cx="1664208" cy="371856"/>
          </a:xfrm>
          <a:prstGeom prst="rect">
            <a:avLst/>
          </a:prstGeom>
          <a:noFill/>
          <a:ln/>
        </p:spPr>
        <p:txBody>
          <a:bodyPr wrap="square" lIns="0" tIns="0" rIns="0" bIns="0" rtlCol="0" anchor="t"/>
          <a:lstStyle/>
          <a:p>
            <a:pPr indent="0" marL="0">
              <a:buNone/>
            </a:pPr>
            <a:r>
              <a:rPr lang="en-US" sz="1200" dirty="0">
                <a:solidFill>
                  <a:srgbClr val="1E2E3A"/>
                </a:solidFill>
                <a:latin typeface="Calibri" pitchFamily="34" charset="0"/>
                <a:ea typeface="Calibri" pitchFamily="34" charset="-122"/>
                <a:cs typeface="Calibri" pitchFamily="34" charset="-120"/>
              </a:rPr>
              <a:t>Disable affected accounts</a:t>
            </a:r>
            <a:endParaRPr lang="en-US" sz="1200" dirty="0"/>
          </a:p>
        </p:txBody>
      </p:sp>
      <p:pic>
        <p:nvPicPr>
          <p:cNvPr id="42" name="Image 6" descr="preencoded.png">    </p:cNvPr>
          <p:cNvPicPr>
            <a:picLocks noChangeAspect="1"/>
          </p:cNvPicPr>
          <p:nvPr/>
        </p:nvPicPr>
        <p:blipFill>
          <a:blip r:embed="rId7"/>
          <a:stretch>
            <a:fillRect/>
          </a:stretch>
        </p:blipFill>
        <p:spPr>
          <a:xfrm>
            <a:off x="9381744" y="4538472"/>
            <a:ext cx="182880" cy="182880"/>
          </a:xfrm>
          <a:prstGeom prst="rect">
            <a:avLst/>
          </a:prstGeom>
        </p:spPr>
      </p:pic>
      <p:sp>
        <p:nvSpPr>
          <p:cNvPr id="43" name="Text 34"/>
          <p:cNvSpPr txBox="1"/>
          <p:nvPr/>
        </p:nvSpPr>
        <p:spPr>
          <a:xfrm>
            <a:off x="9656064" y="4520184"/>
            <a:ext cx="1664208" cy="371856"/>
          </a:xfrm>
          <a:prstGeom prst="rect">
            <a:avLst/>
          </a:prstGeom>
          <a:noFill/>
          <a:ln/>
        </p:spPr>
        <p:txBody>
          <a:bodyPr wrap="square" lIns="0" tIns="0" rIns="0" bIns="0" rtlCol="0" anchor="t"/>
          <a:lstStyle/>
          <a:p>
            <a:pPr indent="0" marL="0">
              <a:buNone/>
            </a:pPr>
            <a:r>
              <a:rPr lang="en-US" sz="1200" dirty="0">
                <a:solidFill>
                  <a:srgbClr val="1E2E3A"/>
                </a:solidFill>
                <a:latin typeface="Calibri" pitchFamily="34" charset="0"/>
                <a:ea typeface="Calibri" pitchFamily="34" charset="-122"/>
                <a:cs typeface="Calibri" pitchFamily="34" charset="-120"/>
              </a:rPr>
              <a:t>Block vendor integration</a:t>
            </a:r>
            <a:endParaRPr lang="en-US" sz="1200" dirty="0"/>
          </a:p>
        </p:txBody>
      </p:sp>
      <p:pic>
        <p:nvPicPr>
          <p:cNvPr id="44" name="Image 7" descr="preencoded.png">    </p:cNvPr>
          <p:cNvPicPr>
            <a:picLocks noChangeAspect="1"/>
          </p:cNvPicPr>
          <p:nvPr/>
        </p:nvPicPr>
        <p:blipFill>
          <a:blip r:embed="rId8"/>
          <a:stretch>
            <a:fillRect/>
          </a:stretch>
        </p:blipFill>
        <p:spPr>
          <a:xfrm>
            <a:off x="9381744" y="4965192"/>
            <a:ext cx="182880" cy="182880"/>
          </a:xfrm>
          <a:prstGeom prst="rect">
            <a:avLst/>
          </a:prstGeom>
        </p:spPr>
      </p:pic>
      <p:sp>
        <p:nvSpPr>
          <p:cNvPr id="45" name="Text 35"/>
          <p:cNvSpPr txBox="1"/>
          <p:nvPr/>
        </p:nvSpPr>
        <p:spPr>
          <a:xfrm>
            <a:off x="9656064" y="4946904"/>
            <a:ext cx="1664208" cy="371856"/>
          </a:xfrm>
          <a:prstGeom prst="rect">
            <a:avLst/>
          </a:prstGeom>
          <a:noFill/>
          <a:ln/>
        </p:spPr>
        <p:txBody>
          <a:bodyPr wrap="square" lIns="0" tIns="0" rIns="0" bIns="0" rtlCol="0" anchor="t"/>
          <a:lstStyle/>
          <a:p>
            <a:pPr indent="0" marL="0">
              <a:buNone/>
            </a:pPr>
            <a:r>
              <a:rPr lang="en-US" sz="1200" dirty="0">
                <a:solidFill>
                  <a:srgbClr val="1E2E3A"/>
                </a:solidFill>
                <a:latin typeface="Calibri" pitchFamily="34" charset="0"/>
                <a:ea typeface="Calibri" pitchFamily="34" charset="-122"/>
                <a:cs typeface="Calibri" pitchFamily="34" charset="-120"/>
              </a:rPr>
              <a:t>Begin data loss assessment</a:t>
            </a:r>
            <a:endParaRPr lang="en-US" sz="1200" dirty="0"/>
          </a:p>
        </p:txBody>
      </p:sp>
      <p:pic>
        <p:nvPicPr>
          <p:cNvPr id="46" name="Image 8" descr="preencoded.png">    </p:cNvPr>
          <p:cNvPicPr>
            <a:picLocks noChangeAspect="1"/>
          </p:cNvPicPr>
          <p:nvPr/>
        </p:nvPicPr>
        <p:blipFill>
          <a:blip r:embed="rId9"/>
          <a:stretch>
            <a:fillRect/>
          </a:stretch>
        </p:blipFill>
        <p:spPr>
          <a:xfrm>
            <a:off x="9381744" y="5391912"/>
            <a:ext cx="182880" cy="182880"/>
          </a:xfrm>
          <a:prstGeom prst="rect">
            <a:avLst/>
          </a:prstGeom>
        </p:spPr>
      </p:pic>
      <p:sp>
        <p:nvSpPr>
          <p:cNvPr id="47" name="Text 36"/>
          <p:cNvSpPr txBox="1"/>
          <p:nvPr/>
        </p:nvSpPr>
        <p:spPr>
          <a:xfrm>
            <a:off x="9656064" y="5373624"/>
            <a:ext cx="1664208" cy="557784"/>
          </a:xfrm>
          <a:prstGeom prst="rect">
            <a:avLst/>
          </a:prstGeom>
          <a:noFill/>
          <a:ln/>
        </p:spPr>
        <p:txBody>
          <a:bodyPr wrap="square" lIns="0" tIns="0" rIns="0" bIns="0" rtlCol="0" anchor="t"/>
          <a:lstStyle/>
          <a:p>
            <a:pPr indent="0" marL="0">
              <a:buNone/>
            </a:pPr>
            <a:r>
              <a:rPr lang="en-US" sz="1200" dirty="0">
                <a:solidFill>
                  <a:srgbClr val="1E2E3A"/>
                </a:solidFill>
                <a:latin typeface="Calibri" pitchFamily="34" charset="0"/>
                <a:ea typeface="Calibri" pitchFamily="34" charset="-122"/>
                <a:cs typeface="Calibri" pitchFamily="34" charset="-120"/>
              </a:rPr>
              <a:t>Validate environment before re-enabling</a:t>
            </a:r>
            <a:endParaRPr lang="en-US" sz="1200" dirty="0"/>
          </a:p>
        </p:txBody>
      </p:sp>
      <p:sp>
        <p:nvSpPr>
          <p:cNvPr id="48" name="Text 37"/>
          <p:cNvSpPr txBox="1"/>
          <p:nvPr/>
        </p:nvSpPr>
        <p:spPr>
          <a:xfrm>
            <a:off x="548640" y="6254496"/>
            <a:ext cx="11091672" cy="256032"/>
          </a:xfrm>
          <a:prstGeom prst="rect">
            <a:avLst/>
          </a:prstGeom>
          <a:noFill/>
          <a:ln/>
        </p:spPr>
        <p:txBody>
          <a:bodyPr wrap="square" lIns="0" tIns="0" rIns="0" bIns="0" rtlCol="0" anchor="ctr"/>
          <a:lstStyle/>
          <a:p>
            <a:pPr indent="0" marL="0">
              <a:buNone/>
            </a:pPr>
            <a:r>
              <a:rPr lang="en-US" sz="1200" b="1" dirty="0">
                <a:solidFill>
                  <a:srgbClr val="465A69"/>
                </a:solidFill>
                <a:latin typeface="Calibri" pitchFamily="34" charset="0"/>
                <a:ea typeface="Calibri" pitchFamily="34" charset="-122"/>
                <a:cs typeface="Calibri" pitchFamily="34" charset="-120"/>
              </a:rPr>
              <a:t>Acronyms:  </a:t>
            </a:r>
            <a:pPr indent="0" marL="0">
              <a:buNone/>
            </a:pPr>
            <a:r>
              <a:rPr lang="en-US" sz="1200" dirty="0">
                <a:solidFill>
                  <a:srgbClr val="465A69"/>
                </a:solidFill>
                <a:latin typeface="Calibri" pitchFamily="34" charset="0"/>
                <a:ea typeface="Calibri" pitchFamily="34" charset="-122"/>
                <a:cs typeface="Calibri" pitchFamily="34" charset="-120"/>
              </a:rPr>
              <a:t>T+: time since the first signal;  MFA: multi-factor authentication;  OAuth: Open Authorization</a:t>
            </a:r>
            <a:endParaRPr lang="en-US" sz="1200" dirty="0"/>
          </a:p>
        </p:txBody>
      </p:sp>
      <p:sp>
        <p:nvSpPr>
          <p:cNvPr id="49" name="Shape 38"/>
          <p:cNvSpPr/>
          <p:nvPr/>
        </p:nvSpPr>
        <p:spPr>
          <a:xfrm>
            <a:off x="548640" y="6537960"/>
            <a:ext cx="763524" cy="274320"/>
          </a:xfrm>
          <a:prstGeom prst="roundRect">
            <a:avLst>
              <a:gd name="adj" fmla="val 50000"/>
            </a:avLst>
          </a:prstGeom>
          <a:solidFill>
            <a:srgbClr val="E4ECF2"/>
          </a:solidFill>
          <a:ln w="12700">
            <a:solidFill>
              <a:srgbClr val="E4ECF2"/>
            </a:solidFill>
            <a:prstDash val="solid"/>
          </a:ln>
        </p:spPr>
      </p:sp>
      <p:sp>
        <p:nvSpPr>
          <p:cNvPr id="50" name="Text 39"/>
          <p:cNvSpPr txBox="1"/>
          <p:nvPr/>
        </p:nvSpPr>
        <p:spPr>
          <a:xfrm>
            <a:off x="548640" y="6537960"/>
            <a:ext cx="763524" cy="274320"/>
          </a:xfrm>
          <a:prstGeom prst="rect">
            <a:avLst/>
          </a:prstGeom>
          <a:noFill/>
          <a:ln/>
        </p:spPr>
        <p:txBody>
          <a:bodyPr wrap="square" lIns="0" tIns="0" rIns="0" bIns="0" rtlCol="0" anchor="ctr"/>
          <a:lstStyle/>
          <a:p>
            <a:pPr algn="ctr" indent="0" marL="0">
              <a:buNone/>
            </a:pPr>
            <a:r>
              <a:rPr lang="en-US" sz="1200" b="1" dirty="0">
                <a:solidFill>
                  <a:srgbClr val="23405A"/>
                </a:solidFill>
                <a:latin typeface="Calibri" pitchFamily="34" charset="0"/>
                <a:ea typeface="Calibri" pitchFamily="34" charset="-122"/>
                <a:cs typeface="Calibri" pitchFamily="34" charset="-120"/>
              </a:rPr>
              <a:t>Start</a:t>
            </a:r>
            <a:endParaRPr lang="en-US" sz="1200" dirty="0"/>
          </a:p>
        </p:txBody>
      </p:sp>
      <p:pic>
        <p:nvPicPr>
          <p:cNvPr id="51" name="Image 9" descr="preencoded.png">
            <a:hlinkClick r:id="rId11" tooltip="Go to Start" action="ppaction://hlinksldjump"/>
          </p:cNvPr>
          <p:cNvPicPr>
            <a:picLocks noChangeAspect="1"/>
          </p:cNvPicPr>
          <p:nvPr/>
        </p:nvPicPr>
        <p:blipFill>
          <a:blip r:embed="rId10"/>
          <a:stretch>
            <a:fillRect/>
          </a:stretch>
        </p:blipFill>
        <p:spPr>
          <a:xfrm>
            <a:off x="548640" y="6537960"/>
            <a:ext cx="763524" cy="274320"/>
          </a:xfrm>
          <a:prstGeom prst="rect">
            <a:avLst/>
          </a:prstGeom>
        </p:spPr>
      </p:pic>
      <p:sp>
        <p:nvSpPr>
          <p:cNvPr id="52" name="Shape 40"/>
          <p:cNvSpPr/>
          <p:nvPr/>
        </p:nvSpPr>
        <p:spPr>
          <a:xfrm>
            <a:off x="1385316" y="6537960"/>
            <a:ext cx="1197864" cy="274320"/>
          </a:xfrm>
          <a:prstGeom prst="roundRect">
            <a:avLst>
              <a:gd name="adj" fmla="val 50000"/>
            </a:avLst>
          </a:prstGeom>
          <a:solidFill>
            <a:srgbClr val="3F6E8C"/>
          </a:solidFill>
          <a:ln w="12700">
            <a:solidFill>
              <a:srgbClr val="3F6E8C"/>
            </a:solidFill>
            <a:prstDash val="solid"/>
          </a:ln>
        </p:spPr>
      </p:sp>
      <p:sp>
        <p:nvSpPr>
          <p:cNvPr id="53" name="Text 41"/>
          <p:cNvSpPr txBox="1"/>
          <p:nvPr/>
        </p:nvSpPr>
        <p:spPr>
          <a:xfrm>
            <a:off x="1385316" y="6537960"/>
            <a:ext cx="1197864"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Scenario 1</a:t>
            </a:r>
            <a:endParaRPr lang="en-US" sz="1200" dirty="0"/>
          </a:p>
        </p:txBody>
      </p:sp>
      <p:pic>
        <p:nvPicPr>
          <p:cNvPr id="54" name="Image 10" descr="preencoded.png">
            <a:hlinkClick r:id="rId13" tooltip="Go to Scenario 1" action="ppaction://hlinksldjump"/>
          </p:cNvPr>
          <p:cNvPicPr>
            <a:picLocks noChangeAspect="1"/>
          </p:cNvPicPr>
          <p:nvPr/>
        </p:nvPicPr>
        <p:blipFill>
          <a:blip r:embed="rId12"/>
          <a:stretch>
            <a:fillRect/>
          </a:stretch>
        </p:blipFill>
        <p:spPr>
          <a:xfrm>
            <a:off x="1385316" y="6537960"/>
            <a:ext cx="1197864" cy="274320"/>
          </a:xfrm>
          <a:prstGeom prst="rect">
            <a:avLst/>
          </a:prstGeom>
        </p:spPr>
      </p:pic>
      <p:sp>
        <p:nvSpPr>
          <p:cNvPr id="55" name="Shape 42"/>
          <p:cNvSpPr/>
          <p:nvPr/>
        </p:nvSpPr>
        <p:spPr>
          <a:xfrm>
            <a:off x="2656332" y="6537960"/>
            <a:ext cx="1197864" cy="274320"/>
          </a:xfrm>
          <a:prstGeom prst="roundRect">
            <a:avLst>
              <a:gd name="adj" fmla="val 50000"/>
            </a:avLst>
          </a:prstGeom>
          <a:solidFill>
            <a:srgbClr val="F1F8F3"/>
          </a:solidFill>
          <a:ln w="12700">
            <a:solidFill>
              <a:srgbClr val="F1F8F3"/>
            </a:solidFill>
            <a:prstDash val="solid"/>
          </a:ln>
        </p:spPr>
      </p:sp>
      <p:sp>
        <p:nvSpPr>
          <p:cNvPr id="56" name="Text 43"/>
          <p:cNvSpPr txBox="1"/>
          <p:nvPr/>
        </p:nvSpPr>
        <p:spPr>
          <a:xfrm>
            <a:off x="2656332" y="6537960"/>
            <a:ext cx="1197864" cy="274320"/>
          </a:xfrm>
          <a:prstGeom prst="rect">
            <a:avLst/>
          </a:prstGeom>
          <a:noFill/>
          <a:ln/>
        </p:spPr>
        <p:txBody>
          <a:bodyPr wrap="square" lIns="0" tIns="0" rIns="0" bIns="0" rtlCol="0" anchor="ctr"/>
          <a:lstStyle/>
          <a:p>
            <a:pPr algn="ctr" indent="0" marL="0">
              <a:buNone/>
            </a:pPr>
            <a:r>
              <a:rPr lang="en-US" sz="1200" b="1" dirty="0">
                <a:solidFill>
                  <a:srgbClr val="4C8068"/>
                </a:solidFill>
                <a:latin typeface="Calibri" pitchFamily="34" charset="0"/>
                <a:ea typeface="Calibri" pitchFamily="34" charset="-122"/>
                <a:cs typeface="Calibri" pitchFamily="34" charset="-120"/>
              </a:rPr>
              <a:t>Scenario 2</a:t>
            </a:r>
            <a:endParaRPr lang="en-US" sz="1200" dirty="0"/>
          </a:p>
        </p:txBody>
      </p:sp>
      <p:pic>
        <p:nvPicPr>
          <p:cNvPr id="57" name="Image 11" descr="preencoded.png">
            <a:hlinkClick r:id="rId15" tooltip="Go to Scenario 2" action="ppaction://hlinksldjump"/>
          </p:cNvPr>
          <p:cNvPicPr>
            <a:picLocks noChangeAspect="1"/>
          </p:cNvPicPr>
          <p:nvPr/>
        </p:nvPicPr>
        <p:blipFill>
          <a:blip r:embed="rId14"/>
          <a:stretch>
            <a:fillRect/>
          </a:stretch>
        </p:blipFill>
        <p:spPr>
          <a:xfrm>
            <a:off x="2656332" y="6537960"/>
            <a:ext cx="1197864" cy="274320"/>
          </a:xfrm>
          <a:prstGeom prst="rect">
            <a:avLst/>
          </a:prstGeom>
        </p:spPr>
      </p:pic>
      <p:sp>
        <p:nvSpPr>
          <p:cNvPr id="58" name="Shape 44"/>
          <p:cNvSpPr/>
          <p:nvPr/>
        </p:nvSpPr>
        <p:spPr>
          <a:xfrm>
            <a:off x="3927348" y="6537960"/>
            <a:ext cx="1197864" cy="274320"/>
          </a:xfrm>
          <a:prstGeom prst="roundRect">
            <a:avLst>
              <a:gd name="adj" fmla="val 50000"/>
            </a:avLst>
          </a:prstGeom>
          <a:solidFill>
            <a:srgbClr val="F6F3FA"/>
          </a:solidFill>
          <a:ln w="12700">
            <a:solidFill>
              <a:srgbClr val="F6F3FA"/>
            </a:solidFill>
            <a:prstDash val="solid"/>
          </a:ln>
        </p:spPr>
      </p:sp>
      <p:sp>
        <p:nvSpPr>
          <p:cNvPr id="59" name="Text 45"/>
          <p:cNvSpPr txBox="1"/>
          <p:nvPr/>
        </p:nvSpPr>
        <p:spPr>
          <a:xfrm>
            <a:off x="3927348" y="6537960"/>
            <a:ext cx="1197864" cy="274320"/>
          </a:xfrm>
          <a:prstGeom prst="rect">
            <a:avLst/>
          </a:prstGeom>
          <a:noFill/>
          <a:ln/>
        </p:spPr>
        <p:txBody>
          <a:bodyPr wrap="square" lIns="0" tIns="0" rIns="0" bIns="0" rtlCol="0" anchor="ctr"/>
          <a:lstStyle/>
          <a:p>
            <a:pPr algn="ctr" indent="0" marL="0">
              <a:buNone/>
            </a:pPr>
            <a:r>
              <a:rPr lang="en-US" sz="1200" b="1" dirty="0">
                <a:solidFill>
                  <a:srgbClr val="6E5E94"/>
                </a:solidFill>
                <a:latin typeface="Calibri" pitchFamily="34" charset="0"/>
                <a:ea typeface="Calibri" pitchFamily="34" charset="-122"/>
                <a:cs typeface="Calibri" pitchFamily="34" charset="-120"/>
              </a:rPr>
              <a:t>Scenario 3</a:t>
            </a:r>
            <a:endParaRPr lang="en-US" sz="1200" dirty="0"/>
          </a:p>
        </p:txBody>
      </p:sp>
      <p:pic>
        <p:nvPicPr>
          <p:cNvPr id="60" name="Image 12" descr="preencoded.png">
            <a:hlinkClick r:id="rId17" tooltip="Go to Scenario 3" action="ppaction://hlinksldjump"/>
          </p:cNvPr>
          <p:cNvPicPr>
            <a:picLocks noChangeAspect="1"/>
          </p:cNvPicPr>
          <p:nvPr/>
        </p:nvPicPr>
        <p:blipFill>
          <a:blip r:embed="rId16"/>
          <a:stretch>
            <a:fillRect/>
          </a:stretch>
        </p:blipFill>
        <p:spPr>
          <a:xfrm>
            <a:off x="3927348" y="6537960"/>
            <a:ext cx="1197864" cy="274320"/>
          </a:xfrm>
          <a:prstGeom prst="rect">
            <a:avLst/>
          </a:prstGeom>
        </p:spPr>
      </p:pic>
      <p:sp>
        <p:nvSpPr>
          <p:cNvPr id="61" name="Shape 46"/>
          <p:cNvSpPr/>
          <p:nvPr/>
        </p:nvSpPr>
        <p:spPr>
          <a:xfrm>
            <a:off x="5198364" y="6537960"/>
            <a:ext cx="937260" cy="274320"/>
          </a:xfrm>
          <a:prstGeom prst="roundRect">
            <a:avLst>
              <a:gd name="adj" fmla="val 50000"/>
            </a:avLst>
          </a:prstGeom>
          <a:solidFill>
            <a:srgbClr val="E4ECF2"/>
          </a:solidFill>
          <a:ln w="12700">
            <a:solidFill>
              <a:srgbClr val="E4ECF2"/>
            </a:solidFill>
            <a:prstDash val="solid"/>
          </a:ln>
        </p:spPr>
      </p:sp>
      <p:sp>
        <p:nvSpPr>
          <p:cNvPr id="62" name="Text 47"/>
          <p:cNvSpPr txBox="1"/>
          <p:nvPr/>
        </p:nvSpPr>
        <p:spPr>
          <a:xfrm>
            <a:off x="5198364" y="6537960"/>
            <a:ext cx="937260" cy="274320"/>
          </a:xfrm>
          <a:prstGeom prst="rect">
            <a:avLst/>
          </a:prstGeom>
          <a:noFill/>
          <a:ln/>
        </p:spPr>
        <p:txBody>
          <a:bodyPr wrap="square" lIns="0" tIns="0" rIns="0" bIns="0" rtlCol="0" anchor="ctr"/>
          <a:lstStyle/>
          <a:p>
            <a:pPr algn="ctr" indent="0" marL="0">
              <a:buNone/>
            </a:pPr>
            <a:r>
              <a:rPr lang="en-US" sz="1200" b="1" dirty="0">
                <a:solidFill>
                  <a:srgbClr val="23405A"/>
                </a:solidFill>
                <a:latin typeface="Calibri" pitchFamily="34" charset="0"/>
                <a:ea typeface="Calibri" pitchFamily="34" charset="-122"/>
                <a:cs typeface="Calibri" pitchFamily="34" charset="-120"/>
              </a:rPr>
              <a:t>Closing</a:t>
            </a:r>
            <a:endParaRPr lang="en-US" sz="1200" dirty="0"/>
          </a:p>
        </p:txBody>
      </p:sp>
      <p:pic>
        <p:nvPicPr>
          <p:cNvPr id="63" name="Image 13" descr="preencoded.png">
            <a:hlinkClick r:id="rId19" tooltip="Go to Closing" action="ppaction://hlinksldjump"/>
          </p:cNvPr>
          <p:cNvPicPr>
            <a:picLocks noChangeAspect="1"/>
          </p:cNvPicPr>
          <p:nvPr/>
        </p:nvPicPr>
        <p:blipFill>
          <a:blip r:embed="rId18"/>
          <a:stretch>
            <a:fillRect/>
          </a:stretch>
        </p:blipFill>
        <p:spPr>
          <a:xfrm>
            <a:off x="5198364" y="6537960"/>
            <a:ext cx="937260" cy="274320"/>
          </a:xfrm>
          <a:prstGeom prst="rect">
            <a:avLst/>
          </a:prstGeom>
        </p:spPr>
      </p:pic>
      <p:sp>
        <p:nvSpPr>
          <p:cNvPr id="64" name="Text 48"/>
          <p:cNvSpPr txBox="1"/>
          <p:nvPr/>
        </p:nvSpPr>
        <p:spPr>
          <a:xfrm>
            <a:off x="11277295" y="6537960"/>
            <a:ext cx="365760" cy="274320"/>
          </a:xfrm>
          <a:prstGeom prst="rect">
            <a:avLst/>
          </a:prstGeom>
          <a:noFill/>
          <a:ln/>
        </p:spPr>
        <p:txBody>
          <a:bodyPr wrap="square" lIns="0" tIns="0" rIns="0" bIns="0" rtlCol="0" anchor="ctr"/>
          <a:lstStyle/>
          <a:p>
            <a:pPr algn="r" indent="0" marL="0">
              <a:buNone/>
            </a:pPr>
            <a:r>
              <a:rPr lang="en-US" sz="1200" dirty="0">
                <a:solidFill>
                  <a:srgbClr val="465A69"/>
                </a:solidFill>
                <a:latin typeface="Calibri" pitchFamily="34" charset="0"/>
                <a:ea typeface="Calibri" pitchFamily="34" charset="-122"/>
                <a:cs typeface="Calibri"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6EEF6"/>
        </a:solidFill>
      </p:bgPr>
    </p:bg>
    <p:spTree>
      <p:nvGrpSpPr>
        <p:cNvPr id="1" name=""/>
        <p:cNvGrpSpPr/>
        <p:nvPr/>
      </p:nvGrpSpPr>
      <p:grpSpPr>
        <a:xfrm>
          <a:off x="0" y="0"/>
          <a:ext cx="0" cy="0"/>
          <a:chOff x="0" y="0"/>
          <a:chExt cx="0" cy="0"/>
        </a:xfrm>
      </p:grpSpPr>
      <p:sp>
        <p:nvSpPr>
          <p:cNvPr id="2" name="Shape 0"/>
          <p:cNvSpPr/>
          <p:nvPr/>
        </p:nvSpPr>
        <p:spPr>
          <a:xfrm>
            <a:off x="548640" y="347472"/>
            <a:ext cx="2843784" cy="329184"/>
          </a:xfrm>
          <a:prstGeom prst="roundRect">
            <a:avLst>
              <a:gd name="adj" fmla="val 50000"/>
            </a:avLst>
          </a:prstGeom>
          <a:solidFill>
            <a:srgbClr val="F1F6FA"/>
          </a:solidFill>
          <a:ln w="12700">
            <a:solidFill>
              <a:srgbClr val="F1F6FA"/>
            </a:solidFill>
            <a:prstDash val="solid"/>
          </a:ln>
        </p:spPr>
      </p:sp>
      <p:sp>
        <p:nvSpPr>
          <p:cNvPr id="3" name="Text 1"/>
          <p:cNvSpPr txBox="1"/>
          <p:nvPr/>
        </p:nvSpPr>
        <p:spPr>
          <a:xfrm>
            <a:off x="548640" y="347472"/>
            <a:ext cx="2843784" cy="329184"/>
          </a:xfrm>
          <a:prstGeom prst="rect">
            <a:avLst/>
          </a:prstGeom>
          <a:noFill/>
          <a:ln/>
        </p:spPr>
        <p:txBody>
          <a:bodyPr wrap="square" lIns="0" tIns="0" rIns="0" bIns="0" rtlCol="0" anchor="ctr"/>
          <a:lstStyle/>
          <a:p>
            <a:pPr algn="ctr" indent="0" marL="0">
              <a:buNone/>
            </a:pPr>
            <a:r>
              <a:rPr lang="en-US" sz="1200" b="1" dirty="0">
                <a:solidFill>
                  <a:srgbClr val="3F6E8C"/>
                </a:solidFill>
                <a:latin typeface="Calibri" pitchFamily="34" charset="0"/>
                <a:ea typeface="Calibri" pitchFamily="34" charset="-122"/>
                <a:cs typeface="Calibri" pitchFamily="34" charset="-120"/>
              </a:rPr>
              <a:t>Scenario 1 recap, part 1 of 4</a:t>
            </a:r>
            <a:endParaRPr lang="en-US" sz="1200" dirty="0"/>
          </a:p>
        </p:txBody>
      </p:sp>
      <p:sp>
        <p:nvSpPr>
          <p:cNvPr id="4" name="Text 2"/>
          <p:cNvSpPr txBox="1"/>
          <p:nvPr/>
        </p:nvSpPr>
        <p:spPr>
          <a:xfrm>
            <a:off x="548640" y="749808"/>
            <a:ext cx="11064240" cy="548640"/>
          </a:xfrm>
          <a:prstGeom prst="rect">
            <a:avLst/>
          </a:prstGeom>
          <a:noFill/>
          <a:ln/>
        </p:spPr>
        <p:txBody>
          <a:bodyPr wrap="square" lIns="0" tIns="0" rIns="0" bIns="0" rtlCol="0" anchor="ctr"/>
          <a:lstStyle/>
          <a:p>
            <a:pPr indent="0" marL="0">
              <a:buNone/>
            </a:pPr>
            <a:r>
              <a:rPr lang="en-US" sz="2400" b="1" dirty="0">
                <a:solidFill>
                  <a:srgbClr val="1B2A4A"/>
                </a:solidFill>
                <a:latin typeface="Cambria" pitchFamily="34" charset="0"/>
                <a:ea typeface="Cambria" pitchFamily="34" charset="-122"/>
                <a:cs typeface="Cambria" pitchFamily="34" charset="-120"/>
              </a:rPr>
              <a:t>Exercise: Third-Party SaaS Compromise → M365 Breach</a:t>
            </a:r>
            <a:endParaRPr lang="en-US" sz="2400" dirty="0"/>
          </a:p>
        </p:txBody>
      </p:sp>
      <p:sp>
        <p:nvSpPr>
          <p:cNvPr id="5" name="Text 3"/>
          <p:cNvSpPr txBox="1"/>
          <p:nvPr/>
        </p:nvSpPr>
        <p:spPr>
          <a:xfrm>
            <a:off x="548640" y="4461256"/>
            <a:ext cx="2743200" cy="274320"/>
          </a:xfrm>
          <a:prstGeom prst="rect">
            <a:avLst/>
          </a:prstGeom>
          <a:noFill/>
          <a:ln/>
        </p:spPr>
        <p:txBody>
          <a:bodyPr wrap="square" lIns="0" tIns="0" rIns="0" bIns="0" rtlCol="0" anchor="t"/>
          <a:lstStyle/>
          <a:p>
            <a:pPr indent="0" marL="0">
              <a:buNone/>
            </a:pPr>
            <a:r>
              <a:rPr lang="en-US" sz="1300" b="1" dirty="0">
                <a:solidFill>
                  <a:srgbClr val="465A69"/>
                </a:solidFill>
                <a:latin typeface="Calibri" pitchFamily="34" charset="0"/>
                <a:ea typeface="Calibri" pitchFamily="34" charset="-122"/>
                <a:cs typeface="Calibri" pitchFamily="34" charset="-120"/>
              </a:rPr>
              <a:t>Plan focus</a:t>
            </a:r>
            <a:endParaRPr lang="en-US" sz="1300" dirty="0"/>
          </a:p>
        </p:txBody>
      </p:sp>
      <p:sp>
        <p:nvSpPr>
          <p:cNvPr id="6" name="Shape 4"/>
          <p:cNvSpPr/>
          <p:nvPr/>
        </p:nvSpPr>
        <p:spPr>
          <a:xfrm>
            <a:off x="548640" y="1325880"/>
            <a:ext cx="1258443" cy="3135376"/>
          </a:xfrm>
          <a:prstGeom prst="roundRect">
            <a:avLst>
              <a:gd name="adj" fmla="val 10173"/>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7" name="Shape 5"/>
          <p:cNvSpPr/>
          <p:nvPr/>
        </p:nvSpPr>
        <p:spPr>
          <a:xfrm>
            <a:off x="949262" y="1463040"/>
            <a:ext cx="457200" cy="457200"/>
          </a:xfrm>
          <a:prstGeom prst="ellipse">
            <a:avLst/>
          </a:prstGeom>
          <a:solidFill>
            <a:srgbClr val="6F93B3"/>
          </a:solidFill>
          <a:ln w="12700">
            <a:solidFill>
              <a:srgbClr val="6F93B3"/>
            </a:solidFill>
            <a:prstDash val="solid"/>
          </a:ln>
        </p:spPr>
      </p:sp>
      <p:pic>
        <p:nvPicPr>
          <p:cNvPr id="8" name="Image 0" descr="preencoded.png">    </p:cNvPr>
          <p:cNvPicPr>
            <a:picLocks noChangeAspect="1"/>
          </p:cNvPicPr>
          <p:nvPr/>
        </p:nvPicPr>
        <p:blipFill>
          <a:blip r:embed="rId1"/>
          <a:stretch>
            <a:fillRect/>
          </a:stretch>
        </p:blipFill>
        <p:spPr>
          <a:xfrm>
            <a:off x="1068134" y="1581912"/>
            <a:ext cx="219456" cy="219456"/>
          </a:xfrm>
          <a:prstGeom prst="rect">
            <a:avLst/>
          </a:prstGeom>
        </p:spPr>
      </p:pic>
      <p:sp>
        <p:nvSpPr>
          <p:cNvPr id="9" name="Text 6"/>
          <p:cNvSpPr txBox="1"/>
          <p:nvPr/>
        </p:nvSpPr>
        <p:spPr>
          <a:xfrm>
            <a:off x="594360" y="1929384"/>
            <a:ext cx="1167003" cy="723646"/>
          </a:xfrm>
          <a:prstGeom prst="rect">
            <a:avLst/>
          </a:prstGeom>
          <a:noFill/>
          <a:ln/>
        </p:spPr>
        <p:txBody>
          <a:bodyPr wrap="square" lIns="0" tIns="0" rIns="0" bIns="0" rtlCol="0" anchor="t"/>
          <a:lstStyle/>
          <a:p>
            <a:pPr algn="ctr" indent="0" marL="0">
              <a:buNone/>
            </a:pPr>
            <a:r>
              <a:rPr lang="en-US" sz="1500" b="1" dirty="0">
                <a:solidFill>
                  <a:srgbClr val="1B2A4A"/>
                </a:solidFill>
                <a:latin typeface="Calibri" pitchFamily="34" charset="0"/>
                <a:ea typeface="Calibri" pitchFamily="34" charset="-122"/>
                <a:cs typeface="Calibri" pitchFamily="34" charset="-120"/>
              </a:rPr>
              <a:t>T+0</a:t>
            </a:r>
            <a:endParaRPr lang="en-US" sz="1500" dirty="0"/>
          </a:p>
          <a:p>
            <a:pPr algn="ctr" indent="0" marL="0">
              <a:buNone/>
            </a:pPr>
            <a:r>
              <a:rPr lang="en-US" sz="1300" b="1" dirty="0">
                <a:solidFill>
                  <a:srgbClr val="1B2A4A"/>
                </a:solidFill>
                <a:latin typeface="Calibri" pitchFamily="34" charset="0"/>
                <a:ea typeface="Calibri" pitchFamily="34" charset="-122"/>
                <a:cs typeface="Calibri" pitchFamily="34" charset="-120"/>
              </a:rPr>
              <a:t>Initial Signal</a:t>
            </a:r>
            <a:endParaRPr lang="en-US" sz="1500" dirty="0"/>
          </a:p>
        </p:txBody>
      </p:sp>
      <p:sp>
        <p:nvSpPr>
          <p:cNvPr id="10" name="Text 7"/>
          <p:cNvSpPr txBox="1"/>
          <p:nvPr/>
        </p:nvSpPr>
        <p:spPr>
          <a:xfrm>
            <a:off x="612648" y="2671318"/>
            <a:ext cx="1130427" cy="1744218"/>
          </a:xfrm>
          <a:prstGeom prst="rect">
            <a:avLst/>
          </a:prstGeom>
          <a:noFill/>
          <a:ln/>
        </p:spPr>
        <p:txBody>
          <a:bodyPr wrap="square" lIns="0" tIns="0" rIns="0" bIns="0" rtlCol="0" anchor="t"/>
          <a:lstStyle/>
          <a:p>
            <a:pPr algn="ctr" indent="0" marL="0">
              <a:buNone/>
            </a:pPr>
            <a:r>
              <a:rPr lang="en-US" sz="1300" dirty="0">
                <a:solidFill>
                  <a:srgbClr val="1E2E3A"/>
                </a:solidFill>
                <a:latin typeface="Calibri" pitchFamily="34" charset="0"/>
                <a:ea typeface="Calibri" pitchFamily="34" charset="-122"/>
                <a:cs typeface="Calibri" pitchFamily="34" charset="-120"/>
              </a:rPr>
              <a:t>Employees receive legitimate-looking survey email from trusted vendor.</a:t>
            </a:r>
            <a:endParaRPr lang="en-US" sz="1300" dirty="0"/>
          </a:p>
        </p:txBody>
      </p:sp>
      <p:sp>
        <p:nvSpPr>
          <p:cNvPr id="11" name="Shape 8"/>
          <p:cNvSpPr/>
          <p:nvPr/>
        </p:nvSpPr>
        <p:spPr>
          <a:xfrm>
            <a:off x="1839087" y="2240280"/>
            <a:ext cx="82296" cy="182880"/>
          </a:xfrm>
          <a:prstGeom prst="chevron">
            <a:avLst/>
          </a:prstGeom>
          <a:solidFill>
            <a:srgbClr val="A9BDD0"/>
          </a:solidFill>
          <a:ln w="12700">
            <a:solidFill>
              <a:srgbClr val="A9BDD0"/>
            </a:solidFill>
            <a:prstDash val="solid"/>
          </a:ln>
        </p:spPr>
      </p:sp>
      <p:sp>
        <p:nvSpPr>
          <p:cNvPr id="12" name="Shape 9"/>
          <p:cNvSpPr/>
          <p:nvPr/>
        </p:nvSpPr>
        <p:spPr>
          <a:xfrm>
            <a:off x="548640" y="4744720"/>
            <a:ext cx="1258443" cy="1262888"/>
          </a:xfrm>
          <a:prstGeom prst="roundRect">
            <a:avLst>
              <a:gd name="adj" fmla="val 10173"/>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13" name="Shape 10"/>
          <p:cNvSpPr/>
          <p:nvPr/>
        </p:nvSpPr>
        <p:spPr>
          <a:xfrm>
            <a:off x="1031558" y="4817872"/>
            <a:ext cx="292608" cy="292608"/>
          </a:xfrm>
          <a:prstGeom prst="ellipse">
            <a:avLst/>
          </a:prstGeom>
          <a:solidFill>
            <a:srgbClr val="6F93B3"/>
          </a:solidFill>
          <a:ln w="12700">
            <a:solidFill>
              <a:srgbClr val="6F93B3"/>
            </a:solidFill>
            <a:prstDash val="solid"/>
          </a:ln>
        </p:spPr>
      </p:sp>
      <p:pic>
        <p:nvPicPr>
          <p:cNvPr id="14" name="Image 1" descr="preencoded.png">    </p:cNvPr>
          <p:cNvPicPr>
            <a:picLocks noChangeAspect="1"/>
          </p:cNvPicPr>
          <p:nvPr/>
        </p:nvPicPr>
        <p:blipFill>
          <a:blip r:embed="rId2"/>
          <a:stretch>
            <a:fillRect/>
          </a:stretch>
        </p:blipFill>
        <p:spPr>
          <a:xfrm>
            <a:off x="1104710" y="4891024"/>
            <a:ext cx="146304" cy="146304"/>
          </a:xfrm>
          <a:prstGeom prst="rect">
            <a:avLst/>
          </a:prstGeom>
        </p:spPr>
      </p:pic>
      <p:sp>
        <p:nvSpPr>
          <p:cNvPr id="15" name="Text 11"/>
          <p:cNvSpPr txBox="1"/>
          <p:nvPr/>
        </p:nvSpPr>
        <p:spPr>
          <a:xfrm>
            <a:off x="594360" y="5147056"/>
            <a:ext cx="1167003" cy="842264"/>
          </a:xfrm>
          <a:prstGeom prst="rect">
            <a:avLst/>
          </a:prstGeom>
          <a:noFill/>
          <a:ln/>
        </p:spPr>
        <p:txBody>
          <a:bodyPr wrap="square" lIns="0" tIns="0" rIns="0" bIns="0" rtlCol="0" anchor="t"/>
          <a:lstStyle/>
          <a:p>
            <a:pPr algn="ctr" indent="0" marL="0">
              <a:buNone/>
            </a:pPr>
            <a:r>
              <a:rPr lang="en-US" sz="1300" b="1" dirty="0">
                <a:solidFill>
                  <a:srgbClr val="1B2A4A"/>
                </a:solidFill>
                <a:latin typeface="Calibri" pitchFamily="34" charset="0"/>
                <a:ea typeface="Calibri" pitchFamily="34" charset="-122"/>
                <a:cs typeface="Calibri" pitchFamily="34" charset="-120"/>
              </a:rPr>
              <a:t>IR</a:t>
            </a:r>
            <a:endParaRPr lang="en-US" sz="1300" dirty="0"/>
          </a:p>
          <a:p>
            <a:pPr algn="ctr" indent="0" marL="0">
              <a:buNone/>
            </a:pPr>
            <a:r>
              <a:rPr lang="en-US" sz="1300" dirty="0">
                <a:solidFill>
                  <a:srgbClr val="1E2E3A"/>
                </a:solidFill>
                <a:latin typeface="Calibri" pitchFamily="34" charset="0"/>
                <a:ea typeface="Calibri" pitchFamily="34" charset="-122"/>
                <a:cs typeface="Calibri" pitchFamily="34" charset="-120"/>
              </a:rPr>
              <a:t>Detection &amp; Analysis</a:t>
            </a:r>
            <a:endParaRPr lang="en-US" sz="1300" dirty="0"/>
          </a:p>
        </p:txBody>
      </p:sp>
      <p:sp>
        <p:nvSpPr>
          <p:cNvPr id="16" name="Shape 12"/>
          <p:cNvSpPr/>
          <p:nvPr/>
        </p:nvSpPr>
        <p:spPr>
          <a:xfrm>
            <a:off x="1953387" y="1325880"/>
            <a:ext cx="1258443" cy="3135376"/>
          </a:xfrm>
          <a:prstGeom prst="roundRect">
            <a:avLst>
              <a:gd name="adj" fmla="val 10173"/>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17" name="Shape 13"/>
          <p:cNvSpPr/>
          <p:nvPr/>
        </p:nvSpPr>
        <p:spPr>
          <a:xfrm>
            <a:off x="2354009" y="1463040"/>
            <a:ext cx="457200" cy="457200"/>
          </a:xfrm>
          <a:prstGeom prst="ellipse">
            <a:avLst/>
          </a:prstGeom>
          <a:solidFill>
            <a:srgbClr val="6FA394"/>
          </a:solidFill>
          <a:ln w="12700">
            <a:solidFill>
              <a:srgbClr val="6FA394"/>
            </a:solidFill>
            <a:prstDash val="solid"/>
          </a:ln>
        </p:spPr>
      </p:sp>
      <p:pic>
        <p:nvPicPr>
          <p:cNvPr id="18" name="Image 2" descr="preencoded.png">    </p:cNvPr>
          <p:cNvPicPr>
            <a:picLocks noChangeAspect="1"/>
          </p:cNvPicPr>
          <p:nvPr/>
        </p:nvPicPr>
        <p:blipFill>
          <a:blip r:embed="rId3"/>
          <a:stretch>
            <a:fillRect/>
          </a:stretch>
        </p:blipFill>
        <p:spPr>
          <a:xfrm>
            <a:off x="2472881" y="1581912"/>
            <a:ext cx="219456" cy="219456"/>
          </a:xfrm>
          <a:prstGeom prst="rect">
            <a:avLst/>
          </a:prstGeom>
        </p:spPr>
      </p:pic>
      <p:sp>
        <p:nvSpPr>
          <p:cNvPr id="19" name="Text 14"/>
          <p:cNvSpPr txBox="1"/>
          <p:nvPr/>
        </p:nvSpPr>
        <p:spPr>
          <a:xfrm>
            <a:off x="1999107" y="1929384"/>
            <a:ext cx="1167003" cy="723646"/>
          </a:xfrm>
          <a:prstGeom prst="rect">
            <a:avLst/>
          </a:prstGeom>
          <a:noFill/>
          <a:ln/>
        </p:spPr>
        <p:txBody>
          <a:bodyPr wrap="square" lIns="0" tIns="0" rIns="0" bIns="0" rtlCol="0" anchor="t"/>
          <a:lstStyle/>
          <a:p>
            <a:pPr algn="ctr" indent="0" marL="0">
              <a:buNone/>
            </a:pPr>
            <a:r>
              <a:rPr lang="en-US" sz="1500" b="1" dirty="0">
                <a:solidFill>
                  <a:srgbClr val="1B2A4A"/>
                </a:solidFill>
                <a:latin typeface="Calibri" pitchFamily="34" charset="0"/>
                <a:ea typeface="Calibri" pitchFamily="34" charset="-122"/>
                <a:cs typeface="Calibri" pitchFamily="34" charset="-120"/>
              </a:rPr>
              <a:t>T+30m</a:t>
            </a:r>
            <a:endParaRPr lang="en-US" sz="1500" dirty="0"/>
          </a:p>
          <a:p>
            <a:pPr algn="ctr" indent="0" marL="0">
              <a:buNone/>
            </a:pPr>
            <a:r>
              <a:rPr lang="en-US" sz="1300" b="1" dirty="0">
                <a:solidFill>
                  <a:srgbClr val="1B2A4A"/>
                </a:solidFill>
                <a:latin typeface="Calibri" pitchFamily="34" charset="0"/>
                <a:ea typeface="Calibri" pitchFamily="34" charset="-122"/>
                <a:cs typeface="Calibri" pitchFamily="34" charset="-120"/>
              </a:rPr>
              <a:t>Suspicious Activity</a:t>
            </a:r>
            <a:endParaRPr lang="en-US" sz="1500" dirty="0"/>
          </a:p>
        </p:txBody>
      </p:sp>
      <p:sp>
        <p:nvSpPr>
          <p:cNvPr id="20" name="Text 15"/>
          <p:cNvSpPr txBox="1"/>
          <p:nvPr/>
        </p:nvSpPr>
        <p:spPr>
          <a:xfrm>
            <a:off x="2017395" y="2671318"/>
            <a:ext cx="1130427" cy="1744218"/>
          </a:xfrm>
          <a:prstGeom prst="rect">
            <a:avLst/>
          </a:prstGeom>
          <a:noFill/>
          <a:ln/>
        </p:spPr>
        <p:txBody>
          <a:bodyPr wrap="square" lIns="0" tIns="0" rIns="0" bIns="0" rtlCol="0" anchor="t"/>
          <a:lstStyle/>
          <a:p>
            <a:pPr algn="ctr" indent="0" marL="0">
              <a:buNone/>
            </a:pPr>
            <a:r>
              <a:rPr lang="en-US" sz="1300" dirty="0">
                <a:solidFill>
                  <a:srgbClr val="1E2E3A"/>
                </a:solidFill>
                <a:latin typeface="Calibri" pitchFamily="34" charset="0"/>
                <a:ea typeface="Calibri" pitchFamily="34" charset="-122"/>
                <a:cs typeface="Calibri" pitchFamily="34" charset="-120"/>
              </a:rPr>
              <a:t>Unusual sign-ins and MFA registrations detected in M365.</a:t>
            </a:r>
            <a:endParaRPr lang="en-US" sz="1300" dirty="0"/>
          </a:p>
        </p:txBody>
      </p:sp>
      <p:sp>
        <p:nvSpPr>
          <p:cNvPr id="21" name="Shape 16"/>
          <p:cNvSpPr/>
          <p:nvPr/>
        </p:nvSpPr>
        <p:spPr>
          <a:xfrm>
            <a:off x="3243834" y="2240280"/>
            <a:ext cx="82296" cy="182880"/>
          </a:xfrm>
          <a:prstGeom prst="chevron">
            <a:avLst/>
          </a:prstGeom>
          <a:solidFill>
            <a:srgbClr val="A9BDD0"/>
          </a:solidFill>
          <a:ln w="12700">
            <a:solidFill>
              <a:srgbClr val="A9BDD0"/>
            </a:solidFill>
            <a:prstDash val="solid"/>
          </a:ln>
        </p:spPr>
      </p:sp>
      <p:sp>
        <p:nvSpPr>
          <p:cNvPr id="22" name="Shape 17"/>
          <p:cNvSpPr/>
          <p:nvPr/>
        </p:nvSpPr>
        <p:spPr>
          <a:xfrm>
            <a:off x="1953387" y="4744720"/>
            <a:ext cx="1258443" cy="1262888"/>
          </a:xfrm>
          <a:prstGeom prst="roundRect">
            <a:avLst>
              <a:gd name="adj" fmla="val 10173"/>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23" name="Shape 18"/>
          <p:cNvSpPr/>
          <p:nvPr/>
        </p:nvSpPr>
        <p:spPr>
          <a:xfrm>
            <a:off x="2436305" y="4817872"/>
            <a:ext cx="292608" cy="292608"/>
          </a:xfrm>
          <a:prstGeom prst="ellipse">
            <a:avLst/>
          </a:prstGeom>
          <a:solidFill>
            <a:srgbClr val="6FA394"/>
          </a:solidFill>
          <a:ln w="12700">
            <a:solidFill>
              <a:srgbClr val="6FA394"/>
            </a:solidFill>
            <a:prstDash val="solid"/>
          </a:ln>
        </p:spPr>
      </p:sp>
      <p:pic>
        <p:nvPicPr>
          <p:cNvPr id="24" name="Image 3" descr="preencoded.png">    </p:cNvPr>
          <p:cNvPicPr>
            <a:picLocks noChangeAspect="1"/>
          </p:cNvPicPr>
          <p:nvPr/>
        </p:nvPicPr>
        <p:blipFill>
          <a:blip r:embed="rId4"/>
          <a:stretch>
            <a:fillRect/>
          </a:stretch>
        </p:blipFill>
        <p:spPr>
          <a:xfrm>
            <a:off x="2509457" y="4891024"/>
            <a:ext cx="146304" cy="146304"/>
          </a:xfrm>
          <a:prstGeom prst="rect">
            <a:avLst/>
          </a:prstGeom>
        </p:spPr>
      </p:pic>
      <p:sp>
        <p:nvSpPr>
          <p:cNvPr id="25" name="Text 19"/>
          <p:cNvSpPr txBox="1"/>
          <p:nvPr/>
        </p:nvSpPr>
        <p:spPr>
          <a:xfrm>
            <a:off x="1999107" y="5147056"/>
            <a:ext cx="1167003" cy="842264"/>
          </a:xfrm>
          <a:prstGeom prst="rect">
            <a:avLst/>
          </a:prstGeom>
          <a:noFill/>
          <a:ln/>
        </p:spPr>
        <p:txBody>
          <a:bodyPr wrap="square" lIns="0" tIns="0" rIns="0" bIns="0" rtlCol="0" anchor="t"/>
          <a:lstStyle/>
          <a:p>
            <a:pPr algn="ctr" indent="0" marL="0">
              <a:buNone/>
            </a:pPr>
            <a:r>
              <a:rPr lang="en-US" sz="1300" b="1" dirty="0">
                <a:solidFill>
                  <a:srgbClr val="1B2A4A"/>
                </a:solidFill>
                <a:latin typeface="Calibri" pitchFamily="34" charset="0"/>
                <a:ea typeface="Calibri" pitchFamily="34" charset="-122"/>
                <a:cs typeface="Calibri" pitchFamily="34" charset="-120"/>
              </a:rPr>
              <a:t>IR</a:t>
            </a:r>
            <a:endParaRPr lang="en-US" sz="1300" dirty="0"/>
          </a:p>
          <a:p>
            <a:pPr algn="ctr" indent="0" marL="0">
              <a:buNone/>
            </a:pPr>
            <a:r>
              <a:rPr lang="en-US" sz="1300" dirty="0">
                <a:solidFill>
                  <a:srgbClr val="1E2E3A"/>
                </a:solidFill>
                <a:latin typeface="Calibri" pitchFamily="34" charset="0"/>
                <a:ea typeface="Calibri" pitchFamily="34" charset="-122"/>
                <a:cs typeface="Calibri" pitchFamily="34" charset="-120"/>
              </a:rPr>
              <a:t>Investigation &amp; Scope</a:t>
            </a:r>
            <a:endParaRPr lang="en-US" sz="1300" dirty="0"/>
          </a:p>
        </p:txBody>
      </p:sp>
      <p:sp>
        <p:nvSpPr>
          <p:cNvPr id="26" name="Shape 20"/>
          <p:cNvSpPr/>
          <p:nvPr/>
        </p:nvSpPr>
        <p:spPr>
          <a:xfrm>
            <a:off x="3358134" y="1325880"/>
            <a:ext cx="1258443" cy="3135376"/>
          </a:xfrm>
          <a:prstGeom prst="roundRect">
            <a:avLst>
              <a:gd name="adj" fmla="val 10173"/>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27" name="Shape 21"/>
          <p:cNvSpPr/>
          <p:nvPr/>
        </p:nvSpPr>
        <p:spPr>
          <a:xfrm>
            <a:off x="3758756" y="1463040"/>
            <a:ext cx="457200" cy="457200"/>
          </a:xfrm>
          <a:prstGeom prst="ellipse">
            <a:avLst/>
          </a:prstGeom>
          <a:solidFill>
            <a:srgbClr val="B89E68"/>
          </a:solidFill>
          <a:ln w="12700">
            <a:solidFill>
              <a:srgbClr val="B89E68"/>
            </a:solidFill>
            <a:prstDash val="solid"/>
          </a:ln>
        </p:spPr>
      </p:sp>
      <p:pic>
        <p:nvPicPr>
          <p:cNvPr id="28" name="Image 4" descr="preencoded.png">    </p:cNvPr>
          <p:cNvPicPr>
            <a:picLocks noChangeAspect="1"/>
          </p:cNvPicPr>
          <p:nvPr/>
        </p:nvPicPr>
        <p:blipFill>
          <a:blip r:embed="rId5"/>
          <a:stretch>
            <a:fillRect/>
          </a:stretch>
        </p:blipFill>
        <p:spPr>
          <a:xfrm>
            <a:off x="3877628" y="1581912"/>
            <a:ext cx="219456" cy="219456"/>
          </a:xfrm>
          <a:prstGeom prst="rect">
            <a:avLst/>
          </a:prstGeom>
        </p:spPr>
      </p:pic>
      <p:sp>
        <p:nvSpPr>
          <p:cNvPr id="29" name="Text 22"/>
          <p:cNvSpPr txBox="1"/>
          <p:nvPr/>
        </p:nvSpPr>
        <p:spPr>
          <a:xfrm>
            <a:off x="3403854" y="1929384"/>
            <a:ext cx="1167003" cy="723646"/>
          </a:xfrm>
          <a:prstGeom prst="rect">
            <a:avLst/>
          </a:prstGeom>
          <a:noFill/>
          <a:ln/>
        </p:spPr>
        <p:txBody>
          <a:bodyPr wrap="square" lIns="0" tIns="0" rIns="0" bIns="0" rtlCol="0" anchor="t"/>
          <a:lstStyle/>
          <a:p>
            <a:pPr algn="ctr" indent="0" marL="0">
              <a:buNone/>
            </a:pPr>
            <a:r>
              <a:rPr lang="en-US" sz="1500" b="1" dirty="0">
                <a:solidFill>
                  <a:srgbClr val="1B2A4A"/>
                </a:solidFill>
                <a:latin typeface="Calibri" pitchFamily="34" charset="0"/>
                <a:ea typeface="Calibri" pitchFamily="34" charset="-122"/>
                <a:cs typeface="Calibri" pitchFamily="34" charset="-120"/>
              </a:rPr>
              <a:t>T+1h</a:t>
            </a:r>
            <a:endParaRPr lang="en-US" sz="1500" dirty="0"/>
          </a:p>
          <a:p>
            <a:pPr algn="ctr" indent="0" marL="0">
              <a:buNone/>
            </a:pPr>
            <a:r>
              <a:rPr lang="en-US" sz="1300" b="1" dirty="0">
                <a:solidFill>
                  <a:srgbClr val="1B2A4A"/>
                </a:solidFill>
                <a:latin typeface="Calibri" pitchFamily="34" charset="0"/>
                <a:ea typeface="Calibri" pitchFamily="34" charset="-122"/>
                <a:cs typeface="Calibri" pitchFamily="34" charset="-120"/>
              </a:rPr>
              <a:t>Persistence</a:t>
            </a:r>
            <a:endParaRPr lang="en-US" sz="1500" dirty="0"/>
          </a:p>
        </p:txBody>
      </p:sp>
      <p:sp>
        <p:nvSpPr>
          <p:cNvPr id="30" name="Text 23"/>
          <p:cNvSpPr txBox="1"/>
          <p:nvPr/>
        </p:nvSpPr>
        <p:spPr>
          <a:xfrm>
            <a:off x="3422142" y="2671318"/>
            <a:ext cx="1130427" cy="1744218"/>
          </a:xfrm>
          <a:prstGeom prst="rect">
            <a:avLst/>
          </a:prstGeom>
          <a:noFill/>
          <a:ln/>
        </p:spPr>
        <p:txBody>
          <a:bodyPr wrap="square" lIns="0" tIns="0" rIns="0" bIns="0" rtlCol="0" anchor="t"/>
          <a:lstStyle/>
          <a:p>
            <a:pPr algn="ctr" indent="0" marL="0">
              <a:buNone/>
            </a:pPr>
            <a:r>
              <a:rPr lang="en-US" sz="1300" dirty="0">
                <a:solidFill>
                  <a:srgbClr val="1E2E3A"/>
                </a:solidFill>
                <a:latin typeface="Calibri" pitchFamily="34" charset="0"/>
                <a:ea typeface="Calibri" pitchFamily="34" charset="-122"/>
                <a:cs typeface="Calibri" pitchFamily="34" charset="-120"/>
              </a:rPr>
              <a:t>Mailbox forwarding rules and continued access despite password reset.</a:t>
            </a:r>
            <a:endParaRPr lang="en-US" sz="1300" dirty="0"/>
          </a:p>
        </p:txBody>
      </p:sp>
      <p:sp>
        <p:nvSpPr>
          <p:cNvPr id="31" name="Shape 24"/>
          <p:cNvSpPr/>
          <p:nvPr/>
        </p:nvSpPr>
        <p:spPr>
          <a:xfrm>
            <a:off x="4648581" y="2240280"/>
            <a:ext cx="82296" cy="182880"/>
          </a:xfrm>
          <a:prstGeom prst="chevron">
            <a:avLst/>
          </a:prstGeom>
          <a:solidFill>
            <a:srgbClr val="A9BDD0"/>
          </a:solidFill>
          <a:ln w="12700">
            <a:solidFill>
              <a:srgbClr val="A9BDD0"/>
            </a:solidFill>
            <a:prstDash val="solid"/>
          </a:ln>
        </p:spPr>
      </p:sp>
      <p:sp>
        <p:nvSpPr>
          <p:cNvPr id="32" name="Shape 25"/>
          <p:cNvSpPr/>
          <p:nvPr/>
        </p:nvSpPr>
        <p:spPr>
          <a:xfrm>
            <a:off x="3358134" y="4744720"/>
            <a:ext cx="1258443" cy="1262888"/>
          </a:xfrm>
          <a:prstGeom prst="roundRect">
            <a:avLst>
              <a:gd name="adj" fmla="val 10173"/>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33" name="Shape 26"/>
          <p:cNvSpPr/>
          <p:nvPr/>
        </p:nvSpPr>
        <p:spPr>
          <a:xfrm>
            <a:off x="3841052" y="4817872"/>
            <a:ext cx="292608" cy="292608"/>
          </a:xfrm>
          <a:prstGeom prst="ellipse">
            <a:avLst/>
          </a:prstGeom>
          <a:solidFill>
            <a:srgbClr val="B89E68"/>
          </a:solidFill>
          <a:ln w="12700">
            <a:solidFill>
              <a:srgbClr val="B89E68"/>
            </a:solidFill>
            <a:prstDash val="solid"/>
          </a:ln>
        </p:spPr>
      </p:sp>
      <p:pic>
        <p:nvPicPr>
          <p:cNvPr id="34" name="Image 5" descr="preencoded.png">    </p:cNvPr>
          <p:cNvPicPr>
            <a:picLocks noChangeAspect="1"/>
          </p:cNvPicPr>
          <p:nvPr/>
        </p:nvPicPr>
        <p:blipFill>
          <a:blip r:embed="rId6"/>
          <a:stretch>
            <a:fillRect/>
          </a:stretch>
        </p:blipFill>
        <p:spPr>
          <a:xfrm>
            <a:off x="3914204" y="4891024"/>
            <a:ext cx="146304" cy="146304"/>
          </a:xfrm>
          <a:prstGeom prst="rect">
            <a:avLst/>
          </a:prstGeom>
        </p:spPr>
      </p:pic>
      <p:sp>
        <p:nvSpPr>
          <p:cNvPr id="35" name="Text 27"/>
          <p:cNvSpPr txBox="1"/>
          <p:nvPr/>
        </p:nvSpPr>
        <p:spPr>
          <a:xfrm>
            <a:off x="3403854" y="5147056"/>
            <a:ext cx="1167003" cy="842264"/>
          </a:xfrm>
          <a:prstGeom prst="rect">
            <a:avLst/>
          </a:prstGeom>
          <a:noFill/>
          <a:ln/>
        </p:spPr>
        <p:txBody>
          <a:bodyPr wrap="square" lIns="0" tIns="0" rIns="0" bIns="0" rtlCol="0" anchor="t"/>
          <a:lstStyle/>
          <a:p>
            <a:pPr algn="ctr" indent="0" marL="0">
              <a:buNone/>
            </a:pPr>
            <a:r>
              <a:rPr lang="en-US" sz="1300" b="1" dirty="0">
                <a:solidFill>
                  <a:srgbClr val="1B2A4A"/>
                </a:solidFill>
                <a:latin typeface="Calibri" pitchFamily="34" charset="0"/>
                <a:ea typeface="Calibri" pitchFamily="34" charset="-122"/>
                <a:cs typeface="Calibri" pitchFamily="34" charset="-120"/>
              </a:rPr>
              <a:t>IR</a:t>
            </a:r>
            <a:endParaRPr lang="en-US" sz="1300" dirty="0"/>
          </a:p>
          <a:p>
            <a:pPr algn="ctr" indent="0" marL="0">
              <a:buNone/>
            </a:pPr>
            <a:r>
              <a:rPr lang="en-US" sz="1300" dirty="0">
                <a:solidFill>
                  <a:srgbClr val="1E2E3A"/>
                </a:solidFill>
                <a:latin typeface="Calibri" pitchFamily="34" charset="0"/>
                <a:ea typeface="Calibri" pitchFamily="34" charset="-122"/>
                <a:cs typeface="Calibri" pitchFamily="34" charset="-120"/>
              </a:rPr>
              <a:t>Containment</a:t>
            </a:r>
            <a:endParaRPr lang="en-US" sz="1300" dirty="0"/>
          </a:p>
        </p:txBody>
      </p:sp>
      <p:sp>
        <p:nvSpPr>
          <p:cNvPr id="36" name="Shape 28"/>
          <p:cNvSpPr/>
          <p:nvPr/>
        </p:nvSpPr>
        <p:spPr>
          <a:xfrm>
            <a:off x="4762881" y="1325880"/>
            <a:ext cx="1258443" cy="3135376"/>
          </a:xfrm>
          <a:prstGeom prst="roundRect">
            <a:avLst>
              <a:gd name="adj" fmla="val 10173"/>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37" name="Shape 29"/>
          <p:cNvSpPr/>
          <p:nvPr/>
        </p:nvSpPr>
        <p:spPr>
          <a:xfrm>
            <a:off x="5163503" y="1463040"/>
            <a:ext cx="457200" cy="457200"/>
          </a:xfrm>
          <a:prstGeom prst="ellipse">
            <a:avLst/>
          </a:prstGeom>
          <a:solidFill>
            <a:srgbClr val="B38496"/>
          </a:solidFill>
          <a:ln w="12700">
            <a:solidFill>
              <a:srgbClr val="B38496"/>
            </a:solidFill>
            <a:prstDash val="solid"/>
          </a:ln>
        </p:spPr>
      </p:sp>
      <p:pic>
        <p:nvPicPr>
          <p:cNvPr id="38" name="Image 6" descr="preencoded.png">    </p:cNvPr>
          <p:cNvPicPr>
            <a:picLocks noChangeAspect="1"/>
          </p:cNvPicPr>
          <p:nvPr/>
        </p:nvPicPr>
        <p:blipFill>
          <a:blip r:embed="rId7"/>
          <a:stretch>
            <a:fillRect/>
          </a:stretch>
        </p:blipFill>
        <p:spPr>
          <a:xfrm>
            <a:off x="5282375" y="1581912"/>
            <a:ext cx="219456" cy="219456"/>
          </a:xfrm>
          <a:prstGeom prst="rect">
            <a:avLst/>
          </a:prstGeom>
        </p:spPr>
      </p:pic>
      <p:sp>
        <p:nvSpPr>
          <p:cNvPr id="39" name="Text 30"/>
          <p:cNvSpPr txBox="1"/>
          <p:nvPr/>
        </p:nvSpPr>
        <p:spPr>
          <a:xfrm>
            <a:off x="4808601" y="1929384"/>
            <a:ext cx="1167003" cy="723646"/>
          </a:xfrm>
          <a:prstGeom prst="rect">
            <a:avLst/>
          </a:prstGeom>
          <a:noFill/>
          <a:ln/>
        </p:spPr>
        <p:txBody>
          <a:bodyPr wrap="square" lIns="0" tIns="0" rIns="0" bIns="0" rtlCol="0" anchor="t"/>
          <a:lstStyle/>
          <a:p>
            <a:pPr algn="ctr" indent="0" marL="0">
              <a:buNone/>
            </a:pPr>
            <a:r>
              <a:rPr lang="en-US" sz="1500" b="1" dirty="0">
                <a:solidFill>
                  <a:srgbClr val="1B2A4A"/>
                </a:solidFill>
                <a:latin typeface="Calibri" pitchFamily="34" charset="0"/>
                <a:ea typeface="Calibri" pitchFamily="34" charset="-122"/>
                <a:cs typeface="Calibri" pitchFamily="34" charset="-120"/>
              </a:rPr>
              <a:t>T+2h</a:t>
            </a:r>
            <a:endParaRPr lang="en-US" sz="1500" dirty="0"/>
          </a:p>
          <a:p>
            <a:pPr algn="ctr" indent="0" marL="0">
              <a:buNone/>
            </a:pPr>
            <a:r>
              <a:rPr lang="en-US" sz="1300" b="1" dirty="0">
                <a:solidFill>
                  <a:srgbClr val="1B2A4A"/>
                </a:solidFill>
                <a:latin typeface="Calibri" pitchFamily="34" charset="0"/>
                <a:ea typeface="Calibri" pitchFamily="34" charset="-122"/>
                <a:cs typeface="Calibri" pitchFamily="34" charset="-120"/>
              </a:rPr>
              <a:t>Executive Access</a:t>
            </a:r>
            <a:endParaRPr lang="en-US" sz="1500" dirty="0"/>
          </a:p>
        </p:txBody>
      </p:sp>
      <p:sp>
        <p:nvSpPr>
          <p:cNvPr id="40" name="Text 31"/>
          <p:cNvSpPr txBox="1"/>
          <p:nvPr/>
        </p:nvSpPr>
        <p:spPr>
          <a:xfrm>
            <a:off x="4826889" y="2671318"/>
            <a:ext cx="1130427" cy="1744218"/>
          </a:xfrm>
          <a:prstGeom prst="rect">
            <a:avLst/>
          </a:prstGeom>
          <a:noFill/>
          <a:ln/>
        </p:spPr>
        <p:txBody>
          <a:bodyPr wrap="square" lIns="0" tIns="0" rIns="0" bIns="0" rtlCol="0" anchor="t"/>
          <a:lstStyle/>
          <a:p>
            <a:pPr algn="ctr" indent="0" marL="0">
              <a:buNone/>
            </a:pPr>
            <a:r>
              <a:rPr lang="en-US" sz="1300" dirty="0">
                <a:solidFill>
                  <a:srgbClr val="1E2E3A"/>
                </a:solidFill>
                <a:latin typeface="Calibri" pitchFamily="34" charset="0"/>
                <a:ea typeface="Calibri" pitchFamily="34" charset="-122"/>
                <a:cs typeface="Calibri" pitchFamily="34" charset="-120"/>
              </a:rPr>
              <a:t>Executive accounts accessed. Sensitive documents viewed and downloaded.</a:t>
            </a:r>
            <a:endParaRPr lang="en-US" sz="1300" dirty="0"/>
          </a:p>
        </p:txBody>
      </p:sp>
      <p:sp>
        <p:nvSpPr>
          <p:cNvPr id="41" name="Shape 32"/>
          <p:cNvSpPr/>
          <p:nvPr/>
        </p:nvSpPr>
        <p:spPr>
          <a:xfrm>
            <a:off x="6053328" y="2240280"/>
            <a:ext cx="82296" cy="182880"/>
          </a:xfrm>
          <a:prstGeom prst="chevron">
            <a:avLst/>
          </a:prstGeom>
          <a:solidFill>
            <a:srgbClr val="A9BDD0"/>
          </a:solidFill>
          <a:ln w="12700">
            <a:solidFill>
              <a:srgbClr val="A9BDD0"/>
            </a:solidFill>
            <a:prstDash val="solid"/>
          </a:ln>
        </p:spPr>
      </p:sp>
      <p:sp>
        <p:nvSpPr>
          <p:cNvPr id="42" name="Shape 33"/>
          <p:cNvSpPr/>
          <p:nvPr/>
        </p:nvSpPr>
        <p:spPr>
          <a:xfrm>
            <a:off x="4762881" y="4744720"/>
            <a:ext cx="1258443" cy="1262888"/>
          </a:xfrm>
          <a:prstGeom prst="roundRect">
            <a:avLst>
              <a:gd name="adj" fmla="val 10173"/>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43" name="Shape 34"/>
          <p:cNvSpPr/>
          <p:nvPr/>
        </p:nvSpPr>
        <p:spPr>
          <a:xfrm>
            <a:off x="5245799" y="4817872"/>
            <a:ext cx="292608" cy="292608"/>
          </a:xfrm>
          <a:prstGeom prst="ellipse">
            <a:avLst/>
          </a:prstGeom>
          <a:solidFill>
            <a:srgbClr val="B38496"/>
          </a:solidFill>
          <a:ln w="12700">
            <a:solidFill>
              <a:srgbClr val="B38496"/>
            </a:solidFill>
            <a:prstDash val="solid"/>
          </a:ln>
        </p:spPr>
      </p:sp>
      <p:pic>
        <p:nvPicPr>
          <p:cNvPr id="44" name="Image 7" descr="preencoded.png">    </p:cNvPr>
          <p:cNvPicPr>
            <a:picLocks noChangeAspect="1"/>
          </p:cNvPicPr>
          <p:nvPr/>
        </p:nvPicPr>
        <p:blipFill>
          <a:blip r:embed="rId8"/>
          <a:stretch>
            <a:fillRect/>
          </a:stretch>
        </p:blipFill>
        <p:spPr>
          <a:xfrm>
            <a:off x="5318951" y="4891024"/>
            <a:ext cx="146304" cy="146304"/>
          </a:xfrm>
          <a:prstGeom prst="rect">
            <a:avLst/>
          </a:prstGeom>
        </p:spPr>
      </p:pic>
      <p:sp>
        <p:nvSpPr>
          <p:cNvPr id="45" name="Text 35"/>
          <p:cNvSpPr txBox="1"/>
          <p:nvPr/>
        </p:nvSpPr>
        <p:spPr>
          <a:xfrm>
            <a:off x="4808601" y="5147056"/>
            <a:ext cx="1167003" cy="842264"/>
          </a:xfrm>
          <a:prstGeom prst="rect">
            <a:avLst/>
          </a:prstGeom>
          <a:noFill/>
          <a:ln/>
        </p:spPr>
        <p:txBody>
          <a:bodyPr wrap="square" lIns="0" tIns="0" rIns="0" bIns="0" rtlCol="0" anchor="t"/>
          <a:lstStyle/>
          <a:p>
            <a:pPr algn="ctr" indent="0" marL="0">
              <a:buNone/>
            </a:pPr>
            <a:r>
              <a:rPr lang="en-US" sz="1300" b="1" dirty="0">
                <a:solidFill>
                  <a:srgbClr val="1B2A4A"/>
                </a:solidFill>
                <a:latin typeface="Calibri" pitchFamily="34" charset="0"/>
                <a:ea typeface="Calibri" pitchFamily="34" charset="-122"/>
                <a:cs typeface="Calibri" pitchFamily="34" charset="-120"/>
              </a:rPr>
              <a:t>IR + BC</a:t>
            </a:r>
            <a:endParaRPr lang="en-US" sz="1300" dirty="0"/>
          </a:p>
          <a:p>
            <a:pPr algn="ctr" indent="0" marL="0">
              <a:buNone/>
            </a:pPr>
            <a:r>
              <a:rPr lang="en-US" sz="1300" dirty="0">
                <a:solidFill>
                  <a:srgbClr val="1E2E3A"/>
                </a:solidFill>
                <a:latin typeface="Calibri" pitchFamily="34" charset="0"/>
                <a:ea typeface="Calibri" pitchFamily="34" charset="-122"/>
                <a:cs typeface="Calibri" pitchFamily="34" charset="-120"/>
              </a:rPr>
              <a:t>Data Breach, Legal, Exec Comm</a:t>
            </a:r>
            <a:endParaRPr lang="en-US" sz="1300" dirty="0"/>
          </a:p>
        </p:txBody>
      </p:sp>
      <p:sp>
        <p:nvSpPr>
          <p:cNvPr id="46" name="Shape 36"/>
          <p:cNvSpPr/>
          <p:nvPr/>
        </p:nvSpPr>
        <p:spPr>
          <a:xfrm>
            <a:off x="6167628" y="1325880"/>
            <a:ext cx="1258443" cy="3135376"/>
          </a:xfrm>
          <a:prstGeom prst="roundRect">
            <a:avLst>
              <a:gd name="adj" fmla="val 10173"/>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47" name="Shape 37"/>
          <p:cNvSpPr/>
          <p:nvPr/>
        </p:nvSpPr>
        <p:spPr>
          <a:xfrm>
            <a:off x="6568250" y="1463040"/>
            <a:ext cx="457200" cy="457200"/>
          </a:xfrm>
          <a:prstGeom prst="ellipse">
            <a:avLst/>
          </a:prstGeom>
          <a:solidFill>
            <a:srgbClr val="8F86B8"/>
          </a:solidFill>
          <a:ln w="12700">
            <a:solidFill>
              <a:srgbClr val="8F86B8"/>
            </a:solidFill>
            <a:prstDash val="solid"/>
          </a:ln>
        </p:spPr>
      </p:sp>
      <p:pic>
        <p:nvPicPr>
          <p:cNvPr id="48" name="Image 8" descr="preencoded.png">    </p:cNvPr>
          <p:cNvPicPr>
            <a:picLocks noChangeAspect="1"/>
          </p:cNvPicPr>
          <p:nvPr/>
        </p:nvPicPr>
        <p:blipFill>
          <a:blip r:embed="rId9"/>
          <a:stretch>
            <a:fillRect/>
          </a:stretch>
        </p:blipFill>
        <p:spPr>
          <a:xfrm>
            <a:off x="6687122" y="1581912"/>
            <a:ext cx="219456" cy="219456"/>
          </a:xfrm>
          <a:prstGeom prst="rect">
            <a:avLst/>
          </a:prstGeom>
        </p:spPr>
      </p:pic>
      <p:sp>
        <p:nvSpPr>
          <p:cNvPr id="49" name="Text 38"/>
          <p:cNvSpPr txBox="1"/>
          <p:nvPr/>
        </p:nvSpPr>
        <p:spPr>
          <a:xfrm>
            <a:off x="6213348" y="1929384"/>
            <a:ext cx="1167003" cy="723646"/>
          </a:xfrm>
          <a:prstGeom prst="rect">
            <a:avLst/>
          </a:prstGeom>
          <a:noFill/>
          <a:ln/>
        </p:spPr>
        <p:txBody>
          <a:bodyPr wrap="square" lIns="0" tIns="0" rIns="0" bIns="0" rtlCol="0" anchor="t"/>
          <a:lstStyle/>
          <a:p>
            <a:pPr algn="ctr" indent="0" marL="0">
              <a:buNone/>
            </a:pPr>
            <a:r>
              <a:rPr lang="en-US" sz="1500" b="1" dirty="0">
                <a:solidFill>
                  <a:srgbClr val="1B2A4A"/>
                </a:solidFill>
                <a:latin typeface="Calibri" pitchFamily="34" charset="0"/>
                <a:ea typeface="Calibri" pitchFamily="34" charset="-122"/>
                <a:cs typeface="Calibri" pitchFamily="34" charset="-120"/>
              </a:rPr>
              <a:t>T+3h</a:t>
            </a:r>
            <a:endParaRPr lang="en-US" sz="1500" dirty="0"/>
          </a:p>
          <a:p>
            <a:pPr algn="ctr" indent="0" marL="0">
              <a:buNone/>
            </a:pPr>
            <a:r>
              <a:rPr lang="en-US" sz="1300" b="1" dirty="0">
                <a:solidFill>
                  <a:srgbClr val="1B2A4A"/>
                </a:solidFill>
                <a:latin typeface="Calibri" pitchFamily="34" charset="0"/>
                <a:ea typeface="Calibri" pitchFamily="34" charset="-122"/>
                <a:cs typeface="Calibri" pitchFamily="34" charset="-120"/>
              </a:rPr>
              <a:t>Expansion Attempt</a:t>
            </a:r>
            <a:endParaRPr lang="en-US" sz="1500" dirty="0"/>
          </a:p>
        </p:txBody>
      </p:sp>
      <p:sp>
        <p:nvSpPr>
          <p:cNvPr id="50" name="Text 39"/>
          <p:cNvSpPr txBox="1"/>
          <p:nvPr/>
        </p:nvSpPr>
        <p:spPr>
          <a:xfrm>
            <a:off x="6231636" y="2671318"/>
            <a:ext cx="1130427" cy="1744218"/>
          </a:xfrm>
          <a:prstGeom prst="rect">
            <a:avLst/>
          </a:prstGeom>
          <a:noFill/>
          <a:ln/>
        </p:spPr>
        <p:txBody>
          <a:bodyPr wrap="square" lIns="0" tIns="0" rIns="0" bIns="0" rtlCol="0" anchor="t"/>
          <a:lstStyle/>
          <a:p>
            <a:pPr algn="ctr" indent="0" marL="0">
              <a:buNone/>
            </a:pPr>
            <a:r>
              <a:rPr lang="en-US" sz="1300" dirty="0">
                <a:solidFill>
                  <a:srgbClr val="1E2E3A"/>
                </a:solidFill>
                <a:latin typeface="Calibri" pitchFamily="34" charset="0"/>
                <a:ea typeface="Calibri" pitchFamily="34" charset="-122"/>
                <a:cs typeface="Calibri" pitchFamily="34" charset="-120"/>
              </a:rPr>
              <a:t>OAuth consent attacks attempted for broader M365 access.</a:t>
            </a:r>
            <a:endParaRPr lang="en-US" sz="1300" dirty="0"/>
          </a:p>
        </p:txBody>
      </p:sp>
      <p:sp>
        <p:nvSpPr>
          <p:cNvPr id="51" name="Shape 40"/>
          <p:cNvSpPr/>
          <p:nvPr/>
        </p:nvSpPr>
        <p:spPr>
          <a:xfrm>
            <a:off x="7458075" y="2240280"/>
            <a:ext cx="82296" cy="182880"/>
          </a:xfrm>
          <a:prstGeom prst="chevron">
            <a:avLst/>
          </a:prstGeom>
          <a:solidFill>
            <a:srgbClr val="A9BDD0"/>
          </a:solidFill>
          <a:ln w="12700">
            <a:solidFill>
              <a:srgbClr val="A9BDD0"/>
            </a:solidFill>
            <a:prstDash val="solid"/>
          </a:ln>
        </p:spPr>
      </p:sp>
      <p:sp>
        <p:nvSpPr>
          <p:cNvPr id="52" name="Shape 41"/>
          <p:cNvSpPr/>
          <p:nvPr/>
        </p:nvSpPr>
        <p:spPr>
          <a:xfrm>
            <a:off x="6167628" y="4744720"/>
            <a:ext cx="1258443" cy="1262888"/>
          </a:xfrm>
          <a:prstGeom prst="roundRect">
            <a:avLst>
              <a:gd name="adj" fmla="val 10173"/>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53" name="Shape 42"/>
          <p:cNvSpPr/>
          <p:nvPr/>
        </p:nvSpPr>
        <p:spPr>
          <a:xfrm>
            <a:off x="6650546" y="4817872"/>
            <a:ext cx="292608" cy="292608"/>
          </a:xfrm>
          <a:prstGeom prst="ellipse">
            <a:avLst/>
          </a:prstGeom>
          <a:solidFill>
            <a:srgbClr val="8F86B8"/>
          </a:solidFill>
          <a:ln w="12700">
            <a:solidFill>
              <a:srgbClr val="8F86B8"/>
            </a:solidFill>
            <a:prstDash val="solid"/>
          </a:ln>
        </p:spPr>
      </p:sp>
      <p:pic>
        <p:nvPicPr>
          <p:cNvPr id="54" name="Image 9" descr="preencoded.png">    </p:cNvPr>
          <p:cNvPicPr>
            <a:picLocks noChangeAspect="1"/>
          </p:cNvPicPr>
          <p:nvPr/>
        </p:nvPicPr>
        <p:blipFill>
          <a:blip r:embed="rId10"/>
          <a:stretch>
            <a:fillRect/>
          </a:stretch>
        </p:blipFill>
        <p:spPr>
          <a:xfrm>
            <a:off x="6723698" y="4891024"/>
            <a:ext cx="146304" cy="146304"/>
          </a:xfrm>
          <a:prstGeom prst="rect">
            <a:avLst/>
          </a:prstGeom>
        </p:spPr>
      </p:pic>
      <p:sp>
        <p:nvSpPr>
          <p:cNvPr id="55" name="Text 43"/>
          <p:cNvSpPr txBox="1"/>
          <p:nvPr/>
        </p:nvSpPr>
        <p:spPr>
          <a:xfrm>
            <a:off x="6213348" y="5147056"/>
            <a:ext cx="1167003" cy="842264"/>
          </a:xfrm>
          <a:prstGeom prst="rect">
            <a:avLst/>
          </a:prstGeom>
          <a:noFill/>
          <a:ln/>
        </p:spPr>
        <p:txBody>
          <a:bodyPr wrap="square" lIns="0" tIns="0" rIns="0" bIns="0" rtlCol="0" anchor="t"/>
          <a:lstStyle/>
          <a:p>
            <a:pPr algn="ctr" indent="0" marL="0">
              <a:buNone/>
            </a:pPr>
            <a:r>
              <a:rPr lang="en-US" sz="1300" b="1" dirty="0">
                <a:solidFill>
                  <a:srgbClr val="1B2A4A"/>
                </a:solidFill>
                <a:latin typeface="Calibri" pitchFamily="34" charset="0"/>
                <a:ea typeface="Calibri" pitchFamily="34" charset="-122"/>
                <a:cs typeface="Calibri" pitchFamily="34" charset="-120"/>
              </a:rPr>
              <a:t>IR</a:t>
            </a:r>
            <a:endParaRPr lang="en-US" sz="1300" dirty="0"/>
          </a:p>
          <a:p>
            <a:pPr algn="ctr" indent="0" marL="0">
              <a:buNone/>
            </a:pPr>
            <a:r>
              <a:rPr lang="en-US" sz="1300" dirty="0">
                <a:solidFill>
                  <a:srgbClr val="1E2E3A"/>
                </a:solidFill>
                <a:latin typeface="Calibri" pitchFamily="34" charset="0"/>
                <a:ea typeface="Calibri" pitchFamily="34" charset="-122"/>
                <a:cs typeface="Calibri" pitchFamily="34" charset="-120"/>
              </a:rPr>
              <a:t>Threat Expansion</a:t>
            </a:r>
            <a:endParaRPr lang="en-US" sz="1300" dirty="0"/>
          </a:p>
        </p:txBody>
      </p:sp>
      <p:sp>
        <p:nvSpPr>
          <p:cNvPr id="56" name="Shape 44"/>
          <p:cNvSpPr/>
          <p:nvPr/>
        </p:nvSpPr>
        <p:spPr>
          <a:xfrm>
            <a:off x="7572375" y="1325880"/>
            <a:ext cx="1258443" cy="3135376"/>
          </a:xfrm>
          <a:prstGeom prst="roundRect">
            <a:avLst>
              <a:gd name="adj" fmla="val 10173"/>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57" name="Shape 45"/>
          <p:cNvSpPr/>
          <p:nvPr/>
        </p:nvSpPr>
        <p:spPr>
          <a:xfrm>
            <a:off x="7972996" y="1463040"/>
            <a:ext cx="457200" cy="457200"/>
          </a:xfrm>
          <a:prstGeom prst="ellipse">
            <a:avLst/>
          </a:prstGeom>
          <a:solidFill>
            <a:srgbClr val="7BA689"/>
          </a:solidFill>
          <a:ln w="12700">
            <a:solidFill>
              <a:srgbClr val="7BA689"/>
            </a:solidFill>
            <a:prstDash val="solid"/>
          </a:ln>
        </p:spPr>
      </p:sp>
      <p:pic>
        <p:nvPicPr>
          <p:cNvPr id="58" name="Image 10" descr="preencoded.png">    </p:cNvPr>
          <p:cNvPicPr>
            <a:picLocks noChangeAspect="1"/>
          </p:cNvPicPr>
          <p:nvPr/>
        </p:nvPicPr>
        <p:blipFill>
          <a:blip r:embed="rId11"/>
          <a:stretch>
            <a:fillRect/>
          </a:stretch>
        </p:blipFill>
        <p:spPr>
          <a:xfrm>
            <a:off x="8091869" y="1581912"/>
            <a:ext cx="219456" cy="219456"/>
          </a:xfrm>
          <a:prstGeom prst="rect">
            <a:avLst/>
          </a:prstGeom>
        </p:spPr>
      </p:pic>
      <p:sp>
        <p:nvSpPr>
          <p:cNvPr id="59" name="Text 46"/>
          <p:cNvSpPr txBox="1"/>
          <p:nvPr/>
        </p:nvSpPr>
        <p:spPr>
          <a:xfrm>
            <a:off x="7618095" y="1929384"/>
            <a:ext cx="1167003" cy="723646"/>
          </a:xfrm>
          <a:prstGeom prst="rect">
            <a:avLst/>
          </a:prstGeom>
          <a:noFill/>
          <a:ln/>
        </p:spPr>
        <p:txBody>
          <a:bodyPr wrap="square" lIns="0" tIns="0" rIns="0" bIns="0" rtlCol="0" anchor="t"/>
          <a:lstStyle/>
          <a:p>
            <a:pPr algn="ctr" indent="0" marL="0">
              <a:buNone/>
            </a:pPr>
            <a:r>
              <a:rPr lang="en-US" sz="1500" b="1" dirty="0">
                <a:solidFill>
                  <a:srgbClr val="1B2A4A"/>
                </a:solidFill>
                <a:latin typeface="Calibri" pitchFamily="34" charset="0"/>
                <a:ea typeface="Calibri" pitchFamily="34" charset="-122"/>
                <a:cs typeface="Calibri" pitchFamily="34" charset="-120"/>
              </a:rPr>
              <a:t>T+4h</a:t>
            </a:r>
            <a:endParaRPr lang="en-US" sz="1500" dirty="0"/>
          </a:p>
          <a:p>
            <a:pPr algn="ctr" indent="0" marL="0">
              <a:buNone/>
            </a:pPr>
            <a:r>
              <a:rPr lang="en-US" sz="1300" b="1" dirty="0">
                <a:solidFill>
                  <a:srgbClr val="1B2A4A"/>
                </a:solidFill>
                <a:latin typeface="Calibri" pitchFamily="34" charset="0"/>
                <a:ea typeface="Calibri" pitchFamily="34" charset="-122"/>
                <a:cs typeface="Calibri" pitchFamily="34" charset="-120"/>
              </a:rPr>
              <a:t>Vendor Confirmation</a:t>
            </a:r>
            <a:endParaRPr lang="en-US" sz="1500" dirty="0"/>
          </a:p>
        </p:txBody>
      </p:sp>
      <p:sp>
        <p:nvSpPr>
          <p:cNvPr id="60" name="Text 47"/>
          <p:cNvSpPr txBox="1"/>
          <p:nvPr/>
        </p:nvSpPr>
        <p:spPr>
          <a:xfrm>
            <a:off x="7636383" y="2671318"/>
            <a:ext cx="1130427" cy="1744218"/>
          </a:xfrm>
          <a:prstGeom prst="rect">
            <a:avLst/>
          </a:prstGeom>
          <a:noFill/>
          <a:ln/>
        </p:spPr>
        <p:txBody>
          <a:bodyPr wrap="square" lIns="0" tIns="0" rIns="0" bIns="0" rtlCol="0" anchor="t"/>
          <a:lstStyle/>
          <a:p>
            <a:pPr algn="ctr" indent="0" marL="0">
              <a:buNone/>
            </a:pPr>
            <a:r>
              <a:rPr lang="en-US" sz="1300" dirty="0">
                <a:solidFill>
                  <a:srgbClr val="1E2E3A"/>
                </a:solidFill>
                <a:latin typeface="Calibri" pitchFamily="34" charset="0"/>
                <a:ea typeface="Calibri" pitchFamily="34" charset="-122"/>
                <a:cs typeface="Calibri" pitchFamily="34" charset="-120"/>
              </a:rPr>
              <a:t>SaaS provider confirms breach and notifies multiple customers.</a:t>
            </a:r>
            <a:endParaRPr lang="en-US" sz="1300" dirty="0"/>
          </a:p>
        </p:txBody>
      </p:sp>
      <p:sp>
        <p:nvSpPr>
          <p:cNvPr id="61" name="Shape 48"/>
          <p:cNvSpPr/>
          <p:nvPr/>
        </p:nvSpPr>
        <p:spPr>
          <a:xfrm>
            <a:off x="8862822" y="2240280"/>
            <a:ext cx="82296" cy="182880"/>
          </a:xfrm>
          <a:prstGeom prst="chevron">
            <a:avLst/>
          </a:prstGeom>
          <a:solidFill>
            <a:srgbClr val="A9BDD0"/>
          </a:solidFill>
          <a:ln w="12700">
            <a:solidFill>
              <a:srgbClr val="A9BDD0"/>
            </a:solidFill>
            <a:prstDash val="solid"/>
          </a:ln>
        </p:spPr>
      </p:sp>
      <p:sp>
        <p:nvSpPr>
          <p:cNvPr id="62" name="Shape 49"/>
          <p:cNvSpPr/>
          <p:nvPr/>
        </p:nvSpPr>
        <p:spPr>
          <a:xfrm>
            <a:off x="7572375" y="4744720"/>
            <a:ext cx="1258443" cy="1262888"/>
          </a:xfrm>
          <a:prstGeom prst="roundRect">
            <a:avLst>
              <a:gd name="adj" fmla="val 10173"/>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63" name="Shape 50"/>
          <p:cNvSpPr/>
          <p:nvPr/>
        </p:nvSpPr>
        <p:spPr>
          <a:xfrm>
            <a:off x="8055292" y="4817872"/>
            <a:ext cx="292608" cy="292608"/>
          </a:xfrm>
          <a:prstGeom prst="ellipse">
            <a:avLst/>
          </a:prstGeom>
          <a:solidFill>
            <a:srgbClr val="7BA689"/>
          </a:solidFill>
          <a:ln w="12700">
            <a:solidFill>
              <a:srgbClr val="7BA689"/>
            </a:solidFill>
            <a:prstDash val="solid"/>
          </a:ln>
        </p:spPr>
      </p:sp>
      <p:pic>
        <p:nvPicPr>
          <p:cNvPr id="64" name="Image 11" descr="preencoded.png">    </p:cNvPr>
          <p:cNvPicPr>
            <a:picLocks noChangeAspect="1"/>
          </p:cNvPicPr>
          <p:nvPr/>
        </p:nvPicPr>
        <p:blipFill>
          <a:blip r:embed="rId12"/>
          <a:stretch>
            <a:fillRect/>
          </a:stretch>
        </p:blipFill>
        <p:spPr>
          <a:xfrm>
            <a:off x="8128444" y="4891024"/>
            <a:ext cx="146304" cy="146304"/>
          </a:xfrm>
          <a:prstGeom prst="rect">
            <a:avLst/>
          </a:prstGeom>
        </p:spPr>
      </p:pic>
      <p:sp>
        <p:nvSpPr>
          <p:cNvPr id="65" name="Text 51"/>
          <p:cNvSpPr txBox="1"/>
          <p:nvPr/>
        </p:nvSpPr>
        <p:spPr>
          <a:xfrm>
            <a:off x="7618095" y="5147056"/>
            <a:ext cx="1167003" cy="842264"/>
          </a:xfrm>
          <a:prstGeom prst="rect">
            <a:avLst/>
          </a:prstGeom>
          <a:noFill/>
          <a:ln/>
        </p:spPr>
        <p:txBody>
          <a:bodyPr wrap="square" lIns="0" tIns="0" rIns="0" bIns="0" rtlCol="0" anchor="t"/>
          <a:lstStyle/>
          <a:p>
            <a:pPr algn="ctr" indent="0" marL="0">
              <a:buNone/>
            </a:pPr>
            <a:r>
              <a:rPr lang="en-US" sz="1300" b="1" dirty="0">
                <a:solidFill>
                  <a:srgbClr val="1B2A4A"/>
                </a:solidFill>
                <a:latin typeface="Calibri" pitchFamily="34" charset="0"/>
                <a:ea typeface="Calibri" pitchFamily="34" charset="-122"/>
                <a:cs typeface="Calibri" pitchFamily="34" charset="-120"/>
              </a:rPr>
              <a:t>BC + Vendor Mgmt</a:t>
            </a:r>
            <a:endParaRPr lang="en-US" sz="1300" dirty="0"/>
          </a:p>
          <a:p>
            <a:pPr algn="ctr" indent="0" marL="0">
              <a:buNone/>
            </a:pPr>
            <a:r>
              <a:rPr lang="en-US" sz="1300" dirty="0">
                <a:solidFill>
                  <a:srgbClr val="1E2E3A"/>
                </a:solidFill>
                <a:latin typeface="Calibri" pitchFamily="34" charset="0"/>
                <a:ea typeface="Calibri" pitchFamily="34" charset="-122"/>
                <a:cs typeface="Calibri" pitchFamily="34" charset="-120"/>
              </a:rPr>
              <a:t>Third-Party Risk</a:t>
            </a:r>
            <a:endParaRPr lang="en-US" sz="1300" dirty="0"/>
          </a:p>
        </p:txBody>
      </p:sp>
      <p:sp>
        <p:nvSpPr>
          <p:cNvPr id="66" name="Shape 52"/>
          <p:cNvSpPr/>
          <p:nvPr/>
        </p:nvSpPr>
        <p:spPr>
          <a:xfrm>
            <a:off x="8977122" y="1325880"/>
            <a:ext cx="1258443" cy="3135376"/>
          </a:xfrm>
          <a:prstGeom prst="roundRect">
            <a:avLst>
              <a:gd name="adj" fmla="val 10173"/>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67" name="Shape 53"/>
          <p:cNvSpPr/>
          <p:nvPr/>
        </p:nvSpPr>
        <p:spPr>
          <a:xfrm>
            <a:off x="9377744" y="1463040"/>
            <a:ext cx="457200" cy="457200"/>
          </a:xfrm>
          <a:prstGeom prst="ellipse">
            <a:avLst/>
          </a:prstGeom>
          <a:solidFill>
            <a:srgbClr val="7C9CC0"/>
          </a:solidFill>
          <a:ln w="12700">
            <a:solidFill>
              <a:srgbClr val="7C9CC0"/>
            </a:solidFill>
            <a:prstDash val="solid"/>
          </a:ln>
        </p:spPr>
      </p:sp>
      <p:pic>
        <p:nvPicPr>
          <p:cNvPr id="68" name="Image 12" descr="preencoded.png">    </p:cNvPr>
          <p:cNvPicPr>
            <a:picLocks noChangeAspect="1"/>
          </p:cNvPicPr>
          <p:nvPr/>
        </p:nvPicPr>
        <p:blipFill>
          <a:blip r:embed="rId13"/>
          <a:stretch>
            <a:fillRect/>
          </a:stretch>
        </p:blipFill>
        <p:spPr>
          <a:xfrm>
            <a:off x="9496616" y="1581912"/>
            <a:ext cx="219456" cy="219456"/>
          </a:xfrm>
          <a:prstGeom prst="rect">
            <a:avLst/>
          </a:prstGeom>
        </p:spPr>
      </p:pic>
      <p:sp>
        <p:nvSpPr>
          <p:cNvPr id="69" name="Text 54"/>
          <p:cNvSpPr txBox="1"/>
          <p:nvPr/>
        </p:nvSpPr>
        <p:spPr>
          <a:xfrm>
            <a:off x="9022842" y="1929384"/>
            <a:ext cx="1167003" cy="723646"/>
          </a:xfrm>
          <a:prstGeom prst="rect">
            <a:avLst/>
          </a:prstGeom>
          <a:noFill/>
          <a:ln/>
        </p:spPr>
        <p:txBody>
          <a:bodyPr wrap="square" lIns="0" tIns="0" rIns="0" bIns="0" rtlCol="0" anchor="t"/>
          <a:lstStyle/>
          <a:p>
            <a:pPr algn="ctr" indent="0" marL="0">
              <a:buNone/>
            </a:pPr>
            <a:r>
              <a:rPr lang="en-US" sz="1500" b="1" dirty="0">
                <a:solidFill>
                  <a:srgbClr val="1B2A4A"/>
                </a:solidFill>
                <a:latin typeface="Calibri" pitchFamily="34" charset="0"/>
                <a:ea typeface="Calibri" pitchFamily="34" charset="-122"/>
                <a:cs typeface="Calibri" pitchFamily="34" charset="-120"/>
              </a:rPr>
              <a:t>T+6h</a:t>
            </a:r>
            <a:endParaRPr lang="en-US" sz="1500" dirty="0"/>
          </a:p>
          <a:p>
            <a:pPr algn="ctr" indent="0" marL="0">
              <a:buNone/>
            </a:pPr>
            <a:r>
              <a:rPr lang="en-US" sz="1300" b="1" dirty="0">
                <a:solidFill>
                  <a:srgbClr val="1B2A4A"/>
                </a:solidFill>
                <a:latin typeface="Calibri" pitchFamily="34" charset="0"/>
                <a:ea typeface="Calibri" pitchFamily="34" charset="-122"/>
                <a:cs typeface="Calibri" pitchFamily="34" charset="-120"/>
              </a:rPr>
              <a:t>Leadership Pressure</a:t>
            </a:r>
            <a:endParaRPr lang="en-US" sz="1500" dirty="0"/>
          </a:p>
        </p:txBody>
      </p:sp>
      <p:sp>
        <p:nvSpPr>
          <p:cNvPr id="70" name="Text 55"/>
          <p:cNvSpPr txBox="1"/>
          <p:nvPr/>
        </p:nvSpPr>
        <p:spPr>
          <a:xfrm>
            <a:off x="9041130" y="2671318"/>
            <a:ext cx="1130427" cy="1744218"/>
          </a:xfrm>
          <a:prstGeom prst="rect">
            <a:avLst/>
          </a:prstGeom>
          <a:noFill/>
          <a:ln/>
        </p:spPr>
        <p:txBody>
          <a:bodyPr wrap="square" lIns="0" tIns="0" rIns="0" bIns="0" rtlCol="0" anchor="t"/>
          <a:lstStyle/>
          <a:p>
            <a:pPr algn="ctr" indent="0" marL="0">
              <a:buNone/>
            </a:pPr>
            <a:r>
              <a:rPr lang="en-US" sz="1300" dirty="0">
                <a:solidFill>
                  <a:srgbClr val="1E2E3A"/>
                </a:solidFill>
                <a:latin typeface="Calibri" pitchFamily="34" charset="0"/>
                <a:ea typeface="Calibri" pitchFamily="34" charset="-122"/>
                <a:cs typeface="Calibri" pitchFamily="34" charset="-120"/>
              </a:rPr>
              <a:t>Board and Legal ask for status and next steps. Decisions needed.</a:t>
            </a:r>
            <a:endParaRPr lang="en-US" sz="1300" dirty="0"/>
          </a:p>
        </p:txBody>
      </p:sp>
      <p:sp>
        <p:nvSpPr>
          <p:cNvPr id="71" name="Shape 56"/>
          <p:cNvSpPr/>
          <p:nvPr/>
        </p:nvSpPr>
        <p:spPr>
          <a:xfrm>
            <a:off x="10267569" y="2240280"/>
            <a:ext cx="82296" cy="182880"/>
          </a:xfrm>
          <a:prstGeom prst="chevron">
            <a:avLst/>
          </a:prstGeom>
          <a:solidFill>
            <a:srgbClr val="A9BDD0"/>
          </a:solidFill>
          <a:ln w="12700">
            <a:solidFill>
              <a:srgbClr val="A9BDD0"/>
            </a:solidFill>
            <a:prstDash val="solid"/>
          </a:ln>
        </p:spPr>
      </p:sp>
      <p:sp>
        <p:nvSpPr>
          <p:cNvPr id="72" name="Shape 57"/>
          <p:cNvSpPr/>
          <p:nvPr/>
        </p:nvSpPr>
        <p:spPr>
          <a:xfrm>
            <a:off x="8977122" y="4744720"/>
            <a:ext cx="1258443" cy="1262888"/>
          </a:xfrm>
          <a:prstGeom prst="roundRect">
            <a:avLst>
              <a:gd name="adj" fmla="val 10173"/>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73" name="Shape 58"/>
          <p:cNvSpPr/>
          <p:nvPr/>
        </p:nvSpPr>
        <p:spPr>
          <a:xfrm>
            <a:off x="9460040" y="4817872"/>
            <a:ext cx="292608" cy="292608"/>
          </a:xfrm>
          <a:prstGeom prst="ellipse">
            <a:avLst/>
          </a:prstGeom>
          <a:solidFill>
            <a:srgbClr val="7C9CC0"/>
          </a:solidFill>
          <a:ln w="12700">
            <a:solidFill>
              <a:srgbClr val="7C9CC0"/>
            </a:solidFill>
            <a:prstDash val="solid"/>
          </a:ln>
        </p:spPr>
      </p:sp>
      <p:pic>
        <p:nvPicPr>
          <p:cNvPr id="74" name="Image 13" descr="preencoded.png">    </p:cNvPr>
          <p:cNvPicPr>
            <a:picLocks noChangeAspect="1"/>
          </p:cNvPicPr>
          <p:nvPr/>
        </p:nvPicPr>
        <p:blipFill>
          <a:blip r:embed="rId14"/>
          <a:stretch>
            <a:fillRect/>
          </a:stretch>
        </p:blipFill>
        <p:spPr>
          <a:xfrm>
            <a:off x="9533192" y="4891024"/>
            <a:ext cx="146304" cy="146304"/>
          </a:xfrm>
          <a:prstGeom prst="rect">
            <a:avLst/>
          </a:prstGeom>
        </p:spPr>
      </p:pic>
      <p:sp>
        <p:nvSpPr>
          <p:cNvPr id="75" name="Text 59"/>
          <p:cNvSpPr txBox="1"/>
          <p:nvPr/>
        </p:nvSpPr>
        <p:spPr>
          <a:xfrm>
            <a:off x="9022842" y="5147056"/>
            <a:ext cx="1167003" cy="842264"/>
          </a:xfrm>
          <a:prstGeom prst="rect">
            <a:avLst/>
          </a:prstGeom>
          <a:noFill/>
          <a:ln/>
        </p:spPr>
        <p:txBody>
          <a:bodyPr wrap="square" lIns="0" tIns="0" rIns="0" bIns="0" rtlCol="0" anchor="t"/>
          <a:lstStyle/>
          <a:p>
            <a:pPr algn="ctr" indent="0" marL="0">
              <a:buNone/>
            </a:pPr>
            <a:r>
              <a:rPr lang="en-US" sz="1300" b="1" dirty="0">
                <a:solidFill>
                  <a:srgbClr val="1B2A4A"/>
                </a:solidFill>
                <a:latin typeface="Calibri" pitchFamily="34" charset="0"/>
                <a:ea typeface="Calibri" pitchFamily="34" charset="-122"/>
                <a:cs typeface="Calibri" pitchFamily="34" charset="-120"/>
              </a:rPr>
              <a:t>BC + Crisis Mgmt</a:t>
            </a:r>
            <a:endParaRPr lang="en-US" sz="1300" dirty="0"/>
          </a:p>
          <a:p>
            <a:pPr algn="ctr" indent="0" marL="0">
              <a:buNone/>
            </a:pPr>
            <a:r>
              <a:rPr lang="en-US" sz="1300" dirty="0">
                <a:solidFill>
                  <a:srgbClr val="1E2E3A"/>
                </a:solidFill>
                <a:latin typeface="Calibri" pitchFamily="34" charset="0"/>
                <a:ea typeface="Calibri" pitchFamily="34" charset="-122"/>
                <a:cs typeface="Calibri" pitchFamily="34" charset="-120"/>
              </a:rPr>
              <a:t>Communications</a:t>
            </a:r>
            <a:endParaRPr lang="en-US" sz="1300" dirty="0"/>
          </a:p>
        </p:txBody>
      </p:sp>
      <p:sp>
        <p:nvSpPr>
          <p:cNvPr id="76" name="Shape 60"/>
          <p:cNvSpPr/>
          <p:nvPr/>
        </p:nvSpPr>
        <p:spPr>
          <a:xfrm>
            <a:off x="10381869" y="1325880"/>
            <a:ext cx="1258443" cy="3135376"/>
          </a:xfrm>
          <a:prstGeom prst="roundRect">
            <a:avLst>
              <a:gd name="adj" fmla="val 10173"/>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77" name="Shape 61"/>
          <p:cNvSpPr/>
          <p:nvPr/>
        </p:nvSpPr>
        <p:spPr>
          <a:xfrm>
            <a:off x="10782491" y="1463040"/>
            <a:ext cx="457200" cy="457200"/>
          </a:xfrm>
          <a:prstGeom prst="ellipse">
            <a:avLst/>
          </a:prstGeom>
          <a:solidFill>
            <a:srgbClr val="BD8C7B"/>
          </a:solidFill>
          <a:ln w="12700">
            <a:solidFill>
              <a:srgbClr val="BD8C7B"/>
            </a:solidFill>
            <a:prstDash val="solid"/>
          </a:ln>
        </p:spPr>
      </p:sp>
      <p:pic>
        <p:nvPicPr>
          <p:cNvPr id="78" name="Image 14" descr="preencoded.png">    </p:cNvPr>
          <p:cNvPicPr>
            <a:picLocks noChangeAspect="1"/>
          </p:cNvPicPr>
          <p:nvPr/>
        </p:nvPicPr>
        <p:blipFill>
          <a:blip r:embed="rId15"/>
          <a:stretch>
            <a:fillRect/>
          </a:stretch>
        </p:blipFill>
        <p:spPr>
          <a:xfrm>
            <a:off x="10901363" y="1581912"/>
            <a:ext cx="219456" cy="219456"/>
          </a:xfrm>
          <a:prstGeom prst="rect">
            <a:avLst/>
          </a:prstGeom>
        </p:spPr>
      </p:pic>
      <p:sp>
        <p:nvSpPr>
          <p:cNvPr id="79" name="Text 62"/>
          <p:cNvSpPr txBox="1"/>
          <p:nvPr/>
        </p:nvSpPr>
        <p:spPr>
          <a:xfrm>
            <a:off x="10427589" y="1929384"/>
            <a:ext cx="1167003" cy="723646"/>
          </a:xfrm>
          <a:prstGeom prst="rect">
            <a:avLst/>
          </a:prstGeom>
          <a:noFill/>
          <a:ln/>
        </p:spPr>
        <p:txBody>
          <a:bodyPr wrap="square" lIns="0" tIns="0" rIns="0" bIns="0" rtlCol="0" anchor="t"/>
          <a:lstStyle/>
          <a:p>
            <a:pPr algn="ctr" indent="0" marL="0">
              <a:buNone/>
            </a:pPr>
            <a:r>
              <a:rPr lang="en-US" sz="1500" b="1" dirty="0">
                <a:solidFill>
                  <a:srgbClr val="1B2A4A"/>
                </a:solidFill>
                <a:latin typeface="Calibri" pitchFamily="34" charset="0"/>
                <a:ea typeface="Calibri" pitchFamily="34" charset="-122"/>
                <a:cs typeface="Calibri" pitchFamily="34" charset="-120"/>
              </a:rPr>
              <a:t>T+8h</a:t>
            </a:r>
            <a:endParaRPr lang="en-US" sz="1500" dirty="0"/>
          </a:p>
          <a:p>
            <a:pPr algn="ctr" indent="0" marL="0">
              <a:buNone/>
            </a:pPr>
            <a:r>
              <a:rPr lang="en-US" sz="1300" b="1" dirty="0">
                <a:solidFill>
                  <a:srgbClr val="1B2A4A"/>
                </a:solidFill>
                <a:latin typeface="Calibri" pitchFamily="34" charset="0"/>
                <a:ea typeface="Calibri" pitchFamily="34" charset="-122"/>
                <a:cs typeface="Calibri" pitchFamily="34" charset="-120"/>
              </a:rPr>
              <a:t>Containment &amp; Recovery</a:t>
            </a:r>
            <a:endParaRPr lang="en-US" sz="1500" dirty="0"/>
          </a:p>
        </p:txBody>
      </p:sp>
      <p:sp>
        <p:nvSpPr>
          <p:cNvPr id="80" name="Text 63"/>
          <p:cNvSpPr txBox="1"/>
          <p:nvPr/>
        </p:nvSpPr>
        <p:spPr>
          <a:xfrm>
            <a:off x="10445877" y="2671318"/>
            <a:ext cx="1130427" cy="1744218"/>
          </a:xfrm>
          <a:prstGeom prst="rect">
            <a:avLst/>
          </a:prstGeom>
          <a:noFill/>
          <a:ln/>
        </p:spPr>
        <p:txBody>
          <a:bodyPr wrap="square" lIns="0" tIns="0" rIns="0" bIns="0" rtlCol="0" anchor="t"/>
          <a:lstStyle/>
          <a:p>
            <a:pPr algn="ctr" indent="0" marL="0">
              <a:buNone/>
            </a:pPr>
            <a:r>
              <a:rPr lang="en-US" sz="1300" dirty="0">
                <a:solidFill>
                  <a:srgbClr val="1E2E3A"/>
                </a:solidFill>
                <a:latin typeface="Calibri" pitchFamily="34" charset="0"/>
                <a:ea typeface="Calibri" pitchFamily="34" charset="-122"/>
                <a:cs typeface="Calibri" pitchFamily="34" charset="-120"/>
              </a:rPr>
              <a:t>Revoke access, disable accounts, remove malicious configs, and begin recovery and validation.</a:t>
            </a:r>
            <a:endParaRPr lang="en-US" sz="1300" dirty="0"/>
          </a:p>
        </p:txBody>
      </p:sp>
      <p:sp>
        <p:nvSpPr>
          <p:cNvPr id="81" name="Shape 64"/>
          <p:cNvSpPr/>
          <p:nvPr/>
        </p:nvSpPr>
        <p:spPr>
          <a:xfrm>
            <a:off x="10381869" y="4744720"/>
            <a:ext cx="1258443" cy="1262888"/>
          </a:xfrm>
          <a:prstGeom prst="roundRect">
            <a:avLst>
              <a:gd name="adj" fmla="val 10173"/>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82" name="Shape 65"/>
          <p:cNvSpPr/>
          <p:nvPr/>
        </p:nvSpPr>
        <p:spPr>
          <a:xfrm>
            <a:off x="10864787" y="4817872"/>
            <a:ext cx="292608" cy="292608"/>
          </a:xfrm>
          <a:prstGeom prst="ellipse">
            <a:avLst/>
          </a:prstGeom>
          <a:solidFill>
            <a:srgbClr val="BD8C7B"/>
          </a:solidFill>
          <a:ln w="12700">
            <a:solidFill>
              <a:srgbClr val="BD8C7B"/>
            </a:solidFill>
            <a:prstDash val="solid"/>
          </a:ln>
        </p:spPr>
      </p:sp>
      <p:pic>
        <p:nvPicPr>
          <p:cNvPr id="83" name="Image 15" descr="preencoded.png">    </p:cNvPr>
          <p:cNvPicPr>
            <a:picLocks noChangeAspect="1"/>
          </p:cNvPicPr>
          <p:nvPr/>
        </p:nvPicPr>
        <p:blipFill>
          <a:blip r:embed="rId16"/>
          <a:stretch>
            <a:fillRect/>
          </a:stretch>
        </p:blipFill>
        <p:spPr>
          <a:xfrm>
            <a:off x="10937939" y="4891024"/>
            <a:ext cx="146304" cy="146304"/>
          </a:xfrm>
          <a:prstGeom prst="rect">
            <a:avLst/>
          </a:prstGeom>
        </p:spPr>
      </p:pic>
      <p:sp>
        <p:nvSpPr>
          <p:cNvPr id="84" name="Text 66"/>
          <p:cNvSpPr txBox="1"/>
          <p:nvPr/>
        </p:nvSpPr>
        <p:spPr>
          <a:xfrm>
            <a:off x="10427589" y="5147056"/>
            <a:ext cx="1167003" cy="842264"/>
          </a:xfrm>
          <a:prstGeom prst="rect">
            <a:avLst/>
          </a:prstGeom>
          <a:noFill/>
          <a:ln/>
        </p:spPr>
        <p:txBody>
          <a:bodyPr wrap="square" lIns="0" tIns="0" rIns="0" bIns="0" rtlCol="0" anchor="t"/>
          <a:lstStyle/>
          <a:p>
            <a:pPr algn="ctr" indent="0" marL="0">
              <a:buNone/>
            </a:pPr>
            <a:r>
              <a:rPr lang="en-US" sz="1300" b="1" dirty="0">
                <a:solidFill>
                  <a:srgbClr val="1B2A4A"/>
                </a:solidFill>
                <a:latin typeface="Calibri" pitchFamily="34" charset="0"/>
                <a:ea typeface="Calibri" pitchFamily="34" charset="-122"/>
                <a:cs typeface="Calibri" pitchFamily="34" charset="-120"/>
              </a:rPr>
              <a:t>DR</a:t>
            </a:r>
            <a:endParaRPr lang="en-US" sz="1300" dirty="0"/>
          </a:p>
          <a:p>
            <a:pPr algn="ctr" indent="0" marL="0">
              <a:buNone/>
            </a:pPr>
            <a:r>
              <a:rPr lang="en-US" sz="1300" dirty="0">
                <a:solidFill>
                  <a:srgbClr val="1E2E3A"/>
                </a:solidFill>
                <a:latin typeface="Calibri" pitchFamily="34" charset="0"/>
                <a:ea typeface="Calibri" pitchFamily="34" charset="-122"/>
                <a:cs typeface="Calibri" pitchFamily="34" charset="-120"/>
              </a:rPr>
              <a:t>Recovery &amp; Validation</a:t>
            </a:r>
            <a:endParaRPr lang="en-US" sz="1300" dirty="0"/>
          </a:p>
        </p:txBody>
      </p:sp>
      <p:sp>
        <p:nvSpPr>
          <p:cNvPr id="85" name="Text 67"/>
          <p:cNvSpPr txBox="1"/>
          <p:nvPr/>
        </p:nvSpPr>
        <p:spPr>
          <a:xfrm>
            <a:off x="548640" y="6035040"/>
            <a:ext cx="11091672" cy="475488"/>
          </a:xfrm>
          <a:prstGeom prst="rect">
            <a:avLst/>
          </a:prstGeom>
          <a:noFill/>
          <a:ln/>
        </p:spPr>
        <p:txBody>
          <a:bodyPr wrap="square" lIns="0" tIns="0" rIns="0" bIns="0" rtlCol="0" anchor="ctr"/>
          <a:lstStyle/>
          <a:p>
            <a:pPr indent="0" marL="0">
              <a:buNone/>
            </a:pPr>
            <a:r>
              <a:rPr lang="en-US" sz="1200" b="1" dirty="0">
                <a:solidFill>
                  <a:srgbClr val="465A69"/>
                </a:solidFill>
                <a:latin typeface="Calibri" pitchFamily="34" charset="0"/>
                <a:ea typeface="Calibri" pitchFamily="34" charset="-122"/>
                <a:cs typeface="Calibri" pitchFamily="34" charset="-120"/>
              </a:rPr>
              <a:t>Acronyms:  </a:t>
            </a:r>
            <a:pPr indent="0" marL="0">
              <a:buNone/>
            </a:pPr>
            <a:r>
              <a:rPr lang="en-US" sz="1200" dirty="0">
                <a:solidFill>
                  <a:srgbClr val="465A69"/>
                </a:solidFill>
                <a:latin typeface="Calibri" pitchFamily="34" charset="0"/>
                <a:ea typeface="Calibri" pitchFamily="34" charset="-122"/>
                <a:cs typeface="Calibri" pitchFamily="34" charset="-120"/>
              </a:rPr>
              <a:t>T+: time since the first signal;  IR: Incident Response;  DR: Disaster Recovery;  BC: Business Continuity;  M365: Microsoft 365;  SaaS: software as a service;  MFA: multi-factor authentication;  OAuth: Open Authorization;  Mgmt: Management</a:t>
            </a:r>
            <a:endParaRPr lang="en-US" sz="1200" dirty="0"/>
          </a:p>
        </p:txBody>
      </p:sp>
      <p:sp>
        <p:nvSpPr>
          <p:cNvPr id="86" name="Shape 68"/>
          <p:cNvSpPr/>
          <p:nvPr/>
        </p:nvSpPr>
        <p:spPr>
          <a:xfrm>
            <a:off x="548640" y="6537960"/>
            <a:ext cx="763524" cy="274320"/>
          </a:xfrm>
          <a:prstGeom prst="roundRect">
            <a:avLst>
              <a:gd name="adj" fmla="val 50000"/>
            </a:avLst>
          </a:prstGeom>
          <a:solidFill>
            <a:srgbClr val="E4ECF2"/>
          </a:solidFill>
          <a:ln w="12700">
            <a:solidFill>
              <a:srgbClr val="E4ECF2"/>
            </a:solidFill>
            <a:prstDash val="solid"/>
          </a:ln>
        </p:spPr>
      </p:sp>
      <p:sp>
        <p:nvSpPr>
          <p:cNvPr id="87" name="Text 69"/>
          <p:cNvSpPr txBox="1"/>
          <p:nvPr/>
        </p:nvSpPr>
        <p:spPr>
          <a:xfrm>
            <a:off x="548640" y="6537960"/>
            <a:ext cx="763524" cy="274320"/>
          </a:xfrm>
          <a:prstGeom prst="rect">
            <a:avLst/>
          </a:prstGeom>
          <a:noFill/>
          <a:ln/>
        </p:spPr>
        <p:txBody>
          <a:bodyPr wrap="square" lIns="0" tIns="0" rIns="0" bIns="0" rtlCol="0" anchor="ctr"/>
          <a:lstStyle/>
          <a:p>
            <a:pPr algn="ctr" indent="0" marL="0">
              <a:buNone/>
            </a:pPr>
            <a:r>
              <a:rPr lang="en-US" sz="1200" b="1" dirty="0">
                <a:solidFill>
                  <a:srgbClr val="23405A"/>
                </a:solidFill>
                <a:latin typeface="Calibri" pitchFamily="34" charset="0"/>
                <a:ea typeface="Calibri" pitchFamily="34" charset="-122"/>
                <a:cs typeface="Calibri" pitchFamily="34" charset="-120"/>
              </a:rPr>
              <a:t>Start</a:t>
            </a:r>
            <a:endParaRPr lang="en-US" sz="1200" dirty="0"/>
          </a:p>
        </p:txBody>
      </p:sp>
      <p:pic>
        <p:nvPicPr>
          <p:cNvPr id="88" name="Image 16" descr="preencoded.png">
            <a:hlinkClick r:id="rId18" tooltip="Go to Start" action="ppaction://hlinksldjump"/>
          </p:cNvPr>
          <p:cNvPicPr>
            <a:picLocks noChangeAspect="1"/>
          </p:cNvPicPr>
          <p:nvPr/>
        </p:nvPicPr>
        <p:blipFill>
          <a:blip r:embed="rId17"/>
          <a:stretch>
            <a:fillRect/>
          </a:stretch>
        </p:blipFill>
        <p:spPr>
          <a:xfrm>
            <a:off x="548640" y="6537960"/>
            <a:ext cx="763524" cy="274320"/>
          </a:xfrm>
          <a:prstGeom prst="rect">
            <a:avLst/>
          </a:prstGeom>
        </p:spPr>
      </p:pic>
      <p:sp>
        <p:nvSpPr>
          <p:cNvPr id="89" name="Shape 70"/>
          <p:cNvSpPr/>
          <p:nvPr/>
        </p:nvSpPr>
        <p:spPr>
          <a:xfrm>
            <a:off x="1385316" y="6537960"/>
            <a:ext cx="1197864" cy="274320"/>
          </a:xfrm>
          <a:prstGeom prst="roundRect">
            <a:avLst>
              <a:gd name="adj" fmla="val 50000"/>
            </a:avLst>
          </a:prstGeom>
          <a:solidFill>
            <a:srgbClr val="3F6E8C"/>
          </a:solidFill>
          <a:ln w="12700">
            <a:solidFill>
              <a:srgbClr val="3F6E8C"/>
            </a:solidFill>
            <a:prstDash val="solid"/>
          </a:ln>
        </p:spPr>
      </p:sp>
      <p:sp>
        <p:nvSpPr>
          <p:cNvPr id="90" name="Text 71"/>
          <p:cNvSpPr txBox="1"/>
          <p:nvPr/>
        </p:nvSpPr>
        <p:spPr>
          <a:xfrm>
            <a:off x="1385316" y="6537960"/>
            <a:ext cx="1197864"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Scenario 1</a:t>
            </a:r>
            <a:endParaRPr lang="en-US" sz="1200" dirty="0"/>
          </a:p>
        </p:txBody>
      </p:sp>
      <p:pic>
        <p:nvPicPr>
          <p:cNvPr id="91" name="Image 17" descr="preencoded.png">
            <a:hlinkClick r:id="rId20" tooltip="Go to Scenario 1" action="ppaction://hlinksldjump"/>
          </p:cNvPr>
          <p:cNvPicPr>
            <a:picLocks noChangeAspect="1"/>
          </p:cNvPicPr>
          <p:nvPr/>
        </p:nvPicPr>
        <p:blipFill>
          <a:blip r:embed="rId19"/>
          <a:stretch>
            <a:fillRect/>
          </a:stretch>
        </p:blipFill>
        <p:spPr>
          <a:xfrm>
            <a:off x="1385316" y="6537960"/>
            <a:ext cx="1197864" cy="274320"/>
          </a:xfrm>
          <a:prstGeom prst="rect">
            <a:avLst/>
          </a:prstGeom>
        </p:spPr>
      </p:pic>
      <p:sp>
        <p:nvSpPr>
          <p:cNvPr id="92" name="Shape 72"/>
          <p:cNvSpPr/>
          <p:nvPr/>
        </p:nvSpPr>
        <p:spPr>
          <a:xfrm>
            <a:off x="2656332" y="6537960"/>
            <a:ext cx="1197864" cy="274320"/>
          </a:xfrm>
          <a:prstGeom prst="roundRect">
            <a:avLst>
              <a:gd name="adj" fmla="val 50000"/>
            </a:avLst>
          </a:prstGeom>
          <a:solidFill>
            <a:srgbClr val="F1F8F3"/>
          </a:solidFill>
          <a:ln w="12700">
            <a:solidFill>
              <a:srgbClr val="F1F8F3"/>
            </a:solidFill>
            <a:prstDash val="solid"/>
          </a:ln>
        </p:spPr>
      </p:sp>
      <p:sp>
        <p:nvSpPr>
          <p:cNvPr id="93" name="Text 73"/>
          <p:cNvSpPr txBox="1"/>
          <p:nvPr/>
        </p:nvSpPr>
        <p:spPr>
          <a:xfrm>
            <a:off x="2656332" y="6537960"/>
            <a:ext cx="1197864" cy="274320"/>
          </a:xfrm>
          <a:prstGeom prst="rect">
            <a:avLst/>
          </a:prstGeom>
          <a:noFill/>
          <a:ln/>
        </p:spPr>
        <p:txBody>
          <a:bodyPr wrap="square" lIns="0" tIns="0" rIns="0" bIns="0" rtlCol="0" anchor="ctr"/>
          <a:lstStyle/>
          <a:p>
            <a:pPr algn="ctr" indent="0" marL="0">
              <a:buNone/>
            </a:pPr>
            <a:r>
              <a:rPr lang="en-US" sz="1200" b="1" dirty="0">
                <a:solidFill>
                  <a:srgbClr val="4C8068"/>
                </a:solidFill>
                <a:latin typeface="Calibri" pitchFamily="34" charset="0"/>
                <a:ea typeface="Calibri" pitchFamily="34" charset="-122"/>
                <a:cs typeface="Calibri" pitchFamily="34" charset="-120"/>
              </a:rPr>
              <a:t>Scenario 2</a:t>
            </a:r>
            <a:endParaRPr lang="en-US" sz="1200" dirty="0"/>
          </a:p>
        </p:txBody>
      </p:sp>
      <p:pic>
        <p:nvPicPr>
          <p:cNvPr id="94" name="Image 18" descr="preencoded.png">
            <a:hlinkClick r:id="rId22" tooltip="Go to Scenario 2" action="ppaction://hlinksldjump"/>
          </p:cNvPr>
          <p:cNvPicPr>
            <a:picLocks noChangeAspect="1"/>
          </p:cNvPicPr>
          <p:nvPr/>
        </p:nvPicPr>
        <p:blipFill>
          <a:blip r:embed="rId21"/>
          <a:stretch>
            <a:fillRect/>
          </a:stretch>
        </p:blipFill>
        <p:spPr>
          <a:xfrm>
            <a:off x="2656332" y="6537960"/>
            <a:ext cx="1197864" cy="274320"/>
          </a:xfrm>
          <a:prstGeom prst="rect">
            <a:avLst/>
          </a:prstGeom>
        </p:spPr>
      </p:pic>
      <p:sp>
        <p:nvSpPr>
          <p:cNvPr id="95" name="Shape 74"/>
          <p:cNvSpPr/>
          <p:nvPr/>
        </p:nvSpPr>
        <p:spPr>
          <a:xfrm>
            <a:off x="3927348" y="6537960"/>
            <a:ext cx="1197864" cy="274320"/>
          </a:xfrm>
          <a:prstGeom prst="roundRect">
            <a:avLst>
              <a:gd name="adj" fmla="val 50000"/>
            </a:avLst>
          </a:prstGeom>
          <a:solidFill>
            <a:srgbClr val="F6F3FA"/>
          </a:solidFill>
          <a:ln w="12700">
            <a:solidFill>
              <a:srgbClr val="F6F3FA"/>
            </a:solidFill>
            <a:prstDash val="solid"/>
          </a:ln>
        </p:spPr>
      </p:sp>
      <p:sp>
        <p:nvSpPr>
          <p:cNvPr id="96" name="Text 75"/>
          <p:cNvSpPr txBox="1"/>
          <p:nvPr/>
        </p:nvSpPr>
        <p:spPr>
          <a:xfrm>
            <a:off x="3927348" y="6537960"/>
            <a:ext cx="1197864" cy="274320"/>
          </a:xfrm>
          <a:prstGeom prst="rect">
            <a:avLst/>
          </a:prstGeom>
          <a:noFill/>
          <a:ln/>
        </p:spPr>
        <p:txBody>
          <a:bodyPr wrap="square" lIns="0" tIns="0" rIns="0" bIns="0" rtlCol="0" anchor="ctr"/>
          <a:lstStyle/>
          <a:p>
            <a:pPr algn="ctr" indent="0" marL="0">
              <a:buNone/>
            </a:pPr>
            <a:r>
              <a:rPr lang="en-US" sz="1200" b="1" dirty="0">
                <a:solidFill>
                  <a:srgbClr val="6E5E94"/>
                </a:solidFill>
                <a:latin typeface="Calibri" pitchFamily="34" charset="0"/>
                <a:ea typeface="Calibri" pitchFamily="34" charset="-122"/>
                <a:cs typeface="Calibri" pitchFamily="34" charset="-120"/>
              </a:rPr>
              <a:t>Scenario 3</a:t>
            </a:r>
            <a:endParaRPr lang="en-US" sz="1200" dirty="0"/>
          </a:p>
        </p:txBody>
      </p:sp>
      <p:pic>
        <p:nvPicPr>
          <p:cNvPr id="97" name="Image 19" descr="preencoded.png">
            <a:hlinkClick r:id="rId24" tooltip="Go to Scenario 3" action="ppaction://hlinksldjump"/>
          </p:cNvPr>
          <p:cNvPicPr>
            <a:picLocks noChangeAspect="1"/>
          </p:cNvPicPr>
          <p:nvPr/>
        </p:nvPicPr>
        <p:blipFill>
          <a:blip r:embed="rId23"/>
          <a:stretch>
            <a:fillRect/>
          </a:stretch>
        </p:blipFill>
        <p:spPr>
          <a:xfrm>
            <a:off x="3927348" y="6537960"/>
            <a:ext cx="1197864" cy="274320"/>
          </a:xfrm>
          <a:prstGeom prst="rect">
            <a:avLst/>
          </a:prstGeom>
        </p:spPr>
      </p:pic>
      <p:sp>
        <p:nvSpPr>
          <p:cNvPr id="98" name="Shape 76"/>
          <p:cNvSpPr/>
          <p:nvPr/>
        </p:nvSpPr>
        <p:spPr>
          <a:xfrm>
            <a:off x="5198364" y="6537960"/>
            <a:ext cx="937260" cy="274320"/>
          </a:xfrm>
          <a:prstGeom prst="roundRect">
            <a:avLst>
              <a:gd name="adj" fmla="val 50000"/>
            </a:avLst>
          </a:prstGeom>
          <a:solidFill>
            <a:srgbClr val="E4ECF2"/>
          </a:solidFill>
          <a:ln w="12700">
            <a:solidFill>
              <a:srgbClr val="E4ECF2"/>
            </a:solidFill>
            <a:prstDash val="solid"/>
          </a:ln>
        </p:spPr>
      </p:sp>
      <p:sp>
        <p:nvSpPr>
          <p:cNvPr id="99" name="Text 77"/>
          <p:cNvSpPr txBox="1"/>
          <p:nvPr/>
        </p:nvSpPr>
        <p:spPr>
          <a:xfrm>
            <a:off x="5198364" y="6537960"/>
            <a:ext cx="937260" cy="274320"/>
          </a:xfrm>
          <a:prstGeom prst="rect">
            <a:avLst/>
          </a:prstGeom>
          <a:noFill/>
          <a:ln/>
        </p:spPr>
        <p:txBody>
          <a:bodyPr wrap="square" lIns="0" tIns="0" rIns="0" bIns="0" rtlCol="0" anchor="ctr"/>
          <a:lstStyle/>
          <a:p>
            <a:pPr algn="ctr" indent="0" marL="0">
              <a:buNone/>
            </a:pPr>
            <a:r>
              <a:rPr lang="en-US" sz="1200" b="1" dirty="0">
                <a:solidFill>
                  <a:srgbClr val="23405A"/>
                </a:solidFill>
                <a:latin typeface="Calibri" pitchFamily="34" charset="0"/>
                <a:ea typeface="Calibri" pitchFamily="34" charset="-122"/>
                <a:cs typeface="Calibri" pitchFamily="34" charset="-120"/>
              </a:rPr>
              <a:t>Closing</a:t>
            </a:r>
            <a:endParaRPr lang="en-US" sz="1200" dirty="0"/>
          </a:p>
        </p:txBody>
      </p:sp>
      <p:pic>
        <p:nvPicPr>
          <p:cNvPr id="100" name="Image 20" descr="preencoded.png">
            <a:hlinkClick r:id="rId26" tooltip="Go to Closing" action="ppaction://hlinksldjump"/>
          </p:cNvPr>
          <p:cNvPicPr>
            <a:picLocks noChangeAspect="1"/>
          </p:cNvPicPr>
          <p:nvPr/>
        </p:nvPicPr>
        <p:blipFill>
          <a:blip r:embed="rId25"/>
          <a:stretch>
            <a:fillRect/>
          </a:stretch>
        </p:blipFill>
        <p:spPr>
          <a:xfrm>
            <a:off x="5198364" y="6537960"/>
            <a:ext cx="937260" cy="274320"/>
          </a:xfrm>
          <a:prstGeom prst="rect">
            <a:avLst/>
          </a:prstGeom>
        </p:spPr>
      </p:pic>
      <p:sp>
        <p:nvSpPr>
          <p:cNvPr id="101" name="Text 78"/>
          <p:cNvSpPr txBox="1"/>
          <p:nvPr/>
        </p:nvSpPr>
        <p:spPr>
          <a:xfrm>
            <a:off x="11277295" y="6537960"/>
            <a:ext cx="365760" cy="274320"/>
          </a:xfrm>
          <a:prstGeom prst="rect">
            <a:avLst/>
          </a:prstGeom>
          <a:noFill/>
          <a:ln/>
        </p:spPr>
        <p:txBody>
          <a:bodyPr wrap="square" lIns="0" tIns="0" rIns="0" bIns="0" rtlCol="0" anchor="ctr"/>
          <a:lstStyle/>
          <a:p>
            <a:pPr algn="r" indent="0" marL="0">
              <a:buNone/>
            </a:pPr>
            <a:r>
              <a:rPr lang="en-US" sz="1200" dirty="0">
                <a:solidFill>
                  <a:srgbClr val="465A69"/>
                </a:solidFill>
                <a:latin typeface="Calibri" pitchFamily="34" charset="0"/>
                <a:ea typeface="Calibri" pitchFamily="34" charset="-122"/>
                <a:cs typeface="Calibri" pitchFamily="34"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E6EEF6"/>
        </a:solidFill>
      </p:bgPr>
    </p:bg>
    <p:spTree>
      <p:nvGrpSpPr>
        <p:cNvPr id="1" name=""/>
        <p:cNvGrpSpPr/>
        <p:nvPr/>
      </p:nvGrpSpPr>
      <p:grpSpPr>
        <a:xfrm>
          <a:off x="0" y="0"/>
          <a:ext cx="0" cy="0"/>
          <a:chOff x="0" y="0"/>
          <a:chExt cx="0" cy="0"/>
        </a:xfrm>
      </p:grpSpPr>
      <p:sp>
        <p:nvSpPr>
          <p:cNvPr id="2" name="Shape 0"/>
          <p:cNvSpPr/>
          <p:nvPr/>
        </p:nvSpPr>
        <p:spPr>
          <a:xfrm>
            <a:off x="548640" y="347472"/>
            <a:ext cx="2843784" cy="329184"/>
          </a:xfrm>
          <a:prstGeom prst="roundRect">
            <a:avLst>
              <a:gd name="adj" fmla="val 50000"/>
            </a:avLst>
          </a:prstGeom>
          <a:solidFill>
            <a:srgbClr val="F1F6FA"/>
          </a:solidFill>
          <a:ln w="12700">
            <a:solidFill>
              <a:srgbClr val="F1F6FA"/>
            </a:solidFill>
            <a:prstDash val="solid"/>
          </a:ln>
        </p:spPr>
      </p:sp>
      <p:sp>
        <p:nvSpPr>
          <p:cNvPr id="3" name="Text 1"/>
          <p:cNvSpPr txBox="1"/>
          <p:nvPr/>
        </p:nvSpPr>
        <p:spPr>
          <a:xfrm>
            <a:off x="548640" y="347472"/>
            <a:ext cx="2843784" cy="329184"/>
          </a:xfrm>
          <a:prstGeom prst="rect">
            <a:avLst/>
          </a:prstGeom>
          <a:noFill/>
          <a:ln/>
        </p:spPr>
        <p:txBody>
          <a:bodyPr wrap="square" lIns="0" tIns="0" rIns="0" bIns="0" rtlCol="0" anchor="ctr"/>
          <a:lstStyle/>
          <a:p>
            <a:pPr algn="ctr" indent="0" marL="0">
              <a:buNone/>
            </a:pPr>
            <a:r>
              <a:rPr lang="en-US" sz="1200" b="1" dirty="0">
                <a:solidFill>
                  <a:srgbClr val="3F6E8C"/>
                </a:solidFill>
                <a:latin typeface="Calibri" pitchFamily="34" charset="0"/>
                <a:ea typeface="Calibri" pitchFamily="34" charset="-122"/>
                <a:cs typeface="Calibri" pitchFamily="34" charset="-120"/>
              </a:rPr>
              <a:t>Scenario 1 recap, part 2 of 4</a:t>
            </a:r>
            <a:endParaRPr lang="en-US" sz="1200" dirty="0"/>
          </a:p>
        </p:txBody>
      </p:sp>
      <p:sp>
        <p:nvSpPr>
          <p:cNvPr id="4" name="Text 2"/>
          <p:cNvSpPr txBox="1"/>
          <p:nvPr/>
        </p:nvSpPr>
        <p:spPr>
          <a:xfrm>
            <a:off x="548640" y="749808"/>
            <a:ext cx="11064240" cy="548640"/>
          </a:xfrm>
          <a:prstGeom prst="rect">
            <a:avLst/>
          </a:prstGeom>
          <a:noFill/>
          <a:ln/>
        </p:spPr>
        <p:txBody>
          <a:bodyPr wrap="square" lIns="0" tIns="0" rIns="0" bIns="0" rtlCol="0" anchor="ctr"/>
          <a:lstStyle/>
          <a:p>
            <a:pPr indent="0" marL="0">
              <a:buNone/>
            </a:pPr>
            <a:r>
              <a:rPr lang="en-US" sz="2400" b="1" dirty="0">
                <a:solidFill>
                  <a:srgbClr val="1B2A4A"/>
                </a:solidFill>
                <a:latin typeface="Cambria" pitchFamily="34" charset="0"/>
                <a:ea typeface="Cambria" pitchFamily="34" charset="-122"/>
                <a:cs typeface="Cambria" pitchFamily="34" charset="-120"/>
              </a:rPr>
              <a:t>Key questions at each stage</a:t>
            </a:r>
            <a:endParaRPr lang="en-US" sz="2400" dirty="0"/>
          </a:p>
        </p:txBody>
      </p:sp>
      <p:sp>
        <p:nvSpPr>
          <p:cNvPr id="5" name="Shape 3"/>
          <p:cNvSpPr/>
          <p:nvPr/>
        </p:nvSpPr>
        <p:spPr>
          <a:xfrm>
            <a:off x="548640" y="1508760"/>
            <a:ext cx="2567178" cy="3931920"/>
          </a:xfrm>
          <a:prstGeom prst="roundRect">
            <a:avLst>
              <a:gd name="adj" fmla="val 4987"/>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6" name="Shape 4"/>
          <p:cNvSpPr/>
          <p:nvPr/>
        </p:nvSpPr>
        <p:spPr>
          <a:xfrm>
            <a:off x="548640" y="1508760"/>
            <a:ext cx="2567178" cy="914400"/>
          </a:xfrm>
          <a:prstGeom prst="roundRect">
            <a:avLst>
              <a:gd name="adj" fmla="val 14000"/>
            </a:avLst>
          </a:prstGeom>
          <a:solidFill>
            <a:srgbClr val="E3ECF5"/>
          </a:solidFill>
          <a:ln w="12700">
            <a:solidFill>
              <a:srgbClr val="E3ECF5"/>
            </a:solidFill>
            <a:prstDash val="solid"/>
          </a:ln>
        </p:spPr>
      </p:sp>
      <p:sp>
        <p:nvSpPr>
          <p:cNvPr id="7" name="Shape 5"/>
          <p:cNvSpPr/>
          <p:nvPr/>
        </p:nvSpPr>
        <p:spPr>
          <a:xfrm>
            <a:off x="731520" y="1737360"/>
            <a:ext cx="457200" cy="457200"/>
          </a:xfrm>
          <a:prstGeom prst="ellipse">
            <a:avLst/>
          </a:prstGeom>
          <a:solidFill>
            <a:srgbClr val="6F93B3"/>
          </a:solidFill>
          <a:ln w="12700">
            <a:solidFill>
              <a:srgbClr val="6F93B3"/>
            </a:solidFill>
            <a:prstDash val="solid"/>
          </a:ln>
        </p:spPr>
      </p:sp>
      <p:pic>
        <p:nvPicPr>
          <p:cNvPr id="8" name="Image 0" descr="preencoded.png">    </p:cNvPr>
          <p:cNvPicPr>
            <a:picLocks noChangeAspect="1"/>
          </p:cNvPicPr>
          <p:nvPr/>
        </p:nvPicPr>
        <p:blipFill>
          <a:blip r:embed="rId1"/>
          <a:stretch>
            <a:fillRect/>
          </a:stretch>
        </p:blipFill>
        <p:spPr>
          <a:xfrm>
            <a:off x="850392" y="1856232"/>
            <a:ext cx="219456" cy="219456"/>
          </a:xfrm>
          <a:prstGeom prst="rect">
            <a:avLst/>
          </a:prstGeom>
        </p:spPr>
      </p:pic>
      <p:sp>
        <p:nvSpPr>
          <p:cNvPr id="9" name="Text 6"/>
          <p:cNvSpPr txBox="1"/>
          <p:nvPr/>
        </p:nvSpPr>
        <p:spPr>
          <a:xfrm>
            <a:off x="1325880" y="1600200"/>
            <a:ext cx="1698498" cy="749808"/>
          </a:xfrm>
          <a:prstGeom prst="rect">
            <a:avLst/>
          </a:prstGeom>
          <a:noFill/>
          <a:ln/>
        </p:spPr>
        <p:txBody>
          <a:bodyPr wrap="square" lIns="0" tIns="0" rIns="0" bIns="0" rtlCol="0" anchor="ctr"/>
          <a:lstStyle/>
          <a:p>
            <a:pPr indent="0" marL="0">
              <a:buNone/>
            </a:pPr>
            <a:r>
              <a:rPr lang="en-US" sz="1500" b="1" dirty="0">
                <a:solidFill>
                  <a:srgbClr val="1B2A4A"/>
                </a:solidFill>
                <a:latin typeface="Calibri" pitchFamily="34" charset="0"/>
                <a:ea typeface="Calibri" pitchFamily="34" charset="-122"/>
                <a:cs typeface="Calibri" pitchFamily="34" charset="-120"/>
              </a:rPr>
              <a:t>T+0</a:t>
            </a:r>
            <a:endParaRPr lang="en-US" sz="1500" dirty="0"/>
          </a:p>
          <a:p>
            <a:pPr indent="0" marL="0">
              <a:buNone/>
            </a:pPr>
            <a:r>
              <a:rPr lang="en-US" sz="1250" b="1" dirty="0">
                <a:solidFill>
                  <a:srgbClr val="1B2A4A"/>
                </a:solidFill>
                <a:latin typeface="Calibri" pitchFamily="34" charset="0"/>
                <a:ea typeface="Calibri" pitchFamily="34" charset="-122"/>
                <a:cs typeface="Calibri" pitchFamily="34" charset="-120"/>
              </a:rPr>
              <a:t>Initial Signal</a:t>
            </a:r>
            <a:endParaRPr lang="en-US" sz="1500" dirty="0"/>
          </a:p>
        </p:txBody>
      </p:sp>
      <p:sp>
        <p:nvSpPr>
          <p:cNvPr id="10" name="Text 7"/>
          <p:cNvSpPr txBox="1"/>
          <p:nvPr/>
        </p:nvSpPr>
        <p:spPr>
          <a:xfrm>
            <a:off x="777240" y="2651760"/>
            <a:ext cx="2155698" cy="3154680"/>
          </a:xfrm>
          <a:prstGeom prst="rect">
            <a:avLst/>
          </a:prstGeom>
          <a:noFill/>
          <a:ln/>
        </p:spPr>
        <p:txBody>
          <a:bodyPr wrap="square" lIns="0" tIns="0" rIns="0" bIns="0" rtlCol="0" anchor="t"/>
          <a:lstStyle/>
          <a:p>
            <a:pPr marL="165100" indent="-165100">
              <a:spcAft>
                <a:spcPts val="1000"/>
              </a:spcAft>
              <a:buSzPct val="100000"/>
              <a:buChar char="•"/>
            </a:pPr>
            <a:r>
              <a:rPr lang="en-US" sz="1400" dirty="0">
                <a:solidFill>
                  <a:srgbClr val="1E2E3A"/>
                </a:solidFill>
                <a:latin typeface="Calibri" pitchFamily="34" charset="0"/>
                <a:ea typeface="Calibri" pitchFamily="34" charset="-122"/>
                <a:cs typeface="Calibri" pitchFamily="34" charset="-120"/>
              </a:rPr>
              <a:t>Do we trust this email?</a:t>
            </a:r>
            <a:endParaRPr lang="en-US" sz="1400" dirty="0"/>
          </a:p>
          <a:p>
            <a:pPr marL="165100" indent="-165100">
              <a:spcAft>
                <a:spcPts val="1000"/>
              </a:spcAft>
              <a:buSzPct val="100000"/>
              <a:buChar char="•"/>
            </a:pPr>
            <a:r>
              <a:rPr lang="en-US" sz="1400" dirty="0">
                <a:solidFill>
                  <a:srgbClr val="1E2E3A"/>
                </a:solidFill>
                <a:latin typeface="Calibri" pitchFamily="34" charset="0"/>
                <a:ea typeface="Calibri" pitchFamily="34" charset="-122"/>
                <a:cs typeface="Calibri" pitchFamily="34" charset="-120"/>
              </a:rPr>
              <a:t>What indicators do we have?</a:t>
            </a:r>
            <a:endParaRPr lang="en-US" sz="1400" dirty="0"/>
          </a:p>
          <a:p>
            <a:pPr marL="165100" indent="-165100">
              <a:spcAft>
                <a:spcPts val="1000"/>
              </a:spcAft>
              <a:buSzPct val="100000"/>
              <a:buChar char="•"/>
            </a:pPr>
            <a:r>
              <a:rPr lang="en-US" sz="1400" dirty="0">
                <a:solidFill>
                  <a:srgbClr val="1E2E3A"/>
                </a:solidFill>
                <a:latin typeface="Calibri" pitchFamily="34" charset="0"/>
                <a:ea typeface="Calibri" pitchFamily="34" charset="-122"/>
                <a:cs typeface="Calibri" pitchFamily="34" charset="-120"/>
              </a:rPr>
              <a:t>What communications should go out to employees?</a:t>
            </a:r>
            <a:endParaRPr lang="en-US" sz="1400" dirty="0"/>
          </a:p>
        </p:txBody>
      </p:sp>
      <p:sp>
        <p:nvSpPr>
          <p:cNvPr id="11" name="Shape 8"/>
          <p:cNvSpPr/>
          <p:nvPr/>
        </p:nvSpPr>
        <p:spPr>
          <a:xfrm>
            <a:off x="3390138" y="1508760"/>
            <a:ext cx="2567178" cy="3931920"/>
          </a:xfrm>
          <a:prstGeom prst="roundRect">
            <a:avLst>
              <a:gd name="adj" fmla="val 4987"/>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12" name="Shape 9"/>
          <p:cNvSpPr/>
          <p:nvPr/>
        </p:nvSpPr>
        <p:spPr>
          <a:xfrm>
            <a:off x="3390138" y="1508760"/>
            <a:ext cx="2567178" cy="914400"/>
          </a:xfrm>
          <a:prstGeom prst="roundRect">
            <a:avLst>
              <a:gd name="adj" fmla="val 14000"/>
            </a:avLst>
          </a:prstGeom>
          <a:solidFill>
            <a:srgbClr val="E2F0EA"/>
          </a:solidFill>
          <a:ln w="12700">
            <a:solidFill>
              <a:srgbClr val="E2F0EA"/>
            </a:solidFill>
            <a:prstDash val="solid"/>
          </a:ln>
        </p:spPr>
      </p:sp>
      <p:sp>
        <p:nvSpPr>
          <p:cNvPr id="13" name="Shape 10"/>
          <p:cNvSpPr/>
          <p:nvPr/>
        </p:nvSpPr>
        <p:spPr>
          <a:xfrm>
            <a:off x="3573018" y="1737360"/>
            <a:ext cx="457200" cy="457200"/>
          </a:xfrm>
          <a:prstGeom prst="ellipse">
            <a:avLst/>
          </a:prstGeom>
          <a:solidFill>
            <a:srgbClr val="6FA394"/>
          </a:solidFill>
          <a:ln w="12700">
            <a:solidFill>
              <a:srgbClr val="6FA394"/>
            </a:solidFill>
            <a:prstDash val="solid"/>
          </a:ln>
        </p:spPr>
      </p:sp>
      <p:pic>
        <p:nvPicPr>
          <p:cNvPr id="14" name="Image 1" descr="preencoded.png">    </p:cNvPr>
          <p:cNvPicPr>
            <a:picLocks noChangeAspect="1"/>
          </p:cNvPicPr>
          <p:nvPr/>
        </p:nvPicPr>
        <p:blipFill>
          <a:blip r:embed="rId2"/>
          <a:stretch>
            <a:fillRect/>
          </a:stretch>
        </p:blipFill>
        <p:spPr>
          <a:xfrm>
            <a:off x="3691890" y="1856232"/>
            <a:ext cx="219456" cy="219456"/>
          </a:xfrm>
          <a:prstGeom prst="rect">
            <a:avLst/>
          </a:prstGeom>
        </p:spPr>
      </p:pic>
      <p:sp>
        <p:nvSpPr>
          <p:cNvPr id="15" name="Text 11"/>
          <p:cNvSpPr txBox="1"/>
          <p:nvPr/>
        </p:nvSpPr>
        <p:spPr>
          <a:xfrm>
            <a:off x="4167378" y="1600200"/>
            <a:ext cx="1698498" cy="749808"/>
          </a:xfrm>
          <a:prstGeom prst="rect">
            <a:avLst/>
          </a:prstGeom>
          <a:noFill/>
          <a:ln/>
        </p:spPr>
        <p:txBody>
          <a:bodyPr wrap="square" lIns="0" tIns="0" rIns="0" bIns="0" rtlCol="0" anchor="ctr"/>
          <a:lstStyle/>
          <a:p>
            <a:pPr indent="0" marL="0">
              <a:buNone/>
            </a:pPr>
            <a:r>
              <a:rPr lang="en-US" sz="1500" b="1" dirty="0">
                <a:solidFill>
                  <a:srgbClr val="1B2A4A"/>
                </a:solidFill>
                <a:latin typeface="Calibri" pitchFamily="34" charset="0"/>
                <a:ea typeface="Calibri" pitchFamily="34" charset="-122"/>
                <a:cs typeface="Calibri" pitchFamily="34" charset="-120"/>
              </a:rPr>
              <a:t>T+30m</a:t>
            </a:r>
            <a:endParaRPr lang="en-US" sz="1500" dirty="0"/>
          </a:p>
          <a:p>
            <a:pPr indent="0" marL="0">
              <a:buNone/>
            </a:pPr>
            <a:r>
              <a:rPr lang="en-US" sz="1250" b="1" dirty="0">
                <a:solidFill>
                  <a:srgbClr val="1B2A4A"/>
                </a:solidFill>
                <a:latin typeface="Calibri" pitchFamily="34" charset="0"/>
                <a:ea typeface="Calibri" pitchFamily="34" charset="-122"/>
                <a:cs typeface="Calibri" pitchFamily="34" charset="-120"/>
              </a:rPr>
              <a:t>Suspicious Activity</a:t>
            </a:r>
            <a:endParaRPr lang="en-US" sz="1500" dirty="0"/>
          </a:p>
        </p:txBody>
      </p:sp>
      <p:sp>
        <p:nvSpPr>
          <p:cNvPr id="16" name="Text 12"/>
          <p:cNvSpPr txBox="1"/>
          <p:nvPr/>
        </p:nvSpPr>
        <p:spPr>
          <a:xfrm>
            <a:off x="3618738" y="2651760"/>
            <a:ext cx="2155698" cy="3154680"/>
          </a:xfrm>
          <a:prstGeom prst="rect">
            <a:avLst/>
          </a:prstGeom>
          <a:noFill/>
          <a:ln/>
        </p:spPr>
        <p:txBody>
          <a:bodyPr wrap="square" lIns="0" tIns="0" rIns="0" bIns="0" rtlCol="0" anchor="t"/>
          <a:lstStyle/>
          <a:p>
            <a:pPr marL="165100" indent="-165100">
              <a:spcAft>
                <a:spcPts val="1000"/>
              </a:spcAft>
              <a:buSzPct val="100000"/>
              <a:buChar char="•"/>
            </a:pPr>
            <a:r>
              <a:rPr lang="en-US" sz="1400" dirty="0">
                <a:solidFill>
                  <a:srgbClr val="1E2E3A"/>
                </a:solidFill>
                <a:latin typeface="Calibri" pitchFamily="34" charset="0"/>
                <a:ea typeface="Calibri" pitchFamily="34" charset="-122"/>
                <a:cs typeface="Calibri" pitchFamily="34" charset="-120"/>
              </a:rPr>
              <a:t>How do we determine scope?</a:t>
            </a:r>
            <a:endParaRPr lang="en-US" sz="1400" dirty="0"/>
          </a:p>
          <a:p>
            <a:pPr marL="165100" indent="-165100">
              <a:spcAft>
                <a:spcPts val="1000"/>
              </a:spcAft>
              <a:buSzPct val="100000"/>
              <a:buChar char="•"/>
            </a:pPr>
            <a:r>
              <a:rPr lang="en-US" sz="1400" dirty="0">
                <a:solidFill>
                  <a:srgbClr val="1E2E3A"/>
                </a:solidFill>
                <a:latin typeface="Calibri" pitchFamily="34" charset="0"/>
                <a:ea typeface="Calibri" pitchFamily="34" charset="-122"/>
                <a:cs typeface="Calibri" pitchFamily="34" charset="-120"/>
              </a:rPr>
              <a:t>Which accounts are affected?</a:t>
            </a:r>
            <a:endParaRPr lang="en-US" sz="1400" dirty="0"/>
          </a:p>
          <a:p>
            <a:pPr marL="165100" indent="-165100">
              <a:spcAft>
                <a:spcPts val="1000"/>
              </a:spcAft>
              <a:buSzPct val="100000"/>
              <a:buChar char="•"/>
            </a:pPr>
            <a:r>
              <a:rPr lang="en-US" sz="1400" dirty="0">
                <a:solidFill>
                  <a:srgbClr val="1E2E3A"/>
                </a:solidFill>
                <a:latin typeface="Calibri" pitchFamily="34" charset="0"/>
                <a:ea typeface="Calibri" pitchFamily="34" charset="-122"/>
                <a:cs typeface="Calibri" pitchFamily="34" charset="-120"/>
              </a:rPr>
              <a:t>Do we reset credentials now?</a:t>
            </a:r>
            <a:endParaRPr lang="en-US" sz="1400" dirty="0"/>
          </a:p>
          <a:p>
            <a:pPr marL="165100" indent="-165100">
              <a:spcAft>
                <a:spcPts val="1000"/>
              </a:spcAft>
              <a:buSzPct val="100000"/>
              <a:buChar char="•"/>
            </a:pPr>
            <a:r>
              <a:rPr lang="en-US" sz="1400" dirty="0">
                <a:solidFill>
                  <a:srgbClr val="1E2E3A"/>
                </a:solidFill>
                <a:latin typeface="Calibri" pitchFamily="34" charset="0"/>
                <a:ea typeface="Calibri" pitchFamily="34" charset="-122"/>
                <a:cs typeface="Calibri" pitchFamily="34" charset="-120"/>
              </a:rPr>
              <a:t>How do we detect additional compromises?</a:t>
            </a:r>
            <a:endParaRPr lang="en-US" sz="1400" dirty="0"/>
          </a:p>
        </p:txBody>
      </p:sp>
      <p:sp>
        <p:nvSpPr>
          <p:cNvPr id="17" name="Shape 13"/>
          <p:cNvSpPr/>
          <p:nvPr/>
        </p:nvSpPr>
        <p:spPr>
          <a:xfrm>
            <a:off x="6231636" y="1508760"/>
            <a:ext cx="2567178" cy="3931920"/>
          </a:xfrm>
          <a:prstGeom prst="roundRect">
            <a:avLst>
              <a:gd name="adj" fmla="val 4987"/>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18" name="Shape 14"/>
          <p:cNvSpPr/>
          <p:nvPr/>
        </p:nvSpPr>
        <p:spPr>
          <a:xfrm>
            <a:off x="6231636" y="1508760"/>
            <a:ext cx="2567178" cy="914400"/>
          </a:xfrm>
          <a:prstGeom prst="roundRect">
            <a:avLst>
              <a:gd name="adj" fmla="val 14000"/>
            </a:avLst>
          </a:prstGeom>
          <a:solidFill>
            <a:srgbClr val="F4EDDB"/>
          </a:solidFill>
          <a:ln w="12700">
            <a:solidFill>
              <a:srgbClr val="F4EDDB"/>
            </a:solidFill>
            <a:prstDash val="solid"/>
          </a:ln>
        </p:spPr>
      </p:sp>
      <p:sp>
        <p:nvSpPr>
          <p:cNvPr id="19" name="Shape 15"/>
          <p:cNvSpPr/>
          <p:nvPr/>
        </p:nvSpPr>
        <p:spPr>
          <a:xfrm>
            <a:off x="6414516" y="1737360"/>
            <a:ext cx="457200" cy="457200"/>
          </a:xfrm>
          <a:prstGeom prst="ellipse">
            <a:avLst/>
          </a:prstGeom>
          <a:solidFill>
            <a:srgbClr val="B89E68"/>
          </a:solidFill>
          <a:ln w="12700">
            <a:solidFill>
              <a:srgbClr val="B89E68"/>
            </a:solidFill>
            <a:prstDash val="solid"/>
          </a:ln>
        </p:spPr>
      </p:sp>
      <p:pic>
        <p:nvPicPr>
          <p:cNvPr id="20" name="Image 2" descr="preencoded.png">    </p:cNvPr>
          <p:cNvPicPr>
            <a:picLocks noChangeAspect="1"/>
          </p:cNvPicPr>
          <p:nvPr/>
        </p:nvPicPr>
        <p:blipFill>
          <a:blip r:embed="rId3"/>
          <a:stretch>
            <a:fillRect/>
          </a:stretch>
        </p:blipFill>
        <p:spPr>
          <a:xfrm>
            <a:off x="6533388" y="1856232"/>
            <a:ext cx="219456" cy="219456"/>
          </a:xfrm>
          <a:prstGeom prst="rect">
            <a:avLst/>
          </a:prstGeom>
        </p:spPr>
      </p:pic>
      <p:sp>
        <p:nvSpPr>
          <p:cNvPr id="21" name="Text 16"/>
          <p:cNvSpPr txBox="1"/>
          <p:nvPr/>
        </p:nvSpPr>
        <p:spPr>
          <a:xfrm>
            <a:off x="7008876" y="1600200"/>
            <a:ext cx="1698498" cy="749808"/>
          </a:xfrm>
          <a:prstGeom prst="rect">
            <a:avLst/>
          </a:prstGeom>
          <a:noFill/>
          <a:ln/>
        </p:spPr>
        <p:txBody>
          <a:bodyPr wrap="square" lIns="0" tIns="0" rIns="0" bIns="0" rtlCol="0" anchor="ctr"/>
          <a:lstStyle/>
          <a:p>
            <a:pPr indent="0" marL="0">
              <a:buNone/>
            </a:pPr>
            <a:r>
              <a:rPr lang="en-US" sz="1500" b="1" dirty="0">
                <a:solidFill>
                  <a:srgbClr val="1B2A4A"/>
                </a:solidFill>
                <a:latin typeface="Calibri" pitchFamily="34" charset="0"/>
                <a:ea typeface="Calibri" pitchFamily="34" charset="-122"/>
                <a:cs typeface="Calibri" pitchFamily="34" charset="-120"/>
              </a:rPr>
              <a:t>T+1h</a:t>
            </a:r>
            <a:endParaRPr lang="en-US" sz="1500" dirty="0"/>
          </a:p>
          <a:p>
            <a:pPr indent="0" marL="0">
              <a:buNone/>
            </a:pPr>
            <a:r>
              <a:rPr lang="en-US" sz="1250" b="1" dirty="0">
                <a:solidFill>
                  <a:srgbClr val="1B2A4A"/>
                </a:solidFill>
                <a:latin typeface="Calibri" pitchFamily="34" charset="0"/>
                <a:ea typeface="Calibri" pitchFamily="34" charset="-122"/>
                <a:cs typeface="Calibri" pitchFamily="34" charset="-120"/>
              </a:rPr>
              <a:t>Persistence</a:t>
            </a:r>
            <a:endParaRPr lang="en-US" sz="1500" dirty="0"/>
          </a:p>
        </p:txBody>
      </p:sp>
      <p:sp>
        <p:nvSpPr>
          <p:cNvPr id="22" name="Text 17"/>
          <p:cNvSpPr txBox="1"/>
          <p:nvPr/>
        </p:nvSpPr>
        <p:spPr>
          <a:xfrm>
            <a:off x="6460236" y="2651760"/>
            <a:ext cx="2155698" cy="3154680"/>
          </a:xfrm>
          <a:prstGeom prst="rect">
            <a:avLst/>
          </a:prstGeom>
          <a:noFill/>
          <a:ln/>
        </p:spPr>
        <p:txBody>
          <a:bodyPr wrap="square" lIns="0" tIns="0" rIns="0" bIns="0" rtlCol="0" anchor="t"/>
          <a:lstStyle/>
          <a:p>
            <a:pPr marL="165100" indent="-165100">
              <a:spcAft>
                <a:spcPts val="1000"/>
              </a:spcAft>
              <a:buSzPct val="100000"/>
              <a:buChar char="•"/>
            </a:pPr>
            <a:r>
              <a:rPr lang="en-US" sz="1400" dirty="0">
                <a:solidFill>
                  <a:srgbClr val="1E2E3A"/>
                </a:solidFill>
                <a:latin typeface="Calibri" pitchFamily="34" charset="0"/>
                <a:ea typeface="Calibri" pitchFamily="34" charset="-122"/>
                <a:cs typeface="Calibri" pitchFamily="34" charset="-120"/>
              </a:rPr>
              <a:t>What containment actions do we take?</a:t>
            </a:r>
            <a:endParaRPr lang="en-US" sz="1400" dirty="0"/>
          </a:p>
          <a:p>
            <a:pPr marL="165100" indent="-165100">
              <a:spcAft>
                <a:spcPts val="1000"/>
              </a:spcAft>
              <a:buSzPct val="100000"/>
              <a:buChar char="•"/>
            </a:pPr>
            <a:r>
              <a:rPr lang="en-US" sz="1400" dirty="0">
                <a:solidFill>
                  <a:srgbClr val="1E2E3A"/>
                </a:solidFill>
                <a:latin typeface="Calibri" pitchFamily="34" charset="0"/>
                <a:ea typeface="Calibri" pitchFamily="34" charset="-122"/>
                <a:cs typeface="Calibri" pitchFamily="34" charset="-120"/>
              </a:rPr>
              <a:t>Do we disable accounts?</a:t>
            </a:r>
            <a:endParaRPr lang="en-US" sz="1400" dirty="0"/>
          </a:p>
          <a:p>
            <a:pPr marL="165100" indent="-165100">
              <a:spcAft>
                <a:spcPts val="1000"/>
              </a:spcAft>
              <a:buSzPct val="100000"/>
              <a:buChar char="•"/>
            </a:pPr>
            <a:r>
              <a:rPr lang="en-US" sz="1400" dirty="0">
                <a:solidFill>
                  <a:srgbClr val="1E2E3A"/>
                </a:solidFill>
                <a:latin typeface="Calibri" pitchFamily="34" charset="0"/>
                <a:ea typeface="Calibri" pitchFamily="34" charset="-122"/>
                <a:cs typeface="Calibri" pitchFamily="34" charset="-120"/>
              </a:rPr>
              <a:t>What are the risks of shutting down M365 for executives?</a:t>
            </a:r>
            <a:endParaRPr lang="en-US" sz="1400" dirty="0"/>
          </a:p>
        </p:txBody>
      </p:sp>
      <p:sp>
        <p:nvSpPr>
          <p:cNvPr id="23" name="Shape 18"/>
          <p:cNvSpPr/>
          <p:nvPr/>
        </p:nvSpPr>
        <p:spPr>
          <a:xfrm>
            <a:off x="9073134" y="1508760"/>
            <a:ext cx="2567178" cy="3931920"/>
          </a:xfrm>
          <a:prstGeom prst="roundRect">
            <a:avLst>
              <a:gd name="adj" fmla="val 4987"/>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24" name="Shape 19"/>
          <p:cNvSpPr/>
          <p:nvPr/>
        </p:nvSpPr>
        <p:spPr>
          <a:xfrm>
            <a:off x="9073134" y="1508760"/>
            <a:ext cx="2567178" cy="914400"/>
          </a:xfrm>
          <a:prstGeom prst="roundRect">
            <a:avLst>
              <a:gd name="adj" fmla="val 14000"/>
            </a:avLst>
          </a:prstGeom>
          <a:solidFill>
            <a:srgbClr val="F3E6EA"/>
          </a:solidFill>
          <a:ln w="12700">
            <a:solidFill>
              <a:srgbClr val="F3E6EA"/>
            </a:solidFill>
            <a:prstDash val="solid"/>
          </a:ln>
        </p:spPr>
      </p:sp>
      <p:sp>
        <p:nvSpPr>
          <p:cNvPr id="25" name="Shape 20"/>
          <p:cNvSpPr/>
          <p:nvPr/>
        </p:nvSpPr>
        <p:spPr>
          <a:xfrm>
            <a:off x="9256014" y="1737360"/>
            <a:ext cx="457200" cy="457200"/>
          </a:xfrm>
          <a:prstGeom prst="ellipse">
            <a:avLst/>
          </a:prstGeom>
          <a:solidFill>
            <a:srgbClr val="B38496"/>
          </a:solidFill>
          <a:ln w="12700">
            <a:solidFill>
              <a:srgbClr val="B38496"/>
            </a:solidFill>
            <a:prstDash val="solid"/>
          </a:ln>
        </p:spPr>
      </p:sp>
      <p:pic>
        <p:nvPicPr>
          <p:cNvPr id="26" name="Image 3" descr="preencoded.png">    </p:cNvPr>
          <p:cNvPicPr>
            <a:picLocks noChangeAspect="1"/>
          </p:cNvPicPr>
          <p:nvPr/>
        </p:nvPicPr>
        <p:blipFill>
          <a:blip r:embed="rId4"/>
          <a:stretch>
            <a:fillRect/>
          </a:stretch>
        </p:blipFill>
        <p:spPr>
          <a:xfrm>
            <a:off x="9374886" y="1856232"/>
            <a:ext cx="219456" cy="219456"/>
          </a:xfrm>
          <a:prstGeom prst="rect">
            <a:avLst/>
          </a:prstGeom>
        </p:spPr>
      </p:pic>
      <p:sp>
        <p:nvSpPr>
          <p:cNvPr id="27" name="Text 21"/>
          <p:cNvSpPr txBox="1"/>
          <p:nvPr/>
        </p:nvSpPr>
        <p:spPr>
          <a:xfrm>
            <a:off x="9850374" y="1600200"/>
            <a:ext cx="1698498" cy="749808"/>
          </a:xfrm>
          <a:prstGeom prst="rect">
            <a:avLst/>
          </a:prstGeom>
          <a:noFill/>
          <a:ln/>
        </p:spPr>
        <p:txBody>
          <a:bodyPr wrap="square" lIns="0" tIns="0" rIns="0" bIns="0" rtlCol="0" anchor="ctr"/>
          <a:lstStyle/>
          <a:p>
            <a:pPr indent="0" marL="0">
              <a:buNone/>
            </a:pPr>
            <a:r>
              <a:rPr lang="en-US" sz="1500" b="1" dirty="0">
                <a:solidFill>
                  <a:srgbClr val="1B2A4A"/>
                </a:solidFill>
                <a:latin typeface="Calibri" pitchFamily="34" charset="0"/>
                <a:ea typeface="Calibri" pitchFamily="34" charset="-122"/>
                <a:cs typeface="Calibri" pitchFamily="34" charset="-120"/>
              </a:rPr>
              <a:t>T+2h</a:t>
            </a:r>
            <a:endParaRPr lang="en-US" sz="1500" dirty="0"/>
          </a:p>
          <a:p>
            <a:pPr indent="0" marL="0">
              <a:buNone/>
            </a:pPr>
            <a:r>
              <a:rPr lang="en-US" sz="1250" b="1" dirty="0">
                <a:solidFill>
                  <a:srgbClr val="1B2A4A"/>
                </a:solidFill>
                <a:latin typeface="Calibri" pitchFamily="34" charset="0"/>
                <a:ea typeface="Calibri" pitchFamily="34" charset="-122"/>
                <a:cs typeface="Calibri" pitchFamily="34" charset="-120"/>
              </a:rPr>
              <a:t>Executive Access</a:t>
            </a:r>
            <a:endParaRPr lang="en-US" sz="1500" dirty="0"/>
          </a:p>
        </p:txBody>
      </p:sp>
      <p:sp>
        <p:nvSpPr>
          <p:cNvPr id="28" name="Text 22"/>
          <p:cNvSpPr txBox="1"/>
          <p:nvPr/>
        </p:nvSpPr>
        <p:spPr>
          <a:xfrm>
            <a:off x="9301734" y="2651760"/>
            <a:ext cx="2155698" cy="3154680"/>
          </a:xfrm>
          <a:prstGeom prst="rect">
            <a:avLst/>
          </a:prstGeom>
          <a:noFill/>
          <a:ln/>
        </p:spPr>
        <p:txBody>
          <a:bodyPr wrap="square" lIns="0" tIns="0" rIns="0" bIns="0" rtlCol="0" anchor="t"/>
          <a:lstStyle/>
          <a:p>
            <a:pPr marL="165100" indent="-165100">
              <a:spcAft>
                <a:spcPts val="1000"/>
              </a:spcAft>
              <a:buSzPct val="100000"/>
              <a:buChar char="•"/>
            </a:pPr>
            <a:r>
              <a:rPr lang="en-US" sz="1400" dirty="0">
                <a:solidFill>
                  <a:srgbClr val="1E2E3A"/>
                </a:solidFill>
                <a:latin typeface="Calibri" pitchFamily="34" charset="0"/>
                <a:ea typeface="Calibri" pitchFamily="34" charset="-122"/>
                <a:cs typeface="Calibri" pitchFamily="34" charset="-120"/>
              </a:rPr>
              <a:t>How do we confirm what data was accessed?</a:t>
            </a:r>
            <a:endParaRPr lang="en-US" sz="1400" dirty="0"/>
          </a:p>
          <a:p>
            <a:pPr marL="165100" indent="-165100">
              <a:spcAft>
                <a:spcPts val="1000"/>
              </a:spcAft>
              <a:buSzPct val="100000"/>
              <a:buChar char="•"/>
            </a:pPr>
            <a:r>
              <a:rPr lang="en-US" sz="1400" dirty="0">
                <a:solidFill>
                  <a:srgbClr val="1E2E3A"/>
                </a:solidFill>
                <a:latin typeface="Calibri" pitchFamily="34" charset="0"/>
                <a:ea typeface="Calibri" pitchFamily="34" charset="-122"/>
                <a:cs typeface="Calibri" pitchFamily="34" charset="-120"/>
              </a:rPr>
              <a:t>Do we notify the Board now?</a:t>
            </a:r>
            <a:endParaRPr lang="en-US" sz="1400" dirty="0"/>
          </a:p>
          <a:p>
            <a:pPr marL="165100" indent="-165100">
              <a:spcAft>
                <a:spcPts val="1000"/>
              </a:spcAft>
              <a:buSzPct val="100000"/>
              <a:buChar char="•"/>
            </a:pPr>
            <a:r>
              <a:rPr lang="en-US" sz="1400" dirty="0">
                <a:solidFill>
                  <a:srgbClr val="1E2E3A"/>
                </a:solidFill>
                <a:latin typeface="Calibri" pitchFamily="34" charset="0"/>
                <a:ea typeface="Calibri" pitchFamily="34" charset="-122"/>
                <a:cs typeface="Calibri" pitchFamily="34" charset="-120"/>
              </a:rPr>
              <a:t>Is this a reportable incident?</a:t>
            </a:r>
            <a:endParaRPr lang="en-US" sz="1400" dirty="0"/>
          </a:p>
        </p:txBody>
      </p:sp>
      <p:sp>
        <p:nvSpPr>
          <p:cNvPr id="29" name="Text 23"/>
          <p:cNvSpPr txBox="1"/>
          <p:nvPr/>
        </p:nvSpPr>
        <p:spPr>
          <a:xfrm>
            <a:off x="548640" y="6254496"/>
            <a:ext cx="11091672" cy="256032"/>
          </a:xfrm>
          <a:prstGeom prst="rect">
            <a:avLst/>
          </a:prstGeom>
          <a:noFill/>
          <a:ln/>
        </p:spPr>
        <p:txBody>
          <a:bodyPr wrap="square" lIns="0" tIns="0" rIns="0" bIns="0" rtlCol="0" anchor="ctr"/>
          <a:lstStyle/>
          <a:p>
            <a:pPr indent="0" marL="0">
              <a:buNone/>
            </a:pPr>
            <a:r>
              <a:rPr lang="en-US" sz="1200" b="1" dirty="0">
                <a:solidFill>
                  <a:srgbClr val="465A69"/>
                </a:solidFill>
                <a:latin typeface="Calibri" pitchFamily="34" charset="0"/>
                <a:ea typeface="Calibri" pitchFamily="34" charset="-122"/>
                <a:cs typeface="Calibri" pitchFamily="34" charset="-120"/>
              </a:rPr>
              <a:t>Acronyms:  </a:t>
            </a:r>
            <a:pPr indent="0" marL="0">
              <a:buNone/>
            </a:pPr>
            <a:r>
              <a:rPr lang="en-US" sz="1200" dirty="0">
                <a:solidFill>
                  <a:srgbClr val="465A69"/>
                </a:solidFill>
                <a:latin typeface="Calibri" pitchFamily="34" charset="0"/>
                <a:ea typeface="Calibri" pitchFamily="34" charset="-122"/>
                <a:cs typeface="Calibri" pitchFamily="34" charset="-120"/>
              </a:rPr>
              <a:t>T+: time since the first signal;  M365: Microsoft 365</a:t>
            </a:r>
            <a:endParaRPr lang="en-US" sz="1200" dirty="0"/>
          </a:p>
        </p:txBody>
      </p:sp>
      <p:sp>
        <p:nvSpPr>
          <p:cNvPr id="30" name="Shape 24"/>
          <p:cNvSpPr/>
          <p:nvPr/>
        </p:nvSpPr>
        <p:spPr>
          <a:xfrm>
            <a:off x="548640" y="6537960"/>
            <a:ext cx="763524" cy="274320"/>
          </a:xfrm>
          <a:prstGeom prst="roundRect">
            <a:avLst>
              <a:gd name="adj" fmla="val 50000"/>
            </a:avLst>
          </a:prstGeom>
          <a:solidFill>
            <a:srgbClr val="E4ECF2"/>
          </a:solidFill>
          <a:ln w="12700">
            <a:solidFill>
              <a:srgbClr val="E4ECF2"/>
            </a:solidFill>
            <a:prstDash val="solid"/>
          </a:ln>
        </p:spPr>
      </p:sp>
      <p:sp>
        <p:nvSpPr>
          <p:cNvPr id="31" name="Text 25"/>
          <p:cNvSpPr txBox="1"/>
          <p:nvPr/>
        </p:nvSpPr>
        <p:spPr>
          <a:xfrm>
            <a:off x="548640" y="6537960"/>
            <a:ext cx="763524" cy="274320"/>
          </a:xfrm>
          <a:prstGeom prst="rect">
            <a:avLst/>
          </a:prstGeom>
          <a:noFill/>
          <a:ln/>
        </p:spPr>
        <p:txBody>
          <a:bodyPr wrap="square" lIns="0" tIns="0" rIns="0" bIns="0" rtlCol="0" anchor="ctr"/>
          <a:lstStyle/>
          <a:p>
            <a:pPr algn="ctr" indent="0" marL="0">
              <a:buNone/>
            </a:pPr>
            <a:r>
              <a:rPr lang="en-US" sz="1200" b="1" dirty="0">
                <a:solidFill>
                  <a:srgbClr val="23405A"/>
                </a:solidFill>
                <a:latin typeface="Calibri" pitchFamily="34" charset="0"/>
                <a:ea typeface="Calibri" pitchFamily="34" charset="-122"/>
                <a:cs typeface="Calibri" pitchFamily="34" charset="-120"/>
              </a:rPr>
              <a:t>Start</a:t>
            </a:r>
            <a:endParaRPr lang="en-US" sz="1200" dirty="0"/>
          </a:p>
        </p:txBody>
      </p:sp>
      <p:pic>
        <p:nvPicPr>
          <p:cNvPr id="32" name="Image 4" descr="preencoded.png">
            <a:hlinkClick r:id="rId6" tooltip="Go to Start" action="ppaction://hlinksldjump"/>
          </p:cNvPr>
          <p:cNvPicPr>
            <a:picLocks noChangeAspect="1"/>
          </p:cNvPicPr>
          <p:nvPr/>
        </p:nvPicPr>
        <p:blipFill>
          <a:blip r:embed="rId5"/>
          <a:stretch>
            <a:fillRect/>
          </a:stretch>
        </p:blipFill>
        <p:spPr>
          <a:xfrm>
            <a:off x="548640" y="6537960"/>
            <a:ext cx="763524" cy="274320"/>
          </a:xfrm>
          <a:prstGeom prst="rect">
            <a:avLst/>
          </a:prstGeom>
        </p:spPr>
      </p:pic>
      <p:sp>
        <p:nvSpPr>
          <p:cNvPr id="33" name="Shape 26"/>
          <p:cNvSpPr/>
          <p:nvPr/>
        </p:nvSpPr>
        <p:spPr>
          <a:xfrm>
            <a:off x="1385316" y="6537960"/>
            <a:ext cx="1197864" cy="274320"/>
          </a:xfrm>
          <a:prstGeom prst="roundRect">
            <a:avLst>
              <a:gd name="adj" fmla="val 50000"/>
            </a:avLst>
          </a:prstGeom>
          <a:solidFill>
            <a:srgbClr val="3F6E8C"/>
          </a:solidFill>
          <a:ln w="12700">
            <a:solidFill>
              <a:srgbClr val="3F6E8C"/>
            </a:solidFill>
            <a:prstDash val="solid"/>
          </a:ln>
        </p:spPr>
      </p:sp>
      <p:sp>
        <p:nvSpPr>
          <p:cNvPr id="34" name="Text 27"/>
          <p:cNvSpPr txBox="1"/>
          <p:nvPr/>
        </p:nvSpPr>
        <p:spPr>
          <a:xfrm>
            <a:off x="1385316" y="6537960"/>
            <a:ext cx="1197864"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Scenario 1</a:t>
            </a:r>
            <a:endParaRPr lang="en-US" sz="1200" dirty="0"/>
          </a:p>
        </p:txBody>
      </p:sp>
      <p:pic>
        <p:nvPicPr>
          <p:cNvPr id="35" name="Image 5" descr="preencoded.png">
            <a:hlinkClick r:id="rId8" tooltip="Go to Scenario 1" action="ppaction://hlinksldjump"/>
          </p:cNvPr>
          <p:cNvPicPr>
            <a:picLocks noChangeAspect="1"/>
          </p:cNvPicPr>
          <p:nvPr/>
        </p:nvPicPr>
        <p:blipFill>
          <a:blip r:embed="rId7"/>
          <a:stretch>
            <a:fillRect/>
          </a:stretch>
        </p:blipFill>
        <p:spPr>
          <a:xfrm>
            <a:off x="1385316" y="6537960"/>
            <a:ext cx="1197864" cy="274320"/>
          </a:xfrm>
          <a:prstGeom prst="rect">
            <a:avLst/>
          </a:prstGeom>
        </p:spPr>
      </p:pic>
      <p:sp>
        <p:nvSpPr>
          <p:cNvPr id="36" name="Shape 28"/>
          <p:cNvSpPr/>
          <p:nvPr/>
        </p:nvSpPr>
        <p:spPr>
          <a:xfrm>
            <a:off x="2656332" y="6537960"/>
            <a:ext cx="1197864" cy="274320"/>
          </a:xfrm>
          <a:prstGeom prst="roundRect">
            <a:avLst>
              <a:gd name="adj" fmla="val 50000"/>
            </a:avLst>
          </a:prstGeom>
          <a:solidFill>
            <a:srgbClr val="F1F8F3"/>
          </a:solidFill>
          <a:ln w="12700">
            <a:solidFill>
              <a:srgbClr val="F1F8F3"/>
            </a:solidFill>
            <a:prstDash val="solid"/>
          </a:ln>
        </p:spPr>
      </p:sp>
      <p:sp>
        <p:nvSpPr>
          <p:cNvPr id="37" name="Text 29"/>
          <p:cNvSpPr txBox="1"/>
          <p:nvPr/>
        </p:nvSpPr>
        <p:spPr>
          <a:xfrm>
            <a:off x="2656332" y="6537960"/>
            <a:ext cx="1197864" cy="274320"/>
          </a:xfrm>
          <a:prstGeom prst="rect">
            <a:avLst/>
          </a:prstGeom>
          <a:noFill/>
          <a:ln/>
        </p:spPr>
        <p:txBody>
          <a:bodyPr wrap="square" lIns="0" tIns="0" rIns="0" bIns="0" rtlCol="0" anchor="ctr"/>
          <a:lstStyle/>
          <a:p>
            <a:pPr algn="ctr" indent="0" marL="0">
              <a:buNone/>
            </a:pPr>
            <a:r>
              <a:rPr lang="en-US" sz="1200" b="1" dirty="0">
                <a:solidFill>
                  <a:srgbClr val="4C8068"/>
                </a:solidFill>
                <a:latin typeface="Calibri" pitchFamily="34" charset="0"/>
                <a:ea typeface="Calibri" pitchFamily="34" charset="-122"/>
                <a:cs typeface="Calibri" pitchFamily="34" charset="-120"/>
              </a:rPr>
              <a:t>Scenario 2</a:t>
            </a:r>
            <a:endParaRPr lang="en-US" sz="1200" dirty="0"/>
          </a:p>
        </p:txBody>
      </p:sp>
      <p:pic>
        <p:nvPicPr>
          <p:cNvPr id="38" name="Image 6" descr="preencoded.png">
            <a:hlinkClick r:id="rId10" tooltip="Go to Scenario 2" action="ppaction://hlinksldjump"/>
          </p:cNvPr>
          <p:cNvPicPr>
            <a:picLocks noChangeAspect="1"/>
          </p:cNvPicPr>
          <p:nvPr/>
        </p:nvPicPr>
        <p:blipFill>
          <a:blip r:embed="rId9"/>
          <a:stretch>
            <a:fillRect/>
          </a:stretch>
        </p:blipFill>
        <p:spPr>
          <a:xfrm>
            <a:off x="2656332" y="6537960"/>
            <a:ext cx="1197864" cy="274320"/>
          </a:xfrm>
          <a:prstGeom prst="rect">
            <a:avLst/>
          </a:prstGeom>
        </p:spPr>
      </p:pic>
      <p:sp>
        <p:nvSpPr>
          <p:cNvPr id="39" name="Shape 30"/>
          <p:cNvSpPr/>
          <p:nvPr/>
        </p:nvSpPr>
        <p:spPr>
          <a:xfrm>
            <a:off x="3927348" y="6537960"/>
            <a:ext cx="1197864" cy="274320"/>
          </a:xfrm>
          <a:prstGeom prst="roundRect">
            <a:avLst>
              <a:gd name="adj" fmla="val 50000"/>
            </a:avLst>
          </a:prstGeom>
          <a:solidFill>
            <a:srgbClr val="F6F3FA"/>
          </a:solidFill>
          <a:ln w="12700">
            <a:solidFill>
              <a:srgbClr val="F6F3FA"/>
            </a:solidFill>
            <a:prstDash val="solid"/>
          </a:ln>
        </p:spPr>
      </p:sp>
      <p:sp>
        <p:nvSpPr>
          <p:cNvPr id="40" name="Text 31"/>
          <p:cNvSpPr txBox="1"/>
          <p:nvPr/>
        </p:nvSpPr>
        <p:spPr>
          <a:xfrm>
            <a:off x="3927348" y="6537960"/>
            <a:ext cx="1197864" cy="274320"/>
          </a:xfrm>
          <a:prstGeom prst="rect">
            <a:avLst/>
          </a:prstGeom>
          <a:noFill/>
          <a:ln/>
        </p:spPr>
        <p:txBody>
          <a:bodyPr wrap="square" lIns="0" tIns="0" rIns="0" bIns="0" rtlCol="0" anchor="ctr"/>
          <a:lstStyle/>
          <a:p>
            <a:pPr algn="ctr" indent="0" marL="0">
              <a:buNone/>
            </a:pPr>
            <a:r>
              <a:rPr lang="en-US" sz="1200" b="1" dirty="0">
                <a:solidFill>
                  <a:srgbClr val="6E5E94"/>
                </a:solidFill>
                <a:latin typeface="Calibri" pitchFamily="34" charset="0"/>
                <a:ea typeface="Calibri" pitchFamily="34" charset="-122"/>
                <a:cs typeface="Calibri" pitchFamily="34" charset="-120"/>
              </a:rPr>
              <a:t>Scenario 3</a:t>
            </a:r>
            <a:endParaRPr lang="en-US" sz="1200" dirty="0"/>
          </a:p>
        </p:txBody>
      </p:sp>
      <p:pic>
        <p:nvPicPr>
          <p:cNvPr id="41" name="Image 7" descr="preencoded.png">
            <a:hlinkClick r:id="rId12" tooltip="Go to Scenario 3" action="ppaction://hlinksldjump"/>
          </p:cNvPr>
          <p:cNvPicPr>
            <a:picLocks noChangeAspect="1"/>
          </p:cNvPicPr>
          <p:nvPr/>
        </p:nvPicPr>
        <p:blipFill>
          <a:blip r:embed="rId11"/>
          <a:stretch>
            <a:fillRect/>
          </a:stretch>
        </p:blipFill>
        <p:spPr>
          <a:xfrm>
            <a:off x="3927348" y="6537960"/>
            <a:ext cx="1197864" cy="274320"/>
          </a:xfrm>
          <a:prstGeom prst="rect">
            <a:avLst/>
          </a:prstGeom>
        </p:spPr>
      </p:pic>
      <p:sp>
        <p:nvSpPr>
          <p:cNvPr id="42" name="Shape 32"/>
          <p:cNvSpPr/>
          <p:nvPr/>
        </p:nvSpPr>
        <p:spPr>
          <a:xfrm>
            <a:off x="5198364" y="6537960"/>
            <a:ext cx="937260" cy="274320"/>
          </a:xfrm>
          <a:prstGeom prst="roundRect">
            <a:avLst>
              <a:gd name="adj" fmla="val 50000"/>
            </a:avLst>
          </a:prstGeom>
          <a:solidFill>
            <a:srgbClr val="E4ECF2"/>
          </a:solidFill>
          <a:ln w="12700">
            <a:solidFill>
              <a:srgbClr val="E4ECF2"/>
            </a:solidFill>
            <a:prstDash val="solid"/>
          </a:ln>
        </p:spPr>
      </p:sp>
      <p:sp>
        <p:nvSpPr>
          <p:cNvPr id="43" name="Text 33"/>
          <p:cNvSpPr txBox="1"/>
          <p:nvPr/>
        </p:nvSpPr>
        <p:spPr>
          <a:xfrm>
            <a:off x="5198364" y="6537960"/>
            <a:ext cx="937260" cy="274320"/>
          </a:xfrm>
          <a:prstGeom prst="rect">
            <a:avLst/>
          </a:prstGeom>
          <a:noFill/>
          <a:ln/>
        </p:spPr>
        <p:txBody>
          <a:bodyPr wrap="square" lIns="0" tIns="0" rIns="0" bIns="0" rtlCol="0" anchor="ctr"/>
          <a:lstStyle/>
          <a:p>
            <a:pPr algn="ctr" indent="0" marL="0">
              <a:buNone/>
            </a:pPr>
            <a:r>
              <a:rPr lang="en-US" sz="1200" b="1" dirty="0">
                <a:solidFill>
                  <a:srgbClr val="23405A"/>
                </a:solidFill>
                <a:latin typeface="Calibri" pitchFamily="34" charset="0"/>
                <a:ea typeface="Calibri" pitchFamily="34" charset="-122"/>
                <a:cs typeface="Calibri" pitchFamily="34" charset="-120"/>
              </a:rPr>
              <a:t>Closing</a:t>
            </a:r>
            <a:endParaRPr lang="en-US" sz="1200" dirty="0"/>
          </a:p>
        </p:txBody>
      </p:sp>
      <p:pic>
        <p:nvPicPr>
          <p:cNvPr id="44" name="Image 8" descr="preencoded.png">
            <a:hlinkClick r:id="rId14" tooltip="Go to Closing" action="ppaction://hlinksldjump"/>
          </p:cNvPr>
          <p:cNvPicPr>
            <a:picLocks noChangeAspect="1"/>
          </p:cNvPicPr>
          <p:nvPr/>
        </p:nvPicPr>
        <p:blipFill>
          <a:blip r:embed="rId13"/>
          <a:stretch>
            <a:fillRect/>
          </a:stretch>
        </p:blipFill>
        <p:spPr>
          <a:xfrm>
            <a:off x="5198364" y="6537960"/>
            <a:ext cx="937260" cy="274320"/>
          </a:xfrm>
          <a:prstGeom prst="rect">
            <a:avLst/>
          </a:prstGeom>
        </p:spPr>
      </p:pic>
      <p:sp>
        <p:nvSpPr>
          <p:cNvPr id="45" name="Text 34"/>
          <p:cNvSpPr txBox="1"/>
          <p:nvPr/>
        </p:nvSpPr>
        <p:spPr>
          <a:xfrm>
            <a:off x="11277295" y="6537960"/>
            <a:ext cx="365760" cy="274320"/>
          </a:xfrm>
          <a:prstGeom prst="rect">
            <a:avLst/>
          </a:prstGeom>
          <a:noFill/>
          <a:ln/>
        </p:spPr>
        <p:txBody>
          <a:bodyPr wrap="square" lIns="0" tIns="0" rIns="0" bIns="0" rtlCol="0" anchor="ctr"/>
          <a:lstStyle/>
          <a:p>
            <a:pPr algn="r" indent="0" marL="0">
              <a:buNone/>
            </a:pPr>
            <a:r>
              <a:rPr lang="en-US" sz="1200" dirty="0">
                <a:solidFill>
                  <a:srgbClr val="465A69"/>
                </a:solidFill>
                <a:latin typeface="Calibri" pitchFamily="34" charset="0"/>
                <a:ea typeface="Calibri" pitchFamily="34" charset="-122"/>
                <a:cs typeface="Calibri" pitchFamily="34" charset="-120"/>
              </a:rPr>
              <a:t>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E6EEF6"/>
        </a:solidFill>
      </p:bgPr>
    </p:bg>
    <p:spTree>
      <p:nvGrpSpPr>
        <p:cNvPr id="1" name=""/>
        <p:cNvGrpSpPr/>
        <p:nvPr/>
      </p:nvGrpSpPr>
      <p:grpSpPr>
        <a:xfrm>
          <a:off x="0" y="0"/>
          <a:ext cx="0" cy="0"/>
          <a:chOff x="0" y="0"/>
          <a:chExt cx="0" cy="0"/>
        </a:xfrm>
      </p:grpSpPr>
      <p:sp>
        <p:nvSpPr>
          <p:cNvPr id="2" name="Shape 0"/>
          <p:cNvSpPr/>
          <p:nvPr/>
        </p:nvSpPr>
        <p:spPr>
          <a:xfrm>
            <a:off x="548640" y="347472"/>
            <a:ext cx="2843784" cy="329184"/>
          </a:xfrm>
          <a:prstGeom prst="roundRect">
            <a:avLst>
              <a:gd name="adj" fmla="val 50000"/>
            </a:avLst>
          </a:prstGeom>
          <a:solidFill>
            <a:srgbClr val="F1F6FA"/>
          </a:solidFill>
          <a:ln w="12700">
            <a:solidFill>
              <a:srgbClr val="F1F6FA"/>
            </a:solidFill>
            <a:prstDash val="solid"/>
          </a:ln>
        </p:spPr>
      </p:sp>
      <p:sp>
        <p:nvSpPr>
          <p:cNvPr id="3" name="Text 1"/>
          <p:cNvSpPr txBox="1"/>
          <p:nvPr/>
        </p:nvSpPr>
        <p:spPr>
          <a:xfrm>
            <a:off x="548640" y="347472"/>
            <a:ext cx="2843784" cy="329184"/>
          </a:xfrm>
          <a:prstGeom prst="rect">
            <a:avLst/>
          </a:prstGeom>
          <a:noFill/>
          <a:ln/>
        </p:spPr>
        <p:txBody>
          <a:bodyPr wrap="square" lIns="0" tIns="0" rIns="0" bIns="0" rtlCol="0" anchor="ctr"/>
          <a:lstStyle/>
          <a:p>
            <a:pPr algn="ctr" indent="0" marL="0">
              <a:buNone/>
            </a:pPr>
            <a:r>
              <a:rPr lang="en-US" sz="1200" b="1" dirty="0">
                <a:solidFill>
                  <a:srgbClr val="3F6E8C"/>
                </a:solidFill>
                <a:latin typeface="Calibri" pitchFamily="34" charset="0"/>
                <a:ea typeface="Calibri" pitchFamily="34" charset="-122"/>
                <a:cs typeface="Calibri" pitchFamily="34" charset="-120"/>
              </a:rPr>
              <a:t>Scenario 1 recap, part 3 of 4</a:t>
            </a:r>
            <a:endParaRPr lang="en-US" sz="1200" dirty="0"/>
          </a:p>
        </p:txBody>
      </p:sp>
      <p:sp>
        <p:nvSpPr>
          <p:cNvPr id="4" name="Text 2"/>
          <p:cNvSpPr txBox="1"/>
          <p:nvPr/>
        </p:nvSpPr>
        <p:spPr>
          <a:xfrm>
            <a:off x="548640" y="749808"/>
            <a:ext cx="11064240" cy="548640"/>
          </a:xfrm>
          <a:prstGeom prst="rect">
            <a:avLst/>
          </a:prstGeom>
          <a:noFill/>
          <a:ln/>
        </p:spPr>
        <p:txBody>
          <a:bodyPr wrap="square" lIns="0" tIns="0" rIns="0" bIns="0" rtlCol="0" anchor="ctr"/>
          <a:lstStyle/>
          <a:p>
            <a:pPr indent="0" marL="0">
              <a:buNone/>
            </a:pPr>
            <a:r>
              <a:rPr lang="en-US" sz="2400" b="1" dirty="0">
                <a:solidFill>
                  <a:srgbClr val="1B2A4A"/>
                </a:solidFill>
                <a:latin typeface="Cambria" pitchFamily="34" charset="0"/>
                <a:ea typeface="Cambria" pitchFamily="34" charset="-122"/>
                <a:cs typeface="Cambria" pitchFamily="34" charset="-120"/>
              </a:rPr>
              <a:t>Key questions at each stage</a:t>
            </a:r>
            <a:endParaRPr lang="en-US" sz="2400" dirty="0"/>
          </a:p>
        </p:txBody>
      </p:sp>
      <p:sp>
        <p:nvSpPr>
          <p:cNvPr id="5" name="Shape 3"/>
          <p:cNvSpPr/>
          <p:nvPr/>
        </p:nvSpPr>
        <p:spPr>
          <a:xfrm>
            <a:off x="548640" y="1508760"/>
            <a:ext cx="2567178" cy="3931920"/>
          </a:xfrm>
          <a:prstGeom prst="roundRect">
            <a:avLst>
              <a:gd name="adj" fmla="val 4987"/>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6" name="Shape 4"/>
          <p:cNvSpPr/>
          <p:nvPr/>
        </p:nvSpPr>
        <p:spPr>
          <a:xfrm>
            <a:off x="548640" y="1508760"/>
            <a:ext cx="2567178" cy="914400"/>
          </a:xfrm>
          <a:prstGeom prst="roundRect">
            <a:avLst>
              <a:gd name="adj" fmla="val 14000"/>
            </a:avLst>
          </a:prstGeom>
          <a:solidFill>
            <a:srgbClr val="ECE8F4"/>
          </a:solidFill>
          <a:ln w="12700">
            <a:solidFill>
              <a:srgbClr val="ECE8F4"/>
            </a:solidFill>
            <a:prstDash val="solid"/>
          </a:ln>
        </p:spPr>
      </p:sp>
      <p:sp>
        <p:nvSpPr>
          <p:cNvPr id="7" name="Shape 5"/>
          <p:cNvSpPr/>
          <p:nvPr/>
        </p:nvSpPr>
        <p:spPr>
          <a:xfrm>
            <a:off x="731520" y="1737360"/>
            <a:ext cx="457200" cy="457200"/>
          </a:xfrm>
          <a:prstGeom prst="ellipse">
            <a:avLst/>
          </a:prstGeom>
          <a:solidFill>
            <a:srgbClr val="8F86B8"/>
          </a:solidFill>
          <a:ln w="12700">
            <a:solidFill>
              <a:srgbClr val="8F86B8"/>
            </a:solidFill>
            <a:prstDash val="solid"/>
          </a:ln>
        </p:spPr>
      </p:sp>
      <p:pic>
        <p:nvPicPr>
          <p:cNvPr id="8" name="Image 0" descr="preencoded.png">    </p:cNvPr>
          <p:cNvPicPr>
            <a:picLocks noChangeAspect="1"/>
          </p:cNvPicPr>
          <p:nvPr/>
        </p:nvPicPr>
        <p:blipFill>
          <a:blip r:embed="rId1"/>
          <a:stretch>
            <a:fillRect/>
          </a:stretch>
        </p:blipFill>
        <p:spPr>
          <a:xfrm>
            <a:off x="850392" y="1856232"/>
            <a:ext cx="219456" cy="219456"/>
          </a:xfrm>
          <a:prstGeom prst="rect">
            <a:avLst/>
          </a:prstGeom>
        </p:spPr>
      </p:pic>
      <p:sp>
        <p:nvSpPr>
          <p:cNvPr id="9" name="Text 6"/>
          <p:cNvSpPr txBox="1"/>
          <p:nvPr/>
        </p:nvSpPr>
        <p:spPr>
          <a:xfrm>
            <a:off x="1325880" y="1600200"/>
            <a:ext cx="1698498" cy="749808"/>
          </a:xfrm>
          <a:prstGeom prst="rect">
            <a:avLst/>
          </a:prstGeom>
          <a:noFill/>
          <a:ln/>
        </p:spPr>
        <p:txBody>
          <a:bodyPr wrap="square" lIns="0" tIns="0" rIns="0" bIns="0" rtlCol="0" anchor="ctr"/>
          <a:lstStyle/>
          <a:p>
            <a:pPr indent="0" marL="0">
              <a:buNone/>
            </a:pPr>
            <a:r>
              <a:rPr lang="en-US" sz="1500" b="1" dirty="0">
                <a:solidFill>
                  <a:srgbClr val="1B2A4A"/>
                </a:solidFill>
                <a:latin typeface="Calibri" pitchFamily="34" charset="0"/>
                <a:ea typeface="Calibri" pitchFamily="34" charset="-122"/>
                <a:cs typeface="Calibri" pitchFamily="34" charset="-120"/>
              </a:rPr>
              <a:t>T+3h</a:t>
            </a:r>
            <a:endParaRPr lang="en-US" sz="1500" dirty="0"/>
          </a:p>
          <a:p>
            <a:pPr indent="0" marL="0">
              <a:buNone/>
            </a:pPr>
            <a:r>
              <a:rPr lang="en-US" sz="1250" b="1" dirty="0">
                <a:solidFill>
                  <a:srgbClr val="1B2A4A"/>
                </a:solidFill>
                <a:latin typeface="Calibri" pitchFamily="34" charset="0"/>
                <a:ea typeface="Calibri" pitchFamily="34" charset="-122"/>
                <a:cs typeface="Calibri" pitchFamily="34" charset="-120"/>
              </a:rPr>
              <a:t>Expansion Attempt</a:t>
            </a:r>
            <a:endParaRPr lang="en-US" sz="1500" dirty="0"/>
          </a:p>
        </p:txBody>
      </p:sp>
      <p:sp>
        <p:nvSpPr>
          <p:cNvPr id="10" name="Text 7"/>
          <p:cNvSpPr txBox="1"/>
          <p:nvPr/>
        </p:nvSpPr>
        <p:spPr>
          <a:xfrm>
            <a:off x="777240" y="2651760"/>
            <a:ext cx="2155698" cy="3154680"/>
          </a:xfrm>
          <a:prstGeom prst="rect">
            <a:avLst/>
          </a:prstGeom>
          <a:noFill/>
          <a:ln/>
        </p:spPr>
        <p:txBody>
          <a:bodyPr wrap="square" lIns="0" tIns="0" rIns="0" bIns="0" rtlCol="0" anchor="t"/>
          <a:lstStyle/>
          <a:p>
            <a:pPr marL="165100" indent="-165100">
              <a:spcAft>
                <a:spcPts val="1000"/>
              </a:spcAft>
              <a:buSzPct val="100000"/>
              <a:buChar char="•"/>
            </a:pPr>
            <a:r>
              <a:rPr lang="en-US" sz="1400" dirty="0">
                <a:solidFill>
                  <a:srgbClr val="1E2E3A"/>
                </a:solidFill>
                <a:latin typeface="Calibri" pitchFamily="34" charset="0"/>
                <a:ea typeface="Calibri" pitchFamily="34" charset="-122"/>
                <a:cs typeface="Calibri" pitchFamily="34" charset="-120"/>
              </a:rPr>
              <a:t>Do we block all OAuth apps?</a:t>
            </a:r>
            <a:endParaRPr lang="en-US" sz="1400" dirty="0"/>
          </a:p>
          <a:p>
            <a:pPr marL="165100" indent="-165100">
              <a:spcAft>
                <a:spcPts val="1000"/>
              </a:spcAft>
              <a:buSzPct val="100000"/>
              <a:buChar char="•"/>
            </a:pPr>
            <a:r>
              <a:rPr lang="en-US" sz="1400" dirty="0">
                <a:solidFill>
                  <a:srgbClr val="1E2E3A"/>
                </a:solidFill>
                <a:latin typeface="Calibri" pitchFamily="34" charset="0"/>
                <a:ea typeface="Calibri" pitchFamily="34" charset="-122"/>
                <a:cs typeface="Calibri" pitchFamily="34" charset="-120"/>
              </a:rPr>
              <a:t>How do we identify malicious consent grants?</a:t>
            </a:r>
            <a:endParaRPr lang="en-US" sz="1400" dirty="0"/>
          </a:p>
          <a:p>
            <a:pPr marL="165100" indent="-165100">
              <a:spcAft>
                <a:spcPts val="1000"/>
              </a:spcAft>
              <a:buSzPct val="100000"/>
              <a:buChar char="•"/>
            </a:pPr>
            <a:r>
              <a:rPr lang="en-US" sz="1400" dirty="0">
                <a:solidFill>
                  <a:srgbClr val="1E2E3A"/>
                </a:solidFill>
                <a:latin typeface="Calibri" pitchFamily="34" charset="0"/>
                <a:ea typeface="Calibri" pitchFamily="34" charset="-122"/>
                <a:cs typeface="Calibri" pitchFamily="34" charset="-120"/>
              </a:rPr>
              <a:t>Do we require tenant-wide revocation of tokens?</a:t>
            </a:r>
            <a:endParaRPr lang="en-US" sz="1400" dirty="0"/>
          </a:p>
        </p:txBody>
      </p:sp>
      <p:sp>
        <p:nvSpPr>
          <p:cNvPr id="11" name="Shape 8"/>
          <p:cNvSpPr/>
          <p:nvPr/>
        </p:nvSpPr>
        <p:spPr>
          <a:xfrm>
            <a:off x="3390138" y="1508760"/>
            <a:ext cx="2567178" cy="3931920"/>
          </a:xfrm>
          <a:prstGeom prst="roundRect">
            <a:avLst>
              <a:gd name="adj" fmla="val 4987"/>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12" name="Shape 9"/>
          <p:cNvSpPr/>
          <p:nvPr/>
        </p:nvSpPr>
        <p:spPr>
          <a:xfrm>
            <a:off x="3390138" y="1508760"/>
            <a:ext cx="2567178" cy="914400"/>
          </a:xfrm>
          <a:prstGeom prst="roundRect">
            <a:avLst>
              <a:gd name="adj" fmla="val 14000"/>
            </a:avLst>
          </a:prstGeom>
          <a:solidFill>
            <a:srgbClr val="E3F0E6"/>
          </a:solidFill>
          <a:ln w="12700">
            <a:solidFill>
              <a:srgbClr val="E3F0E6"/>
            </a:solidFill>
            <a:prstDash val="solid"/>
          </a:ln>
        </p:spPr>
      </p:sp>
      <p:sp>
        <p:nvSpPr>
          <p:cNvPr id="13" name="Shape 10"/>
          <p:cNvSpPr/>
          <p:nvPr/>
        </p:nvSpPr>
        <p:spPr>
          <a:xfrm>
            <a:off x="3573018" y="1737360"/>
            <a:ext cx="457200" cy="457200"/>
          </a:xfrm>
          <a:prstGeom prst="ellipse">
            <a:avLst/>
          </a:prstGeom>
          <a:solidFill>
            <a:srgbClr val="7BA689"/>
          </a:solidFill>
          <a:ln w="12700">
            <a:solidFill>
              <a:srgbClr val="7BA689"/>
            </a:solidFill>
            <a:prstDash val="solid"/>
          </a:ln>
        </p:spPr>
      </p:sp>
      <p:pic>
        <p:nvPicPr>
          <p:cNvPr id="14" name="Image 1" descr="preencoded.png">    </p:cNvPr>
          <p:cNvPicPr>
            <a:picLocks noChangeAspect="1"/>
          </p:cNvPicPr>
          <p:nvPr/>
        </p:nvPicPr>
        <p:blipFill>
          <a:blip r:embed="rId2"/>
          <a:stretch>
            <a:fillRect/>
          </a:stretch>
        </p:blipFill>
        <p:spPr>
          <a:xfrm>
            <a:off x="3691890" y="1856232"/>
            <a:ext cx="219456" cy="219456"/>
          </a:xfrm>
          <a:prstGeom prst="rect">
            <a:avLst/>
          </a:prstGeom>
        </p:spPr>
      </p:pic>
      <p:sp>
        <p:nvSpPr>
          <p:cNvPr id="15" name="Text 11"/>
          <p:cNvSpPr txBox="1"/>
          <p:nvPr/>
        </p:nvSpPr>
        <p:spPr>
          <a:xfrm>
            <a:off x="4167378" y="1600200"/>
            <a:ext cx="1698498" cy="749808"/>
          </a:xfrm>
          <a:prstGeom prst="rect">
            <a:avLst/>
          </a:prstGeom>
          <a:noFill/>
          <a:ln/>
        </p:spPr>
        <p:txBody>
          <a:bodyPr wrap="square" lIns="0" tIns="0" rIns="0" bIns="0" rtlCol="0" anchor="ctr"/>
          <a:lstStyle/>
          <a:p>
            <a:pPr indent="0" marL="0">
              <a:buNone/>
            </a:pPr>
            <a:r>
              <a:rPr lang="en-US" sz="1500" b="1" dirty="0">
                <a:solidFill>
                  <a:srgbClr val="1B2A4A"/>
                </a:solidFill>
                <a:latin typeface="Calibri" pitchFamily="34" charset="0"/>
                <a:ea typeface="Calibri" pitchFamily="34" charset="-122"/>
                <a:cs typeface="Calibri" pitchFamily="34" charset="-120"/>
              </a:rPr>
              <a:t>T+4h</a:t>
            </a:r>
            <a:endParaRPr lang="en-US" sz="1500" dirty="0"/>
          </a:p>
          <a:p>
            <a:pPr indent="0" marL="0">
              <a:buNone/>
            </a:pPr>
            <a:r>
              <a:rPr lang="en-US" sz="1250" b="1" dirty="0">
                <a:solidFill>
                  <a:srgbClr val="1B2A4A"/>
                </a:solidFill>
                <a:latin typeface="Calibri" pitchFamily="34" charset="0"/>
                <a:ea typeface="Calibri" pitchFamily="34" charset="-122"/>
                <a:cs typeface="Calibri" pitchFamily="34" charset="-120"/>
              </a:rPr>
              <a:t>Vendor Confirmation</a:t>
            </a:r>
            <a:endParaRPr lang="en-US" sz="1500" dirty="0"/>
          </a:p>
        </p:txBody>
      </p:sp>
      <p:sp>
        <p:nvSpPr>
          <p:cNvPr id="16" name="Text 12"/>
          <p:cNvSpPr txBox="1"/>
          <p:nvPr/>
        </p:nvSpPr>
        <p:spPr>
          <a:xfrm>
            <a:off x="3618738" y="2651760"/>
            <a:ext cx="2155698" cy="3154680"/>
          </a:xfrm>
          <a:prstGeom prst="rect">
            <a:avLst/>
          </a:prstGeom>
          <a:noFill/>
          <a:ln/>
        </p:spPr>
        <p:txBody>
          <a:bodyPr wrap="square" lIns="0" tIns="0" rIns="0" bIns="0" rtlCol="0" anchor="t"/>
          <a:lstStyle/>
          <a:p>
            <a:pPr marL="165100" indent="-165100">
              <a:spcAft>
                <a:spcPts val="1000"/>
              </a:spcAft>
              <a:buSzPct val="100000"/>
              <a:buChar char="•"/>
            </a:pPr>
            <a:r>
              <a:rPr lang="en-US" sz="1400" dirty="0">
                <a:solidFill>
                  <a:srgbClr val="1E2E3A"/>
                </a:solidFill>
                <a:latin typeface="Calibri" pitchFamily="34" charset="0"/>
                <a:ea typeface="Calibri" pitchFamily="34" charset="-122"/>
                <a:cs typeface="Calibri" pitchFamily="34" charset="-120"/>
              </a:rPr>
              <a:t>How do we manage the vendor relationship?</a:t>
            </a:r>
            <a:endParaRPr lang="en-US" sz="1400" dirty="0"/>
          </a:p>
          <a:p>
            <a:pPr marL="165100" indent="-165100">
              <a:spcAft>
                <a:spcPts val="1000"/>
              </a:spcAft>
              <a:buSzPct val="100000"/>
              <a:buChar char="•"/>
            </a:pPr>
            <a:r>
              <a:rPr lang="en-US" sz="1400" dirty="0">
                <a:solidFill>
                  <a:srgbClr val="1E2E3A"/>
                </a:solidFill>
                <a:latin typeface="Calibri" pitchFamily="34" charset="0"/>
                <a:ea typeface="Calibri" pitchFamily="34" charset="-122"/>
                <a:cs typeface="Calibri" pitchFamily="34" charset="-120"/>
              </a:rPr>
              <a:t>Do we notify customers, regulators or partners?</a:t>
            </a:r>
            <a:endParaRPr lang="en-US" sz="1400" dirty="0"/>
          </a:p>
          <a:p>
            <a:pPr marL="165100" indent="-165100">
              <a:spcAft>
                <a:spcPts val="1000"/>
              </a:spcAft>
              <a:buSzPct val="100000"/>
              <a:buChar char="•"/>
            </a:pPr>
            <a:r>
              <a:rPr lang="en-US" sz="1400" dirty="0">
                <a:solidFill>
                  <a:srgbClr val="1E2E3A"/>
                </a:solidFill>
                <a:latin typeface="Calibri" pitchFamily="34" charset="0"/>
                <a:ea typeface="Calibri" pitchFamily="34" charset="-122"/>
                <a:cs typeface="Calibri" pitchFamily="34" charset="-120"/>
              </a:rPr>
              <a:t>What additional information do we need from the vendor?</a:t>
            </a:r>
            <a:endParaRPr lang="en-US" sz="1400" dirty="0"/>
          </a:p>
        </p:txBody>
      </p:sp>
      <p:sp>
        <p:nvSpPr>
          <p:cNvPr id="17" name="Shape 13"/>
          <p:cNvSpPr/>
          <p:nvPr/>
        </p:nvSpPr>
        <p:spPr>
          <a:xfrm>
            <a:off x="6231636" y="1508760"/>
            <a:ext cx="2567178" cy="3931920"/>
          </a:xfrm>
          <a:prstGeom prst="roundRect">
            <a:avLst>
              <a:gd name="adj" fmla="val 4987"/>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18" name="Shape 14"/>
          <p:cNvSpPr/>
          <p:nvPr/>
        </p:nvSpPr>
        <p:spPr>
          <a:xfrm>
            <a:off x="6231636" y="1508760"/>
            <a:ext cx="2567178" cy="914400"/>
          </a:xfrm>
          <a:prstGeom prst="roundRect">
            <a:avLst>
              <a:gd name="adj" fmla="val 14000"/>
            </a:avLst>
          </a:prstGeom>
          <a:solidFill>
            <a:srgbClr val="E2EBF5"/>
          </a:solidFill>
          <a:ln w="12700">
            <a:solidFill>
              <a:srgbClr val="E2EBF5"/>
            </a:solidFill>
            <a:prstDash val="solid"/>
          </a:ln>
        </p:spPr>
      </p:sp>
      <p:sp>
        <p:nvSpPr>
          <p:cNvPr id="19" name="Shape 15"/>
          <p:cNvSpPr/>
          <p:nvPr/>
        </p:nvSpPr>
        <p:spPr>
          <a:xfrm>
            <a:off x="6414516" y="1737360"/>
            <a:ext cx="457200" cy="457200"/>
          </a:xfrm>
          <a:prstGeom prst="ellipse">
            <a:avLst/>
          </a:prstGeom>
          <a:solidFill>
            <a:srgbClr val="7C9CC0"/>
          </a:solidFill>
          <a:ln w="12700">
            <a:solidFill>
              <a:srgbClr val="7C9CC0"/>
            </a:solidFill>
            <a:prstDash val="solid"/>
          </a:ln>
        </p:spPr>
      </p:sp>
      <p:pic>
        <p:nvPicPr>
          <p:cNvPr id="20" name="Image 2" descr="preencoded.png">    </p:cNvPr>
          <p:cNvPicPr>
            <a:picLocks noChangeAspect="1"/>
          </p:cNvPicPr>
          <p:nvPr/>
        </p:nvPicPr>
        <p:blipFill>
          <a:blip r:embed="rId3"/>
          <a:stretch>
            <a:fillRect/>
          </a:stretch>
        </p:blipFill>
        <p:spPr>
          <a:xfrm>
            <a:off x="6533388" y="1856232"/>
            <a:ext cx="219456" cy="219456"/>
          </a:xfrm>
          <a:prstGeom prst="rect">
            <a:avLst/>
          </a:prstGeom>
        </p:spPr>
      </p:pic>
      <p:sp>
        <p:nvSpPr>
          <p:cNvPr id="21" name="Text 16"/>
          <p:cNvSpPr txBox="1"/>
          <p:nvPr/>
        </p:nvSpPr>
        <p:spPr>
          <a:xfrm>
            <a:off x="7008876" y="1600200"/>
            <a:ext cx="1698498" cy="749808"/>
          </a:xfrm>
          <a:prstGeom prst="rect">
            <a:avLst/>
          </a:prstGeom>
          <a:noFill/>
          <a:ln/>
        </p:spPr>
        <p:txBody>
          <a:bodyPr wrap="square" lIns="0" tIns="0" rIns="0" bIns="0" rtlCol="0" anchor="ctr"/>
          <a:lstStyle/>
          <a:p>
            <a:pPr indent="0" marL="0">
              <a:buNone/>
            </a:pPr>
            <a:r>
              <a:rPr lang="en-US" sz="1500" b="1" dirty="0">
                <a:solidFill>
                  <a:srgbClr val="1B2A4A"/>
                </a:solidFill>
                <a:latin typeface="Calibri" pitchFamily="34" charset="0"/>
                <a:ea typeface="Calibri" pitchFamily="34" charset="-122"/>
                <a:cs typeface="Calibri" pitchFamily="34" charset="-120"/>
              </a:rPr>
              <a:t>T+6h</a:t>
            </a:r>
            <a:endParaRPr lang="en-US" sz="1500" dirty="0"/>
          </a:p>
          <a:p>
            <a:pPr indent="0" marL="0">
              <a:buNone/>
            </a:pPr>
            <a:r>
              <a:rPr lang="en-US" sz="1250" b="1" dirty="0">
                <a:solidFill>
                  <a:srgbClr val="1B2A4A"/>
                </a:solidFill>
                <a:latin typeface="Calibri" pitchFamily="34" charset="0"/>
                <a:ea typeface="Calibri" pitchFamily="34" charset="-122"/>
                <a:cs typeface="Calibri" pitchFamily="34" charset="-120"/>
              </a:rPr>
              <a:t>Leadership Pressure</a:t>
            </a:r>
            <a:endParaRPr lang="en-US" sz="1500" dirty="0"/>
          </a:p>
        </p:txBody>
      </p:sp>
      <p:sp>
        <p:nvSpPr>
          <p:cNvPr id="22" name="Text 17"/>
          <p:cNvSpPr txBox="1"/>
          <p:nvPr/>
        </p:nvSpPr>
        <p:spPr>
          <a:xfrm>
            <a:off x="6460236" y="2651760"/>
            <a:ext cx="2155698" cy="3154680"/>
          </a:xfrm>
          <a:prstGeom prst="rect">
            <a:avLst/>
          </a:prstGeom>
          <a:noFill/>
          <a:ln/>
        </p:spPr>
        <p:txBody>
          <a:bodyPr wrap="square" lIns="0" tIns="0" rIns="0" bIns="0" rtlCol="0" anchor="t"/>
          <a:lstStyle/>
          <a:p>
            <a:pPr marL="165100" indent="-165100">
              <a:spcAft>
                <a:spcPts val="1000"/>
              </a:spcAft>
              <a:buSzPct val="100000"/>
              <a:buChar char="•"/>
            </a:pPr>
            <a:r>
              <a:rPr lang="en-US" sz="1400" dirty="0">
                <a:solidFill>
                  <a:srgbClr val="1E2E3A"/>
                </a:solidFill>
                <a:latin typeface="Calibri" pitchFamily="34" charset="0"/>
                <a:ea typeface="Calibri" pitchFamily="34" charset="-122"/>
                <a:cs typeface="Calibri" pitchFamily="34" charset="-120"/>
              </a:rPr>
              <a:t>What do we tell the Board, employees, customers and regulators?</a:t>
            </a:r>
            <a:endParaRPr lang="en-US" sz="1400" dirty="0"/>
          </a:p>
          <a:p>
            <a:pPr marL="165100" indent="-165100">
              <a:spcAft>
                <a:spcPts val="1000"/>
              </a:spcAft>
              <a:buSzPct val="100000"/>
              <a:buChar char="•"/>
            </a:pPr>
            <a:r>
              <a:rPr lang="en-US" sz="1400" dirty="0">
                <a:solidFill>
                  <a:srgbClr val="1E2E3A"/>
                </a:solidFill>
                <a:latin typeface="Calibri" pitchFamily="34" charset="0"/>
                <a:ea typeface="Calibri" pitchFamily="34" charset="-122"/>
                <a:cs typeface="Calibri" pitchFamily="34" charset="-120"/>
              </a:rPr>
              <a:t>Who approves external communications?</a:t>
            </a:r>
            <a:endParaRPr lang="en-US" sz="1400" dirty="0"/>
          </a:p>
          <a:p>
            <a:pPr marL="165100" indent="-165100">
              <a:spcAft>
                <a:spcPts val="1000"/>
              </a:spcAft>
              <a:buSzPct val="100000"/>
              <a:buChar char="•"/>
            </a:pPr>
            <a:r>
              <a:rPr lang="en-US" sz="1400" dirty="0">
                <a:solidFill>
                  <a:srgbClr val="1E2E3A"/>
                </a:solidFill>
                <a:latin typeface="Calibri" pitchFamily="34" charset="0"/>
                <a:ea typeface="Calibri" pitchFamily="34" charset="-122"/>
                <a:cs typeface="Calibri" pitchFamily="34" charset="-120"/>
              </a:rPr>
              <a:t>Do we invoke crisis management?</a:t>
            </a:r>
            <a:endParaRPr lang="en-US" sz="1400" dirty="0"/>
          </a:p>
        </p:txBody>
      </p:sp>
      <p:sp>
        <p:nvSpPr>
          <p:cNvPr id="23" name="Shape 18"/>
          <p:cNvSpPr/>
          <p:nvPr/>
        </p:nvSpPr>
        <p:spPr>
          <a:xfrm>
            <a:off x="9073134" y="1508760"/>
            <a:ext cx="2567178" cy="3931920"/>
          </a:xfrm>
          <a:prstGeom prst="roundRect">
            <a:avLst>
              <a:gd name="adj" fmla="val 4987"/>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24" name="Shape 19"/>
          <p:cNvSpPr/>
          <p:nvPr/>
        </p:nvSpPr>
        <p:spPr>
          <a:xfrm>
            <a:off x="9073134" y="1508760"/>
            <a:ext cx="2567178" cy="914400"/>
          </a:xfrm>
          <a:prstGeom prst="roundRect">
            <a:avLst>
              <a:gd name="adj" fmla="val 14000"/>
            </a:avLst>
          </a:prstGeom>
          <a:solidFill>
            <a:srgbClr val="F5E8E2"/>
          </a:solidFill>
          <a:ln w="12700">
            <a:solidFill>
              <a:srgbClr val="F5E8E2"/>
            </a:solidFill>
            <a:prstDash val="solid"/>
          </a:ln>
        </p:spPr>
      </p:sp>
      <p:sp>
        <p:nvSpPr>
          <p:cNvPr id="25" name="Shape 20"/>
          <p:cNvSpPr/>
          <p:nvPr/>
        </p:nvSpPr>
        <p:spPr>
          <a:xfrm>
            <a:off x="9256014" y="1737360"/>
            <a:ext cx="457200" cy="457200"/>
          </a:xfrm>
          <a:prstGeom prst="ellipse">
            <a:avLst/>
          </a:prstGeom>
          <a:solidFill>
            <a:srgbClr val="BD8C7B"/>
          </a:solidFill>
          <a:ln w="12700">
            <a:solidFill>
              <a:srgbClr val="BD8C7B"/>
            </a:solidFill>
            <a:prstDash val="solid"/>
          </a:ln>
        </p:spPr>
      </p:sp>
      <p:pic>
        <p:nvPicPr>
          <p:cNvPr id="26" name="Image 3" descr="preencoded.png">    </p:cNvPr>
          <p:cNvPicPr>
            <a:picLocks noChangeAspect="1"/>
          </p:cNvPicPr>
          <p:nvPr/>
        </p:nvPicPr>
        <p:blipFill>
          <a:blip r:embed="rId4"/>
          <a:stretch>
            <a:fillRect/>
          </a:stretch>
        </p:blipFill>
        <p:spPr>
          <a:xfrm>
            <a:off x="9374886" y="1856232"/>
            <a:ext cx="219456" cy="219456"/>
          </a:xfrm>
          <a:prstGeom prst="rect">
            <a:avLst/>
          </a:prstGeom>
        </p:spPr>
      </p:pic>
      <p:sp>
        <p:nvSpPr>
          <p:cNvPr id="27" name="Text 21"/>
          <p:cNvSpPr txBox="1"/>
          <p:nvPr/>
        </p:nvSpPr>
        <p:spPr>
          <a:xfrm>
            <a:off x="9850374" y="1600200"/>
            <a:ext cx="1698498" cy="749808"/>
          </a:xfrm>
          <a:prstGeom prst="rect">
            <a:avLst/>
          </a:prstGeom>
          <a:noFill/>
          <a:ln/>
        </p:spPr>
        <p:txBody>
          <a:bodyPr wrap="square" lIns="0" tIns="0" rIns="0" bIns="0" rtlCol="0" anchor="ctr"/>
          <a:lstStyle/>
          <a:p>
            <a:pPr indent="0" marL="0">
              <a:buNone/>
            </a:pPr>
            <a:r>
              <a:rPr lang="en-US" sz="1500" b="1" dirty="0">
                <a:solidFill>
                  <a:srgbClr val="1B2A4A"/>
                </a:solidFill>
                <a:latin typeface="Calibri" pitchFamily="34" charset="0"/>
                <a:ea typeface="Calibri" pitchFamily="34" charset="-122"/>
                <a:cs typeface="Calibri" pitchFamily="34" charset="-120"/>
              </a:rPr>
              <a:t>T+8h</a:t>
            </a:r>
            <a:endParaRPr lang="en-US" sz="1500" dirty="0"/>
          </a:p>
          <a:p>
            <a:pPr indent="0" marL="0">
              <a:buNone/>
            </a:pPr>
            <a:r>
              <a:rPr lang="en-US" sz="1250" b="1" dirty="0">
                <a:solidFill>
                  <a:srgbClr val="1B2A4A"/>
                </a:solidFill>
                <a:latin typeface="Calibri" pitchFamily="34" charset="0"/>
                <a:ea typeface="Calibri" pitchFamily="34" charset="-122"/>
                <a:cs typeface="Calibri" pitchFamily="34" charset="-120"/>
              </a:rPr>
              <a:t>Containment &amp; Recovery</a:t>
            </a:r>
            <a:endParaRPr lang="en-US" sz="1500" dirty="0"/>
          </a:p>
        </p:txBody>
      </p:sp>
      <p:sp>
        <p:nvSpPr>
          <p:cNvPr id="28" name="Text 22"/>
          <p:cNvSpPr txBox="1"/>
          <p:nvPr/>
        </p:nvSpPr>
        <p:spPr>
          <a:xfrm>
            <a:off x="9301734" y="2651760"/>
            <a:ext cx="2155698" cy="3154680"/>
          </a:xfrm>
          <a:prstGeom prst="rect">
            <a:avLst/>
          </a:prstGeom>
          <a:noFill/>
          <a:ln/>
        </p:spPr>
        <p:txBody>
          <a:bodyPr wrap="square" lIns="0" tIns="0" rIns="0" bIns="0" rtlCol="0" anchor="t"/>
          <a:lstStyle/>
          <a:p>
            <a:pPr marL="165100" indent="-165100">
              <a:spcAft>
                <a:spcPts val="1000"/>
              </a:spcAft>
              <a:buSzPct val="100000"/>
              <a:buChar char="•"/>
            </a:pPr>
            <a:r>
              <a:rPr lang="en-US" sz="1400" dirty="0">
                <a:solidFill>
                  <a:srgbClr val="1E2E3A"/>
                </a:solidFill>
                <a:latin typeface="Calibri" pitchFamily="34" charset="0"/>
                <a:ea typeface="Calibri" pitchFamily="34" charset="-122"/>
                <a:cs typeface="Calibri" pitchFamily="34" charset="-120"/>
              </a:rPr>
              <a:t>When is it safe to re-enable accounts and services?</a:t>
            </a:r>
            <a:endParaRPr lang="en-US" sz="1400" dirty="0"/>
          </a:p>
          <a:p>
            <a:pPr marL="165100" indent="-165100">
              <a:spcAft>
                <a:spcPts val="1000"/>
              </a:spcAft>
              <a:buSzPct val="100000"/>
              <a:buChar char="•"/>
            </a:pPr>
            <a:r>
              <a:rPr lang="en-US" sz="1400" dirty="0">
                <a:solidFill>
                  <a:srgbClr val="1E2E3A"/>
                </a:solidFill>
                <a:latin typeface="Calibri" pitchFamily="34" charset="0"/>
                <a:ea typeface="Calibri" pitchFamily="34" charset="-122"/>
                <a:cs typeface="Calibri" pitchFamily="34" charset="-120"/>
              </a:rPr>
              <a:t>How do we validate that the environment is trustworthy?</a:t>
            </a:r>
            <a:endParaRPr lang="en-US" sz="1400" dirty="0"/>
          </a:p>
          <a:p>
            <a:pPr marL="165100" indent="-165100">
              <a:spcAft>
                <a:spcPts val="1000"/>
              </a:spcAft>
              <a:buSzPct val="100000"/>
              <a:buChar char="•"/>
            </a:pPr>
            <a:r>
              <a:rPr lang="en-US" sz="1400" dirty="0">
                <a:solidFill>
                  <a:srgbClr val="1E2E3A"/>
                </a:solidFill>
                <a:latin typeface="Calibri" pitchFamily="34" charset="0"/>
                <a:ea typeface="Calibri" pitchFamily="34" charset="-122"/>
                <a:cs typeface="Calibri" pitchFamily="34" charset="-120"/>
              </a:rPr>
              <a:t>What lessons learned and improvements are needed?</a:t>
            </a:r>
            <a:endParaRPr lang="en-US" sz="1400" dirty="0"/>
          </a:p>
        </p:txBody>
      </p:sp>
      <p:sp>
        <p:nvSpPr>
          <p:cNvPr id="29" name="Text 23"/>
          <p:cNvSpPr txBox="1"/>
          <p:nvPr/>
        </p:nvSpPr>
        <p:spPr>
          <a:xfrm>
            <a:off x="548640" y="6254496"/>
            <a:ext cx="11091672" cy="256032"/>
          </a:xfrm>
          <a:prstGeom prst="rect">
            <a:avLst/>
          </a:prstGeom>
          <a:noFill/>
          <a:ln/>
        </p:spPr>
        <p:txBody>
          <a:bodyPr wrap="square" lIns="0" tIns="0" rIns="0" bIns="0" rtlCol="0" anchor="ctr"/>
          <a:lstStyle/>
          <a:p>
            <a:pPr indent="0" marL="0">
              <a:buNone/>
            </a:pPr>
            <a:r>
              <a:rPr lang="en-US" sz="1200" b="1" dirty="0">
                <a:solidFill>
                  <a:srgbClr val="465A69"/>
                </a:solidFill>
                <a:latin typeface="Calibri" pitchFamily="34" charset="0"/>
                <a:ea typeface="Calibri" pitchFamily="34" charset="-122"/>
                <a:cs typeface="Calibri" pitchFamily="34" charset="-120"/>
              </a:rPr>
              <a:t>Acronyms:  </a:t>
            </a:r>
            <a:pPr indent="0" marL="0">
              <a:buNone/>
            </a:pPr>
            <a:r>
              <a:rPr lang="en-US" sz="1200" dirty="0">
                <a:solidFill>
                  <a:srgbClr val="465A69"/>
                </a:solidFill>
                <a:latin typeface="Calibri" pitchFamily="34" charset="0"/>
                <a:ea typeface="Calibri" pitchFamily="34" charset="-122"/>
                <a:cs typeface="Calibri" pitchFamily="34" charset="-120"/>
              </a:rPr>
              <a:t>T+: time since the first signal;  OAuth: Open Authorization</a:t>
            </a:r>
            <a:endParaRPr lang="en-US" sz="1200" dirty="0"/>
          </a:p>
        </p:txBody>
      </p:sp>
      <p:sp>
        <p:nvSpPr>
          <p:cNvPr id="30" name="Shape 24"/>
          <p:cNvSpPr/>
          <p:nvPr/>
        </p:nvSpPr>
        <p:spPr>
          <a:xfrm>
            <a:off x="548640" y="6537960"/>
            <a:ext cx="763524" cy="274320"/>
          </a:xfrm>
          <a:prstGeom prst="roundRect">
            <a:avLst>
              <a:gd name="adj" fmla="val 50000"/>
            </a:avLst>
          </a:prstGeom>
          <a:solidFill>
            <a:srgbClr val="E4ECF2"/>
          </a:solidFill>
          <a:ln w="12700">
            <a:solidFill>
              <a:srgbClr val="E4ECF2"/>
            </a:solidFill>
            <a:prstDash val="solid"/>
          </a:ln>
        </p:spPr>
      </p:sp>
      <p:sp>
        <p:nvSpPr>
          <p:cNvPr id="31" name="Text 25"/>
          <p:cNvSpPr txBox="1"/>
          <p:nvPr/>
        </p:nvSpPr>
        <p:spPr>
          <a:xfrm>
            <a:off x="548640" y="6537960"/>
            <a:ext cx="763524" cy="274320"/>
          </a:xfrm>
          <a:prstGeom prst="rect">
            <a:avLst/>
          </a:prstGeom>
          <a:noFill/>
          <a:ln/>
        </p:spPr>
        <p:txBody>
          <a:bodyPr wrap="square" lIns="0" tIns="0" rIns="0" bIns="0" rtlCol="0" anchor="ctr"/>
          <a:lstStyle/>
          <a:p>
            <a:pPr algn="ctr" indent="0" marL="0">
              <a:buNone/>
            </a:pPr>
            <a:r>
              <a:rPr lang="en-US" sz="1200" b="1" dirty="0">
                <a:solidFill>
                  <a:srgbClr val="23405A"/>
                </a:solidFill>
                <a:latin typeface="Calibri" pitchFamily="34" charset="0"/>
                <a:ea typeface="Calibri" pitchFamily="34" charset="-122"/>
                <a:cs typeface="Calibri" pitchFamily="34" charset="-120"/>
              </a:rPr>
              <a:t>Start</a:t>
            </a:r>
            <a:endParaRPr lang="en-US" sz="1200" dirty="0"/>
          </a:p>
        </p:txBody>
      </p:sp>
      <p:pic>
        <p:nvPicPr>
          <p:cNvPr id="32" name="Image 4" descr="preencoded.png">
            <a:hlinkClick r:id="rId6" tooltip="Go to Start" action="ppaction://hlinksldjump"/>
          </p:cNvPr>
          <p:cNvPicPr>
            <a:picLocks noChangeAspect="1"/>
          </p:cNvPicPr>
          <p:nvPr/>
        </p:nvPicPr>
        <p:blipFill>
          <a:blip r:embed="rId5"/>
          <a:stretch>
            <a:fillRect/>
          </a:stretch>
        </p:blipFill>
        <p:spPr>
          <a:xfrm>
            <a:off x="548640" y="6537960"/>
            <a:ext cx="763524" cy="274320"/>
          </a:xfrm>
          <a:prstGeom prst="rect">
            <a:avLst/>
          </a:prstGeom>
        </p:spPr>
      </p:pic>
      <p:sp>
        <p:nvSpPr>
          <p:cNvPr id="33" name="Shape 26"/>
          <p:cNvSpPr/>
          <p:nvPr/>
        </p:nvSpPr>
        <p:spPr>
          <a:xfrm>
            <a:off x="1385316" y="6537960"/>
            <a:ext cx="1197864" cy="274320"/>
          </a:xfrm>
          <a:prstGeom prst="roundRect">
            <a:avLst>
              <a:gd name="adj" fmla="val 50000"/>
            </a:avLst>
          </a:prstGeom>
          <a:solidFill>
            <a:srgbClr val="3F6E8C"/>
          </a:solidFill>
          <a:ln w="12700">
            <a:solidFill>
              <a:srgbClr val="3F6E8C"/>
            </a:solidFill>
            <a:prstDash val="solid"/>
          </a:ln>
        </p:spPr>
      </p:sp>
      <p:sp>
        <p:nvSpPr>
          <p:cNvPr id="34" name="Text 27"/>
          <p:cNvSpPr txBox="1"/>
          <p:nvPr/>
        </p:nvSpPr>
        <p:spPr>
          <a:xfrm>
            <a:off x="1385316" y="6537960"/>
            <a:ext cx="1197864"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Scenario 1</a:t>
            </a:r>
            <a:endParaRPr lang="en-US" sz="1200" dirty="0"/>
          </a:p>
        </p:txBody>
      </p:sp>
      <p:pic>
        <p:nvPicPr>
          <p:cNvPr id="35" name="Image 5" descr="preencoded.png">
            <a:hlinkClick r:id="rId8" tooltip="Go to Scenario 1" action="ppaction://hlinksldjump"/>
          </p:cNvPr>
          <p:cNvPicPr>
            <a:picLocks noChangeAspect="1"/>
          </p:cNvPicPr>
          <p:nvPr/>
        </p:nvPicPr>
        <p:blipFill>
          <a:blip r:embed="rId7"/>
          <a:stretch>
            <a:fillRect/>
          </a:stretch>
        </p:blipFill>
        <p:spPr>
          <a:xfrm>
            <a:off x="1385316" y="6537960"/>
            <a:ext cx="1197864" cy="274320"/>
          </a:xfrm>
          <a:prstGeom prst="rect">
            <a:avLst/>
          </a:prstGeom>
        </p:spPr>
      </p:pic>
      <p:sp>
        <p:nvSpPr>
          <p:cNvPr id="36" name="Shape 28"/>
          <p:cNvSpPr/>
          <p:nvPr/>
        </p:nvSpPr>
        <p:spPr>
          <a:xfrm>
            <a:off x="2656332" y="6537960"/>
            <a:ext cx="1197864" cy="274320"/>
          </a:xfrm>
          <a:prstGeom prst="roundRect">
            <a:avLst>
              <a:gd name="adj" fmla="val 50000"/>
            </a:avLst>
          </a:prstGeom>
          <a:solidFill>
            <a:srgbClr val="F1F8F3"/>
          </a:solidFill>
          <a:ln w="12700">
            <a:solidFill>
              <a:srgbClr val="F1F8F3"/>
            </a:solidFill>
            <a:prstDash val="solid"/>
          </a:ln>
        </p:spPr>
      </p:sp>
      <p:sp>
        <p:nvSpPr>
          <p:cNvPr id="37" name="Text 29"/>
          <p:cNvSpPr txBox="1"/>
          <p:nvPr/>
        </p:nvSpPr>
        <p:spPr>
          <a:xfrm>
            <a:off x="2656332" y="6537960"/>
            <a:ext cx="1197864" cy="274320"/>
          </a:xfrm>
          <a:prstGeom prst="rect">
            <a:avLst/>
          </a:prstGeom>
          <a:noFill/>
          <a:ln/>
        </p:spPr>
        <p:txBody>
          <a:bodyPr wrap="square" lIns="0" tIns="0" rIns="0" bIns="0" rtlCol="0" anchor="ctr"/>
          <a:lstStyle/>
          <a:p>
            <a:pPr algn="ctr" indent="0" marL="0">
              <a:buNone/>
            </a:pPr>
            <a:r>
              <a:rPr lang="en-US" sz="1200" b="1" dirty="0">
                <a:solidFill>
                  <a:srgbClr val="4C8068"/>
                </a:solidFill>
                <a:latin typeface="Calibri" pitchFamily="34" charset="0"/>
                <a:ea typeface="Calibri" pitchFamily="34" charset="-122"/>
                <a:cs typeface="Calibri" pitchFamily="34" charset="-120"/>
              </a:rPr>
              <a:t>Scenario 2</a:t>
            </a:r>
            <a:endParaRPr lang="en-US" sz="1200" dirty="0"/>
          </a:p>
        </p:txBody>
      </p:sp>
      <p:pic>
        <p:nvPicPr>
          <p:cNvPr id="38" name="Image 6" descr="preencoded.png">
            <a:hlinkClick r:id="rId10" tooltip="Go to Scenario 2" action="ppaction://hlinksldjump"/>
          </p:cNvPr>
          <p:cNvPicPr>
            <a:picLocks noChangeAspect="1"/>
          </p:cNvPicPr>
          <p:nvPr/>
        </p:nvPicPr>
        <p:blipFill>
          <a:blip r:embed="rId9"/>
          <a:stretch>
            <a:fillRect/>
          </a:stretch>
        </p:blipFill>
        <p:spPr>
          <a:xfrm>
            <a:off x="2656332" y="6537960"/>
            <a:ext cx="1197864" cy="274320"/>
          </a:xfrm>
          <a:prstGeom prst="rect">
            <a:avLst/>
          </a:prstGeom>
        </p:spPr>
      </p:pic>
      <p:sp>
        <p:nvSpPr>
          <p:cNvPr id="39" name="Shape 30"/>
          <p:cNvSpPr/>
          <p:nvPr/>
        </p:nvSpPr>
        <p:spPr>
          <a:xfrm>
            <a:off x="3927348" y="6537960"/>
            <a:ext cx="1197864" cy="274320"/>
          </a:xfrm>
          <a:prstGeom prst="roundRect">
            <a:avLst>
              <a:gd name="adj" fmla="val 50000"/>
            </a:avLst>
          </a:prstGeom>
          <a:solidFill>
            <a:srgbClr val="F6F3FA"/>
          </a:solidFill>
          <a:ln w="12700">
            <a:solidFill>
              <a:srgbClr val="F6F3FA"/>
            </a:solidFill>
            <a:prstDash val="solid"/>
          </a:ln>
        </p:spPr>
      </p:sp>
      <p:sp>
        <p:nvSpPr>
          <p:cNvPr id="40" name="Text 31"/>
          <p:cNvSpPr txBox="1"/>
          <p:nvPr/>
        </p:nvSpPr>
        <p:spPr>
          <a:xfrm>
            <a:off x="3927348" y="6537960"/>
            <a:ext cx="1197864" cy="274320"/>
          </a:xfrm>
          <a:prstGeom prst="rect">
            <a:avLst/>
          </a:prstGeom>
          <a:noFill/>
          <a:ln/>
        </p:spPr>
        <p:txBody>
          <a:bodyPr wrap="square" lIns="0" tIns="0" rIns="0" bIns="0" rtlCol="0" anchor="ctr"/>
          <a:lstStyle/>
          <a:p>
            <a:pPr algn="ctr" indent="0" marL="0">
              <a:buNone/>
            </a:pPr>
            <a:r>
              <a:rPr lang="en-US" sz="1200" b="1" dirty="0">
                <a:solidFill>
                  <a:srgbClr val="6E5E94"/>
                </a:solidFill>
                <a:latin typeface="Calibri" pitchFamily="34" charset="0"/>
                <a:ea typeface="Calibri" pitchFamily="34" charset="-122"/>
                <a:cs typeface="Calibri" pitchFamily="34" charset="-120"/>
              </a:rPr>
              <a:t>Scenario 3</a:t>
            </a:r>
            <a:endParaRPr lang="en-US" sz="1200" dirty="0"/>
          </a:p>
        </p:txBody>
      </p:sp>
      <p:pic>
        <p:nvPicPr>
          <p:cNvPr id="41" name="Image 7" descr="preencoded.png">
            <a:hlinkClick r:id="rId12" tooltip="Go to Scenario 3" action="ppaction://hlinksldjump"/>
          </p:cNvPr>
          <p:cNvPicPr>
            <a:picLocks noChangeAspect="1"/>
          </p:cNvPicPr>
          <p:nvPr/>
        </p:nvPicPr>
        <p:blipFill>
          <a:blip r:embed="rId11"/>
          <a:stretch>
            <a:fillRect/>
          </a:stretch>
        </p:blipFill>
        <p:spPr>
          <a:xfrm>
            <a:off x="3927348" y="6537960"/>
            <a:ext cx="1197864" cy="274320"/>
          </a:xfrm>
          <a:prstGeom prst="rect">
            <a:avLst/>
          </a:prstGeom>
        </p:spPr>
      </p:pic>
      <p:sp>
        <p:nvSpPr>
          <p:cNvPr id="42" name="Shape 32"/>
          <p:cNvSpPr/>
          <p:nvPr/>
        </p:nvSpPr>
        <p:spPr>
          <a:xfrm>
            <a:off x="5198364" y="6537960"/>
            <a:ext cx="937260" cy="274320"/>
          </a:xfrm>
          <a:prstGeom prst="roundRect">
            <a:avLst>
              <a:gd name="adj" fmla="val 50000"/>
            </a:avLst>
          </a:prstGeom>
          <a:solidFill>
            <a:srgbClr val="E4ECF2"/>
          </a:solidFill>
          <a:ln w="12700">
            <a:solidFill>
              <a:srgbClr val="E4ECF2"/>
            </a:solidFill>
            <a:prstDash val="solid"/>
          </a:ln>
        </p:spPr>
      </p:sp>
      <p:sp>
        <p:nvSpPr>
          <p:cNvPr id="43" name="Text 33"/>
          <p:cNvSpPr txBox="1"/>
          <p:nvPr/>
        </p:nvSpPr>
        <p:spPr>
          <a:xfrm>
            <a:off x="5198364" y="6537960"/>
            <a:ext cx="937260" cy="274320"/>
          </a:xfrm>
          <a:prstGeom prst="rect">
            <a:avLst/>
          </a:prstGeom>
          <a:noFill/>
          <a:ln/>
        </p:spPr>
        <p:txBody>
          <a:bodyPr wrap="square" lIns="0" tIns="0" rIns="0" bIns="0" rtlCol="0" anchor="ctr"/>
          <a:lstStyle/>
          <a:p>
            <a:pPr algn="ctr" indent="0" marL="0">
              <a:buNone/>
            </a:pPr>
            <a:r>
              <a:rPr lang="en-US" sz="1200" b="1" dirty="0">
                <a:solidFill>
                  <a:srgbClr val="23405A"/>
                </a:solidFill>
                <a:latin typeface="Calibri" pitchFamily="34" charset="0"/>
                <a:ea typeface="Calibri" pitchFamily="34" charset="-122"/>
                <a:cs typeface="Calibri" pitchFamily="34" charset="-120"/>
              </a:rPr>
              <a:t>Closing</a:t>
            </a:r>
            <a:endParaRPr lang="en-US" sz="1200" dirty="0"/>
          </a:p>
        </p:txBody>
      </p:sp>
      <p:pic>
        <p:nvPicPr>
          <p:cNvPr id="44" name="Image 8" descr="preencoded.png">
            <a:hlinkClick r:id="rId14" tooltip="Go to Closing" action="ppaction://hlinksldjump"/>
          </p:cNvPr>
          <p:cNvPicPr>
            <a:picLocks noChangeAspect="1"/>
          </p:cNvPicPr>
          <p:nvPr/>
        </p:nvPicPr>
        <p:blipFill>
          <a:blip r:embed="rId13"/>
          <a:stretch>
            <a:fillRect/>
          </a:stretch>
        </p:blipFill>
        <p:spPr>
          <a:xfrm>
            <a:off x="5198364" y="6537960"/>
            <a:ext cx="937260" cy="274320"/>
          </a:xfrm>
          <a:prstGeom prst="rect">
            <a:avLst/>
          </a:prstGeom>
        </p:spPr>
      </p:pic>
      <p:sp>
        <p:nvSpPr>
          <p:cNvPr id="45" name="Text 34"/>
          <p:cNvSpPr txBox="1"/>
          <p:nvPr/>
        </p:nvSpPr>
        <p:spPr>
          <a:xfrm>
            <a:off x="11277295" y="6537960"/>
            <a:ext cx="365760" cy="274320"/>
          </a:xfrm>
          <a:prstGeom prst="rect">
            <a:avLst/>
          </a:prstGeom>
          <a:noFill/>
          <a:ln/>
        </p:spPr>
        <p:txBody>
          <a:bodyPr wrap="square" lIns="0" tIns="0" rIns="0" bIns="0" rtlCol="0" anchor="ctr"/>
          <a:lstStyle/>
          <a:p>
            <a:pPr algn="r" indent="0" marL="0">
              <a:buNone/>
            </a:pPr>
            <a:r>
              <a:rPr lang="en-US" sz="1200" dirty="0">
                <a:solidFill>
                  <a:srgbClr val="465A69"/>
                </a:solidFill>
                <a:latin typeface="Calibri" pitchFamily="34" charset="0"/>
                <a:ea typeface="Calibri" pitchFamily="34" charset="-122"/>
                <a:cs typeface="Calibri" pitchFamily="34" charset="-120"/>
              </a:rPr>
              <a:t>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E6EEF6"/>
        </a:solidFill>
      </p:bgPr>
    </p:bg>
    <p:spTree>
      <p:nvGrpSpPr>
        <p:cNvPr id="1" name=""/>
        <p:cNvGrpSpPr/>
        <p:nvPr/>
      </p:nvGrpSpPr>
      <p:grpSpPr>
        <a:xfrm>
          <a:off x="0" y="0"/>
          <a:ext cx="0" cy="0"/>
          <a:chOff x="0" y="0"/>
          <a:chExt cx="0" cy="0"/>
        </a:xfrm>
      </p:grpSpPr>
      <p:sp>
        <p:nvSpPr>
          <p:cNvPr id="2" name="Shape 0"/>
          <p:cNvSpPr/>
          <p:nvPr/>
        </p:nvSpPr>
        <p:spPr>
          <a:xfrm>
            <a:off x="548640" y="347472"/>
            <a:ext cx="2843784" cy="329184"/>
          </a:xfrm>
          <a:prstGeom prst="roundRect">
            <a:avLst>
              <a:gd name="adj" fmla="val 50000"/>
            </a:avLst>
          </a:prstGeom>
          <a:solidFill>
            <a:srgbClr val="F1F6FA"/>
          </a:solidFill>
          <a:ln w="12700">
            <a:solidFill>
              <a:srgbClr val="F1F6FA"/>
            </a:solidFill>
            <a:prstDash val="solid"/>
          </a:ln>
        </p:spPr>
      </p:sp>
      <p:sp>
        <p:nvSpPr>
          <p:cNvPr id="3" name="Text 1"/>
          <p:cNvSpPr txBox="1"/>
          <p:nvPr/>
        </p:nvSpPr>
        <p:spPr>
          <a:xfrm>
            <a:off x="548640" y="347472"/>
            <a:ext cx="2843784" cy="329184"/>
          </a:xfrm>
          <a:prstGeom prst="rect">
            <a:avLst/>
          </a:prstGeom>
          <a:noFill/>
          <a:ln/>
        </p:spPr>
        <p:txBody>
          <a:bodyPr wrap="square" lIns="0" tIns="0" rIns="0" bIns="0" rtlCol="0" anchor="ctr"/>
          <a:lstStyle/>
          <a:p>
            <a:pPr algn="ctr" indent="0" marL="0">
              <a:buNone/>
            </a:pPr>
            <a:r>
              <a:rPr lang="en-US" sz="1200" b="1" dirty="0">
                <a:solidFill>
                  <a:srgbClr val="3F6E8C"/>
                </a:solidFill>
                <a:latin typeface="Calibri" pitchFamily="34" charset="0"/>
                <a:ea typeface="Calibri" pitchFamily="34" charset="-122"/>
                <a:cs typeface="Calibri" pitchFamily="34" charset="-120"/>
              </a:rPr>
              <a:t>Scenario 1 recap, part 4 of 4</a:t>
            </a:r>
            <a:endParaRPr lang="en-US" sz="1200" dirty="0"/>
          </a:p>
        </p:txBody>
      </p:sp>
      <p:sp>
        <p:nvSpPr>
          <p:cNvPr id="4" name="Text 2"/>
          <p:cNvSpPr txBox="1"/>
          <p:nvPr/>
        </p:nvSpPr>
        <p:spPr>
          <a:xfrm>
            <a:off x="548640" y="749808"/>
            <a:ext cx="11064240" cy="548640"/>
          </a:xfrm>
          <a:prstGeom prst="rect">
            <a:avLst/>
          </a:prstGeom>
          <a:noFill/>
          <a:ln/>
        </p:spPr>
        <p:txBody>
          <a:bodyPr wrap="square" lIns="0" tIns="0" rIns="0" bIns="0" rtlCol="0" anchor="ctr"/>
          <a:lstStyle/>
          <a:p>
            <a:pPr indent="0" marL="0">
              <a:buNone/>
            </a:pPr>
            <a:r>
              <a:rPr lang="en-US" sz="2400" b="1" dirty="0">
                <a:solidFill>
                  <a:srgbClr val="1B2A4A"/>
                </a:solidFill>
                <a:latin typeface="Cambria" pitchFamily="34" charset="0"/>
                <a:ea typeface="Cambria" pitchFamily="34" charset="-122"/>
                <a:cs typeface="Cambria" pitchFamily="34" charset="-120"/>
              </a:rPr>
              <a:t>Exercise: Third-Party SaaS Compromise → M365 Breach</a:t>
            </a:r>
            <a:endParaRPr lang="en-US" sz="2400" dirty="0"/>
          </a:p>
        </p:txBody>
      </p:sp>
      <p:sp>
        <p:nvSpPr>
          <p:cNvPr id="5" name="Text 3"/>
          <p:cNvSpPr txBox="1"/>
          <p:nvPr/>
        </p:nvSpPr>
        <p:spPr>
          <a:xfrm>
            <a:off x="548640" y="1298448"/>
            <a:ext cx="11064240" cy="502920"/>
          </a:xfrm>
          <a:prstGeom prst="rect">
            <a:avLst/>
          </a:prstGeom>
          <a:noFill/>
          <a:ln/>
        </p:spPr>
        <p:txBody>
          <a:bodyPr wrap="square" lIns="0" tIns="0" rIns="0" bIns="0" rtlCol="0" anchor="t"/>
          <a:lstStyle/>
          <a:p>
            <a:pPr indent="0" marL="0">
              <a:buNone/>
            </a:pPr>
            <a:r>
              <a:rPr lang="en-US" sz="1300" b="1" dirty="0">
                <a:solidFill>
                  <a:srgbClr val="2E4756"/>
                </a:solidFill>
                <a:latin typeface="Calibri" pitchFamily="34" charset="0"/>
                <a:ea typeface="Calibri" pitchFamily="34" charset="-122"/>
                <a:cs typeface="Calibri" pitchFamily="34" charset="-120"/>
              </a:rPr>
              <a:t>Scenario objective: </a:t>
            </a:r>
            <a:pPr indent="0" marL="0">
              <a:buNone/>
            </a:pPr>
            <a:r>
              <a:rPr lang="en-US" sz="1300" dirty="0">
                <a:solidFill>
                  <a:srgbClr val="2E4756"/>
                </a:solidFill>
                <a:latin typeface="Calibri" pitchFamily="34" charset="0"/>
                <a:ea typeface="Calibri" pitchFamily="34" charset="-122"/>
                <a:cs typeface="Calibri" pitchFamily="34" charset="-120"/>
              </a:rPr>
              <a:t>Detect, contain and recover from a third-party compromise that leads to identity takeover, data exfiltration and potential business disruption.</a:t>
            </a:r>
            <a:endParaRPr lang="en-US" sz="1300" dirty="0"/>
          </a:p>
        </p:txBody>
      </p:sp>
      <p:sp>
        <p:nvSpPr>
          <p:cNvPr id="6" name="Shape 4"/>
          <p:cNvSpPr/>
          <p:nvPr/>
        </p:nvSpPr>
        <p:spPr>
          <a:xfrm>
            <a:off x="548640" y="1920240"/>
            <a:ext cx="2601468" cy="4023360"/>
          </a:xfrm>
          <a:prstGeom prst="roundRect">
            <a:avLst>
              <a:gd name="adj" fmla="val 4921"/>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pic>
        <p:nvPicPr>
          <p:cNvPr id="7" name="Image 0" descr="preencoded.png">    </p:cNvPr>
          <p:cNvPicPr>
            <a:picLocks noChangeAspect="1"/>
          </p:cNvPicPr>
          <p:nvPr/>
        </p:nvPicPr>
        <p:blipFill>
          <a:blip r:embed="rId1"/>
          <a:stretch>
            <a:fillRect/>
          </a:stretch>
        </p:blipFill>
        <p:spPr>
          <a:xfrm>
            <a:off x="749808" y="2121408"/>
            <a:ext cx="365760" cy="365760"/>
          </a:xfrm>
          <a:prstGeom prst="rect">
            <a:avLst/>
          </a:prstGeom>
        </p:spPr>
      </p:pic>
      <p:sp>
        <p:nvSpPr>
          <p:cNvPr id="8" name="Text 5"/>
          <p:cNvSpPr txBox="1"/>
          <p:nvPr/>
        </p:nvSpPr>
        <p:spPr>
          <a:xfrm>
            <a:off x="1207008" y="2075688"/>
            <a:ext cx="1824228" cy="475488"/>
          </a:xfrm>
          <a:prstGeom prst="rect">
            <a:avLst/>
          </a:prstGeom>
          <a:noFill/>
          <a:ln/>
        </p:spPr>
        <p:txBody>
          <a:bodyPr wrap="square" lIns="0" tIns="0" rIns="0" bIns="0" rtlCol="0" anchor="ctr"/>
          <a:lstStyle/>
          <a:p>
            <a:pPr indent="0" marL="0">
              <a:buNone/>
            </a:pPr>
            <a:r>
              <a:rPr lang="en-US" sz="1400" b="1" dirty="0">
                <a:solidFill>
                  <a:srgbClr val="23405A"/>
                </a:solidFill>
                <a:latin typeface="Calibri" pitchFamily="34" charset="0"/>
                <a:ea typeface="Calibri" pitchFamily="34" charset="-122"/>
                <a:cs typeface="Calibri" pitchFamily="34" charset="-120"/>
              </a:rPr>
              <a:t>Business Impact (Examples)</a:t>
            </a:r>
            <a:endParaRPr lang="en-US" sz="1400" dirty="0"/>
          </a:p>
        </p:txBody>
      </p:sp>
      <p:sp>
        <p:nvSpPr>
          <p:cNvPr id="9" name="Text 6"/>
          <p:cNvSpPr txBox="1"/>
          <p:nvPr/>
        </p:nvSpPr>
        <p:spPr>
          <a:xfrm>
            <a:off x="777240" y="2697480"/>
            <a:ext cx="2189988" cy="3154680"/>
          </a:xfrm>
          <a:prstGeom prst="rect">
            <a:avLst/>
          </a:prstGeom>
          <a:noFill/>
          <a:ln/>
        </p:spPr>
        <p:txBody>
          <a:bodyPr wrap="square" lIns="0" tIns="0" rIns="0" bIns="0" rtlCol="0" anchor="t"/>
          <a:lstStyle/>
          <a:p>
            <a:pPr marL="165100" indent="-165100">
              <a:spcAft>
                <a:spcPts val="600"/>
              </a:spcAft>
              <a:buSzPct val="100000"/>
              <a:buChar char="•"/>
            </a:pPr>
            <a:r>
              <a:rPr lang="en-US" sz="1200" dirty="0">
                <a:solidFill>
                  <a:srgbClr val="1E2E3A"/>
                </a:solidFill>
                <a:latin typeface="Calibri" pitchFamily="34" charset="0"/>
                <a:ea typeface="Calibri" pitchFamily="34" charset="-122"/>
                <a:cs typeface="Calibri" pitchFamily="34" charset="-120"/>
              </a:rPr>
              <a:t>Executive communications disrupted</a:t>
            </a:r>
            <a:endParaRPr lang="en-US" sz="1200" dirty="0"/>
          </a:p>
          <a:p>
            <a:pPr marL="165100" indent="-165100">
              <a:spcAft>
                <a:spcPts val="600"/>
              </a:spcAft>
              <a:buSzPct val="100000"/>
              <a:buChar char="•"/>
            </a:pPr>
            <a:r>
              <a:rPr lang="en-US" sz="1200" dirty="0">
                <a:solidFill>
                  <a:srgbClr val="1E2E3A"/>
                </a:solidFill>
                <a:latin typeface="Calibri" pitchFamily="34" charset="0"/>
                <a:ea typeface="Calibri" pitchFamily="34" charset="-122"/>
                <a:cs typeface="Calibri" pitchFamily="34" charset="-120"/>
              </a:rPr>
              <a:t>Potential loss of Board and commercial strategy data</a:t>
            </a:r>
            <a:endParaRPr lang="en-US" sz="1200" dirty="0"/>
          </a:p>
          <a:p>
            <a:pPr marL="165100" indent="-165100">
              <a:spcAft>
                <a:spcPts val="600"/>
              </a:spcAft>
              <a:buSzPct val="100000"/>
              <a:buChar char="•"/>
            </a:pPr>
            <a:r>
              <a:rPr lang="en-US" sz="1200" dirty="0">
                <a:solidFill>
                  <a:srgbClr val="1E2E3A"/>
                </a:solidFill>
                <a:latin typeface="Calibri" pitchFamily="34" charset="0"/>
                <a:ea typeface="Calibri" pitchFamily="34" charset="-122"/>
                <a:cs typeface="Calibri" pitchFamily="34" charset="-120"/>
              </a:rPr>
              <a:t>Loss of employee trust</a:t>
            </a:r>
            <a:endParaRPr lang="en-US" sz="1200" dirty="0"/>
          </a:p>
          <a:p>
            <a:pPr marL="165100" indent="-165100">
              <a:spcAft>
                <a:spcPts val="600"/>
              </a:spcAft>
              <a:buSzPct val="100000"/>
              <a:buChar char="•"/>
            </a:pPr>
            <a:r>
              <a:rPr lang="en-US" sz="1200" dirty="0">
                <a:solidFill>
                  <a:srgbClr val="1E2E3A"/>
                </a:solidFill>
                <a:latin typeface="Calibri" pitchFamily="34" charset="0"/>
                <a:ea typeface="Calibri" pitchFamily="34" charset="-122"/>
                <a:cs typeface="Calibri" pitchFamily="34" charset="-120"/>
              </a:rPr>
              <a:t>Regulatory notification obligations (e.g., SEC, EU, state)</a:t>
            </a:r>
            <a:endParaRPr lang="en-US" sz="1200" dirty="0"/>
          </a:p>
          <a:p>
            <a:pPr marL="165100" indent="-165100">
              <a:spcAft>
                <a:spcPts val="600"/>
              </a:spcAft>
              <a:buSzPct val="100000"/>
              <a:buChar char="•"/>
            </a:pPr>
            <a:r>
              <a:rPr lang="en-US" sz="1200" dirty="0">
                <a:solidFill>
                  <a:srgbClr val="1E2E3A"/>
                </a:solidFill>
                <a:latin typeface="Calibri" pitchFamily="34" charset="0"/>
                <a:ea typeface="Calibri" pitchFamily="34" charset="-122"/>
                <a:cs typeface="Calibri" pitchFamily="34" charset="-120"/>
              </a:rPr>
              <a:t>Impact on ongoing R&amp;D and external partnerships</a:t>
            </a:r>
            <a:endParaRPr lang="en-US" sz="1200" dirty="0"/>
          </a:p>
        </p:txBody>
      </p:sp>
      <p:sp>
        <p:nvSpPr>
          <p:cNvPr id="10" name="Shape 7"/>
          <p:cNvSpPr/>
          <p:nvPr/>
        </p:nvSpPr>
        <p:spPr>
          <a:xfrm>
            <a:off x="3378708" y="1920240"/>
            <a:ext cx="2601468" cy="4023360"/>
          </a:xfrm>
          <a:prstGeom prst="roundRect">
            <a:avLst>
              <a:gd name="adj" fmla="val 4921"/>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pic>
        <p:nvPicPr>
          <p:cNvPr id="11" name="Image 1" descr="preencoded.png">    </p:cNvPr>
          <p:cNvPicPr>
            <a:picLocks noChangeAspect="1"/>
          </p:cNvPicPr>
          <p:nvPr/>
        </p:nvPicPr>
        <p:blipFill>
          <a:blip r:embed="rId2"/>
          <a:stretch>
            <a:fillRect/>
          </a:stretch>
        </p:blipFill>
        <p:spPr>
          <a:xfrm>
            <a:off x="3579876" y="2121408"/>
            <a:ext cx="365760" cy="365760"/>
          </a:xfrm>
          <a:prstGeom prst="rect">
            <a:avLst/>
          </a:prstGeom>
        </p:spPr>
      </p:pic>
      <p:sp>
        <p:nvSpPr>
          <p:cNvPr id="12" name="Text 8"/>
          <p:cNvSpPr txBox="1"/>
          <p:nvPr/>
        </p:nvSpPr>
        <p:spPr>
          <a:xfrm>
            <a:off x="4037076" y="2075688"/>
            <a:ext cx="1824228" cy="475488"/>
          </a:xfrm>
          <a:prstGeom prst="rect">
            <a:avLst/>
          </a:prstGeom>
          <a:noFill/>
          <a:ln/>
        </p:spPr>
        <p:txBody>
          <a:bodyPr wrap="square" lIns="0" tIns="0" rIns="0" bIns="0" rtlCol="0" anchor="ctr"/>
          <a:lstStyle/>
          <a:p>
            <a:pPr indent="0" marL="0">
              <a:buNone/>
            </a:pPr>
            <a:r>
              <a:rPr lang="en-US" sz="1400" b="1" dirty="0">
                <a:solidFill>
                  <a:srgbClr val="23405A"/>
                </a:solidFill>
                <a:latin typeface="Calibri" pitchFamily="34" charset="0"/>
                <a:ea typeface="Calibri" pitchFamily="34" charset="-122"/>
                <a:cs typeface="Calibri" pitchFamily="34" charset="-120"/>
              </a:rPr>
              <a:t>Key Time-Based Decisions</a:t>
            </a:r>
            <a:endParaRPr lang="en-US" sz="1400" dirty="0"/>
          </a:p>
        </p:txBody>
      </p:sp>
      <p:sp>
        <p:nvSpPr>
          <p:cNvPr id="13" name="Text 9"/>
          <p:cNvSpPr txBox="1"/>
          <p:nvPr/>
        </p:nvSpPr>
        <p:spPr>
          <a:xfrm>
            <a:off x="3607308" y="2697480"/>
            <a:ext cx="2189988" cy="3154680"/>
          </a:xfrm>
          <a:prstGeom prst="rect">
            <a:avLst/>
          </a:prstGeom>
          <a:noFill/>
          <a:ln/>
        </p:spPr>
        <p:txBody>
          <a:bodyPr wrap="square" lIns="0" tIns="0" rIns="0" bIns="0" rtlCol="0" anchor="t"/>
          <a:lstStyle/>
          <a:p>
            <a:pPr marL="165100" indent="-165100">
              <a:spcAft>
                <a:spcPts val="600"/>
              </a:spcAft>
              <a:buSzPct val="100000"/>
              <a:buChar char="•"/>
            </a:pPr>
            <a:r>
              <a:rPr lang="en-US" sz="1200" dirty="0">
                <a:solidFill>
                  <a:srgbClr val="1E2E3A"/>
                </a:solidFill>
                <a:latin typeface="Calibri" pitchFamily="34" charset="0"/>
                <a:ea typeface="Calibri" pitchFamily="34" charset="-122"/>
                <a:cs typeface="Calibri" pitchFamily="34" charset="-120"/>
              </a:rPr>
              <a:t>T+30m: Reset or monitor?</a:t>
            </a:r>
            <a:endParaRPr lang="en-US" sz="1200" dirty="0"/>
          </a:p>
          <a:p>
            <a:pPr marL="165100" indent="-165100">
              <a:spcAft>
                <a:spcPts val="600"/>
              </a:spcAft>
              <a:buSzPct val="100000"/>
              <a:buChar char="•"/>
            </a:pPr>
            <a:r>
              <a:rPr lang="en-US" sz="1200" dirty="0">
                <a:solidFill>
                  <a:srgbClr val="1E2E3A"/>
                </a:solidFill>
                <a:latin typeface="Calibri" pitchFamily="34" charset="0"/>
                <a:ea typeface="Calibri" pitchFamily="34" charset="-122"/>
                <a:cs typeface="Calibri" pitchFamily="34" charset="-120"/>
              </a:rPr>
              <a:t>T+1h: Disable accounts or keep operational?</a:t>
            </a:r>
            <a:endParaRPr lang="en-US" sz="1200" dirty="0"/>
          </a:p>
          <a:p>
            <a:pPr marL="165100" indent="-165100">
              <a:spcAft>
                <a:spcPts val="600"/>
              </a:spcAft>
              <a:buSzPct val="100000"/>
              <a:buChar char="•"/>
            </a:pPr>
            <a:r>
              <a:rPr lang="en-US" sz="1200" dirty="0">
                <a:solidFill>
                  <a:srgbClr val="1E2E3A"/>
                </a:solidFill>
                <a:latin typeface="Calibri" pitchFamily="34" charset="0"/>
                <a:ea typeface="Calibri" pitchFamily="34" charset="-122"/>
                <a:cs typeface="Calibri" pitchFamily="34" charset="-120"/>
              </a:rPr>
              <a:t>T+2h: Notify executives and Legal?</a:t>
            </a:r>
            <a:endParaRPr lang="en-US" sz="1200" dirty="0"/>
          </a:p>
          <a:p>
            <a:pPr marL="165100" indent="-165100">
              <a:spcAft>
                <a:spcPts val="600"/>
              </a:spcAft>
              <a:buSzPct val="100000"/>
              <a:buChar char="•"/>
            </a:pPr>
            <a:r>
              <a:rPr lang="en-US" sz="1200" dirty="0">
                <a:solidFill>
                  <a:srgbClr val="1E2E3A"/>
                </a:solidFill>
                <a:latin typeface="Calibri" pitchFamily="34" charset="0"/>
                <a:ea typeface="Calibri" pitchFamily="34" charset="-122"/>
                <a:cs typeface="Calibri" pitchFamily="34" charset="-120"/>
              </a:rPr>
              <a:t>T+4h: Suspend vendor integration?</a:t>
            </a:r>
            <a:endParaRPr lang="en-US" sz="1200" dirty="0"/>
          </a:p>
          <a:p>
            <a:pPr marL="165100" indent="-165100">
              <a:spcAft>
                <a:spcPts val="600"/>
              </a:spcAft>
              <a:buSzPct val="100000"/>
              <a:buChar char="•"/>
            </a:pPr>
            <a:r>
              <a:rPr lang="en-US" sz="1200" dirty="0">
                <a:solidFill>
                  <a:srgbClr val="1E2E3A"/>
                </a:solidFill>
                <a:latin typeface="Calibri" pitchFamily="34" charset="0"/>
                <a:ea typeface="Calibri" pitchFamily="34" charset="-122"/>
                <a:cs typeface="Calibri" pitchFamily="34" charset="-120"/>
              </a:rPr>
              <a:t>T+6h: External communications?</a:t>
            </a:r>
            <a:endParaRPr lang="en-US" sz="1200" dirty="0"/>
          </a:p>
          <a:p>
            <a:pPr marL="165100" indent="-165100">
              <a:spcAft>
                <a:spcPts val="600"/>
              </a:spcAft>
              <a:buSzPct val="100000"/>
              <a:buChar char="•"/>
            </a:pPr>
            <a:r>
              <a:rPr lang="en-US" sz="1200" dirty="0">
                <a:solidFill>
                  <a:srgbClr val="1E2E3A"/>
                </a:solidFill>
                <a:latin typeface="Calibri" pitchFamily="34" charset="0"/>
                <a:ea typeface="Calibri" pitchFamily="34" charset="-122"/>
                <a:cs typeface="Calibri" pitchFamily="34" charset="-120"/>
              </a:rPr>
              <a:t>T+8h: Begin recovery and re-enable?</a:t>
            </a:r>
            <a:endParaRPr lang="en-US" sz="1200" dirty="0"/>
          </a:p>
        </p:txBody>
      </p:sp>
      <p:sp>
        <p:nvSpPr>
          <p:cNvPr id="14" name="Shape 10"/>
          <p:cNvSpPr/>
          <p:nvPr/>
        </p:nvSpPr>
        <p:spPr>
          <a:xfrm>
            <a:off x="6208776" y="1920240"/>
            <a:ext cx="2601468" cy="4023360"/>
          </a:xfrm>
          <a:prstGeom prst="roundRect">
            <a:avLst>
              <a:gd name="adj" fmla="val 4921"/>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pic>
        <p:nvPicPr>
          <p:cNvPr id="15" name="Image 2" descr="preencoded.png">    </p:cNvPr>
          <p:cNvPicPr>
            <a:picLocks noChangeAspect="1"/>
          </p:cNvPicPr>
          <p:nvPr/>
        </p:nvPicPr>
        <p:blipFill>
          <a:blip r:embed="rId3"/>
          <a:stretch>
            <a:fillRect/>
          </a:stretch>
        </p:blipFill>
        <p:spPr>
          <a:xfrm>
            <a:off x="6409944" y="2121408"/>
            <a:ext cx="365760" cy="365760"/>
          </a:xfrm>
          <a:prstGeom prst="rect">
            <a:avLst/>
          </a:prstGeom>
        </p:spPr>
      </p:pic>
      <p:sp>
        <p:nvSpPr>
          <p:cNvPr id="16" name="Text 11"/>
          <p:cNvSpPr txBox="1"/>
          <p:nvPr/>
        </p:nvSpPr>
        <p:spPr>
          <a:xfrm>
            <a:off x="6867144" y="2075688"/>
            <a:ext cx="1824228" cy="475488"/>
          </a:xfrm>
          <a:prstGeom prst="rect">
            <a:avLst/>
          </a:prstGeom>
          <a:noFill/>
          <a:ln/>
        </p:spPr>
        <p:txBody>
          <a:bodyPr wrap="square" lIns="0" tIns="0" rIns="0" bIns="0" rtlCol="0" anchor="ctr"/>
          <a:lstStyle/>
          <a:p>
            <a:pPr indent="0" marL="0">
              <a:buNone/>
            </a:pPr>
            <a:r>
              <a:rPr lang="en-US" sz="1400" b="1" dirty="0">
                <a:solidFill>
                  <a:srgbClr val="23405A"/>
                </a:solidFill>
                <a:latin typeface="Calibri" pitchFamily="34" charset="0"/>
                <a:ea typeface="Calibri" pitchFamily="34" charset="-122"/>
                <a:cs typeface="Calibri" pitchFamily="34" charset="-120"/>
              </a:rPr>
              <a:t>Success Criteria for the Exercise</a:t>
            </a:r>
            <a:endParaRPr lang="en-US" sz="1400" dirty="0"/>
          </a:p>
        </p:txBody>
      </p:sp>
      <p:pic>
        <p:nvPicPr>
          <p:cNvPr id="17" name="Image 3" descr="preencoded.png">    </p:cNvPr>
          <p:cNvPicPr>
            <a:picLocks noChangeAspect="1"/>
          </p:cNvPicPr>
          <p:nvPr/>
        </p:nvPicPr>
        <p:blipFill>
          <a:blip r:embed="rId4"/>
          <a:stretch>
            <a:fillRect/>
          </a:stretch>
        </p:blipFill>
        <p:spPr>
          <a:xfrm>
            <a:off x="6437376" y="2724912"/>
            <a:ext cx="201168" cy="201168"/>
          </a:xfrm>
          <a:prstGeom prst="rect">
            <a:avLst/>
          </a:prstGeom>
        </p:spPr>
      </p:pic>
      <p:sp>
        <p:nvSpPr>
          <p:cNvPr id="18" name="Text 12"/>
          <p:cNvSpPr txBox="1"/>
          <p:nvPr/>
        </p:nvSpPr>
        <p:spPr>
          <a:xfrm>
            <a:off x="6711696" y="2697480"/>
            <a:ext cx="1915668" cy="630936"/>
          </a:xfrm>
          <a:prstGeom prst="rect">
            <a:avLst/>
          </a:prstGeom>
          <a:noFill/>
          <a:ln/>
        </p:spPr>
        <p:txBody>
          <a:bodyPr wrap="square" lIns="0" tIns="0" rIns="0" bIns="0" rtlCol="0" anchor="t"/>
          <a:lstStyle/>
          <a:p>
            <a:pPr indent="0" marL="0">
              <a:buNone/>
            </a:pPr>
            <a:r>
              <a:rPr lang="en-US" sz="1200" dirty="0">
                <a:solidFill>
                  <a:srgbClr val="1E2E3A"/>
                </a:solidFill>
                <a:latin typeface="Calibri" pitchFamily="34" charset="0"/>
                <a:ea typeface="Calibri" pitchFamily="34" charset="-122"/>
                <a:cs typeface="Calibri" pitchFamily="34" charset="-120"/>
              </a:rPr>
              <a:t>Clear decision-making under uncertainty</a:t>
            </a:r>
            <a:endParaRPr lang="en-US" sz="1200" dirty="0"/>
          </a:p>
        </p:txBody>
      </p:sp>
      <p:pic>
        <p:nvPicPr>
          <p:cNvPr id="19" name="Image 4" descr="preencoded.png">    </p:cNvPr>
          <p:cNvPicPr>
            <a:picLocks noChangeAspect="1"/>
          </p:cNvPicPr>
          <p:nvPr/>
        </p:nvPicPr>
        <p:blipFill>
          <a:blip r:embed="rId5"/>
          <a:stretch>
            <a:fillRect/>
          </a:stretch>
        </p:blipFill>
        <p:spPr>
          <a:xfrm>
            <a:off x="6437376" y="3355848"/>
            <a:ext cx="201168" cy="201168"/>
          </a:xfrm>
          <a:prstGeom prst="rect">
            <a:avLst/>
          </a:prstGeom>
        </p:spPr>
      </p:pic>
      <p:sp>
        <p:nvSpPr>
          <p:cNvPr id="20" name="Text 13"/>
          <p:cNvSpPr txBox="1"/>
          <p:nvPr/>
        </p:nvSpPr>
        <p:spPr>
          <a:xfrm>
            <a:off x="6711696" y="3328416"/>
            <a:ext cx="1915668" cy="630936"/>
          </a:xfrm>
          <a:prstGeom prst="rect">
            <a:avLst/>
          </a:prstGeom>
          <a:noFill/>
          <a:ln/>
        </p:spPr>
        <p:txBody>
          <a:bodyPr wrap="square" lIns="0" tIns="0" rIns="0" bIns="0" rtlCol="0" anchor="t"/>
          <a:lstStyle/>
          <a:p>
            <a:pPr indent="0" marL="0">
              <a:buNone/>
            </a:pPr>
            <a:r>
              <a:rPr lang="en-US" sz="1200" dirty="0">
                <a:solidFill>
                  <a:srgbClr val="1E2E3A"/>
                </a:solidFill>
                <a:latin typeface="Calibri" pitchFamily="34" charset="0"/>
                <a:ea typeface="Calibri" pitchFamily="34" charset="-122"/>
                <a:cs typeface="Calibri" pitchFamily="34" charset="-120"/>
              </a:rPr>
              <a:t>Effective coordination across Security, IT, Legal, Communications, and Business</a:t>
            </a:r>
            <a:endParaRPr lang="en-US" sz="1200" dirty="0"/>
          </a:p>
        </p:txBody>
      </p:sp>
      <p:pic>
        <p:nvPicPr>
          <p:cNvPr id="21" name="Image 5" descr="preencoded.png">    </p:cNvPr>
          <p:cNvPicPr>
            <a:picLocks noChangeAspect="1"/>
          </p:cNvPicPr>
          <p:nvPr/>
        </p:nvPicPr>
        <p:blipFill>
          <a:blip r:embed="rId6"/>
          <a:stretch>
            <a:fillRect/>
          </a:stretch>
        </p:blipFill>
        <p:spPr>
          <a:xfrm>
            <a:off x="6437376" y="3986784"/>
            <a:ext cx="201168" cy="201168"/>
          </a:xfrm>
          <a:prstGeom prst="rect">
            <a:avLst/>
          </a:prstGeom>
        </p:spPr>
      </p:pic>
      <p:sp>
        <p:nvSpPr>
          <p:cNvPr id="22" name="Text 14"/>
          <p:cNvSpPr txBox="1"/>
          <p:nvPr/>
        </p:nvSpPr>
        <p:spPr>
          <a:xfrm>
            <a:off x="6711696" y="3959352"/>
            <a:ext cx="1915668" cy="630936"/>
          </a:xfrm>
          <a:prstGeom prst="rect">
            <a:avLst/>
          </a:prstGeom>
          <a:noFill/>
          <a:ln/>
        </p:spPr>
        <p:txBody>
          <a:bodyPr wrap="square" lIns="0" tIns="0" rIns="0" bIns="0" rtlCol="0" anchor="t"/>
          <a:lstStyle/>
          <a:p>
            <a:pPr indent="0" marL="0">
              <a:buNone/>
            </a:pPr>
            <a:r>
              <a:rPr lang="en-US" sz="1200" dirty="0">
                <a:solidFill>
                  <a:srgbClr val="1E2E3A"/>
                </a:solidFill>
                <a:latin typeface="Calibri" pitchFamily="34" charset="0"/>
                <a:ea typeface="Calibri" pitchFamily="34" charset="-122"/>
                <a:cs typeface="Calibri" pitchFamily="34" charset="-120"/>
              </a:rPr>
              <a:t>Ability to maintain critical operations (BC)</a:t>
            </a:r>
            <a:endParaRPr lang="en-US" sz="1200" dirty="0"/>
          </a:p>
        </p:txBody>
      </p:sp>
      <p:pic>
        <p:nvPicPr>
          <p:cNvPr id="23" name="Image 6" descr="preencoded.png">    </p:cNvPr>
          <p:cNvPicPr>
            <a:picLocks noChangeAspect="1"/>
          </p:cNvPicPr>
          <p:nvPr/>
        </p:nvPicPr>
        <p:blipFill>
          <a:blip r:embed="rId7"/>
          <a:stretch>
            <a:fillRect/>
          </a:stretch>
        </p:blipFill>
        <p:spPr>
          <a:xfrm>
            <a:off x="6437376" y="4617720"/>
            <a:ext cx="201168" cy="201168"/>
          </a:xfrm>
          <a:prstGeom prst="rect">
            <a:avLst/>
          </a:prstGeom>
        </p:spPr>
      </p:pic>
      <p:sp>
        <p:nvSpPr>
          <p:cNvPr id="24" name="Text 15"/>
          <p:cNvSpPr txBox="1"/>
          <p:nvPr/>
        </p:nvSpPr>
        <p:spPr>
          <a:xfrm>
            <a:off x="6711696" y="4590288"/>
            <a:ext cx="1915668" cy="630936"/>
          </a:xfrm>
          <a:prstGeom prst="rect">
            <a:avLst/>
          </a:prstGeom>
          <a:noFill/>
          <a:ln/>
        </p:spPr>
        <p:txBody>
          <a:bodyPr wrap="square" lIns="0" tIns="0" rIns="0" bIns="0" rtlCol="0" anchor="t"/>
          <a:lstStyle/>
          <a:p>
            <a:pPr indent="0" marL="0">
              <a:buNone/>
            </a:pPr>
            <a:r>
              <a:rPr lang="en-US" sz="1200" dirty="0">
                <a:solidFill>
                  <a:srgbClr val="1E2E3A"/>
                </a:solidFill>
                <a:latin typeface="Calibri" pitchFamily="34" charset="0"/>
                <a:ea typeface="Calibri" pitchFamily="34" charset="-122"/>
                <a:cs typeface="Calibri" pitchFamily="34" charset="-120"/>
              </a:rPr>
              <a:t>Validated recovery approach (DR)</a:t>
            </a:r>
            <a:endParaRPr lang="en-US" sz="1200" dirty="0"/>
          </a:p>
        </p:txBody>
      </p:sp>
      <p:pic>
        <p:nvPicPr>
          <p:cNvPr id="25" name="Image 7" descr="preencoded.png">    </p:cNvPr>
          <p:cNvPicPr>
            <a:picLocks noChangeAspect="1"/>
          </p:cNvPicPr>
          <p:nvPr/>
        </p:nvPicPr>
        <p:blipFill>
          <a:blip r:embed="rId8"/>
          <a:stretch>
            <a:fillRect/>
          </a:stretch>
        </p:blipFill>
        <p:spPr>
          <a:xfrm>
            <a:off x="6437376" y="5248656"/>
            <a:ext cx="201168" cy="201168"/>
          </a:xfrm>
          <a:prstGeom prst="rect">
            <a:avLst/>
          </a:prstGeom>
        </p:spPr>
      </p:pic>
      <p:sp>
        <p:nvSpPr>
          <p:cNvPr id="26" name="Text 16"/>
          <p:cNvSpPr txBox="1"/>
          <p:nvPr/>
        </p:nvSpPr>
        <p:spPr>
          <a:xfrm>
            <a:off x="6711696" y="5221224"/>
            <a:ext cx="1915668" cy="630936"/>
          </a:xfrm>
          <a:prstGeom prst="rect">
            <a:avLst/>
          </a:prstGeom>
          <a:noFill/>
          <a:ln/>
        </p:spPr>
        <p:txBody>
          <a:bodyPr wrap="square" lIns="0" tIns="0" rIns="0" bIns="0" rtlCol="0" anchor="t"/>
          <a:lstStyle/>
          <a:p>
            <a:pPr indent="0" marL="0">
              <a:buNone/>
            </a:pPr>
            <a:r>
              <a:rPr lang="en-US" sz="1200" dirty="0">
                <a:solidFill>
                  <a:srgbClr val="1E2E3A"/>
                </a:solidFill>
                <a:latin typeface="Calibri" pitchFamily="34" charset="0"/>
                <a:ea typeface="Calibri" pitchFamily="34" charset="-122"/>
                <a:cs typeface="Calibri" pitchFamily="34" charset="-120"/>
              </a:rPr>
              <a:t>Identified gaps and actionable improvements</a:t>
            </a:r>
            <a:endParaRPr lang="en-US" sz="1200" dirty="0"/>
          </a:p>
        </p:txBody>
      </p:sp>
      <p:sp>
        <p:nvSpPr>
          <p:cNvPr id="27" name="Shape 17"/>
          <p:cNvSpPr/>
          <p:nvPr/>
        </p:nvSpPr>
        <p:spPr>
          <a:xfrm>
            <a:off x="9038844" y="1920240"/>
            <a:ext cx="2601468" cy="4023360"/>
          </a:xfrm>
          <a:prstGeom prst="roundRect">
            <a:avLst>
              <a:gd name="adj" fmla="val 4921"/>
            </a:avLst>
          </a:prstGeom>
          <a:solidFill>
            <a:srgbClr val="DCEAF8"/>
          </a:solidFill>
          <a:ln w="12700">
            <a:solidFill>
              <a:srgbClr val="DCEAF8"/>
            </a:solidFill>
            <a:prstDash val="solid"/>
          </a:ln>
          <a:effectLst>
            <a:outerShdw sx="100000" sy="100000" kx="0" ky="0" algn="bl" rotWithShape="0" blurRad="177800" dist="50800" dir="5400000">
              <a:srgbClr val="1B4965">
                <a:alpha val="16000"/>
              </a:srgbClr>
            </a:outerShdw>
          </a:effectLst>
        </p:spPr>
      </p:sp>
      <p:sp>
        <p:nvSpPr>
          <p:cNvPr id="28" name="Text 18"/>
          <p:cNvSpPr txBox="1"/>
          <p:nvPr/>
        </p:nvSpPr>
        <p:spPr>
          <a:xfrm>
            <a:off x="9267444" y="2286000"/>
            <a:ext cx="2144268" cy="3291840"/>
          </a:xfrm>
          <a:prstGeom prst="rect">
            <a:avLst/>
          </a:prstGeom>
          <a:noFill/>
          <a:ln/>
        </p:spPr>
        <p:txBody>
          <a:bodyPr wrap="square" lIns="0" tIns="0" rIns="0" bIns="0" rtlCol="0" anchor="ctr"/>
          <a:lstStyle/>
          <a:p>
            <a:pPr algn="ctr" indent="0" marL="0">
              <a:buNone/>
            </a:pPr>
            <a:r>
              <a:rPr lang="en-US" sz="1500" i="1" dirty="0">
                <a:solidFill>
                  <a:srgbClr val="1B2A4A"/>
                </a:solidFill>
                <a:latin typeface="Cambria" pitchFamily="34" charset="0"/>
                <a:ea typeface="Cambria" pitchFamily="34" charset="-122"/>
                <a:cs typeface="Cambria" pitchFamily="34" charset="-120"/>
              </a:rPr>
              <a:t>“Not a question of if, but when a trusted partner is compromised.</a:t>
            </a:r>
            <a:endParaRPr lang="en-US" sz="1500" dirty="0"/>
          </a:p>
          <a:p>
            <a:pPr algn="ctr" indent="0" marL="0">
              <a:buNone/>
            </a:pPr>
            <a:r>
              <a:rPr lang="en-US" sz="1500" i="1" dirty="0">
                <a:solidFill>
                  <a:srgbClr val="1B2A4A"/>
                </a:solidFill>
                <a:latin typeface="Cambria" pitchFamily="34" charset="0"/>
                <a:ea typeface="Cambria" pitchFamily="34" charset="-122"/>
                <a:cs typeface="Cambria" pitchFamily="34" charset="-120"/>
              </a:rPr>
              <a:t> </a:t>
            </a:r>
            <a:endParaRPr lang="en-US" sz="1500" dirty="0"/>
          </a:p>
          <a:p>
            <a:pPr algn="ctr" indent="0" marL="0">
              <a:buNone/>
            </a:pPr>
            <a:r>
              <a:rPr lang="en-US" sz="1500" i="1" dirty="0">
                <a:solidFill>
                  <a:srgbClr val="1B2A4A"/>
                </a:solidFill>
                <a:latin typeface="Cambria" pitchFamily="34" charset="0"/>
                <a:ea typeface="Cambria" pitchFamily="34" charset="-122"/>
                <a:cs typeface="Cambria" pitchFamily="34" charset="-120"/>
              </a:rPr>
              <a:t>Prepared teams respond, resilient organizations recover.”</a:t>
            </a:r>
            <a:endParaRPr lang="en-US" sz="1500" dirty="0"/>
          </a:p>
          <a:p>
            <a:pPr algn="ctr" indent="0" marL="0">
              <a:buNone/>
            </a:pPr>
            <a:r>
              <a:rPr lang="en-US" sz="1500" i="1" dirty="0">
                <a:solidFill>
                  <a:srgbClr val="1B2A4A"/>
                </a:solidFill>
                <a:latin typeface="Cambria" pitchFamily="34" charset="0"/>
                <a:ea typeface="Cambria" pitchFamily="34" charset="-122"/>
                <a:cs typeface="Cambria" pitchFamily="34" charset="-120"/>
              </a:rPr>
              <a:t> </a:t>
            </a:r>
            <a:endParaRPr lang="en-US" sz="1500" dirty="0"/>
          </a:p>
          <a:p>
            <a:pPr algn="ctr" indent="0" marL="0">
              <a:buNone/>
            </a:pPr>
            <a:r>
              <a:rPr lang="en-US" sz="1200" i="1" dirty="0">
                <a:solidFill>
                  <a:srgbClr val="3E5575"/>
                </a:solidFill>
                <a:latin typeface="Calibri" pitchFamily="34" charset="0"/>
                <a:ea typeface="Calibri" pitchFamily="34" charset="-122"/>
                <a:cs typeface="Calibri" pitchFamily="34" charset="-120"/>
              </a:rPr>
              <a:t>EXERCISE PRINCIPLE</a:t>
            </a:r>
            <a:endParaRPr lang="en-US" sz="1500" dirty="0"/>
          </a:p>
        </p:txBody>
      </p:sp>
      <p:sp>
        <p:nvSpPr>
          <p:cNvPr id="29" name="Text 19"/>
          <p:cNvSpPr txBox="1"/>
          <p:nvPr/>
        </p:nvSpPr>
        <p:spPr>
          <a:xfrm>
            <a:off x="548640" y="6035040"/>
            <a:ext cx="11091672" cy="475488"/>
          </a:xfrm>
          <a:prstGeom prst="rect">
            <a:avLst/>
          </a:prstGeom>
          <a:noFill/>
          <a:ln/>
        </p:spPr>
        <p:txBody>
          <a:bodyPr wrap="square" lIns="0" tIns="0" rIns="0" bIns="0" rtlCol="0" anchor="ctr"/>
          <a:lstStyle/>
          <a:p>
            <a:pPr indent="0" marL="0">
              <a:buNone/>
            </a:pPr>
            <a:r>
              <a:rPr lang="en-US" sz="1200" b="1" dirty="0">
                <a:solidFill>
                  <a:srgbClr val="465A69"/>
                </a:solidFill>
                <a:latin typeface="Calibri" pitchFamily="34" charset="0"/>
                <a:ea typeface="Calibri" pitchFamily="34" charset="-122"/>
                <a:cs typeface="Calibri" pitchFamily="34" charset="-120"/>
              </a:rPr>
              <a:t>Acronyms:  </a:t>
            </a:r>
            <a:pPr indent="0" marL="0">
              <a:buNone/>
            </a:pPr>
            <a:r>
              <a:rPr lang="en-US" sz="1200" dirty="0">
                <a:solidFill>
                  <a:srgbClr val="465A69"/>
                </a:solidFill>
                <a:latin typeface="Calibri" pitchFamily="34" charset="0"/>
                <a:ea typeface="Calibri" pitchFamily="34" charset="-122"/>
                <a:cs typeface="Calibri" pitchFamily="34" charset="-120"/>
              </a:rPr>
              <a:t>T+: time since the first signal;  DR: Disaster Recovery;  BC: Business Continuity;  M365: Microsoft 365;  SaaS: software as a service;  IT: information technology;  R&amp;D: research and development;  SEC: Securities and Exchange Commission;  EU: European Union</a:t>
            </a:r>
            <a:endParaRPr lang="en-US" sz="1200" dirty="0"/>
          </a:p>
        </p:txBody>
      </p:sp>
      <p:sp>
        <p:nvSpPr>
          <p:cNvPr id="30" name="Shape 20"/>
          <p:cNvSpPr/>
          <p:nvPr/>
        </p:nvSpPr>
        <p:spPr>
          <a:xfrm>
            <a:off x="548640" y="6537960"/>
            <a:ext cx="763524" cy="274320"/>
          </a:xfrm>
          <a:prstGeom prst="roundRect">
            <a:avLst>
              <a:gd name="adj" fmla="val 50000"/>
            </a:avLst>
          </a:prstGeom>
          <a:solidFill>
            <a:srgbClr val="E4ECF2"/>
          </a:solidFill>
          <a:ln w="12700">
            <a:solidFill>
              <a:srgbClr val="E4ECF2"/>
            </a:solidFill>
            <a:prstDash val="solid"/>
          </a:ln>
        </p:spPr>
      </p:sp>
      <p:sp>
        <p:nvSpPr>
          <p:cNvPr id="31" name="Text 21"/>
          <p:cNvSpPr txBox="1"/>
          <p:nvPr/>
        </p:nvSpPr>
        <p:spPr>
          <a:xfrm>
            <a:off x="548640" y="6537960"/>
            <a:ext cx="763524" cy="274320"/>
          </a:xfrm>
          <a:prstGeom prst="rect">
            <a:avLst/>
          </a:prstGeom>
          <a:noFill/>
          <a:ln/>
        </p:spPr>
        <p:txBody>
          <a:bodyPr wrap="square" lIns="0" tIns="0" rIns="0" bIns="0" rtlCol="0" anchor="ctr"/>
          <a:lstStyle/>
          <a:p>
            <a:pPr algn="ctr" indent="0" marL="0">
              <a:buNone/>
            </a:pPr>
            <a:r>
              <a:rPr lang="en-US" sz="1200" b="1" dirty="0">
                <a:solidFill>
                  <a:srgbClr val="23405A"/>
                </a:solidFill>
                <a:latin typeface="Calibri" pitchFamily="34" charset="0"/>
                <a:ea typeface="Calibri" pitchFamily="34" charset="-122"/>
                <a:cs typeface="Calibri" pitchFamily="34" charset="-120"/>
              </a:rPr>
              <a:t>Start</a:t>
            </a:r>
            <a:endParaRPr lang="en-US" sz="1200" dirty="0"/>
          </a:p>
        </p:txBody>
      </p:sp>
      <p:pic>
        <p:nvPicPr>
          <p:cNvPr id="32" name="Image 8" descr="preencoded.png">
            <a:hlinkClick r:id="rId10" tooltip="Go to Start" action="ppaction://hlinksldjump"/>
          </p:cNvPr>
          <p:cNvPicPr>
            <a:picLocks noChangeAspect="1"/>
          </p:cNvPicPr>
          <p:nvPr/>
        </p:nvPicPr>
        <p:blipFill>
          <a:blip r:embed="rId9"/>
          <a:stretch>
            <a:fillRect/>
          </a:stretch>
        </p:blipFill>
        <p:spPr>
          <a:xfrm>
            <a:off x="548640" y="6537960"/>
            <a:ext cx="763524" cy="274320"/>
          </a:xfrm>
          <a:prstGeom prst="rect">
            <a:avLst/>
          </a:prstGeom>
        </p:spPr>
      </p:pic>
      <p:sp>
        <p:nvSpPr>
          <p:cNvPr id="33" name="Shape 22"/>
          <p:cNvSpPr/>
          <p:nvPr/>
        </p:nvSpPr>
        <p:spPr>
          <a:xfrm>
            <a:off x="1385316" y="6537960"/>
            <a:ext cx="1197864" cy="274320"/>
          </a:xfrm>
          <a:prstGeom prst="roundRect">
            <a:avLst>
              <a:gd name="adj" fmla="val 50000"/>
            </a:avLst>
          </a:prstGeom>
          <a:solidFill>
            <a:srgbClr val="3F6E8C"/>
          </a:solidFill>
          <a:ln w="12700">
            <a:solidFill>
              <a:srgbClr val="3F6E8C"/>
            </a:solidFill>
            <a:prstDash val="solid"/>
          </a:ln>
        </p:spPr>
      </p:sp>
      <p:sp>
        <p:nvSpPr>
          <p:cNvPr id="34" name="Text 23"/>
          <p:cNvSpPr txBox="1"/>
          <p:nvPr/>
        </p:nvSpPr>
        <p:spPr>
          <a:xfrm>
            <a:off x="1385316" y="6537960"/>
            <a:ext cx="1197864"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Scenario 1</a:t>
            </a:r>
            <a:endParaRPr lang="en-US" sz="1200" dirty="0"/>
          </a:p>
        </p:txBody>
      </p:sp>
      <p:pic>
        <p:nvPicPr>
          <p:cNvPr id="35" name="Image 9" descr="preencoded.png">
            <a:hlinkClick r:id="rId12" tooltip="Go to Scenario 1" action="ppaction://hlinksldjump"/>
          </p:cNvPr>
          <p:cNvPicPr>
            <a:picLocks noChangeAspect="1"/>
          </p:cNvPicPr>
          <p:nvPr/>
        </p:nvPicPr>
        <p:blipFill>
          <a:blip r:embed="rId11"/>
          <a:stretch>
            <a:fillRect/>
          </a:stretch>
        </p:blipFill>
        <p:spPr>
          <a:xfrm>
            <a:off x="1385316" y="6537960"/>
            <a:ext cx="1197864" cy="274320"/>
          </a:xfrm>
          <a:prstGeom prst="rect">
            <a:avLst/>
          </a:prstGeom>
        </p:spPr>
      </p:pic>
      <p:sp>
        <p:nvSpPr>
          <p:cNvPr id="36" name="Shape 24"/>
          <p:cNvSpPr/>
          <p:nvPr/>
        </p:nvSpPr>
        <p:spPr>
          <a:xfrm>
            <a:off x="2656332" y="6537960"/>
            <a:ext cx="1197864" cy="274320"/>
          </a:xfrm>
          <a:prstGeom prst="roundRect">
            <a:avLst>
              <a:gd name="adj" fmla="val 50000"/>
            </a:avLst>
          </a:prstGeom>
          <a:solidFill>
            <a:srgbClr val="F1F8F3"/>
          </a:solidFill>
          <a:ln w="12700">
            <a:solidFill>
              <a:srgbClr val="F1F8F3"/>
            </a:solidFill>
            <a:prstDash val="solid"/>
          </a:ln>
        </p:spPr>
      </p:sp>
      <p:sp>
        <p:nvSpPr>
          <p:cNvPr id="37" name="Text 25"/>
          <p:cNvSpPr txBox="1"/>
          <p:nvPr/>
        </p:nvSpPr>
        <p:spPr>
          <a:xfrm>
            <a:off x="2656332" y="6537960"/>
            <a:ext cx="1197864" cy="274320"/>
          </a:xfrm>
          <a:prstGeom prst="rect">
            <a:avLst/>
          </a:prstGeom>
          <a:noFill/>
          <a:ln/>
        </p:spPr>
        <p:txBody>
          <a:bodyPr wrap="square" lIns="0" tIns="0" rIns="0" bIns="0" rtlCol="0" anchor="ctr"/>
          <a:lstStyle/>
          <a:p>
            <a:pPr algn="ctr" indent="0" marL="0">
              <a:buNone/>
            </a:pPr>
            <a:r>
              <a:rPr lang="en-US" sz="1200" b="1" dirty="0">
                <a:solidFill>
                  <a:srgbClr val="4C8068"/>
                </a:solidFill>
                <a:latin typeface="Calibri" pitchFamily="34" charset="0"/>
                <a:ea typeface="Calibri" pitchFamily="34" charset="-122"/>
                <a:cs typeface="Calibri" pitchFamily="34" charset="-120"/>
              </a:rPr>
              <a:t>Scenario 2</a:t>
            </a:r>
            <a:endParaRPr lang="en-US" sz="1200" dirty="0"/>
          </a:p>
        </p:txBody>
      </p:sp>
      <p:pic>
        <p:nvPicPr>
          <p:cNvPr id="38" name="Image 10" descr="preencoded.png">
            <a:hlinkClick r:id="rId14" tooltip="Go to Scenario 2" action="ppaction://hlinksldjump"/>
          </p:cNvPr>
          <p:cNvPicPr>
            <a:picLocks noChangeAspect="1"/>
          </p:cNvPicPr>
          <p:nvPr/>
        </p:nvPicPr>
        <p:blipFill>
          <a:blip r:embed="rId13"/>
          <a:stretch>
            <a:fillRect/>
          </a:stretch>
        </p:blipFill>
        <p:spPr>
          <a:xfrm>
            <a:off x="2656332" y="6537960"/>
            <a:ext cx="1197864" cy="274320"/>
          </a:xfrm>
          <a:prstGeom prst="rect">
            <a:avLst/>
          </a:prstGeom>
        </p:spPr>
      </p:pic>
      <p:sp>
        <p:nvSpPr>
          <p:cNvPr id="39" name="Shape 26"/>
          <p:cNvSpPr/>
          <p:nvPr/>
        </p:nvSpPr>
        <p:spPr>
          <a:xfrm>
            <a:off x="3927348" y="6537960"/>
            <a:ext cx="1197864" cy="274320"/>
          </a:xfrm>
          <a:prstGeom prst="roundRect">
            <a:avLst>
              <a:gd name="adj" fmla="val 50000"/>
            </a:avLst>
          </a:prstGeom>
          <a:solidFill>
            <a:srgbClr val="F6F3FA"/>
          </a:solidFill>
          <a:ln w="12700">
            <a:solidFill>
              <a:srgbClr val="F6F3FA"/>
            </a:solidFill>
            <a:prstDash val="solid"/>
          </a:ln>
        </p:spPr>
      </p:sp>
      <p:sp>
        <p:nvSpPr>
          <p:cNvPr id="40" name="Text 27"/>
          <p:cNvSpPr txBox="1"/>
          <p:nvPr/>
        </p:nvSpPr>
        <p:spPr>
          <a:xfrm>
            <a:off x="3927348" y="6537960"/>
            <a:ext cx="1197864" cy="274320"/>
          </a:xfrm>
          <a:prstGeom prst="rect">
            <a:avLst/>
          </a:prstGeom>
          <a:noFill/>
          <a:ln/>
        </p:spPr>
        <p:txBody>
          <a:bodyPr wrap="square" lIns="0" tIns="0" rIns="0" bIns="0" rtlCol="0" anchor="ctr"/>
          <a:lstStyle/>
          <a:p>
            <a:pPr algn="ctr" indent="0" marL="0">
              <a:buNone/>
            </a:pPr>
            <a:r>
              <a:rPr lang="en-US" sz="1200" b="1" dirty="0">
                <a:solidFill>
                  <a:srgbClr val="6E5E94"/>
                </a:solidFill>
                <a:latin typeface="Calibri" pitchFamily="34" charset="0"/>
                <a:ea typeface="Calibri" pitchFamily="34" charset="-122"/>
                <a:cs typeface="Calibri" pitchFamily="34" charset="-120"/>
              </a:rPr>
              <a:t>Scenario 3</a:t>
            </a:r>
            <a:endParaRPr lang="en-US" sz="1200" dirty="0"/>
          </a:p>
        </p:txBody>
      </p:sp>
      <p:pic>
        <p:nvPicPr>
          <p:cNvPr id="41" name="Image 11" descr="preencoded.png">
            <a:hlinkClick r:id="rId16" tooltip="Go to Scenario 3" action="ppaction://hlinksldjump"/>
          </p:cNvPr>
          <p:cNvPicPr>
            <a:picLocks noChangeAspect="1"/>
          </p:cNvPicPr>
          <p:nvPr/>
        </p:nvPicPr>
        <p:blipFill>
          <a:blip r:embed="rId15"/>
          <a:stretch>
            <a:fillRect/>
          </a:stretch>
        </p:blipFill>
        <p:spPr>
          <a:xfrm>
            <a:off x="3927348" y="6537960"/>
            <a:ext cx="1197864" cy="274320"/>
          </a:xfrm>
          <a:prstGeom prst="rect">
            <a:avLst/>
          </a:prstGeom>
        </p:spPr>
      </p:pic>
      <p:sp>
        <p:nvSpPr>
          <p:cNvPr id="42" name="Shape 28"/>
          <p:cNvSpPr/>
          <p:nvPr/>
        </p:nvSpPr>
        <p:spPr>
          <a:xfrm>
            <a:off x="5198364" y="6537960"/>
            <a:ext cx="937260" cy="274320"/>
          </a:xfrm>
          <a:prstGeom prst="roundRect">
            <a:avLst>
              <a:gd name="adj" fmla="val 50000"/>
            </a:avLst>
          </a:prstGeom>
          <a:solidFill>
            <a:srgbClr val="E4ECF2"/>
          </a:solidFill>
          <a:ln w="12700">
            <a:solidFill>
              <a:srgbClr val="E4ECF2"/>
            </a:solidFill>
            <a:prstDash val="solid"/>
          </a:ln>
        </p:spPr>
      </p:sp>
      <p:sp>
        <p:nvSpPr>
          <p:cNvPr id="43" name="Text 29"/>
          <p:cNvSpPr txBox="1"/>
          <p:nvPr/>
        </p:nvSpPr>
        <p:spPr>
          <a:xfrm>
            <a:off x="5198364" y="6537960"/>
            <a:ext cx="937260" cy="274320"/>
          </a:xfrm>
          <a:prstGeom prst="rect">
            <a:avLst/>
          </a:prstGeom>
          <a:noFill/>
          <a:ln/>
        </p:spPr>
        <p:txBody>
          <a:bodyPr wrap="square" lIns="0" tIns="0" rIns="0" bIns="0" rtlCol="0" anchor="ctr"/>
          <a:lstStyle/>
          <a:p>
            <a:pPr algn="ctr" indent="0" marL="0">
              <a:buNone/>
            </a:pPr>
            <a:r>
              <a:rPr lang="en-US" sz="1200" b="1" dirty="0">
                <a:solidFill>
                  <a:srgbClr val="23405A"/>
                </a:solidFill>
                <a:latin typeface="Calibri" pitchFamily="34" charset="0"/>
                <a:ea typeface="Calibri" pitchFamily="34" charset="-122"/>
                <a:cs typeface="Calibri" pitchFamily="34" charset="-120"/>
              </a:rPr>
              <a:t>Closing</a:t>
            </a:r>
            <a:endParaRPr lang="en-US" sz="1200" dirty="0"/>
          </a:p>
        </p:txBody>
      </p:sp>
      <p:pic>
        <p:nvPicPr>
          <p:cNvPr id="44" name="Image 12" descr="preencoded.png">
            <a:hlinkClick r:id="rId18" tooltip="Go to Closing" action="ppaction://hlinksldjump"/>
          </p:cNvPr>
          <p:cNvPicPr>
            <a:picLocks noChangeAspect="1"/>
          </p:cNvPicPr>
          <p:nvPr/>
        </p:nvPicPr>
        <p:blipFill>
          <a:blip r:embed="rId17"/>
          <a:stretch>
            <a:fillRect/>
          </a:stretch>
        </p:blipFill>
        <p:spPr>
          <a:xfrm>
            <a:off x="5198364" y="6537960"/>
            <a:ext cx="937260" cy="274320"/>
          </a:xfrm>
          <a:prstGeom prst="rect">
            <a:avLst/>
          </a:prstGeom>
        </p:spPr>
      </p:pic>
      <p:sp>
        <p:nvSpPr>
          <p:cNvPr id="45" name="Text 30"/>
          <p:cNvSpPr txBox="1"/>
          <p:nvPr/>
        </p:nvSpPr>
        <p:spPr>
          <a:xfrm>
            <a:off x="11277295" y="6537960"/>
            <a:ext cx="365760" cy="274320"/>
          </a:xfrm>
          <a:prstGeom prst="rect">
            <a:avLst/>
          </a:prstGeom>
          <a:noFill/>
          <a:ln/>
        </p:spPr>
        <p:txBody>
          <a:bodyPr wrap="square" lIns="0" tIns="0" rIns="0" bIns="0" rtlCol="0" anchor="ctr"/>
          <a:lstStyle/>
          <a:p>
            <a:pPr algn="r" indent="0" marL="0">
              <a:buNone/>
            </a:pPr>
            <a:r>
              <a:rPr lang="en-US" sz="1200" dirty="0">
                <a:solidFill>
                  <a:srgbClr val="465A69"/>
                </a:solidFill>
                <a:latin typeface="Calibri" pitchFamily="34" charset="0"/>
                <a:ea typeface="Calibri" pitchFamily="34" charset="-122"/>
                <a:cs typeface="Calibri" pitchFamily="34" charset="-120"/>
              </a:rPr>
              <a:t>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E6EEF6"/>
        </a:solidFill>
      </p:bgPr>
    </p:bg>
    <p:spTree>
      <p:nvGrpSpPr>
        <p:cNvPr id="1" name=""/>
        <p:cNvGrpSpPr/>
        <p:nvPr/>
      </p:nvGrpSpPr>
      <p:grpSpPr>
        <a:xfrm>
          <a:off x="0" y="0"/>
          <a:ext cx="0" cy="0"/>
          <a:chOff x="0" y="0"/>
          <a:chExt cx="0" cy="0"/>
        </a:xfrm>
      </p:grpSpPr>
      <p:sp>
        <p:nvSpPr>
          <p:cNvPr id="2" name="Shape 0"/>
          <p:cNvSpPr/>
          <p:nvPr/>
        </p:nvSpPr>
        <p:spPr>
          <a:xfrm>
            <a:off x="548640" y="347472"/>
            <a:ext cx="2843784" cy="329184"/>
          </a:xfrm>
          <a:prstGeom prst="roundRect">
            <a:avLst>
              <a:gd name="adj" fmla="val 50000"/>
            </a:avLst>
          </a:prstGeom>
          <a:solidFill>
            <a:srgbClr val="F1F6FA"/>
          </a:solidFill>
          <a:ln w="12700">
            <a:solidFill>
              <a:srgbClr val="F1F6FA"/>
            </a:solidFill>
            <a:prstDash val="solid"/>
          </a:ln>
        </p:spPr>
      </p:sp>
      <p:sp>
        <p:nvSpPr>
          <p:cNvPr id="3" name="Text 1"/>
          <p:cNvSpPr txBox="1"/>
          <p:nvPr/>
        </p:nvSpPr>
        <p:spPr>
          <a:xfrm>
            <a:off x="548640" y="347472"/>
            <a:ext cx="2843784" cy="329184"/>
          </a:xfrm>
          <a:prstGeom prst="rect">
            <a:avLst/>
          </a:prstGeom>
          <a:noFill/>
          <a:ln/>
        </p:spPr>
        <p:txBody>
          <a:bodyPr wrap="square" lIns="0" tIns="0" rIns="0" bIns="0" rtlCol="0" anchor="ctr"/>
          <a:lstStyle/>
          <a:p>
            <a:pPr algn="ctr" indent="0" marL="0">
              <a:buNone/>
            </a:pPr>
            <a:r>
              <a:rPr lang="en-US" sz="1200" b="1" dirty="0">
                <a:solidFill>
                  <a:srgbClr val="3F6E8C"/>
                </a:solidFill>
                <a:latin typeface="Calibri" pitchFamily="34" charset="0"/>
                <a:ea typeface="Calibri" pitchFamily="34" charset="-122"/>
                <a:cs typeface="Calibri" pitchFamily="34" charset="-120"/>
              </a:rPr>
              <a:t>Scenario 1: Incident Response</a:t>
            </a:r>
            <a:endParaRPr lang="en-US" sz="1200" dirty="0"/>
          </a:p>
        </p:txBody>
      </p:sp>
      <p:sp>
        <p:nvSpPr>
          <p:cNvPr id="4" name="Text 2"/>
          <p:cNvSpPr txBox="1"/>
          <p:nvPr/>
        </p:nvSpPr>
        <p:spPr>
          <a:xfrm>
            <a:off x="548640" y="749808"/>
            <a:ext cx="11064240" cy="640080"/>
          </a:xfrm>
          <a:prstGeom prst="rect">
            <a:avLst/>
          </a:prstGeom>
          <a:noFill/>
          <a:ln/>
        </p:spPr>
        <p:txBody>
          <a:bodyPr wrap="square" lIns="0" tIns="0" rIns="0" bIns="0" rtlCol="0" anchor="ctr"/>
          <a:lstStyle/>
          <a:p>
            <a:pPr indent="0" marL="0">
              <a:buNone/>
            </a:pPr>
            <a:r>
              <a:rPr lang="en-US" sz="2800" b="1" dirty="0">
                <a:solidFill>
                  <a:srgbClr val="23405A"/>
                </a:solidFill>
                <a:latin typeface="Calibri" pitchFamily="34" charset="0"/>
                <a:ea typeface="Calibri" pitchFamily="34" charset="-122"/>
                <a:cs typeface="Calibri" pitchFamily="34" charset="-120"/>
              </a:rPr>
              <a:t>Hotwash</a:t>
            </a:r>
            <a:endParaRPr lang="en-US" sz="2800" dirty="0"/>
          </a:p>
        </p:txBody>
      </p:sp>
      <p:sp>
        <p:nvSpPr>
          <p:cNvPr id="5" name="Shape 3"/>
          <p:cNvSpPr/>
          <p:nvPr/>
        </p:nvSpPr>
        <p:spPr>
          <a:xfrm>
            <a:off x="10705795" y="347472"/>
            <a:ext cx="937260" cy="329184"/>
          </a:xfrm>
          <a:prstGeom prst="roundRect">
            <a:avLst>
              <a:gd name="adj" fmla="val 50000"/>
            </a:avLst>
          </a:prstGeom>
          <a:solidFill>
            <a:srgbClr val="3F6E8C"/>
          </a:solidFill>
          <a:ln w="12700">
            <a:solidFill>
              <a:srgbClr val="3F6E8C"/>
            </a:solidFill>
            <a:prstDash val="solid"/>
          </a:ln>
        </p:spPr>
      </p:sp>
      <p:sp>
        <p:nvSpPr>
          <p:cNvPr id="6" name="Text 4"/>
          <p:cNvSpPr txBox="1"/>
          <p:nvPr/>
        </p:nvSpPr>
        <p:spPr>
          <a:xfrm>
            <a:off x="10705795" y="347472"/>
            <a:ext cx="93726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Hotwash</a:t>
            </a:r>
            <a:endParaRPr lang="en-US" sz="1200" dirty="0"/>
          </a:p>
        </p:txBody>
      </p:sp>
      <p:sp>
        <p:nvSpPr>
          <p:cNvPr id="7" name="Shape 5"/>
          <p:cNvSpPr/>
          <p:nvPr/>
        </p:nvSpPr>
        <p:spPr>
          <a:xfrm>
            <a:off x="9608515" y="347472"/>
            <a:ext cx="1024128" cy="329184"/>
          </a:xfrm>
          <a:prstGeom prst="roundRect">
            <a:avLst>
              <a:gd name="adj" fmla="val 50000"/>
            </a:avLst>
          </a:prstGeom>
          <a:solidFill>
            <a:srgbClr val="F1F6FA"/>
          </a:solidFill>
          <a:ln w="12700">
            <a:solidFill>
              <a:srgbClr val="F1F6FA"/>
            </a:solidFill>
            <a:prstDash val="solid"/>
          </a:ln>
        </p:spPr>
      </p:sp>
      <p:sp>
        <p:nvSpPr>
          <p:cNvPr id="8" name="Text 6"/>
          <p:cNvSpPr txBox="1"/>
          <p:nvPr/>
        </p:nvSpPr>
        <p:spPr>
          <a:xfrm>
            <a:off x="9608515" y="347472"/>
            <a:ext cx="1024128" cy="329184"/>
          </a:xfrm>
          <a:prstGeom prst="rect">
            <a:avLst/>
          </a:prstGeom>
          <a:noFill/>
          <a:ln/>
        </p:spPr>
        <p:txBody>
          <a:bodyPr wrap="square" lIns="0" tIns="0" rIns="0" bIns="0" rtlCol="0" anchor="ctr"/>
          <a:lstStyle/>
          <a:p>
            <a:pPr algn="ctr" indent="0" marL="0">
              <a:buNone/>
            </a:pPr>
            <a:r>
              <a:rPr lang="en-US" sz="1200" dirty="0">
                <a:solidFill>
                  <a:srgbClr val="3F6E8C"/>
                </a:solidFill>
                <a:latin typeface="Calibri" pitchFamily="34" charset="0"/>
                <a:ea typeface="Calibri" pitchFamily="34" charset="-122"/>
                <a:cs typeface="Calibri" pitchFamily="34" charset="-120"/>
              </a:rPr>
              <a:t>Recovery</a:t>
            </a:r>
            <a:endParaRPr lang="en-US" sz="1200" dirty="0"/>
          </a:p>
        </p:txBody>
      </p:sp>
      <p:sp>
        <p:nvSpPr>
          <p:cNvPr id="9" name="Shape 7"/>
          <p:cNvSpPr/>
          <p:nvPr/>
        </p:nvSpPr>
        <p:spPr>
          <a:xfrm>
            <a:off x="8598103" y="347472"/>
            <a:ext cx="937260" cy="329184"/>
          </a:xfrm>
          <a:prstGeom prst="roundRect">
            <a:avLst>
              <a:gd name="adj" fmla="val 50000"/>
            </a:avLst>
          </a:prstGeom>
          <a:solidFill>
            <a:srgbClr val="F1F6FA"/>
          </a:solidFill>
          <a:ln w="12700">
            <a:solidFill>
              <a:srgbClr val="F1F6FA"/>
            </a:solidFill>
            <a:prstDash val="solid"/>
          </a:ln>
        </p:spPr>
      </p:sp>
      <p:sp>
        <p:nvSpPr>
          <p:cNvPr id="10" name="Text 8"/>
          <p:cNvSpPr txBox="1"/>
          <p:nvPr/>
        </p:nvSpPr>
        <p:spPr>
          <a:xfrm>
            <a:off x="8598103" y="347472"/>
            <a:ext cx="937260" cy="329184"/>
          </a:xfrm>
          <a:prstGeom prst="rect">
            <a:avLst/>
          </a:prstGeom>
          <a:noFill/>
          <a:ln/>
        </p:spPr>
        <p:txBody>
          <a:bodyPr wrap="square" lIns="0" tIns="0" rIns="0" bIns="0" rtlCol="0" anchor="ctr"/>
          <a:lstStyle/>
          <a:p>
            <a:pPr algn="ctr" indent="0" marL="0">
              <a:buNone/>
            </a:pPr>
            <a:r>
              <a:rPr lang="en-US" sz="1200" dirty="0">
                <a:solidFill>
                  <a:srgbClr val="3F6E8C"/>
                </a:solidFill>
                <a:latin typeface="Calibri" pitchFamily="34" charset="0"/>
                <a:ea typeface="Calibri" pitchFamily="34" charset="-122"/>
                <a:cs typeface="Calibri" pitchFamily="34" charset="-120"/>
              </a:rPr>
              <a:t>Injects</a:t>
            </a:r>
            <a:endParaRPr lang="en-US" sz="1200" dirty="0"/>
          </a:p>
        </p:txBody>
      </p:sp>
      <p:sp>
        <p:nvSpPr>
          <p:cNvPr id="11" name="Shape 9"/>
          <p:cNvSpPr/>
          <p:nvPr/>
        </p:nvSpPr>
        <p:spPr>
          <a:xfrm>
            <a:off x="7674559" y="347472"/>
            <a:ext cx="850392" cy="329184"/>
          </a:xfrm>
          <a:prstGeom prst="roundRect">
            <a:avLst>
              <a:gd name="adj" fmla="val 50000"/>
            </a:avLst>
          </a:prstGeom>
          <a:solidFill>
            <a:srgbClr val="F1F6FA"/>
          </a:solidFill>
          <a:ln w="12700">
            <a:solidFill>
              <a:srgbClr val="F1F6FA"/>
            </a:solidFill>
            <a:prstDash val="solid"/>
          </a:ln>
        </p:spPr>
      </p:sp>
      <p:sp>
        <p:nvSpPr>
          <p:cNvPr id="12" name="Text 10"/>
          <p:cNvSpPr txBox="1"/>
          <p:nvPr/>
        </p:nvSpPr>
        <p:spPr>
          <a:xfrm>
            <a:off x="7674559" y="347472"/>
            <a:ext cx="850392" cy="329184"/>
          </a:xfrm>
          <a:prstGeom prst="rect">
            <a:avLst/>
          </a:prstGeom>
          <a:noFill/>
          <a:ln/>
        </p:spPr>
        <p:txBody>
          <a:bodyPr wrap="square" lIns="0" tIns="0" rIns="0" bIns="0" rtlCol="0" anchor="ctr"/>
          <a:lstStyle/>
          <a:p>
            <a:pPr algn="ctr" indent="0" marL="0">
              <a:buNone/>
            </a:pPr>
            <a:r>
              <a:rPr lang="en-US" sz="1200" dirty="0">
                <a:solidFill>
                  <a:srgbClr val="3F6E8C"/>
                </a:solidFill>
                <a:latin typeface="Calibri" pitchFamily="34" charset="0"/>
                <a:ea typeface="Calibri" pitchFamily="34" charset="-122"/>
                <a:cs typeface="Calibri" pitchFamily="34" charset="-120"/>
              </a:rPr>
              <a:t>Decide</a:t>
            </a:r>
            <a:endParaRPr lang="en-US" sz="1200" dirty="0"/>
          </a:p>
        </p:txBody>
      </p:sp>
      <p:sp>
        <p:nvSpPr>
          <p:cNvPr id="13" name="Shape 11"/>
          <p:cNvSpPr/>
          <p:nvPr/>
        </p:nvSpPr>
        <p:spPr>
          <a:xfrm>
            <a:off x="7011619" y="347472"/>
            <a:ext cx="589788" cy="329184"/>
          </a:xfrm>
          <a:prstGeom prst="roundRect">
            <a:avLst>
              <a:gd name="adj" fmla="val 50000"/>
            </a:avLst>
          </a:prstGeom>
          <a:solidFill>
            <a:srgbClr val="F1F6FA"/>
          </a:solidFill>
          <a:ln w="12700">
            <a:solidFill>
              <a:srgbClr val="F1F6FA"/>
            </a:solidFill>
            <a:prstDash val="solid"/>
          </a:ln>
        </p:spPr>
      </p:sp>
      <p:sp>
        <p:nvSpPr>
          <p:cNvPr id="14" name="Text 12"/>
          <p:cNvSpPr txBox="1"/>
          <p:nvPr/>
        </p:nvSpPr>
        <p:spPr>
          <a:xfrm>
            <a:off x="7011619" y="347472"/>
            <a:ext cx="589788" cy="329184"/>
          </a:xfrm>
          <a:prstGeom prst="rect">
            <a:avLst/>
          </a:prstGeom>
          <a:noFill/>
          <a:ln/>
        </p:spPr>
        <p:txBody>
          <a:bodyPr wrap="square" lIns="0" tIns="0" rIns="0" bIns="0" rtlCol="0" anchor="ctr"/>
          <a:lstStyle/>
          <a:p>
            <a:pPr algn="ctr" indent="0" marL="0">
              <a:buNone/>
            </a:pPr>
            <a:r>
              <a:rPr lang="en-US" sz="1200" dirty="0">
                <a:solidFill>
                  <a:srgbClr val="3F6E8C"/>
                </a:solidFill>
                <a:latin typeface="Calibri" pitchFamily="34" charset="0"/>
                <a:ea typeface="Calibri" pitchFamily="34" charset="-122"/>
                <a:cs typeface="Calibri" pitchFamily="34" charset="-120"/>
              </a:rPr>
              <a:t>T+0</a:t>
            </a:r>
            <a:endParaRPr lang="en-US" sz="1200" dirty="0"/>
          </a:p>
        </p:txBody>
      </p:sp>
      <p:sp>
        <p:nvSpPr>
          <p:cNvPr id="15" name="Shape 13"/>
          <p:cNvSpPr/>
          <p:nvPr/>
        </p:nvSpPr>
        <p:spPr>
          <a:xfrm>
            <a:off x="5740603" y="347472"/>
            <a:ext cx="1197864" cy="329184"/>
          </a:xfrm>
          <a:prstGeom prst="roundRect">
            <a:avLst>
              <a:gd name="adj" fmla="val 50000"/>
            </a:avLst>
          </a:prstGeom>
          <a:solidFill>
            <a:srgbClr val="F1F6FA"/>
          </a:solidFill>
          <a:ln w="12700">
            <a:solidFill>
              <a:srgbClr val="F1F6FA"/>
            </a:solidFill>
            <a:prstDash val="solid"/>
          </a:ln>
        </p:spPr>
      </p:sp>
      <p:sp>
        <p:nvSpPr>
          <p:cNvPr id="16" name="Text 14"/>
          <p:cNvSpPr txBox="1"/>
          <p:nvPr/>
        </p:nvSpPr>
        <p:spPr>
          <a:xfrm>
            <a:off x="5740603" y="347472"/>
            <a:ext cx="1197864" cy="329184"/>
          </a:xfrm>
          <a:prstGeom prst="rect">
            <a:avLst/>
          </a:prstGeom>
          <a:noFill/>
          <a:ln/>
        </p:spPr>
        <p:txBody>
          <a:bodyPr wrap="square" lIns="0" tIns="0" rIns="0" bIns="0" rtlCol="0" anchor="ctr"/>
          <a:lstStyle/>
          <a:p>
            <a:pPr algn="ctr" indent="0" marL="0">
              <a:buNone/>
            </a:pPr>
            <a:r>
              <a:rPr lang="en-US" sz="1200" dirty="0">
                <a:solidFill>
                  <a:srgbClr val="3F6E8C"/>
                </a:solidFill>
                <a:latin typeface="Calibri" pitchFamily="34" charset="0"/>
                <a:ea typeface="Calibri" pitchFamily="34" charset="-122"/>
                <a:cs typeface="Calibri" pitchFamily="34" charset="-120"/>
              </a:rPr>
              <a:t>Background</a:t>
            </a:r>
            <a:endParaRPr lang="en-US" sz="1200" dirty="0"/>
          </a:p>
        </p:txBody>
      </p:sp>
      <p:sp>
        <p:nvSpPr>
          <p:cNvPr id="17" name="Shape 15"/>
          <p:cNvSpPr/>
          <p:nvPr/>
        </p:nvSpPr>
        <p:spPr>
          <a:xfrm>
            <a:off x="548640" y="1600200"/>
            <a:ext cx="2596896" cy="2103120"/>
          </a:xfrm>
          <a:prstGeom prst="roundRect">
            <a:avLst>
              <a:gd name="adj" fmla="val 6087"/>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18" name="Shape 16"/>
          <p:cNvSpPr/>
          <p:nvPr/>
        </p:nvSpPr>
        <p:spPr>
          <a:xfrm>
            <a:off x="777240" y="1828800"/>
            <a:ext cx="384048" cy="384048"/>
          </a:xfrm>
          <a:prstGeom prst="ellipse">
            <a:avLst/>
          </a:prstGeom>
          <a:solidFill>
            <a:srgbClr val="F1F6FA"/>
          </a:solidFill>
          <a:ln w="12700">
            <a:solidFill>
              <a:srgbClr val="F1F6FA"/>
            </a:solidFill>
            <a:prstDash val="solid"/>
          </a:ln>
        </p:spPr>
      </p:sp>
      <p:sp>
        <p:nvSpPr>
          <p:cNvPr id="19" name="Text 17"/>
          <p:cNvSpPr txBox="1"/>
          <p:nvPr/>
        </p:nvSpPr>
        <p:spPr>
          <a:xfrm>
            <a:off x="777240" y="1828800"/>
            <a:ext cx="384048" cy="384048"/>
          </a:xfrm>
          <a:prstGeom prst="rect">
            <a:avLst/>
          </a:prstGeom>
          <a:noFill/>
          <a:ln/>
        </p:spPr>
        <p:txBody>
          <a:bodyPr wrap="square" lIns="0" tIns="0" rIns="0" bIns="0" rtlCol="0" anchor="ctr"/>
          <a:lstStyle/>
          <a:p>
            <a:pPr algn="ctr" indent="0" marL="0">
              <a:buNone/>
            </a:pPr>
            <a:r>
              <a:rPr lang="en-US" sz="1200" b="1" dirty="0">
                <a:solidFill>
                  <a:srgbClr val="3F6E8C"/>
                </a:solidFill>
                <a:latin typeface="Calibri" pitchFamily="34" charset="0"/>
                <a:ea typeface="Calibri" pitchFamily="34" charset="-122"/>
                <a:cs typeface="Calibri" pitchFamily="34" charset="-120"/>
              </a:rPr>
              <a:t>1</a:t>
            </a:r>
            <a:endParaRPr lang="en-US" sz="1200" dirty="0"/>
          </a:p>
        </p:txBody>
      </p:sp>
      <p:sp>
        <p:nvSpPr>
          <p:cNvPr id="20" name="Text 18"/>
          <p:cNvSpPr txBox="1"/>
          <p:nvPr/>
        </p:nvSpPr>
        <p:spPr>
          <a:xfrm>
            <a:off x="777240" y="2331720"/>
            <a:ext cx="2139696" cy="457200"/>
          </a:xfrm>
          <a:prstGeom prst="rect">
            <a:avLst/>
          </a:prstGeom>
          <a:noFill/>
          <a:ln/>
        </p:spPr>
        <p:txBody>
          <a:bodyPr wrap="square" lIns="0" tIns="0" rIns="0" bIns="0" rtlCol="0" anchor="t"/>
          <a:lstStyle/>
          <a:p>
            <a:pPr indent="0" marL="0">
              <a:buNone/>
            </a:pPr>
            <a:r>
              <a:rPr lang="en-US" sz="1500" b="1" dirty="0">
                <a:solidFill>
                  <a:srgbClr val="1E2E3A"/>
                </a:solidFill>
                <a:latin typeface="Calibri" pitchFamily="34" charset="0"/>
                <a:ea typeface="Calibri" pitchFamily="34" charset="-122"/>
                <a:cs typeface="Calibri" pitchFamily="34" charset="-120"/>
              </a:rPr>
              <a:t>What worked?</a:t>
            </a:r>
            <a:endParaRPr lang="en-US" sz="1500" dirty="0"/>
          </a:p>
        </p:txBody>
      </p:sp>
      <p:sp>
        <p:nvSpPr>
          <p:cNvPr id="21" name="Text 19"/>
          <p:cNvSpPr txBox="1"/>
          <p:nvPr/>
        </p:nvSpPr>
        <p:spPr>
          <a:xfrm>
            <a:off x="777240" y="2807208"/>
            <a:ext cx="2139696" cy="777240"/>
          </a:xfrm>
          <a:prstGeom prst="rect">
            <a:avLst/>
          </a:prstGeom>
          <a:noFill/>
          <a:ln/>
        </p:spPr>
        <p:txBody>
          <a:bodyPr wrap="square" lIns="0" tIns="0" rIns="0" bIns="0" rtlCol="0" anchor="t"/>
          <a:lstStyle/>
          <a:p>
            <a:pPr indent="0" marL="0">
              <a:buNone/>
            </a:pPr>
            <a:r>
              <a:rPr lang="en-US" sz="1200" dirty="0">
                <a:solidFill>
                  <a:srgbClr val="465A69"/>
                </a:solidFill>
                <a:latin typeface="Calibri" pitchFamily="34" charset="0"/>
                <a:ea typeface="Calibri" pitchFamily="34" charset="-122"/>
                <a:cs typeface="Calibri" pitchFamily="34" charset="-120"/>
              </a:rPr>
              <a:t>Decisions, plans, and people that performed as intended.</a:t>
            </a:r>
            <a:endParaRPr lang="en-US" sz="1200" dirty="0"/>
          </a:p>
        </p:txBody>
      </p:sp>
      <p:sp>
        <p:nvSpPr>
          <p:cNvPr id="22" name="Shape 20"/>
          <p:cNvSpPr/>
          <p:nvPr/>
        </p:nvSpPr>
        <p:spPr>
          <a:xfrm>
            <a:off x="3383280" y="1600200"/>
            <a:ext cx="2596896" cy="2103120"/>
          </a:xfrm>
          <a:prstGeom prst="roundRect">
            <a:avLst>
              <a:gd name="adj" fmla="val 6087"/>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23" name="Shape 21"/>
          <p:cNvSpPr/>
          <p:nvPr/>
        </p:nvSpPr>
        <p:spPr>
          <a:xfrm>
            <a:off x="3611880" y="1828800"/>
            <a:ext cx="384048" cy="384048"/>
          </a:xfrm>
          <a:prstGeom prst="ellipse">
            <a:avLst/>
          </a:prstGeom>
          <a:solidFill>
            <a:srgbClr val="F1F6FA"/>
          </a:solidFill>
          <a:ln w="12700">
            <a:solidFill>
              <a:srgbClr val="F1F6FA"/>
            </a:solidFill>
            <a:prstDash val="solid"/>
          </a:ln>
        </p:spPr>
      </p:sp>
      <p:sp>
        <p:nvSpPr>
          <p:cNvPr id="24" name="Text 22"/>
          <p:cNvSpPr txBox="1"/>
          <p:nvPr/>
        </p:nvSpPr>
        <p:spPr>
          <a:xfrm>
            <a:off x="3611880" y="1828800"/>
            <a:ext cx="384048" cy="384048"/>
          </a:xfrm>
          <a:prstGeom prst="rect">
            <a:avLst/>
          </a:prstGeom>
          <a:noFill/>
          <a:ln/>
        </p:spPr>
        <p:txBody>
          <a:bodyPr wrap="square" lIns="0" tIns="0" rIns="0" bIns="0" rtlCol="0" anchor="ctr"/>
          <a:lstStyle/>
          <a:p>
            <a:pPr algn="ctr" indent="0" marL="0">
              <a:buNone/>
            </a:pPr>
            <a:r>
              <a:rPr lang="en-US" sz="1200" b="1" dirty="0">
                <a:solidFill>
                  <a:srgbClr val="3F6E8C"/>
                </a:solidFill>
                <a:latin typeface="Calibri" pitchFamily="34" charset="0"/>
                <a:ea typeface="Calibri" pitchFamily="34" charset="-122"/>
                <a:cs typeface="Calibri" pitchFamily="34" charset="-120"/>
              </a:rPr>
              <a:t>2</a:t>
            </a:r>
            <a:endParaRPr lang="en-US" sz="1200" dirty="0"/>
          </a:p>
        </p:txBody>
      </p:sp>
      <p:sp>
        <p:nvSpPr>
          <p:cNvPr id="25" name="Text 23"/>
          <p:cNvSpPr txBox="1"/>
          <p:nvPr/>
        </p:nvSpPr>
        <p:spPr>
          <a:xfrm>
            <a:off x="3611880" y="2331720"/>
            <a:ext cx="2139696" cy="457200"/>
          </a:xfrm>
          <a:prstGeom prst="rect">
            <a:avLst/>
          </a:prstGeom>
          <a:noFill/>
          <a:ln/>
        </p:spPr>
        <p:txBody>
          <a:bodyPr wrap="square" lIns="0" tIns="0" rIns="0" bIns="0" rtlCol="0" anchor="t"/>
          <a:lstStyle/>
          <a:p>
            <a:pPr indent="0" marL="0">
              <a:buNone/>
            </a:pPr>
            <a:r>
              <a:rPr lang="en-US" sz="1500" b="1" dirty="0">
                <a:solidFill>
                  <a:srgbClr val="1E2E3A"/>
                </a:solidFill>
                <a:latin typeface="Calibri" pitchFamily="34" charset="0"/>
                <a:ea typeface="Calibri" pitchFamily="34" charset="-122"/>
                <a:cs typeface="Calibri" pitchFamily="34" charset="-120"/>
              </a:rPr>
              <a:t>What did not?</a:t>
            </a:r>
            <a:endParaRPr lang="en-US" sz="1500" dirty="0"/>
          </a:p>
        </p:txBody>
      </p:sp>
      <p:sp>
        <p:nvSpPr>
          <p:cNvPr id="26" name="Text 24"/>
          <p:cNvSpPr txBox="1"/>
          <p:nvPr/>
        </p:nvSpPr>
        <p:spPr>
          <a:xfrm>
            <a:off x="3611880" y="2807208"/>
            <a:ext cx="2139696" cy="777240"/>
          </a:xfrm>
          <a:prstGeom prst="rect">
            <a:avLst/>
          </a:prstGeom>
          <a:noFill/>
          <a:ln/>
        </p:spPr>
        <p:txBody>
          <a:bodyPr wrap="square" lIns="0" tIns="0" rIns="0" bIns="0" rtlCol="0" anchor="t"/>
          <a:lstStyle/>
          <a:p>
            <a:pPr indent="0" marL="0">
              <a:buNone/>
            </a:pPr>
            <a:r>
              <a:rPr lang="en-US" sz="1200" dirty="0">
                <a:solidFill>
                  <a:srgbClr val="465A69"/>
                </a:solidFill>
                <a:latin typeface="Calibri" pitchFamily="34" charset="0"/>
                <a:ea typeface="Calibri" pitchFamily="34" charset="-122"/>
                <a:cs typeface="Calibri" pitchFamily="34" charset="-120"/>
              </a:rPr>
              <a:t>Where the team stalled, duplicated effort, or lost time.</a:t>
            </a:r>
            <a:endParaRPr lang="en-US" sz="1200" dirty="0"/>
          </a:p>
        </p:txBody>
      </p:sp>
      <p:sp>
        <p:nvSpPr>
          <p:cNvPr id="27" name="Shape 25"/>
          <p:cNvSpPr/>
          <p:nvPr/>
        </p:nvSpPr>
        <p:spPr>
          <a:xfrm>
            <a:off x="6217920" y="1600200"/>
            <a:ext cx="2596896" cy="2103120"/>
          </a:xfrm>
          <a:prstGeom prst="roundRect">
            <a:avLst>
              <a:gd name="adj" fmla="val 6087"/>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28" name="Shape 26"/>
          <p:cNvSpPr/>
          <p:nvPr/>
        </p:nvSpPr>
        <p:spPr>
          <a:xfrm>
            <a:off x="6446520" y="1828800"/>
            <a:ext cx="384048" cy="384048"/>
          </a:xfrm>
          <a:prstGeom prst="ellipse">
            <a:avLst/>
          </a:prstGeom>
          <a:solidFill>
            <a:srgbClr val="F1F6FA"/>
          </a:solidFill>
          <a:ln w="12700">
            <a:solidFill>
              <a:srgbClr val="F1F6FA"/>
            </a:solidFill>
            <a:prstDash val="solid"/>
          </a:ln>
        </p:spPr>
      </p:sp>
      <p:sp>
        <p:nvSpPr>
          <p:cNvPr id="29" name="Text 27"/>
          <p:cNvSpPr txBox="1"/>
          <p:nvPr/>
        </p:nvSpPr>
        <p:spPr>
          <a:xfrm>
            <a:off x="6446520" y="1828800"/>
            <a:ext cx="384048" cy="384048"/>
          </a:xfrm>
          <a:prstGeom prst="rect">
            <a:avLst/>
          </a:prstGeom>
          <a:noFill/>
          <a:ln/>
        </p:spPr>
        <p:txBody>
          <a:bodyPr wrap="square" lIns="0" tIns="0" rIns="0" bIns="0" rtlCol="0" anchor="ctr"/>
          <a:lstStyle/>
          <a:p>
            <a:pPr algn="ctr" indent="0" marL="0">
              <a:buNone/>
            </a:pPr>
            <a:r>
              <a:rPr lang="en-US" sz="1200" b="1" dirty="0">
                <a:solidFill>
                  <a:srgbClr val="3F6E8C"/>
                </a:solidFill>
                <a:latin typeface="Calibri" pitchFamily="34" charset="0"/>
                <a:ea typeface="Calibri" pitchFamily="34" charset="-122"/>
                <a:cs typeface="Calibri" pitchFamily="34" charset="-120"/>
              </a:rPr>
              <a:t>3</a:t>
            </a:r>
            <a:endParaRPr lang="en-US" sz="1200" dirty="0"/>
          </a:p>
        </p:txBody>
      </p:sp>
      <p:sp>
        <p:nvSpPr>
          <p:cNvPr id="30" name="Text 28"/>
          <p:cNvSpPr txBox="1"/>
          <p:nvPr/>
        </p:nvSpPr>
        <p:spPr>
          <a:xfrm>
            <a:off x="6446520" y="2331720"/>
            <a:ext cx="2139696" cy="457200"/>
          </a:xfrm>
          <a:prstGeom prst="rect">
            <a:avLst/>
          </a:prstGeom>
          <a:noFill/>
          <a:ln/>
        </p:spPr>
        <p:txBody>
          <a:bodyPr wrap="square" lIns="0" tIns="0" rIns="0" bIns="0" rtlCol="0" anchor="t"/>
          <a:lstStyle/>
          <a:p>
            <a:pPr indent="0" marL="0">
              <a:buNone/>
            </a:pPr>
            <a:r>
              <a:rPr lang="en-US" sz="1500" b="1" dirty="0">
                <a:solidFill>
                  <a:srgbClr val="1E2E3A"/>
                </a:solidFill>
                <a:latin typeface="Calibri" pitchFamily="34" charset="0"/>
                <a:ea typeface="Calibri" pitchFamily="34" charset="-122"/>
                <a:cs typeface="Calibri" pitchFamily="34" charset="-120"/>
              </a:rPr>
              <a:t>Which assumptions proved wrong?</a:t>
            </a:r>
            <a:endParaRPr lang="en-US" sz="1500" dirty="0"/>
          </a:p>
        </p:txBody>
      </p:sp>
      <p:sp>
        <p:nvSpPr>
          <p:cNvPr id="31" name="Text 29"/>
          <p:cNvSpPr txBox="1"/>
          <p:nvPr/>
        </p:nvSpPr>
        <p:spPr>
          <a:xfrm>
            <a:off x="6446520" y="2807208"/>
            <a:ext cx="2139696" cy="777240"/>
          </a:xfrm>
          <a:prstGeom prst="rect">
            <a:avLst/>
          </a:prstGeom>
          <a:noFill/>
          <a:ln/>
        </p:spPr>
        <p:txBody>
          <a:bodyPr wrap="square" lIns="0" tIns="0" rIns="0" bIns="0" rtlCol="0" anchor="t"/>
          <a:lstStyle/>
          <a:p>
            <a:pPr indent="0" marL="0">
              <a:buNone/>
            </a:pPr>
            <a:r>
              <a:rPr lang="en-US" sz="1200" dirty="0">
                <a:solidFill>
                  <a:srgbClr val="465A69"/>
                </a:solidFill>
                <a:latin typeface="Calibri" pitchFamily="34" charset="0"/>
                <a:ea typeface="Calibri" pitchFamily="34" charset="-122"/>
                <a:cs typeface="Calibri" pitchFamily="34" charset="-120"/>
              </a:rPr>
              <a:t>About providers, SLAs, access, tools, or people.</a:t>
            </a:r>
            <a:endParaRPr lang="en-US" sz="1200" dirty="0"/>
          </a:p>
        </p:txBody>
      </p:sp>
      <p:sp>
        <p:nvSpPr>
          <p:cNvPr id="32" name="Shape 30"/>
          <p:cNvSpPr/>
          <p:nvPr/>
        </p:nvSpPr>
        <p:spPr>
          <a:xfrm>
            <a:off x="9052560" y="1600200"/>
            <a:ext cx="2596896" cy="2103120"/>
          </a:xfrm>
          <a:prstGeom prst="roundRect">
            <a:avLst>
              <a:gd name="adj" fmla="val 6087"/>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33" name="Shape 31"/>
          <p:cNvSpPr/>
          <p:nvPr/>
        </p:nvSpPr>
        <p:spPr>
          <a:xfrm>
            <a:off x="9281160" y="1828800"/>
            <a:ext cx="384048" cy="384048"/>
          </a:xfrm>
          <a:prstGeom prst="ellipse">
            <a:avLst/>
          </a:prstGeom>
          <a:solidFill>
            <a:srgbClr val="F1F6FA"/>
          </a:solidFill>
          <a:ln w="12700">
            <a:solidFill>
              <a:srgbClr val="F1F6FA"/>
            </a:solidFill>
            <a:prstDash val="solid"/>
          </a:ln>
        </p:spPr>
      </p:sp>
      <p:sp>
        <p:nvSpPr>
          <p:cNvPr id="34" name="Text 32"/>
          <p:cNvSpPr txBox="1"/>
          <p:nvPr/>
        </p:nvSpPr>
        <p:spPr>
          <a:xfrm>
            <a:off x="9281160" y="1828800"/>
            <a:ext cx="384048" cy="384048"/>
          </a:xfrm>
          <a:prstGeom prst="rect">
            <a:avLst/>
          </a:prstGeom>
          <a:noFill/>
          <a:ln/>
        </p:spPr>
        <p:txBody>
          <a:bodyPr wrap="square" lIns="0" tIns="0" rIns="0" bIns="0" rtlCol="0" anchor="ctr"/>
          <a:lstStyle/>
          <a:p>
            <a:pPr algn="ctr" indent="0" marL="0">
              <a:buNone/>
            </a:pPr>
            <a:r>
              <a:rPr lang="en-US" sz="1200" b="1" dirty="0">
                <a:solidFill>
                  <a:srgbClr val="3F6E8C"/>
                </a:solidFill>
                <a:latin typeface="Calibri" pitchFamily="34" charset="0"/>
                <a:ea typeface="Calibri" pitchFamily="34" charset="-122"/>
                <a:cs typeface="Calibri" pitchFamily="34" charset="-120"/>
              </a:rPr>
              <a:t>4</a:t>
            </a:r>
            <a:endParaRPr lang="en-US" sz="1200" dirty="0"/>
          </a:p>
        </p:txBody>
      </p:sp>
      <p:sp>
        <p:nvSpPr>
          <p:cNvPr id="35" name="Text 33"/>
          <p:cNvSpPr txBox="1"/>
          <p:nvPr/>
        </p:nvSpPr>
        <p:spPr>
          <a:xfrm>
            <a:off x="9281160" y="2331720"/>
            <a:ext cx="2139696" cy="457200"/>
          </a:xfrm>
          <a:prstGeom prst="rect">
            <a:avLst/>
          </a:prstGeom>
          <a:noFill/>
          <a:ln/>
        </p:spPr>
        <p:txBody>
          <a:bodyPr wrap="square" lIns="0" tIns="0" rIns="0" bIns="0" rtlCol="0" anchor="t"/>
          <a:lstStyle/>
          <a:p>
            <a:pPr indent="0" marL="0">
              <a:buNone/>
            </a:pPr>
            <a:r>
              <a:rPr lang="en-US" sz="1500" b="1" dirty="0">
                <a:solidFill>
                  <a:srgbClr val="1E2E3A"/>
                </a:solidFill>
                <a:latin typeface="Calibri" pitchFamily="34" charset="0"/>
                <a:ea typeface="Calibri" pitchFamily="34" charset="-122"/>
                <a:cs typeface="Calibri" pitchFamily="34" charset="-120"/>
              </a:rPr>
              <a:t>Missing dependencies</a:t>
            </a:r>
            <a:endParaRPr lang="en-US" sz="1500" dirty="0"/>
          </a:p>
        </p:txBody>
      </p:sp>
      <p:sp>
        <p:nvSpPr>
          <p:cNvPr id="36" name="Text 34"/>
          <p:cNvSpPr txBox="1"/>
          <p:nvPr/>
        </p:nvSpPr>
        <p:spPr>
          <a:xfrm>
            <a:off x="9281160" y="2807208"/>
            <a:ext cx="2139696" cy="777240"/>
          </a:xfrm>
          <a:prstGeom prst="rect">
            <a:avLst/>
          </a:prstGeom>
          <a:noFill/>
          <a:ln/>
        </p:spPr>
        <p:txBody>
          <a:bodyPr wrap="square" lIns="0" tIns="0" rIns="0" bIns="0" rtlCol="0" anchor="t"/>
          <a:lstStyle/>
          <a:p>
            <a:pPr indent="0" marL="0">
              <a:buNone/>
            </a:pPr>
            <a:r>
              <a:rPr lang="en-US" sz="1200" dirty="0">
                <a:solidFill>
                  <a:srgbClr val="465A69"/>
                </a:solidFill>
                <a:latin typeface="Calibri" pitchFamily="34" charset="0"/>
                <a:ea typeface="Calibri" pitchFamily="34" charset="-122"/>
                <a:cs typeface="Calibri" pitchFamily="34" charset="-120"/>
              </a:rPr>
              <a:t>Systems, vendors, or contacts nobody had mapped.</a:t>
            </a:r>
            <a:endParaRPr lang="en-US" sz="1200" dirty="0"/>
          </a:p>
        </p:txBody>
      </p:sp>
      <p:sp>
        <p:nvSpPr>
          <p:cNvPr id="37" name="Shape 35"/>
          <p:cNvSpPr/>
          <p:nvPr/>
        </p:nvSpPr>
        <p:spPr>
          <a:xfrm>
            <a:off x="548640" y="3977640"/>
            <a:ext cx="3511296" cy="2103120"/>
          </a:xfrm>
          <a:prstGeom prst="roundRect">
            <a:avLst>
              <a:gd name="adj" fmla="val 6087"/>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38" name="Shape 36"/>
          <p:cNvSpPr/>
          <p:nvPr/>
        </p:nvSpPr>
        <p:spPr>
          <a:xfrm>
            <a:off x="777240" y="4206240"/>
            <a:ext cx="384048" cy="384048"/>
          </a:xfrm>
          <a:prstGeom prst="ellipse">
            <a:avLst/>
          </a:prstGeom>
          <a:solidFill>
            <a:srgbClr val="F1F6FA"/>
          </a:solidFill>
          <a:ln w="12700">
            <a:solidFill>
              <a:srgbClr val="F1F6FA"/>
            </a:solidFill>
            <a:prstDash val="solid"/>
          </a:ln>
        </p:spPr>
      </p:sp>
      <p:sp>
        <p:nvSpPr>
          <p:cNvPr id="39" name="Text 37"/>
          <p:cNvSpPr txBox="1"/>
          <p:nvPr/>
        </p:nvSpPr>
        <p:spPr>
          <a:xfrm>
            <a:off x="777240" y="4206240"/>
            <a:ext cx="384048" cy="384048"/>
          </a:xfrm>
          <a:prstGeom prst="rect">
            <a:avLst/>
          </a:prstGeom>
          <a:noFill/>
          <a:ln/>
        </p:spPr>
        <p:txBody>
          <a:bodyPr wrap="square" lIns="0" tIns="0" rIns="0" bIns="0" rtlCol="0" anchor="ctr"/>
          <a:lstStyle/>
          <a:p>
            <a:pPr algn="ctr" indent="0" marL="0">
              <a:buNone/>
            </a:pPr>
            <a:r>
              <a:rPr lang="en-US" sz="1200" b="1" dirty="0">
                <a:solidFill>
                  <a:srgbClr val="3F6E8C"/>
                </a:solidFill>
                <a:latin typeface="Calibri" pitchFamily="34" charset="0"/>
                <a:ea typeface="Calibri" pitchFamily="34" charset="-122"/>
                <a:cs typeface="Calibri" pitchFamily="34" charset="-120"/>
              </a:rPr>
              <a:t>5</a:t>
            </a:r>
            <a:endParaRPr lang="en-US" sz="1200" dirty="0"/>
          </a:p>
        </p:txBody>
      </p:sp>
      <p:sp>
        <p:nvSpPr>
          <p:cNvPr id="40" name="Text 38"/>
          <p:cNvSpPr txBox="1"/>
          <p:nvPr/>
        </p:nvSpPr>
        <p:spPr>
          <a:xfrm>
            <a:off x="777240" y="4709160"/>
            <a:ext cx="3054096" cy="457200"/>
          </a:xfrm>
          <a:prstGeom prst="rect">
            <a:avLst/>
          </a:prstGeom>
          <a:noFill/>
          <a:ln/>
        </p:spPr>
        <p:txBody>
          <a:bodyPr wrap="square" lIns="0" tIns="0" rIns="0" bIns="0" rtlCol="0" anchor="t"/>
          <a:lstStyle/>
          <a:p>
            <a:pPr indent="0" marL="0">
              <a:buNone/>
            </a:pPr>
            <a:r>
              <a:rPr lang="en-US" sz="1500" b="1" dirty="0">
                <a:solidFill>
                  <a:srgbClr val="1E2E3A"/>
                </a:solidFill>
                <a:latin typeface="Calibri" pitchFamily="34" charset="0"/>
                <a:ea typeface="Calibri" pitchFamily="34" charset="-122"/>
                <a:cs typeface="Calibri" pitchFamily="34" charset="-120"/>
              </a:rPr>
              <a:t>Unclear decision authority</a:t>
            </a:r>
            <a:endParaRPr lang="en-US" sz="1500" dirty="0"/>
          </a:p>
        </p:txBody>
      </p:sp>
      <p:sp>
        <p:nvSpPr>
          <p:cNvPr id="41" name="Text 39"/>
          <p:cNvSpPr txBox="1"/>
          <p:nvPr/>
        </p:nvSpPr>
        <p:spPr>
          <a:xfrm>
            <a:off x="777240" y="5184648"/>
            <a:ext cx="3054096" cy="777240"/>
          </a:xfrm>
          <a:prstGeom prst="rect">
            <a:avLst/>
          </a:prstGeom>
          <a:noFill/>
          <a:ln/>
        </p:spPr>
        <p:txBody>
          <a:bodyPr wrap="square" lIns="0" tIns="0" rIns="0" bIns="0" rtlCol="0" anchor="t"/>
          <a:lstStyle/>
          <a:p>
            <a:pPr indent="0" marL="0">
              <a:buNone/>
            </a:pPr>
            <a:r>
              <a:rPr lang="en-US" sz="1200" dirty="0">
                <a:solidFill>
                  <a:srgbClr val="465A69"/>
                </a:solidFill>
                <a:latin typeface="Calibri" pitchFamily="34" charset="0"/>
                <a:ea typeface="Calibri" pitchFamily="34" charset="-122"/>
                <a:cs typeface="Calibri" pitchFamily="34" charset="-120"/>
              </a:rPr>
              <a:t>Moments when nobody was sure who could decide.</a:t>
            </a:r>
            <a:endParaRPr lang="en-US" sz="1200" dirty="0"/>
          </a:p>
        </p:txBody>
      </p:sp>
      <p:sp>
        <p:nvSpPr>
          <p:cNvPr id="42" name="Shape 40"/>
          <p:cNvSpPr/>
          <p:nvPr/>
        </p:nvSpPr>
        <p:spPr>
          <a:xfrm>
            <a:off x="4297680" y="3977640"/>
            <a:ext cx="3511296" cy="2103120"/>
          </a:xfrm>
          <a:prstGeom prst="roundRect">
            <a:avLst>
              <a:gd name="adj" fmla="val 6087"/>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43" name="Shape 41"/>
          <p:cNvSpPr/>
          <p:nvPr/>
        </p:nvSpPr>
        <p:spPr>
          <a:xfrm>
            <a:off x="4526280" y="4206240"/>
            <a:ext cx="384048" cy="384048"/>
          </a:xfrm>
          <a:prstGeom prst="ellipse">
            <a:avLst/>
          </a:prstGeom>
          <a:solidFill>
            <a:srgbClr val="F1F6FA"/>
          </a:solidFill>
          <a:ln w="12700">
            <a:solidFill>
              <a:srgbClr val="F1F6FA"/>
            </a:solidFill>
            <a:prstDash val="solid"/>
          </a:ln>
        </p:spPr>
      </p:sp>
      <p:sp>
        <p:nvSpPr>
          <p:cNvPr id="44" name="Text 42"/>
          <p:cNvSpPr txBox="1"/>
          <p:nvPr/>
        </p:nvSpPr>
        <p:spPr>
          <a:xfrm>
            <a:off x="4526280" y="4206240"/>
            <a:ext cx="384048" cy="384048"/>
          </a:xfrm>
          <a:prstGeom prst="rect">
            <a:avLst/>
          </a:prstGeom>
          <a:noFill/>
          <a:ln/>
        </p:spPr>
        <p:txBody>
          <a:bodyPr wrap="square" lIns="0" tIns="0" rIns="0" bIns="0" rtlCol="0" anchor="ctr"/>
          <a:lstStyle/>
          <a:p>
            <a:pPr algn="ctr" indent="0" marL="0">
              <a:buNone/>
            </a:pPr>
            <a:r>
              <a:rPr lang="en-US" sz="1200" b="1" dirty="0">
                <a:solidFill>
                  <a:srgbClr val="3F6E8C"/>
                </a:solidFill>
                <a:latin typeface="Calibri" pitchFamily="34" charset="0"/>
                <a:ea typeface="Calibri" pitchFamily="34" charset="-122"/>
                <a:cs typeface="Calibri" pitchFamily="34" charset="-120"/>
              </a:rPr>
              <a:t>6</a:t>
            </a:r>
            <a:endParaRPr lang="en-US" sz="1200" dirty="0"/>
          </a:p>
        </p:txBody>
      </p:sp>
      <p:sp>
        <p:nvSpPr>
          <p:cNvPr id="45" name="Text 43"/>
          <p:cNvSpPr txBox="1"/>
          <p:nvPr/>
        </p:nvSpPr>
        <p:spPr>
          <a:xfrm>
            <a:off x="4526280" y="4709160"/>
            <a:ext cx="3054096" cy="457200"/>
          </a:xfrm>
          <a:prstGeom prst="rect">
            <a:avLst/>
          </a:prstGeom>
          <a:noFill/>
          <a:ln/>
        </p:spPr>
        <p:txBody>
          <a:bodyPr wrap="square" lIns="0" tIns="0" rIns="0" bIns="0" rtlCol="0" anchor="t"/>
          <a:lstStyle/>
          <a:p>
            <a:pPr indent="0" marL="0">
              <a:buNone/>
            </a:pPr>
            <a:r>
              <a:rPr lang="en-US" sz="1500" b="1" dirty="0">
                <a:solidFill>
                  <a:srgbClr val="1E2E3A"/>
                </a:solidFill>
                <a:latin typeface="Calibri" pitchFamily="34" charset="0"/>
                <a:ea typeface="Calibri" pitchFamily="34" charset="-122"/>
                <a:cs typeface="Calibri" pitchFamily="34" charset="-120"/>
              </a:rPr>
              <a:t>BC/DR gaps</a:t>
            </a:r>
            <a:endParaRPr lang="en-US" sz="1500" dirty="0"/>
          </a:p>
        </p:txBody>
      </p:sp>
      <p:sp>
        <p:nvSpPr>
          <p:cNvPr id="46" name="Text 44"/>
          <p:cNvSpPr txBox="1"/>
          <p:nvPr/>
        </p:nvSpPr>
        <p:spPr>
          <a:xfrm>
            <a:off x="4526280" y="5184648"/>
            <a:ext cx="3054096" cy="777240"/>
          </a:xfrm>
          <a:prstGeom prst="rect">
            <a:avLst/>
          </a:prstGeom>
          <a:noFill/>
          <a:ln/>
        </p:spPr>
        <p:txBody>
          <a:bodyPr wrap="square" lIns="0" tIns="0" rIns="0" bIns="0" rtlCol="0" anchor="t"/>
          <a:lstStyle/>
          <a:p>
            <a:pPr indent="0" marL="0">
              <a:buNone/>
            </a:pPr>
            <a:r>
              <a:rPr lang="en-US" sz="1200" dirty="0">
                <a:solidFill>
                  <a:srgbClr val="465A69"/>
                </a:solidFill>
                <a:latin typeface="Calibri" pitchFamily="34" charset="0"/>
                <a:ea typeface="Calibri" pitchFamily="34" charset="-122"/>
                <a:cs typeface="Calibri" pitchFamily="34" charset="-120"/>
              </a:rPr>
              <a:t>Plan steps that were missing, outdated, or unusable.</a:t>
            </a:r>
            <a:endParaRPr lang="en-US" sz="1200" dirty="0"/>
          </a:p>
        </p:txBody>
      </p:sp>
      <p:sp>
        <p:nvSpPr>
          <p:cNvPr id="47" name="Shape 45"/>
          <p:cNvSpPr/>
          <p:nvPr/>
        </p:nvSpPr>
        <p:spPr>
          <a:xfrm>
            <a:off x="8046720" y="3977640"/>
            <a:ext cx="3511296" cy="2103120"/>
          </a:xfrm>
          <a:prstGeom prst="roundRect">
            <a:avLst>
              <a:gd name="adj" fmla="val 6087"/>
            </a:avLst>
          </a:prstGeom>
          <a:solidFill>
            <a:srgbClr val="F1F6FA"/>
          </a:solidFill>
          <a:ln w="12700">
            <a:solidFill>
              <a:srgbClr val="F1F6FA"/>
            </a:solidFill>
            <a:prstDash val="solid"/>
          </a:ln>
          <a:effectLst>
            <a:outerShdw sx="100000" sy="100000" kx="0" ky="0" algn="bl" rotWithShape="0" blurRad="177800" dist="50800" dir="5400000">
              <a:srgbClr val="1B4965">
                <a:alpha val="16000"/>
              </a:srgbClr>
            </a:outerShdw>
          </a:effectLst>
        </p:spPr>
      </p:sp>
      <p:sp>
        <p:nvSpPr>
          <p:cNvPr id="48" name="Shape 46"/>
          <p:cNvSpPr/>
          <p:nvPr/>
        </p:nvSpPr>
        <p:spPr>
          <a:xfrm>
            <a:off x="8275320" y="4206240"/>
            <a:ext cx="384048" cy="384048"/>
          </a:xfrm>
          <a:prstGeom prst="ellipse">
            <a:avLst/>
          </a:prstGeom>
          <a:solidFill>
            <a:srgbClr val="FFFFFF"/>
          </a:solidFill>
          <a:ln w="12700">
            <a:solidFill>
              <a:srgbClr val="FFFFFF"/>
            </a:solidFill>
            <a:prstDash val="solid"/>
          </a:ln>
        </p:spPr>
      </p:sp>
      <p:sp>
        <p:nvSpPr>
          <p:cNvPr id="49" name="Text 47"/>
          <p:cNvSpPr txBox="1"/>
          <p:nvPr/>
        </p:nvSpPr>
        <p:spPr>
          <a:xfrm>
            <a:off x="8275320" y="4206240"/>
            <a:ext cx="384048" cy="384048"/>
          </a:xfrm>
          <a:prstGeom prst="rect">
            <a:avLst/>
          </a:prstGeom>
          <a:noFill/>
          <a:ln/>
        </p:spPr>
        <p:txBody>
          <a:bodyPr wrap="square" lIns="0" tIns="0" rIns="0" bIns="0" rtlCol="0" anchor="ctr"/>
          <a:lstStyle/>
          <a:p>
            <a:pPr algn="ctr" indent="0" marL="0">
              <a:buNone/>
            </a:pPr>
            <a:r>
              <a:rPr lang="en-US" sz="1200" b="1" dirty="0">
                <a:solidFill>
                  <a:srgbClr val="3F6E8C"/>
                </a:solidFill>
                <a:latin typeface="Calibri" pitchFamily="34" charset="0"/>
                <a:ea typeface="Calibri" pitchFamily="34" charset="-122"/>
                <a:cs typeface="Calibri" pitchFamily="34" charset="-120"/>
              </a:rPr>
              <a:t>7</a:t>
            </a:r>
            <a:endParaRPr lang="en-US" sz="1200" dirty="0"/>
          </a:p>
        </p:txBody>
      </p:sp>
      <p:sp>
        <p:nvSpPr>
          <p:cNvPr id="50" name="Text 48"/>
          <p:cNvSpPr txBox="1"/>
          <p:nvPr/>
        </p:nvSpPr>
        <p:spPr>
          <a:xfrm>
            <a:off x="8275320" y="4709160"/>
            <a:ext cx="3054096" cy="457200"/>
          </a:xfrm>
          <a:prstGeom prst="rect">
            <a:avLst/>
          </a:prstGeom>
          <a:noFill/>
          <a:ln/>
        </p:spPr>
        <p:txBody>
          <a:bodyPr wrap="square" lIns="0" tIns="0" rIns="0" bIns="0" rtlCol="0" anchor="t"/>
          <a:lstStyle/>
          <a:p>
            <a:pPr indent="0" marL="0">
              <a:buNone/>
            </a:pPr>
            <a:r>
              <a:rPr lang="en-US" sz="1500" b="1" dirty="0">
                <a:solidFill>
                  <a:srgbClr val="3F6E8C"/>
                </a:solidFill>
                <a:latin typeface="Calibri" pitchFamily="34" charset="0"/>
                <a:ea typeface="Calibri" pitchFamily="34" charset="-122"/>
                <a:cs typeface="Calibri" pitchFamily="34" charset="-120"/>
              </a:rPr>
              <a:t>Corrective actions</a:t>
            </a:r>
            <a:endParaRPr lang="en-US" sz="1500" dirty="0"/>
          </a:p>
        </p:txBody>
      </p:sp>
      <p:sp>
        <p:nvSpPr>
          <p:cNvPr id="51" name="Text 49"/>
          <p:cNvSpPr txBox="1"/>
          <p:nvPr/>
        </p:nvSpPr>
        <p:spPr>
          <a:xfrm>
            <a:off x="8275320" y="5184648"/>
            <a:ext cx="3054096" cy="777240"/>
          </a:xfrm>
          <a:prstGeom prst="rect">
            <a:avLst/>
          </a:prstGeom>
          <a:noFill/>
          <a:ln/>
        </p:spPr>
        <p:txBody>
          <a:bodyPr wrap="square" lIns="0" tIns="0" rIns="0" bIns="0" rtlCol="0" anchor="t"/>
          <a:lstStyle/>
          <a:p>
            <a:pPr indent="0" marL="0">
              <a:buNone/>
            </a:pPr>
            <a:r>
              <a:rPr lang="en-US" sz="1200" dirty="0">
                <a:solidFill>
                  <a:srgbClr val="465A69"/>
                </a:solidFill>
                <a:latin typeface="Calibri" pitchFamily="34" charset="0"/>
                <a:ea typeface="Calibri" pitchFamily="34" charset="-122"/>
                <a:cs typeface="Calibri" pitchFamily="34" charset="-120"/>
              </a:rPr>
              <a:t>Each gap gets an owner and a target date.</a:t>
            </a:r>
            <a:endParaRPr lang="en-US" sz="1200" dirty="0"/>
          </a:p>
        </p:txBody>
      </p:sp>
      <p:sp>
        <p:nvSpPr>
          <p:cNvPr id="52" name="Text 50"/>
          <p:cNvSpPr txBox="1"/>
          <p:nvPr/>
        </p:nvSpPr>
        <p:spPr>
          <a:xfrm>
            <a:off x="548640" y="6254496"/>
            <a:ext cx="11091672" cy="256032"/>
          </a:xfrm>
          <a:prstGeom prst="rect">
            <a:avLst/>
          </a:prstGeom>
          <a:noFill/>
          <a:ln/>
        </p:spPr>
        <p:txBody>
          <a:bodyPr wrap="square" lIns="0" tIns="0" rIns="0" bIns="0" rtlCol="0" anchor="ctr"/>
          <a:lstStyle/>
          <a:p>
            <a:pPr indent="0" marL="0">
              <a:buNone/>
            </a:pPr>
            <a:r>
              <a:rPr lang="en-US" sz="1200" b="1" dirty="0">
                <a:solidFill>
                  <a:srgbClr val="465A69"/>
                </a:solidFill>
                <a:latin typeface="Calibri" pitchFamily="34" charset="0"/>
                <a:ea typeface="Calibri" pitchFamily="34" charset="-122"/>
                <a:cs typeface="Calibri" pitchFamily="34" charset="-120"/>
              </a:rPr>
              <a:t>Acronyms:  </a:t>
            </a:r>
            <a:pPr indent="0" marL="0">
              <a:buNone/>
            </a:pPr>
            <a:r>
              <a:rPr lang="en-US" sz="1200" dirty="0">
                <a:solidFill>
                  <a:srgbClr val="465A69"/>
                </a:solidFill>
                <a:latin typeface="Calibri" pitchFamily="34" charset="0"/>
                <a:ea typeface="Calibri" pitchFamily="34" charset="-122"/>
                <a:cs typeface="Calibri" pitchFamily="34" charset="-120"/>
              </a:rPr>
              <a:t>T+: time since the first signal;  DR: Disaster Recovery;  BC: Business Continuity</a:t>
            </a:r>
            <a:endParaRPr lang="en-US" sz="1200" dirty="0"/>
          </a:p>
        </p:txBody>
      </p:sp>
      <p:sp>
        <p:nvSpPr>
          <p:cNvPr id="53" name="Shape 51"/>
          <p:cNvSpPr/>
          <p:nvPr/>
        </p:nvSpPr>
        <p:spPr>
          <a:xfrm>
            <a:off x="548640" y="6537960"/>
            <a:ext cx="763524" cy="274320"/>
          </a:xfrm>
          <a:prstGeom prst="roundRect">
            <a:avLst>
              <a:gd name="adj" fmla="val 50000"/>
            </a:avLst>
          </a:prstGeom>
          <a:solidFill>
            <a:srgbClr val="E4ECF2"/>
          </a:solidFill>
          <a:ln w="12700">
            <a:solidFill>
              <a:srgbClr val="E4ECF2"/>
            </a:solidFill>
            <a:prstDash val="solid"/>
          </a:ln>
        </p:spPr>
      </p:sp>
      <p:sp>
        <p:nvSpPr>
          <p:cNvPr id="54" name="Text 52"/>
          <p:cNvSpPr txBox="1"/>
          <p:nvPr/>
        </p:nvSpPr>
        <p:spPr>
          <a:xfrm>
            <a:off x="548640" y="6537960"/>
            <a:ext cx="763524" cy="274320"/>
          </a:xfrm>
          <a:prstGeom prst="rect">
            <a:avLst/>
          </a:prstGeom>
          <a:noFill/>
          <a:ln/>
        </p:spPr>
        <p:txBody>
          <a:bodyPr wrap="square" lIns="0" tIns="0" rIns="0" bIns="0" rtlCol="0" anchor="ctr"/>
          <a:lstStyle/>
          <a:p>
            <a:pPr algn="ctr" indent="0" marL="0">
              <a:buNone/>
            </a:pPr>
            <a:r>
              <a:rPr lang="en-US" sz="1200" b="1" dirty="0">
                <a:solidFill>
                  <a:srgbClr val="23405A"/>
                </a:solidFill>
                <a:latin typeface="Calibri" pitchFamily="34" charset="0"/>
                <a:ea typeface="Calibri" pitchFamily="34" charset="-122"/>
                <a:cs typeface="Calibri" pitchFamily="34" charset="-120"/>
              </a:rPr>
              <a:t>Start</a:t>
            </a:r>
            <a:endParaRPr lang="en-US" sz="1200" dirty="0"/>
          </a:p>
        </p:txBody>
      </p:sp>
      <p:pic>
        <p:nvPicPr>
          <p:cNvPr id="55" name="Image 0" descr="preencoded.png">
            <a:hlinkClick r:id="rId2" tooltip="Go to Start" action="ppaction://hlinksldjump"/>
          </p:cNvPr>
          <p:cNvPicPr>
            <a:picLocks noChangeAspect="1"/>
          </p:cNvPicPr>
          <p:nvPr/>
        </p:nvPicPr>
        <p:blipFill>
          <a:blip r:embed="rId1"/>
          <a:stretch>
            <a:fillRect/>
          </a:stretch>
        </p:blipFill>
        <p:spPr>
          <a:xfrm>
            <a:off x="548640" y="6537960"/>
            <a:ext cx="763524" cy="274320"/>
          </a:xfrm>
          <a:prstGeom prst="rect">
            <a:avLst/>
          </a:prstGeom>
        </p:spPr>
      </p:pic>
      <p:sp>
        <p:nvSpPr>
          <p:cNvPr id="56" name="Shape 53"/>
          <p:cNvSpPr/>
          <p:nvPr/>
        </p:nvSpPr>
        <p:spPr>
          <a:xfrm>
            <a:off x="1385316" y="6537960"/>
            <a:ext cx="1197864" cy="274320"/>
          </a:xfrm>
          <a:prstGeom prst="roundRect">
            <a:avLst>
              <a:gd name="adj" fmla="val 50000"/>
            </a:avLst>
          </a:prstGeom>
          <a:solidFill>
            <a:srgbClr val="3F6E8C"/>
          </a:solidFill>
          <a:ln w="12700">
            <a:solidFill>
              <a:srgbClr val="3F6E8C"/>
            </a:solidFill>
            <a:prstDash val="solid"/>
          </a:ln>
        </p:spPr>
      </p:sp>
      <p:sp>
        <p:nvSpPr>
          <p:cNvPr id="57" name="Text 54"/>
          <p:cNvSpPr txBox="1"/>
          <p:nvPr/>
        </p:nvSpPr>
        <p:spPr>
          <a:xfrm>
            <a:off x="1385316" y="6537960"/>
            <a:ext cx="1197864"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Scenario 1</a:t>
            </a:r>
            <a:endParaRPr lang="en-US" sz="1200" dirty="0"/>
          </a:p>
        </p:txBody>
      </p:sp>
      <p:pic>
        <p:nvPicPr>
          <p:cNvPr id="58" name="Image 1" descr="preencoded.png">
            <a:hlinkClick r:id="rId4" tooltip="Go to Scenario 1" action="ppaction://hlinksldjump"/>
          </p:cNvPr>
          <p:cNvPicPr>
            <a:picLocks noChangeAspect="1"/>
          </p:cNvPicPr>
          <p:nvPr/>
        </p:nvPicPr>
        <p:blipFill>
          <a:blip r:embed="rId3"/>
          <a:stretch>
            <a:fillRect/>
          </a:stretch>
        </p:blipFill>
        <p:spPr>
          <a:xfrm>
            <a:off x="1385316" y="6537960"/>
            <a:ext cx="1197864" cy="274320"/>
          </a:xfrm>
          <a:prstGeom prst="rect">
            <a:avLst/>
          </a:prstGeom>
        </p:spPr>
      </p:pic>
      <p:sp>
        <p:nvSpPr>
          <p:cNvPr id="59" name="Shape 55"/>
          <p:cNvSpPr/>
          <p:nvPr/>
        </p:nvSpPr>
        <p:spPr>
          <a:xfrm>
            <a:off x="2656332" y="6537960"/>
            <a:ext cx="1197864" cy="274320"/>
          </a:xfrm>
          <a:prstGeom prst="roundRect">
            <a:avLst>
              <a:gd name="adj" fmla="val 50000"/>
            </a:avLst>
          </a:prstGeom>
          <a:solidFill>
            <a:srgbClr val="F1F8F3"/>
          </a:solidFill>
          <a:ln w="12700">
            <a:solidFill>
              <a:srgbClr val="F1F8F3"/>
            </a:solidFill>
            <a:prstDash val="solid"/>
          </a:ln>
        </p:spPr>
      </p:sp>
      <p:sp>
        <p:nvSpPr>
          <p:cNvPr id="60" name="Text 56"/>
          <p:cNvSpPr txBox="1"/>
          <p:nvPr/>
        </p:nvSpPr>
        <p:spPr>
          <a:xfrm>
            <a:off x="2656332" y="6537960"/>
            <a:ext cx="1197864" cy="274320"/>
          </a:xfrm>
          <a:prstGeom prst="rect">
            <a:avLst/>
          </a:prstGeom>
          <a:noFill/>
          <a:ln/>
        </p:spPr>
        <p:txBody>
          <a:bodyPr wrap="square" lIns="0" tIns="0" rIns="0" bIns="0" rtlCol="0" anchor="ctr"/>
          <a:lstStyle/>
          <a:p>
            <a:pPr algn="ctr" indent="0" marL="0">
              <a:buNone/>
            </a:pPr>
            <a:r>
              <a:rPr lang="en-US" sz="1200" b="1" dirty="0">
                <a:solidFill>
                  <a:srgbClr val="4C8068"/>
                </a:solidFill>
                <a:latin typeface="Calibri" pitchFamily="34" charset="0"/>
                <a:ea typeface="Calibri" pitchFamily="34" charset="-122"/>
                <a:cs typeface="Calibri" pitchFamily="34" charset="-120"/>
              </a:rPr>
              <a:t>Scenario 2</a:t>
            </a:r>
            <a:endParaRPr lang="en-US" sz="1200" dirty="0"/>
          </a:p>
        </p:txBody>
      </p:sp>
      <p:pic>
        <p:nvPicPr>
          <p:cNvPr id="61" name="Image 2" descr="preencoded.png">
            <a:hlinkClick r:id="rId6" tooltip="Go to Scenario 2" action="ppaction://hlinksldjump"/>
          </p:cNvPr>
          <p:cNvPicPr>
            <a:picLocks noChangeAspect="1"/>
          </p:cNvPicPr>
          <p:nvPr/>
        </p:nvPicPr>
        <p:blipFill>
          <a:blip r:embed="rId5"/>
          <a:stretch>
            <a:fillRect/>
          </a:stretch>
        </p:blipFill>
        <p:spPr>
          <a:xfrm>
            <a:off x="2656332" y="6537960"/>
            <a:ext cx="1197864" cy="274320"/>
          </a:xfrm>
          <a:prstGeom prst="rect">
            <a:avLst/>
          </a:prstGeom>
        </p:spPr>
      </p:pic>
      <p:sp>
        <p:nvSpPr>
          <p:cNvPr id="62" name="Shape 57"/>
          <p:cNvSpPr/>
          <p:nvPr/>
        </p:nvSpPr>
        <p:spPr>
          <a:xfrm>
            <a:off x="3927348" y="6537960"/>
            <a:ext cx="1197864" cy="274320"/>
          </a:xfrm>
          <a:prstGeom prst="roundRect">
            <a:avLst>
              <a:gd name="adj" fmla="val 50000"/>
            </a:avLst>
          </a:prstGeom>
          <a:solidFill>
            <a:srgbClr val="F6F3FA"/>
          </a:solidFill>
          <a:ln w="12700">
            <a:solidFill>
              <a:srgbClr val="F6F3FA"/>
            </a:solidFill>
            <a:prstDash val="solid"/>
          </a:ln>
        </p:spPr>
      </p:sp>
      <p:sp>
        <p:nvSpPr>
          <p:cNvPr id="63" name="Text 58"/>
          <p:cNvSpPr txBox="1"/>
          <p:nvPr/>
        </p:nvSpPr>
        <p:spPr>
          <a:xfrm>
            <a:off x="3927348" y="6537960"/>
            <a:ext cx="1197864" cy="274320"/>
          </a:xfrm>
          <a:prstGeom prst="rect">
            <a:avLst/>
          </a:prstGeom>
          <a:noFill/>
          <a:ln/>
        </p:spPr>
        <p:txBody>
          <a:bodyPr wrap="square" lIns="0" tIns="0" rIns="0" bIns="0" rtlCol="0" anchor="ctr"/>
          <a:lstStyle/>
          <a:p>
            <a:pPr algn="ctr" indent="0" marL="0">
              <a:buNone/>
            </a:pPr>
            <a:r>
              <a:rPr lang="en-US" sz="1200" b="1" dirty="0">
                <a:solidFill>
                  <a:srgbClr val="6E5E94"/>
                </a:solidFill>
                <a:latin typeface="Calibri" pitchFamily="34" charset="0"/>
                <a:ea typeface="Calibri" pitchFamily="34" charset="-122"/>
                <a:cs typeface="Calibri" pitchFamily="34" charset="-120"/>
              </a:rPr>
              <a:t>Scenario 3</a:t>
            </a:r>
            <a:endParaRPr lang="en-US" sz="1200" dirty="0"/>
          </a:p>
        </p:txBody>
      </p:sp>
      <p:pic>
        <p:nvPicPr>
          <p:cNvPr id="64" name="Image 3" descr="preencoded.png">
            <a:hlinkClick r:id="rId8" tooltip="Go to Scenario 3" action="ppaction://hlinksldjump"/>
          </p:cNvPr>
          <p:cNvPicPr>
            <a:picLocks noChangeAspect="1"/>
          </p:cNvPicPr>
          <p:nvPr/>
        </p:nvPicPr>
        <p:blipFill>
          <a:blip r:embed="rId7"/>
          <a:stretch>
            <a:fillRect/>
          </a:stretch>
        </p:blipFill>
        <p:spPr>
          <a:xfrm>
            <a:off x="3927348" y="6537960"/>
            <a:ext cx="1197864" cy="274320"/>
          </a:xfrm>
          <a:prstGeom prst="rect">
            <a:avLst/>
          </a:prstGeom>
        </p:spPr>
      </p:pic>
      <p:sp>
        <p:nvSpPr>
          <p:cNvPr id="65" name="Shape 59"/>
          <p:cNvSpPr/>
          <p:nvPr/>
        </p:nvSpPr>
        <p:spPr>
          <a:xfrm>
            <a:off x="5198364" y="6537960"/>
            <a:ext cx="937260" cy="274320"/>
          </a:xfrm>
          <a:prstGeom prst="roundRect">
            <a:avLst>
              <a:gd name="adj" fmla="val 50000"/>
            </a:avLst>
          </a:prstGeom>
          <a:solidFill>
            <a:srgbClr val="E4ECF2"/>
          </a:solidFill>
          <a:ln w="12700">
            <a:solidFill>
              <a:srgbClr val="E4ECF2"/>
            </a:solidFill>
            <a:prstDash val="solid"/>
          </a:ln>
        </p:spPr>
      </p:sp>
      <p:sp>
        <p:nvSpPr>
          <p:cNvPr id="66" name="Text 60"/>
          <p:cNvSpPr txBox="1"/>
          <p:nvPr/>
        </p:nvSpPr>
        <p:spPr>
          <a:xfrm>
            <a:off x="5198364" y="6537960"/>
            <a:ext cx="937260" cy="274320"/>
          </a:xfrm>
          <a:prstGeom prst="rect">
            <a:avLst/>
          </a:prstGeom>
          <a:noFill/>
          <a:ln/>
        </p:spPr>
        <p:txBody>
          <a:bodyPr wrap="square" lIns="0" tIns="0" rIns="0" bIns="0" rtlCol="0" anchor="ctr"/>
          <a:lstStyle/>
          <a:p>
            <a:pPr algn="ctr" indent="0" marL="0">
              <a:buNone/>
            </a:pPr>
            <a:r>
              <a:rPr lang="en-US" sz="1200" b="1" dirty="0">
                <a:solidFill>
                  <a:srgbClr val="23405A"/>
                </a:solidFill>
                <a:latin typeface="Calibri" pitchFamily="34" charset="0"/>
                <a:ea typeface="Calibri" pitchFamily="34" charset="-122"/>
                <a:cs typeface="Calibri" pitchFamily="34" charset="-120"/>
              </a:rPr>
              <a:t>Closing</a:t>
            </a:r>
            <a:endParaRPr lang="en-US" sz="1200" dirty="0"/>
          </a:p>
        </p:txBody>
      </p:sp>
      <p:pic>
        <p:nvPicPr>
          <p:cNvPr id="67" name="Image 4" descr="preencoded.png">
            <a:hlinkClick r:id="rId10" tooltip="Go to Closing" action="ppaction://hlinksldjump"/>
          </p:cNvPr>
          <p:cNvPicPr>
            <a:picLocks noChangeAspect="1"/>
          </p:cNvPicPr>
          <p:nvPr/>
        </p:nvPicPr>
        <p:blipFill>
          <a:blip r:embed="rId9"/>
          <a:stretch>
            <a:fillRect/>
          </a:stretch>
        </p:blipFill>
        <p:spPr>
          <a:xfrm>
            <a:off x="5198364" y="6537960"/>
            <a:ext cx="937260" cy="274320"/>
          </a:xfrm>
          <a:prstGeom prst="rect">
            <a:avLst/>
          </a:prstGeom>
        </p:spPr>
      </p:pic>
      <p:sp>
        <p:nvSpPr>
          <p:cNvPr id="68" name="Text 61"/>
          <p:cNvSpPr txBox="1"/>
          <p:nvPr/>
        </p:nvSpPr>
        <p:spPr>
          <a:xfrm>
            <a:off x="11277295" y="6537960"/>
            <a:ext cx="365760" cy="274320"/>
          </a:xfrm>
          <a:prstGeom prst="rect">
            <a:avLst/>
          </a:prstGeom>
          <a:noFill/>
          <a:ln/>
        </p:spPr>
        <p:txBody>
          <a:bodyPr wrap="square" lIns="0" tIns="0" rIns="0" bIns="0" rtlCol="0" anchor="ctr"/>
          <a:lstStyle/>
          <a:p>
            <a:pPr algn="r" indent="0" marL="0">
              <a:buNone/>
            </a:pPr>
            <a:r>
              <a:rPr lang="en-US" sz="1200" dirty="0">
                <a:solidFill>
                  <a:srgbClr val="465A69"/>
                </a:solidFill>
                <a:latin typeface="Calibri" pitchFamily="34" charset="0"/>
                <a:ea typeface="Calibri" pitchFamily="34" charset="-122"/>
                <a:cs typeface="Calibri" pitchFamily="34" charset="-120"/>
              </a:rPr>
              <a:t>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E6EEF6"/>
        </a:solidFill>
      </p:bgPr>
    </p:bg>
    <p:spTree>
      <p:nvGrpSpPr>
        <p:cNvPr id="1" name=""/>
        <p:cNvGrpSpPr/>
        <p:nvPr/>
      </p:nvGrpSpPr>
      <p:grpSpPr>
        <a:xfrm>
          <a:off x="0" y="0"/>
          <a:ext cx="0" cy="0"/>
          <a:chOff x="0" y="0"/>
          <a:chExt cx="0" cy="0"/>
        </a:xfrm>
      </p:grpSpPr>
      <p:sp>
        <p:nvSpPr>
          <p:cNvPr id="2" name="Shape 0"/>
          <p:cNvSpPr/>
          <p:nvPr/>
        </p:nvSpPr>
        <p:spPr>
          <a:xfrm>
            <a:off x="548640" y="347472"/>
            <a:ext cx="2843784" cy="329184"/>
          </a:xfrm>
          <a:prstGeom prst="roundRect">
            <a:avLst>
              <a:gd name="adj" fmla="val 50000"/>
            </a:avLst>
          </a:prstGeom>
          <a:solidFill>
            <a:srgbClr val="F1F6FA"/>
          </a:solidFill>
          <a:ln w="12700">
            <a:solidFill>
              <a:srgbClr val="F1F6FA"/>
            </a:solidFill>
            <a:prstDash val="solid"/>
          </a:ln>
        </p:spPr>
      </p:sp>
      <p:sp>
        <p:nvSpPr>
          <p:cNvPr id="3" name="Text 1"/>
          <p:cNvSpPr txBox="1"/>
          <p:nvPr/>
        </p:nvSpPr>
        <p:spPr>
          <a:xfrm>
            <a:off x="548640" y="347472"/>
            <a:ext cx="2843784" cy="329184"/>
          </a:xfrm>
          <a:prstGeom prst="rect">
            <a:avLst/>
          </a:prstGeom>
          <a:noFill/>
          <a:ln/>
        </p:spPr>
        <p:txBody>
          <a:bodyPr wrap="square" lIns="0" tIns="0" rIns="0" bIns="0" rtlCol="0" anchor="ctr"/>
          <a:lstStyle/>
          <a:p>
            <a:pPr algn="ctr" indent="0" marL="0">
              <a:buNone/>
            </a:pPr>
            <a:r>
              <a:rPr lang="en-US" sz="1200" b="1" dirty="0">
                <a:solidFill>
                  <a:srgbClr val="3F6E8C"/>
                </a:solidFill>
                <a:latin typeface="Calibri" pitchFamily="34" charset="0"/>
                <a:ea typeface="Calibri" pitchFamily="34" charset="-122"/>
                <a:cs typeface="Calibri" pitchFamily="34" charset="-120"/>
              </a:rPr>
              <a:t>Scenario 1: Incident Response</a:t>
            </a:r>
            <a:endParaRPr lang="en-US" sz="1200" dirty="0"/>
          </a:p>
        </p:txBody>
      </p:sp>
      <p:sp>
        <p:nvSpPr>
          <p:cNvPr id="4" name="Text 2"/>
          <p:cNvSpPr txBox="1"/>
          <p:nvPr/>
        </p:nvSpPr>
        <p:spPr>
          <a:xfrm>
            <a:off x="548640" y="749808"/>
            <a:ext cx="11064240" cy="640080"/>
          </a:xfrm>
          <a:prstGeom prst="rect">
            <a:avLst/>
          </a:prstGeom>
          <a:noFill/>
          <a:ln/>
        </p:spPr>
        <p:txBody>
          <a:bodyPr wrap="square" lIns="0" tIns="0" rIns="0" bIns="0" rtlCol="0" anchor="ctr"/>
          <a:lstStyle/>
          <a:p>
            <a:pPr indent="0" marL="0">
              <a:buNone/>
            </a:pPr>
            <a:r>
              <a:rPr lang="en-US" sz="2800" b="1" dirty="0">
                <a:solidFill>
                  <a:srgbClr val="23405A"/>
                </a:solidFill>
                <a:latin typeface="Calibri" pitchFamily="34" charset="0"/>
                <a:ea typeface="Calibri" pitchFamily="34" charset="-122"/>
                <a:cs typeface="Calibri" pitchFamily="34" charset="-120"/>
              </a:rPr>
              <a:t>Key questions and success criteria</a:t>
            </a:r>
            <a:endParaRPr lang="en-US" sz="2800" dirty="0"/>
          </a:p>
        </p:txBody>
      </p:sp>
      <p:sp>
        <p:nvSpPr>
          <p:cNvPr id="5" name="Shape 3"/>
          <p:cNvSpPr/>
          <p:nvPr/>
        </p:nvSpPr>
        <p:spPr>
          <a:xfrm>
            <a:off x="548640" y="1600200"/>
            <a:ext cx="5029200" cy="3977640"/>
          </a:xfrm>
          <a:prstGeom prst="roundRect">
            <a:avLst>
              <a:gd name="adj" fmla="val 3218"/>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6" name="Text 4"/>
          <p:cNvSpPr txBox="1"/>
          <p:nvPr/>
        </p:nvSpPr>
        <p:spPr>
          <a:xfrm>
            <a:off x="822960" y="1828800"/>
            <a:ext cx="4480560" cy="320040"/>
          </a:xfrm>
          <a:prstGeom prst="rect">
            <a:avLst/>
          </a:prstGeom>
          <a:noFill/>
          <a:ln/>
        </p:spPr>
        <p:txBody>
          <a:bodyPr wrap="square" lIns="0" tIns="0" rIns="0" bIns="0" rtlCol="0" anchor="t"/>
          <a:lstStyle/>
          <a:p>
            <a:pPr indent="0" marL="0">
              <a:buNone/>
            </a:pPr>
            <a:r>
              <a:rPr lang="en-US" sz="1400" b="1" dirty="0">
                <a:solidFill>
                  <a:srgbClr val="3F6E8C"/>
                </a:solidFill>
                <a:latin typeface="Calibri" pitchFamily="34" charset="0"/>
                <a:ea typeface="Calibri" pitchFamily="34" charset="-122"/>
                <a:cs typeface="Calibri" pitchFamily="34" charset="-120"/>
              </a:rPr>
              <a:t>Key questions</a:t>
            </a:r>
            <a:endParaRPr lang="en-US" sz="1400" dirty="0"/>
          </a:p>
        </p:txBody>
      </p:sp>
      <p:sp>
        <p:nvSpPr>
          <p:cNvPr id="7" name="Shape 5"/>
          <p:cNvSpPr/>
          <p:nvPr/>
        </p:nvSpPr>
        <p:spPr>
          <a:xfrm>
            <a:off x="822960" y="2304288"/>
            <a:ext cx="292608" cy="292608"/>
          </a:xfrm>
          <a:prstGeom prst="ellipse">
            <a:avLst/>
          </a:prstGeom>
          <a:solidFill>
            <a:srgbClr val="F1F6FA"/>
          </a:solidFill>
          <a:ln w="12700">
            <a:solidFill>
              <a:srgbClr val="F1F6FA"/>
            </a:solidFill>
            <a:prstDash val="solid"/>
          </a:ln>
        </p:spPr>
      </p:sp>
      <p:sp>
        <p:nvSpPr>
          <p:cNvPr id="8" name="Text 6"/>
          <p:cNvSpPr txBox="1"/>
          <p:nvPr/>
        </p:nvSpPr>
        <p:spPr>
          <a:xfrm>
            <a:off x="822960" y="2304288"/>
            <a:ext cx="292608" cy="292608"/>
          </a:xfrm>
          <a:prstGeom prst="rect">
            <a:avLst/>
          </a:prstGeom>
          <a:noFill/>
          <a:ln/>
        </p:spPr>
        <p:txBody>
          <a:bodyPr wrap="square" lIns="0" tIns="0" rIns="0" bIns="0" rtlCol="0" anchor="ctr"/>
          <a:lstStyle/>
          <a:p>
            <a:pPr algn="ctr" indent="0" marL="0">
              <a:buNone/>
            </a:pPr>
            <a:r>
              <a:rPr lang="en-US" sz="1200" b="1" dirty="0">
                <a:solidFill>
                  <a:srgbClr val="3F6E8C"/>
                </a:solidFill>
                <a:latin typeface="Calibri" pitchFamily="34" charset="0"/>
                <a:ea typeface="Calibri" pitchFamily="34" charset="-122"/>
                <a:cs typeface="Calibri" pitchFamily="34" charset="-120"/>
              </a:rPr>
              <a:t>1</a:t>
            </a:r>
            <a:endParaRPr lang="en-US" sz="1200" dirty="0"/>
          </a:p>
        </p:txBody>
      </p:sp>
      <p:sp>
        <p:nvSpPr>
          <p:cNvPr id="9" name="Text 7"/>
          <p:cNvSpPr txBox="1"/>
          <p:nvPr/>
        </p:nvSpPr>
        <p:spPr>
          <a:xfrm>
            <a:off x="1234440" y="2286000"/>
            <a:ext cx="4114800" cy="533400"/>
          </a:xfrm>
          <a:prstGeom prst="rect">
            <a:avLst/>
          </a:prstGeom>
          <a:noFill/>
          <a:ln/>
        </p:spPr>
        <p:txBody>
          <a:bodyPr wrap="square" lIns="0" tIns="0" rIns="0" bIns="0" rtlCol="0" anchor="t"/>
          <a:lstStyle/>
          <a:p>
            <a:pPr indent="0" marL="0">
              <a:buNone/>
            </a:pPr>
            <a:r>
              <a:rPr lang="en-US" sz="1250" dirty="0">
                <a:solidFill>
                  <a:srgbClr val="1E2E3A"/>
                </a:solidFill>
                <a:latin typeface="Calibri" pitchFamily="34" charset="0"/>
                <a:ea typeface="Calibri" pitchFamily="34" charset="-122"/>
                <a:cs typeface="Calibri" pitchFamily="34" charset="-120"/>
              </a:rPr>
              <a:t>When is an incident declared?</a:t>
            </a:r>
            <a:endParaRPr lang="en-US" sz="1250" dirty="0"/>
          </a:p>
        </p:txBody>
      </p:sp>
      <p:sp>
        <p:nvSpPr>
          <p:cNvPr id="10" name="Shape 8"/>
          <p:cNvSpPr/>
          <p:nvPr/>
        </p:nvSpPr>
        <p:spPr>
          <a:xfrm>
            <a:off x="822960" y="2837688"/>
            <a:ext cx="292608" cy="292608"/>
          </a:xfrm>
          <a:prstGeom prst="ellipse">
            <a:avLst/>
          </a:prstGeom>
          <a:solidFill>
            <a:srgbClr val="F1F6FA"/>
          </a:solidFill>
          <a:ln w="12700">
            <a:solidFill>
              <a:srgbClr val="F1F6FA"/>
            </a:solidFill>
            <a:prstDash val="solid"/>
          </a:ln>
        </p:spPr>
      </p:sp>
      <p:sp>
        <p:nvSpPr>
          <p:cNvPr id="11" name="Text 9"/>
          <p:cNvSpPr txBox="1"/>
          <p:nvPr/>
        </p:nvSpPr>
        <p:spPr>
          <a:xfrm>
            <a:off x="822960" y="2837688"/>
            <a:ext cx="292608" cy="292608"/>
          </a:xfrm>
          <a:prstGeom prst="rect">
            <a:avLst/>
          </a:prstGeom>
          <a:noFill/>
          <a:ln/>
        </p:spPr>
        <p:txBody>
          <a:bodyPr wrap="square" lIns="0" tIns="0" rIns="0" bIns="0" rtlCol="0" anchor="ctr"/>
          <a:lstStyle/>
          <a:p>
            <a:pPr algn="ctr" indent="0" marL="0">
              <a:buNone/>
            </a:pPr>
            <a:r>
              <a:rPr lang="en-US" sz="1200" b="1" dirty="0">
                <a:solidFill>
                  <a:srgbClr val="3F6E8C"/>
                </a:solidFill>
                <a:latin typeface="Calibri" pitchFamily="34" charset="0"/>
                <a:ea typeface="Calibri" pitchFamily="34" charset="-122"/>
                <a:cs typeface="Calibri" pitchFamily="34" charset="-120"/>
              </a:rPr>
              <a:t>2</a:t>
            </a:r>
            <a:endParaRPr lang="en-US" sz="1200" dirty="0"/>
          </a:p>
        </p:txBody>
      </p:sp>
      <p:sp>
        <p:nvSpPr>
          <p:cNvPr id="12" name="Text 10"/>
          <p:cNvSpPr txBox="1"/>
          <p:nvPr/>
        </p:nvSpPr>
        <p:spPr>
          <a:xfrm>
            <a:off x="1234440" y="2819400"/>
            <a:ext cx="4114800" cy="533400"/>
          </a:xfrm>
          <a:prstGeom prst="rect">
            <a:avLst/>
          </a:prstGeom>
          <a:noFill/>
          <a:ln/>
        </p:spPr>
        <p:txBody>
          <a:bodyPr wrap="square" lIns="0" tIns="0" rIns="0" bIns="0" rtlCol="0" anchor="t"/>
          <a:lstStyle/>
          <a:p>
            <a:pPr indent="0" marL="0">
              <a:buNone/>
            </a:pPr>
            <a:r>
              <a:rPr lang="en-US" sz="1250" dirty="0">
                <a:solidFill>
                  <a:srgbClr val="1E2E3A"/>
                </a:solidFill>
                <a:latin typeface="Calibri" pitchFamily="34" charset="0"/>
                <a:ea typeface="Calibri" pitchFamily="34" charset="-122"/>
                <a:cs typeface="Calibri" pitchFamily="34" charset="-120"/>
              </a:rPr>
              <a:t>How quickly can privileged accounts be isolated?</a:t>
            </a:r>
            <a:endParaRPr lang="en-US" sz="1250" dirty="0"/>
          </a:p>
        </p:txBody>
      </p:sp>
      <p:sp>
        <p:nvSpPr>
          <p:cNvPr id="13" name="Shape 11"/>
          <p:cNvSpPr/>
          <p:nvPr/>
        </p:nvSpPr>
        <p:spPr>
          <a:xfrm>
            <a:off x="822960" y="3371088"/>
            <a:ext cx="292608" cy="292608"/>
          </a:xfrm>
          <a:prstGeom prst="ellipse">
            <a:avLst/>
          </a:prstGeom>
          <a:solidFill>
            <a:srgbClr val="F1F6FA"/>
          </a:solidFill>
          <a:ln w="12700">
            <a:solidFill>
              <a:srgbClr val="F1F6FA"/>
            </a:solidFill>
            <a:prstDash val="solid"/>
          </a:ln>
        </p:spPr>
      </p:sp>
      <p:sp>
        <p:nvSpPr>
          <p:cNvPr id="14" name="Text 12"/>
          <p:cNvSpPr txBox="1"/>
          <p:nvPr/>
        </p:nvSpPr>
        <p:spPr>
          <a:xfrm>
            <a:off x="822960" y="3371088"/>
            <a:ext cx="292608" cy="292608"/>
          </a:xfrm>
          <a:prstGeom prst="rect">
            <a:avLst/>
          </a:prstGeom>
          <a:noFill/>
          <a:ln/>
        </p:spPr>
        <p:txBody>
          <a:bodyPr wrap="square" lIns="0" tIns="0" rIns="0" bIns="0" rtlCol="0" anchor="ctr"/>
          <a:lstStyle/>
          <a:p>
            <a:pPr algn="ctr" indent="0" marL="0">
              <a:buNone/>
            </a:pPr>
            <a:r>
              <a:rPr lang="en-US" sz="1200" b="1" dirty="0">
                <a:solidFill>
                  <a:srgbClr val="3F6E8C"/>
                </a:solidFill>
                <a:latin typeface="Calibri" pitchFamily="34" charset="0"/>
                <a:ea typeface="Calibri" pitchFamily="34" charset="-122"/>
                <a:cs typeface="Calibri" pitchFamily="34" charset="-120"/>
              </a:rPr>
              <a:t>3</a:t>
            </a:r>
            <a:endParaRPr lang="en-US" sz="1200" dirty="0"/>
          </a:p>
        </p:txBody>
      </p:sp>
      <p:sp>
        <p:nvSpPr>
          <p:cNvPr id="15" name="Text 13"/>
          <p:cNvSpPr txBox="1"/>
          <p:nvPr/>
        </p:nvSpPr>
        <p:spPr>
          <a:xfrm>
            <a:off x="1234440" y="3352800"/>
            <a:ext cx="4114800" cy="533400"/>
          </a:xfrm>
          <a:prstGeom prst="rect">
            <a:avLst/>
          </a:prstGeom>
          <a:noFill/>
          <a:ln/>
        </p:spPr>
        <p:txBody>
          <a:bodyPr wrap="square" lIns="0" tIns="0" rIns="0" bIns="0" rtlCol="0" anchor="t"/>
          <a:lstStyle/>
          <a:p>
            <a:pPr indent="0" marL="0">
              <a:buNone/>
            </a:pPr>
            <a:r>
              <a:rPr lang="en-US" sz="1250" dirty="0">
                <a:solidFill>
                  <a:srgbClr val="1E2E3A"/>
                </a:solidFill>
                <a:latin typeface="Calibri" pitchFamily="34" charset="0"/>
                <a:ea typeface="Calibri" pitchFamily="34" charset="-122"/>
                <a:cs typeface="Calibri" pitchFamily="34" charset="-120"/>
              </a:rPr>
              <a:t>What evidence must be preserved?</a:t>
            </a:r>
            <a:endParaRPr lang="en-US" sz="1250" dirty="0"/>
          </a:p>
        </p:txBody>
      </p:sp>
      <p:sp>
        <p:nvSpPr>
          <p:cNvPr id="16" name="Shape 14"/>
          <p:cNvSpPr/>
          <p:nvPr/>
        </p:nvSpPr>
        <p:spPr>
          <a:xfrm>
            <a:off x="822960" y="3904488"/>
            <a:ext cx="292608" cy="292608"/>
          </a:xfrm>
          <a:prstGeom prst="ellipse">
            <a:avLst/>
          </a:prstGeom>
          <a:solidFill>
            <a:srgbClr val="F1F6FA"/>
          </a:solidFill>
          <a:ln w="12700">
            <a:solidFill>
              <a:srgbClr val="F1F6FA"/>
            </a:solidFill>
            <a:prstDash val="solid"/>
          </a:ln>
        </p:spPr>
      </p:sp>
      <p:sp>
        <p:nvSpPr>
          <p:cNvPr id="17" name="Text 15"/>
          <p:cNvSpPr txBox="1"/>
          <p:nvPr/>
        </p:nvSpPr>
        <p:spPr>
          <a:xfrm>
            <a:off x="822960" y="3904488"/>
            <a:ext cx="292608" cy="292608"/>
          </a:xfrm>
          <a:prstGeom prst="rect">
            <a:avLst/>
          </a:prstGeom>
          <a:noFill/>
          <a:ln/>
        </p:spPr>
        <p:txBody>
          <a:bodyPr wrap="square" lIns="0" tIns="0" rIns="0" bIns="0" rtlCol="0" anchor="ctr"/>
          <a:lstStyle/>
          <a:p>
            <a:pPr algn="ctr" indent="0" marL="0">
              <a:buNone/>
            </a:pPr>
            <a:r>
              <a:rPr lang="en-US" sz="1200" b="1" dirty="0">
                <a:solidFill>
                  <a:srgbClr val="3F6E8C"/>
                </a:solidFill>
                <a:latin typeface="Calibri" pitchFamily="34" charset="0"/>
                <a:ea typeface="Calibri" pitchFamily="34" charset="-122"/>
                <a:cs typeface="Calibri" pitchFamily="34" charset="-120"/>
              </a:rPr>
              <a:t>4</a:t>
            </a:r>
            <a:endParaRPr lang="en-US" sz="1200" dirty="0"/>
          </a:p>
        </p:txBody>
      </p:sp>
      <p:sp>
        <p:nvSpPr>
          <p:cNvPr id="18" name="Text 16"/>
          <p:cNvSpPr txBox="1"/>
          <p:nvPr/>
        </p:nvSpPr>
        <p:spPr>
          <a:xfrm>
            <a:off x="1234440" y="3886200"/>
            <a:ext cx="4114800" cy="533400"/>
          </a:xfrm>
          <a:prstGeom prst="rect">
            <a:avLst/>
          </a:prstGeom>
          <a:noFill/>
          <a:ln/>
        </p:spPr>
        <p:txBody>
          <a:bodyPr wrap="square" lIns="0" tIns="0" rIns="0" bIns="0" rtlCol="0" anchor="t"/>
          <a:lstStyle/>
          <a:p>
            <a:pPr indent="0" marL="0">
              <a:buNone/>
            </a:pPr>
            <a:r>
              <a:rPr lang="en-US" sz="1250" dirty="0">
                <a:solidFill>
                  <a:srgbClr val="1E2E3A"/>
                </a:solidFill>
                <a:latin typeface="Calibri" pitchFamily="34" charset="0"/>
                <a:ea typeface="Calibri" pitchFamily="34" charset="-122"/>
                <a:cs typeface="Calibri" pitchFamily="34" charset="-120"/>
              </a:rPr>
              <a:t>Who determines potential SEC materiality?</a:t>
            </a:r>
            <a:endParaRPr lang="en-US" sz="1250" dirty="0"/>
          </a:p>
        </p:txBody>
      </p:sp>
      <p:sp>
        <p:nvSpPr>
          <p:cNvPr id="19" name="Shape 17"/>
          <p:cNvSpPr/>
          <p:nvPr/>
        </p:nvSpPr>
        <p:spPr>
          <a:xfrm>
            <a:off x="822960" y="4437888"/>
            <a:ext cx="292608" cy="292608"/>
          </a:xfrm>
          <a:prstGeom prst="ellipse">
            <a:avLst/>
          </a:prstGeom>
          <a:solidFill>
            <a:srgbClr val="F1F6FA"/>
          </a:solidFill>
          <a:ln w="12700">
            <a:solidFill>
              <a:srgbClr val="F1F6FA"/>
            </a:solidFill>
            <a:prstDash val="solid"/>
          </a:ln>
        </p:spPr>
      </p:sp>
      <p:sp>
        <p:nvSpPr>
          <p:cNvPr id="20" name="Text 18"/>
          <p:cNvSpPr txBox="1"/>
          <p:nvPr/>
        </p:nvSpPr>
        <p:spPr>
          <a:xfrm>
            <a:off x="822960" y="4437888"/>
            <a:ext cx="292608" cy="292608"/>
          </a:xfrm>
          <a:prstGeom prst="rect">
            <a:avLst/>
          </a:prstGeom>
          <a:noFill/>
          <a:ln/>
        </p:spPr>
        <p:txBody>
          <a:bodyPr wrap="square" lIns="0" tIns="0" rIns="0" bIns="0" rtlCol="0" anchor="ctr"/>
          <a:lstStyle/>
          <a:p>
            <a:pPr algn="ctr" indent="0" marL="0">
              <a:buNone/>
            </a:pPr>
            <a:r>
              <a:rPr lang="en-US" sz="1200" b="1" dirty="0">
                <a:solidFill>
                  <a:srgbClr val="3F6E8C"/>
                </a:solidFill>
                <a:latin typeface="Calibri" pitchFamily="34" charset="0"/>
                <a:ea typeface="Calibri" pitchFamily="34" charset="-122"/>
                <a:cs typeface="Calibri" pitchFamily="34" charset="-120"/>
              </a:rPr>
              <a:t>5</a:t>
            </a:r>
            <a:endParaRPr lang="en-US" sz="1200" dirty="0"/>
          </a:p>
        </p:txBody>
      </p:sp>
      <p:sp>
        <p:nvSpPr>
          <p:cNvPr id="21" name="Text 19"/>
          <p:cNvSpPr txBox="1"/>
          <p:nvPr/>
        </p:nvSpPr>
        <p:spPr>
          <a:xfrm>
            <a:off x="1234440" y="4419600"/>
            <a:ext cx="4114800" cy="533400"/>
          </a:xfrm>
          <a:prstGeom prst="rect">
            <a:avLst/>
          </a:prstGeom>
          <a:noFill/>
          <a:ln/>
        </p:spPr>
        <p:txBody>
          <a:bodyPr wrap="square" lIns="0" tIns="0" rIns="0" bIns="0" rtlCol="0" anchor="t"/>
          <a:lstStyle/>
          <a:p>
            <a:pPr indent="0" marL="0">
              <a:buNone/>
            </a:pPr>
            <a:r>
              <a:rPr lang="en-US" sz="1250" dirty="0">
                <a:solidFill>
                  <a:srgbClr val="1E2E3A"/>
                </a:solidFill>
                <a:latin typeface="Calibri" pitchFamily="34" charset="0"/>
                <a:ea typeface="Calibri" pitchFamily="34" charset="-122"/>
                <a:cs typeface="Calibri" pitchFamily="34" charset="-120"/>
              </a:rPr>
              <a:t>What Board notifications are required?</a:t>
            </a:r>
            <a:endParaRPr lang="en-US" sz="1250" dirty="0"/>
          </a:p>
        </p:txBody>
      </p:sp>
      <p:sp>
        <p:nvSpPr>
          <p:cNvPr id="22" name="Shape 20"/>
          <p:cNvSpPr/>
          <p:nvPr/>
        </p:nvSpPr>
        <p:spPr>
          <a:xfrm>
            <a:off x="822960" y="4971288"/>
            <a:ext cx="292608" cy="292608"/>
          </a:xfrm>
          <a:prstGeom prst="ellipse">
            <a:avLst/>
          </a:prstGeom>
          <a:solidFill>
            <a:srgbClr val="F1F6FA"/>
          </a:solidFill>
          <a:ln w="12700">
            <a:solidFill>
              <a:srgbClr val="F1F6FA"/>
            </a:solidFill>
            <a:prstDash val="solid"/>
          </a:ln>
        </p:spPr>
      </p:sp>
      <p:sp>
        <p:nvSpPr>
          <p:cNvPr id="23" name="Text 21"/>
          <p:cNvSpPr txBox="1"/>
          <p:nvPr/>
        </p:nvSpPr>
        <p:spPr>
          <a:xfrm>
            <a:off x="822960" y="4971288"/>
            <a:ext cx="292608" cy="292608"/>
          </a:xfrm>
          <a:prstGeom prst="rect">
            <a:avLst/>
          </a:prstGeom>
          <a:noFill/>
          <a:ln/>
        </p:spPr>
        <p:txBody>
          <a:bodyPr wrap="square" lIns="0" tIns="0" rIns="0" bIns="0" rtlCol="0" anchor="ctr"/>
          <a:lstStyle/>
          <a:p>
            <a:pPr algn="ctr" indent="0" marL="0">
              <a:buNone/>
            </a:pPr>
            <a:r>
              <a:rPr lang="en-US" sz="1200" b="1" dirty="0">
                <a:solidFill>
                  <a:srgbClr val="3F6E8C"/>
                </a:solidFill>
                <a:latin typeface="Calibri" pitchFamily="34" charset="0"/>
                <a:ea typeface="Calibri" pitchFamily="34" charset="-122"/>
                <a:cs typeface="Calibri" pitchFamily="34" charset="-120"/>
              </a:rPr>
              <a:t>6</a:t>
            </a:r>
            <a:endParaRPr lang="en-US" sz="1200" dirty="0"/>
          </a:p>
        </p:txBody>
      </p:sp>
      <p:sp>
        <p:nvSpPr>
          <p:cNvPr id="24" name="Text 22"/>
          <p:cNvSpPr txBox="1"/>
          <p:nvPr/>
        </p:nvSpPr>
        <p:spPr>
          <a:xfrm>
            <a:off x="1234440" y="4953000"/>
            <a:ext cx="4114800" cy="533400"/>
          </a:xfrm>
          <a:prstGeom prst="rect">
            <a:avLst/>
          </a:prstGeom>
          <a:noFill/>
          <a:ln/>
        </p:spPr>
        <p:txBody>
          <a:bodyPr wrap="square" lIns="0" tIns="0" rIns="0" bIns="0" rtlCol="0" anchor="t"/>
          <a:lstStyle/>
          <a:p>
            <a:pPr indent="0" marL="0">
              <a:buNone/>
            </a:pPr>
            <a:r>
              <a:rPr lang="en-US" sz="1250" dirty="0">
                <a:solidFill>
                  <a:srgbClr val="1E2E3A"/>
                </a:solidFill>
                <a:latin typeface="Calibri" pitchFamily="34" charset="0"/>
                <a:ea typeface="Calibri" pitchFamily="34" charset="-122"/>
                <a:cs typeface="Calibri" pitchFamily="34" charset="-120"/>
              </a:rPr>
              <a:t>Who communicates with employees, partners, and regulators?</a:t>
            </a:r>
            <a:endParaRPr lang="en-US" sz="1250" dirty="0"/>
          </a:p>
        </p:txBody>
      </p:sp>
      <p:sp>
        <p:nvSpPr>
          <p:cNvPr id="25" name="Shape 23"/>
          <p:cNvSpPr/>
          <p:nvPr/>
        </p:nvSpPr>
        <p:spPr>
          <a:xfrm>
            <a:off x="5852160" y="1600200"/>
            <a:ext cx="5788152" cy="3977640"/>
          </a:xfrm>
          <a:prstGeom prst="roundRect">
            <a:avLst>
              <a:gd name="adj" fmla="val 3218"/>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26" name="Text 24"/>
          <p:cNvSpPr txBox="1"/>
          <p:nvPr/>
        </p:nvSpPr>
        <p:spPr>
          <a:xfrm>
            <a:off x="6126480" y="1828800"/>
            <a:ext cx="3200400" cy="320040"/>
          </a:xfrm>
          <a:prstGeom prst="rect">
            <a:avLst/>
          </a:prstGeom>
          <a:noFill/>
          <a:ln/>
        </p:spPr>
        <p:txBody>
          <a:bodyPr wrap="square" lIns="0" tIns="0" rIns="0" bIns="0" rtlCol="0" anchor="t"/>
          <a:lstStyle/>
          <a:p>
            <a:pPr indent="0" marL="0">
              <a:buNone/>
            </a:pPr>
            <a:r>
              <a:rPr lang="en-US" sz="1400" b="1" dirty="0">
                <a:solidFill>
                  <a:srgbClr val="3F6E8C"/>
                </a:solidFill>
                <a:latin typeface="Calibri" pitchFamily="34" charset="0"/>
                <a:ea typeface="Calibri" pitchFamily="34" charset="-122"/>
                <a:cs typeface="Calibri" pitchFamily="34" charset="-120"/>
              </a:rPr>
              <a:t>Success criteria</a:t>
            </a:r>
            <a:endParaRPr lang="en-US" sz="1400" dirty="0"/>
          </a:p>
        </p:txBody>
      </p:sp>
      <p:sp>
        <p:nvSpPr>
          <p:cNvPr id="27" name="Text 25"/>
          <p:cNvSpPr txBox="1"/>
          <p:nvPr/>
        </p:nvSpPr>
        <p:spPr>
          <a:xfrm>
            <a:off x="9601200" y="1828800"/>
            <a:ext cx="603504" cy="320040"/>
          </a:xfrm>
          <a:prstGeom prst="rect">
            <a:avLst/>
          </a:prstGeom>
          <a:noFill/>
          <a:ln/>
        </p:spPr>
        <p:txBody>
          <a:bodyPr wrap="square" lIns="0" tIns="0" rIns="0" bIns="0" rtlCol="0" anchor="t"/>
          <a:lstStyle/>
          <a:p>
            <a:pPr algn="ctr" indent="0" marL="0">
              <a:buNone/>
            </a:pPr>
            <a:r>
              <a:rPr lang="en-US" sz="1200" b="1" dirty="0">
                <a:solidFill>
                  <a:srgbClr val="465A69"/>
                </a:solidFill>
                <a:latin typeface="Calibri" pitchFamily="34" charset="0"/>
                <a:ea typeface="Calibri" pitchFamily="34" charset="-122"/>
                <a:cs typeface="Calibri" pitchFamily="34" charset="-120"/>
              </a:rPr>
              <a:t>Met</a:t>
            </a:r>
            <a:endParaRPr lang="en-US" sz="1200" dirty="0"/>
          </a:p>
        </p:txBody>
      </p:sp>
      <p:sp>
        <p:nvSpPr>
          <p:cNvPr id="28" name="Text 26"/>
          <p:cNvSpPr txBox="1"/>
          <p:nvPr/>
        </p:nvSpPr>
        <p:spPr>
          <a:xfrm>
            <a:off x="10241280" y="1828800"/>
            <a:ext cx="603504" cy="320040"/>
          </a:xfrm>
          <a:prstGeom prst="rect">
            <a:avLst/>
          </a:prstGeom>
          <a:noFill/>
          <a:ln/>
        </p:spPr>
        <p:txBody>
          <a:bodyPr wrap="square" lIns="0" tIns="0" rIns="0" bIns="0" rtlCol="0" anchor="t"/>
          <a:lstStyle/>
          <a:p>
            <a:pPr algn="ctr" indent="0" marL="0">
              <a:buNone/>
            </a:pPr>
            <a:r>
              <a:rPr lang="en-US" sz="1200" b="1" dirty="0">
                <a:solidFill>
                  <a:srgbClr val="465A69"/>
                </a:solidFill>
                <a:latin typeface="Calibri" pitchFamily="34" charset="0"/>
                <a:ea typeface="Calibri" pitchFamily="34" charset="-122"/>
                <a:cs typeface="Calibri" pitchFamily="34" charset="-120"/>
              </a:rPr>
              <a:t>Partial</a:t>
            </a:r>
            <a:endParaRPr lang="en-US" sz="1200" dirty="0"/>
          </a:p>
        </p:txBody>
      </p:sp>
      <p:sp>
        <p:nvSpPr>
          <p:cNvPr id="29" name="Text 27"/>
          <p:cNvSpPr txBox="1"/>
          <p:nvPr/>
        </p:nvSpPr>
        <p:spPr>
          <a:xfrm>
            <a:off x="10881360" y="1828800"/>
            <a:ext cx="603504" cy="320040"/>
          </a:xfrm>
          <a:prstGeom prst="rect">
            <a:avLst/>
          </a:prstGeom>
          <a:noFill/>
          <a:ln/>
        </p:spPr>
        <p:txBody>
          <a:bodyPr wrap="square" lIns="0" tIns="0" rIns="0" bIns="0" rtlCol="0" anchor="t"/>
          <a:lstStyle/>
          <a:p>
            <a:pPr algn="ctr" indent="0" marL="0">
              <a:buNone/>
            </a:pPr>
            <a:r>
              <a:rPr lang="en-US" sz="1200" b="1" dirty="0">
                <a:solidFill>
                  <a:srgbClr val="465A69"/>
                </a:solidFill>
                <a:latin typeface="Calibri" pitchFamily="34" charset="0"/>
                <a:ea typeface="Calibri" pitchFamily="34" charset="-122"/>
                <a:cs typeface="Calibri" pitchFamily="34" charset="-120"/>
              </a:rPr>
              <a:t>Gap</a:t>
            </a:r>
            <a:endParaRPr lang="en-US" sz="1200" dirty="0"/>
          </a:p>
        </p:txBody>
      </p:sp>
      <p:sp>
        <p:nvSpPr>
          <p:cNvPr id="30" name="Text 28"/>
          <p:cNvSpPr txBox="1"/>
          <p:nvPr/>
        </p:nvSpPr>
        <p:spPr>
          <a:xfrm>
            <a:off x="6126480" y="2286000"/>
            <a:ext cx="3429000" cy="640080"/>
          </a:xfrm>
          <a:prstGeom prst="rect">
            <a:avLst/>
          </a:prstGeom>
          <a:noFill/>
          <a:ln/>
        </p:spPr>
        <p:txBody>
          <a:bodyPr wrap="square" lIns="0" tIns="0" rIns="0" bIns="0" rtlCol="0" anchor="t"/>
          <a:lstStyle/>
          <a:p>
            <a:pPr indent="0" marL="0">
              <a:buNone/>
            </a:pPr>
            <a:r>
              <a:rPr lang="en-US" sz="1250" dirty="0">
                <a:solidFill>
                  <a:srgbClr val="1E2E3A"/>
                </a:solidFill>
                <a:latin typeface="Calibri" pitchFamily="34" charset="0"/>
                <a:ea typeface="Calibri" pitchFamily="34" charset="-122"/>
                <a:cs typeface="Calibri" pitchFamily="34" charset="-120"/>
              </a:rPr>
              <a:t>Incident declared within defined threshold</a:t>
            </a:r>
            <a:endParaRPr lang="en-US" sz="1250" dirty="0"/>
          </a:p>
        </p:txBody>
      </p:sp>
      <p:sp>
        <p:nvSpPr>
          <p:cNvPr id="31" name="Shape 29"/>
          <p:cNvSpPr/>
          <p:nvPr/>
        </p:nvSpPr>
        <p:spPr>
          <a:xfrm>
            <a:off x="9784080" y="2313432"/>
            <a:ext cx="237744" cy="237744"/>
          </a:xfrm>
          <a:prstGeom prst="roundRect">
            <a:avLst>
              <a:gd name="adj" fmla="val 19231"/>
            </a:avLst>
          </a:prstGeom>
          <a:solidFill>
            <a:srgbClr val="FFFFFF"/>
          </a:solidFill>
          <a:ln w="15875">
            <a:solidFill>
              <a:srgbClr val="C9D5D2"/>
            </a:solidFill>
            <a:prstDash val="solid"/>
          </a:ln>
        </p:spPr>
      </p:sp>
      <p:sp>
        <p:nvSpPr>
          <p:cNvPr id="32" name="Shape 30"/>
          <p:cNvSpPr/>
          <p:nvPr/>
        </p:nvSpPr>
        <p:spPr>
          <a:xfrm>
            <a:off x="10424160" y="2313432"/>
            <a:ext cx="237744" cy="237744"/>
          </a:xfrm>
          <a:prstGeom prst="roundRect">
            <a:avLst>
              <a:gd name="adj" fmla="val 19231"/>
            </a:avLst>
          </a:prstGeom>
          <a:solidFill>
            <a:srgbClr val="FFFFFF"/>
          </a:solidFill>
          <a:ln w="15875">
            <a:solidFill>
              <a:srgbClr val="C9D5D2"/>
            </a:solidFill>
            <a:prstDash val="solid"/>
          </a:ln>
        </p:spPr>
      </p:sp>
      <p:sp>
        <p:nvSpPr>
          <p:cNvPr id="33" name="Shape 31"/>
          <p:cNvSpPr/>
          <p:nvPr/>
        </p:nvSpPr>
        <p:spPr>
          <a:xfrm>
            <a:off x="11064240" y="2313432"/>
            <a:ext cx="237744" cy="237744"/>
          </a:xfrm>
          <a:prstGeom prst="roundRect">
            <a:avLst>
              <a:gd name="adj" fmla="val 19231"/>
            </a:avLst>
          </a:prstGeom>
          <a:solidFill>
            <a:srgbClr val="FFFFFF"/>
          </a:solidFill>
          <a:ln w="15875">
            <a:solidFill>
              <a:srgbClr val="C9D5D2"/>
            </a:solidFill>
            <a:prstDash val="solid"/>
          </a:ln>
        </p:spPr>
      </p:sp>
      <p:sp>
        <p:nvSpPr>
          <p:cNvPr id="34" name="Text 32"/>
          <p:cNvSpPr txBox="1"/>
          <p:nvPr/>
        </p:nvSpPr>
        <p:spPr>
          <a:xfrm>
            <a:off x="6126480" y="2926080"/>
            <a:ext cx="3429000" cy="640080"/>
          </a:xfrm>
          <a:prstGeom prst="rect">
            <a:avLst/>
          </a:prstGeom>
          <a:noFill/>
          <a:ln/>
        </p:spPr>
        <p:txBody>
          <a:bodyPr wrap="square" lIns="0" tIns="0" rIns="0" bIns="0" rtlCol="0" anchor="t"/>
          <a:lstStyle/>
          <a:p>
            <a:pPr indent="0" marL="0">
              <a:buNone/>
            </a:pPr>
            <a:r>
              <a:rPr lang="en-US" sz="1250" dirty="0">
                <a:solidFill>
                  <a:srgbClr val="1E2E3A"/>
                </a:solidFill>
                <a:latin typeface="Calibri" pitchFamily="34" charset="0"/>
                <a:ea typeface="Calibri" pitchFamily="34" charset="-122"/>
                <a:cs typeface="Calibri" pitchFamily="34" charset="-120"/>
              </a:rPr>
              <a:t>Executive communications activated</a:t>
            </a:r>
            <a:endParaRPr lang="en-US" sz="1250" dirty="0"/>
          </a:p>
        </p:txBody>
      </p:sp>
      <p:sp>
        <p:nvSpPr>
          <p:cNvPr id="35" name="Shape 33"/>
          <p:cNvSpPr/>
          <p:nvPr/>
        </p:nvSpPr>
        <p:spPr>
          <a:xfrm>
            <a:off x="9784080" y="2953512"/>
            <a:ext cx="237744" cy="237744"/>
          </a:xfrm>
          <a:prstGeom prst="roundRect">
            <a:avLst>
              <a:gd name="adj" fmla="val 19231"/>
            </a:avLst>
          </a:prstGeom>
          <a:solidFill>
            <a:srgbClr val="FFFFFF"/>
          </a:solidFill>
          <a:ln w="15875">
            <a:solidFill>
              <a:srgbClr val="C9D5D2"/>
            </a:solidFill>
            <a:prstDash val="solid"/>
          </a:ln>
        </p:spPr>
      </p:sp>
      <p:sp>
        <p:nvSpPr>
          <p:cNvPr id="36" name="Shape 34"/>
          <p:cNvSpPr/>
          <p:nvPr/>
        </p:nvSpPr>
        <p:spPr>
          <a:xfrm>
            <a:off x="10424160" y="2953512"/>
            <a:ext cx="237744" cy="237744"/>
          </a:xfrm>
          <a:prstGeom prst="roundRect">
            <a:avLst>
              <a:gd name="adj" fmla="val 19231"/>
            </a:avLst>
          </a:prstGeom>
          <a:solidFill>
            <a:srgbClr val="FFFFFF"/>
          </a:solidFill>
          <a:ln w="15875">
            <a:solidFill>
              <a:srgbClr val="C9D5D2"/>
            </a:solidFill>
            <a:prstDash val="solid"/>
          </a:ln>
        </p:spPr>
      </p:sp>
      <p:sp>
        <p:nvSpPr>
          <p:cNvPr id="37" name="Shape 35"/>
          <p:cNvSpPr/>
          <p:nvPr/>
        </p:nvSpPr>
        <p:spPr>
          <a:xfrm>
            <a:off x="11064240" y="2953512"/>
            <a:ext cx="237744" cy="237744"/>
          </a:xfrm>
          <a:prstGeom prst="roundRect">
            <a:avLst>
              <a:gd name="adj" fmla="val 19231"/>
            </a:avLst>
          </a:prstGeom>
          <a:solidFill>
            <a:srgbClr val="FFFFFF"/>
          </a:solidFill>
          <a:ln w="15875">
            <a:solidFill>
              <a:srgbClr val="C9D5D2"/>
            </a:solidFill>
            <a:prstDash val="solid"/>
          </a:ln>
        </p:spPr>
      </p:sp>
      <p:sp>
        <p:nvSpPr>
          <p:cNvPr id="38" name="Text 36"/>
          <p:cNvSpPr txBox="1"/>
          <p:nvPr/>
        </p:nvSpPr>
        <p:spPr>
          <a:xfrm>
            <a:off x="6126480" y="3566160"/>
            <a:ext cx="3429000" cy="640080"/>
          </a:xfrm>
          <a:prstGeom prst="rect">
            <a:avLst/>
          </a:prstGeom>
          <a:noFill/>
          <a:ln/>
        </p:spPr>
        <p:txBody>
          <a:bodyPr wrap="square" lIns="0" tIns="0" rIns="0" bIns="0" rtlCol="0" anchor="t"/>
          <a:lstStyle/>
          <a:p>
            <a:pPr indent="0" marL="0">
              <a:buNone/>
            </a:pPr>
            <a:r>
              <a:rPr lang="en-US" sz="1250" dirty="0">
                <a:solidFill>
                  <a:srgbClr val="1E2E3A"/>
                </a:solidFill>
                <a:latin typeface="Calibri" pitchFamily="34" charset="0"/>
                <a:ea typeface="Calibri" pitchFamily="34" charset="-122"/>
                <a:cs typeface="Calibri" pitchFamily="34" charset="-120"/>
              </a:rPr>
              <a:t>Forensic preservation initiated</a:t>
            </a:r>
            <a:endParaRPr lang="en-US" sz="1250" dirty="0"/>
          </a:p>
        </p:txBody>
      </p:sp>
      <p:sp>
        <p:nvSpPr>
          <p:cNvPr id="39" name="Shape 37"/>
          <p:cNvSpPr/>
          <p:nvPr/>
        </p:nvSpPr>
        <p:spPr>
          <a:xfrm>
            <a:off x="9784080" y="3593592"/>
            <a:ext cx="237744" cy="237744"/>
          </a:xfrm>
          <a:prstGeom prst="roundRect">
            <a:avLst>
              <a:gd name="adj" fmla="val 19231"/>
            </a:avLst>
          </a:prstGeom>
          <a:solidFill>
            <a:srgbClr val="FFFFFF"/>
          </a:solidFill>
          <a:ln w="15875">
            <a:solidFill>
              <a:srgbClr val="C9D5D2"/>
            </a:solidFill>
            <a:prstDash val="solid"/>
          </a:ln>
        </p:spPr>
      </p:sp>
      <p:sp>
        <p:nvSpPr>
          <p:cNvPr id="40" name="Shape 38"/>
          <p:cNvSpPr/>
          <p:nvPr/>
        </p:nvSpPr>
        <p:spPr>
          <a:xfrm>
            <a:off x="10424160" y="3593592"/>
            <a:ext cx="237744" cy="237744"/>
          </a:xfrm>
          <a:prstGeom prst="roundRect">
            <a:avLst>
              <a:gd name="adj" fmla="val 19231"/>
            </a:avLst>
          </a:prstGeom>
          <a:solidFill>
            <a:srgbClr val="FFFFFF"/>
          </a:solidFill>
          <a:ln w="15875">
            <a:solidFill>
              <a:srgbClr val="C9D5D2"/>
            </a:solidFill>
            <a:prstDash val="solid"/>
          </a:ln>
        </p:spPr>
      </p:sp>
      <p:sp>
        <p:nvSpPr>
          <p:cNvPr id="41" name="Shape 39"/>
          <p:cNvSpPr/>
          <p:nvPr/>
        </p:nvSpPr>
        <p:spPr>
          <a:xfrm>
            <a:off x="11064240" y="3593592"/>
            <a:ext cx="237744" cy="237744"/>
          </a:xfrm>
          <a:prstGeom prst="roundRect">
            <a:avLst>
              <a:gd name="adj" fmla="val 19231"/>
            </a:avLst>
          </a:prstGeom>
          <a:solidFill>
            <a:srgbClr val="FFFFFF"/>
          </a:solidFill>
          <a:ln w="15875">
            <a:solidFill>
              <a:srgbClr val="C9D5D2"/>
            </a:solidFill>
            <a:prstDash val="solid"/>
          </a:ln>
        </p:spPr>
      </p:sp>
      <p:sp>
        <p:nvSpPr>
          <p:cNvPr id="42" name="Text 40"/>
          <p:cNvSpPr txBox="1"/>
          <p:nvPr/>
        </p:nvSpPr>
        <p:spPr>
          <a:xfrm>
            <a:off x="6126480" y="4206240"/>
            <a:ext cx="3429000" cy="640080"/>
          </a:xfrm>
          <a:prstGeom prst="rect">
            <a:avLst/>
          </a:prstGeom>
          <a:noFill/>
          <a:ln/>
        </p:spPr>
        <p:txBody>
          <a:bodyPr wrap="square" lIns="0" tIns="0" rIns="0" bIns="0" rtlCol="0" anchor="t"/>
          <a:lstStyle/>
          <a:p>
            <a:pPr indent="0" marL="0">
              <a:buNone/>
            </a:pPr>
            <a:r>
              <a:rPr lang="en-US" sz="1250" dirty="0">
                <a:solidFill>
                  <a:srgbClr val="1E2E3A"/>
                </a:solidFill>
                <a:latin typeface="Calibri" pitchFamily="34" charset="0"/>
                <a:ea typeface="Calibri" pitchFamily="34" charset="-122"/>
                <a:cs typeface="Calibri" pitchFamily="34" charset="-120"/>
              </a:rPr>
              <a:t>Materiality assessment performed</a:t>
            </a:r>
            <a:endParaRPr lang="en-US" sz="1250" dirty="0"/>
          </a:p>
        </p:txBody>
      </p:sp>
      <p:sp>
        <p:nvSpPr>
          <p:cNvPr id="43" name="Shape 41"/>
          <p:cNvSpPr/>
          <p:nvPr/>
        </p:nvSpPr>
        <p:spPr>
          <a:xfrm>
            <a:off x="9784080" y="4233672"/>
            <a:ext cx="237744" cy="237744"/>
          </a:xfrm>
          <a:prstGeom prst="roundRect">
            <a:avLst>
              <a:gd name="adj" fmla="val 19231"/>
            </a:avLst>
          </a:prstGeom>
          <a:solidFill>
            <a:srgbClr val="FFFFFF"/>
          </a:solidFill>
          <a:ln w="15875">
            <a:solidFill>
              <a:srgbClr val="C9D5D2"/>
            </a:solidFill>
            <a:prstDash val="solid"/>
          </a:ln>
        </p:spPr>
      </p:sp>
      <p:sp>
        <p:nvSpPr>
          <p:cNvPr id="44" name="Shape 42"/>
          <p:cNvSpPr/>
          <p:nvPr/>
        </p:nvSpPr>
        <p:spPr>
          <a:xfrm>
            <a:off x="10424160" y="4233672"/>
            <a:ext cx="237744" cy="237744"/>
          </a:xfrm>
          <a:prstGeom prst="roundRect">
            <a:avLst>
              <a:gd name="adj" fmla="val 19231"/>
            </a:avLst>
          </a:prstGeom>
          <a:solidFill>
            <a:srgbClr val="FFFFFF"/>
          </a:solidFill>
          <a:ln w="15875">
            <a:solidFill>
              <a:srgbClr val="C9D5D2"/>
            </a:solidFill>
            <a:prstDash val="solid"/>
          </a:ln>
        </p:spPr>
      </p:sp>
      <p:sp>
        <p:nvSpPr>
          <p:cNvPr id="45" name="Shape 43"/>
          <p:cNvSpPr/>
          <p:nvPr/>
        </p:nvSpPr>
        <p:spPr>
          <a:xfrm>
            <a:off x="11064240" y="4233672"/>
            <a:ext cx="237744" cy="237744"/>
          </a:xfrm>
          <a:prstGeom prst="roundRect">
            <a:avLst>
              <a:gd name="adj" fmla="val 19231"/>
            </a:avLst>
          </a:prstGeom>
          <a:solidFill>
            <a:srgbClr val="FFFFFF"/>
          </a:solidFill>
          <a:ln w="15875">
            <a:solidFill>
              <a:srgbClr val="C9D5D2"/>
            </a:solidFill>
            <a:prstDash val="solid"/>
          </a:ln>
        </p:spPr>
      </p:sp>
      <p:sp>
        <p:nvSpPr>
          <p:cNvPr id="46" name="Text 44"/>
          <p:cNvSpPr txBox="1"/>
          <p:nvPr/>
        </p:nvSpPr>
        <p:spPr>
          <a:xfrm>
            <a:off x="6126480" y="4846320"/>
            <a:ext cx="3429000" cy="640080"/>
          </a:xfrm>
          <a:prstGeom prst="rect">
            <a:avLst/>
          </a:prstGeom>
          <a:noFill/>
          <a:ln/>
        </p:spPr>
        <p:txBody>
          <a:bodyPr wrap="square" lIns="0" tIns="0" rIns="0" bIns="0" rtlCol="0" anchor="t"/>
          <a:lstStyle/>
          <a:p>
            <a:pPr indent="0" marL="0">
              <a:buNone/>
            </a:pPr>
            <a:r>
              <a:rPr lang="en-US" sz="1250" dirty="0">
                <a:solidFill>
                  <a:srgbClr val="1E2E3A"/>
                </a:solidFill>
                <a:latin typeface="Calibri" pitchFamily="34" charset="0"/>
                <a:ea typeface="Calibri" pitchFamily="34" charset="-122"/>
                <a:cs typeface="Calibri" pitchFamily="34" charset="-120"/>
              </a:rPr>
              <a:t>Regulatory obligations evaluated</a:t>
            </a:r>
            <a:endParaRPr lang="en-US" sz="1250" dirty="0"/>
          </a:p>
        </p:txBody>
      </p:sp>
      <p:sp>
        <p:nvSpPr>
          <p:cNvPr id="47" name="Shape 45"/>
          <p:cNvSpPr/>
          <p:nvPr/>
        </p:nvSpPr>
        <p:spPr>
          <a:xfrm>
            <a:off x="9784080" y="4873752"/>
            <a:ext cx="237744" cy="237744"/>
          </a:xfrm>
          <a:prstGeom prst="roundRect">
            <a:avLst>
              <a:gd name="adj" fmla="val 19231"/>
            </a:avLst>
          </a:prstGeom>
          <a:solidFill>
            <a:srgbClr val="FFFFFF"/>
          </a:solidFill>
          <a:ln w="15875">
            <a:solidFill>
              <a:srgbClr val="C9D5D2"/>
            </a:solidFill>
            <a:prstDash val="solid"/>
          </a:ln>
        </p:spPr>
      </p:sp>
      <p:sp>
        <p:nvSpPr>
          <p:cNvPr id="48" name="Shape 46"/>
          <p:cNvSpPr/>
          <p:nvPr/>
        </p:nvSpPr>
        <p:spPr>
          <a:xfrm>
            <a:off x="10424160" y="4873752"/>
            <a:ext cx="237744" cy="237744"/>
          </a:xfrm>
          <a:prstGeom prst="roundRect">
            <a:avLst>
              <a:gd name="adj" fmla="val 19231"/>
            </a:avLst>
          </a:prstGeom>
          <a:solidFill>
            <a:srgbClr val="FFFFFF"/>
          </a:solidFill>
          <a:ln w="15875">
            <a:solidFill>
              <a:srgbClr val="C9D5D2"/>
            </a:solidFill>
            <a:prstDash val="solid"/>
          </a:ln>
        </p:spPr>
      </p:sp>
      <p:sp>
        <p:nvSpPr>
          <p:cNvPr id="49" name="Shape 47"/>
          <p:cNvSpPr/>
          <p:nvPr/>
        </p:nvSpPr>
        <p:spPr>
          <a:xfrm>
            <a:off x="11064240" y="4873752"/>
            <a:ext cx="237744" cy="237744"/>
          </a:xfrm>
          <a:prstGeom prst="roundRect">
            <a:avLst>
              <a:gd name="adj" fmla="val 19231"/>
            </a:avLst>
          </a:prstGeom>
          <a:solidFill>
            <a:srgbClr val="FFFFFF"/>
          </a:solidFill>
          <a:ln w="15875">
            <a:solidFill>
              <a:srgbClr val="C9D5D2"/>
            </a:solidFill>
            <a:prstDash val="solid"/>
          </a:ln>
        </p:spPr>
      </p:sp>
      <p:sp>
        <p:nvSpPr>
          <p:cNvPr id="50" name="Shape 48"/>
          <p:cNvSpPr/>
          <p:nvPr/>
        </p:nvSpPr>
        <p:spPr>
          <a:xfrm>
            <a:off x="548640" y="5760720"/>
            <a:ext cx="11091672" cy="457200"/>
          </a:xfrm>
          <a:prstGeom prst="roundRect">
            <a:avLst>
              <a:gd name="adj" fmla="val 24000"/>
            </a:avLst>
          </a:prstGeom>
          <a:solidFill>
            <a:srgbClr val="F1F6FA"/>
          </a:solidFill>
          <a:ln w="12700">
            <a:solidFill>
              <a:srgbClr val="F1F6FA"/>
            </a:solidFill>
            <a:prstDash val="solid"/>
          </a:ln>
        </p:spPr>
      </p:sp>
      <p:sp>
        <p:nvSpPr>
          <p:cNvPr id="51" name="Text 49"/>
          <p:cNvSpPr txBox="1"/>
          <p:nvPr/>
        </p:nvSpPr>
        <p:spPr>
          <a:xfrm>
            <a:off x="822960" y="5760720"/>
            <a:ext cx="8412480" cy="457200"/>
          </a:xfrm>
          <a:prstGeom prst="rect">
            <a:avLst/>
          </a:prstGeom>
          <a:noFill/>
          <a:ln/>
        </p:spPr>
        <p:txBody>
          <a:bodyPr wrap="square" lIns="0" tIns="0" rIns="0" bIns="0" rtlCol="0" anchor="ctr"/>
          <a:lstStyle/>
          <a:p>
            <a:pPr indent="0" marL="0">
              <a:buNone/>
            </a:pPr>
            <a:r>
              <a:rPr lang="en-US" sz="1300" i="1" dirty="0">
                <a:solidFill>
                  <a:srgbClr val="3F6E8C"/>
                </a:solidFill>
                <a:latin typeface="Calibri" pitchFamily="34" charset="0"/>
                <a:ea typeface="Calibri" pitchFamily="34" charset="-122"/>
                <a:cs typeface="Calibri" pitchFamily="34" charset="-120"/>
              </a:rPr>
              <a:t>Next: The compromise is contained. Then, mid-investigation, the cloud itself fails.</a:t>
            </a:r>
            <a:endParaRPr lang="en-US" sz="1300" dirty="0"/>
          </a:p>
        </p:txBody>
      </p:sp>
      <p:sp>
        <p:nvSpPr>
          <p:cNvPr id="52" name="Shape 50"/>
          <p:cNvSpPr/>
          <p:nvPr/>
        </p:nvSpPr>
        <p:spPr>
          <a:xfrm>
            <a:off x="9464040" y="5815584"/>
            <a:ext cx="2011680" cy="347472"/>
          </a:xfrm>
          <a:prstGeom prst="roundRect">
            <a:avLst>
              <a:gd name="adj" fmla="val 50000"/>
            </a:avLst>
          </a:prstGeom>
          <a:solidFill>
            <a:srgbClr val="4C8068"/>
          </a:solidFill>
          <a:ln w="12700">
            <a:solidFill>
              <a:srgbClr val="4C8068"/>
            </a:solidFill>
            <a:prstDash val="solid"/>
          </a:ln>
        </p:spPr>
      </p:sp>
      <p:sp>
        <p:nvSpPr>
          <p:cNvPr id="53" name="Text 51"/>
          <p:cNvSpPr txBox="1"/>
          <p:nvPr/>
        </p:nvSpPr>
        <p:spPr>
          <a:xfrm>
            <a:off x="9464040" y="5815584"/>
            <a:ext cx="201168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Go to Scenario 2</a:t>
            </a:r>
            <a:endParaRPr lang="en-US" sz="1200" dirty="0"/>
          </a:p>
        </p:txBody>
      </p:sp>
      <p:pic>
        <p:nvPicPr>
          <p:cNvPr id="54" name="Image 0" descr="preencoded.png">
            <a:hlinkClick r:id="rId2" tooltip="Go to Scenario 2" action="ppaction://hlinksldjump"/>
          </p:cNvPr>
          <p:cNvPicPr>
            <a:picLocks noChangeAspect="1"/>
          </p:cNvPicPr>
          <p:nvPr/>
        </p:nvPicPr>
        <p:blipFill>
          <a:blip r:embed="rId1"/>
          <a:stretch>
            <a:fillRect/>
          </a:stretch>
        </p:blipFill>
        <p:spPr>
          <a:xfrm>
            <a:off x="9464040" y="5815584"/>
            <a:ext cx="2011680" cy="347472"/>
          </a:xfrm>
          <a:prstGeom prst="rect">
            <a:avLst/>
          </a:prstGeom>
        </p:spPr>
      </p:pic>
      <p:sp>
        <p:nvSpPr>
          <p:cNvPr id="55" name="Text 52"/>
          <p:cNvSpPr txBox="1"/>
          <p:nvPr/>
        </p:nvSpPr>
        <p:spPr>
          <a:xfrm>
            <a:off x="548640" y="6254496"/>
            <a:ext cx="11091672" cy="256032"/>
          </a:xfrm>
          <a:prstGeom prst="rect">
            <a:avLst/>
          </a:prstGeom>
          <a:noFill/>
          <a:ln/>
        </p:spPr>
        <p:txBody>
          <a:bodyPr wrap="square" lIns="0" tIns="0" rIns="0" bIns="0" rtlCol="0" anchor="ctr"/>
          <a:lstStyle/>
          <a:p>
            <a:pPr indent="0" marL="0">
              <a:buNone/>
            </a:pPr>
            <a:r>
              <a:rPr lang="en-US" sz="1200" b="1" dirty="0">
                <a:solidFill>
                  <a:srgbClr val="465A69"/>
                </a:solidFill>
                <a:latin typeface="Calibri" pitchFamily="34" charset="0"/>
                <a:ea typeface="Calibri" pitchFamily="34" charset="-122"/>
                <a:cs typeface="Calibri" pitchFamily="34" charset="-120"/>
              </a:rPr>
              <a:t>Acronyms:  </a:t>
            </a:r>
            <a:pPr indent="0" marL="0">
              <a:buNone/>
            </a:pPr>
            <a:r>
              <a:rPr lang="en-US" sz="1200" dirty="0">
                <a:solidFill>
                  <a:srgbClr val="465A69"/>
                </a:solidFill>
                <a:latin typeface="Calibri" pitchFamily="34" charset="0"/>
                <a:ea typeface="Calibri" pitchFamily="34" charset="-122"/>
                <a:cs typeface="Calibri" pitchFamily="34" charset="-120"/>
              </a:rPr>
              <a:t>SEC: Securities and Exchange Commission</a:t>
            </a:r>
            <a:endParaRPr lang="en-US" sz="1200" dirty="0"/>
          </a:p>
        </p:txBody>
      </p:sp>
      <p:sp>
        <p:nvSpPr>
          <p:cNvPr id="56" name="Shape 53"/>
          <p:cNvSpPr/>
          <p:nvPr/>
        </p:nvSpPr>
        <p:spPr>
          <a:xfrm>
            <a:off x="548640" y="6537960"/>
            <a:ext cx="763524" cy="274320"/>
          </a:xfrm>
          <a:prstGeom prst="roundRect">
            <a:avLst>
              <a:gd name="adj" fmla="val 50000"/>
            </a:avLst>
          </a:prstGeom>
          <a:solidFill>
            <a:srgbClr val="E4ECF2"/>
          </a:solidFill>
          <a:ln w="12700">
            <a:solidFill>
              <a:srgbClr val="E4ECF2"/>
            </a:solidFill>
            <a:prstDash val="solid"/>
          </a:ln>
        </p:spPr>
      </p:sp>
      <p:sp>
        <p:nvSpPr>
          <p:cNvPr id="57" name="Text 54"/>
          <p:cNvSpPr txBox="1"/>
          <p:nvPr/>
        </p:nvSpPr>
        <p:spPr>
          <a:xfrm>
            <a:off x="548640" y="6537960"/>
            <a:ext cx="763524" cy="274320"/>
          </a:xfrm>
          <a:prstGeom prst="rect">
            <a:avLst/>
          </a:prstGeom>
          <a:noFill/>
          <a:ln/>
        </p:spPr>
        <p:txBody>
          <a:bodyPr wrap="square" lIns="0" tIns="0" rIns="0" bIns="0" rtlCol="0" anchor="ctr"/>
          <a:lstStyle/>
          <a:p>
            <a:pPr algn="ctr" indent="0" marL="0">
              <a:buNone/>
            </a:pPr>
            <a:r>
              <a:rPr lang="en-US" sz="1200" b="1" dirty="0">
                <a:solidFill>
                  <a:srgbClr val="23405A"/>
                </a:solidFill>
                <a:latin typeface="Calibri" pitchFamily="34" charset="0"/>
                <a:ea typeface="Calibri" pitchFamily="34" charset="-122"/>
                <a:cs typeface="Calibri" pitchFamily="34" charset="-120"/>
              </a:rPr>
              <a:t>Start</a:t>
            </a:r>
            <a:endParaRPr lang="en-US" sz="1200" dirty="0"/>
          </a:p>
        </p:txBody>
      </p:sp>
      <p:pic>
        <p:nvPicPr>
          <p:cNvPr id="58" name="Image 1" descr="preencoded.png">
            <a:hlinkClick r:id="rId4" tooltip="Go to Start" action="ppaction://hlinksldjump"/>
          </p:cNvPr>
          <p:cNvPicPr>
            <a:picLocks noChangeAspect="1"/>
          </p:cNvPicPr>
          <p:nvPr/>
        </p:nvPicPr>
        <p:blipFill>
          <a:blip r:embed="rId3"/>
          <a:stretch>
            <a:fillRect/>
          </a:stretch>
        </p:blipFill>
        <p:spPr>
          <a:xfrm>
            <a:off x="548640" y="6537960"/>
            <a:ext cx="763524" cy="274320"/>
          </a:xfrm>
          <a:prstGeom prst="rect">
            <a:avLst/>
          </a:prstGeom>
        </p:spPr>
      </p:pic>
      <p:sp>
        <p:nvSpPr>
          <p:cNvPr id="59" name="Shape 55"/>
          <p:cNvSpPr/>
          <p:nvPr/>
        </p:nvSpPr>
        <p:spPr>
          <a:xfrm>
            <a:off x="1385316" y="6537960"/>
            <a:ext cx="1197864" cy="274320"/>
          </a:xfrm>
          <a:prstGeom prst="roundRect">
            <a:avLst>
              <a:gd name="adj" fmla="val 50000"/>
            </a:avLst>
          </a:prstGeom>
          <a:solidFill>
            <a:srgbClr val="3F6E8C"/>
          </a:solidFill>
          <a:ln w="12700">
            <a:solidFill>
              <a:srgbClr val="3F6E8C"/>
            </a:solidFill>
            <a:prstDash val="solid"/>
          </a:ln>
        </p:spPr>
      </p:sp>
      <p:sp>
        <p:nvSpPr>
          <p:cNvPr id="60" name="Text 56"/>
          <p:cNvSpPr txBox="1"/>
          <p:nvPr/>
        </p:nvSpPr>
        <p:spPr>
          <a:xfrm>
            <a:off x="1385316" y="6537960"/>
            <a:ext cx="1197864"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Scenario 1</a:t>
            </a:r>
            <a:endParaRPr lang="en-US" sz="1200" dirty="0"/>
          </a:p>
        </p:txBody>
      </p:sp>
      <p:pic>
        <p:nvPicPr>
          <p:cNvPr id="61" name="Image 2" descr="preencoded.png">
            <a:hlinkClick r:id="rId6" tooltip="Go to Scenario 1" action="ppaction://hlinksldjump"/>
          </p:cNvPr>
          <p:cNvPicPr>
            <a:picLocks noChangeAspect="1"/>
          </p:cNvPicPr>
          <p:nvPr/>
        </p:nvPicPr>
        <p:blipFill>
          <a:blip r:embed="rId5"/>
          <a:stretch>
            <a:fillRect/>
          </a:stretch>
        </p:blipFill>
        <p:spPr>
          <a:xfrm>
            <a:off x="1385316" y="6537960"/>
            <a:ext cx="1197864" cy="274320"/>
          </a:xfrm>
          <a:prstGeom prst="rect">
            <a:avLst/>
          </a:prstGeom>
        </p:spPr>
      </p:pic>
      <p:sp>
        <p:nvSpPr>
          <p:cNvPr id="62" name="Shape 57"/>
          <p:cNvSpPr/>
          <p:nvPr/>
        </p:nvSpPr>
        <p:spPr>
          <a:xfrm>
            <a:off x="2656332" y="6537960"/>
            <a:ext cx="1197864" cy="274320"/>
          </a:xfrm>
          <a:prstGeom prst="roundRect">
            <a:avLst>
              <a:gd name="adj" fmla="val 50000"/>
            </a:avLst>
          </a:prstGeom>
          <a:solidFill>
            <a:srgbClr val="F1F8F3"/>
          </a:solidFill>
          <a:ln w="12700">
            <a:solidFill>
              <a:srgbClr val="F1F8F3"/>
            </a:solidFill>
            <a:prstDash val="solid"/>
          </a:ln>
        </p:spPr>
      </p:sp>
      <p:sp>
        <p:nvSpPr>
          <p:cNvPr id="63" name="Text 58"/>
          <p:cNvSpPr txBox="1"/>
          <p:nvPr/>
        </p:nvSpPr>
        <p:spPr>
          <a:xfrm>
            <a:off x="2656332" y="6537960"/>
            <a:ext cx="1197864" cy="274320"/>
          </a:xfrm>
          <a:prstGeom prst="rect">
            <a:avLst/>
          </a:prstGeom>
          <a:noFill/>
          <a:ln/>
        </p:spPr>
        <p:txBody>
          <a:bodyPr wrap="square" lIns="0" tIns="0" rIns="0" bIns="0" rtlCol="0" anchor="ctr"/>
          <a:lstStyle/>
          <a:p>
            <a:pPr algn="ctr" indent="0" marL="0">
              <a:buNone/>
            </a:pPr>
            <a:r>
              <a:rPr lang="en-US" sz="1200" b="1" dirty="0">
                <a:solidFill>
                  <a:srgbClr val="4C8068"/>
                </a:solidFill>
                <a:latin typeface="Calibri" pitchFamily="34" charset="0"/>
                <a:ea typeface="Calibri" pitchFamily="34" charset="-122"/>
                <a:cs typeface="Calibri" pitchFamily="34" charset="-120"/>
              </a:rPr>
              <a:t>Scenario 2</a:t>
            </a:r>
            <a:endParaRPr lang="en-US" sz="1200" dirty="0"/>
          </a:p>
        </p:txBody>
      </p:sp>
      <p:pic>
        <p:nvPicPr>
          <p:cNvPr id="64" name="Image 3" descr="preencoded.png">
            <a:hlinkClick r:id="rId8" tooltip="Go to Scenario 2" action="ppaction://hlinksldjump"/>
          </p:cNvPr>
          <p:cNvPicPr>
            <a:picLocks noChangeAspect="1"/>
          </p:cNvPicPr>
          <p:nvPr/>
        </p:nvPicPr>
        <p:blipFill>
          <a:blip r:embed="rId7"/>
          <a:stretch>
            <a:fillRect/>
          </a:stretch>
        </p:blipFill>
        <p:spPr>
          <a:xfrm>
            <a:off x="2656332" y="6537960"/>
            <a:ext cx="1197864" cy="274320"/>
          </a:xfrm>
          <a:prstGeom prst="rect">
            <a:avLst/>
          </a:prstGeom>
        </p:spPr>
      </p:pic>
      <p:sp>
        <p:nvSpPr>
          <p:cNvPr id="65" name="Shape 59"/>
          <p:cNvSpPr/>
          <p:nvPr/>
        </p:nvSpPr>
        <p:spPr>
          <a:xfrm>
            <a:off x="3927348" y="6537960"/>
            <a:ext cx="1197864" cy="274320"/>
          </a:xfrm>
          <a:prstGeom prst="roundRect">
            <a:avLst>
              <a:gd name="adj" fmla="val 50000"/>
            </a:avLst>
          </a:prstGeom>
          <a:solidFill>
            <a:srgbClr val="F6F3FA"/>
          </a:solidFill>
          <a:ln w="12700">
            <a:solidFill>
              <a:srgbClr val="F6F3FA"/>
            </a:solidFill>
            <a:prstDash val="solid"/>
          </a:ln>
        </p:spPr>
      </p:sp>
      <p:sp>
        <p:nvSpPr>
          <p:cNvPr id="66" name="Text 60"/>
          <p:cNvSpPr txBox="1"/>
          <p:nvPr/>
        </p:nvSpPr>
        <p:spPr>
          <a:xfrm>
            <a:off x="3927348" y="6537960"/>
            <a:ext cx="1197864" cy="274320"/>
          </a:xfrm>
          <a:prstGeom prst="rect">
            <a:avLst/>
          </a:prstGeom>
          <a:noFill/>
          <a:ln/>
        </p:spPr>
        <p:txBody>
          <a:bodyPr wrap="square" lIns="0" tIns="0" rIns="0" bIns="0" rtlCol="0" anchor="ctr"/>
          <a:lstStyle/>
          <a:p>
            <a:pPr algn="ctr" indent="0" marL="0">
              <a:buNone/>
            </a:pPr>
            <a:r>
              <a:rPr lang="en-US" sz="1200" b="1" dirty="0">
                <a:solidFill>
                  <a:srgbClr val="6E5E94"/>
                </a:solidFill>
                <a:latin typeface="Calibri" pitchFamily="34" charset="0"/>
                <a:ea typeface="Calibri" pitchFamily="34" charset="-122"/>
                <a:cs typeface="Calibri" pitchFamily="34" charset="-120"/>
              </a:rPr>
              <a:t>Scenario 3</a:t>
            </a:r>
            <a:endParaRPr lang="en-US" sz="1200" dirty="0"/>
          </a:p>
        </p:txBody>
      </p:sp>
      <p:pic>
        <p:nvPicPr>
          <p:cNvPr id="67" name="Image 4" descr="preencoded.png">
            <a:hlinkClick r:id="rId10" tooltip="Go to Scenario 3" action="ppaction://hlinksldjump"/>
          </p:cNvPr>
          <p:cNvPicPr>
            <a:picLocks noChangeAspect="1"/>
          </p:cNvPicPr>
          <p:nvPr/>
        </p:nvPicPr>
        <p:blipFill>
          <a:blip r:embed="rId9"/>
          <a:stretch>
            <a:fillRect/>
          </a:stretch>
        </p:blipFill>
        <p:spPr>
          <a:xfrm>
            <a:off x="3927348" y="6537960"/>
            <a:ext cx="1197864" cy="274320"/>
          </a:xfrm>
          <a:prstGeom prst="rect">
            <a:avLst/>
          </a:prstGeom>
        </p:spPr>
      </p:pic>
      <p:sp>
        <p:nvSpPr>
          <p:cNvPr id="68" name="Shape 61"/>
          <p:cNvSpPr/>
          <p:nvPr/>
        </p:nvSpPr>
        <p:spPr>
          <a:xfrm>
            <a:off x="5198364" y="6537960"/>
            <a:ext cx="937260" cy="274320"/>
          </a:xfrm>
          <a:prstGeom prst="roundRect">
            <a:avLst>
              <a:gd name="adj" fmla="val 50000"/>
            </a:avLst>
          </a:prstGeom>
          <a:solidFill>
            <a:srgbClr val="E4ECF2"/>
          </a:solidFill>
          <a:ln w="12700">
            <a:solidFill>
              <a:srgbClr val="E4ECF2"/>
            </a:solidFill>
            <a:prstDash val="solid"/>
          </a:ln>
        </p:spPr>
      </p:sp>
      <p:sp>
        <p:nvSpPr>
          <p:cNvPr id="69" name="Text 62"/>
          <p:cNvSpPr txBox="1"/>
          <p:nvPr/>
        </p:nvSpPr>
        <p:spPr>
          <a:xfrm>
            <a:off x="5198364" y="6537960"/>
            <a:ext cx="937260" cy="274320"/>
          </a:xfrm>
          <a:prstGeom prst="rect">
            <a:avLst/>
          </a:prstGeom>
          <a:noFill/>
          <a:ln/>
        </p:spPr>
        <p:txBody>
          <a:bodyPr wrap="square" lIns="0" tIns="0" rIns="0" bIns="0" rtlCol="0" anchor="ctr"/>
          <a:lstStyle/>
          <a:p>
            <a:pPr algn="ctr" indent="0" marL="0">
              <a:buNone/>
            </a:pPr>
            <a:r>
              <a:rPr lang="en-US" sz="1200" b="1" dirty="0">
                <a:solidFill>
                  <a:srgbClr val="23405A"/>
                </a:solidFill>
                <a:latin typeface="Calibri" pitchFamily="34" charset="0"/>
                <a:ea typeface="Calibri" pitchFamily="34" charset="-122"/>
                <a:cs typeface="Calibri" pitchFamily="34" charset="-120"/>
              </a:rPr>
              <a:t>Closing</a:t>
            </a:r>
            <a:endParaRPr lang="en-US" sz="1200" dirty="0"/>
          </a:p>
        </p:txBody>
      </p:sp>
      <p:pic>
        <p:nvPicPr>
          <p:cNvPr id="70" name="Image 5" descr="preencoded.png">
            <a:hlinkClick r:id="rId12" tooltip="Go to Closing" action="ppaction://hlinksldjump"/>
          </p:cNvPr>
          <p:cNvPicPr>
            <a:picLocks noChangeAspect="1"/>
          </p:cNvPicPr>
          <p:nvPr/>
        </p:nvPicPr>
        <p:blipFill>
          <a:blip r:embed="rId11"/>
          <a:stretch>
            <a:fillRect/>
          </a:stretch>
        </p:blipFill>
        <p:spPr>
          <a:xfrm>
            <a:off x="5198364" y="6537960"/>
            <a:ext cx="937260" cy="274320"/>
          </a:xfrm>
          <a:prstGeom prst="rect">
            <a:avLst/>
          </a:prstGeom>
        </p:spPr>
      </p:pic>
      <p:sp>
        <p:nvSpPr>
          <p:cNvPr id="71" name="Text 63"/>
          <p:cNvSpPr txBox="1"/>
          <p:nvPr/>
        </p:nvSpPr>
        <p:spPr>
          <a:xfrm>
            <a:off x="11277295" y="6537960"/>
            <a:ext cx="365760" cy="274320"/>
          </a:xfrm>
          <a:prstGeom prst="rect">
            <a:avLst/>
          </a:prstGeom>
          <a:noFill/>
          <a:ln/>
        </p:spPr>
        <p:txBody>
          <a:bodyPr wrap="square" lIns="0" tIns="0" rIns="0" bIns="0" rtlCol="0" anchor="ctr"/>
          <a:lstStyle/>
          <a:p>
            <a:pPr algn="r" indent="0" marL="0">
              <a:buNone/>
            </a:pPr>
            <a:r>
              <a:rPr lang="en-US" sz="1200" dirty="0">
                <a:solidFill>
                  <a:srgbClr val="465A69"/>
                </a:solidFill>
                <a:latin typeface="Calibri" pitchFamily="34" charset="0"/>
                <a:ea typeface="Calibri" pitchFamily="34" charset="-122"/>
                <a:cs typeface="Calibri" pitchFamily="34" charset="-120"/>
              </a:rPr>
              <a:t>22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E6F2E9"/>
        </a:solidFill>
      </p:bgPr>
    </p:bg>
    <p:spTree>
      <p:nvGrpSpPr>
        <p:cNvPr id="1" name=""/>
        <p:cNvGrpSpPr/>
        <p:nvPr/>
      </p:nvGrpSpPr>
      <p:grpSpPr>
        <a:xfrm>
          <a:off x="0" y="0"/>
          <a:ext cx="0" cy="0"/>
          <a:chOff x="0" y="0"/>
          <a:chExt cx="0" cy="0"/>
        </a:xfrm>
      </p:grpSpPr>
      <p:sp>
        <p:nvSpPr>
          <p:cNvPr id="2" name="Shape 0"/>
          <p:cNvSpPr/>
          <p:nvPr/>
        </p:nvSpPr>
        <p:spPr>
          <a:xfrm>
            <a:off x="548640" y="731520"/>
            <a:ext cx="7040880" cy="5394960"/>
          </a:xfrm>
          <a:prstGeom prst="roundRect">
            <a:avLst>
              <a:gd name="adj" fmla="val 2373"/>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3" name="Shape 1"/>
          <p:cNvSpPr/>
          <p:nvPr/>
        </p:nvSpPr>
        <p:spPr>
          <a:xfrm>
            <a:off x="1005840" y="1188720"/>
            <a:ext cx="914400" cy="914400"/>
          </a:xfrm>
          <a:prstGeom prst="roundRect">
            <a:avLst>
              <a:gd name="adj" fmla="val 50000"/>
            </a:avLst>
          </a:prstGeom>
          <a:solidFill>
            <a:srgbClr val="F1F8F3"/>
          </a:solidFill>
          <a:ln w="12700">
            <a:solidFill>
              <a:srgbClr val="F1F8F3"/>
            </a:solidFill>
            <a:prstDash val="solid"/>
          </a:ln>
        </p:spPr>
      </p:sp>
      <p:pic>
        <p:nvPicPr>
          <p:cNvPr id="4" name="Image 0" descr="preencoded.png">    </p:cNvPr>
          <p:cNvPicPr>
            <a:picLocks noChangeAspect="1"/>
          </p:cNvPicPr>
          <p:nvPr/>
        </p:nvPicPr>
        <p:blipFill>
          <a:blip r:embed="rId1"/>
          <a:stretch>
            <a:fillRect/>
          </a:stretch>
        </p:blipFill>
        <p:spPr>
          <a:xfrm>
            <a:off x="1234440" y="1417320"/>
            <a:ext cx="457200" cy="457200"/>
          </a:xfrm>
          <a:prstGeom prst="rect">
            <a:avLst/>
          </a:prstGeom>
        </p:spPr>
      </p:pic>
      <p:sp>
        <p:nvSpPr>
          <p:cNvPr id="5" name="Text 2"/>
          <p:cNvSpPr txBox="1"/>
          <p:nvPr/>
        </p:nvSpPr>
        <p:spPr>
          <a:xfrm>
            <a:off x="2148840" y="1234440"/>
            <a:ext cx="4572000" cy="365760"/>
          </a:xfrm>
          <a:prstGeom prst="rect">
            <a:avLst/>
          </a:prstGeom>
          <a:noFill/>
          <a:ln/>
        </p:spPr>
        <p:txBody>
          <a:bodyPr wrap="square" lIns="0" tIns="0" rIns="0" bIns="0" rtlCol="0" anchor="t"/>
          <a:lstStyle/>
          <a:p>
            <a:pPr indent="0" marL="0">
              <a:buNone/>
            </a:pPr>
            <a:r>
              <a:rPr lang="en-US" sz="1600" b="1" dirty="0">
                <a:solidFill>
                  <a:srgbClr val="4C8068"/>
                </a:solidFill>
                <a:latin typeface="Calibri" pitchFamily="34" charset="0"/>
                <a:ea typeface="Calibri" pitchFamily="34" charset="-122"/>
                <a:cs typeface="Calibri" pitchFamily="34" charset="-120"/>
              </a:rPr>
              <a:t>Scenario 2</a:t>
            </a:r>
            <a:endParaRPr lang="en-US" sz="1600" dirty="0"/>
          </a:p>
        </p:txBody>
      </p:sp>
      <p:sp>
        <p:nvSpPr>
          <p:cNvPr id="6" name="Text 3"/>
          <p:cNvSpPr txBox="1"/>
          <p:nvPr/>
        </p:nvSpPr>
        <p:spPr>
          <a:xfrm>
            <a:off x="2148840" y="1572768"/>
            <a:ext cx="5120640" cy="594360"/>
          </a:xfrm>
          <a:prstGeom prst="rect">
            <a:avLst/>
          </a:prstGeom>
          <a:noFill/>
          <a:ln/>
        </p:spPr>
        <p:txBody>
          <a:bodyPr wrap="square" lIns="0" tIns="0" rIns="0" bIns="0" rtlCol="0" anchor="t"/>
          <a:lstStyle/>
          <a:p>
            <a:pPr indent="0" marL="0">
              <a:buNone/>
            </a:pPr>
            <a:r>
              <a:rPr lang="en-US" sz="3200" b="1" dirty="0">
                <a:solidFill>
                  <a:srgbClr val="23405A"/>
                </a:solidFill>
                <a:latin typeface="Calibri" pitchFamily="34" charset="0"/>
                <a:ea typeface="Calibri" pitchFamily="34" charset="-122"/>
                <a:cs typeface="Calibri" pitchFamily="34" charset="-120"/>
              </a:rPr>
              <a:t>Disaster Recovery</a:t>
            </a:r>
            <a:endParaRPr lang="en-US" sz="3200" dirty="0"/>
          </a:p>
        </p:txBody>
      </p:sp>
      <p:sp>
        <p:nvSpPr>
          <p:cNvPr id="7" name="Text 4"/>
          <p:cNvSpPr txBox="1"/>
          <p:nvPr/>
        </p:nvSpPr>
        <p:spPr>
          <a:xfrm>
            <a:off x="1005840" y="2834640"/>
            <a:ext cx="6126480" cy="1463040"/>
          </a:xfrm>
          <a:prstGeom prst="rect">
            <a:avLst/>
          </a:prstGeom>
          <a:noFill/>
          <a:ln/>
        </p:spPr>
        <p:txBody>
          <a:bodyPr wrap="square" lIns="0" tIns="0" rIns="0" bIns="0" rtlCol="0" anchor="t"/>
          <a:lstStyle/>
          <a:p>
            <a:pPr indent="0" marL="0">
              <a:buNone/>
            </a:pPr>
            <a:r>
              <a:rPr lang="en-US" sz="2400" i="1" dirty="0">
                <a:solidFill>
                  <a:srgbClr val="4C8068"/>
                </a:solidFill>
                <a:latin typeface="Calibri" pitchFamily="34" charset="0"/>
                <a:ea typeface="Calibri" pitchFamily="34" charset="-122"/>
                <a:cs typeface="Calibri" pitchFamily="34" charset="-120"/>
              </a:rPr>
              <a:t>Can we recover from a major cloud or SaaS service disruption?</a:t>
            </a:r>
            <a:endParaRPr lang="en-US" sz="2400" dirty="0"/>
          </a:p>
        </p:txBody>
      </p:sp>
      <p:sp>
        <p:nvSpPr>
          <p:cNvPr id="8" name="Shape 5"/>
          <p:cNvSpPr/>
          <p:nvPr/>
        </p:nvSpPr>
        <p:spPr>
          <a:xfrm>
            <a:off x="7955280" y="731520"/>
            <a:ext cx="3685032" cy="1600200"/>
          </a:xfrm>
          <a:prstGeom prst="roundRect">
            <a:avLst>
              <a:gd name="adj" fmla="val 8000"/>
            </a:avLst>
          </a:prstGeom>
          <a:solidFill>
            <a:srgbClr val="F1F6FA"/>
          </a:solidFill>
          <a:ln w="12700">
            <a:solidFill>
              <a:srgbClr val="F1F6FA"/>
            </a:solidFill>
            <a:prstDash val="solid"/>
          </a:ln>
        </p:spPr>
      </p:sp>
      <p:sp>
        <p:nvSpPr>
          <p:cNvPr id="9" name="Shape 6"/>
          <p:cNvSpPr/>
          <p:nvPr/>
        </p:nvSpPr>
        <p:spPr>
          <a:xfrm>
            <a:off x="8229600" y="1234440"/>
            <a:ext cx="548640" cy="548640"/>
          </a:xfrm>
          <a:prstGeom prst="ellipse">
            <a:avLst/>
          </a:prstGeom>
          <a:solidFill>
            <a:srgbClr val="F1F6FA"/>
          </a:solidFill>
          <a:ln w="12700">
            <a:solidFill>
              <a:srgbClr val="F1F6FA"/>
            </a:solidFill>
            <a:prstDash val="solid"/>
          </a:ln>
        </p:spPr>
      </p:sp>
      <p:sp>
        <p:nvSpPr>
          <p:cNvPr id="10" name="Text 7"/>
          <p:cNvSpPr txBox="1"/>
          <p:nvPr/>
        </p:nvSpPr>
        <p:spPr>
          <a:xfrm>
            <a:off x="8229600" y="1234440"/>
            <a:ext cx="548640" cy="548640"/>
          </a:xfrm>
          <a:prstGeom prst="rect">
            <a:avLst/>
          </a:prstGeom>
          <a:noFill/>
          <a:ln/>
        </p:spPr>
        <p:txBody>
          <a:bodyPr wrap="square" lIns="0" tIns="0" rIns="0" bIns="0" rtlCol="0" anchor="ctr"/>
          <a:lstStyle/>
          <a:p>
            <a:pPr algn="ctr" indent="0" marL="0">
              <a:buNone/>
            </a:pPr>
            <a:r>
              <a:rPr lang="en-US" sz="1600" b="1" dirty="0">
                <a:solidFill>
                  <a:srgbClr val="3F6E8C"/>
                </a:solidFill>
                <a:latin typeface="Calibri" pitchFamily="34" charset="0"/>
                <a:ea typeface="Calibri" pitchFamily="34" charset="-122"/>
                <a:cs typeface="Calibri" pitchFamily="34" charset="-120"/>
              </a:rPr>
              <a:t>1</a:t>
            </a:r>
            <a:endParaRPr lang="en-US" sz="1600" dirty="0"/>
          </a:p>
        </p:txBody>
      </p:sp>
      <p:sp>
        <p:nvSpPr>
          <p:cNvPr id="11" name="Text 8"/>
          <p:cNvSpPr txBox="1"/>
          <p:nvPr/>
        </p:nvSpPr>
        <p:spPr>
          <a:xfrm>
            <a:off x="8961120" y="1115568"/>
            <a:ext cx="2560320" cy="411480"/>
          </a:xfrm>
          <a:prstGeom prst="rect">
            <a:avLst/>
          </a:prstGeom>
          <a:noFill/>
          <a:ln/>
        </p:spPr>
        <p:txBody>
          <a:bodyPr wrap="square" lIns="0" tIns="0" rIns="0" bIns="0" rtlCol="0" anchor="t"/>
          <a:lstStyle/>
          <a:p>
            <a:pPr indent="0" marL="0">
              <a:buNone/>
            </a:pPr>
            <a:r>
              <a:rPr lang="en-US" sz="1700" b="1" dirty="0">
                <a:solidFill>
                  <a:srgbClr val="748793"/>
                </a:solidFill>
                <a:latin typeface="Calibri" pitchFamily="34" charset="0"/>
                <a:ea typeface="Calibri" pitchFamily="34" charset="-122"/>
                <a:cs typeface="Calibri" pitchFamily="34" charset="-120"/>
              </a:rPr>
              <a:t>Incident Response</a:t>
            </a:r>
            <a:endParaRPr lang="en-US" sz="1700" dirty="0"/>
          </a:p>
        </p:txBody>
      </p:sp>
      <p:sp>
        <p:nvSpPr>
          <p:cNvPr id="12" name="Text 9"/>
          <p:cNvSpPr txBox="1"/>
          <p:nvPr/>
        </p:nvSpPr>
        <p:spPr>
          <a:xfrm>
            <a:off x="8961120" y="1536192"/>
            <a:ext cx="2560320" cy="320040"/>
          </a:xfrm>
          <a:prstGeom prst="rect">
            <a:avLst/>
          </a:prstGeom>
          <a:noFill/>
          <a:ln/>
        </p:spPr>
        <p:txBody>
          <a:bodyPr wrap="square" lIns="0" tIns="0" rIns="0" bIns="0" rtlCol="0" anchor="t"/>
          <a:lstStyle/>
          <a:p>
            <a:pPr indent="0" marL="0">
              <a:buNone/>
            </a:pPr>
            <a:r>
              <a:rPr lang="en-US" sz="1200" dirty="0">
                <a:solidFill>
                  <a:srgbClr val="748793"/>
                </a:solidFill>
                <a:latin typeface="Calibri" pitchFamily="34" charset="0"/>
                <a:ea typeface="Calibri" pitchFamily="34" charset="-122"/>
                <a:cs typeface="Calibri" pitchFamily="34" charset="-120"/>
              </a:rPr>
              <a:t>Completed</a:t>
            </a:r>
            <a:endParaRPr lang="en-US" sz="1200" dirty="0"/>
          </a:p>
        </p:txBody>
      </p:sp>
      <p:sp>
        <p:nvSpPr>
          <p:cNvPr id="13" name="Shape 10"/>
          <p:cNvSpPr/>
          <p:nvPr/>
        </p:nvSpPr>
        <p:spPr>
          <a:xfrm>
            <a:off x="7955280" y="2587752"/>
            <a:ext cx="3685032" cy="1600200"/>
          </a:xfrm>
          <a:prstGeom prst="roundRect">
            <a:avLst>
              <a:gd name="adj" fmla="val 8000"/>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14" name="Shape 11"/>
          <p:cNvSpPr/>
          <p:nvPr/>
        </p:nvSpPr>
        <p:spPr>
          <a:xfrm>
            <a:off x="8229600" y="3090672"/>
            <a:ext cx="548640" cy="548640"/>
          </a:xfrm>
          <a:prstGeom prst="ellipse">
            <a:avLst/>
          </a:prstGeom>
          <a:solidFill>
            <a:srgbClr val="4C8068"/>
          </a:solidFill>
          <a:ln w="12700">
            <a:solidFill>
              <a:srgbClr val="4C8068"/>
            </a:solidFill>
            <a:prstDash val="solid"/>
          </a:ln>
        </p:spPr>
      </p:sp>
      <p:sp>
        <p:nvSpPr>
          <p:cNvPr id="15" name="Text 12"/>
          <p:cNvSpPr txBox="1"/>
          <p:nvPr/>
        </p:nvSpPr>
        <p:spPr>
          <a:xfrm>
            <a:off x="8229600" y="3090672"/>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6" name="Text 13"/>
          <p:cNvSpPr txBox="1"/>
          <p:nvPr/>
        </p:nvSpPr>
        <p:spPr>
          <a:xfrm>
            <a:off x="8961120" y="2971800"/>
            <a:ext cx="2560320" cy="411480"/>
          </a:xfrm>
          <a:prstGeom prst="rect">
            <a:avLst/>
          </a:prstGeom>
          <a:noFill/>
          <a:ln/>
        </p:spPr>
        <p:txBody>
          <a:bodyPr wrap="square" lIns="0" tIns="0" rIns="0" bIns="0" rtlCol="0" anchor="t"/>
          <a:lstStyle/>
          <a:p>
            <a:pPr indent="0" marL="0">
              <a:buNone/>
            </a:pPr>
            <a:r>
              <a:rPr lang="en-US" sz="1700" b="1" dirty="0">
                <a:solidFill>
                  <a:srgbClr val="1E2E3A"/>
                </a:solidFill>
                <a:latin typeface="Calibri" pitchFamily="34" charset="0"/>
                <a:ea typeface="Calibri" pitchFamily="34" charset="-122"/>
                <a:cs typeface="Calibri" pitchFamily="34" charset="-120"/>
              </a:rPr>
              <a:t>Disaster Recovery</a:t>
            </a:r>
            <a:endParaRPr lang="en-US" sz="1700" dirty="0"/>
          </a:p>
        </p:txBody>
      </p:sp>
      <p:sp>
        <p:nvSpPr>
          <p:cNvPr id="17" name="Text 14"/>
          <p:cNvSpPr txBox="1"/>
          <p:nvPr/>
        </p:nvSpPr>
        <p:spPr>
          <a:xfrm>
            <a:off x="8961120" y="3392424"/>
            <a:ext cx="2560320" cy="320040"/>
          </a:xfrm>
          <a:prstGeom prst="rect">
            <a:avLst/>
          </a:prstGeom>
          <a:noFill/>
          <a:ln/>
        </p:spPr>
        <p:txBody>
          <a:bodyPr wrap="square" lIns="0" tIns="0" rIns="0" bIns="0" rtlCol="0" anchor="t"/>
          <a:lstStyle/>
          <a:p>
            <a:pPr indent="0" marL="0">
              <a:buNone/>
            </a:pPr>
            <a:r>
              <a:rPr lang="en-US" sz="1200" b="1" dirty="0">
                <a:solidFill>
                  <a:srgbClr val="4C8068"/>
                </a:solidFill>
                <a:latin typeface="Calibri" pitchFamily="34" charset="0"/>
                <a:ea typeface="Calibri" pitchFamily="34" charset="-122"/>
                <a:cs typeface="Calibri" pitchFamily="34" charset="-120"/>
              </a:rPr>
              <a:t>Now</a:t>
            </a:r>
            <a:endParaRPr lang="en-US" sz="1200" dirty="0"/>
          </a:p>
        </p:txBody>
      </p:sp>
      <p:sp>
        <p:nvSpPr>
          <p:cNvPr id="18" name="Shape 15"/>
          <p:cNvSpPr/>
          <p:nvPr/>
        </p:nvSpPr>
        <p:spPr>
          <a:xfrm>
            <a:off x="7955280" y="4443984"/>
            <a:ext cx="3685032" cy="1600200"/>
          </a:xfrm>
          <a:prstGeom prst="roundRect">
            <a:avLst>
              <a:gd name="adj" fmla="val 8000"/>
            </a:avLst>
          </a:prstGeom>
          <a:solidFill>
            <a:srgbClr val="F6F3FA"/>
          </a:solidFill>
          <a:ln w="12700">
            <a:solidFill>
              <a:srgbClr val="F6F3FA"/>
            </a:solidFill>
            <a:prstDash val="solid"/>
          </a:ln>
        </p:spPr>
      </p:sp>
      <p:sp>
        <p:nvSpPr>
          <p:cNvPr id="19" name="Shape 16"/>
          <p:cNvSpPr/>
          <p:nvPr/>
        </p:nvSpPr>
        <p:spPr>
          <a:xfrm>
            <a:off x="8229600" y="4946904"/>
            <a:ext cx="548640" cy="548640"/>
          </a:xfrm>
          <a:prstGeom prst="ellipse">
            <a:avLst/>
          </a:prstGeom>
          <a:solidFill>
            <a:srgbClr val="FFFFFF"/>
          </a:solidFill>
          <a:ln w="15875">
            <a:solidFill>
              <a:srgbClr val="C9D5D2"/>
            </a:solidFill>
            <a:prstDash val="solid"/>
          </a:ln>
        </p:spPr>
      </p:sp>
      <p:sp>
        <p:nvSpPr>
          <p:cNvPr id="20" name="Text 17"/>
          <p:cNvSpPr txBox="1"/>
          <p:nvPr/>
        </p:nvSpPr>
        <p:spPr>
          <a:xfrm>
            <a:off x="8229600" y="4946904"/>
            <a:ext cx="548640" cy="548640"/>
          </a:xfrm>
          <a:prstGeom prst="rect">
            <a:avLst/>
          </a:prstGeom>
          <a:noFill/>
          <a:ln/>
        </p:spPr>
        <p:txBody>
          <a:bodyPr wrap="square" lIns="0" tIns="0" rIns="0" bIns="0" rtlCol="0" anchor="ctr"/>
          <a:lstStyle/>
          <a:p>
            <a:pPr algn="ctr" indent="0" marL="0">
              <a:buNone/>
            </a:pPr>
            <a:r>
              <a:rPr lang="en-US" sz="1600" b="1" dirty="0">
                <a:solidFill>
                  <a:srgbClr val="748793"/>
                </a:solidFill>
                <a:latin typeface="Calibri" pitchFamily="34" charset="0"/>
                <a:ea typeface="Calibri" pitchFamily="34" charset="-122"/>
                <a:cs typeface="Calibri" pitchFamily="34" charset="-120"/>
              </a:rPr>
              <a:t>3</a:t>
            </a:r>
            <a:endParaRPr lang="en-US" sz="1600" dirty="0"/>
          </a:p>
        </p:txBody>
      </p:sp>
      <p:sp>
        <p:nvSpPr>
          <p:cNvPr id="21" name="Text 18"/>
          <p:cNvSpPr txBox="1"/>
          <p:nvPr/>
        </p:nvSpPr>
        <p:spPr>
          <a:xfrm>
            <a:off x="8961120" y="4828032"/>
            <a:ext cx="2560320" cy="411480"/>
          </a:xfrm>
          <a:prstGeom prst="rect">
            <a:avLst/>
          </a:prstGeom>
          <a:noFill/>
          <a:ln/>
        </p:spPr>
        <p:txBody>
          <a:bodyPr wrap="square" lIns="0" tIns="0" rIns="0" bIns="0" rtlCol="0" anchor="t"/>
          <a:lstStyle/>
          <a:p>
            <a:pPr indent="0" marL="0">
              <a:buNone/>
            </a:pPr>
            <a:r>
              <a:rPr lang="en-US" sz="1700" b="1" dirty="0">
                <a:solidFill>
                  <a:srgbClr val="748793"/>
                </a:solidFill>
                <a:latin typeface="Calibri" pitchFamily="34" charset="0"/>
                <a:ea typeface="Calibri" pitchFamily="34" charset="-122"/>
                <a:cs typeface="Calibri" pitchFamily="34" charset="-120"/>
              </a:rPr>
              <a:t>Business Continuity</a:t>
            </a:r>
            <a:endParaRPr lang="en-US" sz="1700" dirty="0"/>
          </a:p>
        </p:txBody>
      </p:sp>
      <p:sp>
        <p:nvSpPr>
          <p:cNvPr id="22" name="Text 19"/>
          <p:cNvSpPr txBox="1"/>
          <p:nvPr/>
        </p:nvSpPr>
        <p:spPr>
          <a:xfrm>
            <a:off x="8961120" y="5248656"/>
            <a:ext cx="2560320" cy="320040"/>
          </a:xfrm>
          <a:prstGeom prst="rect">
            <a:avLst/>
          </a:prstGeom>
          <a:noFill/>
          <a:ln/>
        </p:spPr>
        <p:txBody>
          <a:bodyPr wrap="square" lIns="0" tIns="0" rIns="0" bIns="0" rtlCol="0" anchor="t"/>
          <a:lstStyle/>
          <a:p>
            <a:pPr indent="0" marL="0">
              <a:buNone/>
            </a:pPr>
            <a:r>
              <a:rPr lang="en-US" sz="1200" dirty="0">
                <a:solidFill>
                  <a:srgbClr val="748793"/>
                </a:solidFill>
                <a:latin typeface="Calibri" pitchFamily="34" charset="0"/>
                <a:ea typeface="Calibri" pitchFamily="34" charset="-122"/>
                <a:cs typeface="Calibri" pitchFamily="34" charset="-120"/>
              </a:rPr>
              <a:t>Up next</a:t>
            </a:r>
            <a:endParaRPr lang="en-US" sz="1200" dirty="0"/>
          </a:p>
        </p:txBody>
      </p:sp>
      <p:sp>
        <p:nvSpPr>
          <p:cNvPr id="23" name="Text 20"/>
          <p:cNvSpPr txBox="1"/>
          <p:nvPr/>
        </p:nvSpPr>
        <p:spPr>
          <a:xfrm>
            <a:off x="548640" y="6254496"/>
            <a:ext cx="11091672" cy="256032"/>
          </a:xfrm>
          <a:prstGeom prst="rect">
            <a:avLst/>
          </a:prstGeom>
          <a:noFill/>
          <a:ln/>
        </p:spPr>
        <p:txBody>
          <a:bodyPr wrap="square" lIns="0" tIns="0" rIns="0" bIns="0" rtlCol="0" anchor="ctr"/>
          <a:lstStyle/>
          <a:p>
            <a:pPr indent="0" marL="0">
              <a:buNone/>
            </a:pPr>
            <a:r>
              <a:rPr lang="en-US" sz="1200" b="1" dirty="0">
                <a:solidFill>
                  <a:srgbClr val="465A69"/>
                </a:solidFill>
                <a:latin typeface="Calibri" pitchFamily="34" charset="0"/>
                <a:ea typeface="Calibri" pitchFamily="34" charset="-122"/>
                <a:cs typeface="Calibri" pitchFamily="34" charset="-120"/>
              </a:rPr>
              <a:t>Acronyms:  </a:t>
            </a:r>
            <a:pPr indent="0" marL="0">
              <a:buNone/>
            </a:pPr>
            <a:r>
              <a:rPr lang="en-US" sz="1200" dirty="0">
                <a:solidFill>
                  <a:srgbClr val="465A69"/>
                </a:solidFill>
                <a:latin typeface="Calibri" pitchFamily="34" charset="0"/>
                <a:ea typeface="Calibri" pitchFamily="34" charset="-122"/>
                <a:cs typeface="Calibri" pitchFamily="34" charset="-120"/>
              </a:rPr>
              <a:t>SaaS: software as a service</a:t>
            </a:r>
            <a:endParaRPr lang="en-US" sz="1200" dirty="0"/>
          </a:p>
        </p:txBody>
      </p:sp>
      <p:sp>
        <p:nvSpPr>
          <p:cNvPr id="24" name="Shape 21"/>
          <p:cNvSpPr/>
          <p:nvPr/>
        </p:nvSpPr>
        <p:spPr>
          <a:xfrm>
            <a:off x="548640" y="6537960"/>
            <a:ext cx="763524" cy="274320"/>
          </a:xfrm>
          <a:prstGeom prst="roundRect">
            <a:avLst>
              <a:gd name="adj" fmla="val 50000"/>
            </a:avLst>
          </a:prstGeom>
          <a:solidFill>
            <a:srgbClr val="E4ECF2"/>
          </a:solidFill>
          <a:ln w="12700">
            <a:solidFill>
              <a:srgbClr val="E4ECF2"/>
            </a:solidFill>
            <a:prstDash val="solid"/>
          </a:ln>
        </p:spPr>
      </p:sp>
      <p:sp>
        <p:nvSpPr>
          <p:cNvPr id="25" name="Text 22"/>
          <p:cNvSpPr txBox="1"/>
          <p:nvPr/>
        </p:nvSpPr>
        <p:spPr>
          <a:xfrm>
            <a:off x="548640" y="6537960"/>
            <a:ext cx="763524" cy="274320"/>
          </a:xfrm>
          <a:prstGeom prst="rect">
            <a:avLst/>
          </a:prstGeom>
          <a:noFill/>
          <a:ln/>
        </p:spPr>
        <p:txBody>
          <a:bodyPr wrap="square" lIns="0" tIns="0" rIns="0" bIns="0" rtlCol="0" anchor="ctr"/>
          <a:lstStyle/>
          <a:p>
            <a:pPr algn="ctr" indent="0" marL="0">
              <a:buNone/>
            </a:pPr>
            <a:r>
              <a:rPr lang="en-US" sz="1200" b="1" dirty="0">
                <a:solidFill>
                  <a:srgbClr val="23405A"/>
                </a:solidFill>
                <a:latin typeface="Calibri" pitchFamily="34" charset="0"/>
                <a:ea typeface="Calibri" pitchFamily="34" charset="-122"/>
                <a:cs typeface="Calibri" pitchFamily="34" charset="-120"/>
              </a:rPr>
              <a:t>Start</a:t>
            </a:r>
            <a:endParaRPr lang="en-US" sz="1200" dirty="0"/>
          </a:p>
        </p:txBody>
      </p:sp>
      <p:pic>
        <p:nvPicPr>
          <p:cNvPr id="26" name="Image 1" descr="preencoded.png">
            <a:hlinkClick r:id="rId3" tooltip="Go to Start" action="ppaction://hlinksldjump"/>
          </p:cNvPr>
          <p:cNvPicPr>
            <a:picLocks noChangeAspect="1"/>
          </p:cNvPicPr>
          <p:nvPr/>
        </p:nvPicPr>
        <p:blipFill>
          <a:blip r:embed="rId2"/>
          <a:stretch>
            <a:fillRect/>
          </a:stretch>
        </p:blipFill>
        <p:spPr>
          <a:xfrm>
            <a:off x="548640" y="6537960"/>
            <a:ext cx="763524" cy="274320"/>
          </a:xfrm>
          <a:prstGeom prst="rect">
            <a:avLst/>
          </a:prstGeom>
        </p:spPr>
      </p:pic>
      <p:sp>
        <p:nvSpPr>
          <p:cNvPr id="27" name="Shape 23"/>
          <p:cNvSpPr/>
          <p:nvPr/>
        </p:nvSpPr>
        <p:spPr>
          <a:xfrm>
            <a:off x="1385316" y="6537960"/>
            <a:ext cx="1197864" cy="274320"/>
          </a:xfrm>
          <a:prstGeom prst="roundRect">
            <a:avLst>
              <a:gd name="adj" fmla="val 50000"/>
            </a:avLst>
          </a:prstGeom>
          <a:solidFill>
            <a:srgbClr val="F1F6FA"/>
          </a:solidFill>
          <a:ln w="12700">
            <a:solidFill>
              <a:srgbClr val="F1F6FA"/>
            </a:solidFill>
            <a:prstDash val="solid"/>
          </a:ln>
        </p:spPr>
      </p:sp>
      <p:sp>
        <p:nvSpPr>
          <p:cNvPr id="28" name="Text 24"/>
          <p:cNvSpPr txBox="1"/>
          <p:nvPr/>
        </p:nvSpPr>
        <p:spPr>
          <a:xfrm>
            <a:off x="1385316" y="6537960"/>
            <a:ext cx="1197864" cy="274320"/>
          </a:xfrm>
          <a:prstGeom prst="rect">
            <a:avLst/>
          </a:prstGeom>
          <a:noFill/>
          <a:ln/>
        </p:spPr>
        <p:txBody>
          <a:bodyPr wrap="square" lIns="0" tIns="0" rIns="0" bIns="0" rtlCol="0" anchor="ctr"/>
          <a:lstStyle/>
          <a:p>
            <a:pPr algn="ctr" indent="0" marL="0">
              <a:buNone/>
            </a:pPr>
            <a:r>
              <a:rPr lang="en-US" sz="1200" b="1" dirty="0">
                <a:solidFill>
                  <a:srgbClr val="3F6E8C"/>
                </a:solidFill>
                <a:latin typeface="Calibri" pitchFamily="34" charset="0"/>
                <a:ea typeface="Calibri" pitchFamily="34" charset="-122"/>
                <a:cs typeface="Calibri" pitchFamily="34" charset="-120"/>
              </a:rPr>
              <a:t>Scenario 1</a:t>
            </a:r>
            <a:endParaRPr lang="en-US" sz="1200" dirty="0"/>
          </a:p>
        </p:txBody>
      </p:sp>
      <p:pic>
        <p:nvPicPr>
          <p:cNvPr id="29" name="Image 2" descr="preencoded.png">
            <a:hlinkClick r:id="rId5" tooltip="Go to Scenario 1" action="ppaction://hlinksldjump"/>
          </p:cNvPr>
          <p:cNvPicPr>
            <a:picLocks noChangeAspect="1"/>
          </p:cNvPicPr>
          <p:nvPr/>
        </p:nvPicPr>
        <p:blipFill>
          <a:blip r:embed="rId4"/>
          <a:stretch>
            <a:fillRect/>
          </a:stretch>
        </p:blipFill>
        <p:spPr>
          <a:xfrm>
            <a:off x="1385316" y="6537960"/>
            <a:ext cx="1197864" cy="274320"/>
          </a:xfrm>
          <a:prstGeom prst="rect">
            <a:avLst/>
          </a:prstGeom>
        </p:spPr>
      </p:pic>
      <p:sp>
        <p:nvSpPr>
          <p:cNvPr id="30" name="Shape 25"/>
          <p:cNvSpPr/>
          <p:nvPr/>
        </p:nvSpPr>
        <p:spPr>
          <a:xfrm>
            <a:off x="2656332" y="6537960"/>
            <a:ext cx="1197864" cy="274320"/>
          </a:xfrm>
          <a:prstGeom prst="roundRect">
            <a:avLst>
              <a:gd name="adj" fmla="val 50000"/>
            </a:avLst>
          </a:prstGeom>
          <a:solidFill>
            <a:srgbClr val="4C8068"/>
          </a:solidFill>
          <a:ln w="12700">
            <a:solidFill>
              <a:srgbClr val="4C8068"/>
            </a:solidFill>
            <a:prstDash val="solid"/>
          </a:ln>
        </p:spPr>
      </p:sp>
      <p:sp>
        <p:nvSpPr>
          <p:cNvPr id="31" name="Text 26"/>
          <p:cNvSpPr txBox="1"/>
          <p:nvPr/>
        </p:nvSpPr>
        <p:spPr>
          <a:xfrm>
            <a:off x="2656332" y="6537960"/>
            <a:ext cx="1197864"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Scenario 2</a:t>
            </a:r>
            <a:endParaRPr lang="en-US" sz="1200" dirty="0"/>
          </a:p>
        </p:txBody>
      </p:sp>
      <p:pic>
        <p:nvPicPr>
          <p:cNvPr id="32" name="Image 3" descr="preencoded.png">
            <a:hlinkClick r:id="rId7" tooltip="Go to Scenario 2" action="ppaction://hlinksldjump"/>
          </p:cNvPr>
          <p:cNvPicPr>
            <a:picLocks noChangeAspect="1"/>
          </p:cNvPicPr>
          <p:nvPr/>
        </p:nvPicPr>
        <p:blipFill>
          <a:blip r:embed="rId6"/>
          <a:stretch>
            <a:fillRect/>
          </a:stretch>
        </p:blipFill>
        <p:spPr>
          <a:xfrm>
            <a:off x="2656332" y="6537960"/>
            <a:ext cx="1197864" cy="274320"/>
          </a:xfrm>
          <a:prstGeom prst="rect">
            <a:avLst/>
          </a:prstGeom>
        </p:spPr>
      </p:pic>
      <p:sp>
        <p:nvSpPr>
          <p:cNvPr id="33" name="Shape 27"/>
          <p:cNvSpPr/>
          <p:nvPr/>
        </p:nvSpPr>
        <p:spPr>
          <a:xfrm>
            <a:off x="3927348" y="6537960"/>
            <a:ext cx="1197864" cy="274320"/>
          </a:xfrm>
          <a:prstGeom prst="roundRect">
            <a:avLst>
              <a:gd name="adj" fmla="val 50000"/>
            </a:avLst>
          </a:prstGeom>
          <a:solidFill>
            <a:srgbClr val="F6F3FA"/>
          </a:solidFill>
          <a:ln w="12700">
            <a:solidFill>
              <a:srgbClr val="F6F3FA"/>
            </a:solidFill>
            <a:prstDash val="solid"/>
          </a:ln>
        </p:spPr>
      </p:sp>
      <p:sp>
        <p:nvSpPr>
          <p:cNvPr id="34" name="Text 28"/>
          <p:cNvSpPr txBox="1"/>
          <p:nvPr/>
        </p:nvSpPr>
        <p:spPr>
          <a:xfrm>
            <a:off x="3927348" y="6537960"/>
            <a:ext cx="1197864" cy="274320"/>
          </a:xfrm>
          <a:prstGeom prst="rect">
            <a:avLst/>
          </a:prstGeom>
          <a:noFill/>
          <a:ln/>
        </p:spPr>
        <p:txBody>
          <a:bodyPr wrap="square" lIns="0" tIns="0" rIns="0" bIns="0" rtlCol="0" anchor="ctr"/>
          <a:lstStyle/>
          <a:p>
            <a:pPr algn="ctr" indent="0" marL="0">
              <a:buNone/>
            </a:pPr>
            <a:r>
              <a:rPr lang="en-US" sz="1200" b="1" dirty="0">
                <a:solidFill>
                  <a:srgbClr val="6E5E94"/>
                </a:solidFill>
                <a:latin typeface="Calibri" pitchFamily="34" charset="0"/>
                <a:ea typeface="Calibri" pitchFamily="34" charset="-122"/>
                <a:cs typeface="Calibri" pitchFamily="34" charset="-120"/>
              </a:rPr>
              <a:t>Scenario 3</a:t>
            </a:r>
            <a:endParaRPr lang="en-US" sz="1200" dirty="0"/>
          </a:p>
        </p:txBody>
      </p:sp>
      <p:pic>
        <p:nvPicPr>
          <p:cNvPr id="35" name="Image 4" descr="preencoded.png">
            <a:hlinkClick r:id="rId9" tooltip="Go to Scenario 3" action="ppaction://hlinksldjump"/>
          </p:cNvPr>
          <p:cNvPicPr>
            <a:picLocks noChangeAspect="1"/>
          </p:cNvPicPr>
          <p:nvPr/>
        </p:nvPicPr>
        <p:blipFill>
          <a:blip r:embed="rId8"/>
          <a:stretch>
            <a:fillRect/>
          </a:stretch>
        </p:blipFill>
        <p:spPr>
          <a:xfrm>
            <a:off x="3927348" y="6537960"/>
            <a:ext cx="1197864" cy="274320"/>
          </a:xfrm>
          <a:prstGeom prst="rect">
            <a:avLst/>
          </a:prstGeom>
        </p:spPr>
      </p:pic>
      <p:sp>
        <p:nvSpPr>
          <p:cNvPr id="36" name="Shape 29"/>
          <p:cNvSpPr/>
          <p:nvPr/>
        </p:nvSpPr>
        <p:spPr>
          <a:xfrm>
            <a:off x="5198364" y="6537960"/>
            <a:ext cx="937260" cy="274320"/>
          </a:xfrm>
          <a:prstGeom prst="roundRect">
            <a:avLst>
              <a:gd name="adj" fmla="val 50000"/>
            </a:avLst>
          </a:prstGeom>
          <a:solidFill>
            <a:srgbClr val="E4ECF2"/>
          </a:solidFill>
          <a:ln w="12700">
            <a:solidFill>
              <a:srgbClr val="E4ECF2"/>
            </a:solidFill>
            <a:prstDash val="solid"/>
          </a:ln>
        </p:spPr>
      </p:sp>
      <p:sp>
        <p:nvSpPr>
          <p:cNvPr id="37" name="Text 30"/>
          <p:cNvSpPr txBox="1"/>
          <p:nvPr/>
        </p:nvSpPr>
        <p:spPr>
          <a:xfrm>
            <a:off x="5198364" y="6537960"/>
            <a:ext cx="937260" cy="274320"/>
          </a:xfrm>
          <a:prstGeom prst="rect">
            <a:avLst/>
          </a:prstGeom>
          <a:noFill/>
          <a:ln/>
        </p:spPr>
        <p:txBody>
          <a:bodyPr wrap="square" lIns="0" tIns="0" rIns="0" bIns="0" rtlCol="0" anchor="ctr"/>
          <a:lstStyle/>
          <a:p>
            <a:pPr algn="ctr" indent="0" marL="0">
              <a:buNone/>
            </a:pPr>
            <a:r>
              <a:rPr lang="en-US" sz="1200" b="1" dirty="0">
                <a:solidFill>
                  <a:srgbClr val="23405A"/>
                </a:solidFill>
                <a:latin typeface="Calibri" pitchFamily="34" charset="0"/>
                <a:ea typeface="Calibri" pitchFamily="34" charset="-122"/>
                <a:cs typeface="Calibri" pitchFamily="34" charset="-120"/>
              </a:rPr>
              <a:t>Closing</a:t>
            </a:r>
            <a:endParaRPr lang="en-US" sz="1200" dirty="0"/>
          </a:p>
        </p:txBody>
      </p:sp>
      <p:pic>
        <p:nvPicPr>
          <p:cNvPr id="38" name="Image 5" descr="preencoded.png">
            <a:hlinkClick r:id="rId11" tooltip="Go to Closing" action="ppaction://hlinksldjump"/>
          </p:cNvPr>
          <p:cNvPicPr>
            <a:picLocks noChangeAspect="1"/>
          </p:cNvPicPr>
          <p:nvPr/>
        </p:nvPicPr>
        <p:blipFill>
          <a:blip r:embed="rId10"/>
          <a:stretch>
            <a:fillRect/>
          </a:stretch>
        </p:blipFill>
        <p:spPr>
          <a:xfrm>
            <a:off x="5198364" y="6537960"/>
            <a:ext cx="937260" cy="274320"/>
          </a:xfrm>
          <a:prstGeom prst="rect">
            <a:avLst/>
          </a:prstGeom>
        </p:spPr>
      </p:pic>
      <p:sp>
        <p:nvSpPr>
          <p:cNvPr id="39" name="Text 31"/>
          <p:cNvSpPr txBox="1"/>
          <p:nvPr/>
        </p:nvSpPr>
        <p:spPr>
          <a:xfrm>
            <a:off x="11277295" y="6537960"/>
            <a:ext cx="365760" cy="274320"/>
          </a:xfrm>
          <a:prstGeom prst="rect">
            <a:avLst/>
          </a:prstGeom>
          <a:noFill/>
          <a:ln/>
        </p:spPr>
        <p:txBody>
          <a:bodyPr wrap="square" lIns="0" tIns="0" rIns="0" bIns="0" rtlCol="0" anchor="ctr"/>
          <a:lstStyle/>
          <a:p>
            <a:pPr algn="r" indent="0" marL="0">
              <a:buNone/>
            </a:pPr>
            <a:r>
              <a:rPr lang="en-US" sz="1200" dirty="0">
                <a:solidFill>
                  <a:srgbClr val="465A69"/>
                </a:solidFill>
                <a:latin typeface="Calibri" pitchFamily="34" charset="0"/>
                <a:ea typeface="Calibri" pitchFamily="34" charset="-122"/>
                <a:cs typeface="Calibri" pitchFamily="34" charset="-120"/>
              </a:rPr>
              <a:t>23</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E6F2E9"/>
        </a:solidFill>
      </p:bgPr>
    </p:bg>
    <p:spTree>
      <p:nvGrpSpPr>
        <p:cNvPr id="1" name=""/>
        <p:cNvGrpSpPr/>
        <p:nvPr/>
      </p:nvGrpSpPr>
      <p:grpSpPr>
        <a:xfrm>
          <a:off x="0" y="0"/>
          <a:ext cx="0" cy="0"/>
          <a:chOff x="0" y="0"/>
          <a:chExt cx="0" cy="0"/>
        </a:xfrm>
      </p:grpSpPr>
      <p:sp>
        <p:nvSpPr>
          <p:cNvPr id="2" name="Shape 0"/>
          <p:cNvSpPr/>
          <p:nvPr/>
        </p:nvSpPr>
        <p:spPr>
          <a:xfrm>
            <a:off x="548640" y="347472"/>
            <a:ext cx="2843784" cy="329184"/>
          </a:xfrm>
          <a:prstGeom prst="roundRect">
            <a:avLst>
              <a:gd name="adj" fmla="val 50000"/>
            </a:avLst>
          </a:prstGeom>
          <a:solidFill>
            <a:srgbClr val="F1F8F3"/>
          </a:solidFill>
          <a:ln w="12700">
            <a:solidFill>
              <a:srgbClr val="F1F8F3"/>
            </a:solidFill>
            <a:prstDash val="solid"/>
          </a:ln>
        </p:spPr>
      </p:sp>
      <p:sp>
        <p:nvSpPr>
          <p:cNvPr id="3" name="Text 1"/>
          <p:cNvSpPr txBox="1"/>
          <p:nvPr/>
        </p:nvSpPr>
        <p:spPr>
          <a:xfrm>
            <a:off x="548640" y="347472"/>
            <a:ext cx="2843784" cy="329184"/>
          </a:xfrm>
          <a:prstGeom prst="rect">
            <a:avLst/>
          </a:prstGeom>
          <a:noFill/>
          <a:ln/>
        </p:spPr>
        <p:txBody>
          <a:bodyPr wrap="square" lIns="0" tIns="0" rIns="0" bIns="0" rtlCol="0" anchor="ctr"/>
          <a:lstStyle/>
          <a:p>
            <a:pPr algn="ctr" indent="0" marL="0">
              <a:buNone/>
            </a:pPr>
            <a:r>
              <a:rPr lang="en-US" sz="1200" b="1" dirty="0">
                <a:solidFill>
                  <a:srgbClr val="4C8068"/>
                </a:solidFill>
                <a:latin typeface="Calibri" pitchFamily="34" charset="0"/>
                <a:ea typeface="Calibri" pitchFamily="34" charset="-122"/>
                <a:cs typeface="Calibri" pitchFamily="34" charset="-120"/>
              </a:rPr>
              <a:t>Scenario 2: Disaster Recovery</a:t>
            </a:r>
            <a:endParaRPr lang="en-US" sz="1200" dirty="0"/>
          </a:p>
        </p:txBody>
      </p:sp>
      <p:sp>
        <p:nvSpPr>
          <p:cNvPr id="4" name="Text 2"/>
          <p:cNvSpPr txBox="1"/>
          <p:nvPr/>
        </p:nvSpPr>
        <p:spPr>
          <a:xfrm>
            <a:off x="548640" y="749808"/>
            <a:ext cx="11064240" cy="640080"/>
          </a:xfrm>
          <a:prstGeom prst="rect">
            <a:avLst/>
          </a:prstGeom>
          <a:noFill/>
          <a:ln/>
        </p:spPr>
        <p:txBody>
          <a:bodyPr wrap="square" lIns="0" tIns="0" rIns="0" bIns="0" rtlCol="0" anchor="ctr"/>
          <a:lstStyle/>
          <a:p>
            <a:pPr indent="0" marL="0">
              <a:buNone/>
            </a:pPr>
            <a:r>
              <a:rPr lang="en-US" sz="2800" b="1" dirty="0">
                <a:solidFill>
                  <a:srgbClr val="23405A"/>
                </a:solidFill>
                <a:latin typeface="Calibri" pitchFamily="34" charset="0"/>
                <a:ea typeface="Calibri" pitchFamily="34" charset="-122"/>
                <a:cs typeface="Calibri" pitchFamily="34" charset="-120"/>
              </a:rPr>
              <a:t>Background: objectives, scope, and assumptions</a:t>
            </a:r>
            <a:endParaRPr lang="en-US" sz="2800" dirty="0"/>
          </a:p>
        </p:txBody>
      </p:sp>
      <p:sp>
        <p:nvSpPr>
          <p:cNvPr id="5" name="Shape 3"/>
          <p:cNvSpPr/>
          <p:nvPr/>
        </p:nvSpPr>
        <p:spPr>
          <a:xfrm>
            <a:off x="10705795" y="347472"/>
            <a:ext cx="937260" cy="329184"/>
          </a:xfrm>
          <a:prstGeom prst="roundRect">
            <a:avLst>
              <a:gd name="adj" fmla="val 50000"/>
            </a:avLst>
          </a:prstGeom>
          <a:solidFill>
            <a:srgbClr val="FFFFFF"/>
          </a:solidFill>
          <a:ln w="12700">
            <a:solidFill>
              <a:srgbClr val="FFFFFF"/>
            </a:solidFill>
            <a:prstDash val="solid"/>
          </a:ln>
        </p:spPr>
      </p:sp>
      <p:sp>
        <p:nvSpPr>
          <p:cNvPr id="6" name="Text 4"/>
          <p:cNvSpPr txBox="1"/>
          <p:nvPr/>
        </p:nvSpPr>
        <p:spPr>
          <a:xfrm>
            <a:off x="10705795" y="347472"/>
            <a:ext cx="937260" cy="329184"/>
          </a:xfrm>
          <a:prstGeom prst="rect">
            <a:avLst/>
          </a:prstGeom>
          <a:noFill/>
          <a:ln/>
        </p:spPr>
        <p:txBody>
          <a:bodyPr wrap="square" lIns="0" tIns="0" rIns="0" bIns="0" rtlCol="0" anchor="ctr"/>
          <a:lstStyle/>
          <a:p>
            <a:pPr algn="ctr" indent="0" marL="0">
              <a:buNone/>
            </a:pPr>
            <a:r>
              <a:rPr lang="en-US" sz="1200" dirty="0">
                <a:solidFill>
                  <a:srgbClr val="465A69"/>
                </a:solidFill>
                <a:latin typeface="Calibri" pitchFamily="34" charset="0"/>
                <a:ea typeface="Calibri" pitchFamily="34" charset="-122"/>
                <a:cs typeface="Calibri" pitchFamily="34" charset="-120"/>
              </a:rPr>
              <a:t>Hotwash</a:t>
            </a:r>
            <a:endParaRPr lang="en-US" sz="1200" dirty="0"/>
          </a:p>
        </p:txBody>
      </p:sp>
      <p:sp>
        <p:nvSpPr>
          <p:cNvPr id="7" name="Shape 5"/>
          <p:cNvSpPr/>
          <p:nvPr/>
        </p:nvSpPr>
        <p:spPr>
          <a:xfrm>
            <a:off x="9608515" y="347472"/>
            <a:ext cx="1024128" cy="329184"/>
          </a:xfrm>
          <a:prstGeom prst="roundRect">
            <a:avLst>
              <a:gd name="adj" fmla="val 50000"/>
            </a:avLst>
          </a:prstGeom>
          <a:solidFill>
            <a:srgbClr val="FFFFFF"/>
          </a:solidFill>
          <a:ln w="12700">
            <a:solidFill>
              <a:srgbClr val="FFFFFF"/>
            </a:solidFill>
            <a:prstDash val="solid"/>
          </a:ln>
        </p:spPr>
      </p:sp>
      <p:sp>
        <p:nvSpPr>
          <p:cNvPr id="8" name="Text 6"/>
          <p:cNvSpPr txBox="1"/>
          <p:nvPr/>
        </p:nvSpPr>
        <p:spPr>
          <a:xfrm>
            <a:off x="9608515" y="347472"/>
            <a:ext cx="1024128" cy="329184"/>
          </a:xfrm>
          <a:prstGeom prst="rect">
            <a:avLst/>
          </a:prstGeom>
          <a:noFill/>
          <a:ln/>
        </p:spPr>
        <p:txBody>
          <a:bodyPr wrap="square" lIns="0" tIns="0" rIns="0" bIns="0" rtlCol="0" anchor="ctr"/>
          <a:lstStyle/>
          <a:p>
            <a:pPr algn="ctr" indent="0" marL="0">
              <a:buNone/>
            </a:pPr>
            <a:r>
              <a:rPr lang="en-US" sz="1200" dirty="0">
                <a:solidFill>
                  <a:srgbClr val="465A69"/>
                </a:solidFill>
                <a:latin typeface="Calibri" pitchFamily="34" charset="0"/>
                <a:ea typeface="Calibri" pitchFamily="34" charset="-122"/>
                <a:cs typeface="Calibri" pitchFamily="34" charset="-120"/>
              </a:rPr>
              <a:t>Recovery</a:t>
            </a:r>
            <a:endParaRPr lang="en-US" sz="1200" dirty="0"/>
          </a:p>
        </p:txBody>
      </p:sp>
      <p:sp>
        <p:nvSpPr>
          <p:cNvPr id="9" name="Shape 7"/>
          <p:cNvSpPr/>
          <p:nvPr/>
        </p:nvSpPr>
        <p:spPr>
          <a:xfrm>
            <a:off x="8598103" y="347472"/>
            <a:ext cx="937260" cy="329184"/>
          </a:xfrm>
          <a:prstGeom prst="roundRect">
            <a:avLst>
              <a:gd name="adj" fmla="val 50000"/>
            </a:avLst>
          </a:prstGeom>
          <a:solidFill>
            <a:srgbClr val="FFFFFF"/>
          </a:solidFill>
          <a:ln w="12700">
            <a:solidFill>
              <a:srgbClr val="FFFFFF"/>
            </a:solidFill>
            <a:prstDash val="solid"/>
          </a:ln>
        </p:spPr>
      </p:sp>
      <p:sp>
        <p:nvSpPr>
          <p:cNvPr id="10" name="Text 8"/>
          <p:cNvSpPr txBox="1"/>
          <p:nvPr/>
        </p:nvSpPr>
        <p:spPr>
          <a:xfrm>
            <a:off x="8598103" y="347472"/>
            <a:ext cx="937260" cy="329184"/>
          </a:xfrm>
          <a:prstGeom prst="rect">
            <a:avLst/>
          </a:prstGeom>
          <a:noFill/>
          <a:ln/>
        </p:spPr>
        <p:txBody>
          <a:bodyPr wrap="square" lIns="0" tIns="0" rIns="0" bIns="0" rtlCol="0" anchor="ctr"/>
          <a:lstStyle/>
          <a:p>
            <a:pPr algn="ctr" indent="0" marL="0">
              <a:buNone/>
            </a:pPr>
            <a:r>
              <a:rPr lang="en-US" sz="1200" dirty="0">
                <a:solidFill>
                  <a:srgbClr val="465A69"/>
                </a:solidFill>
                <a:latin typeface="Calibri" pitchFamily="34" charset="0"/>
                <a:ea typeface="Calibri" pitchFamily="34" charset="-122"/>
                <a:cs typeface="Calibri" pitchFamily="34" charset="-120"/>
              </a:rPr>
              <a:t>Injects</a:t>
            </a:r>
            <a:endParaRPr lang="en-US" sz="1200" dirty="0"/>
          </a:p>
        </p:txBody>
      </p:sp>
      <p:sp>
        <p:nvSpPr>
          <p:cNvPr id="11" name="Shape 9"/>
          <p:cNvSpPr/>
          <p:nvPr/>
        </p:nvSpPr>
        <p:spPr>
          <a:xfrm>
            <a:off x="7674559" y="347472"/>
            <a:ext cx="850392" cy="329184"/>
          </a:xfrm>
          <a:prstGeom prst="roundRect">
            <a:avLst>
              <a:gd name="adj" fmla="val 50000"/>
            </a:avLst>
          </a:prstGeom>
          <a:solidFill>
            <a:srgbClr val="FFFFFF"/>
          </a:solidFill>
          <a:ln w="12700">
            <a:solidFill>
              <a:srgbClr val="FFFFFF"/>
            </a:solidFill>
            <a:prstDash val="solid"/>
          </a:ln>
        </p:spPr>
      </p:sp>
      <p:sp>
        <p:nvSpPr>
          <p:cNvPr id="12" name="Text 10"/>
          <p:cNvSpPr txBox="1"/>
          <p:nvPr/>
        </p:nvSpPr>
        <p:spPr>
          <a:xfrm>
            <a:off x="7674559" y="347472"/>
            <a:ext cx="850392" cy="329184"/>
          </a:xfrm>
          <a:prstGeom prst="rect">
            <a:avLst/>
          </a:prstGeom>
          <a:noFill/>
          <a:ln/>
        </p:spPr>
        <p:txBody>
          <a:bodyPr wrap="square" lIns="0" tIns="0" rIns="0" bIns="0" rtlCol="0" anchor="ctr"/>
          <a:lstStyle/>
          <a:p>
            <a:pPr algn="ctr" indent="0" marL="0">
              <a:buNone/>
            </a:pPr>
            <a:r>
              <a:rPr lang="en-US" sz="1200" dirty="0">
                <a:solidFill>
                  <a:srgbClr val="465A69"/>
                </a:solidFill>
                <a:latin typeface="Calibri" pitchFamily="34" charset="0"/>
                <a:ea typeface="Calibri" pitchFamily="34" charset="-122"/>
                <a:cs typeface="Calibri" pitchFamily="34" charset="-120"/>
              </a:rPr>
              <a:t>Decide</a:t>
            </a:r>
            <a:endParaRPr lang="en-US" sz="1200" dirty="0"/>
          </a:p>
        </p:txBody>
      </p:sp>
      <p:sp>
        <p:nvSpPr>
          <p:cNvPr id="13" name="Shape 11"/>
          <p:cNvSpPr/>
          <p:nvPr/>
        </p:nvSpPr>
        <p:spPr>
          <a:xfrm>
            <a:off x="7011619" y="347472"/>
            <a:ext cx="589788" cy="329184"/>
          </a:xfrm>
          <a:prstGeom prst="roundRect">
            <a:avLst>
              <a:gd name="adj" fmla="val 50000"/>
            </a:avLst>
          </a:prstGeom>
          <a:solidFill>
            <a:srgbClr val="FFFFFF"/>
          </a:solidFill>
          <a:ln w="12700">
            <a:solidFill>
              <a:srgbClr val="FFFFFF"/>
            </a:solidFill>
            <a:prstDash val="solid"/>
          </a:ln>
        </p:spPr>
      </p:sp>
      <p:sp>
        <p:nvSpPr>
          <p:cNvPr id="14" name="Text 12"/>
          <p:cNvSpPr txBox="1"/>
          <p:nvPr/>
        </p:nvSpPr>
        <p:spPr>
          <a:xfrm>
            <a:off x="7011619" y="347472"/>
            <a:ext cx="589788" cy="329184"/>
          </a:xfrm>
          <a:prstGeom prst="rect">
            <a:avLst/>
          </a:prstGeom>
          <a:noFill/>
          <a:ln/>
        </p:spPr>
        <p:txBody>
          <a:bodyPr wrap="square" lIns="0" tIns="0" rIns="0" bIns="0" rtlCol="0" anchor="ctr"/>
          <a:lstStyle/>
          <a:p>
            <a:pPr algn="ctr" indent="0" marL="0">
              <a:buNone/>
            </a:pPr>
            <a:r>
              <a:rPr lang="en-US" sz="1200" dirty="0">
                <a:solidFill>
                  <a:srgbClr val="465A69"/>
                </a:solidFill>
                <a:latin typeface="Calibri" pitchFamily="34" charset="0"/>
                <a:ea typeface="Calibri" pitchFamily="34" charset="-122"/>
                <a:cs typeface="Calibri" pitchFamily="34" charset="-120"/>
              </a:rPr>
              <a:t>T+0</a:t>
            </a:r>
            <a:endParaRPr lang="en-US" sz="1200" dirty="0"/>
          </a:p>
        </p:txBody>
      </p:sp>
      <p:sp>
        <p:nvSpPr>
          <p:cNvPr id="15" name="Shape 13"/>
          <p:cNvSpPr/>
          <p:nvPr/>
        </p:nvSpPr>
        <p:spPr>
          <a:xfrm>
            <a:off x="5740603" y="347472"/>
            <a:ext cx="1197864" cy="329184"/>
          </a:xfrm>
          <a:prstGeom prst="roundRect">
            <a:avLst>
              <a:gd name="adj" fmla="val 50000"/>
            </a:avLst>
          </a:prstGeom>
          <a:solidFill>
            <a:srgbClr val="4C8068"/>
          </a:solidFill>
          <a:ln w="12700">
            <a:solidFill>
              <a:srgbClr val="4C8068"/>
            </a:solidFill>
            <a:prstDash val="solid"/>
          </a:ln>
        </p:spPr>
      </p:sp>
      <p:sp>
        <p:nvSpPr>
          <p:cNvPr id="16" name="Text 14"/>
          <p:cNvSpPr txBox="1"/>
          <p:nvPr/>
        </p:nvSpPr>
        <p:spPr>
          <a:xfrm>
            <a:off x="5740603" y="347472"/>
            <a:ext cx="119786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Background</a:t>
            </a:r>
            <a:endParaRPr lang="en-US" sz="1200" dirty="0"/>
          </a:p>
        </p:txBody>
      </p:sp>
      <p:sp>
        <p:nvSpPr>
          <p:cNvPr id="17" name="Shape 15"/>
          <p:cNvSpPr/>
          <p:nvPr/>
        </p:nvSpPr>
        <p:spPr>
          <a:xfrm>
            <a:off x="548640" y="1600200"/>
            <a:ext cx="5413248" cy="2697480"/>
          </a:xfrm>
          <a:prstGeom prst="roundRect">
            <a:avLst>
              <a:gd name="adj" fmla="val 4746"/>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18" name="Text 16"/>
          <p:cNvSpPr txBox="1"/>
          <p:nvPr/>
        </p:nvSpPr>
        <p:spPr>
          <a:xfrm>
            <a:off x="822960" y="1764792"/>
            <a:ext cx="4864608" cy="320040"/>
          </a:xfrm>
          <a:prstGeom prst="rect">
            <a:avLst/>
          </a:prstGeom>
          <a:noFill/>
          <a:ln/>
        </p:spPr>
        <p:txBody>
          <a:bodyPr wrap="square" lIns="0" tIns="0" rIns="0" bIns="0" rtlCol="0" anchor="t"/>
          <a:lstStyle/>
          <a:p>
            <a:pPr indent="0" marL="0">
              <a:buNone/>
            </a:pPr>
            <a:r>
              <a:rPr lang="en-US" sz="1500" b="1" dirty="0">
                <a:solidFill>
                  <a:srgbClr val="4C8068"/>
                </a:solidFill>
                <a:latin typeface="Calibri" pitchFamily="34" charset="0"/>
                <a:ea typeface="Calibri" pitchFamily="34" charset="-122"/>
                <a:cs typeface="Calibri" pitchFamily="34" charset="-120"/>
              </a:rPr>
              <a:t>Objectives</a:t>
            </a:r>
            <a:endParaRPr lang="en-US" sz="1500" dirty="0"/>
          </a:p>
        </p:txBody>
      </p:sp>
      <p:sp>
        <p:nvSpPr>
          <p:cNvPr id="19" name="Text 17"/>
          <p:cNvSpPr txBox="1"/>
          <p:nvPr/>
        </p:nvSpPr>
        <p:spPr>
          <a:xfrm>
            <a:off x="822960" y="2130552"/>
            <a:ext cx="4864608" cy="2075688"/>
          </a:xfrm>
          <a:prstGeom prst="rect">
            <a:avLst/>
          </a:prstGeom>
          <a:noFill/>
          <a:ln/>
        </p:spPr>
        <p:txBody>
          <a:bodyPr wrap="square" lIns="0" tIns="0" rIns="0" bIns="0" rtlCol="0" anchor="t"/>
          <a:lstStyle/>
          <a:p>
            <a:pPr marL="165100" indent="-165100">
              <a:spcAft>
                <a:spcPts val="800"/>
              </a:spcAft>
              <a:buSzPct val="100000"/>
              <a:buChar char="•"/>
            </a:pPr>
            <a:r>
              <a:rPr lang="en-US" sz="1500" dirty="0">
                <a:solidFill>
                  <a:srgbClr val="1E2E3A"/>
                </a:solidFill>
                <a:latin typeface="Calibri" pitchFamily="34" charset="0"/>
                <a:ea typeface="Calibri" pitchFamily="34" charset="-122"/>
                <a:cs typeface="Calibri" pitchFamily="34" charset="-120"/>
              </a:rPr>
              <a:t>Test the decision to declare a disaster and activate DR and BC plans under growing uncertainty.</a:t>
            </a:r>
            <a:endParaRPr lang="en-US" sz="1500" dirty="0"/>
          </a:p>
          <a:p>
            <a:pPr marL="165100" indent="-165100">
              <a:spcAft>
                <a:spcPts val="800"/>
              </a:spcAft>
              <a:buSzPct val="100000"/>
              <a:buChar char="•"/>
            </a:pPr>
            <a:r>
              <a:rPr lang="en-US" sz="1500" dirty="0">
                <a:solidFill>
                  <a:srgbClr val="1E2E3A"/>
                </a:solidFill>
                <a:latin typeface="Calibri" pitchFamily="34" charset="0"/>
                <a:ea typeface="Calibri" pitchFamily="34" charset="-122"/>
                <a:cs typeface="Calibri" pitchFamily="34" charset="-120"/>
              </a:rPr>
              <a:t>Test alternate communications, business prioritization, and realistic recovery objectives.</a:t>
            </a:r>
            <a:endParaRPr lang="en-US" sz="1500" dirty="0"/>
          </a:p>
        </p:txBody>
      </p:sp>
      <p:sp>
        <p:nvSpPr>
          <p:cNvPr id="20" name="Shape 18"/>
          <p:cNvSpPr/>
          <p:nvPr/>
        </p:nvSpPr>
        <p:spPr>
          <a:xfrm>
            <a:off x="6227064" y="1600200"/>
            <a:ext cx="5413248" cy="2697480"/>
          </a:xfrm>
          <a:prstGeom prst="roundRect">
            <a:avLst>
              <a:gd name="adj" fmla="val 4746"/>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21" name="Text 19"/>
          <p:cNvSpPr txBox="1"/>
          <p:nvPr/>
        </p:nvSpPr>
        <p:spPr>
          <a:xfrm>
            <a:off x="6501384" y="1764792"/>
            <a:ext cx="4864608" cy="320040"/>
          </a:xfrm>
          <a:prstGeom prst="rect">
            <a:avLst/>
          </a:prstGeom>
          <a:noFill/>
          <a:ln/>
        </p:spPr>
        <p:txBody>
          <a:bodyPr wrap="square" lIns="0" tIns="0" rIns="0" bIns="0" rtlCol="0" anchor="t"/>
          <a:lstStyle/>
          <a:p>
            <a:pPr indent="0" marL="0">
              <a:buNone/>
            </a:pPr>
            <a:r>
              <a:rPr lang="en-US" sz="1500" b="1" dirty="0">
                <a:solidFill>
                  <a:srgbClr val="4C8068"/>
                </a:solidFill>
                <a:latin typeface="Calibri" pitchFamily="34" charset="0"/>
                <a:ea typeface="Calibri" pitchFamily="34" charset="-122"/>
                <a:cs typeface="Calibri" pitchFamily="34" charset="-120"/>
              </a:rPr>
              <a:t>In scope</a:t>
            </a:r>
            <a:endParaRPr lang="en-US" sz="1500" dirty="0"/>
          </a:p>
        </p:txBody>
      </p:sp>
      <p:sp>
        <p:nvSpPr>
          <p:cNvPr id="22" name="Text 20"/>
          <p:cNvSpPr txBox="1"/>
          <p:nvPr/>
        </p:nvSpPr>
        <p:spPr>
          <a:xfrm>
            <a:off x="6501384" y="2130552"/>
            <a:ext cx="4864608" cy="2075688"/>
          </a:xfrm>
          <a:prstGeom prst="rect">
            <a:avLst/>
          </a:prstGeom>
          <a:noFill/>
          <a:ln/>
        </p:spPr>
        <p:txBody>
          <a:bodyPr wrap="square" lIns="0" tIns="0" rIns="0" bIns="0" rtlCol="0" anchor="t"/>
          <a:lstStyle/>
          <a:p>
            <a:pPr marL="165100" indent="-165100">
              <a:spcAft>
                <a:spcPts val="800"/>
              </a:spcAft>
              <a:buSzPct val="100000"/>
              <a:buChar char="•"/>
            </a:pPr>
            <a:r>
              <a:rPr lang="en-US" sz="1400" dirty="0">
                <a:solidFill>
                  <a:srgbClr val="1E2E3A"/>
                </a:solidFill>
                <a:latin typeface="Calibri" pitchFamily="34" charset="0"/>
                <a:ea typeface="Calibri" pitchFamily="34" charset="-122"/>
                <a:cs typeface="Calibri" pitchFamily="34" charset="-120"/>
              </a:rPr>
              <a:t>Microsoft 365: Entra ID, Exchange Online, Teams, SharePoint, OneDrive</a:t>
            </a:r>
            <a:endParaRPr lang="en-US" sz="1400" dirty="0"/>
          </a:p>
          <a:p>
            <a:pPr marL="165100" indent="-165100">
              <a:spcAft>
                <a:spcPts val="800"/>
              </a:spcAft>
              <a:buSzPct val="100000"/>
              <a:buChar char="•"/>
            </a:pPr>
            <a:r>
              <a:rPr lang="en-US" sz="1400" dirty="0">
                <a:solidFill>
                  <a:srgbClr val="1E2E3A"/>
                </a:solidFill>
                <a:latin typeface="Calibri" pitchFamily="34" charset="0"/>
                <a:ea typeface="Calibri" pitchFamily="34" charset="-122"/>
                <a:cs typeface="Calibri" pitchFamily="34" charset="-120"/>
              </a:rPr>
              <a:t>Applications that rely on Entra ID single sign-on</a:t>
            </a:r>
            <a:endParaRPr lang="en-US" sz="1400" dirty="0"/>
          </a:p>
          <a:p>
            <a:pPr marL="165100" indent="-165100">
              <a:spcAft>
                <a:spcPts val="800"/>
              </a:spcAft>
              <a:buSzPct val="100000"/>
              <a:buChar char="•"/>
            </a:pPr>
            <a:r>
              <a:rPr lang="en-US" sz="1400" dirty="0">
                <a:solidFill>
                  <a:srgbClr val="1E2E3A"/>
                </a:solidFill>
                <a:latin typeface="Calibri" pitchFamily="34" charset="0"/>
                <a:ea typeface="Calibri" pitchFamily="34" charset="-122"/>
                <a:cs typeface="Calibri" pitchFamily="34" charset="-120"/>
              </a:rPr>
              <a:t>Clinical, quality, and regulatory documentation held in SharePoint</a:t>
            </a:r>
            <a:endParaRPr lang="en-US" sz="1400" dirty="0"/>
          </a:p>
          <a:p>
            <a:pPr marL="165100" indent="-165100">
              <a:spcAft>
                <a:spcPts val="800"/>
              </a:spcAft>
              <a:buSzPct val="100000"/>
              <a:buChar char="•"/>
            </a:pPr>
            <a:r>
              <a:rPr lang="en-US" sz="1400" dirty="0">
                <a:solidFill>
                  <a:srgbClr val="1E2E3A"/>
                </a:solidFill>
                <a:latin typeface="Calibri" pitchFamily="34" charset="0"/>
                <a:ea typeface="Calibri" pitchFamily="34" charset="-122"/>
                <a:cs typeface="Calibri" pitchFamily="34" charset="-120"/>
              </a:rPr>
              <a:t>Executive and employee communications</a:t>
            </a:r>
            <a:endParaRPr lang="en-US" sz="1400" dirty="0"/>
          </a:p>
        </p:txBody>
      </p:sp>
      <p:sp>
        <p:nvSpPr>
          <p:cNvPr id="23" name="Shape 21"/>
          <p:cNvSpPr/>
          <p:nvPr/>
        </p:nvSpPr>
        <p:spPr>
          <a:xfrm>
            <a:off x="548640" y="4526280"/>
            <a:ext cx="11091672" cy="1417320"/>
          </a:xfrm>
          <a:prstGeom prst="roundRect">
            <a:avLst>
              <a:gd name="adj" fmla="val 9032"/>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24" name="Text 22"/>
          <p:cNvSpPr txBox="1"/>
          <p:nvPr/>
        </p:nvSpPr>
        <p:spPr>
          <a:xfrm>
            <a:off x="822960" y="4690872"/>
            <a:ext cx="4572000" cy="320040"/>
          </a:xfrm>
          <a:prstGeom prst="rect">
            <a:avLst/>
          </a:prstGeom>
          <a:noFill/>
          <a:ln/>
        </p:spPr>
        <p:txBody>
          <a:bodyPr wrap="square" lIns="0" tIns="0" rIns="0" bIns="0" rtlCol="0" anchor="t"/>
          <a:lstStyle/>
          <a:p>
            <a:pPr indent="0" marL="0">
              <a:buNone/>
            </a:pPr>
            <a:r>
              <a:rPr lang="en-US" sz="1500" b="1" dirty="0">
                <a:solidFill>
                  <a:srgbClr val="4C8068"/>
                </a:solidFill>
                <a:latin typeface="Calibri" pitchFamily="34" charset="0"/>
                <a:ea typeface="Calibri" pitchFamily="34" charset="-122"/>
                <a:cs typeface="Calibri" pitchFamily="34" charset="-120"/>
              </a:rPr>
              <a:t>Assumptions</a:t>
            </a:r>
            <a:endParaRPr lang="en-US" sz="1500" dirty="0"/>
          </a:p>
        </p:txBody>
      </p:sp>
      <p:sp>
        <p:nvSpPr>
          <p:cNvPr id="25" name="Text 23"/>
          <p:cNvSpPr txBox="1"/>
          <p:nvPr/>
        </p:nvSpPr>
        <p:spPr>
          <a:xfrm>
            <a:off x="822960" y="5056632"/>
            <a:ext cx="10543032" cy="813816"/>
          </a:xfrm>
          <a:prstGeom prst="rect">
            <a:avLst/>
          </a:prstGeom>
          <a:noFill/>
          <a:ln/>
        </p:spPr>
        <p:txBody>
          <a:bodyPr wrap="square" lIns="0" tIns="0" rIns="0" bIns="0" rtlCol="0" anchor="t"/>
          <a:lstStyle/>
          <a:p>
            <a:pPr marL="165100" indent="-165100">
              <a:spcAft>
                <a:spcPts val="300"/>
              </a:spcAft>
              <a:buSzPct val="100000"/>
              <a:buChar char="•"/>
            </a:pPr>
            <a:r>
              <a:rPr lang="en-US" sz="1300" dirty="0">
                <a:solidFill>
                  <a:srgbClr val="1E2E3A"/>
                </a:solidFill>
                <a:latin typeface="Calibri" pitchFamily="34" charset="0"/>
                <a:ea typeface="Calibri" pitchFamily="34" charset="-122"/>
                <a:cs typeface="Calibri" pitchFamily="34" charset="-120"/>
              </a:rPr>
              <a:t>The Scenario 1 compromise is contained. The investigation is still in progress.</a:t>
            </a:r>
            <a:endParaRPr lang="en-US" sz="1300" dirty="0"/>
          </a:p>
          <a:p>
            <a:pPr marL="165100" indent="-165100">
              <a:spcAft>
                <a:spcPts val="300"/>
              </a:spcAft>
              <a:buSzPct val="100000"/>
              <a:buChar char="•"/>
            </a:pPr>
            <a:r>
              <a:rPr lang="en-US" sz="1300" dirty="0">
                <a:solidFill>
                  <a:srgbClr val="1E2E3A"/>
                </a:solidFill>
                <a:latin typeface="Calibri" pitchFamily="34" charset="0"/>
                <a:ea typeface="Calibri" pitchFamily="34" charset="-122"/>
                <a:cs typeface="Calibri" pitchFamily="34" charset="-120"/>
              </a:rPr>
              <a:t>The DR plan assumes critical SaaS services can suffer a high-impact event.</a:t>
            </a:r>
            <a:endParaRPr lang="en-US" sz="1300" dirty="0"/>
          </a:p>
          <a:p>
            <a:pPr marL="165100" indent="-165100">
              <a:spcAft>
                <a:spcPts val="300"/>
              </a:spcAft>
              <a:buSzPct val="100000"/>
              <a:buChar char="•"/>
            </a:pPr>
            <a:r>
              <a:rPr lang="en-US" sz="1300" dirty="0">
                <a:solidFill>
                  <a:srgbClr val="1E2E3A"/>
                </a:solidFill>
                <a:latin typeface="Calibri" pitchFamily="34" charset="0"/>
                <a:ea typeface="Calibri" pitchFamily="34" charset="-122"/>
                <a:cs typeface="Calibri" pitchFamily="34" charset="-120"/>
              </a:rPr>
              <a:t>Microsoft's status updates are the only provider information you have.</a:t>
            </a:r>
            <a:endParaRPr lang="en-US" sz="1300" dirty="0"/>
          </a:p>
        </p:txBody>
      </p:sp>
      <p:sp>
        <p:nvSpPr>
          <p:cNvPr id="26" name="Text 24"/>
          <p:cNvSpPr txBox="1"/>
          <p:nvPr/>
        </p:nvSpPr>
        <p:spPr>
          <a:xfrm>
            <a:off x="548640" y="6254496"/>
            <a:ext cx="11091672" cy="256032"/>
          </a:xfrm>
          <a:prstGeom prst="rect">
            <a:avLst/>
          </a:prstGeom>
          <a:noFill/>
          <a:ln/>
        </p:spPr>
        <p:txBody>
          <a:bodyPr wrap="square" lIns="0" tIns="0" rIns="0" bIns="0" rtlCol="0" anchor="ctr"/>
          <a:lstStyle/>
          <a:p>
            <a:pPr indent="0" marL="0">
              <a:buNone/>
            </a:pPr>
            <a:r>
              <a:rPr lang="en-US" sz="1200" b="1" dirty="0">
                <a:solidFill>
                  <a:srgbClr val="465A69"/>
                </a:solidFill>
                <a:latin typeface="Calibri" pitchFamily="34" charset="0"/>
                <a:ea typeface="Calibri" pitchFamily="34" charset="-122"/>
                <a:cs typeface="Calibri" pitchFamily="34" charset="-120"/>
              </a:rPr>
              <a:t>Acronyms:  </a:t>
            </a:r>
            <a:pPr indent="0" marL="0">
              <a:buNone/>
            </a:pPr>
            <a:r>
              <a:rPr lang="en-US" sz="1200" dirty="0">
                <a:solidFill>
                  <a:srgbClr val="465A69"/>
                </a:solidFill>
                <a:latin typeface="Calibri" pitchFamily="34" charset="0"/>
                <a:ea typeface="Calibri" pitchFamily="34" charset="-122"/>
                <a:cs typeface="Calibri" pitchFamily="34" charset="-120"/>
              </a:rPr>
              <a:t>T+: time since the first signal;  DR: Disaster Recovery;  BC: Business Continuity;  SaaS: software as a service</a:t>
            </a:r>
            <a:endParaRPr lang="en-US" sz="1200" dirty="0"/>
          </a:p>
        </p:txBody>
      </p:sp>
      <p:sp>
        <p:nvSpPr>
          <p:cNvPr id="27" name="Shape 25"/>
          <p:cNvSpPr/>
          <p:nvPr/>
        </p:nvSpPr>
        <p:spPr>
          <a:xfrm>
            <a:off x="548640" y="6537960"/>
            <a:ext cx="763524" cy="274320"/>
          </a:xfrm>
          <a:prstGeom prst="roundRect">
            <a:avLst>
              <a:gd name="adj" fmla="val 50000"/>
            </a:avLst>
          </a:prstGeom>
          <a:solidFill>
            <a:srgbClr val="E4ECF2"/>
          </a:solidFill>
          <a:ln w="12700">
            <a:solidFill>
              <a:srgbClr val="E4ECF2"/>
            </a:solidFill>
            <a:prstDash val="solid"/>
          </a:ln>
        </p:spPr>
      </p:sp>
      <p:sp>
        <p:nvSpPr>
          <p:cNvPr id="28" name="Text 26"/>
          <p:cNvSpPr txBox="1"/>
          <p:nvPr/>
        </p:nvSpPr>
        <p:spPr>
          <a:xfrm>
            <a:off x="548640" y="6537960"/>
            <a:ext cx="763524" cy="274320"/>
          </a:xfrm>
          <a:prstGeom prst="rect">
            <a:avLst/>
          </a:prstGeom>
          <a:noFill/>
          <a:ln/>
        </p:spPr>
        <p:txBody>
          <a:bodyPr wrap="square" lIns="0" tIns="0" rIns="0" bIns="0" rtlCol="0" anchor="ctr"/>
          <a:lstStyle/>
          <a:p>
            <a:pPr algn="ctr" indent="0" marL="0">
              <a:buNone/>
            </a:pPr>
            <a:r>
              <a:rPr lang="en-US" sz="1200" b="1" dirty="0">
                <a:solidFill>
                  <a:srgbClr val="23405A"/>
                </a:solidFill>
                <a:latin typeface="Calibri" pitchFamily="34" charset="0"/>
                <a:ea typeface="Calibri" pitchFamily="34" charset="-122"/>
                <a:cs typeface="Calibri" pitchFamily="34" charset="-120"/>
              </a:rPr>
              <a:t>Start</a:t>
            </a:r>
            <a:endParaRPr lang="en-US" sz="1200" dirty="0"/>
          </a:p>
        </p:txBody>
      </p:sp>
      <p:pic>
        <p:nvPicPr>
          <p:cNvPr id="29" name="Image 0" descr="preencoded.png">
            <a:hlinkClick r:id="rId2" tooltip="Go to Start" action="ppaction://hlinksldjump"/>
          </p:cNvPr>
          <p:cNvPicPr>
            <a:picLocks noChangeAspect="1"/>
          </p:cNvPicPr>
          <p:nvPr/>
        </p:nvPicPr>
        <p:blipFill>
          <a:blip r:embed="rId1"/>
          <a:stretch>
            <a:fillRect/>
          </a:stretch>
        </p:blipFill>
        <p:spPr>
          <a:xfrm>
            <a:off x="548640" y="6537960"/>
            <a:ext cx="763524" cy="274320"/>
          </a:xfrm>
          <a:prstGeom prst="rect">
            <a:avLst/>
          </a:prstGeom>
        </p:spPr>
      </p:pic>
      <p:sp>
        <p:nvSpPr>
          <p:cNvPr id="30" name="Shape 27"/>
          <p:cNvSpPr/>
          <p:nvPr/>
        </p:nvSpPr>
        <p:spPr>
          <a:xfrm>
            <a:off x="1385316" y="6537960"/>
            <a:ext cx="1197864" cy="274320"/>
          </a:xfrm>
          <a:prstGeom prst="roundRect">
            <a:avLst>
              <a:gd name="adj" fmla="val 50000"/>
            </a:avLst>
          </a:prstGeom>
          <a:solidFill>
            <a:srgbClr val="F1F6FA"/>
          </a:solidFill>
          <a:ln w="12700">
            <a:solidFill>
              <a:srgbClr val="F1F6FA"/>
            </a:solidFill>
            <a:prstDash val="solid"/>
          </a:ln>
        </p:spPr>
      </p:sp>
      <p:sp>
        <p:nvSpPr>
          <p:cNvPr id="31" name="Text 28"/>
          <p:cNvSpPr txBox="1"/>
          <p:nvPr/>
        </p:nvSpPr>
        <p:spPr>
          <a:xfrm>
            <a:off x="1385316" y="6537960"/>
            <a:ext cx="1197864" cy="274320"/>
          </a:xfrm>
          <a:prstGeom prst="rect">
            <a:avLst/>
          </a:prstGeom>
          <a:noFill/>
          <a:ln/>
        </p:spPr>
        <p:txBody>
          <a:bodyPr wrap="square" lIns="0" tIns="0" rIns="0" bIns="0" rtlCol="0" anchor="ctr"/>
          <a:lstStyle/>
          <a:p>
            <a:pPr algn="ctr" indent="0" marL="0">
              <a:buNone/>
            </a:pPr>
            <a:r>
              <a:rPr lang="en-US" sz="1200" b="1" dirty="0">
                <a:solidFill>
                  <a:srgbClr val="3F6E8C"/>
                </a:solidFill>
                <a:latin typeface="Calibri" pitchFamily="34" charset="0"/>
                <a:ea typeface="Calibri" pitchFamily="34" charset="-122"/>
                <a:cs typeface="Calibri" pitchFamily="34" charset="-120"/>
              </a:rPr>
              <a:t>Scenario 1</a:t>
            </a:r>
            <a:endParaRPr lang="en-US" sz="1200" dirty="0"/>
          </a:p>
        </p:txBody>
      </p:sp>
      <p:pic>
        <p:nvPicPr>
          <p:cNvPr id="32" name="Image 1" descr="preencoded.png">
            <a:hlinkClick r:id="rId4" tooltip="Go to Scenario 1" action="ppaction://hlinksldjump"/>
          </p:cNvPr>
          <p:cNvPicPr>
            <a:picLocks noChangeAspect="1"/>
          </p:cNvPicPr>
          <p:nvPr/>
        </p:nvPicPr>
        <p:blipFill>
          <a:blip r:embed="rId3"/>
          <a:stretch>
            <a:fillRect/>
          </a:stretch>
        </p:blipFill>
        <p:spPr>
          <a:xfrm>
            <a:off x="1385316" y="6537960"/>
            <a:ext cx="1197864" cy="274320"/>
          </a:xfrm>
          <a:prstGeom prst="rect">
            <a:avLst/>
          </a:prstGeom>
        </p:spPr>
      </p:pic>
      <p:sp>
        <p:nvSpPr>
          <p:cNvPr id="33" name="Shape 29"/>
          <p:cNvSpPr/>
          <p:nvPr/>
        </p:nvSpPr>
        <p:spPr>
          <a:xfrm>
            <a:off x="2656332" y="6537960"/>
            <a:ext cx="1197864" cy="274320"/>
          </a:xfrm>
          <a:prstGeom prst="roundRect">
            <a:avLst>
              <a:gd name="adj" fmla="val 50000"/>
            </a:avLst>
          </a:prstGeom>
          <a:solidFill>
            <a:srgbClr val="4C8068"/>
          </a:solidFill>
          <a:ln w="12700">
            <a:solidFill>
              <a:srgbClr val="4C8068"/>
            </a:solidFill>
            <a:prstDash val="solid"/>
          </a:ln>
        </p:spPr>
      </p:sp>
      <p:sp>
        <p:nvSpPr>
          <p:cNvPr id="34" name="Text 30"/>
          <p:cNvSpPr txBox="1"/>
          <p:nvPr/>
        </p:nvSpPr>
        <p:spPr>
          <a:xfrm>
            <a:off x="2656332" y="6537960"/>
            <a:ext cx="1197864"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Scenario 2</a:t>
            </a:r>
            <a:endParaRPr lang="en-US" sz="1200" dirty="0"/>
          </a:p>
        </p:txBody>
      </p:sp>
      <p:pic>
        <p:nvPicPr>
          <p:cNvPr id="35" name="Image 2" descr="preencoded.png">
            <a:hlinkClick r:id="rId6" tooltip="Go to Scenario 2" action="ppaction://hlinksldjump"/>
          </p:cNvPr>
          <p:cNvPicPr>
            <a:picLocks noChangeAspect="1"/>
          </p:cNvPicPr>
          <p:nvPr/>
        </p:nvPicPr>
        <p:blipFill>
          <a:blip r:embed="rId5"/>
          <a:stretch>
            <a:fillRect/>
          </a:stretch>
        </p:blipFill>
        <p:spPr>
          <a:xfrm>
            <a:off x="2656332" y="6537960"/>
            <a:ext cx="1197864" cy="274320"/>
          </a:xfrm>
          <a:prstGeom prst="rect">
            <a:avLst/>
          </a:prstGeom>
        </p:spPr>
      </p:pic>
      <p:sp>
        <p:nvSpPr>
          <p:cNvPr id="36" name="Shape 31"/>
          <p:cNvSpPr/>
          <p:nvPr/>
        </p:nvSpPr>
        <p:spPr>
          <a:xfrm>
            <a:off x="3927348" y="6537960"/>
            <a:ext cx="1197864" cy="274320"/>
          </a:xfrm>
          <a:prstGeom prst="roundRect">
            <a:avLst>
              <a:gd name="adj" fmla="val 50000"/>
            </a:avLst>
          </a:prstGeom>
          <a:solidFill>
            <a:srgbClr val="F6F3FA"/>
          </a:solidFill>
          <a:ln w="12700">
            <a:solidFill>
              <a:srgbClr val="F6F3FA"/>
            </a:solidFill>
            <a:prstDash val="solid"/>
          </a:ln>
        </p:spPr>
      </p:sp>
      <p:sp>
        <p:nvSpPr>
          <p:cNvPr id="37" name="Text 32"/>
          <p:cNvSpPr txBox="1"/>
          <p:nvPr/>
        </p:nvSpPr>
        <p:spPr>
          <a:xfrm>
            <a:off x="3927348" y="6537960"/>
            <a:ext cx="1197864" cy="274320"/>
          </a:xfrm>
          <a:prstGeom prst="rect">
            <a:avLst/>
          </a:prstGeom>
          <a:noFill/>
          <a:ln/>
        </p:spPr>
        <p:txBody>
          <a:bodyPr wrap="square" lIns="0" tIns="0" rIns="0" bIns="0" rtlCol="0" anchor="ctr"/>
          <a:lstStyle/>
          <a:p>
            <a:pPr algn="ctr" indent="0" marL="0">
              <a:buNone/>
            </a:pPr>
            <a:r>
              <a:rPr lang="en-US" sz="1200" b="1" dirty="0">
                <a:solidFill>
                  <a:srgbClr val="6E5E94"/>
                </a:solidFill>
                <a:latin typeface="Calibri" pitchFamily="34" charset="0"/>
                <a:ea typeface="Calibri" pitchFamily="34" charset="-122"/>
                <a:cs typeface="Calibri" pitchFamily="34" charset="-120"/>
              </a:rPr>
              <a:t>Scenario 3</a:t>
            </a:r>
            <a:endParaRPr lang="en-US" sz="1200" dirty="0"/>
          </a:p>
        </p:txBody>
      </p:sp>
      <p:pic>
        <p:nvPicPr>
          <p:cNvPr id="38" name="Image 3" descr="preencoded.png">
            <a:hlinkClick r:id="rId8" tooltip="Go to Scenario 3" action="ppaction://hlinksldjump"/>
          </p:cNvPr>
          <p:cNvPicPr>
            <a:picLocks noChangeAspect="1"/>
          </p:cNvPicPr>
          <p:nvPr/>
        </p:nvPicPr>
        <p:blipFill>
          <a:blip r:embed="rId7"/>
          <a:stretch>
            <a:fillRect/>
          </a:stretch>
        </p:blipFill>
        <p:spPr>
          <a:xfrm>
            <a:off x="3927348" y="6537960"/>
            <a:ext cx="1197864" cy="274320"/>
          </a:xfrm>
          <a:prstGeom prst="rect">
            <a:avLst/>
          </a:prstGeom>
        </p:spPr>
      </p:pic>
      <p:sp>
        <p:nvSpPr>
          <p:cNvPr id="39" name="Shape 33"/>
          <p:cNvSpPr/>
          <p:nvPr/>
        </p:nvSpPr>
        <p:spPr>
          <a:xfrm>
            <a:off x="5198364" y="6537960"/>
            <a:ext cx="937260" cy="274320"/>
          </a:xfrm>
          <a:prstGeom prst="roundRect">
            <a:avLst>
              <a:gd name="adj" fmla="val 50000"/>
            </a:avLst>
          </a:prstGeom>
          <a:solidFill>
            <a:srgbClr val="E4ECF2"/>
          </a:solidFill>
          <a:ln w="12700">
            <a:solidFill>
              <a:srgbClr val="E4ECF2"/>
            </a:solidFill>
            <a:prstDash val="solid"/>
          </a:ln>
        </p:spPr>
      </p:sp>
      <p:sp>
        <p:nvSpPr>
          <p:cNvPr id="40" name="Text 34"/>
          <p:cNvSpPr txBox="1"/>
          <p:nvPr/>
        </p:nvSpPr>
        <p:spPr>
          <a:xfrm>
            <a:off x="5198364" y="6537960"/>
            <a:ext cx="937260" cy="274320"/>
          </a:xfrm>
          <a:prstGeom prst="rect">
            <a:avLst/>
          </a:prstGeom>
          <a:noFill/>
          <a:ln/>
        </p:spPr>
        <p:txBody>
          <a:bodyPr wrap="square" lIns="0" tIns="0" rIns="0" bIns="0" rtlCol="0" anchor="ctr"/>
          <a:lstStyle/>
          <a:p>
            <a:pPr algn="ctr" indent="0" marL="0">
              <a:buNone/>
            </a:pPr>
            <a:r>
              <a:rPr lang="en-US" sz="1200" b="1" dirty="0">
                <a:solidFill>
                  <a:srgbClr val="23405A"/>
                </a:solidFill>
                <a:latin typeface="Calibri" pitchFamily="34" charset="0"/>
                <a:ea typeface="Calibri" pitchFamily="34" charset="-122"/>
                <a:cs typeface="Calibri" pitchFamily="34" charset="-120"/>
              </a:rPr>
              <a:t>Closing</a:t>
            </a:r>
            <a:endParaRPr lang="en-US" sz="1200" dirty="0"/>
          </a:p>
        </p:txBody>
      </p:sp>
      <p:pic>
        <p:nvPicPr>
          <p:cNvPr id="41" name="Image 4" descr="preencoded.png">
            <a:hlinkClick r:id="rId10" tooltip="Go to Closing" action="ppaction://hlinksldjump"/>
          </p:cNvPr>
          <p:cNvPicPr>
            <a:picLocks noChangeAspect="1"/>
          </p:cNvPicPr>
          <p:nvPr/>
        </p:nvPicPr>
        <p:blipFill>
          <a:blip r:embed="rId9"/>
          <a:stretch>
            <a:fillRect/>
          </a:stretch>
        </p:blipFill>
        <p:spPr>
          <a:xfrm>
            <a:off x="5198364" y="6537960"/>
            <a:ext cx="937260" cy="274320"/>
          </a:xfrm>
          <a:prstGeom prst="rect">
            <a:avLst/>
          </a:prstGeom>
        </p:spPr>
      </p:pic>
      <p:sp>
        <p:nvSpPr>
          <p:cNvPr id="42" name="Text 35"/>
          <p:cNvSpPr txBox="1"/>
          <p:nvPr/>
        </p:nvSpPr>
        <p:spPr>
          <a:xfrm>
            <a:off x="11277295" y="6537960"/>
            <a:ext cx="365760" cy="274320"/>
          </a:xfrm>
          <a:prstGeom prst="rect">
            <a:avLst/>
          </a:prstGeom>
          <a:noFill/>
          <a:ln/>
        </p:spPr>
        <p:txBody>
          <a:bodyPr wrap="square" lIns="0" tIns="0" rIns="0" bIns="0" rtlCol="0" anchor="ctr"/>
          <a:lstStyle/>
          <a:p>
            <a:pPr algn="r" indent="0" marL="0">
              <a:buNone/>
            </a:pPr>
            <a:r>
              <a:rPr lang="en-US" sz="1200" dirty="0">
                <a:solidFill>
                  <a:srgbClr val="465A69"/>
                </a:solidFill>
                <a:latin typeface="Calibri" pitchFamily="34" charset="0"/>
                <a:ea typeface="Calibri" pitchFamily="34" charset="-122"/>
                <a:cs typeface="Calibri" pitchFamily="34" charset="-120"/>
              </a:rPr>
              <a:t>24</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E6F2E9"/>
        </a:solidFill>
      </p:bgPr>
    </p:bg>
    <p:spTree>
      <p:nvGrpSpPr>
        <p:cNvPr id="1" name=""/>
        <p:cNvGrpSpPr/>
        <p:nvPr/>
      </p:nvGrpSpPr>
      <p:grpSpPr>
        <a:xfrm>
          <a:off x="0" y="0"/>
          <a:ext cx="0" cy="0"/>
          <a:chOff x="0" y="0"/>
          <a:chExt cx="0" cy="0"/>
        </a:xfrm>
      </p:grpSpPr>
      <p:sp>
        <p:nvSpPr>
          <p:cNvPr id="2" name="Shape 0"/>
          <p:cNvSpPr/>
          <p:nvPr/>
        </p:nvSpPr>
        <p:spPr>
          <a:xfrm>
            <a:off x="548640" y="347472"/>
            <a:ext cx="2843784" cy="329184"/>
          </a:xfrm>
          <a:prstGeom prst="roundRect">
            <a:avLst>
              <a:gd name="adj" fmla="val 50000"/>
            </a:avLst>
          </a:prstGeom>
          <a:solidFill>
            <a:srgbClr val="F1F8F3"/>
          </a:solidFill>
          <a:ln w="12700">
            <a:solidFill>
              <a:srgbClr val="F1F8F3"/>
            </a:solidFill>
            <a:prstDash val="solid"/>
          </a:ln>
        </p:spPr>
      </p:sp>
      <p:sp>
        <p:nvSpPr>
          <p:cNvPr id="3" name="Text 1"/>
          <p:cNvSpPr txBox="1"/>
          <p:nvPr/>
        </p:nvSpPr>
        <p:spPr>
          <a:xfrm>
            <a:off x="548640" y="347472"/>
            <a:ext cx="2843784" cy="329184"/>
          </a:xfrm>
          <a:prstGeom prst="rect">
            <a:avLst/>
          </a:prstGeom>
          <a:noFill/>
          <a:ln/>
        </p:spPr>
        <p:txBody>
          <a:bodyPr wrap="square" lIns="0" tIns="0" rIns="0" bIns="0" rtlCol="0" anchor="ctr"/>
          <a:lstStyle/>
          <a:p>
            <a:pPr algn="ctr" indent="0" marL="0">
              <a:buNone/>
            </a:pPr>
            <a:r>
              <a:rPr lang="en-US" sz="1200" b="1" dirty="0">
                <a:solidFill>
                  <a:srgbClr val="4C8068"/>
                </a:solidFill>
                <a:latin typeface="Calibri" pitchFamily="34" charset="0"/>
                <a:ea typeface="Calibri" pitchFamily="34" charset="-122"/>
                <a:cs typeface="Calibri" pitchFamily="34" charset="-120"/>
              </a:rPr>
              <a:t>Scenario 2: Disaster Recovery</a:t>
            </a:r>
            <a:endParaRPr lang="en-US" sz="1200" dirty="0"/>
          </a:p>
        </p:txBody>
      </p:sp>
      <p:sp>
        <p:nvSpPr>
          <p:cNvPr id="4" name="Text 2"/>
          <p:cNvSpPr txBox="1"/>
          <p:nvPr/>
        </p:nvSpPr>
        <p:spPr>
          <a:xfrm>
            <a:off x="548640" y="749808"/>
            <a:ext cx="11064240" cy="640080"/>
          </a:xfrm>
          <a:prstGeom prst="rect">
            <a:avLst/>
          </a:prstGeom>
          <a:noFill/>
          <a:ln/>
        </p:spPr>
        <p:txBody>
          <a:bodyPr wrap="square" lIns="0" tIns="0" rIns="0" bIns="0" rtlCol="0" anchor="ctr"/>
          <a:lstStyle/>
          <a:p>
            <a:pPr indent="0" marL="0">
              <a:buNone/>
            </a:pPr>
            <a:r>
              <a:rPr lang="en-US" sz="2800" b="1" dirty="0">
                <a:solidFill>
                  <a:srgbClr val="23405A"/>
                </a:solidFill>
                <a:latin typeface="Calibri" pitchFamily="34" charset="0"/>
                <a:ea typeface="Calibri" pitchFamily="34" charset="-122"/>
                <a:cs typeface="Calibri" pitchFamily="34" charset="-120"/>
              </a:rPr>
              <a:t>T+0: Initial Alert</a:t>
            </a:r>
            <a:endParaRPr lang="en-US" sz="2800" dirty="0"/>
          </a:p>
        </p:txBody>
      </p:sp>
      <p:sp>
        <p:nvSpPr>
          <p:cNvPr id="5" name="Shape 3"/>
          <p:cNvSpPr/>
          <p:nvPr/>
        </p:nvSpPr>
        <p:spPr>
          <a:xfrm>
            <a:off x="10705795" y="347472"/>
            <a:ext cx="937260" cy="329184"/>
          </a:xfrm>
          <a:prstGeom prst="roundRect">
            <a:avLst>
              <a:gd name="adj" fmla="val 50000"/>
            </a:avLst>
          </a:prstGeom>
          <a:solidFill>
            <a:srgbClr val="FFFFFF"/>
          </a:solidFill>
          <a:ln w="12700">
            <a:solidFill>
              <a:srgbClr val="FFFFFF"/>
            </a:solidFill>
            <a:prstDash val="solid"/>
          </a:ln>
        </p:spPr>
      </p:sp>
      <p:sp>
        <p:nvSpPr>
          <p:cNvPr id="6" name="Text 4"/>
          <p:cNvSpPr txBox="1"/>
          <p:nvPr/>
        </p:nvSpPr>
        <p:spPr>
          <a:xfrm>
            <a:off x="10705795" y="347472"/>
            <a:ext cx="937260" cy="329184"/>
          </a:xfrm>
          <a:prstGeom prst="rect">
            <a:avLst/>
          </a:prstGeom>
          <a:noFill/>
          <a:ln/>
        </p:spPr>
        <p:txBody>
          <a:bodyPr wrap="square" lIns="0" tIns="0" rIns="0" bIns="0" rtlCol="0" anchor="ctr"/>
          <a:lstStyle/>
          <a:p>
            <a:pPr algn="ctr" indent="0" marL="0">
              <a:buNone/>
            </a:pPr>
            <a:r>
              <a:rPr lang="en-US" sz="1200" dirty="0">
                <a:solidFill>
                  <a:srgbClr val="465A69"/>
                </a:solidFill>
                <a:latin typeface="Calibri" pitchFamily="34" charset="0"/>
                <a:ea typeface="Calibri" pitchFamily="34" charset="-122"/>
                <a:cs typeface="Calibri" pitchFamily="34" charset="-120"/>
              </a:rPr>
              <a:t>Hotwash</a:t>
            </a:r>
            <a:endParaRPr lang="en-US" sz="1200" dirty="0"/>
          </a:p>
        </p:txBody>
      </p:sp>
      <p:sp>
        <p:nvSpPr>
          <p:cNvPr id="7" name="Shape 5"/>
          <p:cNvSpPr/>
          <p:nvPr/>
        </p:nvSpPr>
        <p:spPr>
          <a:xfrm>
            <a:off x="9608515" y="347472"/>
            <a:ext cx="1024128" cy="329184"/>
          </a:xfrm>
          <a:prstGeom prst="roundRect">
            <a:avLst>
              <a:gd name="adj" fmla="val 50000"/>
            </a:avLst>
          </a:prstGeom>
          <a:solidFill>
            <a:srgbClr val="FFFFFF"/>
          </a:solidFill>
          <a:ln w="12700">
            <a:solidFill>
              <a:srgbClr val="FFFFFF"/>
            </a:solidFill>
            <a:prstDash val="solid"/>
          </a:ln>
        </p:spPr>
      </p:sp>
      <p:sp>
        <p:nvSpPr>
          <p:cNvPr id="8" name="Text 6"/>
          <p:cNvSpPr txBox="1"/>
          <p:nvPr/>
        </p:nvSpPr>
        <p:spPr>
          <a:xfrm>
            <a:off x="9608515" y="347472"/>
            <a:ext cx="1024128" cy="329184"/>
          </a:xfrm>
          <a:prstGeom prst="rect">
            <a:avLst/>
          </a:prstGeom>
          <a:noFill/>
          <a:ln/>
        </p:spPr>
        <p:txBody>
          <a:bodyPr wrap="square" lIns="0" tIns="0" rIns="0" bIns="0" rtlCol="0" anchor="ctr"/>
          <a:lstStyle/>
          <a:p>
            <a:pPr algn="ctr" indent="0" marL="0">
              <a:buNone/>
            </a:pPr>
            <a:r>
              <a:rPr lang="en-US" sz="1200" dirty="0">
                <a:solidFill>
                  <a:srgbClr val="465A69"/>
                </a:solidFill>
                <a:latin typeface="Calibri" pitchFamily="34" charset="0"/>
                <a:ea typeface="Calibri" pitchFamily="34" charset="-122"/>
                <a:cs typeface="Calibri" pitchFamily="34" charset="-120"/>
              </a:rPr>
              <a:t>Recovery</a:t>
            </a:r>
            <a:endParaRPr lang="en-US" sz="1200" dirty="0"/>
          </a:p>
        </p:txBody>
      </p:sp>
      <p:sp>
        <p:nvSpPr>
          <p:cNvPr id="9" name="Shape 7"/>
          <p:cNvSpPr/>
          <p:nvPr/>
        </p:nvSpPr>
        <p:spPr>
          <a:xfrm>
            <a:off x="8598103" y="347472"/>
            <a:ext cx="937260" cy="329184"/>
          </a:xfrm>
          <a:prstGeom prst="roundRect">
            <a:avLst>
              <a:gd name="adj" fmla="val 50000"/>
            </a:avLst>
          </a:prstGeom>
          <a:solidFill>
            <a:srgbClr val="FFFFFF"/>
          </a:solidFill>
          <a:ln w="12700">
            <a:solidFill>
              <a:srgbClr val="FFFFFF"/>
            </a:solidFill>
            <a:prstDash val="solid"/>
          </a:ln>
        </p:spPr>
      </p:sp>
      <p:sp>
        <p:nvSpPr>
          <p:cNvPr id="10" name="Text 8"/>
          <p:cNvSpPr txBox="1"/>
          <p:nvPr/>
        </p:nvSpPr>
        <p:spPr>
          <a:xfrm>
            <a:off x="8598103" y="347472"/>
            <a:ext cx="937260" cy="329184"/>
          </a:xfrm>
          <a:prstGeom prst="rect">
            <a:avLst/>
          </a:prstGeom>
          <a:noFill/>
          <a:ln/>
        </p:spPr>
        <p:txBody>
          <a:bodyPr wrap="square" lIns="0" tIns="0" rIns="0" bIns="0" rtlCol="0" anchor="ctr"/>
          <a:lstStyle/>
          <a:p>
            <a:pPr algn="ctr" indent="0" marL="0">
              <a:buNone/>
            </a:pPr>
            <a:r>
              <a:rPr lang="en-US" sz="1200" dirty="0">
                <a:solidFill>
                  <a:srgbClr val="465A69"/>
                </a:solidFill>
                <a:latin typeface="Calibri" pitchFamily="34" charset="0"/>
                <a:ea typeface="Calibri" pitchFamily="34" charset="-122"/>
                <a:cs typeface="Calibri" pitchFamily="34" charset="-120"/>
              </a:rPr>
              <a:t>Injects</a:t>
            </a:r>
            <a:endParaRPr lang="en-US" sz="1200" dirty="0"/>
          </a:p>
        </p:txBody>
      </p:sp>
      <p:sp>
        <p:nvSpPr>
          <p:cNvPr id="11" name="Shape 9"/>
          <p:cNvSpPr/>
          <p:nvPr/>
        </p:nvSpPr>
        <p:spPr>
          <a:xfrm>
            <a:off x="7674559" y="347472"/>
            <a:ext cx="850392" cy="329184"/>
          </a:xfrm>
          <a:prstGeom prst="roundRect">
            <a:avLst>
              <a:gd name="adj" fmla="val 50000"/>
            </a:avLst>
          </a:prstGeom>
          <a:solidFill>
            <a:srgbClr val="FFFFFF"/>
          </a:solidFill>
          <a:ln w="12700">
            <a:solidFill>
              <a:srgbClr val="FFFFFF"/>
            </a:solidFill>
            <a:prstDash val="solid"/>
          </a:ln>
        </p:spPr>
      </p:sp>
      <p:sp>
        <p:nvSpPr>
          <p:cNvPr id="12" name="Text 10"/>
          <p:cNvSpPr txBox="1"/>
          <p:nvPr/>
        </p:nvSpPr>
        <p:spPr>
          <a:xfrm>
            <a:off x="7674559" y="347472"/>
            <a:ext cx="850392" cy="329184"/>
          </a:xfrm>
          <a:prstGeom prst="rect">
            <a:avLst/>
          </a:prstGeom>
          <a:noFill/>
          <a:ln/>
        </p:spPr>
        <p:txBody>
          <a:bodyPr wrap="square" lIns="0" tIns="0" rIns="0" bIns="0" rtlCol="0" anchor="ctr"/>
          <a:lstStyle/>
          <a:p>
            <a:pPr algn="ctr" indent="0" marL="0">
              <a:buNone/>
            </a:pPr>
            <a:r>
              <a:rPr lang="en-US" sz="1200" dirty="0">
                <a:solidFill>
                  <a:srgbClr val="465A69"/>
                </a:solidFill>
                <a:latin typeface="Calibri" pitchFamily="34" charset="0"/>
                <a:ea typeface="Calibri" pitchFamily="34" charset="-122"/>
                <a:cs typeface="Calibri" pitchFamily="34" charset="-120"/>
              </a:rPr>
              <a:t>Decide</a:t>
            </a:r>
            <a:endParaRPr lang="en-US" sz="1200" dirty="0"/>
          </a:p>
        </p:txBody>
      </p:sp>
      <p:sp>
        <p:nvSpPr>
          <p:cNvPr id="13" name="Shape 11"/>
          <p:cNvSpPr/>
          <p:nvPr/>
        </p:nvSpPr>
        <p:spPr>
          <a:xfrm>
            <a:off x="7011619" y="347472"/>
            <a:ext cx="589788" cy="329184"/>
          </a:xfrm>
          <a:prstGeom prst="roundRect">
            <a:avLst>
              <a:gd name="adj" fmla="val 50000"/>
            </a:avLst>
          </a:prstGeom>
          <a:solidFill>
            <a:srgbClr val="4C8068"/>
          </a:solidFill>
          <a:ln w="12700">
            <a:solidFill>
              <a:srgbClr val="4C8068"/>
            </a:solidFill>
            <a:prstDash val="solid"/>
          </a:ln>
        </p:spPr>
      </p:sp>
      <p:sp>
        <p:nvSpPr>
          <p:cNvPr id="14" name="Text 12"/>
          <p:cNvSpPr txBox="1"/>
          <p:nvPr/>
        </p:nvSpPr>
        <p:spPr>
          <a:xfrm>
            <a:off x="7011619" y="347472"/>
            <a:ext cx="589788"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T+0</a:t>
            </a:r>
            <a:endParaRPr lang="en-US" sz="1200" dirty="0"/>
          </a:p>
        </p:txBody>
      </p:sp>
      <p:sp>
        <p:nvSpPr>
          <p:cNvPr id="15" name="Shape 13"/>
          <p:cNvSpPr/>
          <p:nvPr/>
        </p:nvSpPr>
        <p:spPr>
          <a:xfrm>
            <a:off x="5740603" y="347472"/>
            <a:ext cx="1197864" cy="329184"/>
          </a:xfrm>
          <a:prstGeom prst="roundRect">
            <a:avLst>
              <a:gd name="adj" fmla="val 50000"/>
            </a:avLst>
          </a:prstGeom>
          <a:solidFill>
            <a:srgbClr val="F1F8F3"/>
          </a:solidFill>
          <a:ln w="12700">
            <a:solidFill>
              <a:srgbClr val="F1F8F3"/>
            </a:solidFill>
            <a:prstDash val="solid"/>
          </a:ln>
        </p:spPr>
      </p:sp>
      <p:sp>
        <p:nvSpPr>
          <p:cNvPr id="16" name="Text 14"/>
          <p:cNvSpPr txBox="1"/>
          <p:nvPr/>
        </p:nvSpPr>
        <p:spPr>
          <a:xfrm>
            <a:off x="5740603" y="347472"/>
            <a:ext cx="1197864" cy="329184"/>
          </a:xfrm>
          <a:prstGeom prst="rect">
            <a:avLst/>
          </a:prstGeom>
          <a:noFill/>
          <a:ln/>
        </p:spPr>
        <p:txBody>
          <a:bodyPr wrap="square" lIns="0" tIns="0" rIns="0" bIns="0" rtlCol="0" anchor="ctr"/>
          <a:lstStyle/>
          <a:p>
            <a:pPr algn="ctr" indent="0" marL="0">
              <a:buNone/>
            </a:pPr>
            <a:r>
              <a:rPr lang="en-US" sz="1200" dirty="0">
                <a:solidFill>
                  <a:srgbClr val="4C8068"/>
                </a:solidFill>
                <a:latin typeface="Calibri" pitchFamily="34" charset="0"/>
                <a:ea typeface="Calibri" pitchFamily="34" charset="-122"/>
                <a:cs typeface="Calibri" pitchFamily="34" charset="-120"/>
              </a:rPr>
              <a:t>Background</a:t>
            </a:r>
            <a:endParaRPr lang="en-US" sz="1200" dirty="0"/>
          </a:p>
        </p:txBody>
      </p:sp>
      <p:sp>
        <p:nvSpPr>
          <p:cNvPr id="17" name="Shape 15"/>
          <p:cNvSpPr/>
          <p:nvPr/>
        </p:nvSpPr>
        <p:spPr>
          <a:xfrm>
            <a:off x="548640" y="1600200"/>
            <a:ext cx="2377440" cy="4572000"/>
          </a:xfrm>
          <a:prstGeom prst="roundRect">
            <a:avLst>
              <a:gd name="adj" fmla="val 5385"/>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18" name="Text 16"/>
          <p:cNvSpPr txBox="1"/>
          <p:nvPr/>
        </p:nvSpPr>
        <p:spPr>
          <a:xfrm>
            <a:off x="822960" y="1783080"/>
            <a:ext cx="1874520" cy="320040"/>
          </a:xfrm>
          <a:prstGeom prst="rect">
            <a:avLst/>
          </a:prstGeom>
          <a:noFill/>
          <a:ln/>
        </p:spPr>
        <p:txBody>
          <a:bodyPr wrap="square" lIns="0" tIns="0" rIns="0" bIns="0" rtlCol="0" anchor="t"/>
          <a:lstStyle/>
          <a:p>
            <a:pPr indent="0" marL="0">
              <a:buNone/>
            </a:pPr>
            <a:r>
              <a:rPr lang="en-US" sz="1400" b="1" dirty="0">
                <a:solidFill>
                  <a:srgbClr val="465A69"/>
                </a:solidFill>
                <a:latin typeface="Calibri" pitchFamily="34" charset="0"/>
                <a:ea typeface="Calibri" pitchFamily="34" charset="-122"/>
                <a:cs typeface="Calibri" pitchFamily="34" charset="-120"/>
              </a:rPr>
              <a:t>Timeline</a:t>
            </a:r>
            <a:endParaRPr lang="en-US" sz="1400" dirty="0"/>
          </a:p>
        </p:txBody>
      </p:sp>
      <p:sp>
        <p:nvSpPr>
          <p:cNvPr id="19" name="Shape 17"/>
          <p:cNvSpPr/>
          <p:nvPr/>
        </p:nvSpPr>
        <p:spPr>
          <a:xfrm>
            <a:off x="905256" y="2551176"/>
            <a:ext cx="0" cy="257338"/>
          </a:xfrm>
          <a:prstGeom prst="line">
            <a:avLst/>
          </a:prstGeom>
          <a:noFill/>
          <a:ln w="19050">
            <a:solidFill>
              <a:srgbClr val="C9D5D2"/>
            </a:solidFill>
            <a:prstDash val="solid"/>
          </a:ln>
        </p:spPr>
      </p:sp>
      <p:sp>
        <p:nvSpPr>
          <p:cNvPr id="20" name="Shape 18"/>
          <p:cNvSpPr/>
          <p:nvPr/>
        </p:nvSpPr>
        <p:spPr>
          <a:xfrm>
            <a:off x="777240" y="2267712"/>
            <a:ext cx="256032" cy="256032"/>
          </a:xfrm>
          <a:prstGeom prst="ellipse">
            <a:avLst/>
          </a:prstGeom>
          <a:solidFill>
            <a:srgbClr val="4C8068"/>
          </a:solidFill>
          <a:ln w="12700">
            <a:solidFill>
              <a:srgbClr val="4C8068"/>
            </a:solidFill>
            <a:prstDash val="solid"/>
          </a:ln>
        </p:spPr>
      </p:sp>
      <p:sp>
        <p:nvSpPr>
          <p:cNvPr id="21" name="Text 19"/>
          <p:cNvSpPr txBox="1"/>
          <p:nvPr/>
        </p:nvSpPr>
        <p:spPr>
          <a:xfrm>
            <a:off x="1188720" y="2203704"/>
            <a:ext cx="1645920" cy="568234"/>
          </a:xfrm>
          <a:prstGeom prst="rect">
            <a:avLst/>
          </a:prstGeom>
          <a:noFill/>
          <a:ln/>
        </p:spPr>
        <p:txBody>
          <a:bodyPr wrap="square" lIns="0" tIns="0" rIns="0" bIns="0" rtlCol="0" anchor="t"/>
          <a:lstStyle/>
          <a:p>
            <a:pPr indent="0" marL="0">
              <a:buNone/>
            </a:pPr>
            <a:r>
              <a:rPr lang="en-US" sz="1200" b="1" dirty="0">
                <a:solidFill>
                  <a:srgbClr val="4C8068"/>
                </a:solidFill>
                <a:latin typeface="Calibri" pitchFamily="34" charset="0"/>
                <a:ea typeface="Calibri" pitchFamily="34" charset="-122"/>
                <a:cs typeface="Calibri" pitchFamily="34" charset="-120"/>
              </a:rPr>
              <a:t>T+0</a:t>
            </a:r>
            <a:endParaRPr lang="en-US" sz="1200" dirty="0"/>
          </a:p>
          <a:p>
            <a:pPr indent="0" marL="0">
              <a:buNone/>
            </a:pPr>
            <a:r>
              <a:rPr lang="en-US" sz="1200" b="1" dirty="0">
                <a:solidFill>
                  <a:srgbClr val="4C8068"/>
                </a:solidFill>
                <a:latin typeface="Calibri" pitchFamily="34" charset="0"/>
                <a:ea typeface="Calibri" pitchFamily="34" charset="-122"/>
                <a:cs typeface="Calibri" pitchFamily="34" charset="-120"/>
              </a:rPr>
              <a:t>Initial alert</a:t>
            </a:r>
            <a:endParaRPr lang="en-US" sz="1200" dirty="0"/>
          </a:p>
        </p:txBody>
      </p:sp>
      <p:sp>
        <p:nvSpPr>
          <p:cNvPr id="22" name="Shape 20"/>
          <p:cNvSpPr/>
          <p:nvPr/>
        </p:nvSpPr>
        <p:spPr>
          <a:xfrm>
            <a:off x="905256" y="3119410"/>
            <a:ext cx="0" cy="257338"/>
          </a:xfrm>
          <a:prstGeom prst="line">
            <a:avLst/>
          </a:prstGeom>
          <a:noFill/>
          <a:ln w="19050">
            <a:solidFill>
              <a:srgbClr val="C9D5D2"/>
            </a:solidFill>
            <a:prstDash val="solid"/>
          </a:ln>
        </p:spPr>
      </p:sp>
      <p:sp>
        <p:nvSpPr>
          <p:cNvPr id="23" name="Shape 21"/>
          <p:cNvSpPr/>
          <p:nvPr/>
        </p:nvSpPr>
        <p:spPr>
          <a:xfrm>
            <a:off x="777240" y="2835946"/>
            <a:ext cx="256032" cy="256032"/>
          </a:xfrm>
          <a:prstGeom prst="ellipse">
            <a:avLst/>
          </a:prstGeom>
          <a:solidFill>
            <a:srgbClr val="FFFFFF"/>
          </a:solidFill>
          <a:ln w="15875">
            <a:solidFill>
              <a:srgbClr val="C9D5D2"/>
            </a:solidFill>
            <a:prstDash val="solid"/>
          </a:ln>
        </p:spPr>
      </p:sp>
      <p:sp>
        <p:nvSpPr>
          <p:cNvPr id="24" name="Shape 22"/>
          <p:cNvSpPr/>
          <p:nvPr/>
        </p:nvSpPr>
        <p:spPr>
          <a:xfrm>
            <a:off x="905256" y="3687645"/>
            <a:ext cx="0" cy="257338"/>
          </a:xfrm>
          <a:prstGeom prst="line">
            <a:avLst/>
          </a:prstGeom>
          <a:noFill/>
          <a:ln w="19050">
            <a:solidFill>
              <a:srgbClr val="C9D5D2"/>
            </a:solidFill>
            <a:prstDash val="solid"/>
          </a:ln>
        </p:spPr>
      </p:sp>
      <p:sp>
        <p:nvSpPr>
          <p:cNvPr id="25" name="Shape 23"/>
          <p:cNvSpPr/>
          <p:nvPr/>
        </p:nvSpPr>
        <p:spPr>
          <a:xfrm>
            <a:off x="777240" y="3404181"/>
            <a:ext cx="256032" cy="256032"/>
          </a:xfrm>
          <a:prstGeom prst="ellipse">
            <a:avLst/>
          </a:prstGeom>
          <a:solidFill>
            <a:srgbClr val="FFFFFF"/>
          </a:solidFill>
          <a:ln w="15875">
            <a:solidFill>
              <a:srgbClr val="C9D5D2"/>
            </a:solidFill>
            <a:prstDash val="solid"/>
          </a:ln>
        </p:spPr>
      </p:sp>
      <p:sp>
        <p:nvSpPr>
          <p:cNvPr id="26" name="Shape 24"/>
          <p:cNvSpPr/>
          <p:nvPr/>
        </p:nvSpPr>
        <p:spPr>
          <a:xfrm>
            <a:off x="905256" y="4255879"/>
            <a:ext cx="0" cy="257338"/>
          </a:xfrm>
          <a:prstGeom prst="line">
            <a:avLst/>
          </a:prstGeom>
          <a:noFill/>
          <a:ln w="19050">
            <a:solidFill>
              <a:srgbClr val="C9D5D2"/>
            </a:solidFill>
            <a:prstDash val="solid"/>
          </a:ln>
        </p:spPr>
      </p:sp>
      <p:sp>
        <p:nvSpPr>
          <p:cNvPr id="27" name="Shape 25"/>
          <p:cNvSpPr/>
          <p:nvPr/>
        </p:nvSpPr>
        <p:spPr>
          <a:xfrm>
            <a:off x="777240" y="3972415"/>
            <a:ext cx="256032" cy="256032"/>
          </a:xfrm>
          <a:prstGeom prst="ellipse">
            <a:avLst/>
          </a:prstGeom>
          <a:solidFill>
            <a:srgbClr val="FFFFFF"/>
          </a:solidFill>
          <a:ln w="15875">
            <a:solidFill>
              <a:srgbClr val="C9D5D2"/>
            </a:solidFill>
            <a:prstDash val="solid"/>
          </a:ln>
        </p:spPr>
      </p:sp>
      <p:sp>
        <p:nvSpPr>
          <p:cNvPr id="28" name="Shape 26"/>
          <p:cNvSpPr/>
          <p:nvPr/>
        </p:nvSpPr>
        <p:spPr>
          <a:xfrm>
            <a:off x="905256" y="4824113"/>
            <a:ext cx="0" cy="257338"/>
          </a:xfrm>
          <a:prstGeom prst="line">
            <a:avLst/>
          </a:prstGeom>
          <a:noFill/>
          <a:ln w="19050">
            <a:solidFill>
              <a:srgbClr val="C9D5D2"/>
            </a:solidFill>
            <a:prstDash val="solid"/>
          </a:ln>
        </p:spPr>
      </p:sp>
      <p:sp>
        <p:nvSpPr>
          <p:cNvPr id="29" name="Shape 27"/>
          <p:cNvSpPr/>
          <p:nvPr/>
        </p:nvSpPr>
        <p:spPr>
          <a:xfrm>
            <a:off x="777240" y="4540649"/>
            <a:ext cx="256032" cy="256032"/>
          </a:xfrm>
          <a:prstGeom prst="ellipse">
            <a:avLst/>
          </a:prstGeom>
          <a:solidFill>
            <a:srgbClr val="FFFFFF"/>
          </a:solidFill>
          <a:ln w="15875">
            <a:solidFill>
              <a:srgbClr val="C9D5D2"/>
            </a:solidFill>
            <a:prstDash val="solid"/>
          </a:ln>
        </p:spPr>
      </p:sp>
      <p:sp>
        <p:nvSpPr>
          <p:cNvPr id="30" name="Shape 28"/>
          <p:cNvSpPr/>
          <p:nvPr/>
        </p:nvSpPr>
        <p:spPr>
          <a:xfrm>
            <a:off x="905256" y="5392347"/>
            <a:ext cx="0" cy="257338"/>
          </a:xfrm>
          <a:prstGeom prst="line">
            <a:avLst/>
          </a:prstGeom>
          <a:noFill/>
          <a:ln w="19050">
            <a:solidFill>
              <a:srgbClr val="C9D5D2"/>
            </a:solidFill>
            <a:prstDash val="solid"/>
          </a:ln>
        </p:spPr>
      </p:sp>
      <p:sp>
        <p:nvSpPr>
          <p:cNvPr id="31" name="Shape 29"/>
          <p:cNvSpPr/>
          <p:nvPr/>
        </p:nvSpPr>
        <p:spPr>
          <a:xfrm>
            <a:off x="777240" y="5108883"/>
            <a:ext cx="256032" cy="256032"/>
          </a:xfrm>
          <a:prstGeom prst="ellipse">
            <a:avLst/>
          </a:prstGeom>
          <a:solidFill>
            <a:srgbClr val="FFFFFF"/>
          </a:solidFill>
          <a:ln w="15875">
            <a:solidFill>
              <a:srgbClr val="C9D5D2"/>
            </a:solidFill>
            <a:prstDash val="solid"/>
          </a:ln>
        </p:spPr>
      </p:sp>
      <p:sp>
        <p:nvSpPr>
          <p:cNvPr id="32" name="Shape 30"/>
          <p:cNvSpPr/>
          <p:nvPr/>
        </p:nvSpPr>
        <p:spPr>
          <a:xfrm>
            <a:off x="777240" y="5677118"/>
            <a:ext cx="256032" cy="256032"/>
          </a:xfrm>
          <a:prstGeom prst="ellipse">
            <a:avLst/>
          </a:prstGeom>
          <a:solidFill>
            <a:srgbClr val="FFFFFF"/>
          </a:solidFill>
          <a:ln w="15875">
            <a:solidFill>
              <a:srgbClr val="C9D5D2"/>
            </a:solidFill>
            <a:prstDash val="solid"/>
          </a:ln>
        </p:spPr>
      </p:sp>
      <p:sp>
        <p:nvSpPr>
          <p:cNvPr id="33" name="Shape 31"/>
          <p:cNvSpPr/>
          <p:nvPr/>
        </p:nvSpPr>
        <p:spPr>
          <a:xfrm>
            <a:off x="3154680" y="1600200"/>
            <a:ext cx="5696712" cy="4572000"/>
          </a:xfrm>
          <a:prstGeom prst="roundRect">
            <a:avLst>
              <a:gd name="adj" fmla="val 2800"/>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34" name="Shape 32"/>
          <p:cNvSpPr/>
          <p:nvPr/>
        </p:nvSpPr>
        <p:spPr>
          <a:xfrm>
            <a:off x="3429000" y="1874520"/>
            <a:ext cx="2011680" cy="420624"/>
          </a:xfrm>
          <a:prstGeom prst="roundRect">
            <a:avLst>
              <a:gd name="adj" fmla="val 50000"/>
            </a:avLst>
          </a:prstGeom>
          <a:solidFill>
            <a:srgbClr val="4C8068"/>
          </a:solidFill>
          <a:ln w="12700">
            <a:solidFill>
              <a:srgbClr val="4C8068"/>
            </a:solidFill>
            <a:prstDash val="solid"/>
          </a:ln>
        </p:spPr>
      </p:sp>
      <p:pic>
        <p:nvPicPr>
          <p:cNvPr id="35" name="Image 0" descr="preencoded.png">    </p:cNvPr>
          <p:cNvPicPr>
            <a:picLocks noChangeAspect="1"/>
          </p:cNvPicPr>
          <p:nvPr/>
        </p:nvPicPr>
        <p:blipFill>
          <a:blip r:embed="rId1"/>
          <a:stretch>
            <a:fillRect/>
          </a:stretch>
        </p:blipFill>
        <p:spPr>
          <a:xfrm>
            <a:off x="3566160" y="1947672"/>
            <a:ext cx="256032" cy="256032"/>
          </a:xfrm>
          <a:prstGeom prst="rect">
            <a:avLst/>
          </a:prstGeom>
        </p:spPr>
      </p:pic>
      <p:sp>
        <p:nvSpPr>
          <p:cNvPr id="36" name="Text 33"/>
          <p:cNvSpPr txBox="1"/>
          <p:nvPr/>
        </p:nvSpPr>
        <p:spPr>
          <a:xfrm>
            <a:off x="3886200" y="1874520"/>
            <a:ext cx="1554480" cy="42062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T+0, 8:05 AM</a:t>
            </a:r>
            <a:endParaRPr lang="en-US" sz="1400" dirty="0"/>
          </a:p>
        </p:txBody>
      </p:sp>
      <p:sp>
        <p:nvSpPr>
          <p:cNvPr id="37" name="Text 34"/>
          <p:cNvSpPr txBox="1"/>
          <p:nvPr/>
        </p:nvSpPr>
        <p:spPr>
          <a:xfrm>
            <a:off x="3429000" y="2514600"/>
            <a:ext cx="5166360" cy="3108960"/>
          </a:xfrm>
          <a:prstGeom prst="rect">
            <a:avLst/>
          </a:prstGeom>
          <a:noFill/>
          <a:ln/>
        </p:spPr>
        <p:txBody>
          <a:bodyPr wrap="square" lIns="0" tIns="0" rIns="0" bIns="0" rtlCol="0" anchor="t"/>
          <a:lstStyle/>
          <a:p>
            <a:pPr indent="0" marL="0">
              <a:buNone/>
            </a:pPr>
            <a:r>
              <a:rPr lang="en-US" sz="2000" dirty="0">
                <a:solidFill>
                  <a:srgbClr val="1E2E3A"/>
                </a:solidFill>
                <a:latin typeface="Calibri" pitchFamily="34" charset="0"/>
                <a:ea typeface="Calibri" pitchFamily="34" charset="-122"/>
                <a:cs typeface="Calibri" pitchFamily="34" charset="-120"/>
              </a:rPr>
              <a:t>At 8:05 AM, employees begin reporting that they cannot access Teams. Some users are also having intermittent problems authenticating to Microsoft 365. The cause and extent are unknown.</a:t>
            </a:r>
            <a:endParaRPr lang="en-US" sz="2000" dirty="0"/>
          </a:p>
        </p:txBody>
      </p:sp>
      <p:sp>
        <p:nvSpPr>
          <p:cNvPr id="38" name="Shape 35"/>
          <p:cNvSpPr/>
          <p:nvPr/>
        </p:nvSpPr>
        <p:spPr>
          <a:xfrm>
            <a:off x="9079992" y="1600200"/>
            <a:ext cx="2560320" cy="4572000"/>
          </a:xfrm>
          <a:prstGeom prst="roundRect">
            <a:avLst>
              <a:gd name="adj" fmla="val 5000"/>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39" name="Text 36"/>
          <p:cNvSpPr txBox="1"/>
          <p:nvPr/>
        </p:nvSpPr>
        <p:spPr>
          <a:xfrm>
            <a:off x="9262872" y="1728216"/>
            <a:ext cx="2194560" cy="457200"/>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User reports (simulated)</a:t>
            </a:r>
            <a:endParaRPr lang="en-US" sz="1300" dirty="0"/>
          </a:p>
        </p:txBody>
      </p:sp>
      <p:sp>
        <p:nvSpPr>
          <p:cNvPr id="40" name="Shape 37"/>
          <p:cNvSpPr/>
          <p:nvPr/>
        </p:nvSpPr>
        <p:spPr>
          <a:xfrm>
            <a:off x="9262872" y="2221992"/>
            <a:ext cx="2194560" cy="3767328"/>
          </a:xfrm>
          <a:prstGeom prst="roundRect">
            <a:avLst>
              <a:gd name="adj" fmla="val 3333"/>
            </a:avLst>
          </a:prstGeom>
          <a:solidFill>
            <a:srgbClr val="FFFFFF"/>
          </a:solidFill>
          <a:ln w="9525">
            <a:solidFill>
              <a:srgbClr val="C9D3DE"/>
            </a:solidFill>
            <a:prstDash val="solid"/>
          </a:ln>
        </p:spPr>
      </p:sp>
      <p:sp>
        <p:nvSpPr>
          <p:cNvPr id="41" name="Text 38"/>
          <p:cNvSpPr txBox="1"/>
          <p:nvPr/>
        </p:nvSpPr>
        <p:spPr>
          <a:xfrm>
            <a:off x="9381744" y="2386584"/>
            <a:ext cx="1956816" cy="235204"/>
          </a:xfrm>
          <a:prstGeom prst="rect">
            <a:avLst/>
          </a:prstGeom>
          <a:noFill/>
          <a:ln/>
        </p:spPr>
        <p:txBody>
          <a:bodyPr wrap="square" lIns="0" tIns="0" rIns="0" bIns="0" rtlCol="0" anchor="t"/>
          <a:lstStyle/>
          <a:p>
            <a:pPr indent="0" marL="0">
              <a:buNone/>
            </a:pPr>
            <a:r>
              <a:rPr lang="en-US" sz="1400" b="1" dirty="0">
                <a:solidFill>
                  <a:srgbClr val="1E2E3A"/>
                </a:solidFill>
                <a:latin typeface="Calibri" pitchFamily="34" charset="0"/>
                <a:ea typeface="Calibri" pitchFamily="34" charset="-122"/>
                <a:cs typeface="Calibri" pitchFamily="34" charset="-120"/>
              </a:rPr>
              <a:t>From: </a:t>
            </a:r>
            <a:pPr indent="0" marL="0">
              <a:buNone/>
            </a:pPr>
            <a:r>
              <a:rPr lang="en-US" sz="1400" dirty="0">
                <a:solidFill>
                  <a:srgbClr val="1E2E3A"/>
                </a:solidFill>
                <a:latin typeface="Calibri" pitchFamily="34" charset="0"/>
                <a:ea typeface="Calibri" pitchFamily="34" charset="-122"/>
                <a:cs typeface="Calibri" pitchFamily="34" charset="-120"/>
              </a:rPr>
              <a:t>Employee</a:t>
            </a:r>
            <a:endParaRPr lang="en-US" sz="1400" dirty="0"/>
          </a:p>
        </p:txBody>
      </p:sp>
      <p:sp>
        <p:nvSpPr>
          <p:cNvPr id="42" name="Text 39"/>
          <p:cNvSpPr txBox="1"/>
          <p:nvPr/>
        </p:nvSpPr>
        <p:spPr>
          <a:xfrm>
            <a:off x="9381744" y="2621788"/>
            <a:ext cx="1956816" cy="452120"/>
          </a:xfrm>
          <a:prstGeom prst="rect">
            <a:avLst/>
          </a:prstGeom>
          <a:noFill/>
          <a:ln/>
        </p:spPr>
        <p:txBody>
          <a:bodyPr wrap="square" lIns="0" tIns="0" rIns="0" bIns="0" rtlCol="0" anchor="t"/>
          <a:lstStyle/>
          <a:p>
            <a:pPr indent="0" marL="0">
              <a:buNone/>
            </a:pPr>
            <a:r>
              <a:rPr lang="en-US" sz="1400" b="1" dirty="0">
                <a:solidFill>
                  <a:srgbClr val="1E2E3A"/>
                </a:solidFill>
                <a:latin typeface="Calibri" pitchFamily="34" charset="0"/>
                <a:ea typeface="Calibri" pitchFamily="34" charset="-122"/>
                <a:cs typeface="Calibri" pitchFamily="34" charset="-120"/>
              </a:rPr>
              <a:t>Subject: </a:t>
            </a:r>
            <a:pPr indent="0" marL="0">
              <a:buNone/>
            </a:pPr>
            <a:r>
              <a:rPr lang="en-US" sz="1400" dirty="0">
                <a:solidFill>
                  <a:srgbClr val="1E2E3A"/>
                </a:solidFill>
                <a:latin typeface="Calibri" pitchFamily="34" charset="0"/>
                <a:ea typeface="Calibri" pitchFamily="34" charset="-122"/>
                <a:cs typeface="Calibri" pitchFamily="34" charset="-120"/>
              </a:rPr>
              <a:t>Teams not working</a:t>
            </a:r>
            <a:endParaRPr lang="en-US" sz="1400" dirty="0"/>
          </a:p>
        </p:txBody>
      </p:sp>
      <p:sp>
        <p:nvSpPr>
          <p:cNvPr id="43" name="Text 40"/>
          <p:cNvSpPr txBox="1"/>
          <p:nvPr/>
        </p:nvSpPr>
        <p:spPr>
          <a:xfrm>
            <a:off x="9381744" y="3147060"/>
            <a:ext cx="1956816" cy="1121156"/>
          </a:xfrm>
          <a:prstGeom prst="rect">
            <a:avLst/>
          </a:prstGeom>
          <a:noFill/>
          <a:ln/>
        </p:spPr>
        <p:txBody>
          <a:bodyPr wrap="square" lIns="0" tIns="0" rIns="0" bIns="0" rtlCol="0" anchor="t"/>
          <a:lstStyle/>
          <a:p>
            <a:pPr indent="0" marL="0">
              <a:buNone/>
            </a:pPr>
            <a:r>
              <a:rPr lang="en-US" sz="1400" dirty="0">
                <a:solidFill>
                  <a:srgbClr val="1E2E3A"/>
                </a:solidFill>
                <a:latin typeface="Calibri" pitchFamily="34" charset="0"/>
                <a:ea typeface="Calibri" pitchFamily="34" charset="-122"/>
                <a:cs typeface="Calibri" pitchFamily="34" charset="-120"/>
              </a:rPr>
              <a:t>I can't sign in to Teams and Outlook is not loading. Is anyone else seeing this?</a:t>
            </a:r>
            <a:endParaRPr lang="en-US" sz="1400" dirty="0"/>
          </a:p>
        </p:txBody>
      </p:sp>
      <p:sp>
        <p:nvSpPr>
          <p:cNvPr id="44" name="Text 41"/>
          <p:cNvSpPr txBox="1"/>
          <p:nvPr/>
        </p:nvSpPr>
        <p:spPr>
          <a:xfrm>
            <a:off x="9381744" y="4350512"/>
            <a:ext cx="1956816" cy="228600"/>
          </a:xfrm>
          <a:prstGeom prst="rect">
            <a:avLst/>
          </a:prstGeom>
          <a:noFill/>
          <a:ln/>
        </p:spPr>
        <p:txBody>
          <a:bodyPr wrap="square" lIns="0" tIns="0" rIns="0" bIns="0" rtlCol="0" anchor="t"/>
          <a:lstStyle/>
          <a:p>
            <a:pPr indent="0" marL="0">
              <a:buNone/>
            </a:pPr>
            <a:r>
              <a:rPr lang="en-US" sz="1200" dirty="0">
                <a:solidFill>
                  <a:srgbClr val="465A69"/>
                </a:solidFill>
                <a:latin typeface="Calibri" pitchFamily="34" charset="0"/>
                <a:ea typeface="Calibri" pitchFamily="34" charset="-122"/>
                <a:cs typeface="Calibri" pitchFamily="34" charset="-120"/>
              </a:rPr>
              <a:t>8:05 AM</a:t>
            </a:r>
            <a:endParaRPr lang="en-US" sz="1200" dirty="0"/>
          </a:p>
        </p:txBody>
      </p:sp>
      <p:sp>
        <p:nvSpPr>
          <p:cNvPr id="45" name="Text 42"/>
          <p:cNvSpPr txBox="1"/>
          <p:nvPr/>
        </p:nvSpPr>
        <p:spPr>
          <a:xfrm>
            <a:off x="548640" y="6254496"/>
            <a:ext cx="11091672" cy="256032"/>
          </a:xfrm>
          <a:prstGeom prst="rect">
            <a:avLst/>
          </a:prstGeom>
          <a:noFill/>
          <a:ln/>
        </p:spPr>
        <p:txBody>
          <a:bodyPr wrap="square" lIns="0" tIns="0" rIns="0" bIns="0" rtlCol="0" anchor="ctr"/>
          <a:lstStyle/>
          <a:p>
            <a:pPr indent="0" marL="0">
              <a:buNone/>
            </a:pPr>
            <a:r>
              <a:rPr lang="en-US" sz="1200" b="1" dirty="0">
                <a:solidFill>
                  <a:srgbClr val="465A69"/>
                </a:solidFill>
                <a:latin typeface="Calibri" pitchFamily="34" charset="0"/>
                <a:ea typeface="Calibri" pitchFamily="34" charset="-122"/>
                <a:cs typeface="Calibri" pitchFamily="34" charset="-120"/>
              </a:rPr>
              <a:t>Acronyms:  </a:t>
            </a:r>
            <a:pPr indent="0" marL="0">
              <a:buNone/>
            </a:pPr>
            <a:r>
              <a:rPr lang="en-US" sz="1200" dirty="0">
                <a:solidFill>
                  <a:srgbClr val="465A69"/>
                </a:solidFill>
                <a:latin typeface="Calibri" pitchFamily="34" charset="0"/>
                <a:ea typeface="Calibri" pitchFamily="34" charset="-122"/>
                <a:cs typeface="Calibri" pitchFamily="34" charset="-120"/>
              </a:rPr>
              <a:t>T+: time since the first signal</a:t>
            </a:r>
            <a:endParaRPr lang="en-US" sz="1200" dirty="0"/>
          </a:p>
        </p:txBody>
      </p:sp>
      <p:sp>
        <p:nvSpPr>
          <p:cNvPr id="46" name="Shape 43"/>
          <p:cNvSpPr/>
          <p:nvPr/>
        </p:nvSpPr>
        <p:spPr>
          <a:xfrm>
            <a:off x="548640" y="6537960"/>
            <a:ext cx="763524" cy="274320"/>
          </a:xfrm>
          <a:prstGeom prst="roundRect">
            <a:avLst>
              <a:gd name="adj" fmla="val 50000"/>
            </a:avLst>
          </a:prstGeom>
          <a:solidFill>
            <a:srgbClr val="E4ECF2"/>
          </a:solidFill>
          <a:ln w="12700">
            <a:solidFill>
              <a:srgbClr val="E4ECF2"/>
            </a:solidFill>
            <a:prstDash val="solid"/>
          </a:ln>
        </p:spPr>
      </p:sp>
      <p:sp>
        <p:nvSpPr>
          <p:cNvPr id="47" name="Text 44"/>
          <p:cNvSpPr txBox="1"/>
          <p:nvPr/>
        </p:nvSpPr>
        <p:spPr>
          <a:xfrm>
            <a:off x="548640" y="6537960"/>
            <a:ext cx="763524" cy="274320"/>
          </a:xfrm>
          <a:prstGeom prst="rect">
            <a:avLst/>
          </a:prstGeom>
          <a:noFill/>
          <a:ln/>
        </p:spPr>
        <p:txBody>
          <a:bodyPr wrap="square" lIns="0" tIns="0" rIns="0" bIns="0" rtlCol="0" anchor="ctr"/>
          <a:lstStyle/>
          <a:p>
            <a:pPr algn="ctr" indent="0" marL="0">
              <a:buNone/>
            </a:pPr>
            <a:r>
              <a:rPr lang="en-US" sz="1200" b="1" dirty="0">
                <a:solidFill>
                  <a:srgbClr val="23405A"/>
                </a:solidFill>
                <a:latin typeface="Calibri" pitchFamily="34" charset="0"/>
                <a:ea typeface="Calibri" pitchFamily="34" charset="-122"/>
                <a:cs typeface="Calibri" pitchFamily="34" charset="-120"/>
              </a:rPr>
              <a:t>Start</a:t>
            </a:r>
            <a:endParaRPr lang="en-US" sz="1200" dirty="0"/>
          </a:p>
        </p:txBody>
      </p:sp>
      <p:pic>
        <p:nvPicPr>
          <p:cNvPr id="48" name="Image 1" descr="preencoded.png">
            <a:hlinkClick r:id="rId3" tooltip="Go to Start" action="ppaction://hlinksldjump"/>
          </p:cNvPr>
          <p:cNvPicPr>
            <a:picLocks noChangeAspect="1"/>
          </p:cNvPicPr>
          <p:nvPr/>
        </p:nvPicPr>
        <p:blipFill>
          <a:blip r:embed="rId2"/>
          <a:stretch>
            <a:fillRect/>
          </a:stretch>
        </p:blipFill>
        <p:spPr>
          <a:xfrm>
            <a:off x="548640" y="6537960"/>
            <a:ext cx="763524" cy="274320"/>
          </a:xfrm>
          <a:prstGeom prst="rect">
            <a:avLst/>
          </a:prstGeom>
        </p:spPr>
      </p:pic>
      <p:sp>
        <p:nvSpPr>
          <p:cNvPr id="49" name="Shape 45"/>
          <p:cNvSpPr/>
          <p:nvPr/>
        </p:nvSpPr>
        <p:spPr>
          <a:xfrm>
            <a:off x="1385316" y="6537960"/>
            <a:ext cx="1197864" cy="274320"/>
          </a:xfrm>
          <a:prstGeom prst="roundRect">
            <a:avLst>
              <a:gd name="adj" fmla="val 50000"/>
            </a:avLst>
          </a:prstGeom>
          <a:solidFill>
            <a:srgbClr val="F1F6FA"/>
          </a:solidFill>
          <a:ln w="12700">
            <a:solidFill>
              <a:srgbClr val="F1F6FA"/>
            </a:solidFill>
            <a:prstDash val="solid"/>
          </a:ln>
        </p:spPr>
      </p:sp>
      <p:sp>
        <p:nvSpPr>
          <p:cNvPr id="50" name="Text 46"/>
          <p:cNvSpPr txBox="1"/>
          <p:nvPr/>
        </p:nvSpPr>
        <p:spPr>
          <a:xfrm>
            <a:off x="1385316" y="6537960"/>
            <a:ext cx="1197864" cy="274320"/>
          </a:xfrm>
          <a:prstGeom prst="rect">
            <a:avLst/>
          </a:prstGeom>
          <a:noFill/>
          <a:ln/>
        </p:spPr>
        <p:txBody>
          <a:bodyPr wrap="square" lIns="0" tIns="0" rIns="0" bIns="0" rtlCol="0" anchor="ctr"/>
          <a:lstStyle/>
          <a:p>
            <a:pPr algn="ctr" indent="0" marL="0">
              <a:buNone/>
            </a:pPr>
            <a:r>
              <a:rPr lang="en-US" sz="1200" b="1" dirty="0">
                <a:solidFill>
                  <a:srgbClr val="3F6E8C"/>
                </a:solidFill>
                <a:latin typeface="Calibri" pitchFamily="34" charset="0"/>
                <a:ea typeface="Calibri" pitchFamily="34" charset="-122"/>
                <a:cs typeface="Calibri" pitchFamily="34" charset="-120"/>
              </a:rPr>
              <a:t>Scenario 1</a:t>
            </a:r>
            <a:endParaRPr lang="en-US" sz="1200" dirty="0"/>
          </a:p>
        </p:txBody>
      </p:sp>
      <p:pic>
        <p:nvPicPr>
          <p:cNvPr id="51" name="Image 2" descr="preencoded.png">
            <a:hlinkClick r:id="rId5" tooltip="Go to Scenario 1" action="ppaction://hlinksldjump"/>
          </p:cNvPr>
          <p:cNvPicPr>
            <a:picLocks noChangeAspect="1"/>
          </p:cNvPicPr>
          <p:nvPr/>
        </p:nvPicPr>
        <p:blipFill>
          <a:blip r:embed="rId4"/>
          <a:stretch>
            <a:fillRect/>
          </a:stretch>
        </p:blipFill>
        <p:spPr>
          <a:xfrm>
            <a:off x="1385316" y="6537960"/>
            <a:ext cx="1197864" cy="274320"/>
          </a:xfrm>
          <a:prstGeom prst="rect">
            <a:avLst/>
          </a:prstGeom>
        </p:spPr>
      </p:pic>
      <p:sp>
        <p:nvSpPr>
          <p:cNvPr id="52" name="Shape 47"/>
          <p:cNvSpPr/>
          <p:nvPr/>
        </p:nvSpPr>
        <p:spPr>
          <a:xfrm>
            <a:off x="2656332" y="6537960"/>
            <a:ext cx="1197864" cy="274320"/>
          </a:xfrm>
          <a:prstGeom prst="roundRect">
            <a:avLst>
              <a:gd name="adj" fmla="val 50000"/>
            </a:avLst>
          </a:prstGeom>
          <a:solidFill>
            <a:srgbClr val="4C8068"/>
          </a:solidFill>
          <a:ln w="12700">
            <a:solidFill>
              <a:srgbClr val="4C8068"/>
            </a:solidFill>
            <a:prstDash val="solid"/>
          </a:ln>
        </p:spPr>
      </p:sp>
      <p:sp>
        <p:nvSpPr>
          <p:cNvPr id="53" name="Text 48"/>
          <p:cNvSpPr txBox="1"/>
          <p:nvPr/>
        </p:nvSpPr>
        <p:spPr>
          <a:xfrm>
            <a:off x="2656332" y="6537960"/>
            <a:ext cx="1197864"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Scenario 2</a:t>
            </a:r>
            <a:endParaRPr lang="en-US" sz="1200" dirty="0"/>
          </a:p>
        </p:txBody>
      </p:sp>
      <p:pic>
        <p:nvPicPr>
          <p:cNvPr id="54" name="Image 3" descr="preencoded.png">
            <a:hlinkClick r:id="rId7" tooltip="Go to Scenario 2" action="ppaction://hlinksldjump"/>
          </p:cNvPr>
          <p:cNvPicPr>
            <a:picLocks noChangeAspect="1"/>
          </p:cNvPicPr>
          <p:nvPr/>
        </p:nvPicPr>
        <p:blipFill>
          <a:blip r:embed="rId6"/>
          <a:stretch>
            <a:fillRect/>
          </a:stretch>
        </p:blipFill>
        <p:spPr>
          <a:xfrm>
            <a:off x="2656332" y="6537960"/>
            <a:ext cx="1197864" cy="274320"/>
          </a:xfrm>
          <a:prstGeom prst="rect">
            <a:avLst/>
          </a:prstGeom>
        </p:spPr>
      </p:pic>
      <p:sp>
        <p:nvSpPr>
          <p:cNvPr id="55" name="Shape 49"/>
          <p:cNvSpPr/>
          <p:nvPr/>
        </p:nvSpPr>
        <p:spPr>
          <a:xfrm>
            <a:off x="3927348" y="6537960"/>
            <a:ext cx="1197864" cy="274320"/>
          </a:xfrm>
          <a:prstGeom prst="roundRect">
            <a:avLst>
              <a:gd name="adj" fmla="val 50000"/>
            </a:avLst>
          </a:prstGeom>
          <a:solidFill>
            <a:srgbClr val="F6F3FA"/>
          </a:solidFill>
          <a:ln w="12700">
            <a:solidFill>
              <a:srgbClr val="F6F3FA"/>
            </a:solidFill>
            <a:prstDash val="solid"/>
          </a:ln>
        </p:spPr>
      </p:sp>
      <p:sp>
        <p:nvSpPr>
          <p:cNvPr id="56" name="Text 50"/>
          <p:cNvSpPr txBox="1"/>
          <p:nvPr/>
        </p:nvSpPr>
        <p:spPr>
          <a:xfrm>
            <a:off x="3927348" y="6537960"/>
            <a:ext cx="1197864" cy="274320"/>
          </a:xfrm>
          <a:prstGeom prst="rect">
            <a:avLst/>
          </a:prstGeom>
          <a:noFill/>
          <a:ln/>
        </p:spPr>
        <p:txBody>
          <a:bodyPr wrap="square" lIns="0" tIns="0" rIns="0" bIns="0" rtlCol="0" anchor="ctr"/>
          <a:lstStyle/>
          <a:p>
            <a:pPr algn="ctr" indent="0" marL="0">
              <a:buNone/>
            </a:pPr>
            <a:r>
              <a:rPr lang="en-US" sz="1200" b="1" dirty="0">
                <a:solidFill>
                  <a:srgbClr val="6E5E94"/>
                </a:solidFill>
                <a:latin typeface="Calibri" pitchFamily="34" charset="0"/>
                <a:ea typeface="Calibri" pitchFamily="34" charset="-122"/>
                <a:cs typeface="Calibri" pitchFamily="34" charset="-120"/>
              </a:rPr>
              <a:t>Scenario 3</a:t>
            </a:r>
            <a:endParaRPr lang="en-US" sz="1200" dirty="0"/>
          </a:p>
        </p:txBody>
      </p:sp>
      <p:pic>
        <p:nvPicPr>
          <p:cNvPr id="57" name="Image 4" descr="preencoded.png">
            <a:hlinkClick r:id="rId9" tooltip="Go to Scenario 3" action="ppaction://hlinksldjump"/>
          </p:cNvPr>
          <p:cNvPicPr>
            <a:picLocks noChangeAspect="1"/>
          </p:cNvPicPr>
          <p:nvPr/>
        </p:nvPicPr>
        <p:blipFill>
          <a:blip r:embed="rId8"/>
          <a:stretch>
            <a:fillRect/>
          </a:stretch>
        </p:blipFill>
        <p:spPr>
          <a:xfrm>
            <a:off x="3927348" y="6537960"/>
            <a:ext cx="1197864" cy="274320"/>
          </a:xfrm>
          <a:prstGeom prst="rect">
            <a:avLst/>
          </a:prstGeom>
        </p:spPr>
      </p:pic>
      <p:sp>
        <p:nvSpPr>
          <p:cNvPr id="58" name="Shape 51"/>
          <p:cNvSpPr/>
          <p:nvPr/>
        </p:nvSpPr>
        <p:spPr>
          <a:xfrm>
            <a:off x="5198364" y="6537960"/>
            <a:ext cx="937260" cy="274320"/>
          </a:xfrm>
          <a:prstGeom prst="roundRect">
            <a:avLst>
              <a:gd name="adj" fmla="val 50000"/>
            </a:avLst>
          </a:prstGeom>
          <a:solidFill>
            <a:srgbClr val="E4ECF2"/>
          </a:solidFill>
          <a:ln w="12700">
            <a:solidFill>
              <a:srgbClr val="E4ECF2"/>
            </a:solidFill>
            <a:prstDash val="solid"/>
          </a:ln>
        </p:spPr>
      </p:sp>
      <p:sp>
        <p:nvSpPr>
          <p:cNvPr id="59" name="Text 52"/>
          <p:cNvSpPr txBox="1"/>
          <p:nvPr/>
        </p:nvSpPr>
        <p:spPr>
          <a:xfrm>
            <a:off x="5198364" y="6537960"/>
            <a:ext cx="937260" cy="274320"/>
          </a:xfrm>
          <a:prstGeom prst="rect">
            <a:avLst/>
          </a:prstGeom>
          <a:noFill/>
          <a:ln/>
        </p:spPr>
        <p:txBody>
          <a:bodyPr wrap="square" lIns="0" tIns="0" rIns="0" bIns="0" rtlCol="0" anchor="ctr"/>
          <a:lstStyle/>
          <a:p>
            <a:pPr algn="ctr" indent="0" marL="0">
              <a:buNone/>
            </a:pPr>
            <a:r>
              <a:rPr lang="en-US" sz="1200" b="1" dirty="0">
                <a:solidFill>
                  <a:srgbClr val="23405A"/>
                </a:solidFill>
                <a:latin typeface="Calibri" pitchFamily="34" charset="0"/>
                <a:ea typeface="Calibri" pitchFamily="34" charset="-122"/>
                <a:cs typeface="Calibri" pitchFamily="34" charset="-120"/>
              </a:rPr>
              <a:t>Closing</a:t>
            </a:r>
            <a:endParaRPr lang="en-US" sz="1200" dirty="0"/>
          </a:p>
        </p:txBody>
      </p:sp>
      <p:pic>
        <p:nvPicPr>
          <p:cNvPr id="60" name="Image 5" descr="preencoded.png">
            <a:hlinkClick r:id="rId11" tooltip="Go to Closing" action="ppaction://hlinksldjump"/>
          </p:cNvPr>
          <p:cNvPicPr>
            <a:picLocks noChangeAspect="1"/>
          </p:cNvPicPr>
          <p:nvPr/>
        </p:nvPicPr>
        <p:blipFill>
          <a:blip r:embed="rId10"/>
          <a:stretch>
            <a:fillRect/>
          </a:stretch>
        </p:blipFill>
        <p:spPr>
          <a:xfrm>
            <a:off x="5198364" y="6537960"/>
            <a:ext cx="937260" cy="274320"/>
          </a:xfrm>
          <a:prstGeom prst="rect">
            <a:avLst/>
          </a:prstGeom>
        </p:spPr>
      </p:pic>
      <p:sp>
        <p:nvSpPr>
          <p:cNvPr id="61" name="Text 53"/>
          <p:cNvSpPr txBox="1"/>
          <p:nvPr/>
        </p:nvSpPr>
        <p:spPr>
          <a:xfrm>
            <a:off x="11277295" y="6537960"/>
            <a:ext cx="365760" cy="274320"/>
          </a:xfrm>
          <a:prstGeom prst="rect">
            <a:avLst/>
          </a:prstGeom>
          <a:noFill/>
          <a:ln/>
        </p:spPr>
        <p:txBody>
          <a:bodyPr wrap="square" lIns="0" tIns="0" rIns="0" bIns="0" rtlCol="0" anchor="ctr"/>
          <a:lstStyle/>
          <a:p>
            <a:pPr algn="r" indent="0" marL="0">
              <a:buNone/>
            </a:pPr>
            <a:r>
              <a:rPr lang="en-US" sz="1200" dirty="0">
                <a:solidFill>
                  <a:srgbClr val="465A69"/>
                </a:solidFill>
                <a:latin typeface="Calibri" pitchFamily="34" charset="0"/>
                <a:ea typeface="Calibri" pitchFamily="34" charset="-122"/>
                <a:cs typeface="Calibri" pitchFamily="34" charset="-120"/>
              </a:rPr>
              <a:t>25</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E6F2E9"/>
        </a:solidFill>
      </p:bgPr>
    </p:bg>
    <p:spTree>
      <p:nvGrpSpPr>
        <p:cNvPr id="1" name=""/>
        <p:cNvGrpSpPr/>
        <p:nvPr/>
      </p:nvGrpSpPr>
      <p:grpSpPr>
        <a:xfrm>
          <a:off x="0" y="0"/>
          <a:ext cx="0" cy="0"/>
          <a:chOff x="0" y="0"/>
          <a:chExt cx="0" cy="0"/>
        </a:xfrm>
      </p:grpSpPr>
      <p:sp>
        <p:nvSpPr>
          <p:cNvPr id="2" name="Shape 0"/>
          <p:cNvSpPr/>
          <p:nvPr/>
        </p:nvSpPr>
        <p:spPr>
          <a:xfrm>
            <a:off x="548640" y="347472"/>
            <a:ext cx="2843784" cy="329184"/>
          </a:xfrm>
          <a:prstGeom prst="roundRect">
            <a:avLst>
              <a:gd name="adj" fmla="val 50000"/>
            </a:avLst>
          </a:prstGeom>
          <a:solidFill>
            <a:srgbClr val="F1F8F3"/>
          </a:solidFill>
          <a:ln w="12700">
            <a:solidFill>
              <a:srgbClr val="F1F8F3"/>
            </a:solidFill>
            <a:prstDash val="solid"/>
          </a:ln>
        </p:spPr>
      </p:sp>
      <p:sp>
        <p:nvSpPr>
          <p:cNvPr id="3" name="Text 1"/>
          <p:cNvSpPr txBox="1"/>
          <p:nvPr/>
        </p:nvSpPr>
        <p:spPr>
          <a:xfrm>
            <a:off x="548640" y="347472"/>
            <a:ext cx="2843784" cy="329184"/>
          </a:xfrm>
          <a:prstGeom prst="rect">
            <a:avLst/>
          </a:prstGeom>
          <a:noFill/>
          <a:ln/>
        </p:spPr>
        <p:txBody>
          <a:bodyPr wrap="square" lIns="0" tIns="0" rIns="0" bIns="0" rtlCol="0" anchor="ctr"/>
          <a:lstStyle/>
          <a:p>
            <a:pPr algn="ctr" indent="0" marL="0">
              <a:buNone/>
            </a:pPr>
            <a:r>
              <a:rPr lang="en-US" sz="1200" b="1" dirty="0">
                <a:solidFill>
                  <a:srgbClr val="4C8068"/>
                </a:solidFill>
                <a:latin typeface="Calibri" pitchFamily="34" charset="0"/>
                <a:ea typeface="Calibri" pitchFamily="34" charset="-122"/>
                <a:cs typeface="Calibri" pitchFamily="34" charset="-120"/>
              </a:rPr>
              <a:t>Scenario 2: Disaster Recovery</a:t>
            </a:r>
            <a:endParaRPr lang="en-US" sz="1200" dirty="0"/>
          </a:p>
        </p:txBody>
      </p:sp>
      <p:sp>
        <p:nvSpPr>
          <p:cNvPr id="4" name="Text 2"/>
          <p:cNvSpPr txBox="1"/>
          <p:nvPr/>
        </p:nvSpPr>
        <p:spPr>
          <a:xfrm>
            <a:off x="548640" y="749808"/>
            <a:ext cx="11064240" cy="640080"/>
          </a:xfrm>
          <a:prstGeom prst="rect">
            <a:avLst/>
          </a:prstGeom>
          <a:noFill/>
          <a:ln/>
        </p:spPr>
        <p:txBody>
          <a:bodyPr wrap="square" lIns="0" tIns="0" rIns="0" bIns="0" rtlCol="0" anchor="ctr"/>
          <a:lstStyle/>
          <a:p>
            <a:pPr indent="0" marL="0">
              <a:buNone/>
            </a:pPr>
            <a:r>
              <a:rPr lang="en-US" sz="2800" b="1" dirty="0">
                <a:solidFill>
                  <a:srgbClr val="23405A"/>
                </a:solidFill>
                <a:latin typeface="Calibri" pitchFamily="34" charset="0"/>
                <a:ea typeface="Calibri" pitchFamily="34" charset="-122"/>
                <a:cs typeface="Calibri" pitchFamily="34" charset="-120"/>
              </a:rPr>
              <a:t>Decide: what would you actually do?</a:t>
            </a:r>
            <a:endParaRPr lang="en-US" sz="2800" dirty="0"/>
          </a:p>
        </p:txBody>
      </p:sp>
      <p:sp>
        <p:nvSpPr>
          <p:cNvPr id="5" name="Shape 3"/>
          <p:cNvSpPr/>
          <p:nvPr/>
        </p:nvSpPr>
        <p:spPr>
          <a:xfrm>
            <a:off x="10705795" y="347472"/>
            <a:ext cx="937260" cy="329184"/>
          </a:xfrm>
          <a:prstGeom prst="roundRect">
            <a:avLst>
              <a:gd name="adj" fmla="val 50000"/>
            </a:avLst>
          </a:prstGeom>
          <a:solidFill>
            <a:srgbClr val="FFFFFF"/>
          </a:solidFill>
          <a:ln w="12700">
            <a:solidFill>
              <a:srgbClr val="FFFFFF"/>
            </a:solidFill>
            <a:prstDash val="solid"/>
          </a:ln>
        </p:spPr>
      </p:sp>
      <p:sp>
        <p:nvSpPr>
          <p:cNvPr id="6" name="Text 4"/>
          <p:cNvSpPr txBox="1"/>
          <p:nvPr/>
        </p:nvSpPr>
        <p:spPr>
          <a:xfrm>
            <a:off x="10705795" y="347472"/>
            <a:ext cx="937260" cy="329184"/>
          </a:xfrm>
          <a:prstGeom prst="rect">
            <a:avLst/>
          </a:prstGeom>
          <a:noFill/>
          <a:ln/>
        </p:spPr>
        <p:txBody>
          <a:bodyPr wrap="square" lIns="0" tIns="0" rIns="0" bIns="0" rtlCol="0" anchor="ctr"/>
          <a:lstStyle/>
          <a:p>
            <a:pPr algn="ctr" indent="0" marL="0">
              <a:buNone/>
            </a:pPr>
            <a:r>
              <a:rPr lang="en-US" sz="1200" dirty="0">
                <a:solidFill>
                  <a:srgbClr val="465A69"/>
                </a:solidFill>
                <a:latin typeface="Calibri" pitchFamily="34" charset="0"/>
                <a:ea typeface="Calibri" pitchFamily="34" charset="-122"/>
                <a:cs typeface="Calibri" pitchFamily="34" charset="-120"/>
              </a:rPr>
              <a:t>Hotwash</a:t>
            </a:r>
            <a:endParaRPr lang="en-US" sz="1200" dirty="0"/>
          </a:p>
        </p:txBody>
      </p:sp>
      <p:sp>
        <p:nvSpPr>
          <p:cNvPr id="7" name="Shape 5"/>
          <p:cNvSpPr/>
          <p:nvPr/>
        </p:nvSpPr>
        <p:spPr>
          <a:xfrm>
            <a:off x="9608515" y="347472"/>
            <a:ext cx="1024128" cy="329184"/>
          </a:xfrm>
          <a:prstGeom prst="roundRect">
            <a:avLst>
              <a:gd name="adj" fmla="val 50000"/>
            </a:avLst>
          </a:prstGeom>
          <a:solidFill>
            <a:srgbClr val="FFFFFF"/>
          </a:solidFill>
          <a:ln w="12700">
            <a:solidFill>
              <a:srgbClr val="FFFFFF"/>
            </a:solidFill>
            <a:prstDash val="solid"/>
          </a:ln>
        </p:spPr>
      </p:sp>
      <p:sp>
        <p:nvSpPr>
          <p:cNvPr id="8" name="Text 6"/>
          <p:cNvSpPr txBox="1"/>
          <p:nvPr/>
        </p:nvSpPr>
        <p:spPr>
          <a:xfrm>
            <a:off x="9608515" y="347472"/>
            <a:ext cx="1024128" cy="329184"/>
          </a:xfrm>
          <a:prstGeom prst="rect">
            <a:avLst/>
          </a:prstGeom>
          <a:noFill/>
          <a:ln/>
        </p:spPr>
        <p:txBody>
          <a:bodyPr wrap="square" lIns="0" tIns="0" rIns="0" bIns="0" rtlCol="0" anchor="ctr"/>
          <a:lstStyle/>
          <a:p>
            <a:pPr algn="ctr" indent="0" marL="0">
              <a:buNone/>
            </a:pPr>
            <a:r>
              <a:rPr lang="en-US" sz="1200" dirty="0">
                <a:solidFill>
                  <a:srgbClr val="465A69"/>
                </a:solidFill>
                <a:latin typeface="Calibri" pitchFamily="34" charset="0"/>
                <a:ea typeface="Calibri" pitchFamily="34" charset="-122"/>
                <a:cs typeface="Calibri" pitchFamily="34" charset="-120"/>
              </a:rPr>
              <a:t>Recovery</a:t>
            </a:r>
            <a:endParaRPr lang="en-US" sz="1200" dirty="0"/>
          </a:p>
        </p:txBody>
      </p:sp>
      <p:sp>
        <p:nvSpPr>
          <p:cNvPr id="9" name="Shape 7"/>
          <p:cNvSpPr/>
          <p:nvPr/>
        </p:nvSpPr>
        <p:spPr>
          <a:xfrm>
            <a:off x="8598103" y="347472"/>
            <a:ext cx="937260" cy="329184"/>
          </a:xfrm>
          <a:prstGeom prst="roundRect">
            <a:avLst>
              <a:gd name="adj" fmla="val 50000"/>
            </a:avLst>
          </a:prstGeom>
          <a:solidFill>
            <a:srgbClr val="FFFFFF"/>
          </a:solidFill>
          <a:ln w="12700">
            <a:solidFill>
              <a:srgbClr val="FFFFFF"/>
            </a:solidFill>
            <a:prstDash val="solid"/>
          </a:ln>
        </p:spPr>
      </p:sp>
      <p:sp>
        <p:nvSpPr>
          <p:cNvPr id="10" name="Text 8"/>
          <p:cNvSpPr txBox="1"/>
          <p:nvPr/>
        </p:nvSpPr>
        <p:spPr>
          <a:xfrm>
            <a:off x="8598103" y="347472"/>
            <a:ext cx="937260" cy="329184"/>
          </a:xfrm>
          <a:prstGeom prst="rect">
            <a:avLst/>
          </a:prstGeom>
          <a:noFill/>
          <a:ln/>
        </p:spPr>
        <p:txBody>
          <a:bodyPr wrap="square" lIns="0" tIns="0" rIns="0" bIns="0" rtlCol="0" anchor="ctr"/>
          <a:lstStyle/>
          <a:p>
            <a:pPr algn="ctr" indent="0" marL="0">
              <a:buNone/>
            </a:pPr>
            <a:r>
              <a:rPr lang="en-US" sz="1200" dirty="0">
                <a:solidFill>
                  <a:srgbClr val="465A69"/>
                </a:solidFill>
                <a:latin typeface="Calibri" pitchFamily="34" charset="0"/>
                <a:ea typeface="Calibri" pitchFamily="34" charset="-122"/>
                <a:cs typeface="Calibri" pitchFamily="34" charset="-120"/>
              </a:rPr>
              <a:t>Injects</a:t>
            </a:r>
            <a:endParaRPr lang="en-US" sz="1200" dirty="0"/>
          </a:p>
        </p:txBody>
      </p:sp>
      <p:sp>
        <p:nvSpPr>
          <p:cNvPr id="11" name="Shape 9"/>
          <p:cNvSpPr/>
          <p:nvPr/>
        </p:nvSpPr>
        <p:spPr>
          <a:xfrm>
            <a:off x="7674559" y="347472"/>
            <a:ext cx="850392" cy="329184"/>
          </a:xfrm>
          <a:prstGeom prst="roundRect">
            <a:avLst>
              <a:gd name="adj" fmla="val 50000"/>
            </a:avLst>
          </a:prstGeom>
          <a:solidFill>
            <a:srgbClr val="4C8068"/>
          </a:solidFill>
          <a:ln w="12700">
            <a:solidFill>
              <a:srgbClr val="4C8068"/>
            </a:solidFill>
            <a:prstDash val="solid"/>
          </a:ln>
        </p:spPr>
      </p:sp>
      <p:sp>
        <p:nvSpPr>
          <p:cNvPr id="12" name="Text 10"/>
          <p:cNvSpPr txBox="1"/>
          <p:nvPr/>
        </p:nvSpPr>
        <p:spPr>
          <a:xfrm>
            <a:off x="7674559" y="347472"/>
            <a:ext cx="850392"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Decide</a:t>
            </a:r>
            <a:endParaRPr lang="en-US" sz="1200" dirty="0"/>
          </a:p>
        </p:txBody>
      </p:sp>
      <p:sp>
        <p:nvSpPr>
          <p:cNvPr id="13" name="Shape 11"/>
          <p:cNvSpPr/>
          <p:nvPr/>
        </p:nvSpPr>
        <p:spPr>
          <a:xfrm>
            <a:off x="7011619" y="347472"/>
            <a:ext cx="589788" cy="329184"/>
          </a:xfrm>
          <a:prstGeom prst="roundRect">
            <a:avLst>
              <a:gd name="adj" fmla="val 50000"/>
            </a:avLst>
          </a:prstGeom>
          <a:solidFill>
            <a:srgbClr val="F1F8F3"/>
          </a:solidFill>
          <a:ln w="12700">
            <a:solidFill>
              <a:srgbClr val="F1F8F3"/>
            </a:solidFill>
            <a:prstDash val="solid"/>
          </a:ln>
        </p:spPr>
      </p:sp>
      <p:sp>
        <p:nvSpPr>
          <p:cNvPr id="14" name="Text 12"/>
          <p:cNvSpPr txBox="1"/>
          <p:nvPr/>
        </p:nvSpPr>
        <p:spPr>
          <a:xfrm>
            <a:off x="7011619" y="347472"/>
            <a:ext cx="589788" cy="329184"/>
          </a:xfrm>
          <a:prstGeom prst="rect">
            <a:avLst/>
          </a:prstGeom>
          <a:noFill/>
          <a:ln/>
        </p:spPr>
        <p:txBody>
          <a:bodyPr wrap="square" lIns="0" tIns="0" rIns="0" bIns="0" rtlCol="0" anchor="ctr"/>
          <a:lstStyle/>
          <a:p>
            <a:pPr algn="ctr" indent="0" marL="0">
              <a:buNone/>
            </a:pPr>
            <a:r>
              <a:rPr lang="en-US" sz="1200" dirty="0">
                <a:solidFill>
                  <a:srgbClr val="4C8068"/>
                </a:solidFill>
                <a:latin typeface="Calibri" pitchFamily="34" charset="0"/>
                <a:ea typeface="Calibri" pitchFamily="34" charset="-122"/>
                <a:cs typeface="Calibri" pitchFamily="34" charset="-120"/>
              </a:rPr>
              <a:t>T+0</a:t>
            </a:r>
            <a:endParaRPr lang="en-US" sz="1200" dirty="0"/>
          </a:p>
        </p:txBody>
      </p:sp>
      <p:sp>
        <p:nvSpPr>
          <p:cNvPr id="15" name="Shape 13"/>
          <p:cNvSpPr/>
          <p:nvPr/>
        </p:nvSpPr>
        <p:spPr>
          <a:xfrm>
            <a:off x="5740603" y="347472"/>
            <a:ext cx="1197864" cy="329184"/>
          </a:xfrm>
          <a:prstGeom prst="roundRect">
            <a:avLst>
              <a:gd name="adj" fmla="val 50000"/>
            </a:avLst>
          </a:prstGeom>
          <a:solidFill>
            <a:srgbClr val="F1F8F3"/>
          </a:solidFill>
          <a:ln w="12700">
            <a:solidFill>
              <a:srgbClr val="F1F8F3"/>
            </a:solidFill>
            <a:prstDash val="solid"/>
          </a:ln>
        </p:spPr>
      </p:sp>
      <p:sp>
        <p:nvSpPr>
          <p:cNvPr id="16" name="Text 14"/>
          <p:cNvSpPr txBox="1"/>
          <p:nvPr/>
        </p:nvSpPr>
        <p:spPr>
          <a:xfrm>
            <a:off x="5740603" y="347472"/>
            <a:ext cx="1197864" cy="329184"/>
          </a:xfrm>
          <a:prstGeom prst="rect">
            <a:avLst/>
          </a:prstGeom>
          <a:noFill/>
          <a:ln/>
        </p:spPr>
        <p:txBody>
          <a:bodyPr wrap="square" lIns="0" tIns="0" rIns="0" bIns="0" rtlCol="0" anchor="ctr"/>
          <a:lstStyle/>
          <a:p>
            <a:pPr algn="ctr" indent="0" marL="0">
              <a:buNone/>
            </a:pPr>
            <a:r>
              <a:rPr lang="en-US" sz="1200" dirty="0">
                <a:solidFill>
                  <a:srgbClr val="4C8068"/>
                </a:solidFill>
                <a:latin typeface="Calibri" pitchFamily="34" charset="0"/>
                <a:ea typeface="Calibri" pitchFamily="34" charset="-122"/>
                <a:cs typeface="Calibri" pitchFamily="34" charset="-120"/>
              </a:rPr>
              <a:t>Background</a:t>
            </a:r>
            <a:endParaRPr lang="en-US" sz="1200" dirty="0"/>
          </a:p>
        </p:txBody>
      </p:sp>
      <p:sp>
        <p:nvSpPr>
          <p:cNvPr id="17" name="Shape 15"/>
          <p:cNvSpPr/>
          <p:nvPr/>
        </p:nvSpPr>
        <p:spPr>
          <a:xfrm>
            <a:off x="548640" y="1600200"/>
            <a:ext cx="2377440" cy="4572000"/>
          </a:xfrm>
          <a:prstGeom prst="roundRect">
            <a:avLst>
              <a:gd name="adj" fmla="val 5385"/>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18" name="Text 16"/>
          <p:cNvSpPr txBox="1"/>
          <p:nvPr/>
        </p:nvSpPr>
        <p:spPr>
          <a:xfrm>
            <a:off x="822960" y="1783080"/>
            <a:ext cx="1874520" cy="320040"/>
          </a:xfrm>
          <a:prstGeom prst="rect">
            <a:avLst/>
          </a:prstGeom>
          <a:noFill/>
          <a:ln/>
        </p:spPr>
        <p:txBody>
          <a:bodyPr wrap="square" lIns="0" tIns="0" rIns="0" bIns="0" rtlCol="0" anchor="t"/>
          <a:lstStyle/>
          <a:p>
            <a:pPr indent="0" marL="0">
              <a:buNone/>
            </a:pPr>
            <a:r>
              <a:rPr lang="en-US" sz="1400" b="1" dirty="0">
                <a:solidFill>
                  <a:srgbClr val="465A69"/>
                </a:solidFill>
                <a:latin typeface="Calibri" pitchFamily="34" charset="0"/>
                <a:ea typeface="Calibri" pitchFamily="34" charset="-122"/>
                <a:cs typeface="Calibri" pitchFamily="34" charset="-120"/>
              </a:rPr>
              <a:t>Timeline</a:t>
            </a:r>
            <a:endParaRPr lang="en-US" sz="1400" dirty="0"/>
          </a:p>
        </p:txBody>
      </p:sp>
      <p:sp>
        <p:nvSpPr>
          <p:cNvPr id="19" name="Shape 17"/>
          <p:cNvSpPr/>
          <p:nvPr/>
        </p:nvSpPr>
        <p:spPr>
          <a:xfrm>
            <a:off x="905256" y="2551176"/>
            <a:ext cx="0" cy="257338"/>
          </a:xfrm>
          <a:prstGeom prst="line">
            <a:avLst/>
          </a:prstGeom>
          <a:noFill/>
          <a:ln w="19050">
            <a:solidFill>
              <a:srgbClr val="C9D5D2"/>
            </a:solidFill>
            <a:prstDash val="solid"/>
          </a:ln>
        </p:spPr>
      </p:sp>
      <p:sp>
        <p:nvSpPr>
          <p:cNvPr id="20" name="Shape 18"/>
          <p:cNvSpPr/>
          <p:nvPr/>
        </p:nvSpPr>
        <p:spPr>
          <a:xfrm>
            <a:off x="777240" y="2267712"/>
            <a:ext cx="256032" cy="256032"/>
          </a:xfrm>
          <a:prstGeom prst="ellipse">
            <a:avLst/>
          </a:prstGeom>
          <a:solidFill>
            <a:srgbClr val="4C8068"/>
          </a:solidFill>
          <a:ln w="12700">
            <a:solidFill>
              <a:srgbClr val="4C8068"/>
            </a:solidFill>
            <a:prstDash val="solid"/>
          </a:ln>
        </p:spPr>
      </p:sp>
      <p:sp>
        <p:nvSpPr>
          <p:cNvPr id="21" name="Text 19"/>
          <p:cNvSpPr txBox="1"/>
          <p:nvPr/>
        </p:nvSpPr>
        <p:spPr>
          <a:xfrm>
            <a:off x="1188720" y="2203704"/>
            <a:ext cx="1645920" cy="568234"/>
          </a:xfrm>
          <a:prstGeom prst="rect">
            <a:avLst/>
          </a:prstGeom>
          <a:noFill/>
          <a:ln/>
        </p:spPr>
        <p:txBody>
          <a:bodyPr wrap="square" lIns="0" tIns="0" rIns="0" bIns="0" rtlCol="0" anchor="t"/>
          <a:lstStyle/>
          <a:p>
            <a:pPr indent="0" marL="0">
              <a:buNone/>
            </a:pPr>
            <a:r>
              <a:rPr lang="en-US" sz="1200" b="1" dirty="0">
                <a:solidFill>
                  <a:srgbClr val="4C8068"/>
                </a:solidFill>
                <a:latin typeface="Calibri" pitchFamily="34" charset="0"/>
                <a:ea typeface="Calibri" pitchFamily="34" charset="-122"/>
                <a:cs typeface="Calibri" pitchFamily="34" charset="-120"/>
              </a:rPr>
              <a:t>T+0</a:t>
            </a:r>
            <a:endParaRPr lang="en-US" sz="1200" dirty="0"/>
          </a:p>
          <a:p>
            <a:pPr indent="0" marL="0">
              <a:buNone/>
            </a:pPr>
            <a:r>
              <a:rPr lang="en-US" sz="1200" b="1" dirty="0">
                <a:solidFill>
                  <a:srgbClr val="4C8068"/>
                </a:solidFill>
                <a:latin typeface="Calibri" pitchFamily="34" charset="0"/>
                <a:ea typeface="Calibri" pitchFamily="34" charset="-122"/>
                <a:cs typeface="Calibri" pitchFamily="34" charset="-120"/>
              </a:rPr>
              <a:t>Initial alert</a:t>
            </a:r>
            <a:endParaRPr lang="en-US" sz="1200" dirty="0"/>
          </a:p>
        </p:txBody>
      </p:sp>
      <p:sp>
        <p:nvSpPr>
          <p:cNvPr id="22" name="Shape 20"/>
          <p:cNvSpPr/>
          <p:nvPr/>
        </p:nvSpPr>
        <p:spPr>
          <a:xfrm>
            <a:off x="905256" y="3119410"/>
            <a:ext cx="0" cy="257338"/>
          </a:xfrm>
          <a:prstGeom prst="line">
            <a:avLst/>
          </a:prstGeom>
          <a:noFill/>
          <a:ln w="19050">
            <a:solidFill>
              <a:srgbClr val="C9D5D2"/>
            </a:solidFill>
            <a:prstDash val="solid"/>
          </a:ln>
        </p:spPr>
      </p:sp>
      <p:sp>
        <p:nvSpPr>
          <p:cNvPr id="23" name="Shape 21"/>
          <p:cNvSpPr/>
          <p:nvPr/>
        </p:nvSpPr>
        <p:spPr>
          <a:xfrm>
            <a:off x="777240" y="2835946"/>
            <a:ext cx="256032" cy="256032"/>
          </a:xfrm>
          <a:prstGeom prst="ellipse">
            <a:avLst/>
          </a:prstGeom>
          <a:solidFill>
            <a:srgbClr val="FFFFFF"/>
          </a:solidFill>
          <a:ln w="15875">
            <a:solidFill>
              <a:srgbClr val="C9D5D2"/>
            </a:solidFill>
            <a:prstDash val="solid"/>
          </a:ln>
        </p:spPr>
      </p:sp>
      <p:sp>
        <p:nvSpPr>
          <p:cNvPr id="24" name="Shape 22"/>
          <p:cNvSpPr/>
          <p:nvPr/>
        </p:nvSpPr>
        <p:spPr>
          <a:xfrm>
            <a:off x="905256" y="3687645"/>
            <a:ext cx="0" cy="257338"/>
          </a:xfrm>
          <a:prstGeom prst="line">
            <a:avLst/>
          </a:prstGeom>
          <a:noFill/>
          <a:ln w="19050">
            <a:solidFill>
              <a:srgbClr val="C9D5D2"/>
            </a:solidFill>
            <a:prstDash val="solid"/>
          </a:ln>
        </p:spPr>
      </p:sp>
      <p:sp>
        <p:nvSpPr>
          <p:cNvPr id="25" name="Shape 23"/>
          <p:cNvSpPr/>
          <p:nvPr/>
        </p:nvSpPr>
        <p:spPr>
          <a:xfrm>
            <a:off x="777240" y="3404181"/>
            <a:ext cx="256032" cy="256032"/>
          </a:xfrm>
          <a:prstGeom prst="ellipse">
            <a:avLst/>
          </a:prstGeom>
          <a:solidFill>
            <a:srgbClr val="FFFFFF"/>
          </a:solidFill>
          <a:ln w="15875">
            <a:solidFill>
              <a:srgbClr val="C9D5D2"/>
            </a:solidFill>
            <a:prstDash val="solid"/>
          </a:ln>
        </p:spPr>
      </p:sp>
      <p:sp>
        <p:nvSpPr>
          <p:cNvPr id="26" name="Shape 24"/>
          <p:cNvSpPr/>
          <p:nvPr/>
        </p:nvSpPr>
        <p:spPr>
          <a:xfrm>
            <a:off x="905256" y="4255879"/>
            <a:ext cx="0" cy="257338"/>
          </a:xfrm>
          <a:prstGeom prst="line">
            <a:avLst/>
          </a:prstGeom>
          <a:noFill/>
          <a:ln w="19050">
            <a:solidFill>
              <a:srgbClr val="C9D5D2"/>
            </a:solidFill>
            <a:prstDash val="solid"/>
          </a:ln>
        </p:spPr>
      </p:sp>
      <p:sp>
        <p:nvSpPr>
          <p:cNvPr id="27" name="Shape 25"/>
          <p:cNvSpPr/>
          <p:nvPr/>
        </p:nvSpPr>
        <p:spPr>
          <a:xfrm>
            <a:off x="777240" y="3972415"/>
            <a:ext cx="256032" cy="256032"/>
          </a:xfrm>
          <a:prstGeom prst="ellipse">
            <a:avLst/>
          </a:prstGeom>
          <a:solidFill>
            <a:srgbClr val="FFFFFF"/>
          </a:solidFill>
          <a:ln w="15875">
            <a:solidFill>
              <a:srgbClr val="C9D5D2"/>
            </a:solidFill>
            <a:prstDash val="solid"/>
          </a:ln>
        </p:spPr>
      </p:sp>
      <p:sp>
        <p:nvSpPr>
          <p:cNvPr id="28" name="Shape 26"/>
          <p:cNvSpPr/>
          <p:nvPr/>
        </p:nvSpPr>
        <p:spPr>
          <a:xfrm>
            <a:off x="905256" y="4824113"/>
            <a:ext cx="0" cy="257338"/>
          </a:xfrm>
          <a:prstGeom prst="line">
            <a:avLst/>
          </a:prstGeom>
          <a:noFill/>
          <a:ln w="19050">
            <a:solidFill>
              <a:srgbClr val="C9D5D2"/>
            </a:solidFill>
            <a:prstDash val="solid"/>
          </a:ln>
        </p:spPr>
      </p:sp>
      <p:sp>
        <p:nvSpPr>
          <p:cNvPr id="29" name="Shape 27"/>
          <p:cNvSpPr/>
          <p:nvPr/>
        </p:nvSpPr>
        <p:spPr>
          <a:xfrm>
            <a:off x="777240" y="4540649"/>
            <a:ext cx="256032" cy="256032"/>
          </a:xfrm>
          <a:prstGeom prst="ellipse">
            <a:avLst/>
          </a:prstGeom>
          <a:solidFill>
            <a:srgbClr val="FFFFFF"/>
          </a:solidFill>
          <a:ln w="15875">
            <a:solidFill>
              <a:srgbClr val="C9D5D2"/>
            </a:solidFill>
            <a:prstDash val="solid"/>
          </a:ln>
        </p:spPr>
      </p:sp>
      <p:sp>
        <p:nvSpPr>
          <p:cNvPr id="30" name="Shape 28"/>
          <p:cNvSpPr/>
          <p:nvPr/>
        </p:nvSpPr>
        <p:spPr>
          <a:xfrm>
            <a:off x="905256" y="5392347"/>
            <a:ext cx="0" cy="257338"/>
          </a:xfrm>
          <a:prstGeom prst="line">
            <a:avLst/>
          </a:prstGeom>
          <a:noFill/>
          <a:ln w="19050">
            <a:solidFill>
              <a:srgbClr val="C9D5D2"/>
            </a:solidFill>
            <a:prstDash val="solid"/>
          </a:ln>
        </p:spPr>
      </p:sp>
      <p:sp>
        <p:nvSpPr>
          <p:cNvPr id="31" name="Shape 29"/>
          <p:cNvSpPr/>
          <p:nvPr/>
        </p:nvSpPr>
        <p:spPr>
          <a:xfrm>
            <a:off x="777240" y="5108883"/>
            <a:ext cx="256032" cy="256032"/>
          </a:xfrm>
          <a:prstGeom prst="ellipse">
            <a:avLst/>
          </a:prstGeom>
          <a:solidFill>
            <a:srgbClr val="FFFFFF"/>
          </a:solidFill>
          <a:ln w="15875">
            <a:solidFill>
              <a:srgbClr val="C9D5D2"/>
            </a:solidFill>
            <a:prstDash val="solid"/>
          </a:ln>
        </p:spPr>
      </p:sp>
      <p:sp>
        <p:nvSpPr>
          <p:cNvPr id="32" name="Shape 30"/>
          <p:cNvSpPr/>
          <p:nvPr/>
        </p:nvSpPr>
        <p:spPr>
          <a:xfrm>
            <a:off x="777240" y="5677118"/>
            <a:ext cx="256032" cy="256032"/>
          </a:xfrm>
          <a:prstGeom prst="ellipse">
            <a:avLst/>
          </a:prstGeom>
          <a:solidFill>
            <a:srgbClr val="FFFFFF"/>
          </a:solidFill>
          <a:ln w="15875">
            <a:solidFill>
              <a:srgbClr val="C9D5D2"/>
            </a:solidFill>
            <a:prstDash val="solid"/>
          </a:ln>
        </p:spPr>
      </p:sp>
      <p:sp>
        <p:nvSpPr>
          <p:cNvPr id="33" name="Shape 31"/>
          <p:cNvSpPr/>
          <p:nvPr/>
        </p:nvSpPr>
        <p:spPr>
          <a:xfrm>
            <a:off x="3154680" y="1600200"/>
            <a:ext cx="8485632" cy="2971800"/>
          </a:xfrm>
          <a:prstGeom prst="roundRect">
            <a:avLst>
              <a:gd name="adj" fmla="val 4308"/>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pic>
        <p:nvPicPr>
          <p:cNvPr id="34" name="Image 0" descr="preencoded.png">    </p:cNvPr>
          <p:cNvPicPr>
            <a:picLocks noChangeAspect="1"/>
          </p:cNvPicPr>
          <p:nvPr/>
        </p:nvPicPr>
        <p:blipFill>
          <a:blip r:embed="rId1"/>
          <a:stretch>
            <a:fillRect/>
          </a:stretch>
        </p:blipFill>
        <p:spPr>
          <a:xfrm>
            <a:off x="3474720" y="1828800"/>
            <a:ext cx="274320" cy="274320"/>
          </a:xfrm>
          <a:prstGeom prst="rect">
            <a:avLst/>
          </a:prstGeom>
        </p:spPr>
      </p:pic>
      <p:sp>
        <p:nvSpPr>
          <p:cNvPr id="35" name="Text 32"/>
          <p:cNvSpPr txBox="1"/>
          <p:nvPr/>
        </p:nvSpPr>
        <p:spPr>
          <a:xfrm>
            <a:off x="3867912" y="1810512"/>
            <a:ext cx="5486400" cy="320040"/>
          </a:xfrm>
          <a:prstGeom prst="rect">
            <a:avLst/>
          </a:prstGeom>
          <a:noFill/>
          <a:ln/>
        </p:spPr>
        <p:txBody>
          <a:bodyPr wrap="square" lIns="0" tIns="0" rIns="0" bIns="0" rtlCol="0" anchor="t"/>
          <a:lstStyle/>
          <a:p>
            <a:pPr indent="0" marL="0">
              <a:buNone/>
            </a:pPr>
            <a:r>
              <a:rPr lang="en-US" sz="1400" b="1" dirty="0">
                <a:solidFill>
                  <a:srgbClr val="4C8068"/>
                </a:solidFill>
                <a:latin typeface="Calibri" pitchFamily="34" charset="0"/>
                <a:ea typeface="Calibri" pitchFamily="34" charset="-122"/>
                <a:cs typeface="Calibri" pitchFamily="34" charset="-120"/>
              </a:rPr>
              <a:t>Work through these as a team</a:t>
            </a:r>
            <a:endParaRPr lang="en-US" sz="1400" dirty="0"/>
          </a:p>
        </p:txBody>
      </p:sp>
      <p:sp>
        <p:nvSpPr>
          <p:cNvPr id="36" name="Shape 33"/>
          <p:cNvSpPr/>
          <p:nvPr/>
        </p:nvSpPr>
        <p:spPr>
          <a:xfrm>
            <a:off x="3474720" y="2286000"/>
            <a:ext cx="347472" cy="347472"/>
          </a:xfrm>
          <a:prstGeom prst="ellipse">
            <a:avLst/>
          </a:prstGeom>
          <a:solidFill>
            <a:srgbClr val="F1F8F3"/>
          </a:solidFill>
          <a:ln w="12700">
            <a:solidFill>
              <a:srgbClr val="F1F8F3"/>
            </a:solidFill>
            <a:prstDash val="solid"/>
          </a:ln>
        </p:spPr>
      </p:sp>
      <p:sp>
        <p:nvSpPr>
          <p:cNvPr id="37" name="Text 34"/>
          <p:cNvSpPr txBox="1"/>
          <p:nvPr/>
        </p:nvSpPr>
        <p:spPr>
          <a:xfrm>
            <a:off x="3474720" y="2286000"/>
            <a:ext cx="347472" cy="347472"/>
          </a:xfrm>
          <a:prstGeom prst="rect">
            <a:avLst/>
          </a:prstGeom>
          <a:noFill/>
          <a:ln/>
        </p:spPr>
        <p:txBody>
          <a:bodyPr wrap="square" lIns="0" tIns="0" rIns="0" bIns="0" rtlCol="0" anchor="ctr"/>
          <a:lstStyle/>
          <a:p>
            <a:pPr algn="ctr" indent="0" marL="0">
              <a:buNone/>
            </a:pPr>
            <a:r>
              <a:rPr lang="en-US" sz="1200" b="1" dirty="0">
                <a:solidFill>
                  <a:srgbClr val="4C8068"/>
                </a:solidFill>
                <a:latin typeface="Calibri" pitchFamily="34" charset="0"/>
                <a:ea typeface="Calibri" pitchFamily="34" charset="-122"/>
                <a:cs typeface="Calibri" pitchFamily="34" charset="-120"/>
              </a:rPr>
              <a:t>1</a:t>
            </a:r>
            <a:endParaRPr lang="en-US" sz="1200" dirty="0"/>
          </a:p>
        </p:txBody>
      </p:sp>
      <p:sp>
        <p:nvSpPr>
          <p:cNvPr id="38" name="Text 35"/>
          <p:cNvSpPr txBox="1"/>
          <p:nvPr/>
        </p:nvSpPr>
        <p:spPr>
          <a:xfrm>
            <a:off x="3950208" y="2286000"/>
            <a:ext cx="3566160" cy="347472"/>
          </a:xfrm>
          <a:prstGeom prst="rect">
            <a:avLst/>
          </a:prstGeom>
          <a:noFill/>
          <a:ln/>
        </p:spPr>
        <p:txBody>
          <a:bodyPr wrap="square" lIns="0" tIns="0" rIns="0" bIns="0" rtlCol="0" anchor="ctr"/>
          <a:lstStyle/>
          <a:p>
            <a:pPr indent="0" marL="0">
              <a:buNone/>
            </a:pPr>
            <a:r>
              <a:rPr lang="en-US" sz="1500" dirty="0">
                <a:solidFill>
                  <a:srgbClr val="1E2E3A"/>
                </a:solidFill>
                <a:latin typeface="Calibri" pitchFamily="34" charset="0"/>
                <a:ea typeface="Calibri" pitchFamily="34" charset="-122"/>
                <a:cs typeface="Calibri" pitchFamily="34" charset="-120"/>
              </a:rPr>
              <a:t>What do you know?</a:t>
            </a:r>
            <a:endParaRPr lang="en-US" sz="1500" dirty="0"/>
          </a:p>
        </p:txBody>
      </p:sp>
      <p:sp>
        <p:nvSpPr>
          <p:cNvPr id="39" name="Shape 36"/>
          <p:cNvSpPr/>
          <p:nvPr/>
        </p:nvSpPr>
        <p:spPr>
          <a:xfrm>
            <a:off x="3474720" y="2834640"/>
            <a:ext cx="347472" cy="347472"/>
          </a:xfrm>
          <a:prstGeom prst="ellipse">
            <a:avLst/>
          </a:prstGeom>
          <a:solidFill>
            <a:srgbClr val="F1F8F3"/>
          </a:solidFill>
          <a:ln w="12700">
            <a:solidFill>
              <a:srgbClr val="F1F8F3"/>
            </a:solidFill>
            <a:prstDash val="solid"/>
          </a:ln>
        </p:spPr>
      </p:sp>
      <p:sp>
        <p:nvSpPr>
          <p:cNvPr id="40" name="Text 37"/>
          <p:cNvSpPr txBox="1"/>
          <p:nvPr/>
        </p:nvSpPr>
        <p:spPr>
          <a:xfrm>
            <a:off x="3474720" y="2834640"/>
            <a:ext cx="347472" cy="347472"/>
          </a:xfrm>
          <a:prstGeom prst="rect">
            <a:avLst/>
          </a:prstGeom>
          <a:noFill/>
          <a:ln/>
        </p:spPr>
        <p:txBody>
          <a:bodyPr wrap="square" lIns="0" tIns="0" rIns="0" bIns="0" rtlCol="0" anchor="ctr"/>
          <a:lstStyle/>
          <a:p>
            <a:pPr algn="ctr" indent="0" marL="0">
              <a:buNone/>
            </a:pPr>
            <a:r>
              <a:rPr lang="en-US" sz="1200" b="1" dirty="0">
                <a:solidFill>
                  <a:srgbClr val="4C8068"/>
                </a:solidFill>
                <a:latin typeface="Calibri" pitchFamily="34" charset="0"/>
                <a:ea typeface="Calibri" pitchFamily="34" charset="-122"/>
                <a:cs typeface="Calibri" pitchFamily="34" charset="-120"/>
              </a:rPr>
              <a:t>2</a:t>
            </a:r>
            <a:endParaRPr lang="en-US" sz="1200" dirty="0"/>
          </a:p>
        </p:txBody>
      </p:sp>
      <p:sp>
        <p:nvSpPr>
          <p:cNvPr id="41" name="Text 38"/>
          <p:cNvSpPr txBox="1"/>
          <p:nvPr/>
        </p:nvSpPr>
        <p:spPr>
          <a:xfrm>
            <a:off x="3950208" y="2834640"/>
            <a:ext cx="3566160" cy="347472"/>
          </a:xfrm>
          <a:prstGeom prst="rect">
            <a:avLst/>
          </a:prstGeom>
          <a:noFill/>
          <a:ln/>
        </p:spPr>
        <p:txBody>
          <a:bodyPr wrap="square" lIns="0" tIns="0" rIns="0" bIns="0" rtlCol="0" anchor="ctr"/>
          <a:lstStyle/>
          <a:p>
            <a:pPr indent="0" marL="0">
              <a:buNone/>
            </a:pPr>
            <a:r>
              <a:rPr lang="en-US" sz="1500" dirty="0">
                <a:solidFill>
                  <a:srgbClr val="1E2E3A"/>
                </a:solidFill>
                <a:latin typeface="Calibri" pitchFamily="34" charset="0"/>
                <a:ea typeface="Calibri" pitchFamily="34" charset="-122"/>
                <a:cs typeface="Calibri" pitchFamily="34" charset="-120"/>
              </a:rPr>
              <a:t>What don't you know?</a:t>
            </a:r>
            <a:endParaRPr lang="en-US" sz="1500" dirty="0"/>
          </a:p>
        </p:txBody>
      </p:sp>
      <p:sp>
        <p:nvSpPr>
          <p:cNvPr id="42" name="Shape 39"/>
          <p:cNvSpPr/>
          <p:nvPr/>
        </p:nvSpPr>
        <p:spPr>
          <a:xfrm>
            <a:off x="3474720" y="3383280"/>
            <a:ext cx="347472" cy="347472"/>
          </a:xfrm>
          <a:prstGeom prst="ellipse">
            <a:avLst/>
          </a:prstGeom>
          <a:solidFill>
            <a:srgbClr val="F1F8F3"/>
          </a:solidFill>
          <a:ln w="12700">
            <a:solidFill>
              <a:srgbClr val="F1F8F3"/>
            </a:solidFill>
            <a:prstDash val="solid"/>
          </a:ln>
        </p:spPr>
      </p:sp>
      <p:sp>
        <p:nvSpPr>
          <p:cNvPr id="43" name="Text 40"/>
          <p:cNvSpPr txBox="1"/>
          <p:nvPr/>
        </p:nvSpPr>
        <p:spPr>
          <a:xfrm>
            <a:off x="3474720" y="3383280"/>
            <a:ext cx="347472" cy="347472"/>
          </a:xfrm>
          <a:prstGeom prst="rect">
            <a:avLst/>
          </a:prstGeom>
          <a:noFill/>
          <a:ln/>
        </p:spPr>
        <p:txBody>
          <a:bodyPr wrap="square" lIns="0" tIns="0" rIns="0" bIns="0" rtlCol="0" anchor="ctr"/>
          <a:lstStyle/>
          <a:p>
            <a:pPr algn="ctr" indent="0" marL="0">
              <a:buNone/>
            </a:pPr>
            <a:r>
              <a:rPr lang="en-US" sz="1200" b="1" dirty="0">
                <a:solidFill>
                  <a:srgbClr val="4C8068"/>
                </a:solidFill>
                <a:latin typeface="Calibri" pitchFamily="34" charset="0"/>
                <a:ea typeface="Calibri" pitchFamily="34" charset="-122"/>
                <a:cs typeface="Calibri" pitchFamily="34" charset="-120"/>
              </a:rPr>
              <a:t>3</a:t>
            </a:r>
            <a:endParaRPr lang="en-US" sz="1200" dirty="0"/>
          </a:p>
        </p:txBody>
      </p:sp>
      <p:sp>
        <p:nvSpPr>
          <p:cNvPr id="44" name="Text 41"/>
          <p:cNvSpPr txBox="1"/>
          <p:nvPr/>
        </p:nvSpPr>
        <p:spPr>
          <a:xfrm>
            <a:off x="3950208" y="3383280"/>
            <a:ext cx="3566160" cy="347472"/>
          </a:xfrm>
          <a:prstGeom prst="rect">
            <a:avLst/>
          </a:prstGeom>
          <a:noFill/>
          <a:ln/>
        </p:spPr>
        <p:txBody>
          <a:bodyPr wrap="square" lIns="0" tIns="0" rIns="0" bIns="0" rtlCol="0" anchor="ctr"/>
          <a:lstStyle/>
          <a:p>
            <a:pPr indent="0" marL="0">
              <a:buNone/>
            </a:pPr>
            <a:r>
              <a:rPr lang="en-US" sz="1500" dirty="0">
                <a:solidFill>
                  <a:srgbClr val="1E2E3A"/>
                </a:solidFill>
                <a:latin typeface="Calibri" pitchFamily="34" charset="0"/>
                <a:ea typeface="Calibri" pitchFamily="34" charset="-122"/>
                <a:cs typeface="Calibri" pitchFamily="34" charset="-120"/>
              </a:rPr>
              <a:t>Who owns this?</a:t>
            </a:r>
            <a:endParaRPr lang="en-US" sz="1500" dirty="0"/>
          </a:p>
        </p:txBody>
      </p:sp>
      <p:sp>
        <p:nvSpPr>
          <p:cNvPr id="45" name="Shape 42"/>
          <p:cNvSpPr/>
          <p:nvPr/>
        </p:nvSpPr>
        <p:spPr>
          <a:xfrm>
            <a:off x="3474720" y="3931920"/>
            <a:ext cx="347472" cy="347472"/>
          </a:xfrm>
          <a:prstGeom prst="ellipse">
            <a:avLst/>
          </a:prstGeom>
          <a:solidFill>
            <a:srgbClr val="F1F8F3"/>
          </a:solidFill>
          <a:ln w="12700">
            <a:solidFill>
              <a:srgbClr val="F1F8F3"/>
            </a:solidFill>
            <a:prstDash val="solid"/>
          </a:ln>
        </p:spPr>
      </p:sp>
      <p:sp>
        <p:nvSpPr>
          <p:cNvPr id="46" name="Text 43"/>
          <p:cNvSpPr txBox="1"/>
          <p:nvPr/>
        </p:nvSpPr>
        <p:spPr>
          <a:xfrm>
            <a:off x="3474720" y="3931920"/>
            <a:ext cx="347472" cy="347472"/>
          </a:xfrm>
          <a:prstGeom prst="rect">
            <a:avLst/>
          </a:prstGeom>
          <a:noFill/>
          <a:ln/>
        </p:spPr>
        <p:txBody>
          <a:bodyPr wrap="square" lIns="0" tIns="0" rIns="0" bIns="0" rtlCol="0" anchor="ctr"/>
          <a:lstStyle/>
          <a:p>
            <a:pPr algn="ctr" indent="0" marL="0">
              <a:buNone/>
            </a:pPr>
            <a:r>
              <a:rPr lang="en-US" sz="1200" b="1" dirty="0">
                <a:solidFill>
                  <a:srgbClr val="4C8068"/>
                </a:solidFill>
                <a:latin typeface="Calibri" pitchFamily="34" charset="0"/>
                <a:ea typeface="Calibri" pitchFamily="34" charset="-122"/>
                <a:cs typeface="Calibri" pitchFamily="34" charset="-120"/>
              </a:rPr>
              <a:t>4</a:t>
            </a:r>
            <a:endParaRPr lang="en-US" sz="1200" dirty="0"/>
          </a:p>
        </p:txBody>
      </p:sp>
      <p:sp>
        <p:nvSpPr>
          <p:cNvPr id="47" name="Text 44"/>
          <p:cNvSpPr txBox="1"/>
          <p:nvPr/>
        </p:nvSpPr>
        <p:spPr>
          <a:xfrm>
            <a:off x="3950208" y="3931920"/>
            <a:ext cx="3566160" cy="347472"/>
          </a:xfrm>
          <a:prstGeom prst="rect">
            <a:avLst/>
          </a:prstGeom>
          <a:noFill/>
          <a:ln/>
        </p:spPr>
        <p:txBody>
          <a:bodyPr wrap="square" lIns="0" tIns="0" rIns="0" bIns="0" rtlCol="0" anchor="ctr"/>
          <a:lstStyle/>
          <a:p>
            <a:pPr indent="0" marL="0">
              <a:buNone/>
            </a:pPr>
            <a:r>
              <a:rPr lang="en-US" sz="1500" dirty="0">
                <a:solidFill>
                  <a:srgbClr val="1E2E3A"/>
                </a:solidFill>
                <a:latin typeface="Calibri" pitchFamily="34" charset="0"/>
                <a:ea typeface="Calibri" pitchFamily="34" charset="-122"/>
                <a:cs typeface="Calibri" pitchFamily="34" charset="-120"/>
              </a:rPr>
              <a:t>How do you validate the problem?</a:t>
            </a:r>
            <a:endParaRPr lang="en-US" sz="1500" dirty="0"/>
          </a:p>
        </p:txBody>
      </p:sp>
      <p:sp>
        <p:nvSpPr>
          <p:cNvPr id="48" name="Shape 45"/>
          <p:cNvSpPr/>
          <p:nvPr/>
        </p:nvSpPr>
        <p:spPr>
          <a:xfrm>
            <a:off x="7589520" y="2286000"/>
            <a:ext cx="347472" cy="347472"/>
          </a:xfrm>
          <a:prstGeom prst="ellipse">
            <a:avLst/>
          </a:prstGeom>
          <a:solidFill>
            <a:srgbClr val="F1F8F3"/>
          </a:solidFill>
          <a:ln w="12700">
            <a:solidFill>
              <a:srgbClr val="F1F8F3"/>
            </a:solidFill>
            <a:prstDash val="solid"/>
          </a:ln>
        </p:spPr>
      </p:sp>
      <p:sp>
        <p:nvSpPr>
          <p:cNvPr id="49" name="Text 46"/>
          <p:cNvSpPr txBox="1"/>
          <p:nvPr/>
        </p:nvSpPr>
        <p:spPr>
          <a:xfrm>
            <a:off x="7589520" y="2286000"/>
            <a:ext cx="347472" cy="347472"/>
          </a:xfrm>
          <a:prstGeom prst="rect">
            <a:avLst/>
          </a:prstGeom>
          <a:noFill/>
          <a:ln/>
        </p:spPr>
        <p:txBody>
          <a:bodyPr wrap="square" lIns="0" tIns="0" rIns="0" bIns="0" rtlCol="0" anchor="ctr"/>
          <a:lstStyle/>
          <a:p>
            <a:pPr algn="ctr" indent="0" marL="0">
              <a:buNone/>
            </a:pPr>
            <a:r>
              <a:rPr lang="en-US" sz="1200" b="1" dirty="0">
                <a:solidFill>
                  <a:srgbClr val="4C8068"/>
                </a:solidFill>
                <a:latin typeface="Calibri" pitchFamily="34" charset="0"/>
                <a:ea typeface="Calibri" pitchFamily="34" charset="-122"/>
                <a:cs typeface="Calibri" pitchFamily="34" charset="-120"/>
              </a:rPr>
              <a:t>5</a:t>
            </a:r>
            <a:endParaRPr lang="en-US" sz="1200" dirty="0"/>
          </a:p>
        </p:txBody>
      </p:sp>
      <p:sp>
        <p:nvSpPr>
          <p:cNvPr id="50" name="Text 47"/>
          <p:cNvSpPr txBox="1"/>
          <p:nvPr/>
        </p:nvSpPr>
        <p:spPr>
          <a:xfrm>
            <a:off x="8065008" y="2286000"/>
            <a:ext cx="3566160" cy="347472"/>
          </a:xfrm>
          <a:prstGeom prst="rect">
            <a:avLst/>
          </a:prstGeom>
          <a:noFill/>
          <a:ln/>
        </p:spPr>
        <p:txBody>
          <a:bodyPr wrap="square" lIns="0" tIns="0" rIns="0" bIns="0" rtlCol="0" anchor="ctr"/>
          <a:lstStyle/>
          <a:p>
            <a:pPr indent="0" marL="0">
              <a:buNone/>
            </a:pPr>
            <a:r>
              <a:rPr lang="en-US" sz="1500" dirty="0">
                <a:solidFill>
                  <a:srgbClr val="1E2E3A"/>
                </a:solidFill>
                <a:latin typeface="Calibri" pitchFamily="34" charset="0"/>
                <a:ea typeface="Calibri" pitchFamily="34" charset="-122"/>
                <a:cs typeface="Calibri" pitchFamily="34" charset="-120"/>
              </a:rPr>
              <a:t>Who gets notified?</a:t>
            </a:r>
            <a:endParaRPr lang="en-US" sz="1500" dirty="0"/>
          </a:p>
        </p:txBody>
      </p:sp>
      <p:sp>
        <p:nvSpPr>
          <p:cNvPr id="51" name="Shape 48"/>
          <p:cNvSpPr/>
          <p:nvPr/>
        </p:nvSpPr>
        <p:spPr>
          <a:xfrm>
            <a:off x="7589520" y="2834640"/>
            <a:ext cx="347472" cy="347472"/>
          </a:xfrm>
          <a:prstGeom prst="ellipse">
            <a:avLst/>
          </a:prstGeom>
          <a:solidFill>
            <a:srgbClr val="F1F8F3"/>
          </a:solidFill>
          <a:ln w="12700">
            <a:solidFill>
              <a:srgbClr val="F1F8F3"/>
            </a:solidFill>
            <a:prstDash val="solid"/>
          </a:ln>
        </p:spPr>
      </p:sp>
      <p:sp>
        <p:nvSpPr>
          <p:cNvPr id="52" name="Text 49"/>
          <p:cNvSpPr txBox="1"/>
          <p:nvPr/>
        </p:nvSpPr>
        <p:spPr>
          <a:xfrm>
            <a:off x="7589520" y="2834640"/>
            <a:ext cx="347472" cy="347472"/>
          </a:xfrm>
          <a:prstGeom prst="rect">
            <a:avLst/>
          </a:prstGeom>
          <a:noFill/>
          <a:ln/>
        </p:spPr>
        <p:txBody>
          <a:bodyPr wrap="square" lIns="0" tIns="0" rIns="0" bIns="0" rtlCol="0" anchor="ctr"/>
          <a:lstStyle/>
          <a:p>
            <a:pPr algn="ctr" indent="0" marL="0">
              <a:buNone/>
            </a:pPr>
            <a:r>
              <a:rPr lang="en-US" sz="1200" b="1" dirty="0">
                <a:solidFill>
                  <a:srgbClr val="4C8068"/>
                </a:solidFill>
                <a:latin typeface="Calibri" pitchFamily="34" charset="0"/>
                <a:ea typeface="Calibri" pitchFamily="34" charset="-122"/>
                <a:cs typeface="Calibri" pitchFamily="34" charset="-120"/>
              </a:rPr>
              <a:t>6</a:t>
            </a:r>
            <a:endParaRPr lang="en-US" sz="1200" dirty="0"/>
          </a:p>
        </p:txBody>
      </p:sp>
      <p:sp>
        <p:nvSpPr>
          <p:cNvPr id="53" name="Text 50"/>
          <p:cNvSpPr txBox="1"/>
          <p:nvPr/>
        </p:nvSpPr>
        <p:spPr>
          <a:xfrm>
            <a:off x="8065008" y="2834640"/>
            <a:ext cx="3566160" cy="347472"/>
          </a:xfrm>
          <a:prstGeom prst="rect">
            <a:avLst/>
          </a:prstGeom>
          <a:noFill/>
          <a:ln/>
        </p:spPr>
        <p:txBody>
          <a:bodyPr wrap="square" lIns="0" tIns="0" rIns="0" bIns="0" rtlCol="0" anchor="ctr"/>
          <a:lstStyle/>
          <a:p>
            <a:pPr indent="0" marL="0">
              <a:buNone/>
            </a:pPr>
            <a:r>
              <a:rPr lang="en-US" sz="1500" dirty="0">
                <a:solidFill>
                  <a:srgbClr val="1E2E3A"/>
                </a:solidFill>
                <a:latin typeface="Calibri" pitchFamily="34" charset="0"/>
                <a:ea typeface="Calibri" pitchFamily="34" charset="-122"/>
                <a:cs typeface="Calibri" pitchFamily="34" charset="-120"/>
              </a:rPr>
              <a:t>What systems do you check?</a:t>
            </a:r>
            <a:endParaRPr lang="en-US" sz="1500" dirty="0"/>
          </a:p>
        </p:txBody>
      </p:sp>
      <p:sp>
        <p:nvSpPr>
          <p:cNvPr id="54" name="Shape 51"/>
          <p:cNvSpPr/>
          <p:nvPr/>
        </p:nvSpPr>
        <p:spPr>
          <a:xfrm>
            <a:off x="7589520" y="3383280"/>
            <a:ext cx="347472" cy="347472"/>
          </a:xfrm>
          <a:prstGeom prst="ellipse">
            <a:avLst/>
          </a:prstGeom>
          <a:solidFill>
            <a:srgbClr val="F1F8F3"/>
          </a:solidFill>
          <a:ln w="12700">
            <a:solidFill>
              <a:srgbClr val="F1F8F3"/>
            </a:solidFill>
            <a:prstDash val="solid"/>
          </a:ln>
        </p:spPr>
      </p:sp>
      <p:sp>
        <p:nvSpPr>
          <p:cNvPr id="55" name="Text 52"/>
          <p:cNvSpPr txBox="1"/>
          <p:nvPr/>
        </p:nvSpPr>
        <p:spPr>
          <a:xfrm>
            <a:off x="7589520" y="3383280"/>
            <a:ext cx="347472" cy="347472"/>
          </a:xfrm>
          <a:prstGeom prst="rect">
            <a:avLst/>
          </a:prstGeom>
          <a:noFill/>
          <a:ln/>
        </p:spPr>
        <p:txBody>
          <a:bodyPr wrap="square" lIns="0" tIns="0" rIns="0" bIns="0" rtlCol="0" anchor="ctr"/>
          <a:lstStyle/>
          <a:p>
            <a:pPr algn="ctr" indent="0" marL="0">
              <a:buNone/>
            </a:pPr>
            <a:r>
              <a:rPr lang="en-US" sz="1200" b="1" dirty="0">
                <a:solidFill>
                  <a:srgbClr val="4C8068"/>
                </a:solidFill>
                <a:latin typeface="Calibri" pitchFamily="34" charset="0"/>
                <a:ea typeface="Calibri" pitchFamily="34" charset="-122"/>
                <a:cs typeface="Calibri" pitchFamily="34" charset="-120"/>
              </a:rPr>
              <a:t>7</a:t>
            </a:r>
            <a:endParaRPr lang="en-US" sz="1200" dirty="0"/>
          </a:p>
        </p:txBody>
      </p:sp>
      <p:sp>
        <p:nvSpPr>
          <p:cNvPr id="56" name="Text 53"/>
          <p:cNvSpPr txBox="1"/>
          <p:nvPr/>
        </p:nvSpPr>
        <p:spPr>
          <a:xfrm>
            <a:off x="8065008" y="3383280"/>
            <a:ext cx="3566160" cy="347472"/>
          </a:xfrm>
          <a:prstGeom prst="rect">
            <a:avLst/>
          </a:prstGeom>
          <a:noFill/>
          <a:ln/>
        </p:spPr>
        <p:txBody>
          <a:bodyPr wrap="square" lIns="0" tIns="0" rIns="0" bIns="0" rtlCol="0" anchor="ctr"/>
          <a:lstStyle/>
          <a:p>
            <a:pPr indent="0" marL="0">
              <a:buNone/>
            </a:pPr>
            <a:r>
              <a:rPr lang="en-US" sz="1500" dirty="0">
                <a:solidFill>
                  <a:srgbClr val="1E2E3A"/>
                </a:solidFill>
                <a:latin typeface="Calibri" pitchFamily="34" charset="0"/>
                <a:ea typeface="Calibri" pitchFamily="34" charset="-122"/>
                <a:cs typeface="Calibri" pitchFamily="34" charset="-120"/>
              </a:rPr>
              <a:t>At what point would you escalate?</a:t>
            </a:r>
            <a:endParaRPr lang="en-US" sz="1500" dirty="0"/>
          </a:p>
        </p:txBody>
      </p:sp>
      <p:sp>
        <p:nvSpPr>
          <p:cNvPr id="57" name="Shape 54"/>
          <p:cNvSpPr/>
          <p:nvPr/>
        </p:nvSpPr>
        <p:spPr>
          <a:xfrm>
            <a:off x="3154680" y="4800600"/>
            <a:ext cx="8485632" cy="1371600"/>
          </a:xfrm>
          <a:prstGeom prst="roundRect">
            <a:avLst>
              <a:gd name="adj" fmla="val 9333"/>
            </a:avLst>
          </a:prstGeom>
          <a:solidFill>
            <a:srgbClr val="F1F8F3"/>
          </a:solidFill>
          <a:ln w="12700">
            <a:solidFill>
              <a:srgbClr val="F1F8F3"/>
            </a:solidFill>
            <a:prstDash val="solid"/>
          </a:ln>
          <a:effectLst>
            <a:outerShdw sx="100000" sy="100000" kx="0" ky="0" algn="bl" rotWithShape="0" blurRad="177800" dist="50800" dir="5400000">
              <a:srgbClr val="1B4965">
                <a:alpha val="16000"/>
              </a:srgbClr>
            </a:outerShdw>
          </a:effectLst>
        </p:spPr>
      </p:sp>
      <p:sp>
        <p:nvSpPr>
          <p:cNvPr id="58" name="Text 55"/>
          <p:cNvSpPr txBox="1"/>
          <p:nvPr/>
        </p:nvSpPr>
        <p:spPr>
          <a:xfrm>
            <a:off x="3474720" y="4937760"/>
            <a:ext cx="2743200" cy="274320"/>
          </a:xfrm>
          <a:prstGeom prst="rect">
            <a:avLst/>
          </a:prstGeom>
          <a:noFill/>
          <a:ln/>
        </p:spPr>
        <p:txBody>
          <a:bodyPr wrap="square" lIns="0" tIns="0" rIns="0" bIns="0" rtlCol="0" anchor="t"/>
          <a:lstStyle/>
          <a:p>
            <a:pPr indent="0" marL="0">
              <a:buNone/>
            </a:pPr>
            <a:r>
              <a:rPr lang="en-US" sz="1400" b="1" dirty="0">
                <a:solidFill>
                  <a:srgbClr val="4C8068"/>
                </a:solidFill>
                <a:latin typeface="Calibri" pitchFamily="34" charset="0"/>
                <a:ea typeface="Calibri" pitchFamily="34" charset="-122"/>
                <a:cs typeface="Calibri" pitchFamily="34" charset="-120"/>
              </a:rPr>
              <a:t>Record</a:t>
            </a:r>
            <a:endParaRPr lang="en-US" sz="1400" dirty="0"/>
          </a:p>
        </p:txBody>
      </p:sp>
      <p:sp>
        <p:nvSpPr>
          <p:cNvPr id="59" name="Shape 56"/>
          <p:cNvSpPr/>
          <p:nvPr/>
        </p:nvSpPr>
        <p:spPr>
          <a:xfrm>
            <a:off x="3474720" y="5303520"/>
            <a:ext cx="1874520" cy="658368"/>
          </a:xfrm>
          <a:prstGeom prst="roundRect">
            <a:avLst>
              <a:gd name="adj" fmla="val 11111"/>
            </a:avLst>
          </a:prstGeom>
          <a:solidFill>
            <a:srgbClr val="FFFFFF"/>
          </a:solidFill>
          <a:ln w="12700">
            <a:solidFill>
              <a:srgbClr val="FFFFFF"/>
            </a:solidFill>
            <a:prstDash val="solid"/>
          </a:ln>
        </p:spPr>
      </p:sp>
      <p:sp>
        <p:nvSpPr>
          <p:cNvPr id="60" name="Text 57"/>
          <p:cNvSpPr txBox="1"/>
          <p:nvPr/>
        </p:nvSpPr>
        <p:spPr>
          <a:xfrm>
            <a:off x="3584448" y="5349240"/>
            <a:ext cx="1463040" cy="256032"/>
          </a:xfrm>
          <a:prstGeom prst="rect">
            <a:avLst/>
          </a:prstGeom>
          <a:noFill/>
          <a:ln/>
        </p:spPr>
        <p:txBody>
          <a:bodyPr wrap="square" lIns="0" tIns="0" rIns="0" bIns="0" rtlCol="0" anchor="t"/>
          <a:lstStyle/>
          <a:p>
            <a:pPr indent="0" marL="0">
              <a:buNone/>
            </a:pPr>
            <a:r>
              <a:rPr lang="en-US" sz="1200" b="1" dirty="0">
                <a:solidFill>
                  <a:srgbClr val="465A69"/>
                </a:solidFill>
                <a:latin typeface="Calibri" pitchFamily="34" charset="0"/>
                <a:ea typeface="Calibri" pitchFamily="34" charset="-122"/>
                <a:cs typeface="Calibri" pitchFamily="34" charset="-120"/>
              </a:rPr>
              <a:t>Decision</a:t>
            </a:r>
            <a:endParaRPr lang="en-US" sz="1200" dirty="0"/>
          </a:p>
        </p:txBody>
      </p:sp>
      <p:sp>
        <p:nvSpPr>
          <p:cNvPr id="61" name="Shape 58"/>
          <p:cNvSpPr/>
          <p:nvPr/>
        </p:nvSpPr>
        <p:spPr>
          <a:xfrm>
            <a:off x="5486400" y="5303520"/>
            <a:ext cx="1874520" cy="658368"/>
          </a:xfrm>
          <a:prstGeom prst="roundRect">
            <a:avLst>
              <a:gd name="adj" fmla="val 11111"/>
            </a:avLst>
          </a:prstGeom>
          <a:solidFill>
            <a:srgbClr val="FFFFFF"/>
          </a:solidFill>
          <a:ln w="12700">
            <a:solidFill>
              <a:srgbClr val="FFFFFF"/>
            </a:solidFill>
            <a:prstDash val="solid"/>
          </a:ln>
        </p:spPr>
      </p:sp>
      <p:sp>
        <p:nvSpPr>
          <p:cNvPr id="62" name="Text 59"/>
          <p:cNvSpPr txBox="1"/>
          <p:nvPr/>
        </p:nvSpPr>
        <p:spPr>
          <a:xfrm>
            <a:off x="5596128" y="5349240"/>
            <a:ext cx="1463040" cy="256032"/>
          </a:xfrm>
          <a:prstGeom prst="rect">
            <a:avLst/>
          </a:prstGeom>
          <a:noFill/>
          <a:ln/>
        </p:spPr>
        <p:txBody>
          <a:bodyPr wrap="square" lIns="0" tIns="0" rIns="0" bIns="0" rtlCol="0" anchor="t"/>
          <a:lstStyle/>
          <a:p>
            <a:pPr indent="0" marL="0">
              <a:buNone/>
            </a:pPr>
            <a:r>
              <a:rPr lang="en-US" sz="1200" b="1" dirty="0">
                <a:solidFill>
                  <a:srgbClr val="465A69"/>
                </a:solidFill>
                <a:latin typeface="Calibri" pitchFamily="34" charset="0"/>
                <a:ea typeface="Calibri" pitchFamily="34" charset="-122"/>
                <a:cs typeface="Calibri" pitchFamily="34" charset="-120"/>
              </a:rPr>
              <a:t>Owner</a:t>
            </a:r>
            <a:endParaRPr lang="en-US" sz="1200" dirty="0"/>
          </a:p>
        </p:txBody>
      </p:sp>
      <p:sp>
        <p:nvSpPr>
          <p:cNvPr id="63" name="Shape 60"/>
          <p:cNvSpPr/>
          <p:nvPr/>
        </p:nvSpPr>
        <p:spPr>
          <a:xfrm>
            <a:off x="7498080" y="5303520"/>
            <a:ext cx="1874520" cy="658368"/>
          </a:xfrm>
          <a:prstGeom prst="roundRect">
            <a:avLst>
              <a:gd name="adj" fmla="val 11111"/>
            </a:avLst>
          </a:prstGeom>
          <a:solidFill>
            <a:srgbClr val="FFFFFF"/>
          </a:solidFill>
          <a:ln w="12700">
            <a:solidFill>
              <a:srgbClr val="FFFFFF"/>
            </a:solidFill>
            <a:prstDash val="solid"/>
          </a:ln>
        </p:spPr>
      </p:sp>
      <p:sp>
        <p:nvSpPr>
          <p:cNvPr id="64" name="Text 61"/>
          <p:cNvSpPr txBox="1"/>
          <p:nvPr/>
        </p:nvSpPr>
        <p:spPr>
          <a:xfrm>
            <a:off x="7607808" y="5349240"/>
            <a:ext cx="1463040" cy="256032"/>
          </a:xfrm>
          <a:prstGeom prst="rect">
            <a:avLst/>
          </a:prstGeom>
          <a:noFill/>
          <a:ln/>
        </p:spPr>
        <p:txBody>
          <a:bodyPr wrap="square" lIns="0" tIns="0" rIns="0" bIns="0" rtlCol="0" anchor="t"/>
          <a:lstStyle/>
          <a:p>
            <a:pPr indent="0" marL="0">
              <a:buNone/>
            </a:pPr>
            <a:r>
              <a:rPr lang="en-US" sz="1200" b="1" dirty="0">
                <a:solidFill>
                  <a:srgbClr val="465A69"/>
                </a:solidFill>
                <a:latin typeface="Calibri" pitchFamily="34" charset="0"/>
                <a:ea typeface="Calibri" pitchFamily="34" charset="-122"/>
                <a:cs typeface="Calibri" pitchFamily="34" charset="-120"/>
              </a:rPr>
              <a:t>Rationale</a:t>
            </a:r>
            <a:endParaRPr lang="en-US" sz="1200" dirty="0"/>
          </a:p>
        </p:txBody>
      </p:sp>
      <p:sp>
        <p:nvSpPr>
          <p:cNvPr id="65" name="Shape 62"/>
          <p:cNvSpPr/>
          <p:nvPr/>
        </p:nvSpPr>
        <p:spPr>
          <a:xfrm>
            <a:off x="9509760" y="5303520"/>
            <a:ext cx="1874520" cy="658368"/>
          </a:xfrm>
          <a:prstGeom prst="roundRect">
            <a:avLst>
              <a:gd name="adj" fmla="val 11111"/>
            </a:avLst>
          </a:prstGeom>
          <a:solidFill>
            <a:srgbClr val="FFFFFF"/>
          </a:solidFill>
          <a:ln w="12700">
            <a:solidFill>
              <a:srgbClr val="FFFFFF"/>
            </a:solidFill>
            <a:prstDash val="solid"/>
          </a:ln>
        </p:spPr>
      </p:sp>
      <p:sp>
        <p:nvSpPr>
          <p:cNvPr id="66" name="Text 63"/>
          <p:cNvSpPr txBox="1"/>
          <p:nvPr/>
        </p:nvSpPr>
        <p:spPr>
          <a:xfrm>
            <a:off x="9619488" y="5349240"/>
            <a:ext cx="1463040" cy="256032"/>
          </a:xfrm>
          <a:prstGeom prst="rect">
            <a:avLst/>
          </a:prstGeom>
          <a:noFill/>
          <a:ln/>
        </p:spPr>
        <p:txBody>
          <a:bodyPr wrap="square" lIns="0" tIns="0" rIns="0" bIns="0" rtlCol="0" anchor="t"/>
          <a:lstStyle/>
          <a:p>
            <a:pPr indent="0" marL="0">
              <a:buNone/>
            </a:pPr>
            <a:r>
              <a:rPr lang="en-US" sz="1200" b="1" dirty="0">
                <a:solidFill>
                  <a:srgbClr val="465A69"/>
                </a:solidFill>
                <a:latin typeface="Calibri" pitchFamily="34" charset="0"/>
                <a:ea typeface="Calibri" pitchFamily="34" charset="-122"/>
                <a:cs typeface="Calibri" pitchFamily="34" charset="-120"/>
              </a:rPr>
              <a:t>Time</a:t>
            </a:r>
            <a:endParaRPr lang="en-US" sz="1200" dirty="0"/>
          </a:p>
        </p:txBody>
      </p:sp>
      <p:sp>
        <p:nvSpPr>
          <p:cNvPr id="67" name="Text 64"/>
          <p:cNvSpPr txBox="1"/>
          <p:nvPr/>
        </p:nvSpPr>
        <p:spPr>
          <a:xfrm>
            <a:off x="548640" y="6254496"/>
            <a:ext cx="11091672" cy="256032"/>
          </a:xfrm>
          <a:prstGeom prst="rect">
            <a:avLst/>
          </a:prstGeom>
          <a:noFill/>
          <a:ln/>
        </p:spPr>
        <p:txBody>
          <a:bodyPr wrap="square" lIns="0" tIns="0" rIns="0" bIns="0" rtlCol="0" anchor="ctr"/>
          <a:lstStyle/>
          <a:p>
            <a:pPr indent="0" marL="0">
              <a:buNone/>
            </a:pPr>
            <a:r>
              <a:rPr lang="en-US" sz="1200" b="1" dirty="0">
                <a:solidFill>
                  <a:srgbClr val="465A69"/>
                </a:solidFill>
                <a:latin typeface="Calibri" pitchFamily="34" charset="0"/>
                <a:ea typeface="Calibri" pitchFamily="34" charset="-122"/>
                <a:cs typeface="Calibri" pitchFamily="34" charset="-120"/>
              </a:rPr>
              <a:t>Acronyms:  </a:t>
            </a:r>
            <a:pPr indent="0" marL="0">
              <a:buNone/>
            </a:pPr>
            <a:r>
              <a:rPr lang="en-US" sz="1200" dirty="0">
                <a:solidFill>
                  <a:srgbClr val="465A69"/>
                </a:solidFill>
                <a:latin typeface="Calibri" pitchFamily="34" charset="0"/>
                <a:ea typeface="Calibri" pitchFamily="34" charset="-122"/>
                <a:cs typeface="Calibri" pitchFamily="34" charset="-120"/>
              </a:rPr>
              <a:t>T+: time since the first signal</a:t>
            </a:r>
            <a:endParaRPr lang="en-US" sz="1200" dirty="0"/>
          </a:p>
        </p:txBody>
      </p:sp>
      <p:sp>
        <p:nvSpPr>
          <p:cNvPr id="68" name="Shape 65"/>
          <p:cNvSpPr/>
          <p:nvPr/>
        </p:nvSpPr>
        <p:spPr>
          <a:xfrm>
            <a:off x="548640" y="6537960"/>
            <a:ext cx="763524" cy="274320"/>
          </a:xfrm>
          <a:prstGeom prst="roundRect">
            <a:avLst>
              <a:gd name="adj" fmla="val 50000"/>
            </a:avLst>
          </a:prstGeom>
          <a:solidFill>
            <a:srgbClr val="E4ECF2"/>
          </a:solidFill>
          <a:ln w="12700">
            <a:solidFill>
              <a:srgbClr val="E4ECF2"/>
            </a:solidFill>
            <a:prstDash val="solid"/>
          </a:ln>
        </p:spPr>
      </p:sp>
      <p:sp>
        <p:nvSpPr>
          <p:cNvPr id="69" name="Text 66"/>
          <p:cNvSpPr txBox="1"/>
          <p:nvPr/>
        </p:nvSpPr>
        <p:spPr>
          <a:xfrm>
            <a:off x="548640" y="6537960"/>
            <a:ext cx="763524" cy="274320"/>
          </a:xfrm>
          <a:prstGeom prst="rect">
            <a:avLst/>
          </a:prstGeom>
          <a:noFill/>
          <a:ln/>
        </p:spPr>
        <p:txBody>
          <a:bodyPr wrap="square" lIns="0" tIns="0" rIns="0" bIns="0" rtlCol="0" anchor="ctr"/>
          <a:lstStyle/>
          <a:p>
            <a:pPr algn="ctr" indent="0" marL="0">
              <a:buNone/>
            </a:pPr>
            <a:r>
              <a:rPr lang="en-US" sz="1200" b="1" dirty="0">
                <a:solidFill>
                  <a:srgbClr val="23405A"/>
                </a:solidFill>
                <a:latin typeface="Calibri" pitchFamily="34" charset="0"/>
                <a:ea typeface="Calibri" pitchFamily="34" charset="-122"/>
                <a:cs typeface="Calibri" pitchFamily="34" charset="-120"/>
              </a:rPr>
              <a:t>Start</a:t>
            </a:r>
            <a:endParaRPr lang="en-US" sz="1200" dirty="0"/>
          </a:p>
        </p:txBody>
      </p:sp>
      <p:pic>
        <p:nvPicPr>
          <p:cNvPr id="70" name="Image 1" descr="preencoded.png">
            <a:hlinkClick r:id="rId3" tooltip="Go to Start" action="ppaction://hlinksldjump"/>
          </p:cNvPr>
          <p:cNvPicPr>
            <a:picLocks noChangeAspect="1"/>
          </p:cNvPicPr>
          <p:nvPr/>
        </p:nvPicPr>
        <p:blipFill>
          <a:blip r:embed="rId2"/>
          <a:stretch>
            <a:fillRect/>
          </a:stretch>
        </p:blipFill>
        <p:spPr>
          <a:xfrm>
            <a:off x="548640" y="6537960"/>
            <a:ext cx="763524" cy="274320"/>
          </a:xfrm>
          <a:prstGeom prst="rect">
            <a:avLst/>
          </a:prstGeom>
        </p:spPr>
      </p:pic>
      <p:sp>
        <p:nvSpPr>
          <p:cNvPr id="71" name="Shape 67"/>
          <p:cNvSpPr/>
          <p:nvPr/>
        </p:nvSpPr>
        <p:spPr>
          <a:xfrm>
            <a:off x="1385316" y="6537960"/>
            <a:ext cx="1197864" cy="274320"/>
          </a:xfrm>
          <a:prstGeom prst="roundRect">
            <a:avLst>
              <a:gd name="adj" fmla="val 50000"/>
            </a:avLst>
          </a:prstGeom>
          <a:solidFill>
            <a:srgbClr val="F1F6FA"/>
          </a:solidFill>
          <a:ln w="12700">
            <a:solidFill>
              <a:srgbClr val="F1F6FA"/>
            </a:solidFill>
            <a:prstDash val="solid"/>
          </a:ln>
        </p:spPr>
      </p:sp>
      <p:sp>
        <p:nvSpPr>
          <p:cNvPr id="72" name="Text 68"/>
          <p:cNvSpPr txBox="1"/>
          <p:nvPr/>
        </p:nvSpPr>
        <p:spPr>
          <a:xfrm>
            <a:off x="1385316" y="6537960"/>
            <a:ext cx="1197864" cy="274320"/>
          </a:xfrm>
          <a:prstGeom prst="rect">
            <a:avLst/>
          </a:prstGeom>
          <a:noFill/>
          <a:ln/>
        </p:spPr>
        <p:txBody>
          <a:bodyPr wrap="square" lIns="0" tIns="0" rIns="0" bIns="0" rtlCol="0" anchor="ctr"/>
          <a:lstStyle/>
          <a:p>
            <a:pPr algn="ctr" indent="0" marL="0">
              <a:buNone/>
            </a:pPr>
            <a:r>
              <a:rPr lang="en-US" sz="1200" b="1" dirty="0">
                <a:solidFill>
                  <a:srgbClr val="3F6E8C"/>
                </a:solidFill>
                <a:latin typeface="Calibri" pitchFamily="34" charset="0"/>
                <a:ea typeface="Calibri" pitchFamily="34" charset="-122"/>
                <a:cs typeface="Calibri" pitchFamily="34" charset="-120"/>
              </a:rPr>
              <a:t>Scenario 1</a:t>
            </a:r>
            <a:endParaRPr lang="en-US" sz="1200" dirty="0"/>
          </a:p>
        </p:txBody>
      </p:sp>
      <p:pic>
        <p:nvPicPr>
          <p:cNvPr id="73" name="Image 2" descr="preencoded.png">
            <a:hlinkClick r:id="rId5" tooltip="Go to Scenario 1" action="ppaction://hlinksldjump"/>
          </p:cNvPr>
          <p:cNvPicPr>
            <a:picLocks noChangeAspect="1"/>
          </p:cNvPicPr>
          <p:nvPr/>
        </p:nvPicPr>
        <p:blipFill>
          <a:blip r:embed="rId4"/>
          <a:stretch>
            <a:fillRect/>
          </a:stretch>
        </p:blipFill>
        <p:spPr>
          <a:xfrm>
            <a:off x="1385316" y="6537960"/>
            <a:ext cx="1197864" cy="274320"/>
          </a:xfrm>
          <a:prstGeom prst="rect">
            <a:avLst/>
          </a:prstGeom>
        </p:spPr>
      </p:pic>
      <p:sp>
        <p:nvSpPr>
          <p:cNvPr id="74" name="Shape 69"/>
          <p:cNvSpPr/>
          <p:nvPr/>
        </p:nvSpPr>
        <p:spPr>
          <a:xfrm>
            <a:off x="2656332" y="6537960"/>
            <a:ext cx="1197864" cy="274320"/>
          </a:xfrm>
          <a:prstGeom prst="roundRect">
            <a:avLst>
              <a:gd name="adj" fmla="val 50000"/>
            </a:avLst>
          </a:prstGeom>
          <a:solidFill>
            <a:srgbClr val="4C8068"/>
          </a:solidFill>
          <a:ln w="12700">
            <a:solidFill>
              <a:srgbClr val="4C8068"/>
            </a:solidFill>
            <a:prstDash val="solid"/>
          </a:ln>
        </p:spPr>
      </p:sp>
      <p:sp>
        <p:nvSpPr>
          <p:cNvPr id="75" name="Text 70"/>
          <p:cNvSpPr txBox="1"/>
          <p:nvPr/>
        </p:nvSpPr>
        <p:spPr>
          <a:xfrm>
            <a:off x="2656332" y="6537960"/>
            <a:ext cx="1197864"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Scenario 2</a:t>
            </a:r>
            <a:endParaRPr lang="en-US" sz="1200" dirty="0"/>
          </a:p>
        </p:txBody>
      </p:sp>
      <p:pic>
        <p:nvPicPr>
          <p:cNvPr id="76" name="Image 3" descr="preencoded.png">
            <a:hlinkClick r:id="rId7" tooltip="Go to Scenario 2" action="ppaction://hlinksldjump"/>
          </p:cNvPr>
          <p:cNvPicPr>
            <a:picLocks noChangeAspect="1"/>
          </p:cNvPicPr>
          <p:nvPr/>
        </p:nvPicPr>
        <p:blipFill>
          <a:blip r:embed="rId6"/>
          <a:stretch>
            <a:fillRect/>
          </a:stretch>
        </p:blipFill>
        <p:spPr>
          <a:xfrm>
            <a:off x="2656332" y="6537960"/>
            <a:ext cx="1197864" cy="274320"/>
          </a:xfrm>
          <a:prstGeom prst="rect">
            <a:avLst/>
          </a:prstGeom>
        </p:spPr>
      </p:pic>
      <p:sp>
        <p:nvSpPr>
          <p:cNvPr id="77" name="Shape 71"/>
          <p:cNvSpPr/>
          <p:nvPr/>
        </p:nvSpPr>
        <p:spPr>
          <a:xfrm>
            <a:off x="3927348" y="6537960"/>
            <a:ext cx="1197864" cy="274320"/>
          </a:xfrm>
          <a:prstGeom prst="roundRect">
            <a:avLst>
              <a:gd name="adj" fmla="val 50000"/>
            </a:avLst>
          </a:prstGeom>
          <a:solidFill>
            <a:srgbClr val="F6F3FA"/>
          </a:solidFill>
          <a:ln w="12700">
            <a:solidFill>
              <a:srgbClr val="F6F3FA"/>
            </a:solidFill>
            <a:prstDash val="solid"/>
          </a:ln>
        </p:spPr>
      </p:sp>
      <p:sp>
        <p:nvSpPr>
          <p:cNvPr id="78" name="Text 72"/>
          <p:cNvSpPr txBox="1"/>
          <p:nvPr/>
        </p:nvSpPr>
        <p:spPr>
          <a:xfrm>
            <a:off x="3927348" y="6537960"/>
            <a:ext cx="1197864" cy="274320"/>
          </a:xfrm>
          <a:prstGeom prst="rect">
            <a:avLst/>
          </a:prstGeom>
          <a:noFill/>
          <a:ln/>
        </p:spPr>
        <p:txBody>
          <a:bodyPr wrap="square" lIns="0" tIns="0" rIns="0" bIns="0" rtlCol="0" anchor="ctr"/>
          <a:lstStyle/>
          <a:p>
            <a:pPr algn="ctr" indent="0" marL="0">
              <a:buNone/>
            </a:pPr>
            <a:r>
              <a:rPr lang="en-US" sz="1200" b="1" dirty="0">
                <a:solidFill>
                  <a:srgbClr val="6E5E94"/>
                </a:solidFill>
                <a:latin typeface="Calibri" pitchFamily="34" charset="0"/>
                <a:ea typeface="Calibri" pitchFamily="34" charset="-122"/>
                <a:cs typeface="Calibri" pitchFamily="34" charset="-120"/>
              </a:rPr>
              <a:t>Scenario 3</a:t>
            </a:r>
            <a:endParaRPr lang="en-US" sz="1200" dirty="0"/>
          </a:p>
        </p:txBody>
      </p:sp>
      <p:pic>
        <p:nvPicPr>
          <p:cNvPr id="79" name="Image 4" descr="preencoded.png">
            <a:hlinkClick r:id="rId9" tooltip="Go to Scenario 3" action="ppaction://hlinksldjump"/>
          </p:cNvPr>
          <p:cNvPicPr>
            <a:picLocks noChangeAspect="1"/>
          </p:cNvPicPr>
          <p:nvPr/>
        </p:nvPicPr>
        <p:blipFill>
          <a:blip r:embed="rId8"/>
          <a:stretch>
            <a:fillRect/>
          </a:stretch>
        </p:blipFill>
        <p:spPr>
          <a:xfrm>
            <a:off x="3927348" y="6537960"/>
            <a:ext cx="1197864" cy="274320"/>
          </a:xfrm>
          <a:prstGeom prst="rect">
            <a:avLst/>
          </a:prstGeom>
        </p:spPr>
      </p:pic>
      <p:sp>
        <p:nvSpPr>
          <p:cNvPr id="80" name="Shape 73"/>
          <p:cNvSpPr/>
          <p:nvPr/>
        </p:nvSpPr>
        <p:spPr>
          <a:xfrm>
            <a:off x="5198364" y="6537960"/>
            <a:ext cx="937260" cy="274320"/>
          </a:xfrm>
          <a:prstGeom prst="roundRect">
            <a:avLst>
              <a:gd name="adj" fmla="val 50000"/>
            </a:avLst>
          </a:prstGeom>
          <a:solidFill>
            <a:srgbClr val="E4ECF2"/>
          </a:solidFill>
          <a:ln w="12700">
            <a:solidFill>
              <a:srgbClr val="E4ECF2"/>
            </a:solidFill>
            <a:prstDash val="solid"/>
          </a:ln>
        </p:spPr>
      </p:sp>
      <p:sp>
        <p:nvSpPr>
          <p:cNvPr id="81" name="Text 74"/>
          <p:cNvSpPr txBox="1"/>
          <p:nvPr/>
        </p:nvSpPr>
        <p:spPr>
          <a:xfrm>
            <a:off x="5198364" y="6537960"/>
            <a:ext cx="937260" cy="274320"/>
          </a:xfrm>
          <a:prstGeom prst="rect">
            <a:avLst/>
          </a:prstGeom>
          <a:noFill/>
          <a:ln/>
        </p:spPr>
        <p:txBody>
          <a:bodyPr wrap="square" lIns="0" tIns="0" rIns="0" bIns="0" rtlCol="0" anchor="ctr"/>
          <a:lstStyle/>
          <a:p>
            <a:pPr algn="ctr" indent="0" marL="0">
              <a:buNone/>
            </a:pPr>
            <a:r>
              <a:rPr lang="en-US" sz="1200" b="1" dirty="0">
                <a:solidFill>
                  <a:srgbClr val="23405A"/>
                </a:solidFill>
                <a:latin typeface="Calibri" pitchFamily="34" charset="0"/>
                <a:ea typeface="Calibri" pitchFamily="34" charset="-122"/>
                <a:cs typeface="Calibri" pitchFamily="34" charset="-120"/>
              </a:rPr>
              <a:t>Closing</a:t>
            </a:r>
            <a:endParaRPr lang="en-US" sz="1200" dirty="0"/>
          </a:p>
        </p:txBody>
      </p:sp>
      <p:pic>
        <p:nvPicPr>
          <p:cNvPr id="82" name="Image 5" descr="preencoded.png">
            <a:hlinkClick r:id="rId11" tooltip="Go to Closing" action="ppaction://hlinksldjump"/>
          </p:cNvPr>
          <p:cNvPicPr>
            <a:picLocks noChangeAspect="1"/>
          </p:cNvPicPr>
          <p:nvPr/>
        </p:nvPicPr>
        <p:blipFill>
          <a:blip r:embed="rId10"/>
          <a:stretch>
            <a:fillRect/>
          </a:stretch>
        </p:blipFill>
        <p:spPr>
          <a:xfrm>
            <a:off x="5198364" y="6537960"/>
            <a:ext cx="937260" cy="274320"/>
          </a:xfrm>
          <a:prstGeom prst="rect">
            <a:avLst/>
          </a:prstGeom>
        </p:spPr>
      </p:pic>
      <p:sp>
        <p:nvSpPr>
          <p:cNvPr id="83" name="Text 75"/>
          <p:cNvSpPr txBox="1"/>
          <p:nvPr/>
        </p:nvSpPr>
        <p:spPr>
          <a:xfrm>
            <a:off x="11277295" y="6537960"/>
            <a:ext cx="365760" cy="274320"/>
          </a:xfrm>
          <a:prstGeom prst="rect">
            <a:avLst/>
          </a:prstGeom>
          <a:noFill/>
          <a:ln/>
        </p:spPr>
        <p:txBody>
          <a:bodyPr wrap="square" lIns="0" tIns="0" rIns="0" bIns="0" rtlCol="0" anchor="ctr"/>
          <a:lstStyle/>
          <a:p>
            <a:pPr algn="r" indent="0" marL="0">
              <a:buNone/>
            </a:pPr>
            <a:r>
              <a:rPr lang="en-US" sz="1200" dirty="0">
                <a:solidFill>
                  <a:srgbClr val="465A69"/>
                </a:solidFill>
                <a:latin typeface="Calibri" pitchFamily="34" charset="0"/>
                <a:ea typeface="Calibri" pitchFamily="34" charset="-122"/>
                <a:cs typeface="Calibri" pitchFamily="34" charset="-120"/>
              </a:rPr>
              <a:t>26</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E6F2E9"/>
        </a:solidFill>
      </p:bgPr>
    </p:bg>
    <p:spTree>
      <p:nvGrpSpPr>
        <p:cNvPr id="1" name=""/>
        <p:cNvGrpSpPr/>
        <p:nvPr/>
      </p:nvGrpSpPr>
      <p:grpSpPr>
        <a:xfrm>
          <a:off x="0" y="0"/>
          <a:ext cx="0" cy="0"/>
          <a:chOff x="0" y="0"/>
          <a:chExt cx="0" cy="0"/>
        </a:xfrm>
      </p:grpSpPr>
      <p:sp>
        <p:nvSpPr>
          <p:cNvPr id="2" name="Shape 0"/>
          <p:cNvSpPr/>
          <p:nvPr/>
        </p:nvSpPr>
        <p:spPr>
          <a:xfrm>
            <a:off x="548640" y="347472"/>
            <a:ext cx="2843784" cy="329184"/>
          </a:xfrm>
          <a:prstGeom prst="roundRect">
            <a:avLst>
              <a:gd name="adj" fmla="val 50000"/>
            </a:avLst>
          </a:prstGeom>
          <a:solidFill>
            <a:srgbClr val="F1F8F3"/>
          </a:solidFill>
          <a:ln w="12700">
            <a:solidFill>
              <a:srgbClr val="F1F8F3"/>
            </a:solidFill>
            <a:prstDash val="solid"/>
          </a:ln>
        </p:spPr>
      </p:sp>
      <p:sp>
        <p:nvSpPr>
          <p:cNvPr id="3" name="Text 1"/>
          <p:cNvSpPr txBox="1"/>
          <p:nvPr/>
        </p:nvSpPr>
        <p:spPr>
          <a:xfrm>
            <a:off x="548640" y="347472"/>
            <a:ext cx="2843784" cy="329184"/>
          </a:xfrm>
          <a:prstGeom prst="rect">
            <a:avLst/>
          </a:prstGeom>
          <a:noFill/>
          <a:ln/>
        </p:spPr>
        <p:txBody>
          <a:bodyPr wrap="square" lIns="0" tIns="0" rIns="0" bIns="0" rtlCol="0" anchor="ctr"/>
          <a:lstStyle/>
          <a:p>
            <a:pPr algn="ctr" indent="0" marL="0">
              <a:buNone/>
            </a:pPr>
            <a:r>
              <a:rPr lang="en-US" sz="1200" b="1" dirty="0">
                <a:solidFill>
                  <a:srgbClr val="4C8068"/>
                </a:solidFill>
                <a:latin typeface="Calibri" pitchFamily="34" charset="0"/>
                <a:ea typeface="Calibri" pitchFamily="34" charset="-122"/>
                <a:cs typeface="Calibri" pitchFamily="34" charset="-120"/>
              </a:rPr>
              <a:t>Scenario 2: Disaster Recovery</a:t>
            </a:r>
            <a:endParaRPr lang="en-US" sz="1200" dirty="0"/>
          </a:p>
        </p:txBody>
      </p:sp>
      <p:sp>
        <p:nvSpPr>
          <p:cNvPr id="4" name="Text 2"/>
          <p:cNvSpPr txBox="1"/>
          <p:nvPr/>
        </p:nvSpPr>
        <p:spPr>
          <a:xfrm>
            <a:off x="548640" y="749808"/>
            <a:ext cx="11064240" cy="640080"/>
          </a:xfrm>
          <a:prstGeom prst="rect">
            <a:avLst/>
          </a:prstGeom>
          <a:noFill/>
          <a:ln/>
        </p:spPr>
        <p:txBody>
          <a:bodyPr wrap="square" lIns="0" tIns="0" rIns="0" bIns="0" rtlCol="0" anchor="ctr"/>
          <a:lstStyle/>
          <a:p>
            <a:pPr indent="0" marL="0">
              <a:buNone/>
            </a:pPr>
            <a:r>
              <a:rPr lang="en-US" sz="2800" b="1" dirty="0">
                <a:solidFill>
                  <a:srgbClr val="23405A"/>
                </a:solidFill>
                <a:latin typeface="Calibri" pitchFamily="34" charset="0"/>
                <a:ea typeface="Calibri" pitchFamily="34" charset="-122"/>
                <a:cs typeface="Calibri" pitchFamily="34" charset="-120"/>
              </a:rPr>
              <a:t>T+30m: Scope Expands</a:t>
            </a:r>
            <a:endParaRPr lang="en-US" sz="2800" dirty="0"/>
          </a:p>
        </p:txBody>
      </p:sp>
      <p:sp>
        <p:nvSpPr>
          <p:cNvPr id="5" name="Shape 3"/>
          <p:cNvSpPr/>
          <p:nvPr/>
        </p:nvSpPr>
        <p:spPr>
          <a:xfrm>
            <a:off x="10705795" y="347472"/>
            <a:ext cx="937260" cy="329184"/>
          </a:xfrm>
          <a:prstGeom prst="roundRect">
            <a:avLst>
              <a:gd name="adj" fmla="val 50000"/>
            </a:avLst>
          </a:prstGeom>
          <a:solidFill>
            <a:srgbClr val="FFFFFF"/>
          </a:solidFill>
          <a:ln w="12700">
            <a:solidFill>
              <a:srgbClr val="FFFFFF"/>
            </a:solidFill>
            <a:prstDash val="solid"/>
          </a:ln>
        </p:spPr>
      </p:sp>
      <p:sp>
        <p:nvSpPr>
          <p:cNvPr id="6" name="Text 4"/>
          <p:cNvSpPr txBox="1"/>
          <p:nvPr/>
        </p:nvSpPr>
        <p:spPr>
          <a:xfrm>
            <a:off x="10705795" y="347472"/>
            <a:ext cx="937260" cy="329184"/>
          </a:xfrm>
          <a:prstGeom prst="rect">
            <a:avLst/>
          </a:prstGeom>
          <a:noFill/>
          <a:ln/>
        </p:spPr>
        <p:txBody>
          <a:bodyPr wrap="square" lIns="0" tIns="0" rIns="0" bIns="0" rtlCol="0" anchor="ctr"/>
          <a:lstStyle/>
          <a:p>
            <a:pPr algn="ctr" indent="0" marL="0">
              <a:buNone/>
            </a:pPr>
            <a:r>
              <a:rPr lang="en-US" sz="1200" dirty="0">
                <a:solidFill>
                  <a:srgbClr val="465A69"/>
                </a:solidFill>
                <a:latin typeface="Calibri" pitchFamily="34" charset="0"/>
                <a:ea typeface="Calibri" pitchFamily="34" charset="-122"/>
                <a:cs typeface="Calibri" pitchFamily="34" charset="-120"/>
              </a:rPr>
              <a:t>Hotwash</a:t>
            </a:r>
            <a:endParaRPr lang="en-US" sz="1200" dirty="0"/>
          </a:p>
        </p:txBody>
      </p:sp>
      <p:sp>
        <p:nvSpPr>
          <p:cNvPr id="7" name="Shape 5"/>
          <p:cNvSpPr/>
          <p:nvPr/>
        </p:nvSpPr>
        <p:spPr>
          <a:xfrm>
            <a:off x="9608515" y="347472"/>
            <a:ext cx="1024128" cy="329184"/>
          </a:xfrm>
          <a:prstGeom prst="roundRect">
            <a:avLst>
              <a:gd name="adj" fmla="val 50000"/>
            </a:avLst>
          </a:prstGeom>
          <a:solidFill>
            <a:srgbClr val="FFFFFF"/>
          </a:solidFill>
          <a:ln w="12700">
            <a:solidFill>
              <a:srgbClr val="FFFFFF"/>
            </a:solidFill>
            <a:prstDash val="solid"/>
          </a:ln>
        </p:spPr>
      </p:sp>
      <p:sp>
        <p:nvSpPr>
          <p:cNvPr id="8" name="Text 6"/>
          <p:cNvSpPr txBox="1"/>
          <p:nvPr/>
        </p:nvSpPr>
        <p:spPr>
          <a:xfrm>
            <a:off x="9608515" y="347472"/>
            <a:ext cx="1024128" cy="329184"/>
          </a:xfrm>
          <a:prstGeom prst="rect">
            <a:avLst/>
          </a:prstGeom>
          <a:noFill/>
          <a:ln/>
        </p:spPr>
        <p:txBody>
          <a:bodyPr wrap="square" lIns="0" tIns="0" rIns="0" bIns="0" rtlCol="0" anchor="ctr"/>
          <a:lstStyle/>
          <a:p>
            <a:pPr algn="ctr" indent="0" marL="0">
              <a:buNone/>
            </a:pPr>
            <a:r>
              <a:rPr lang="en-US" sz="1200" dirty="0">
                <a:solidFill>
                  <a:srgbClr val="465A69"/>
                </a:solidFill>
                <a:latin typeface="Calibri" pitchFamily="34" charset="0"/>
                <a:ea typeface="Calibri" pitchFamily="34" charset="-122"/>
                <a:cs typeface="Calibri" pitchFamily="34" charset="-120"/>
              </a:rPr>
              <a:t>Recovery</a:t>
            </a:r>
            <a:endParaRPr lang="en-US" sz="1200" dirty="0"/>
          </a:p>
        </p:txBody>
      </p:sp>
      <p:sp>
        <p:nvSpPr>
          <p:cNvPr id="9" name="Shape 7"/>
          <p:cNvSpPr/>
          <p:nvPr/>
        </p:nvSpPr>
        <p:spPr>
          <a:xfrm>
            <a:off x="8598103" y="347472"/>
            <a:ext cx="937260" cy="329184"/>
          </a:xfrm>
          <a:prstGeom prst="roundRect">
            <a:avLst>
              <a:gd name="adj" fmla="val 50000"/>
            </a:avLst>
          </a:prstGeom>
          <a:solidFill>
            <a:srgbClr val="4C8068"/>
          </a:solidFill>
          <a:ln w="12700">
            <a:solidFill>
              <a:srgbClr val="4C8068"/>
            </a:solidFill>
            <a:prstDash val="solid"/>
          </a:ln>
        </p:spPr>
      </p:sp>
      <p:sp>
        <p:nvSpPr>
          <p:cNvPr id="10" name="Text 8"/>
          <p:cNvSpPr txBox="1"/>
          <p:nvPr/>
        </p:nvSpPr>
        <p:spPr>
          <a:xfrm>
            <a:off x="8598103" y="347472"/>
            <a:ext cx="93726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Injects</a:t>
            </a:r>
            <a:endParaRPr lang="en-US" sz="1200" dirty="0"/>
          </a:p>
        </p:txBody>
      </p:sp>
      <p:sp>
        <p:nvSpPr>
          <p:cNvPr id="11" name="Shape 9"/>
          <p:cNvSpPr/>
          <p:nvPr/>
        </p:nvSpPr>
        <p:spPr>
          <a:xfrm>
            <a:off x="7674559" y="347472"/>
            <a:ext cx="850392" cy="329184"/>
          </a:xfrm>
          <a:prstGeom prst="roundRect">
            <a:avLst>
              <a:gd name="adj" fmla="val 50000"/>
            </a:avLst>
          </a:prstGeom>
          <a:solidFill>
            <a:srgbClr val="F1F8F3"/>
          </a:solidFill>
          <a:ln w="12700">
            <a:solidFill>
              <a:srgbClr val="F1F8F3"/>
            </a:solidFill>
            <a:prstDash val="solid"/>
          </a:ln>
        </p:spPr>
      </p:sp>
      <p:sp>
        <p:nvSpPr>
          <p:cNvPr id="12" name="Text 10"/>
          <p:cNvSpPr txBox="1"/>
          <p:nvPr/>
        </p:nvSpPr>
        <p:spPr>
          <a:xfrm>
            <a:off x="7674559" y="347472"/>
            <a:ext cx="850392" cy="329184"/>
          </a:xfrm>
          <a:prstGeom prst="rect">
            <a:avLst/>
          </a:prstGeom>
          <a:noFill/>
          <a:ln/>
        </p:spPr>
        <p:txBody>
          <a:bodyPr wrap="square" lIns="0" tIns="0" rIns="0" bIns="0" rtlCol="0" anchor="ctr"/>
          <a:lstStyle/>
          <a:p>
            <a:pPr algn="ctr" indent="0" marL="0">
              <a:buNone/>
            </a:pPr>
            <a:r>
              <a:rPr lang="en-US" sz="1200" dirty="0">
                <a:solidFill>
                  <a:srgbClr val="4C8068"/>
                </a:solidFill>
                <a:latin typeface="Calibri" pitchFamily="34" charset="0"/>
                <a:ea typeface="Calibri" pitchFamily="34" charset="-122"/>
                <a:cs typeface="Calibri" pitchFamily="34" charset="-120"/>
              </a:rPr>
              <a:t>Decide</a:t>
            </a:r>
            <a:endParaRPr lang="en-US" sz="1200" dirty="0"/>
          </a:p>
        </p:txBody>
      </p:sp>
      <p:sp>
        <p:nvSpPr>
          <p:cNvPr id="13" name="Shape 11"/>
          <p:cNvSpPr/>
          <p:nvPr/>
        </p:nvSpPr>
        <p:spPr>
          <a:xfrm>
            <a:off x="7011619" y="347472"/>
            <a:ext cx="589788" cy="329184"/>
          </a:xfrm>
          <a:prstGeom prst="roundRect">
            <a:avLst>
              <a:gd name="adj" fmla="val 50000"/>
            </a:avLst>
          </a:prstGeom>
          <a:solidFill>
            <a:srgbClr val="F1F8F3"/>
          </a:solidFill>
          <a:ln w="12700">
            <a:solidFill>
              <a:srgbClr val="F1F8F3"/>
            </a:solidFill>
            <a:prstDash val="solid"/>
          </a:ln>
        </p:spPr>
      </p:sp>
      <p:sp>
        <p:nvSpPr>
          <p:cNvPr id="14" name="Text 12"/>
          <p:cNvSpPr txBox="1"/>
          <p:nvPr/>
        </p:nvSpPr>
        <p:spPr>
          <a:xfrm>
            <a:off x="7011619" y="347472"/>
            <a:ext cx="589788" cy="329184"/>
          </a:xfrm>
          <a:prstGeom prst="rect">
            <a:avLst/>
          </a:prstGeom>
          <a:noFill/>
          <a:ln/>
        </p:spPr>
        <p:txBody>
          <a:bodyPr wrap="square" lIns="0" tIns="0" rIns="0" bIns="0" rtlCol="0" anchor="ctr"/>
          <a:lstStyle/>
          <a:p>
            <a:pPr algn="ctr" indent="0" marL="0">
              <a:buNone/>
            </a:pPr>
            <a:r>
              <a:rPr lang="en-US" sz="1200" dirty="0">
                <a:solidFill>
                  <a:srgbClr val="4C8068"/>
                </a:solidFill>
                <a:latin typeface="Calibri" pitchFamily="34" charset="0"/>
                <a:ea typeface="Calibri" pitchFamily="34" charset="-122"/>
                <a:cs typeface="Calibri" pitchFamily="34" charset="-120"/>
              </a:rPr>
              <a:t>T+0</a:t>
            </a:r>
            <a:endParaRPr lang="en-US" sz="1200" dirty="0"/>
          </a:p>
        </p:txBody>
      </p:sp>
      <p:sp>
        <p:nvSpPr>
          <p:cNvPr id="15" name="Shape 13"/>
          <p:cNvSpPr/>
          <p:nvPr/>
        </p:nvSpPr>
        <p:spPr>
          <a:xfrm>
            <a:off x="5740603" y="347472"/>
            <a:ext cx="1197864" cy="329184"/>
          </a:xfrm>
          <a:prstGeom prst="roundRect">
            <a:avLst>
              <a:gd name="adj" fmla="val 50000"/>
            </a:avLst>
          </a:prstGeom>
          <a:solidFill>
            <a:srgbClr val="F1F8F3"/>
          </a:solidFill>
          <a:ln w="12700">
            <a:solidFill>
              <a:srgbClr val="F1F8F3"/>
            </a:solidFill>
            <a:prstDash val="solid"/>
          </a:ln>
        </p:spPr>
      </p:sp>
      <p:sp>
        <p:nvSpPr>
          <p:cNvPr id="16" name="Text 14"/>
          <p:cNvSpPr txBox="1"/>
          <p:nvPr/>
        </p:nvSpPr>
        <p:spPr>
          <a:xfrm>
            <a:off x="5740603" y="347472"/>
            <a:ext cx="1197864" cy="329184"/>
          </a:xfrm>
          <a:prstGeom prst="rect">
            <a:avLst/>
          </a:prstGeom>
          <a:noFill/>
          <a:ln/>
        </p:spPr>
        <p:txBody>
          <a:bodyPr wrap="square" lIns="0" tIns="0" rIns="0" bIns="0" rtlCol="0" anchor="ctr"/>
          <a:lstStyle/>
          <a:p>
            <a:pPr algn="ctr" indent="0" marL="0">
              <a:buNone/>
            </a:pPr>
            <a:r>
              <a:rPr lang="en-US" sz="1200" dirty="0">
                <a:solidFill>
                  <a:srgbClr val="4C8068"/>
                </a:solidFill>
                <a:latin typeface="Calibri" pitchFamily="34" charset="0"/>
                <a:ea typeface="Calibri" pitchFamily="34" charset="-122"/>
                <a:cs typeface="Calibri" pitchFamily="34" charset="-120"/>
              </a:rPr>
              <a:t>Background</a:t>
            </a:r>
            <a:endParaRPr lang="en-US" sz="1200" dirty="0"/>
          </a:p>
        </p:txBody>
      </p:sp>
      <p:sp>
        <p:nvSpPr>
          <p:cNvPr id="17" name="Shape 15"/>
          <p:cNvSpPr/>
          <p:nvPr/>
        </p:nvSpPr>
        <p:spPr>
          <a:xfrm>
            <a:off x="548640" y="1600200"/>
            <a:ext cx="2377440" cy="4572000"/>
          </a:xfrm>
          <a:prstGeom prst="roundRect">
            <a:avLst>
              <a:gd name="adj" fmla="val 5385"/>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18" name="Text 16"/>
          <p:cNvSpPr txBox="1"/>
          <p:nvPr/>
        </p:nvSpPr>
        <p:spPr>
          <a:xfrm>
            <a:off x="822960" y="1783080"/>
            <a:ext cx="1874520" cy="320040"/>
          </a:xfrm>
          <a:prstGeom prst="rect">
            <a:avLst/>
          </a:prstGeom>
          <a:noFill/>
          <a:ln/>
        </p:spPr>
        <p:txBody>
          <a:bodyPr wrap="square" lIns="0" tIns="0" rIns="0" bIns="0" rtlCol="0" anchor="t"/>
          <a:lstStyle/>
          <a:p>
            <a:pPr indent="0" marL="0">
              <a:buNone/>
            </a:pPr>
            <a:r>
              <a:rPr lang="en-US" sz="1400" b="1" dirty="0">
                <a:solidFill>
                  <a:srgbClr val="465A69"/>
                </a:solidFill>
                <a:latin typeface="Calibri" pitchFamily="34" charset="0"/>
                <a:ea typeface="Calibri" pitchFamily="34" charset="-122"/>
                <a:cs typeface="Calibri" pitchFamily="34" charset="-120"/>
              </a:rPr>
              <a:t>Timeline</a:t>
            </a:r>
            <a:endParaRPr lang="en-US" sz="1400" dirty="0"/>
          </a:p>
        </p:txBody>
      </p:sp>
      <p:sp>
        <p:nvSpPr>
          <p:cNvPr id="19" name="Shape 17"/>
          <p:cNvSpPr/>
          <p:nvPr/>
        </p:nvSpPr>
        <p:spPr>
          <a:xfrm>
            <a:off x="905256" y="2551176"/>
            <a:ext cx="0" cy="257338"/>
          </a:xfrm>
          <a:prstGeom prst="line">
            <a:avLst/>
          </a:prstGeom>
          <a:noFill/>
          <a:ln w="19050">
            <a:solidFill>
              <a:srgbClr val="4C8068"/>
            </a:solidFill>
            <a:prstDash val="solid"/>
          </a:ln>
        </p:spPr>
      </p:sp>
      <p:sp>
        <p:nvSpPr>
          <p:cNvPr id="20" name="Shape 18"/>
          <p:cNvSpPr/>
          <p:nvPr/>
        </p:nvSpPr>
        <p:spPr>
          <a:xfrm>
            <a:off x="777240" y="2267712"/>
            <a:ext cx="256032" cy="256032"/>
          </a:xfrm>
          <a:prstGeom prst="ellipse">
            <a:avLst/>
          </a:prstGeom>
          <a:solidFill>
            <a:srgbClr val="F1F8F3"/>
          </a:solidFill>
          <a:ln w="12700">
            <a:solidFill>
              <a:srgbClr val="F1F8F3"/>
            </a:solidFill>
            <a:prstDash val="solid"/>
          </a:ln>
        </p:spPr>
      </p:sp>
      <p:sp>
        <p:nvSpPr>
          <p:cNvPr id="21" name="Text 19"/>
          <p:cNvSpPr txBox="1"/>
          <p:nvPr/>
        </p:nvSpPr>
        <p:spPr>
          <a:xfrm>
            <a:off x="1188720" y="2203704"/>
            <a:ext cx="1645920" cy="568234"/>
          </a:xfrm>
          <a:prstGeom prst="rect">
            <a:avLst/>
          </a:prstGeom>
          <a:noFill/>
          <a:ln/>
        </p:spPr>
        <p:txBody>
          <a:bodyPr wrap="square" lIns="0" tIns="0" rIns="0" bIns="0" rtlCol="0" anchor="t"/>
          <a:lstStyle/>
          <a:p>
            <a:pPr indent="0" marL="0">
              <a:buNone/>
            </a:pPr>
            <a:r>
              <a:rPr lang="en-US" sz="1200" b="1" dirty="0">
                <a:solidFill>
                  <a:srgbClr val="465A69"/>
                </a:solidFill>
                <a:latin typeface="Calibri" pitchFamily="34" charset="0"/>
                <a:ea typeface="Calibri" pitchFamily="34" charset="-122"/>
                <a:cs typeface="Calibri" pitchFamily="34" charset="-120"/>
              </a:rPr>
              <a:t>T+0</a:t>
            </a:r>
            <a:endParaRPr lang="en-US" sz="1200" dirty="0"/>
          </a:p>
          <a:p>
            <a:pPr indent="0" marL="0">
              <a:buNone/>
            </a:pPr>
            <a:r>
              <a:rPr lang="en-US" sz="1200" dirty="0">
                <a:solidFill>
                  <a:srgbClr val="1E2E3A"/>
                </a:solidFill>
                <a:latin typeface="Calibri" pitchFamily="34" charset="0"/>
                <a:ea typeface="Calibri" pitchFamily="34" charset="-122"/>
                <a:cs typeface="Calibri" pitchFamily="34" charset="-120"/>
              </a:rPr>
              <a:t>Initial alert</a:t>
            </a:r>
            <a:endParaRPr lang="en-US" sz="1200" dirty="0"/>
          </a:p>
        </p:txBody>
      </p:sp>
      <p:sp>
        <p:nvSpPr>
          <p:cNvPr id="22" name="Shape 20"/>
          <p:cNvSpPr/>
          <p:nvPr/>
        </p:nvSpPr>
        <p:spPr>
          <a:xfrm>
            <a:off x="905256" y="3119410"/>
            <a:ext cx="0" cy="257338"/>
          </a:xfrm>
          <a:prstGeom prst="line">
            <a:avLst/>
          </a:prstGeom>
          <a:noFill/>
          <a:ln w="19050">
            <a:solidFill>
              <a:srgbClr val="C9D5D2"/>
            </a:solidFill>
            <a:prstDash val="solid"/>
          </a:ln>
        </p:spPr>
      </p:sp>
      <p:sp>
        <p:nvSpPr>
          <p:cNvPr id="23" name="Shape 21"/>
          <p:cNvSpPr/>
          <p:nvPr/>
        </p:nvSpPr>
        <p:spPr>
          <a:xfrm>
            <a:off x="777240" y="2835946"/>
            <a:ext cx="256032" cy="256032"/>
          </a:xfrm>
          <a:prstGeom prst="ellipse">
            <a:avLst/>
          </a:prstGeom>
          <a:solidFill>
            <a:srgbClr val="4C8068"/>
          </a:solidFill>
          <a:ln w="12700">
            <a:solidFill>
              <a:srgbClr val="4C8068"/>
            </a:solidFill>
            <a:prstDash val="solid"/>
          </a:ln>
        </p:spPr>
      </p:sp>
      <p:sp>
        <p:nvSpPr>
          <p:cNvPr id="24" name="Text 22"/>
          <p:cNvSpPr txBox="1"/>
          <p:nvPr/>
        </p:nvSpPr>
        <p:spPr>
          <a:xfrm>
            <a:off x="1188720" y="2771938"/>
            <a:ext cx="1645920" cy="568234"/>
          </a:xfrm>
          <a:prstGeom prst="rect">
            <a:avLst/>
          </a:prstGeom>
          <a:noFill/>
          <a:ln/>
        </p:spPr>
        <p:txBody>
          <a:bodyPr wrap="square" lIns="0" tIns="0" rIns="0" bIns="0" rtlCol="0" anchor="t"/>
          <a:lstStyle/>
          <a:p>
            <a:pPr indent="0" marL="0">
              <a:buNone/>
            </a:pPr>
            <a:r>
              <a:rPr lang="en-US" sz="1200" b="1" dirty="0">
                <a:solidFill>
                  <a:srgbClr val="4C8068"/>
                </a:solidFill>
                <a:latin typeface="Calibri" pitchFamily="34" charset="0"/>
                <a:ea typeface="Calibri" pitchFamily="34" charset="-122"/>
                <a:cs typeface="Calibri" pitchFamily="34" charset="-120"/>
              </a:rPr>
              <a:t>T+30m</a:t>
            </a:r>
            <a:endParaRPr lang="en-US" sz="1200" dirty="0"/>
          </a:p>
          <a:p>
            <a:pPr indent="0" marL="0">
              <a:buNone/>
            </a:pPr>
            <a:r>
              <a:rPr lang="en-US" sz="1200" b="1" dirty="0">
                <a:solidFill>
                  <a:srgbClr val="4C8068"/>
                </a:solidFill>
                <a:latin typeface="Calibri" pitchFamily="34" charset="0"/>
                <a:ea typeface="Calibri" pitchFamily="34" charset="-122"/>
                <a:cs typeface="Calibri" pitchFamily="34" charset="-120"/>
              </a:rPr>
              <a:t>Scope expands</a:t>
            </a:r>
            <a:endParaRPr lang="en-US" sz="1200" dirty="0"/>
          </a:p>
        </p:txBody>
      </p:sp>
      <p:sp>
        <p:nvSpPr>
          <p:cNvPr id="25" name="Shape 23"/>
          <p:cNvSpPr/>
          <p:nvPr/>
        </p:nvSpPr>
        <p:spPr>
          <a:xfrm>
            <a:off x="905256" y="3687645"/>
            <a:ext cx="0" cy="257338"/>
          </a:xfrm>
          <a:prstGeom prst="line">
            <a:avLst/>
          </a:prstGeom>
          <a:noFill/>
          <a:ln w="19050">
            <a:solidFill>
              <a:srgbClr val="C9D5D2"/>
            </a:solidFill>
            <a:prstDash val="solid"/>
          </a:ln>
        </p:spPr>
      </p:sp>
      <p:sp>
        <p:nvSpPr>
          <p:cNvPr id="26" name="Shape 24"/>
          <p:cNvSpPr/>
          <p:nvPr/>
        </p:nvSpPr>
        <p:spPr>
          <a:xfrm>
            <a:off x="777240" y="3404181"/>
            <a:ext cx="256032" cy="256032"/>
          </a:xfrm>
          <a:prstGeom prst="ellipse">
            <a:avLst/>
          </a:prstGeom>
          <a:solidFill>
            <a:srgbClr val="FFFFFF"/>
          </a:solidFill>
          <a:ln w="15875">
            <a:solidFill>
              <a:srgbClr val="C9D5D2"/>
            </a:solidFill>
            <a:prstDash val="solid"/>
          </a:ln>
        </p:spPr>
      </p:sp>
      <p:sp>
        <p:nvSpPr>
          <p:cNvPr id="27" name="Shape 25"/>
          <p:cNvSpPr/>
          <p:nvPr/>
        </p:nvSpPr>
        <p:spPr>
          <a:xfrm>
            <a:off x="905256" y="4255879"/>
            <a:ext cx="0" cy="257338"/>
          </a:xfrm>
          <a:prstGeom prst="line">
            <a:avLst/>
          </a:prstGeom>
          <a:noFill/>
          <a:ln w="19050">
            <a:solidFill>
              <a:srgbClr val="C9D5D2"/>
            </a:solidFill>
            <a:prstDash val="solid"/>
          </a:ln>
        </p:spPr>
      </p:sp>
      <p:sp>
        <p:nvSpPr>
          <p:cNvPr id="28" name="Shape 26"/>
          <p:cNvSpPr/>
          <p:nvPr/>
        </p:nvSpPr>
        <p:spPr>
          <a:xfrm>
            <a:off x="777240" y="3972415"/>
            <a:ext cx="256032" cy="256032"/>
          </a:xfrm>
          <a:prstGeom prst="ellipse">
            <a:avLst/>
          </a:prstGeom>
          <a:solidFill>
            <a:srgbClr val="FFFFFF"/>
          </a:solidFill>
          <a:ln w="15875">
            <a:solidFill>
              <a:srgbClr val="C9D5D2"/>
            </a:solidFill>
            <a:prstDash val="solid"/>
          </a:ln>
        </p:spPr>
      </p:sp>
      <p:sp>
        <p:nvSpPr>
          <p:cNvPr id="29" name="Shape 27"/>
          <p:cNvSpPr/>
          <p:nvPr/>
        </p:nvSpPr>
        <p:spPr>
          <a:xfrm>
            <a:off x="905256" y="4824113"/>
            <a:ext cx="0" cy="257338"/>
          </a:xfrm>
          <a:prstGeom prst="line">
            <a:avLst/>
          </a:prstGeom>
          <a:noFill/>
          <a:ln w="19050">
            <a:solidFill>
              <a:srgbClr val="C9D5D2"/>
            </a:solidFill>
            <a:prstDash val="solid"/>
          </a:ln>
        </p:spPr>
      </p:sp>
      <p:sp>
        <p:nvSpPr>
          <p:cNvPr id="30" name="Shape 28"/>
          <p:cNvSpPr/>
          <p:nvPr/>
        </p:nvSpPr>
        <p:spPr>
          <a:xfrm>
            <a:off x="777240" y="4540649"/>
            <a:ext cx="256032" cy="256032"/>
          </a:xfrm>
          <a:prstGeom prst="ellipse">
            <a:avLst/>
          </a:prstGeom>
          <a:solidFill>
            <a:srgbClr val="FFFFFF"/>
          </a:solidFill>
          <a:ln w="15875">
            <a:solidFill>
              <a:srgbClr val="C9D5D2"/>
            </a:solidFill>
            <a:prstDash val="solid"/>
          </a:ln>
        </p:spPr>
      </p:sp>
      <p:sp>
        <p:nvSpPr>
          <p:cNvPr id="31" name="Shape 29"/>
          <p:cNvSpPr/>
          <p:nvPr/>
        </p:nvSpPr>
        <p:spPr>
          <a:xfrm>
            <a:off x="905256" y="5392347"/>
            <a:ext cx="0" cy="257338"/>
          </a:xfrm>
          <a:prstGeom prst="line">
            <a:avLst/>
          </a:prstGeom>
          <a:noFill/>
          <a:ln w="19050">
            <a:solidFill>
              <a:srgbClr val="C9D5D2"/>
            </a:solidFill>
            <a:prstDash val="solid"/>
          </a:ln>
        </p:spPr>
      </p:sp>
      <p:sp>
        <p:nvSpPr>
          <p:cNvPr id="32" name="Shape 30"/>
          <p:cNvSpPr/>
          <p:nvPr/>
        </p:nvSpPr>
        <p:spPr>
          <a:xfrm>
            <a:off x="777240" y="5108883"/>
            <a:ext cx="256032" cy="256032"/>
          </a:xfrm>
          <a:prstGeom prst="ellipse">
            <a:avLst/>
          </a:prstGeom>
          <a:solidFill>
            <a:srgbClr val="FFFFFF"/>
          </a:solidFill>
          <a:ln w="15875">
            <a:solidFill>
              <a:srgbClr val="C9D5D2"/>
            </a:solidFill>
            <a:prstDash val="solid"/>
          </a:ln>
        </p:spPr>
      </p:sp>
      <p:sp>
        <p:nvSpPr>
          <p:cNvPr id="33" name="Shape 31"/>
          <p:cNvSpPr/>
          <p:nvPr/>
        </p:nvSpPr>
        <p:spPr>
          <a:xfrm>
            <a:off x="777240" y="5677118"/>
            <a:ext cx="256032" cy="256032"/>
          </a:xfrm>
          <a:prstGeom prst="ellipse">
            <a:avLst/>
          </a:prstGeom>
          <a:solidFill>
            <a:srgbClr val="FFFFFF"/>
          </a:solidFill>
          <a:ln w="15875">
            <a:solidFill>
              <a:srgbClr val="C9D5D2"/>
            </a:solidFill>
            <a:prstDash val="solid"/>
          </a:ln>
        </p:spPr>
      </p:sp>
      <p:sp>
        <p:nvSpPr>
          <p:cNvPr id="34" name="Shape 32"/>
          <p:cNvSpPr/>
          <p:nvPr/>
        </p:nvSpPr>
        <p:spPr>
          <a:xfrm>
            <a:off x="3154680" y="1600200"/>
            <a:ext cx="5696712" cy="3017520"/>
          </a:xfrm>
          <a:prstGeom prst="roundRect">
            <a:avLst>
              <a:gd name="adj" fmla="val 4242"/>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35" name="Shape 33"/>
          <p:cNvSpPr/>
          <p:nvPr/>
        </p:nvSpPr>
        <p:spPr>
          <a:xfrm>
            <a:off x="3429000" y="1810512"/>
            <a:ext cx="2240280" cy="384048"/>
          </a:xfrm>
          <a:prstGeom prst="roundRect">
            <a:avLst>
              <a:gd name="adj" fmla="val 50000"/>
            </a:avLst>
          </a:prstGeom>
          <a:solidFill>
            <a:srgbClr val="4C8068"/>
          </a:solidFill>
          <a:ln w="12700">
            <a:solidFill>
              <a:srgbClr val="4C8068"/>
            </a:solidFill>
            <a:prstDash val="solid"/>
          </a:ln>
        </p:spPr>
      </p:sp>
      <p:pic>
        <p:nvPicPr>
          <p:cNvPr id="36" name="Image 0" descr="preencoded.png">    </p:cNvPr>
          <p:cNvPicPr>
            <a:picLocks noChangeAspect="1"/>
          </p:cNvPicPr>
          <p:nvPr/>
        </p:nvPicPr>
        <p:blipFill>
          <a:blip r:embed="rId1"/>
          <a:stretch>
            <a:fillRect/>
          </a:stretch>
        </p:blipFill>
        <p:spPr>
          <a:xfrm>
            <a:off x="3547872" y="1874520"/>
            <a:ext cx="246888" cy="246888"/>
          </a:xfrm>
          <a:prstGeom prst="rect">
            <a:avLst/>
          </a:prstGeom>
        </p:spPr>
      </p:pic>
      <p:sp>
        <p:nvSpPr>
          <p:cNvPr id="37" name="Text 34"/>
          <p:cNvSpPr txBox="1"/>
          <p:nvPr/>
        </p:nvSpPr>
        <p:spPr>
          <a:xfrm>
            <a:off x="3867912" y="1810512"/>
            <a:ext cx="1783080" cy="38404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T+30m  |  8:35 AM</a:t>
            </a:r>
            <a:endParaRPr lang="en-US" sz="1300" dirty="0"/>
          </a:p>
        </p:txBody>
      </p:sp>
      <p:sp>
        <p:nvSpPr>
          <p:cNvPr id="38" name="Text 35"/>
          <p:cNvSpPr txBox="1"/>
          <p:nvPr/>
        </p:nvSpPr>
        <p:spPr>
          <a:xfrm>
            <a:off x="3429000" y="2286000"/>
            <a:ext cx="2743200" cy="256032"/>
          </a:xfrm>
          <a:prstGeom prst="rect">
            <a:avLst/>
          </a:prstGeom>
          <a:noFill/>
          <a:ln/>
        </p:spPr>
        <p:txBody>
          <a:bodyPr wrap="square" lIns="0" tIns="0" rIns="0" bIns="0" rtlCol="0" anchor="t"/>
          <a:lstStyle/>
          <a:p>
            <a:pPr indent="0" marL="0">
              <a:buNone/>
            </a:pPr>
            <a:r>
              <a:rPr lang="en-US" sz="1200" b="1" dirty="0">
                <a:solidFill>
                  <a:srgbClr val="465A69"/>
                </a:solidFill>
                <a:latin typeface="Calibri" pitchFamily="34" charset="0"/>
                <a:ea typeface="Calibri" pitchFamily="34" charset="-122"/>
                <a:cs typeface="Calibri" pitchFamily="34" charset="-120"/>
              </a:rPr>
              <a:t>New information</a:t>
            </a:r>
            <a:endParaRPr lang="en-US" sz="1200" dirty="0"/>
          </a:p>
        </p:txBody>
      </p:sp>
      <p:sp>
        <p:nvSpPr>
          <p:cNvPr id="39" name="Text 36"/>
          <p:cNvSpPr txBox="1"/>
          <p:nvPr/>
        </p:nvSpPr>
        <p:spPr>
          <a:xfrm>
            <a:off x="3429000" y="2560320"/>
            <a:ext cx="5166360" cy="1965960"/>
          </a:xfrm>
          <a:prstGeom prst="rect">
            <a:avLst/>
          </a:prstGeom>
          <a:noFill/>
          <a:ln/>
        </p:spPr>
        <p:txBody>
          <a:bodyPr wrap="square" lIns="0" tIns="0" rIns="0" bIns="0" rtlCol="0" anchor="t"/>
          <a:lstStyle/>
          <a:p>
            <a:pPr indent="0" marL="0">
              <a:buNone/>
            </a:pPr>
            <a:r>
              <a:rPr lang="en-US" sz="1800" dirty="0">
                <a:solidFill>
                  <a:srgbClr val="1E2E3A"/>
                </a:solidFill>
                <a:latin typeface="Calibri" pitchFamily="34" charset="0"/>
                <a:ea typeface="Calibri" pitchFamily="34" charset="-122"/>
                <a:cs typeface="Calibri" pitchFamily="34" charset="-120"/>
              </a:rPr>
              <a:t>SharePoint, OneDrive, and Outlook are also affected. Executives cannot reach each other on Teams or email.</a:t>
            </a:r>
            <a:endParaRPr lang="en-US" sz="1800" dirty="0"/>
          </a:p>
        </p:txBody>
      </p:sp>
      <p:sp>
        <p:nvSpPr>
          <p:cNvPr id="40" name="Shape 37"/>
          <p:cNvSpPr/>
          <p:nvPr/>
        </p:nvSpPr>
        <p:spPr>
          <a:xfrm>
            <a:off x="3154680" y="4800600"/>
            <a:ext cx="5696712" cy="1371600"/>
          </a:xfrm>
          <a:prstGeom prst="roundRect">
            <a:avLst>
              <a:gd name="adj" fmla="val 9333"/>
            </a:avLst>
          </a:prstGeom>
          <a:solidFill>
            <a:srgbClr val="F1F8F3"/>
          </a:solidFill>
          <a:ln w="12700">
            <a:solidFill>
              <a:srgbClr val="F1F8F3"/>
            </a:solidFill>
            <a:prstDash val="solid"/>
          </a:ln>
          <a:effectLst>
            <a:outerShdw sx="100000" sy="100000" kx="0" ky="0" algn="bl" rotWithShape="0" blurRad="177800" dist="50800" dir="5400000">
              <a:srgbClr val="1B4965">
                <a:alpha val="16000"/>
              </a:srgbClr>
            </a:outerShdw>
          </a:effectLst>
        </p:spPr>
      </p:sp>
      <p:sp>
        <p:nvSpPr>
          <p:cNvPr id="41" name="Text 38"/>
          <p:cNvSpPr txBox="1"/>
          <p:nvPr/>
        </p:nvSpPr>
        <p:spPr>
          <a:xfrm>
            <a:off x="3429000" y="4901184"/>
            <a:ext cx="2743200" cy="256032"/>
          </a:xfrm>
          <a:prstGeom prst="rect">
            <a:avLst/>
          </a:prstGeom>
          <a:noFill/>
          <a:ln/>
        </p:spPr>
        <p:txBody>
          <a:bodyPr wrap="square" lIns="0" tIns="0" rIns="0" bIns="0" rtlCol="0" anchor="t"/>
          <a:lstStyle/>
          <a:p>
            <a:pPr indent="0" marL="0">
              <a:buNone/>
            </a:pPr>
            <a:r>
              <a:rPr lang="en-US" sz="1300" b="1" dirty="0">
                <a:solidFill>
                  <a:srgbClr val="4C8068"/>
                </a:solidFill>
                <a:latin typeface="Calibri" pitchFamily="34" charset="0"/>
                <a:ea typeface="Calibri" pitchFamily="34" charset="-122"/>
                <a:cs typeface="Calibri" pitchFamily="34" charset="-120"/>
              </a:rPr>
              <a:t>Decide</a:t>
            </a:r>
            <a:endParaRPr lang="en-US" sz="1300" dirty="0"/>
          </a:p>
        </p:txBody>
      </p:sp>
      <p:sp>
        <p:nvSpPr>
          <p:cNvPr id="42" name="Text 39"/>
          <p:cNvSpPr txBox="1"/>
          <p:nvPr/>
        </p:nvSpPr>
        <p:spPr>
          <a:xfrm>
            <a:off x="3429000" y="5175504"/>
            <a:ext cx="5166360" cy="914400"/>
          </a:xfrm>
          <a:prstGeom prst="rect">
            <a:avLst/>
          </a:prstGeom>
          <a:noFill/>
          <a:ln/>
        </p:spPr>
        <p:txBody>
          <a:bodyPr wrap="square" lIns="0" tIns="0" rIns="0" bIns="0" rtlCol="0" anchor="t"/>
          <a:lstStyle/>
          <a:p>
            <a:pPr indent="0" marL="0">
              <a:buNone/>
            </a:pPr>
            <a:r>
              <a:rPr lang="en-US" sz="1600" b="1" dirty="0">
                <a:solidFill>
                  <a:srgbClr val="1E2E3A"/>
                </a:solidFill>
                <a:latin typeface="Calibri" pitchFamily="34" charset="0"/>
                <a:ea typeface="Calibri" pitchFamily="34" charset="-122"/>
                <a:cs typeface="Calibri" pitchFamily="34" charset="-120"/>
              </a:rPr>
              <a:t>Does this change your severity assessment?</a:t>
            </a:r>
            <a:endParaRPr lang="en-US" sz="1600" dirty="0"/>
          </a:p>
        </p:txBody>
      </p:sp>
      <p:sp>
        <p:nvSpPr>
          <p:cNvPr id="43" name="Shape 40"/>
          <p:cNvSpPr/>
          <p:nvPr/>
        </p:nvSpPr>
        <p:spPr>
          <a:xfrm>
            <a:off x="9079992" y="1600200"/>
            <a:ext cx="2560320" cy="4572000"/>
          </a:xfrm>
          <a:prstGeom prst="roundRect">
            <a:avLst>
              <a:gd name="adj" fmla="val 5000"/>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44" name="Text 41"/>
          <p:cNvSpPr txBox="1"/>
          <p:nvPr/>
        </p:nvSpPr>
        <p:spPr>
          <a:xfrm>
            <a:off x="9262872" y="1728216"/>
            <a:ext cx="2194560" cy="457200"/>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Service health alert (simulated)</a:t>
            </a:r>
            <a:endParaRPr lang="en-US" sz="1300" dirty="0"/>
          </a:p>
        </p:txBody>
      </p:sp>
      <p:sp>
        <p:nvSpPr>
          <p:cNvPr id="45" name="Shape 42"/>
          <p:cNvSpPr/>
          <p:nvPr/>
        </p:nvSpPr>
        <p:spPr>
          <a:xfrm>
            <a:off x="9262872" y="2221992"/>
            <a:ext cx="2194560" cy="3767328"/>
          </a:xfrm>
          <a:prstGeom prst="roundRect">
            <a:avLst>
              <a:gd name="adj" fmla="val 3333"/>
            </a:avLst>
          </a:prstGeom>
          <a:solidFill>
            <a:srgbClr val="FFFFFF"/>
          </a:solidFill>
          <a:ln w="9525">
            <a:solidFill>
              <a:srgbClr val="C9D3DE"/>
            </a:solidFill>
            <a:prstDash val="solid"/>
          </a:ln>
        </p:spPr>
      </p:sp>
      <p:sp>
        <p:nvSpPr>
          <p:cNvPr id="46" name="Shape 43"/>
          <p:cNvSpPr/>
          <p:nvPr/>
        </p:nvSpPr>
        <p:spPr>
          <a:xfrm>
            <a:off x="9381744" y="2432304"/>
            <a:ext cx="109728" cy="109728"/>
          </a:xfrm>
          <a:prstGeom prst="rect">
            <a:avLst/>
          </a:prstGeom>
          <a:solidFill>
            <a:srgbClr val="D99A8A"/>
          </a:solidFill>
          <a:ln w="12700">
            <a:solidFill>
              <a:srgbClr val="D99A8A"/>
            </a:solidFill>
            <a:prstDash val="solid"/>
          </a:ln>
        </p:spPr>
      </p:sp>
      <p:sp>
        <p:nvSpPr>
          <p:cNvPr id="47" name="Shape 44"/>
          <p:cNvSpPr/>
          <p:nvPr/>
        </p:nvSpPr>
        <p:spPr>
          <a:xfrm>
            <a:off x="9500616" y="2432304"/>
            <a:ext cx="109728" cy="109728"/>
          </a:xfrm>
          <a:prstGeom prst="rect">
            <a:avLst/>
          </a:prstGeom>
          <a:solidFill>
            <a:srgbClr val="A9C38A"/>
          </a:solidFill>
          <a:ln w="12700">
            <a:solidFill>
              <a:srgbClr val="A9C38A"/>
            </a:solidFill>
            <a:prstDash val="solid"/>
          </a:ln>
        </p:spPr>
      </p:sp>
      <p:sp>
        <p:nvSpPr>
          <p:cNvPr id="48" name="Shape 45"/>
          <p:cNvSpPr/>
          <p:nvPr/>
        </p:nvSpPr>
        <p:spPr>
          <a:xfrm>
            <a:off x="9381744" y="2551176"/>
            <a:ext cx="109728" cy="109728"/>
          </a:xfrm>
          <a:prstGeom prst="rect">
            <a:avLst/>
          </a:prstGeom>
          <a:solidFill>
            <a:srgbClr val="8FBCD6"/>
          </a:solidFill>
          <a:ln w="12700">
            <a:solidFill>
              <a:srgbClr val="8FBCD6"/>
            </a:solidFill>
            <a:prstDash val="solid"/>
          </a:ln>
        </p:spPr>
      </p:sp>
      <p:sp>
        <p:nvSpPr>
          <p:cNvPr id="49" name="Shape 46"/>
          <p:cNvSpPr/>
          <p:nvPr/>
        </p:nvSpPr>
        <p:spPr>
          <a:xfrm>
            <a:off x="9500616" y="2551176"/>
            <a:ext cx="109728" cy="109728"/>
          </a:xfrm>
          <a:prstGeom prst="rect">
            <a:avLst/>
          </a:prstGeom>
          <a:solidFill>
            <a:srgbClr val="E0C58A"/>
          </a:solidFill>
          <a:ln w="12700">
            <a:solidFill>
              <a:srgbClr val="E0C58A"/>
            </a:solidFill>
            <a:prstDash val="solid"/>
          </a:ln>
        </p:spPr>
      </p:sp>
      <p:sp>
        <p:nvSpPr>
          <p:cNvPr id="50" name="Text 47"/>
          <p:cNvSpPr txBox="1"/>
          <p:nvPr/>
        </p:nvSpPr>
        <p:spPr>
          <a:xfrm>
            <a:off x="9729216" y="2386584"/>
            <a:ext cx="1591056" cy="292608"/>
          </a:xfrm>
          <a:prstGeom prst="rect">
            <a:avLst/>
          </a:prstGeom>
          <a:noFill/>
          <a:ln/>
        </p:spPr>
        <p:txBody>
          <a:bodyPr wrap="square" lIns="0" tIns="0" rIns="0" bIns="0" rtlCol="0" anchor="ctr"/>
          <a:lstStyle/>
          <a:p>
            <a:pPr indent="0" marL="0">
              <a:buNone/>
            </a:pPr>
            <a:r>
              <a:rPr lang="en-US" sz="1700" dirty="0">
                <a:solidFill>
                  <a:srgbClr val="3C3C3C"/>
                </a:solidFill>
                <a:latin typeface="Calibri" pitchFamily="34" charset="0"/>
                <a:ea typeface="Calibri" pitchFamily="34" charset="-122"/>
                <a:cs typeface="Calibri" pitchFamily="34" charset="-120"/>
              </a:rPr>
              <a:t>Microsoft 365</a:t>
            </a:r>
            <a:endParaRPr lang="en-US" sz="1700" dirty="0"/>
          </a:p>
        </p:txBody>
      </p:sp>
      <p:pic>
        <p:nvPicPr>
          <p:cNvPr id="51" name="Image 1" descr="preencoded.png">    </p:cNvPr>
          <p:cNvPicPr>
            <a:picLocks noChangeAspect="1"/>
          </p:cNvPicPr>
          <p:nvPr/>
        </p:nvPicPr>
        <p:blipFill>
          <a:blip r:embed="rId2"/>
          <a:stretch>
            <a:fillRect/>
          </a:stretch>
        </p:blipFill>
        <p:spPr>
          <a:xfrm>
            <a:off x="9381744" y="2798064"/>
            <a:ext cx="219456" cy="219456"/>
          </a:xfrm>
          <a:prstGeom prst="rect">
            <a:avLst/>
          </a:prstGeom>
        </p:spPr>
      </p:pic>
      <p:sp>
        <p:nvSpPr>
          <p:cNvPr id="52" name="Text 48"/>
          <p:cNvSpPr txBox="1"/>
          <p:nvPr/>
        </p:nvSpPr>
        <p:spPr>
          <a:xfrm>
            <a:off x="9674352" y="2770632"/>
            <a:ext cx="1636776" cy="470408"/>
          </a:xfrm>
          <a:prstGeom prst="rect">
            <a:avLst/>
          </a:prstGeom>
          <a:noFill/>
          <a:ln/>
        </p:spPr>
        <p:txBody>
          <a:bodyPr wrap="square" lIns="0" tIns="0" rIns="0" bIns="0" rtlCol="0" anchor="ctr"/>
          <a:lstStyle/>
          <a:p>
            <a:pPr indent="0" marL="0">
              <a:buNone/>
            </a:pPr>
            <a:r>
              <a:rPr lang="en-US" sz="1400" b="1" dirty="0">
                <a:solidFill>
                  <a:srgbClr val="1B2A4A"/>
                </a:solidFill>
                <a:latin typeface="Calibri" pitchFamily="34" charset="0"/>
                <a:ea typeface="Calibri" pitchFamily="34" charset="-122"/>
                <a:cs typeface="Calibri" pitchFamily="34" charset="-120"/>
              </a:rPr>
              <a:t>Service degradation</a:t>
            </a:r>
            <a:endParaRPr lang="en-US" sz="1400" dirty="0"/>
          </a:p>
        </p:txBody>
      </p:sp>
      <p:sp>
        <p:nvSpPr>
          <p:cNvPr id="53" name="Text 49"/>
          <p:cNvSpPr txBox="1"/>
          <p:nvPr/>
        </p:nvSpPr>
        <p:spPr>
          <a:xfrm>
            <a:off x="9381744" y="3295904"/>
            <a:ext cx="1956816" cy="1121156"/>
          </a:xfrm>
          <a:prstGeom prst="rect">
            <a:avLst/>
          </a:prstGeom>
          <a:noFill/>
          <a:ln/>
        </p:spPr>
        <p:txBody>
          <a:bodyPr wrap="square" lIns="0" tIns="0" rIns="0" bIns="0" rtlCol="0" anchor="t"/>
          <a:lstStyle/>
          <a:p>
            <a:pPr indent="0" marL="0">
              <a:buNone/>
            </a:pPr>
            <a:r>
              <a:rPr lang="en-US" sz="1400" dirty="0">
                <a:solidFill>
                  <a:srgbClr val="1E2E3A"/>
                </a:solidFill>
                <a:latin typeface="Calibri" pitchFamily="34" charset="0"/>
                <a:ea typeface="Calibri" pitchFamily="34" charset="-122"/>
                <a:cs typeface="Calibri" pitchFamily="34" charset="-120"/>
              </a:rPr>
              <a:t>Users in US-East are experiencing issues accessing Outlook, Teams, SharePoint and OneDrive.</a:t>
            </a:r>
            <a:endParaRPr lang="en-US" sz="1400" dirty="0"/>
          </a:p>
        </p:txBody>
      </p:sp>
      <p:sp>
        <p:nvSpPr>
          <p:cNvPr id="54" name="Text 50"/>
          <p:cNvSpPr txBox="1"/>
          <p:nvPr/>
        </p:nvSpPr>
        <p:spPr>
          <a:xfrm>
            <a:off x="548640" y="6254496"/>
            <a:ext cx="11091672" cy="256032"/>
          </a:xfrm>
          <a:prstGeom prst="rect">
            <a:avLst/>
          </a:prstGeom>
          <a:noFill/>
          <a:ln/>
        </p:spPr>
        <p:txBody>
          <a:bodyPr wrap="square" lIns="0" tIns="0" rIns="0" bIns="0" rtlCol="0" anchor="ctr"/>
          <a:lstStyle/>
          <a:p>
            <a:pPr indent="0" marL="0">
              <a:buNone/>
            </a:pPr>
            <a:r>
              <a:rPr lang="en-US" sz="1200" b="1" dirty="0">
                <a:solidFill>
                  <a:srgbClr val="465A69"/>
                </a:solidFill>
                <a:latin typeface="Calibri" pitchFamily="34" charset="0"/>
                <a:ea typeface="Calibri" pitchFamily="34" charset="-122"/>
                <a:cs typeface="Calibri" pitchFamily="34" charset="-120"/>
              </a:rPr>
              <a:t>Acronyms:  </a:t>
            </a:r>
            <a:pPr indent="0" marL="0">
              <a:buNone/>
            </a:pPr>
            <a:r>
              <a:rPr lang="en-US" sz="1200" dirty="0">
                <a:solidFill>
                  <a:srgbClr val="465A69"/>
                </a:solidFill>
                <a:latin typeface="Calibri" pitchFamily="34" charset="0"/>
                <a:ea typeface="Calibri" pitchFamily="34" charset="-122"/>
                <a:cs typeface="Calibri" pitchFamily="34" charset="-120"/>
              </a:rPr>
              <a:t>T+: time since the first signal</a:t>
            </a:r>
            <a:endParaRPr lang="en-US" sz="1200" dirty="0"/>
          </a:p>
        </p:txBody>
      </p:sp>
      <p:sp>
        <p:nvSpPr>
          <p:cNvPr id="55" name="Shape 51"/>
          <p:cNvSpPr/>
          <p:nvPr/>
        </p:nvSpPr>
        <p:spPr>
          <a:xfrm>
            <a:off x="548640" y="6537960"/>
            <a:ext cx="763524" cy="274320"/>
          </a:xfrm>
          <a:prstGeom prst="roundRect">
            <a:avLst>
              <a:gd name="adj" fmla="val 50000"/>
            </a:avLst>
          </a:prstGeom>
          <a:solidFill>
            <a:srgbClr val="E4ECF2"/>
          </a:solidFill>
          <a:ln w="12700">
            <a:solidFill>
              <a:srgbClr val="E4ECF2"/>
            </a:solidFill>
            <a:prstDash val="solid"/>
          </a:ln>
        </p:spPr>
      </p:sp>
      <p:sp>
        <p:nvSpPr>
          <p:cNvPr id="56" name="Text 52"/>
          <p:cNvSpPr txBox="1"/>
          <p:nvPr/>
        </p:nvSpPr>
        <p:spPr>
          <a:xfrm>
            <a:off x="548640" y="6537960"/>
            <a:ext cx="763524" cy="274320"/>
          </a:xfrm>
          <a:prstGeom prst="rect">
            <a:avLst/>
          </a:prstGeom>
          <a:noFill/>
          <a:ln/>
        </p:spPr>
        <p:txBody>
          <a:bodyPr wrap="square" lIns="0" tIns="0" rIns="0" bIns="0" rtlCol="0" anchor="ctr"/>
          <a:lstStyle/>
          <a:p>
            <a:pPr algn="ctr" indent="0" marL="0">
              <a:buNone/>
            </a:pPr>
            <a:r>
              <a:rPr lang="en-US" sz="1200" b="1" dirty="0">
                <a:solidFill>
                  <a:srgbClr val="23405A"/>
                </a:solidFill>
                <a:latin typeface="Calibri" pitchFamily="34" charset="0"/>
                <a:ea typeface="Calibri" pitchFamily="34" charset="-122"/>
                <a:cs typeface="Calibri" pitchFamily="34" charset="-120"/>
              </a:rPr>
              <a:t>Start</a:t>
            </a:r>
            <a:endParaRPr lang="en-US" sz="1200" dirty="0"/>
          </a:p>
        </p:txBody>
      </p:sp>
      <p:pic>
        <p:nvPicPr>
          <p:cNvPr id="57" name="Image 2" descr="preencoded.png">
            <a:hlinkClick r:id="rId4" tooltip="Go to Start" action="ppaction://hlinksldjump"/>
          </p:cNvPr>
          <p:cNvPicPr>
            <a:picLocks noChangeAspect="1"/>
          </p:cNvPicPr>
          <p:nvPr/>
        </p:nvPicPr>
        <p:blipFill>
          <a:blip r:embed="rId3"/>
          <a:stretch>
            <a:fillRect/>
          </a:stretch>
        </p:blipFill>
        <p:spPr>
          <a:xfrm>
            <a:off x="548640" y="6537960"/>
            <a:ext cx="763524" cy="274320"/>
          </a:xfrm>
          <a:prstGeom prst="rect">
            <a:avLst/>
          </a:prstGeom>
        </p:spPr>
      </p:pic>
      <p:sp>
        <p:nvSpPr>
          <p:cNvPr id="58" name="Shape 53"/>
          <p:cNvSpPr/>
          <p:nvPr/>
        </p:nvSpPr>
        <p:spPr>
          <a:xfrm>
            <a:off x="1385316" y="6537960"/>
            <a:ext cx="1197864" cy="274320"/>
          </a:xfrm>
          <a:prstGeom prst="roundRect">
            <a:avLst>
              <a:gd name="adj" fmla="val 50000"/>
            </a:avLst>
          </a:prstGeom>
          <a:solidFill>
            <a:srgbClr val="F1F6FA"/>
          </a:solidFill>
          <a:ln w="12700">
            <a:solidFill>
              <a:srgbClr val="F1F6FA"/>
            </a:solidFill>
            <a:prstDash val="solid"/>
          </a:ln>
        </p:spPr>
      </p:sp>
      <p:sp>
        <p:nvSpPr>
          <p:cNvPr id="59" name="Text 54"/>
          <p:cNvSpPr txBox="1"/>
          <p:nvPr/>
        </p:nvSpPr>
        <p:spPr>
          <a:xfrm>
            <a:off x="1385316" y="6537960"/>
            <a:ext cx="1197864" cy="274320"/>
          </a:xfrm>
          <a:prstGeom prst="rect">
            <a:avLst/>
          </a:prstGeom>
          <a:noFill/>
          <a:ln/>
        </p:spPr>
        <p:txBody>
          <a:bodyPr wrap="square" lIns="0" tIns="0" rIns="0" bIns="0" rtlCol="0" anchor="ctr"/>
          <a:lstStyle/>
          <a:p>
            <a:pPr algn="ctr" indent="0" marL="0">
              <a:buNone/>
            </a:pPr>
            <a:r>
              <a:rPr lang="en-US" sz="1200" b="1" dirty="0">
                <a:solidFill>
                  <a:srgbClr val="3F6E8C"/>
                </a:solidFill>
                <a:latin typeface="Calibri" pitchFamily="34" charset="0"/>
                <a:ea typeface="Calibri" pitchFamily="34" charset="-122"/>
                <a:cs typeface="Calibri" pitchFamily="34" charset="-120"/>
              </a:rPr>
              <a:t>Scenario 1</a:t>
            </a:r>
            <a:endParaRPr lang="en-US" sz="1200" dirty="0"/>
          </a:p>
        </p:txBody>
      </p:sp>
      <p:pic>
        <p:nvPicPr>
          <p:cNvPr id="60" name="Image 3" descr="preencoded.png">
            <a:hlinkClick r:id="rId6" tooltip="Go to Scenario 1" action="ppaction://hlinksldjump"/>
          </p:cNvPr>
          <p:cNvPicPr>
            <a:picLocks noChangeAspect="1"/>
          </p:cNvPicPr>
          <p:nvPr/>
        </p:nvPicPr>
        <p:blipFill>
          <a:blip r:embed="rId5"/>
          <a:stretch>
            <a:fillRect/>
          </a:stretch>
        </p:blipFill>
        <p:spPr>
          <a:xfrm>
            <a:off x="1385316" y="6537960"/>
            <a:ext cx="1197864" cy="274320"/>
          </a:xfrm>
          <a:prstGeom prst="rect">
            <a:avLst/>
          </a:prstGeom>
        </p:spPr>
      </p:pic>
      <p:sp>
        <p:nvSpPr>
          <p:cNvPr id="61" name="Shape 55"/>
          <p:cNvSpPr/>
          <p:nvPr/>
        </p:nvSpPr>
        <p:spPr>
          <a:xfrm>
            <a:off x="2656332" y="6537960"/>
            <a:ext cx="1197864" cy="274320"/>
          </a:xfrm>
          <a:prstGeom prst="roundRect">
            <a:avLst>
              <a:gd name="adj" fmla="val 50000"/>
            </a:avLst>
          </a:prstGeom>
          <a:solidFill>
            <a:srgbClr val="4C8068"/>
          </a:solidFill>
          <a:ln w="12700">
            <a:solidFill>
              <a:srgbClr val="4C8068"/>
            </a:solidFill>
            <a:prstDash val="solid"/>
          </a:ln>
        </p:spPr>
      </p:sp>
      <p:sp>
        <p:nvSpPr>
          <p:cNvPr id="62" name="Text 56"/>
          <p:cNvSpPr txBox="1"/>
          <p:nvPr/>
        </p:nvSpPr>
        <p:spPr>
          <a:xfrm>
            <a:off x="2656332" y="6537960"/>
            <a:ext cx="1197864"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Scenario 2</a:t>
            </a:r>
            <a:endParaRPr lang="en-US" sz="1200" dirty="0"/>
          </a:p>
        </p:txBody>
      </p:sp>
      <p:pic>
        <p:nvPicPr>
          <p:cNvPr id="63" name="Image 4" descr="preencoded.png">
            <a:hlinkClick r:id="rId8" tooltip="Go to Scenario 2" action="ppaction://hlinksldjump"/>
          </p:cNvPr>
          <p:cNvPicPr>
            <a:picLocks noChangeAspect="1"/>
          </p:cNvPicPr>
          <p:nvPr/>
        </p:nvPicPr>
        <p:blipFill>
          <a:blip r:embed="rId7"/>
          <a:stretch>
            <a:fillRect/>
          </a:stretch>
        </p:blipFill>
        <p:spPr>
          <a:xfrm>
            <a:off x="2656332" y="6537960"/>
            <a:ext cx="1197864" cy="274320"/>
          </a:xfrm>
          <a:prstGeom prst="rect">
            <a:avLst/>
          </a:prstGeom>
        </p:spPr>
      </p:pic>
      <p:sp>
        <p:nvSpPr>
          <p:cNvPr id="64" name="Shape 57"/>
          <p:cNvSpPr/>
          <p:nvPr/>
        </p:nvSpPr>
        <p:spPr>
          <a:xfrm>
            <a:off x="3927348" y="6537960"/>
            <a:ext cx="1197864" cy="274320"/>
          </a:xfrm>
          <a:prstGeom prst="roundRect">
            <a:avLst>
              <a:gd name="adj" fmla="val 50000"/>
            </a:avLst>
          </a:prstGeom>
          <a:solidFill>
            <a:srgbClr val="F6F3FA"/>
          </a:solidFill>
          <a:ln w="12700">
            <a:solidFill>
              <a:srgbClr val="F6F3FA"/>
            </a:solidFill>
            <a:prstDash val="solid"/>
          </a:ln>
        </p:spPr>
      </p:sp>
      <p:sp>
        <p:nvSpPr>
          <p:cNvPr id="65" name="Text 58"/>
          <p:cNvSpPr txBox="1"/>
          <p:nvPr/>
        </p:nvSpPr>
        <p:spPr>
          <a:xfrm>
            <a:off x="3927348" y="6537960"/>
            <a:ext cx="1197864" cy="274320"/>
          </a:xfrm>
          <a:prstGeom prst="rect">
            <a:avLst/>
          </a:prstGeom>
          <a:noFill/>
          <a:ln/>
        </p:spPr>
        <p:txBody>
          <a:bodyPr wrap="square" lIns="0" tIns="0" rIns="0" bIns="0" rtlCol="0" anchor="ctr"/>
          <a:lstStyle/>
          <a:p>
            <a:pPr algn="ctr" indent="0" marL="0">
              <a:buNone/>
            </a:pPr>
            <a:r>
              <a:rPr lang="en-US" sz="1200" b="1" dirty="0">
                <a:solidFill>
                  <a:srgbClr val="6E5E94"/>
                </a:solidFill>
                <a:latin typeface="Calibri" pitchFamily="34" charset="0"/>
                <a:ea typeface="Calibri" pitchFamily="34" charset="-122"/>
                <a:cs typeface="Calibri" pitchFamily="34" charset="-120"/>
              </a:rPr>
              <a:t>Scenario 3</a:t>
            </a:r>
            <a:endParaRPr lang="en-US" sz="1200" dirty="0"/>
          </a:p>
        </p:txBody>
      </p:sp>
      <p:pic>
        <p:nvPicPr>
          <p:cNvPr id="66" name="Image 5" descr="preencoded.png">
            <a:hlinkClick r:id="rId10" tooltip="Go to Scenario 3" action="ppaction://hlinksldjump"/>
          </p:cNvPr>
          <p:cNvPicPr>
            <a:picLocks noChangeAspect="1"/>
          </p:cNvPicPr>
          <p:nvPr/>
        </p:nvPicPr>
        <p:blipFill>
          <a:blip r:embed="rId9"/>
          <a:stretch>
            <a:fillRect/>
          </a:stretch>
        </p:blipFill>
        <p:spPr>
          <a:xfrm>
            <a:off x="3927348" y="6537960"/>
            <a:ext cx="1197864" cy="274320"/>
          </a:xfrm>
          <a:prstGeom prst="rect">
            <a:avLst/>
          </a:prstGeom>
        </p:spPr>
      </p:pic>
      <p:sp>
        <p:nvSpPr>
          <p:cNvPr id="67" name="Shape 59"/>
          <p:cNvSpPr/>
          <p:nvPr/>
        </p:nvSpPr>
        <p:spPr>
          <a:xfrm>
            <a:off x="5198364" y="6537960"/>
            <a:ext cx="937260" cy="274320"/>
          </a:xfrm>
          <a:prstGeom prst="roundRect">
            <a:avLst>
              <a:gd name="adj" fmla="val 50000"/>
            </a:avLst>
          </a:prstGeom>
          <a:solidFill>
            <a:srgbClr val="E4ECF2"/>
          </a:solidFill>
          <a:ln w="12700">
            <a:solidFill>
              <a:srgbClr val="E4ECF2"/>
            </a:solidFill>
            <a:prstDash val="solid"/>
          </a:ln>
        </p:spPr>
      </p:sp>
      <p:sp>
        <p:nvSpPr>
          <p:cNvPr id="68" name="Text 60"/>
          <p:cNvSpPr txBox="1"/>
          <p:nvPr/>
        </p:nvSpPr>
        <p:spPr>
          <a:xfrm>
            <a:off x="5198364" y="6537960"/>
            <a:ext cx="937260" cy="274320"/>
          </a:xfrm>
          <a:prstGeom prst="rect">
            <a:avLst/>
          </a:prstGeom>
          <a:noFill/>
          <a:ln/>
        </p:spPr>
        <p:txBody>
          <a:bodyPr wrap="square" lIns="0" tIns="0" rIns="0" bIns="0" rtlCol="0" anchor="ctr"/>
          <a:lstStyle/>
          <a:p>
            <a:pPr algn="ctr" indent="0" marL="0">
              <a:buNone/>
            </a:pPr>
            <a:r>
              <a:rPr lang="en-US" sz="1200" b="1" dirty="0">
                <a:solidFill>
                  <a:srgbClr val="23405A"/>
                </a:solidFill>
                <a:latin typeface="Calibri" pitchFamily="34" charset="0"/>
                <a:ea typeface="Calibri" pitchFamily="34" charset="-122"/>
                <a:cs typeface="Calibri" pitchFamily="34" charset="-120"/>
              </a:rPr>
              <a:t>Closing</a:t>
            </a:r>
            <a:endParaRPr lang="en-US" sz="1200" dirty="0"/>
          </a:p>
        </p:txBody>
      </p:sp>
      <p:pic>
        <p:nvPicPr>
          <p:cNvPr id="69" name="Image 6" descr="preencoded.png">
            <a:hlinkClick r:id="rId12" tooltip="Go to Closing" action="ppaction://hlinksldjump"/>
          </p:cNvPr>
          <p:cNvPicPr>
            <a:picLocks noChangeAspect="1"/>
          </p:cNvPicPr>
          <p:nvPr/>
        </p:nvPicPr>
        <p:blipFill>
          <a:blip r:embed="rId11"/>
          <a:stretch>
            <a:fillRect/>
          </a:stretch>
        </p:blipFill>
        <p:spPr>
          <a:xfrm>
            <a:off x="5198364" y="6537960"/>
            <a:ext cx="937260" cy="274320"/>
          </a:xfrm>
          <a:prstGeom prst="rect">
            <a:avLst/>
          </a:prstGeom>
        </p:spPr>
      </p:pic>
      <p:sp>
        <p:nvSpPr>
          <p:cNvPr id="70" name="Text 61"/>
          <p:cNvSpPr txBox="1"/>
          <p:nvPr/>
        </p:nvSpPr>
        <p:spPr>
          <a:xfrm>
            <a:off x="11277295" y="6537960"/>
            <a:ext cx="365760" cy="274320"/>
          </a:xfrm>
          <a:prstGeom prst="rect">
            <a:avLst/>
          </a:prstGeom>
          <a:noFill/>
          <a:ln/>
        </p:spPr>
        <p:txBody>
          <a:bodyPr wrap="square" lIns="0" tIns="0" rIns="0" bIns="0" rtlCol="0" anchor="ctr"/>
          <a:lstStyle/>
          <a:p>
            <a:pPr algn="r" indent="0" marL="0">
              <a:buNone/>
            </a:pPr>
            <a:r>
              <a:rPr lang="en-US" sz="1200" dirty="0">
                <a:solidFill>
                  <a:srgbClr val="465A69"/>
                </a:solidFill>
                <a:latin typeface="Calibri" pitchFamily="34" charset="0"/>
                <a:ea typeface="Calibri" pitchFamily="34" charset="-122"/>
                <a:cs typeface="Calibri" pitchFamily="34" charset="-120"/>
              </a:rPr>
              <a:t>27</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E6F2E9"/>
        </a:solidFill>
      </p:bgPr>
    </p:bg>
    <p:spTree>
      <p:nvGrpSpPr>
        <p:cNvPr id="1" name=""/>
        <p:cNvGrpSpPr/>
        <p:nvPr/>
      </p:nvGrpSpPr>
      <p:grpSpPr>
        <a:xfrm>
          <a:off x="0" y="0"/>
          <a:ext cx="0" cy="0"/>
          <a:chOff x="0" y="0"/>
          <a:chExt cx="0" cy="0"/>
        </a:xfrm>
      </p:grpSpPr>
      <p:sp>
        <p:nvSpPr>
          <p:cNvPr id="2" name="Shape 0"/>
          <p:cNvSpPr/>
          <p:nvPr/>
        </p:nvSpPr>
        <p:spPr>
          <a:xfrm>
            <a:off x="548640" y="347472"/>
            <a:ext cx="2843784" cy="329184"/>
          </a:xfrm>
          <a:prstGeom prst="roundRect">
            <a:avLst>
              <a:gd name="adj" fmla="val 50000"/>
            </a:avLst>
          </a:prstGeom>
          <a:solidFill>
            <a:srgbClr val="F1F8F3"/>
          </a:solidFill>
          <a:ln w="12700">
            <a:solidFill>
              <a:srgbClr val="F1F8F3"/>
            </a:solidFill>
            <a:prstDash val="solid"/>
          </a:ln>
        </p:spPr>
      </p:sp>
      <p:sp>
        <p:nvSpPr>
          <p:cNvPr id="3" name="Text 1"/>
          <p:cNvSpPr txBox="1"/>
          <p:nvPr/>
        </p:nvSpPr>
        <p:spPr>
          <a:xfrm>
            <a:off x="548640" y="347472"/>
            <a:ext cx="2843784" cy="329184"/>
          </a:xfrm>
          <a:prstGeom prst="rect">
            <a:avLst/>
          </a:prstGeom>
          <a:noFill/>
          <a:ln/>
        </p:spPr>
        <p:txBody>
          <a:bodyPr wrap="square" lIns="0" tIns="0" rIns="0" bIns="0" rtlCol="0" anchor="ctr"/>
          <a:lstStyle/>
          <a:p>
            <a:pPr algn="ctr" indent="0" marL="0">
              <a:buNone/>
            </a:pPr>
            <a:r>
              <a:rPr lang="en-US" sz="1200" b="1" dirty="0">
                <a:solidFill>
                  <a:srgbClr val="4C8068"/>
                </a:solidFill>
                <a:latin typeface="Calibri" pitchFamily="34" charset="0"/>
                <a:ea typeface="Calibri" pitchFamily="34" charset="-122"/>
                <a:cs typeface="Calibri" pitchFamily="34" charset="-120"/>
              </a:rPr>
              <a:t>Scenario 2: Disaster Recovery</a:t>
            </a:r>
            <a:endParaRPr lang="en-US" sz="1200" dirty="0"/>
          </a:p>
        </p:txBody>
      </p:sp>
      <p:sp>
        <p:nvSpPr>
          <p:cNvPr id="4" name="Text 2"/>
          <p:cNvSpPr txBox="1"/>
          <p:nvPr/>
        </p:nvSpPr>
        <p:spPr>
          <a:xfrm>
            <a:off x="548640" y="749808"/>
            <a:ext cx="11064240" cy="640080"/>
          </a:xfrm>
          <a:prstGeom prst="rect">
            <a:avLst/>
          </a:prstGeom>
          <a:noFill/>
          <a:ln/>
        </p:spPr>
        <p:txBody>
          <a:bodyPr wrap="square" lIns="0" tIns="0" rIns="0" bIns="0" rtlCol="0" anchor="ctr"/>
          <a:lstStyle/>
          <a:p>
            <a:pPr indent="0" marL="0">
              <a:buNone/>
            </a:pPr>
            <a:r>
              <a:rPr lang="en-US" sz="2800" b="1" dirty="0">
                <a:solidFill>
                  <a:srgbClr val="23405A"/>
                </a:solidFill>
                <a:latin typeface="Calibri" pitchFamily="34" charset="0"/>
                <a:ea typeface="Calibri" pitchFamily="34" charset="-122"/>
                <a:cs typeface="Calibri" pitchFamily="34" charset="-120"/>
              </a:rPr>
              <a:t>T+2h: Provider Incident Declared</a:t>
            </a:r>
            <a:endParaRPr lang="en-US" sz="2800" dirty="0"/>
          </a:p>
        </p:txBody>
      </p:sp>
      <p:sp>
        <p:nvSpPr>
          <p:cNvPr id="5" name="Shape 3"/>
          <p:cNvSpPr/>
          <p:nvPr/>
        </p:nvSpPr>
        <p:spPr>
          <a:xfrm>
            <a:off x="10705795" y="347472"/>
            <a:ext cx="937260" cy="329184"/>
          </a:xfrm>
          <a:prstGeom prst="roundRect">
            <a:avLst>
              <a:gd name="adj" fmla="val 50000"/>
            </a:avLst>
          </a:prstGeom>
          <a:solidFill>
            <a:srgbClr val="FFFFFF"/>
          </a:solidFill>
          <a:ln w="12700">
            <a:solidFill>
              <a:srgbClr val="FFFFFF"/>
            </a:solidFill>
            <a:prstDash val="solid"/>
          </a:ln>
        </p:spPr>
      </p:sp>
      <p:sp>
        <p:nvSpPr>
          <p:cNvPr id="6" name="Text 4"/>
          <p:cNvSpPr txBox="1"/>
          <p:nvPr/>
        </p:nvSpPr>
        <p:spPr>
          <a:xfrm>
            <a:off x="10705795" y="347472"/>
            <a:ext cx="937260" cy="329184"/>
          </a:xfrm>
          <a:prstGeom prst="rect">
            <a:avLst/>
          </a:prstGeom>
          <a:noFill/>
          <a:ln/>
        </p:spPr>
        <p:txBody>
          <a:bodyPr wrap="square" lIns="0" tIns="0" rIns="0" bIns="0" rtlCol="0" anchor="ctr"/>
          <a:lstStyle/>
          <a:p>
            <a:pPr algn="ctr" indent="0" marL="0">
              <a:buNone/>
            </a:pPr>
            <a:r>
              <a:rPr lang="en-US" sz="1200" dirty="0">
                <a:solidFill>
                  <a:srgbClr val="465A69"/>
                </a:solidFill>
                <a:latin typeface="Calibri" pitchFamily="34" charset="0"/>
                <a:ea typeface="Calibri" pitchFamily="34" charset="-122"/>
                <a:cs typeface="Calibri" pitchFamily="34" charset="-120"/>
              </a:rPr>
              <a:t>Hotwash</a:t>
            </a:r>
            <a:endParaRPr lang="en-US" sz="1200" dirty="0"/>
          </a:p>
        </p:txBody>
      </p:sp>
      <p:sp>
        <p:nvSpPr>
          <p:cNvPr id="7" name="Shape 5"/>
          <p:cNvSpPr/>
          <p:nvPr/>
        </p:nvSpPr>
        <p:spPr>
          <a:xfrm>
            <a:off x="9608515" y="347472"/>
            <a:ext cx="1024128" cy="329184"/>
          </a:xfrm>
          <a:prstGeom prst="roundRect">
            <a:avLst>
              <a:gd name="adj" fmla="val 50000"/>
            </a:avLst>
          </a:prstGeom>
          <a:solidFill>
            <a:srgbClr val="FFFFFF"/>
          </a:solidFill>
          <a:ln w="12700">
            <a:solidFill>
              <a:srgbClr val="FFFFFF"/>
            </a:solidFill>
            <a:prstDash val="solid"/>
          </a:ln>
        </p:spPr>
      </p:sp>
      <p:sp>
        <p:nvSpPr>
          <p:cNvPr id="8" name="Text 6"/>
          <p:cNvSpPr txBox="1"/>
          <p:nvPr/>
        </p:nvSpPr>
        <p:spPr>
          <a:xfrm>
            <a:off x="9608515" y="347472"/>
            <a:ext cx="1024128" cy="329184"/>
          </a:xfrm>
          <a:prstGeom prst="rect">
            <a:avLst/>
          </a:prstGeom>
          <a:noFill/>
          <a:ln/>
        </p:spPr>
        <p:txBody>
          <a:bodyPr wrap="square" lIns="0" tIns="0" rIns="0" bIns="0" rtlCol="0" anchor="ctr"/>
          <a:lstStyle/>
          <a:p>
            <a:pPr algn="ctr" indent="0" marL="0">
              <a:buNone/>
            </a:pPr>
            <a:r>
              <a:rPr lang="en-US" sz="1200" dirty="0">
                <a:solidFill>
                  <a:srgbClr val="465A69"/>
                </a:solidFill>
                <a:latin typeface="Calibri" pitchFamily="34" charset="0"/>
                <a:ea typeface="Calibri" pitchFamily="34" charset="-122"/>
                <a:cs typeface="Calibri" pitchFamily="34" charset="-120"/>
              </a:rPr>
              <a:t>Recovery</a:t>
            </a:r>
            <a:endParaRPr lang="en-US" sz="1200" dirty="0"/>
          </a:p>
        </p:txBody>
      </p:sp>
      <p:sp>
        <p:nvSpPr>
          <p:cNvPr id="9" name="Shape 7"/>
          <p:cNvSpPr/>
          <p:nvPr/>
        </p:nvSpPr>
        <p:spPr>
          <a:xfrm>
            <a:off x="8598103" y="347472"/>
            <a:ext cx="937260" cy="329184"/>
          </a:xfrm>
          <a:prstGeom prst="roundRect">
            <a:avLst>
              <a:gd name="adj" fmla="val 50000"/>
            </a:avLst>
          </a:prstGeom>
          <a:solidFill>
            <a:srgbClr val="4C8068"/>
          </a:solidFill>
          <a:ln w="12700">
            <a:solidFill>
              <a:srgbClr val="4C8068"/>
            </a:solidFill>
            <a:prstDash val="solid"/>
          </a:ln>
        </p:spPr>
      </p:sp>
      <p:sp>
        <p:nvSpPr>
          <p:cNvPr id="10" name="Text 8"/>
          <p:cNvSpPr txBox="1"/>
          <p:nvPr/>
        </p:nvSpPr>
        <p:spPr>
          <a:xfrm>
            <a:off x="8598103" y="347472"/>
            <a:ext cx="93726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Injects</a:t>
            </a:r>
            <a:endParaRPr lang="en-US" sz="1200" dirty="0"/>
          </a:p>
        </p:txBody>
      </p:sp>
      <p:sp>
        <p:nvSpPr>
          <p:cNvPr id="11" name="Shape 9"/>
          <p:cNvSpPr/>
          <p:nvPr/>
        </p:nvSpPr>
        <p:spPr>
          <a:xfrm>
            <a:off x="7674559" y="347472"/>
            <a:ext cx="850392" cy="329184"/>
          </a:xfrm>
          <a:prstGeom prst="roundRect">
            <a:avLst>
              <a:gd name="adj" fmla="val 50000"/>
            </a:avLst>
          </a:prstGeom>
          <a:solidFill>
            <a:srgbClr val="F1F8F3"/>
          </a:solidFill>
          <a:ln w="12700">
            <a:solidFill>
              <a:srgbClr val="F1F8F3"/>
            </a:solidFill>
            <a:prstDash val="solid"/>
          </a:ln>
        </p:spPr>
      </p:sp>
      <p:sp>
        <p:nvSpPr>
          <p:cNvPr id="12" name="Text 10"/>
          <p:cNvSpPr txBox="1"/>
          <p:nvPr/>
        </p:nvSpPr>
        <p:spPr>
          <a:xfrm>
            <a:off x="7674559" y="347472"/>
            <a:ext cx="850392" cy="329184"/>
          </a:xfrm>
          <a:prstGeom prst="rect">
            <a:avLst/>
          </a:prstGeom>
          <a:noFill/>
          <a:ln/>
        </p:spPr>
        <p:txBody>
          <a:bodyPr wrap="square" lIns="0" tIns="0" rIns="0" bIns="0" rtlCol="0" anchor="ctr"/>
          <a:lstStyle/>
          <a:p>
            <a:pPr algn="ctr" indent="0" marL="0">
              <a:buNone/>
            </a:pPr>
            <a:r>
              <a:rPr lang="en-US" sz="1200" dirty="0">
                <a:solidFill>
                  <a:srgbClr val="4C8068"/>
                </a:solidFill>
                <a:latin typeface="Calibri" pitchFamily="34" charset="0"/>
                <a:ea typeface="Calibri" pitchFamily="34" charset="-122"/>
                <a:cs typeface="Calibri" pitchFamily="34" charset="-120"/>
              </a:rPr>
              <a:t>Decide</a:t>
            </a:r>
            <a:endParaRPr lang="en-US" sz="1200" dirty="0"/>
          </a:p>
        </p:txBody>
      </p:sp>
      <p:sp>
        <p:nvSpPr>
          <p:cNvPr id="13" name="Shape 11"/>
          <p:cNvSpPr/>
          <p:nvPr/>
        </p:nvSpPr>
        <p:spPr>
          <a:xfrm>
            <a:off x="7011619" y="347472"/>
            <a:ext cx="589788" cy="329184"/>
          </a:xfrm>
          <a:prstGeom prst="roundRect">
            <a:avLst>
              <a:gd name="adj" fmla="val 50000"/>
            </a:avLst>
          </a:prstGeom>
          <a:solidFill>
            <a:srgbClr val="F1F8F3"/>
          </a:solidFill>
          <a:ln w="12700">
            <a:solidFill>
              <a:srgbClr val="F1F8F3"/>
            </a:solidFill>
            <a:prstDash val="solid"/>
          </a:ln>
        </p:spPr>
      </p:sp>
      <p:sp>
        <p:nvSpPr>
          <p:cNvPr id="14" name="Text 12"/>
          <p:cNvSpPr txBox="1"/>
          <p:nvPr/>
        </p:nvSpPr>
        <p:spPr>
          <a:xfrm>
            <a:off x="7011619" y="347472"/>
            <a:ext cx="589788" cy="329184"/>
          </a:xfrm>
          <a:prstGeom prst="rect">
            <a:avLst/>
          </a:prstGeom>
          <a:noFill/>
          <a:ln/>
        </p:spPr>
        <p:txBody>
          <a:bodyPr wrap="square" lIns="0" tIns="0" rIns="0" bIns="0" rtlCol="0" anchor="ctr"/>
          <a:lstStyle/>
          <a:p>
            <a:pPr algn="ctr" indent="0" marL="0">
              <a:buNone/>
            </a:pPr>
            <a:r>
              <a:rPr lang="en-US" sz="1200" dirty="0">
                <a:solidFill>
                  <a:srgbClr val="4C8068"/>
                </a:solidFill>
                <a:latin typeface="Calibri" pitchFamily="34" charset="0"/>
                <a:ea typeface="Calibri" pitchFamily="34" charset="-122"/>
                <a:cs typeface="Calibri" pitchFamily="34" charset="-120"/>
              </a:rPr>
              <a:t>T+0</a:t>
            </a:r>
            <a:endParaRPr lang="en-US" sz="1200" dirty="0"/>
          </a:p>
        </p:txBody>
      </p:sp>
      <p:sp>
        <p:nvSpPr>
          <p:cNvPr id="15" name="Shape 13"/>
          <p:cNvSpPr/>
          <p:nvPr/>
        </p:nvSpPr>
        <p:spPr>
          <a:xfrm>
            <a:off x="5740603" y="347472"/>
            <a:ext cx="1197864" cy="329184"/>
          </a:xfrm>
          <a:prstGeom prst="roundRect">
            <a:avLst>
              <a:gd name="adj" fmla="val 50000"/>
            </a:avLst>
          </a:prstGeom>
          <a:solidFill>
            <a:srgbClr val="F1F8F3"/>
          </a:solidFill>
          <a:ln w="12700">
            <a:solidFill>
              <a:srgbClr val="F1F8F3"/>
            </a:solidFill>
            <a:prstDash val="solid"/>
          </a:ln>
        </p:spPr>
      </p:sp>
      <p:sp>
        <p:nvSpPr>
          <p:cNvPr id="16" name="Text 14"/>
          <p:cNvSpPr txBox="1"/>
          <p:nvPr/>
        </p:nvSpPr>
        <p:spPr>
          <a:xfrm>
            <a:off x="5740603" y="347472"/>
            <a:ext cx="1197864" cy="329184"/>
          </a:xfrm>
          <a:prstGeom prst="rect">
            <a:avLst/>
          </a:prstGeom>
          <a:noFill/>
          <a:ln/>
        </p:spPr>
        <p:txBody>
          <a:bodyPr wrap="square" lIns="0" tIns="0" rIns="0" bIns="0" rtlCol="0" anchor="ctr"/>
          <a:lstStyle/>
          <a:p>
            <a:pPr algn="ctr" indent="0" marL="0">
              <a:buNone/>
            </a:pPr>
            <a:r>
              <a:rPr lang="en-US" sz="1200" dirty="0">
                <a:solidFill>
                  <a:srgbClr val="4C8068"/>
                </a:solidFill>
                <a:latin typeface="Calibri" pitchFamily="34" charset="0"/>
                <a:ea typeface="Calibri" pitchFamily="34" charset="-122"/>
                <a:cs typeface="Calibri" pitchFamily="34" charset="-120"/>
              </a:rPr>
              <a:t>Background</a:t>
            </a:r>
            <a:endParaRPr lang="en-US" sz="1200" dirty="0"/>
          </a:p>
        </p:txBody>
      </p:sp>
      <p:sp>
        <p:nvSpPr>
          <p:cNvPr id="17" name="Shape 15"/>
          <p:cNvSpPr/>
          <p:nvPr/>
        </p:nvSpPr>
        <p:spPr>
          <a:xfrm>
            <a:off x="548640" y="1600200"/>
            <a:ext cx="2377440" cy="4572000"/>
          </a:xfrm>
          <a:prstGeom prst="roundRect">
            <a:avLst>
              <a:gd name="adj" fmla="val 5385"/>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18" name="Text 16"/>
          <p:cNvSpPr txBox="1"/>
          <p:nvPr/>
        </p:nvSpPr>
        <p:spPr>
          <a:xfrm>
            <a:off x="822960" y="1783080"/>
            <a:ext cx="1874520" cy="320040"/>
          </a:xfrm>
          <a:prstGeom prst="rect">
            <a:avLst/>
          </a:prstGeom>
          <a:noFill/>
          <a:ln/>
        </p:spPr>
        <p:txBody>
          <a:bodyPr wrap="square" lIns="0" tIns="0" rIns="0" bIns="0" rtlCol="0" anchor="t"/>
          <a:lstStyle/>
          <a:p>
            <a:pPr indent="0" marL="0">
              <a:buNone/>
            </a:pPr>
            <a:r>
              <a:rPr lang="en-US" sz="1400" b="1" dirty="0">
                <a:solidFill>
                  <a:srgbClr val="465A69"/>
                </a:solidFill>
                <a:latin typeface="Calibri" pitchFamily="34" charset="0"/>
                <a:ea typeface="Calibri" pitchFamily="34" charset="-122"/>
                <a:cs typeface="Calibri" pitchFamily="34" charset="-120"/>
              </a:rPr>
              <a:t>Timeline</a:t>
            </a:r>
            <a:endParaRPr lang="en-US" sz="1400" dirty="0"/>
          </a:p>
        </p:txBody>
      </p:sp>
      <p:sp>
        <p:nvSpPr>
          <p:cNvPr id="19" name="Shape 17"/>
          <p:cNvSpPr/>
          <p:nvPr/>
        </p:nvSpPr>
        <p:spPr>
          <a:xfrm>
            <a:off x="905256" y="2551176"/>
            <a:ext cx="0" cy="257338"/>
          </a:xfrm>
          <a:prstGeom prst="line">
            <a:avLst/>
          </a:prstGeom>
          <a:noFill/>
          <a:ln w="19050">
            <a:solidFill>
              <a:srgbClr val="4C8068"/>
            </a:solidFill>
            <a:prstDash val="solid"/>
          </a:ln>
        </p:spPr>
      </p:sp>
      <p:sp>
        <p:nvSpPr>
          <p:cNvPr id="20" name="Shape 18"/>
          <p:cNvSpPr/>
          <p:nvPr/>
        </p:nvSpPr>
        <p:spPr>
          <a:xfrm>
            <a:off x="777240" y="2267712"/>
            <a:ext cx="256032" cy="256032"/>
          </a:xfrm>
          <a:prstGeom prst="ellipse">
            <a:avLst/>
          </a:prstGeom>
          <a:solidFill>
            <a:srgbClr val="F1F8F3"/>
          </a:solidFill>
          <a:ln w="12700">
            <a:solidFill>
              <a:srgbClr val="F1F8F3"/>
            </a:solidFill>
            <a:prstDash val="solid"/>
          </a:ln>
        </p:spPr>
      </p:sp>
      <p:sp>
        <p:nvSpPr>
          <p:cNvPr id="21" name="Text 19"/>
          <p:cNvSpPr txBox="1"/>
          <p:nvPr/>
        </p:nvSpPr>
        <p:spPr>
          <a:xfrm>
            <a:off x="1188720" y="2203704"/>
            <a:ext cx="1645920" cy="568234"/>
          </a:xfrm>
          <a:prstGeom prst="rect">
            <a:avLst/>
          </a:prstGeom>
          <a:noFill/>
          <a:ln/>
        </p:spPr>
        <p:txBody>
          <a:bodyPr wrap="square" lIns="0" tIns="0" rIns="0" bIns="0" rtlCol="0" anchor="t"/>
          <a:lstStyle/>
          <a:p>
            <a:pPr indent="0" marL="0">
              <a:buNone/>
            </a:pPr>
            <a:r>
              <a:rPr lang="en-US" sz="1200" b="1" dirty="0">
                <a:solidFill>
                  <a:srgbClr val="465A69"/>
                </a:solidFill>
                <a:latin typeface="Calibri" pitchFamily="34" charset="0"/>
                <a:ea typeface="Calibri" pitchFamily="34" charset="-122"/>
                <a:cs typeface="Calibri" pitchFamily="34" charset="-120"/>
              </a:rPr>
              <a:t>T+0</a:t>
            </a:r>
            <a:endParaRPr lang="en-US" sz="1200" dirty="0"/>
          </a:p>
          <a:p>
            <a:pPr indent="0" marL="0">
              <a:buNone/>
            </a:pPr>
            <a:r>
              <a:rPr lang="en-US" sz="1200" dirty="0">
                <a:solidFill>
                  <a:srgbClr val="1E2E3A"/>
                </a:solidFill>
                <a:latin typeface="Calibri" pitchFamily="34" charset="0"/>
                <a:ea typeface="Calibri" pitchFamily="34" charset="-122"/>
                <a:cs typeface="Calibri" pitchFamily="34" charset="-120"/>
              </a:rPr>
              <a:t>Initial alert</a:t>
            </a:r>
            <a:endParaRPr lang="en-US" sz="1200" dirty="0"/>
          </a:p>
        </p:txBody>
      </p:sp>
      <p:sp>
        <p:nvSpPr>
          <p:cNvPr id="22" name="Shape 20"/>
          <p:cNvSpPr/>
          <p:nvPr/>
        </p:nvSpPr>
        <p:spPr>
          <a:xfrm>
            <a:off x="905256" y="3119410"/>
            <a:ext cx="0" cy="257338"/>
          </a:xfrm>
          <a:prstGeom prst="line">
            <a:avLst/>
          </a:prstGeom>
          <a:noFill/>
          <a:ln w="19050">
            <a:solidFill>
              <a:srgbClr val="4C8068"/>
            </a:solidFill>
            <a:prstDash val="solid"/>
          </a:ln>
        </p:spPr>
      </p:sp>
      <p:sp>
        <p:nvSpPr>
          <p:cNvPr id="23" name="Shape 21"/>
          <p:cNvSpPr/>
          <p:nvPr/>
        </p:nvSpPr>
        <p:spPr>
          <a:xfrm>
            <a:off x="777240" y="2835946"/>
            <a:ext cx="256032" cy="256032"/>
          </a:xfrm>
          <a:prstGeom prst="ellipse">
            <a:avLst/>
          </a:prstGeom>
          <a:solidFill>
            <a:srgbClr val="F1F8F3"/>
          </a:solidFill>
          <a:ln w="12700">
            <a:solidFill>
              <a:srgbClr val="F1F8F3"/>
            </a:solidFill>
            <a:prstDash val="solid"/>
          </a:ln>
        </p:spPr>
      </p:sp>
      <p:sp>
        <p:nvSpPr>
          <p:cNvPr id="24" name="Text 22"/>
          <p:cNvSpPr txBox="1"/>
          <p:nvPr/>
        </p:nvSpPr>
        <p:spPr>
          <a:xfrm>
            <a:off x="1188720" y="2771938"/>
            <a:ext cx="1645920" cy="568234"/>
          </a:xfrm>
          <a:prstGeom prst="rect">
            <a:avLst/>
          </a:prstGeom>
          <a:noFill/>
          <a:ln/>
        </p:spPr>
        <p:txBody>
          <a:bodyPr wrap="square" lIns="0" tIns="0" rIns="0" bIns="0" rtlCol="0" anchor="t"/>
          <a:lstStyle/>
          <a:p>
            <a:pPr indent="0" marL="0">
              <a:buNone/>
            </a:pPr>
            <a:r>
              <a:rPr lang="en-US" sz="1200" b="1" dirty="0">
                <a:solidFill>
                  <a:srgbClr val="465A69"/>
                </a:solidFill>
                <a:latin typeface="Calibri" pitchFamily="34" charset="0"/>
                <a:ea typeface="Calibri" pitchFamily="34" charset="-122"/>
                <a:cs typeface="Calibri" pitchFamily="34" charset="-120"/>
              </a:rPr>
              <a:t>T+30m</a:t>
            </a:r>
            <a:endParaRPr lang="en-US" sz="1200" dirty="0"/>
          </a:p>
          <a:p>
            <a:pPr indent="0" marL="0">
              <a:buNone/>
            </a:pPr>
            <a:r>
              <a:rPr lang="en-US" sz="1200" dirty="0">
                <a:solidFill>
                  <a:srgbClr val="1E2E3A"/>
                </a:solidFill>
                <a:latin typeface="Calibri" pitchFamily="34" charset="0"/>
                <a:ea typeface="Calibri" pitchFamily="34" charset="-122"/>
                <a:cs typeface="Calibri" pitchFamily="34" charset="-120"/>
              </a:rPr>
              <a:t>Scope expands</a:t>
            </a:r>
            <a:endParaRPr lang="en-US" sz="1200" dirty="0"/>
          </a:p>
        </p:txBody>
      </p:sp>
      <p:sp>
        <p:nvSpPr>
          <p:cNvPr id="25" name="Shape 23"/>
          <p:cNvSpPr/>
          <p:nvPr/>
        </p:nvSpPr>
        <p:spPr>
          <a:xfrm>
            <a:off x="905256" y="3687645"/>
            <a:ext cx="0" cy="257338"/>
          </a:xfrm>
          <a:prstGeom prst="line">
            <a:avLst/>
          </a:prstGeom>
          <a:noFill/>
          <a:ln w="19050">
            <a:solidFill>
              <a:srgbClr val="C9D5D2"/>
            </a:solidFill>
            <a:prstDash val="solid"/>
          </a:ln>
        </p:spPr>
      </p:sp>
      <p:sp>
        <p:nvSpPr>
          <p:cNvPr id="26" name="Shape 24"/>
          <p:cNvSpPr/>
          <p:nvPr/>
        </p:nvSpPr>
        <p:spPr>
          <a:xfrm>
            <a:off x="777240" y="3404181"/>
            <a:ext cx="256032" cy="256032"/>
          </a:xfrm>
          <a:prstGeom prst="ellipse">
            <a:avLst/>
          </a:prstGeom>
          <a:solidFill>
            <a:srgbClr val="4C8068"/>
          </a:solidFill>
          <a:ln w="12700">
            <a:solidFill>
              <a:srgbClr val="4C8068"/>
            </a:solidFill>
            <a:prstDash val="solid"/>
          </a:ln>
        </p:spPr>
      </p:sp>
      <p:sp>
        <p:nvSpPr>
          <p:cNvPr id="27" name="Text 25"/>
          <p:cNvSpPr txBox="1"/>
          <p:nvPr/>
        </p:nvSpPr>
        <p:spPr>
          <a:xfrm>
            <a:off x="1188720" y="3340173"/>
            <a:ext cx="1645920" cy="568234"/>
          </a:xfrm>
          <a:prstGeom prst="rect">
            <a:avLst/>
          </a:prstGeom>
          <a:noFill/>
          <a:ln/>
        </p:spPr>
        <p:txBody>
          <a:bodyPr wrap="square" lIns="0" tIns="0" rIns="0" bIns="0" rtlCol="0" anchor="t"/>
          <a:lstStyle/>
          <a:p>
            <a:pPr indent="0" marL="0">
              <a:buNone/>
            </a:pPr>
            <a:r>
              <a:rPr lang="en-US" sz="1200" b="1" dirty="0">
                <a:solidFill>
                  <a:srgbClr val="4C8068"/>
                </a:solidFill>
                <a:latin typeface="Calibri" pitchFamily="34" charset="0"/>
                <a:ea typeface="Calibri" pitchFamily="34" charset="-122"/>
                <a:cs typeface="Calibri" pitchFamily="34" charset="-120"/>
              </a:rPr>
              <a:t>T+2h</a:t>
            </a:r>
            <a:endParaRPr lang="en-US" sz="1200" dirty="0"/>
          </a:p>
          <a:p>
            <a:pPr indent="0" marL="0">
              <a:buNone/>
            </a:pPr>
            <a:r>
              <a:rPr lang="en-US" sz="1200" b="1" dirty="0">
                <a:solidFill>
                  <a:srgbClr val="4C8068"/>
                </a:solidFill>
                <a:latin typeface="Calibri" pitchFamily="34" charset="0"/>
                <a:ea typeface="Calibri" pitchFamily="34" charset="-122"/>
                <a:cs typeface="Calibri" pitchFamily="34" charset="-120"/>
              </a:rPr>
              <a:t>Provider incident declared</a:t>
            </a:r>
            <a:endParaRPr lang="en-US" sz="1200" dirty="0"/>
          </a:p>
        </p:txBody>
      </p:sp>
      <p:sp>
        <p:nvSpPr>
          <p:cNvPr id="28" name="Shape 26"/>
          <p:cNvSpPr/>
          <p:nvPr/>
        </p:nvSpPr>
        <p:spPr>
          <a:xfrm>
            <a:off x="905256" y="4255879"/>
            <a:ext cx="0" cy="257338"/>
          </a:xfrm>
          <a:prstGeom prst="line">
            <a:avLst/>
          </a:prstGeom>
          <a:noFill/>
          <a:ln w="19050">
            <a:solidFill>
              <a:srgbClr val="C9D5D2"/>
            </a:solidFill>
            <a:prstDash val="solid"/>
          </a:ln>
        </p:spPr>
      </p:sp>
      <p:sp>
        <p:nvSpPr>
          <p:cNvPr id="29" name="Shape 27"/>
          <p:cNvSpPr/>
          <p:nvPr/>
        </p:nvSpPr>
        <p:spPr>
          <a:xfrm>
            <a:off x="777240" y="3972415"/>
            <a:ext cx="256032" cy="256032"/>
          </a:xfrm>
          <a:prstGeom prst="ellipse">
            <a:avLst/>
          </a:prstGeom>
          <a:solidFill>
            <a:srgbClr val="FFFFFF"/>
          </a:solidFill>
          <a:ln w="15875">
            <a:solidFill>
              <a:srgbClr val="C9D5D2"/>
            </a:solidFill>
            <a:prstDash val="solid"/>
          </a:ln>
        </p:spPr>
      </p:sp>
      <p:sp>
        <p:nvSpPr>
          <p:cNvPr id="30" name="Shape 28"/>
          <p:cNvSpPr/>
          <p:nvPr/>
        </p:nvSpPr>
        <p:spPr>
          <a:xfrm>
            <a:off x="905256" y="4824113"/>
            <a:ext cx="0" cy="257338"/>
          </a:xfrm>
          <a:prstGeom prst="line">
            <a:avLst/>
          </a:prstGeom>
          <a:noFill/>
          <a:ln w="19050">
            <a:solidFill>
              <a:srgbClr val="C9D5D2"/>
            </a:solidFill>
            <a:prstDash val="solid"/>
          </a:ln>
        </p:spPr>
      </p:sp>
      <p:sp>
        <p:nvSpPr>
          <p:cNvPr id="31" name="Shape 29"/>
          <p:cNvSpPr/>
          <p:nvPr/>
        </p:nvSpPr>
        <p:spPr>
          <a:xfrm>
            <a:off x="777240" y="4540649"/>
            <a:ext cx="256032" cy="256032"/>
          </a:xfrm>
          <a:prstGeom prst="ellipse">
            <a:avLst/>
          </a:prstGeom>
          <a:solidFill>
            <a:srgbClr val="FFFFFF"/>
          </a:solidFill>
          <a:ln w="15875">
            <a:solidFill>
              <a:srgbClr val="C9D5D2"/>
            </a:solidFill>
            <a:prstDash val="solid"/>
          </a:ln>
        </p:spPr>
      </p:sp>
      <p:sp>
        <p:nvSpPr>
          <p:cNvPr id="32" name="Shape 30"/>
          <p:cNvSpPr/>
          <p:nvPr/>
        </p:nvSpPr>
        <p:spPr>
          <a:xfrm>
            <a:off x="905256" y="5392347"/>
            <a:ext cx="0" cy="257338"/>
          </a:xfrm>
          <a:prstGeom prst="line">
            <a:avLst/>
          </a:prstGeom>
          <a:noFill/>
          <a:ln w="19050">
            <a:solidFill>
              <a:srgbClr val="C9D5D2"/>
            </a:solidFill>
            <a:prstDash val="solid"/>
          </a:ln>
        </p:spPr>
      </p:sp>
      <p:sp>
        <p:nvSpPr>
          <p:cNvPr id="33" name="Shape 31"/>
          <p:cNvSpPr/>
          <p:nvPr/>
        </p:nvSpPr>
        <p:spPr>
          <a:xfrm>
            <a:off x="777240" y="5108883"/>
            <a:ext cx="256032" cy="256032"/>
          </a:xfrm>
          <a:prstGeom prst="ellipse">
            <a:avLst/>
          </a:prstGeom>
          <a:solidFill>
            <a:srgbClr val="FFFFFF"/>
          </a:solidFill>
          <a:ln w="15875">
            <a:solidFill>
              <a:srgbClr val="C9D5D2"/>
            </a:solidFill>
            <a:prstDash val="solid"/>
          </a:ln>
        </p:spPr>
      </p:sp>
      <p:sp>
        <p:nvSpPr>
          <p:cNvPr id="34" name="Shape 32"/>
          <p:cNvSpPr/>
          <p:nvPr/>
        </p:nvSpPr>
        <p:spPr>
          <a:xfrm>
            <a:off x="777240" y="5677118"/>
            <a:ext cx="256032" cy="256032"/>
          </a:xfrm>
          <a:prstGeom prst="ellipse">
            <a:avLst/>
          </a:prstGeom>
          <a:solidFill>
            <a:srgbClr val="FFFFFF"/>
          </a:solidFill>
          <a:ln w="15875">
            <a:solidFill>
              <a:srgbClr val="C9D5D2"/>
            </a:solidFill>
            <a:prstDash val="solid"/>
          </a:ln>
        </p:spPr>
      </p:sp>
      <p:sp>
        <p:nvSpPr>
          <p:cNvPr id="35" name="Shape 33"/>
          <p:cNvSpPr/>
          <p:nvPr/>
        </p:nvSpPr>
        <p:spPr>
          <a:xfrm>
            <a:off x="3154680" y="1600200"/>
            <a:ext cx="5696712" cy="3017520"/>
          </a:xfrm>
          <a:prstGeom prst="roundRect">
            <a:avLst>
              <a:gd name="adj" fmla="val 4242"/>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36" name="Shape 34"/>
          <p:cNvSpPr/>
          <p:nvPr/>
        </p:nvSpPr>
        <p:spPr>
          <a:xfrm>
            <a:off x="3429000" y="1810512"/>
            <a:ext cx="2240280" cy="384048"/>
          </a:xfrm>
          <a:prstGeom prst="roundRect">
            <a:avLst>
              <a:gd name="adj" fmla="val 50000"/>
            </a:avLst>
          </a:prstGeom>
          <a:solidFill>
            <a:srgbClr val="4C8068"/>
          </a:solidFill>
          <a:ln w="12700">
            <a:solidFill>
              <a:srgbClr val="4C8068"/>
            </a:solidFill>
            <a:prstDash val="solid"/>
          </a:ln>
        </p:spPr>
      </p:sp>
      <p:pic>
        <p:nvPicPr>
          <p:cNvPr id="37" name="Image 0" descr="preencoded.png">    </p:cNvPr>
          <p:cNvPicPr>
            <a:picLocks noChangeAspect="1"/>
          </p:cNvPicPr>
          <p:nvPr/>
        </p:nvPicPr>
        <p:blipFill>
          <a:blip r:embed="rId1"/>
          <a:stretch>
            <a:fillRect/>
          </a:stretch>
        </p:blipFill>
        <p:spPr>
          <a:xfrm>
            <a:off x="3547872" y="1874520"/>
            <a:ext cx="246888" cy="246888"/>
          </a:xfrm>
          <a:prstGeom prst="rect">
            <a:avLst/>
          </a:prstGeom>
        </p:spPr>
      </p:pic>
      <p:sp>
        <p:nvSpPr>
          <p:cNvPr id="38" name="Text 35"/>
          <p:cNvSpPr txBox="1"/>
          <p:nvPr/>
        </p:nvSpPr>
        <p:spPr>
          <a:xfrm>
            <a:off x="3867912" y="1810512"/>
            <a:ext cx="1783080" cy="38404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T+2h  |  10:12 AM</a:t>
            </a:r>
            <a:endParaRPr lang="en-US" sz="1300" dirty="0"/>
          </a:p>
        </p:txBody>
      </p:sp>
      <p:sp>
        <p:nvSpPr>
          <p:cNvPr id="39" name="Text 36"/>
          <p:cNvSpPr txBox="1"/>
          <p:nvPr/>
        </p:nvSpPr>
        <p:spPr>
          <a:xfrm>
            <a:off x="3429000" y="2286000"/>
            <a:ext cx="2743200" cy="256032"/>
          </a:xfrm>
          <a:prstGeom prst="rect">
            <a:avLst/>
          </a:prstGeom>
          <a:noFill/>
          <a:ln/>
        </p:spPr>
        <p:txBody>
          <a:bodyPr wrap="square" lIns="0" tIns="0" rIns="0" bIns="0" rtlCol="0" anchor="t"/>
          <a:lstStyle/>
          <a:p>
            <a:pPr indent="0" marL="0">
              <a:buNone/>
            </a:pPr>
            <a:r>
              <a:rPr lang="en-US" sz="1200" b="1" dirty="0">
                <a:solidFill>
                  <a:srgbClr val="465A69"/>
                </a:solidFill>
                <a:latin typeface="Calibri" pitchFamily="34" charset="0"/>
                <a:ea typeface="Calibri" pitchFamily="34" charset="-122"/>
                <a:cs typeface="Calibri" pitchFamily="34" charset="-120"/>
              </a:rPr>
              <a:t>New information</a:t>
            </a:r>
            <a:endParaRPr lang="en-US" sz="1200" dirty="0"/>
          </a:p>
        </p:txBody>
      </p:sp>
      <p:sp>
        <p:nvSpPr>
          <p:cNvPr id="40" name="Text 37"/>
          <p:cNvSpPr txBox="1"/>
          <p:nvPr/>
        </p:nvSpPr>
        <p:spPr>
          <a:xfrm>
            <a:off x="3429000" y="2560320"/>
            <a:ext cx="5166360" cy="1965960"/>
          </a:xfrm>
          <a:prstGeom prst="rect">
            <a:avLst/>
          </a:prstGeom>
          <a:noFill/>
          <a:ln/>
        </p:spPr>
        <p:txBody>
          <a:bodyPr wrap="square" lIns="0" tIns="0" rIns="0" bIns="0" rtlCol="0" anchor="t"/>
          <a:lstStyle/>
          <a:p>
            <a:pPr indent="0" marL="0">
              <a:buNone/>
            </a:pPr>
            <a:r>
              <a:rPr lang="en-US" sz="1800" dirty="0">
                <a:solidFill>
                  <a:srgbClr val="1E2E3A"/>
                </a:solidFill>
                <a:latin typeface="Calibri" pitchFamily="34" charset="0"/>
                <a:ea typeface="Calibri" pitchFamily="34" charset="-122"/>
                <a:cs typeface="Calibri" pitchFamily="34" charset="-120"/>
              </a:rPr>
              <a:t>Microsoft confirms a regional cloud outage. No restoration ETA.</a:t>
            </a:r>
            <a:endParaRPr lang="en-US" sz="1800" dirty="0"/>
          </a:p>
        </p:txBody>
      </p:sp>
      <p:sp>
        <p:nvSpPr>
          <p:cNvPr id="41" name="Shape 38"/>
          <p:cNvSpPr/>
          <p:nvPr/>
        </p:nvSpPr>
        <p:spPr>
          <a:xfrm>
            <a:off x="3154680" y="4800600"/>
            <a:ext cx="5696712" cy="1371600"/>
          </a:xfrm>
          <a:prstGeom prst="roundRect">
            <a:avLst>
              <a:gd name="adj" fmla="val 9333"/>
            </a:avLst>
          </a:prstGeom>
          <a:solidFill>
            <a:srgbClr val="F1F8F3"/>
          </a:solidFill>
          <a:ln w="12700">
            <a:solidFill>
              <a:srgbClr val="F1F8F3"/>
            </a:solidFill>
            <a:prstDash val="solid"/>
          </a:ln>
          <a:effectLst>
            <a:outerShdw sx="100000" sy="100000" kx="0" ky="0" algn="bl" rotWithShape="0" blurRad="177800" dist="50800" dir="5400000">
              <a:srgbClr val="1B4965">
                <a:alpha val="16000"/>
              </a:srgbClr>
            </a:outerShdw>
          </a:effectLst>
        </p:spPr>
      </p:sp>
      <p:sp>
        <p:nvSpPr>
          <p:cNvPr id="42" name="Text 39"/>
          <p:cNvSpPr txBox="1"/>
          <p:nvPr/>
        </p:nvSpPr>
        <p:spPr>
          <a:xfrm>
            <a:off x="3429000" y="4901184"/>
            <a:ext cx="2743200" cy="256032"/>
          </a:xfrm>
          <a:prstGeom prst="rect">
            <a:avLst/>
          </a:prstGeom>
          <a:noFill/>
          <a:ln/>
        </p:spPr>
        <p:txBody>
          <a:bodyPr wrap="square" lIns="0" tIns="0" rIns="0" bIns="0" rtlCol="0" anchor="t"/>
          <a:lstStyle/>
          <a:p>
            <a:pPr indent="0" marL="0">
              <a:buNone/>
            </a:pPr>
            <a:r>
              <a:rPr lang="en-US" sz="1300" b="1" dirty="0">
                <a:solidFill>
                  <a:srgbClr val="4C8068"/>
                </a:solidFill>
                <a:latin typeface="Calibri" pitchFamily="34" charset="0"/>
                <a:ea typeface="Calibri" pitchFamily="34" charset="-122"/>
                <a:cs typeface="Calibri" pitchFamily="34" charset="-120"/>
              </a:rPr>
              <a:t>Decide</a:t>
            </a:r>
            <a:endParaRPr lang="en-US" sz="1300" dirty="0"/>
          </a:p>
        </p:txBody>
      </p:sp>
      <p:sp>
        <p:nvSpPr>
          <p:cNvPr id="43" name="Text 40"/>
          <p:cNvSpPr txBox="1"/>
          <p:nvPr/>
        </p:nvSpPr>
        <p:spPr>
          <a:xfrm>
            <a:off x="3429000" y="5175504"/>
            <a:ext cx="5166360" cy="914400"/>
          </a:xfrm>
          <a:prstGeom prst="rect">
            <a:avLst/>
          </a:prstGeom>
          <a:noFill/>
          <a:ln/>
        </p:spPr>
        <p:txBody>
          <a:bodyPr wrap="square" lIns="0" tIns="0" rIns="0" bIns="0" rtlCol="0" anchor="t"/>
          <a:lstStyle/>
          <a:p>
            <a:pPr indent="0" marL="0">
              <a:buNone/>
            </a:pPr>
            <a:r>
              <a:rPr lang="en-US" sz="1600" b="1" dirty="0">
                <a:solidFill>
                  <a:srgbClr val="1E2E3A"/>
                </a:solidFill>
                <a:latin typeface="Calibri" pitchFamily="34" charset="0"/>
                <a:ea typeface="Calibri" pitchFamily="34" charset="-122"/>
                <a:cs typeface="Calibri" pitchFamily="34" charset="-120"/>
              </a:rPr>
              <a:t>Do you activate BC/DR or continue waiting?</a:t>
            </a:r>
            <a:endParaRPr lang="en-US" sz="1600" dirty="0"/>
          </a:p>
        </p:txBody>
      </p:sp>
      <p:sp>
        <p:nvSpPr>
          <p:cNvPr id="44" name="Shape 41"/>
          <p:cNvSpPr/>
          <p:nvPr/>
        </p:nvSpPr>
        <p:spPr>
          <a:xfrm>
            <a:off x="9079992" y="1600200"/>
            <a:ext cx="2560320" cy="4572000"/>
          </a:xfrm>
          <a:prstGeom prst="roundRect">
            <a:avLst>
              <a:gd name="adj" fmla="val 5000"/>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45" name="Text 42"/>
          <p:cNvSpPr txBox="1"/>
          <p:nvPr/>
        </p:nvSpPr>
        <p:spPr>
          <a:xfrm>
            <a:off x="9262872" y="1728216"/>
            <a:ext cx="2194560" cy="457200"/>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Provider update (simulated)</a:t>
            </a:r>
            <a:endParaRPr lang="en-US" sz="1300" dirty="0"/>
          </a:p>
        </p:txBody>
      </p:sp>
      <p:sp>
        <p:nvSpPr>
          <p:cNvPr id="46" name="Shape 43"/>
          <p:cNvSpPr/>
          <p:nvPr/>
        </p:nvSpPr>
        <p:spPr>
          <a:xfrm>
            <a:off x="9262872" y="2221992"/>
            <a:ext cx="2194560" cy="3767328"/>
          </a:xfrm>
          <a:prstGeom prst="roundRect">
            <a:avLst>
              <a:gd name="adj" fmla="val 3333"/>
            </a:avLst>
          </a:prstGeom>
          <a:solidFill>
            <a:srgbClr val="FFFFFF"/>
          </a:solidFill>
          <a:ln w="9525">
            <a:solidFill>
              <a:srgbClr val="C9D3DE"/>
            </a:solidFill>
            <a:prstDash val="solid"/>
          </a:ln>
        </p:spPr>
      </p:sp>
      <p:sp>
        <p:nvSpPr>
          <p:cNvPr id="47" name="Shape 44"/>
          <p:cNvSpPr/>
          <p:nvPr/>
        </p:nvSpPr>
        <p:spPr>
          <a:xfrm>
            <a:off x="9381744" y="2432304"/>
            <a:ext cx="109728" cy="109728"/>
          </a:xfrm>
          <a:prstGeom prst="rect">
            <a:avLst/>
          </a:prstGeom>
          <a:solidFill>
            <a:srgbClr val="D99A8A"/>
          </a:solidFill>
          <a:ln w="12700">
            <a:solidFill>
              <a:srgbClr val="D99A8A"/>
            </a:solidFill>
            <a:prstDash val="solid"/>
          </a:ln>
        </p:spPr>
      </p:sp>
      <p:sp>
        <p:nvSpPr>
          <p:cNvPr id="48" name="Shape 45"/>
          <p:cNvSpPr/>
          <p:nvPr/>
        </p:nvSpPr>
        <p:spPr>
          <a:xfrm>
            <a:off x="9500616" y="2432304"/>
            <a:ext cx="109728" cy="109728"/>
          </a:xfrm>
          <a:prstGeom prst="rect">
            <a:avLst/>
          </a:prstGeom>
          <a:solidFill>
            <a:srgbClr val="A9C38A"/>
          </a:solidFill>
          <a:ln w="12700">
            <a:solidFill>
              <a:srgbClr val="A9C38A"/>
            </a:solidFill>
            <a:prstDash val="solid"/>
          </a:ln>
        </p:spPr>
      </p:sp>
      <p:sp>
        <p:nvSpPr>
          <p:cNvPr id="49" name="Shape 46"/>
          <p:cNvSpPr/>
          <p:nvPr/>
        </p:nvSpPr>
        <p:spPr>
          <a:xfrm>
            <a:off x="9381744" y="2551176"/>
            <a:ext cx="109728" cy="109728"/>
          </a:xfrm>
          <a:prstGeom prst="rect">
            <a:avLst/>
          </a:prstGeom>
          <a:solidFill>
            <a:srgbClr val="8FBCD6"/>
          </a:solidFill>
          <a:ln w="12700">
            <a:solidFill>
              <a:srgbClr val="8FBCD6"/>
            </a:solidFill>
            <a:prstDash val="solid"/>
          </a:ln>
        </p:spPr>
      </p:sp>
      <p:sp>
        <p:nvSpPr>
          <p:cNvPr id="50" name="Shape 47"/>
          <p:cNvSpPr/>
          <p:nvPr/>
        </p:nvSpPr>
        <p:spPr>
          <a:xfrm>
            <a:off x="9500616" y="2551176"/>
            <a:ext cx="109728" cy="109728"/>
          </a:xfrm>
          <a:prstGeom prst="rect">
            <a:avLst/>
          </a:prstGeom>
          <a:solidFill>
            <a:srgbClr val="E0C58A"/>
          </a:solidFill>
          <a:ln w="12700">
            <a:solidFill>
              <a:srgbClr val="E0C58A"/>
            </a:solidFill>
            <a:prstDash val="solid"/>
          </a:ln>
        </p:spPr>
      </p:sp>
      <p:sp>
        <p:nvSpPr>
          <p:cNvPr id="51" name="Text 48"/>
          <p:cNvSpPr txBox="1"/>
          <p:nvPr/>
        </p:nvSpPr>
        <p:spPr>
          <a:xfrm>
            <a:off x="9729216" y="2386584"/>
            <a:ext cx="1591056" cy="292608"/>
          </a:xfrm>
          <a:prstGeom prst="rect">
            <a:avLst/>
          </a:prstGeom>
          <a:noFill/>
          <a:ln/>
        </p:spPr>
        <p:txBody>
          <a:bodyPr wrap="square" lIns="0" tIns="0" rIns="0" bIns="0" rtlCol="0" anchor="ctr"/>
          <a:lstStyle/>
          <a:p>
            <a:pPr indent="0" marL="0">
              <a:buNone/>
            </a:pPr>
            <a:r>
              <a:rPr lang="en-US" sz="1700" dirty="0">
                <a:solidFill>
                  <a:srgbClr val="3C3C3C"/>
                </a:solidFill>
                <a:latin typeface="Calibri" pitchFamily="34" charset="0"/>
                <a:ea typeface="Calibri" pitchFamily="34" charset="-122"/>
                <a:cs typeface="Calibri" pitchFamily="34" charset="-120"/>
              </a:rPr>
              <a:t>Microsoft</a:t>
            </a:r>
            <a:endParaRPr lang="en-US" sz="1700" dirty="0"/>
          </a:p>
        </p:txBody>
      </p:sp>
      <p:pic>
        <p:nvPicPr>
          <p:cNvPr id="52" name="Image 1" descr="preencoded.png">    </p:cNvPr>
          <p:cNvPicPr>
            <a:picLocks noChangeAspect="1"/>
          </p:cNvPicPr>
          <p:nvPr/>
        </p:nvPicPr>
        <p:blipFill>
          <a:blip r:embed="rId2"/>
          <a:stretch>
            <a:fillRect/>
          </a:stretch>
        </p:blipFill>
        <p:spPr>
          <a:xfrm>
            <a:off x="9381744" y="2798064"/>
            <a:ext cx="219456" cy="219456"/>
          </a:xfrm>
          <a:prstGeom prst="rect">
            <a:avLst/>
          </a:prstGeom>
        </p:spPr>
      </p:pic>
      <p:sp>
        <p:nvSpPr>
          <p:cNvPr id="53" name="Text 49"/>
          <p:cNvSpPr txBox="1"/>
          <p:nvPr/>
        </p:nvSpPr>
        <p:spPr>
          <a:xfrm>
            <a:off x="9674352" y="2770632"/>
            <a:ext cx="1636776" cy="470408"/>
          </a:xfrm>
          <a:prstGeom prst="rect">
            <a:avLst/>
          </a:prstGeom>
          <a:noFill/>
          <a:ln/>
        </p:spPr>
        <p:txBody>
          <a:bodyPr wrap="square" lIns="0" tIns="0" rIns="0" bIns="0" rtlCol="0" anchor="ctr"/>
          <a:lstStyle/>
          <a:p>
            <a:pPr indent="0" marL="0">
              <a:buNone/>
            </a:pPr>
            <a:r>
              <a:rPr lang="en-US" sz="1400" b="1" dirty="0">
                <a:solidFill>
                  <a:srgbClr val="1B2A4A"/>
                </a:solidFill>
                <a:latin typeface="Calibri" pitchFamily="34" charset="0"/>
                <a:ea typeface="Calibri" pitchFamily="34" charset="-122"/>
                <a:cs typeface="Calibri" pitchFamily="34" charset="-120"/>
              </a:rPr>
              <a:t>Major outage declared</a:t>
            </a:r>
            <a:endParaRPr lang="en-US" sz="1400" dirty="0"/>
          </a:p>
        </p:txBody>
      </p:sp>
      <p:sp>
        <p:nvSpPr>
          <p:cNvPr id="54" name="Text 50"/>
          <p:cNvSpPr txBox="1"/>
          <p:nvPr/>
        </p:nvSpPr>
        <p:spPr>
          <a:xfrm>
            <a:off x="9381744" y="3295904"/>
            <a:ext cx="1956816" cy="1554988"/>
          </a:xfrm>
          <a:prstGeom prst="rect">
            <a:avLst/>
          </a:prstGeom>
          <a:noFill/>
          <a:ln/>
        </p:spPr>
        <p:txBody>
          <a:bodyPr wrap="square" lIns="0" tIns="0" rIns="0" bIns="0" rtlCol="0" anchor="t"/>
          <a:lstStyle/>
          <a:p>
            <a:pPr indent="0" marL="0">
              <a:buNone/>
            </a:pPr>
            <a:r>
              <a:rPr lang="en-US" sz="1400" dirty="0">
                <a:solidFill>
                  <a:srgbClr val="1E2E3A"/>
                </a:solidFill>
                <a:latin typeface="Calibri" pitchFamily="34" charset="0"/>
                <a:ea typeface="Calibri" pitchFamily="34" charset="-122"/>
                <a:cs typeface="Calibri" pitchFamily="34" charset="-120"/>
              </a:rPr>
              <a:t>We are experiencing a configuration issue impacting multiple services in the US-East region. We are investigating.</a:t>
            </a:r>
            <a:endParaRPr lang="en-US" sz="1400" dirty="0"/>
          </a:p>
        </p:txBody>
      </p:sp>
      <p:sp>
        <p:nvSpPr>
          <p:cNvPr id="55" name="Text 51"/>
          <p:cNvSpPr txBox="1"/>
          <p:nvPr/>
        </p:nvSpPr>
        <p:spPr>
          <a:xfrm>
            <a:off x="9381744" y="4933188"/>
            <a:ext cx="1956816" cy="228600"/>
          </a:xfrm>
          <a:prstGeom prst="rect">
            <a:avLst/>
          </a:prstGeom>
          <a:noFill/>
          <a:ln/>
        </p:spPr>
        <p:txBody>
          <a:bodyPr wrap="square" lIns="0" tIns="0" rIns="0" bIns="0" rtlCol="0" anchor="t"/>
          <a:lstStyle/>
          <a:p>
            <a:pPr indent="0" marL="0">
              <a:buNone/>
            </a:pPr>
            <a:r>
              <a:rPr lang="en-US" sz="1200" dirty="0">
                <a:solidFill>
                  <a:srgbClr val="465A69"/>
                </a:solidFill>
                <a:latin typeface="Calibri" pitchFamily="34" charset="0"/>
                <a:ea typeface="Calibri" pitchFamily="34" charset="-122"/>
                <a:cs typeface="Calibri" pitchFamily="34" charset="-120"/>
              </a:rPr>
              <a:t>10:12 AM</a:t>
            </a:r>
            <a:endParaRPr lang="en-US" sz="1200" dirty="0"/>
          </a:p>
        </p:txBody>
      </p:sp>
      <p:sp>
        <p:nvSpPr>
          <p:cNvPr id="56" name="Text 52"/>
          <p:cNvSpPr txBox="1"/>
          <p:nvPr/>
        </p:nvSpPr>
        <p:spPr>
          <a:xfrm>
            <a:off x="548640" y="6254496"/>
            <a:ext cx="11091672" cy="256032"/>
          </a:xfrm>
          <a:prstGeom prst="rect">
            <a:avLst/>
          </a:prstGeom>
          <a:noFill/>
          <a:ln/>
        </p:spPr>
        <p:txBody>
          <a:bodyPr wrap="square" lIns="0" tIns="0" rIns="0" bIns="0" rtlCol="0" anchor="ctr"/>
          <a:lstStyle/>
          <a:p>
            <a:pPr indent="0" marL="0">
              <a:buNone/>
            </a:pPr>
            <a:r>
              <a:rPr lang="en-US" sz="1200" b="1" dirty="0">
                <a:solidFill>
                  <a:srgbClr val="465A69"/>
                </a:solidFill>
                <a:latin typeface="Calibri" pitchFamily="34" charset="0"/>
                <a:ea typeface="Calibri" pitchFamily="34" charset="-122"/>
                <a:cs typeface="Calibri" pitchFamily="34" charset="-120"/>
              </a:rPr>
              <a:t>Acronyms:  </a:t>
            </a:r>
            <a:pPr indent="0" marL="0">
              <a:buNone/>
            </a:pPr>
            <a:r>
              <a:rPr lang="en-US" sz="1200" dirty="0">
                <a:solidFill>
                  <a:srgbClr val="465A69"/>
                </a:solidFill>
                <a:latin typeface="Calibri" pitchFamily="34" charset="0"/>
                <a:ea typeface="Calibri" pitchFamily="34" charset="-122"/>
                <a:cs typeface="Calibri" pitchFamily="34" charset="-120"/>
              </a:rPr>
              <a:t>T+: time since the first signal;  DR: Disaster Recovery;  BC: Business Continuity;  ETA: estimated time of arrival</a:t>
            </a:r>
            <a:endParaRPr lang="en-US" sz="1200" dirty="0"/>
          </a:p>
        </p:txBody>
      </p:sp>
      <p:sp>
        <p:nvSpPr>
          <p:cNvPr id="57" name="Shape 53"/>
          <p:cNvSpPr/>
          <p:nvPr/>
        </p:nvSpPr>
        <p:spPr>
          <a:xfrm>
            <a:off x="548640" y="6537960"/>
            <a:ext cx="763524" cy="274320"/>
          </a:xfrm>
          <a:prstGeom prst="roundRect">
            <a:avLst>
              <a:gd name="adj" fmla="val 50000"/>
            </a:avLst>
          </a:prstGeom>
          <a:solidFill>
            <a:srgbClr val="E4ECF2"/>
          </a:solidFill>
          <a:ln w="12700">
            <a:solidFill>
              <a:srgbClr val="E4ECF2"/>
            </a:solidFill>
            <a:prstDash val="solid"/>
          </a:ln>
        </p:spPr>
      </p:sp>
      <p:sp>
        <p:nvSpPr>
          <p:cNvPr id="58" name="Text 54"/>
          <p:cNvSpPr txBox="1"/>
          <p:nvPr/>
        </p:nvSpPr>
        <p:spPr>
          <a:xfrm>
            <a:off x="548640" y="6537960"/>
            <a:ext cx="763524" cy="274320"/>
          </a:xfrm>
          <a:prstGeom prst="rect">
            <a:avLst/>
          </a:prstGeom>
          <a:noFill/>
          <a:ln/>
        </p:spPr>
        <p:txBody>
          <a:bodyPr wrap="square" lIns="0" tIns="0" rIns="0" bIns="0" rtlCol="0" anchor="ctr"/>
          <a:lstStyle/>
          <a:p>
            <a:pPr algn="ctr" indent="0" marL="0">
              <a:buNone/>
            </a:pPr>
            <a:r>
              <a:rPr lang="en-US" sz="1200" b="1" dirty="0">
                <a:solidFill>
                  <a:srgbClr val="23405A"/>
                </a:solidFill>
                <a:latin typeface="Calibri" pitchFamily="34" charset="0"/>
                <a:ea typeface="Calibri" pitchFamily="34" charset="-122"/>
                <a:cs typeface="Calibri" pitchFamily="34" charset="-120"/>
              </a:rPr>
              <a:t>Start</a:t>
            </a:r>
            <a:endParaRPr lang="en-US" sz="1200" dirty="0"/>
          </a:p>
        </p:txBody>
      </p:sp>
      <p:pic>
        <p:nvPicPr>
          <p:cNvPr id="59" name="Image 2" descr="preencoded.png">
            <a:hlinkClick r:id="rId4" tooltip="Go to Start" action="ppaction://hlinksldjump"/>
          </p:cNvPr>
          <p:cNvPicPr>
            <a:picLocks noChangeAspect="1"/>
          </p:cNvPicPr>
          <p:nvPr/>
        </p:nvPicPr>
        <p:blipFill>
          <a:blip r:embed="rId3"/>
          <a:stretch>
            <a:fillRect/>
          </a:stretch>
        </p:blipFill>
        <p:spPr>
          <a:xfrm>
            <a:off x="548640" y="6537960"/>
            <a:ext cx="763524" cy="274320"/>
          </a:xfrm>
          <a:prstGeom prst="rect">
            <a:avLst/>
          </a:prstGeom>
        </p:spPr>
      </p:pic>
      <p:sp>
        <p:nvSpPr>
          <p:cNvPr id="60" name="Shape 55"/>
          <p:cNvSpPr/>
          <p:nvPr/>
        </p:nvSpPr>
        <p:spPr>
          <a:xfrm>
            <a:off x="1385316" y="6537960"/>
            <a:ext cx="1197864" cy="274320"/>
          </a:xfrm>
          <a:prstGeom prst="roundRect">
            <a:avLst>
              <a:gd name="adj" fmla="val 50000"/>
            </a:avLst>
          </a:prstGeom>
          <a:solidFill>
            <a:srgbClr val="F1F6FA"/>
          </a:solidFill>
          <a:ln w="12700">
            <a:solidFill>
              <a:srgbClr val="F1F6FA"/>
            </a:solidFill>
            <a:prstDash val="solid"/>
          </a:ln>
        </p:spPr>
      </p:sp>
      <p:sp>
        <p:nvSpPr>
          <p:cNvPr id="61" name="Text 56"/>
          <p:cNvSpPr txBox="1"/>
          <p:nvPr/>
        </p:nvSpPr>
        <p:spPr>
          <a:xfrm>
            <a:off x="1385316" y="6537960"/>
            <a:ext cx="1197864" cy="274320"/>
          </a:xfrm>
          <a:prstGeom prst="rect">
            <a:avLst/>
          </a:prstGeom>
          <a:noFill/>
          <a:ln/>
        </p:spPr>
        <p:txBody>
          <a:bodyPr wrap="square" lIns="0" tIns="0" rIns="0" bIns="0" rtlCol="0" anchor="ctr"/>
          <a:lstStyle/>
          <a:p>
            <a:pPr algn="ctr" indent="0" marL="0">
              <a:buNone/>
            </a:pPr>
            <a:r>
              <a:rPr lang="en-US" sz="1200" b="1" dirty="0">
                <a:solidFill>
                  <a:srgbClr val="3F6E8C"/>
                </a:solidFill>
                <a:latin typeface="Calibri" pitchFamily="34" charset="0"/>
                <a:ea typeface="Calibri" pitchFamily="34" charset="-122"/>
                <a:cs typeface="Calibri" pitchFamily="34" charset="-120"/>
              </a:rPr>
              <a:t>Scenario 1</a:t>
            </a:r>
            <a:endParaRPr lang="en-US" sz="1200" dirty="0"/>
          </a:p>
        </p:txBody>
      </p:sp>
      <p:pic>
        <p:nvPicPr>
          <p:cNvPr id="62" name="Image 3" descr="preencoded.png">
            <a:hlinkClick r:id="rId6" tooltip="Go to Scenario 1" action="ppaction://hlinksldjump"/>
          </p:cNvPr>
          <p:cNvPicPr>
            <a:picLocks noChangeAspect="1"/>
          </p:cNvPicPr>
          <p:nvPr/>
        </p:nvPicPr>
        <p:blipFill>
          <a:blip r:embed="rId5"/>
          <a:stretch>
            <a:fillRect/>
          </a:stretch>
        </p:blipFill>
        <p:spPr>
          <a:xfrm>
            <a:off x="1385316" y="6537960"/>
            <a:ext cx="1197864" cy="274320"/>
          </a:xfrm>
          <a:prstGeom prst="rect">
            <a:avLst/>
          </a:prstGeom>
        </p:spPr>
      </p:pic>
      <p:sp>
        <p:nvSpPr>
          <p:cNvPr id="63" name="Shape 57"/>
          <p:cNvSpPr/>
          <p:nvPr/>
        </p:nvSpPr>
        <p:spPr>
          <a:xfrm>
            <a:off x="2656332" y="6537960"/>
            <a:ext cx="1197864" cy="274320"/>
          </a:xfrm>
          <a:prstGeom prst="roundRect">
            <a:avLst>
              <a:gd name="adj" fmla="val 50000"/>
            </a:avLst>
          </a:prstGeom>
          <a:solidFill>
            <a:srgbClr val="4C8068"/>
          </a:solidFill>
          <a:ln w="12700">
            <a:solidFill>
              <a:srgbClr val="4C8068"/>
            </a:solidFill>
            <a:prstDash val="solid"/>
          </a:ln>
        </p:spPr>
      </p:sp>
      <p:sp>
        <p:nvSpPr>
          <p:cNvPr id="64" name="Text 58"/>
          <p:cNvSpPr txBox="1"/>
          <p:nvPr/>
        </p:nvSpPr>
        <p:spPr>
          <a:xfrm>
            <a:off x="2656332" y="6537960"/>
            <a:ext cx="1197864"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Scenario 2</a:t>
            </a:r>
            <a:endParaRPr lang="en-US" sz="1200" dirty="0"/>
          </a:p>
        </p:txBody>
      </p:sp>
      <p:pic>
        <p:nvPicPr>
          <p:cNvPr id="65" name="Image 4" descr="preencoded.png">
            <a:hlinkClick r:id="rId8" tooltip="Go to Scenario 2" action="ppaction://hlinksldjump"/>
          </p:cNvPr>
          <p:cNvPicPr>
            <a:picLocks noChangeAspect="1"/>
          </p:cNvPicPr>
          <p:nvPr/>
        </p:nvPicPr>
        <p:blipFill>
          <a:blip r:embed="rId7"/>
          <a:stretch>
            <a:fillRect/>
          </a:stretch>
        </p:blipFill>
        <p:spPr>
          <a:xfrm>
            <a:off x="2656332" y="6537960"/>
            <a:ext cx="1197864" cy="274320"/>
          </a:xfrm>
          <a:prstGeom prst="rect">
            <a:avLst/>
          </a:prstGeom>
        </p:spPr>
      </p:pic>
      <p:sp>
        <p:nvSpPr>
          <p:cNvPr id="66" name="Shape 59"/>
          <p:cNvSpPr/>
          <p:nvPr/>
        </p:nvSpPr>
        <p:spPr>
          <a:xfrm>
            <a:off x="3927348" y="6537960"/>
            <a:ext cx="1197864" cy="274320"/>
          </a:xfrm>
          <a:prstGeom prst="roundRect">
            <a:avLst>
              <a:gd name="adj" fmla="val 50000"/>
            </a:avLst>
          </a:prstGeom>
          <a:solidFill>
            <a:srgbClr val="F6F3FA"/>
          </a:solidFill>
          <a:ln w="12700">
            <a:solidFill>
              <a:srgbClr val="F6F3FA"/>
            </a:solidFill>
            <a:prstDash val="solid"/>
          </a:ln>
        </p:spPr>
      </p:sp>
      <p:sp>
        <p:nvSpPr>
          <p:cNvPr id="67" name="Text 60"/>
          <p:cNvSpPr txBox="1"/>
          <p:nvPr/>
        </p:nvSpPr>
        <p:spPr>
          <a:xfrm>
            <a:off x="3927348" y="6537960"/>
            <a:ext cx="1197864" cy="274320"/>
          </a:xfrm>
          <a:prstGeom prst="rect">
            <a:avLst/>
          </a:prstGeom>
          <a:noFill/>
          <a:ln/>
        </p:spPr>
        <p:txBody>
          <a:bodyPr wrap="square" lIns="0" tIns="0" rIns="0" bIns="0" rtlCol="0" anchor="ctr"/>
          <a:lstStyle/>
          <a:p>
            <a:pPr algn="ctr" indent="0" marL="0">
              <a:buNone/>
            </a:pPr>
            <a:r>
              <a:rPr lang="en-US" sz="1200" b="1" dirty="0">
                <a:solidFill>
                  <a:srgbClr val="6E5E94"/>
                </a:solidFill>
                <a:latin typeface="Calibri" pitchFamily="34" charset="0"/>
                <a:ea typeface="Calibri" pitchFamily="34" charset="-122"/>
                <a:cs typeface="Calibri" pitchFamily="34" charset="-120"/>
              </a:rPr>
              <a:t>Scenario 3</a:t>
            </a:r>
            <a:endParaRPr lang="en-US" sz="1200" dirty="0"/>
          </a:p>
        </p:txBody>
      </p:sp>
      <p:pic>
        <p:nvPicPr>
          <p:cNvPr id="68" name="Image 5" descr="preencoded.png">
            <a:hlinkClick r:id="rId10" tooltip="Go to Scenario 3" action="ppaction://hlinksldjump"/>
          </p:cNvPr>
          <p:cNvPicPr>
            <a:picLocks noChangeAspect="1"/>
          </p:cNvPicPr>
          <p:nvPr/>
        </p:nvPicPr>
        <p:blipFill>
          <a:blip r:embed="rId9"/>
          <a:stretch>
            <a:fillRect/>
          </a:stretch>
        </p:blipFill>
        <p:spPr>
          <a:xfrm>
            <a:off x="3927348" y="6537960"/>
            <a:ext cx="1197864" cy="274320"/>
          </a:xfrm>
          <a:prstGeom prst="rect">
            <a:avLst/>
          </a:prstGeom>
        </p:spPr>
      </p:pic>
      <p:sp>
        <p:nvSpPr>
          <p:cNvPr id="69" name="Shape 61"/>
          <p:cNvSpPr/>
          <p:nvPr/>
        </p:nvSpPr>
        <p:spPr>
          <a:xfrm>
            <a:off x="5198364" y="6537960"/>
            <a:ext cx="937260" cy="274320"/>
          </a:xfrm>
          <a:prstGeom prst="roundRect">
            <a:avLst>
              <a:gd name="adj" fmla="val 50000"/>
            </a:avLst>
          </a:prstGeom>
          <a:solidFill>
            <a:srgbClr val="E4ECF2"/>
          </a:solidFill>
          <a:ln w="12700">
            <a:solidFill>
              <a:srgbClr val="E4ECF2"/>
            </a:solidFill>
            <a:prstDash val="solid"/>
          </a:ln>
        </p:spPr>
      </p:sp>
      <p:sp>
        <p:nvSpPr>
          <p:cNvPr id="70" name="Text 62"/>
          <p:cNvSpPr txBox="1"/>
          <p:nvPr/>
        </p:nvSpPr>
        <p:spPr>
          <a:xfrm>
            <a:off x="5198364" y="6537960"/>
            <a:ext cx="937260" cy="274320"/>
          </a:xfrm>
          <a:prstGeom prst="rect">
            <a:avLst/>
          </a:prstGeom>
          <a:noFill/>
          <a:ln/>
        </p:spPr>
        <p:txBody>
          <a:bodyPr wrap="square" lIns="0" tIns="0" rIns="0" bIns="0" rtlCol="0" anchor="ctr"/>
          <a:lstStyle/>
          <a:p>
            <a:pPr algn="ctr" indent="0" marL="0">
              <a:buNone/>
            </a:pPr>
            <a:r>
              <a:rPr lang="en-US" sz="1200" b="1" dirty="0">
                <a:solidFill>
                  <a:srgbClr val="23405A"/>
                </a:solidFill>
                <a:latin typeface="Calibri" pitchFamily="34" charset="0"/>
                <a:ea typeface="Calibri" pitchFamily="34" charset="-122"/>
                <a:cs typeface="Calibri" pitchFamily="34" charset="-120"/>
              </a:rPr>
              <a:t>Closing</a:t>
            </a:r>
            <a:endParaRPr lang="en-US" sz="1200" dirty="0"/>
          </a:p>
        </p:txBody>
      </p:sp>
      <p:pic>
        <p:nvPicPr>
          <p:cNvPr id="71" name="Image 6" descr="preencoded.png">
            <a:hlinkClick r:id="rId12" tooltip="Go to Closing" action="ppaction://hlinksldjump"/>
          </p:cNvPr>
          <p:cNvPicPr>
            <a:picLocks noChangeAspect="1"/>
          </p:cNvPicPr>
          <p:nvPr/>
        </p:nvPicPr>
        <p:blipFill>
          <a:blip r:embed="rId11"/>
          <a:stretch>
            <a:fillRect/>
          </a:stretch>
        </p:blipFill>
        <p:spPr>
          <a:xfrm>
            <a:off x="5198364" y="6537960"/>
            <a:ext cx="937260" cy="274320"/>
          </a:xfrm>
          <a:prstGeom prst="rect">
            <a:avLst/>
          </a:prstGeom>
        </p:spPr>
      </p:pic>
      <p:sp>
        <p:nvSpPr>
          <p:cNvPr id="72" name="Text 63"/>
          <p:cNvSpPr txBox="1"/>
          <p:nvPr/>
        </p:nvSpPr>
        <p:spPr>
          <a:xfrm>
            <a:off x="11277295" y="6537960"/>
            <a:ext cx="365760" cy="274320"/>
          </a:xfrm>
          <a:prstGeom prst="rect">
            <a:avLst/>
          </a:prstGeom>
          <a:noFill/>
          <a:ln/>
        </p:spPr>
        <p:txBody>
          <a:bodyPr wrap="square" lIns="0" tIns="0" rIns="0" bIns="0" rtlCol="0" anchor="ctr"/>
          <a:lstStyle/>
          <a:p>
            <a:pPr algn="r" indent="0" marL="0">
              <a:buNone/>
            </a:pPr>
            <a:r>
              <a:rPr lang="en-US" sz="1200" dirty="0">
                <a:solidFill>
                  <a:srgbClr val="465A69"/>
                </a:solidFill>
                <a:latin typeface="Calibri" pitchFamily="34" charset="0"/>
                <a:ea typeface="Calibri" pitchFamily="34" charset="-122"/>
                <a:cs typeface="Calibri" pitchFamily="34" charset="-120"/>
              </a:rPr>
              <a:t>28</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E6F2E9"/>
        </a:solidFill>
      </p:bgPr>
    </p:bg>
    <p:spTree>
      <p:nvGrpSpPr>
        <p:cNvPr id="1" name=""/>
        <p:cNvGrpSpPr/>
        <p:nvPr/>
      </p:nvGrpSpPr>
      <p:grpSpPr>
        <a:xfrm>
          <a:off x="0" y="0"/>
          <a:ext cx="0" cy="0"/>
          <a:chOff x="0" y="0"/>
          <a:chExt cx="0" cy="0"/>
        </a:xfrm>
      </p:grpSpPr>
      <p:sp>
        <p:nvSpPr>
          <p:cNvPr id="2" name="Shape 0"/>
          <p:cNvSpPr/>
          <p:nvPr/>
        </p:nvSpPr>
        <p:spPr>
          <a:xfrm>
            <a:off x="548640" y="347472"/>
            <a:ext cx="2843784" cy="329184"/>
          </a:xfrm>
          <a:prstGeom prst="roundRect">
            <a:avLst>
              <a:gd name="adj" fmla="val 50000"/>
            </a:avLst>
          </a:prstGeom>
          <a:solidFill>
            <a:srgbClr val="F1F8F3"/>
          </a:solidFill>
          <a:ln w="12700">
            <a:solidFill>
              <a:srgbClr val="F1F8F3"/>
            </a:solidFill>
            <a:prstDash val="solid"/>
          </a:ln>
        </p:spPr>
      </p:sp>
      <p:sp>
        <p:nvSpPr>
          <p:cNvPr id="3" name="Text 1"/>
          <p:cNvSpPr txBox="1"/>
          <p:nvPr/>
        </p:nvSpPr>
        <p:spPr>
          <a:xfrm>
            <a:off x="548640" y="347472"/>
            <a:ext cx="2843784" cy="329184"/>
          </a:xfrm>
          <a:prstGeom prst="rect">
            <a:avLst/>
          </a:prstGeom>
          <a:noFill/>
          <a:ln/>
        </p:spPr>
        <p:txBody>
          <a:bodyPr wrap="square" lIns="0" tIns="0" rIns="0" bIns="0" rtlCol="0" anchor="ctr"/>
          <a:lstStyle/>
          <a:p>
            <a:pPr algn="ctr" indent="0" marL="0">
              <a:buNone/>
            </a:pPr>
            <a:r>
              <a:rPr lang="en-US" sz="1200" b="1" dirty="0">
                <a:solidFill>
                  <a:srgbClr val="4C8068"/>
                </a:solidFill>
                <a:latin typeface="Calibri" pitchFamily="34" charset="0"/>
                <a:ea typeface="Calibri" pitchFamily="34" charset="-122"/>
                <a:cs typeface="Calibri" pitchFamily="34" charset="-120"/>
              </a:rPr>
              <a:t>Scenario 2: Disaster Recovery</a:t>
            </a:r>
            <a:endParaRPr lang="en-US" sz="1200" dirty="0"/>
          </a:p>
        </p:txBody>
      </p:sp>
      <p:sp>
        <p:nvSpPr>
          <p:cNvPr id="4" name="Text 2"/>
          <p:cNvSpPr txBox="1"/>
          <p:nvPr/>
        </p:nvSpPr>
        <p:spPr>
          <a:xfrm>
            <a:off x="548640" y="749808"/>
            <a:ext cx="11064240" cy="640080"/>
          </a:xfrm>
          <a:prstGeom prst="rect">
            <a:avLst/>
          </a:prstGeom>
          <a:noFill/>
          <a:ln/>
        </p:spPr>
        <p:txBody>
          <a:bodyPr wrap="square" lIns="0" tIns="0" rIns="0" bIns="0" rtlCol="0" anchor="ctr"/>
          <a:lstStyle/>
          <a:p>
            <a:pPr indent="0" marL="0">
              <a:buNone/>
            </a:pPr>
            <a:r>
              <a:rPr lang="en-US" sz="2800" b="1" dirty="0">
                <a:solidFill>
                  <a:srgbClr val="23405A"/>
                </a:solidFill>
                <a:latin typeface="Calibri" pitchFamily="34" charset="0"/>
                <a:ea typeface="Calibri" pitchFamily="34" charset="-122"/>
                <a:cs typeface="Calibri" pitchFamily="34" charset="-120"/>
              </a:rPr>
              <a:t>T+6h: Business Impact</a:t>
            </a:r>
            <a:endParaRPr lang="en-US" sz="2800" dirty="0"/>
          </a:p>
        </p:txBody>
      </p:sp>
      <p:sp>
        <p:nvSpPr>
          <p:cNvPr id="5" name="Shape 3"/>
          <p:cNvSpPr/>
          <p:nvPr/>
        </p:nvSpPr>
        <p:spPr>
          <a:xfrm>
            <a:off x="10705795" y="347472"/>
            <a:ext cx="937260" cy="329184"/>
          </a:xfrm>
          <a:prstGeom prst="roundRect">
            <a:avLst>
              <a:gd name="adj" fmla="val 50000"/>
            </a:avLst>
          </a:prstGeom>
          <a:solidFill>
            <a:srgbClr val="FFFFFF"/>
          </a:solidFill>
          <a:ln w="12700">
            <a:solidFill>
              <a:srgbClr val="FFFFFF"/>
            </a:solidFill>
            <a:prstDash val="solid"/>
          </a:ln>
        </p:spPr>
      </p:sp>
      <p:sp>
        <p:nvSpPr>
          <p:cNvPr id="6" name="Text 4"/>
          <p:cNvSpPr txBox="1"/>
          <p:nvPr/>
        </p:nvSpPr>
        <p:spPr>
          <a:xfrm>
            <a:off x="10705795" y="347472"/>
            <a:ext cx="937260" cy="329184"/>
          </a:xfrm>
          <a:prstGeom prst="rect">
            <a:avLst/>
          </a:prstGeom>
          <a:noFill/>
          <a:ln/>
        </p:spPr>
        <p:txBody>
          <a:bodyPr wrap="square" lIns="0" tIns="0" rIns="0" bIns="0" rtlCol="0" anchor="ctr"/>
          <a:lstStyle/>
          <a:p>
            <a:pPr algn="ctr" indent="0" marL="0">
              <a:buNone/>
            </a:pPr>
            <a:r>
              <a:rPr lang="en-US" sz="1200" dirty="0">
                <a:solidFill>
                  <a:srgbClr val="465A69"/>
                </a:solidFill>
                <a:latin typeface="Calibri" pitchFamily="34" charset="0"/>
                <a:ea typeface="Calibri" pitchFamily="34" charset="-122"/>
                <a:cs typeface="Calibri" pitchFamily="34" charset="-120"/>
              </a:rPr>
              <a:t>Hotwash</a:t>
            </a:r>
            <a:endParaRPr lang="en-US" sz="1200" dirty="0"/>
          </a:p>
        </p:txBody>
      </p:sp>
      <p:sp>
        <p:nvSpPr>
          <p:cNvPr id="7" name="Shape 5"/>
          <p:cNvSpPr/>
          <p:nvPr/>
        </p:nvSpPr>
        <p:spPr>
          <a:xfrm>
            <a:off x="9608515" y="347472"/>
            <a:ext cx="1024128" cy="329184"/>
          </a:xfrm>
          <a:prstGeom prst="roundRect">
            <a:avLst>
              <a:gd name="adj" fmla="val 50000"/>
            </a:avLst>
          </a:prstGeom>
          <a:solidFill>
            <a:srgbClr val="FFFFFF"/>
          </a:solidFill>
          <a:ln w="12700">
            <a:solidFill>
              <a:srgbClr val="FFFFFF"/>
            </a:solidFill>
            <a:prstDash val="solid"/>
          </a:ln>
        </p:spPr>
      </p:sp>
      <p:sp>
        <p:nvSpPr>
          <p:cNvPr id="8" name="Text 6"/>
          <p:cNvSpPr txBox="1"/>
          <p:nvPr/>
        </p:nvSpPr>
        <p:spPr>
          <a:xfrm>
            <a:off x="9608515" y="347472"/>
            <a:ext cx="1024128" cy="329184"/>
          </a:xfrm>
          <a:prstGeom prst="rect">
            <a:avLst/>
          </a:prstGeom>
          <a:noFill/>
          <a:ln/>
        </p:spPr>
        <p:txBody>
          <a:bodyPr wrap="square" lIns="0" tIns="0" rIns="0" bIns="0" rtlCol="0" anchor="ctr"/>
          <a:lstStyle/>
          <a:p>
            <a:pPr algn="ctr" indent="0" marL="0">
              <a:buNone/>
            </a:pPr>
            <a:r>
              <a:rPr lang="en-US" sz="1200" dirty="0">
                <a:solidFill>
                  <a:srgbClr val="465A69"/>
                </a:solidFill>
                <a:latin typeface="Calibri" pitchFamily="34" charset="0"/>
                <a:ea typeface="Calibri" pitchFamily="34" charset="-122"/>
                <a:cs typeface="Calibri" pitchFamily="34" charset="-120"/>
              </a:rPr>
              <a:t>Recovery</a:t>
            </a:r>
            <a:endParaRPr lang="en-US" sz="1200" dirty="0"/>
          </a:p>
        </p:txBody>
      </p:sp>
      <p:sp>
        <p:nvSpPr>
          <p:cNvPr id="9" name="Shape 7"/>
          <p:cNvSpPr/>
          <p:nvPr/>
        </p:nvSpPr>
        <p:spPr>
          <a:xfrm>
            <a:off x="8598103" y="347472"/>
            <a:ext cx="937260" cy="329184"/>
          </a:xfrm>
          <a:prstGeom prst="roundRect">
            <a:avLst>
              <a:gd name="adj" fmla="val 50000"/>
            </a:avLst>
          </a:prstGeom>
          <a:solidFill>
            <a:srgbClr val="4C8068"/>
          </a:solidFill>
          <a:ln w="12700">
            <a:solidFill>
              <a:srgbClr val="4C8068"/>
            </a:solidFill>
            <a:prstDash val="solid"/>
          </a:ln>
        </p:spPr>
      </p:sp>
      <p:sp>
        <p:nvSpPr>
          <p:cNvPr id="10" name="Text 8"/>
          <p:cNvSpPr txBox="1"/>
          <p:nvPr/>
        </p:nvSpPr>
        <p:spPr>
          <a:xfrm>
            <a:off x="8598103" y="347472"/>
            <a:ext cx="93726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Injects</a:t>
            </a:r>
            <a:endParaRPr lang="en-US" sz="1200" dirty="0"/>
          </a:p>
        </p:txBody>
      </p:sp>
      <p:sp>
        <p:nvSpPr>
          <p:cNvPr id="11" name="Shape 9"/>
          <p:cNvSpPr/>
          <p:nvPr/>
        </p:nvSpPr>
        <p:spPr>
          <a:xfrm>
            <a:off x="7674559" y="347472"/>
            <a:ext cx="850392" cy="329184"/>
          </a:xfrm>
          <a:prstGeom prst="roundRect">
            <a:avLst>
              <a:gd name="adj" fmla="val 50000"/>
            </a:avLst>
          </a:prstGeom>
          <a:solidFill>
            <a:srgbClr val="F1F8F3"/>
          </a:solidFill>
          <a:ln w="12700">
            <a:solidFill>
              <a:srgbClr val="F1F8F3"/>
            </a:solidFill>
            <a:prstDash val="solid"/>
          </a:ln>
        </p:spPr>
      </p:sp>
      <p:sp>
        <p:nvSpPr>
          <p:cNvPr id="12" name="Text 10"/>
          <p:cNvSpPr txBox="1"/>
          <p:nvPr/>
        </p:nvSpPr>
        <p:spPr>
          <a:xfrm>
            <a:off x="7674559" y="347472"/>
            <a:ext cx="850392" cy="329184"/>
          </a:xfrm>
          <a:prstGeom prst="rect">
            <a:avLst/>
          </a:prstGeom>
          <a:noFill/>
          <a:ln/>
        </p:spPr>
        <p:txBody>
          <a:bodyPr wrap="square" lIns="0" tIns="0" rIns="0" bIns="0" rtlCol="0" anchor="ctr"/>
          <a:lstStyle/>
          <a:p>
            <a:pPr algn="ctr" indent="0" marL="0">
              <a:buNone/>
            </a:pPr>
            <a:r>
              <a:rPr lang="en-US" sz="1200" dirty="0">
                <a:solidFill>
                  <a:srgbClr val="4C8068"/>
                </a:solidFill>
                <a:latin typeface="Calibri" pitchFamily="34" charset="0"/>
                <a:ea typeface="Calibri" pitchFamily="34" charset="-122"/>
                <a:cs typeface="Calibri" pitchFamily="34" charset="-120"/>
              </a:rPr>
              <a:t>Decide</a:t>
            </a:r>
            <a:endParaRPr lang="en-US" sz="1200" dirty="0"/>
          </a:p>
        </p:txBody>
      </p:sp>
      <p:sp>
        <p:nvSpPr>
          <p:cNvPr id="13" name="Shape 11"/>
          <p:cNvSpPr/>
          <p:nvPr/>
        </p:nvSpPr>
        <p:spPr>
          <a:xfrm>
            <a:off x="7011619" y="347472"/>
            <a:ext cx="589788" cy="329184"/>
          </a:xfrm>
          <a:prstGeom prst="roundRect">
            <a:avLst>
              <a:gd name="adj" fmla="val 50000"/>
            </a:avLst>
          </a:prstGeom>
          <a:solidFill>
            <a:srgbClr val="F1F8F3"/>
          </a:solidFill>
          <a:ln w="12700">
            <a:solidFill>
              <a:srgbClr val="F1F8F3"/>
            </a:solidFill>
            <a:prstDash val="solid"/>
          </a:ln>
        </p:spPr>
      </p:sp>
      <p:sp>
        <p:nvSpPr>
          <p:cNvPr id="14" name="Text 12"/>
          <p:cNvSpPr txBox="1"/>
          <p:nvPr/>
        </p:nvSpPr>
        <p:spPr>
          <a:xfrm>
            <a:off x="7011619" y="347472"/>
            <a:ext cx="589788" cy="329184"/>
          </a:xfrm>
          <a:prstGeom prst="rect">
            <a:avLst/>
          </a:prstGeom>
          <a:noFill/>
          <a:ln/>
        </p:spPr>
        <p:txBody>
          <a:bodyPr wrap="square" lIns="0" tIns="0" rIns="0" bIns="0" rtlCol="0" anchor="ctr"/>
          <a:lstStyle/>
          <a:p>
            <a:pPr algn="ctr" indent="0" marL="0">
              <a:buNone/>
            </a:pPr>
            <a:r>
              <a:rPr lang="en-US" sz="1200" dirty="0">
                <a:solidFill>
                  <a:srgbClr val="4C8068"/>
                </a:solidFill>
                <a:latin typeface="Calibri" pitchFamily="34" charset="0"/>
                <a:ea typeface="Calibri" pitchFamily="34" charset="-122"/>
                <a:cs typeface="Calibri" pitchFamily="34" charset="-120"/>
              </a:rPr>
              <a:t>T+0</a:t>
            </a:r>
            <a:endParaRPr lang="en-US" sz="1200" dirty="0"/>
          </a:p>
        </p:txBody>
      </p:sp>
      <p:sp>
        <p:nvSpPr>
          <p:cNvPr id="15" name="Shape 13"/>
          <p:cNvSpPr/>
          <p:nvPr/>
        </p:nvSpPr>
        <p:spPr>
          <a:xfrm>
            <a:off x="5740603" y="347472"/>
            <a:ext cx="1197864" cy="329184"/>
          </a:xfrm>
          <a:prstGeom prst="roundRect">
            <a:avLst>
              <a:gd name="adj" fmla="val 50000"/>
            </a:avLst>
          </a:prstGeom>
          <a:solidFill>
            <a:srgbClr val="F1F8F3"/>
          </a:solidFill>
          <a:ln w="12700">
            <a:solidFill>
              <a:srgbClr val="F1F8F3"/>
            </a:solidFill>
            <a:prstDash val="solid"/>
          </a:ln>
        </p:spPr>
      </p:sp>
      <p:sp>
        <p:nvSpPr>
          <p:cNvPr id="16" name="Text 14"/>
          <p:cNvSpPr txBox="1"/>
          <p:nvPr/>
        </p:nvSpPr>
        <p:spPr>
          <a:xfrm>
            <a:off x="5740603" y="347472"/>
            <a:ext cx="1197864" cy="329184"/>
          </a:xfrm>
          <a:prstGeom prst="rect">
            <a:avLst/>
          </a:prstGeom>
          <a:noFill/>
          <a:ln/>
        </p:spPr>
        <p:txBody>
          <a:bodyPr wrap="square" lIns="0" tIns="0" rIns="0" bIns="0" rtlCol="0" anchor="ctr"/>
          <a:lstStyle/>
          <a:p>
            <a:pPr algn="ctr" indent="0" marL="0">
              <a:buNone/>
            </a:pPr>
            <a:r>
              <a:rPr lang="en-US" sz="1200" dirty="0">
                <a:solidFill>
                  <a:srgbClr val="4C8068"/>
                </a:solidFill>
                <a:latin typeface="Calibri" pitchFamily="34" charset="0"/>
                <a:ea typeface="Calibri" pitchFamily="34" charset="-122"/>
                <a:cs typeface="Calibri" pitchFamily="34" charset="-120"/>
              </a:rPr>
              <a:t>Background</a:t>
            </a:r>
            <a:endParaRPr lang="en-US" sz="1200" dirty="0"/>
          </a:p>
        </p:txBody>
      </p:sp>
      <p:sp>
        <p:nvSpPr>
          <p:cNvPr id="17" name="Shape 15"/>
          <p:cNvSpPr/>
          <p:nvPr/>
        </p:nvSpPr>
        <p:spPr>
          <a:xfrm>
            <a:off x="548640" y="1600200"/>
            <a:ext cx="2377440" cy="4572000"/>
          </a:xfrm>
          <a:prstGeom prst="roundRect">
            <a:avLst>
              <a:gd name="adj" fmla="val 5385"/>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18" name="Text 16"/>
          <p:cNvSpPr txBox="1"/>
          <p:nvPr/>
        </p:nvSpPr>
        <p:spPr>
          <a:xfrm>
            <a:off x="822960" y="1783080"/>
            <a:ext cx="1874520" cy="320040"/>
          </a:xfrm>
          <a:prstGeom prst="rect">
            <a:avLst/>
          </a:prstGeom>
          <a:noFill/>
          <a:ln/>
        </p:spPr>
        <p:txBody>
          <a:bodyPr wrap="square" lIns="0" tIns="0" rIns="0" bIns="0" rtlCol="0" anchor="t"/>
          <a:lstStyle/>
          <a:p>
            <a:pPr indent="0" marL="0">
              <a:buNone/>
            </a:pPr>
            <a:r>
              <a:rPr lang="en-US" sz="1400" b="1" dirty="0">
                <a:solidFill>
                  <a:srgbClr val="465A69"/>
                </a:solidFill>
                <a:latin typeface="Calibri" pitchFamily="34" charset="0"/>
                <a:ea typeface="Calibri" pitchFamily="34" charset="-122"/>
                <a:cs typeface="Calibri" pitchFamily="34" charset="-120"/>
              </a:rPr>
              <a:t>Timeline</a:t>
            </a:r>
            <a:endParaRPr lang="en-US" sz="1400" dirty="0"/>
          </a:p>
        </p:txBody>
      </p:sp>
      <p:sp>
        <p:nvSpPr>
          <p:cNvPr id="19" name="Shape 17"/>
          <p:cNvSpPr/>
          <p:nvPr/>
        </p:nvSpPr>
        <p:spPr>
          <a:xfrm>
            <a:off x="905256" y="2551176"/>
            <a:ext cx="0" cy="257338"/>
          </a:xfrm>
          <a:prstGeom prst="line">
            <a:avLst/>
          </a:prstGeom>
          <a:noFill/>
          <a:ln w="19050">
            <a:solidFill>
              <a:srgbClr val="4C8068"/>
            </a:solidFill>
            <a:prstDash val="solid"/>
          </a:ln>
        </p:spPr>
      </p:sp>
      <p:sp>
        <p:nvSpPr>
          <p:cNvPr id="20" name="Shape 18"/>
          <p:cNvSpPr/>
          <p:nvPr/>
        </p:nvSpPr>
        <p:spPr>
          <a:xfrm>
            <a:off x="777240" y="2267712"/>
            <a:ext cx="256032" cy="256032"/>
          </a:xfrm>
          <a:prstGeom prst="ellipse">
            <a:avLst/>
          </a:prstGeom>
          <a:solidFill>
            <a:srgbClr val="F1F8F3"/>
          </a:solidFill>
          <a:ln w="12700">
            <a:solidFill>
              <a:srgbClr val="F1F8F3"/>
            </a:solidFill>
            <a:prstDash val="solid"/>
          </a:ln>
        </p:spPr>
      </p:sp>
      <p:sp>
        <p:nvSpPr>
          <p:cNvPr id="21" name="Text 19"/>
          <p:cNvSpPr txBox="1"/>
          <p:nvPr/>
        </p:nvSpPr>
        <p:spPr>
          <a:xfrm>
            <a:off x="1188720" y="2203704"/>
            <a:ext cx="1645920" cy="568234"/>
          </a:xfrm>
          <a:prstGeom prst="rect">
            <a:avLst/>
          </a:prstGeom>
          <a:noFill/>
          <a:ln/>
        </p:spPr>
        <p:txBody>
          <a:bodyPr wrap="square" lIns="0" tIns="0" rIns="0" bIns="0" rtlCol="0" anchor="t"/>
          <a:lstStyle/>
          <a:p>
            <a:pPr indent="0" marL="0">
              <a:buNone/>
            </a:pPr>
            <a:r>
              <a:rPr lang="en-US" sz="1200" b="1" dirty="0">
                <a:solidFill>
                  <a:srgbClr val="465A69"/>
                </a:solidFill>
                <a:latin typeface="Calibri" pitchFamily="34" charset="0"/>
                <a:ea typeface="Calibri" pitchFamily="34" charset="-122"/>
                <a:cs typeface="Calibri" pitchFamily="34" charset="-120"/>
              </a:rPr>
              <a:t>T+0</a:t>
            </a:r>
            <a:endParaRPr lang="en-US" sz="1200" dirty="0"/>
          </a:p>
          <a:p>
            <a:pPr indent="0" marL="0">
              <a:buNone/>
            </a:pPr>
            <a:r>
              <a:rPr lang="en-US" sz="1200" dirty="0">
                <a:solidFill>
                  <a:srgbClr val="1E2E3A"/>
                </a:solidFill>
                <a:latin typeface="Calibri" pitchFamily="34" charset="0"/>
                <a:ea typeface="Calibri" pitchFamily="34" charset="-122"/>
                <a:cs typeface="Calibri" pitchFamily="34" charset="-120"/>
              </a:rPr>
              <a:t>Initial alert</a:t>
            </a:r>
            <a:endParaRPr lang="en-US" sz="1200" dirty="0"/>
          </a:p>
        </p:txBody>
      </p:sp>
      <p:sp>
        <p:nvSpPr>
          <p:cNvPr id="22" name="Shape 20"/>
          <p:cNvSpPr/>
          <p:nvPr/>
        </p:nvSpPr>
        <p:spPr>
          <a:xfrm>
            <a:off x="905256" y="3119410"/>
            <a:ext cx="0" cy="257338"/>
          </a:xfrm>
          <a:prstGeom prst="line">
            <a:avLst/>
          </a:prstGeom>
          <a:noFill/>
          <a:ln w="19050">
            <a:solidFill>
              <a:srgbClr val="4C8068"/>
            </a:solidFill>
            <a:prstDash val="solid"/>
          </a:ln>
        </p:spPr>
      </p:sp>
      <p:sp>
        <p:nvSpPr>
          <p:cNvPr id="23" name="Shape 21"/>
          <p:cNvSpPr/>
          <p:nvPr/>
        </p:nvSpPr>
        <p:spPr>
          <a:xfrm>
            <a:off x="777240" y="2835946"/>
            <a:ext cx="256032" cy="256032"/>
          </a:xfrm>
          <a:prstGeom prst="ellipse">
            <a:avLst/>
          </a:prstGeom>
          <a:solidFill>
            <a:srgbClr val="F1F8F3"/>
          </a:solidFill>
          <a:ln w="12700">
            <a:solidFill>
              <a:srgbClr val="F1F8F3"/>
            </a:solidFill>
            <a:prstDash val="solid"/>
          </a:ln>
        </p:spPr>
      </p:sp>
      <p:sp>
        <p:nvSpPr>
          <p:cNvPr id="24" name="Text 22"/>
          <p:cNvSpPr txBox="1"/>
          <p:nvPr/>
        </p:nvSpPr>
        <p:spPr>
          <a:xfrm>
            <a:off x="1188720" y="2771938"/>
            <a:ext cx="1645920" cy="568234"/>
          </a:xfrm>
          <a:prstGeom prst="rect">
            <a:avLst/>
          </a:prstGeom>
          <a:noFill/>
          <a:ln/>
        </p:spPr>
        <p:txBody>
          <a:bodyPr wrap="square" lIns="0" tIns="0" rIns="0" bIns="0" rtlCol="0" anchor="t"/>
          <a:lstStyle/>
          <a:p>
            <a:pPr indent="0" marL="0">
              <a:buNone/>
            </a:pPr>
            <a:r>
              <a:rPr lang="en-US" sz="1200" b="1" dirty="0">
                <a:solidFill>
                  <a:srgbClr val="465A69"/>
                </a:solidFill>
                <a:latin typeface="Calibri" pitchFamily="34" charset="0"/>
                <a:ea typeface="Calibri" pitchFamily="34" charset="-122"/>
                <a:cs typeface="Calibri" pitchFamily="34" charset="-120"/>
              </a:rPr>
              <a:t>T+30m</a:t>
            </a:r>
            <a:endParaRPr lang="en-US" sz="1200" dirty="0"/>
          </a:p>
          <a:p>
            <a:pPr indent="0" marL="0">
              <a:buNone/>
            </a:pPr>
            <a:r>
              <a:rPr lang="en-US" sz="1200" dirty="0">
                <a:solidFill>
                  <a:srgbClr val="1E2E3A"/>
                </a:solidFill>
                <a:latin typeface="Calibri" pitchFamily="34" charset="0"/>
                <a:ea typeface="Calibri" pitchFamily="34" charset="-122"/>
                <a:cs typeface="Calibri" pitchFamily="34" charset="-120"/>
              </a:rPr>
              <a:t>Scope expands</a:t>
            </a:r>
            <a:endParaRPr lang="en-US" sz="1200" dirty="0"/>
          </a:p>
        </p:txBody>
      </p:sp>
      <p:sp>
        <p:nvSpPr>
          <p:cNvPr id="25" name="Shape 23"/>
          <p:cNvSpPr/>
          <p:nvPr/>
        </p:nvSpPr>
        <p:spPr>
          <a:xfrm>
            <a:off x="905256" y="3687645"/>
            <a:ext cx="0" cy="257338"/>
          </a:xfrm>
          <a:prstGeom prst="line">
            <a:avLst/>
          </a:prstGeom>
          <a:noFill/>
          <a:ln w="19050">
            <a:solidFill>
              <a:srgbClr val="4C8068"/>
            </a:solidFill>
            <a:prstDash val="solid"/>
          </a:ln>
        </p:spPr>
      </p:sp>
      <p:sp>
        <p:nvSpPr>
          <p:cNvPr id="26" name="Shape 24"/>
          <p:cNvSpPr/>
          <p:nvPr/>
        </p:nvSpPr>
        <p:spPr>
          <a:xfrm>
            <a:off x="777240" y="3404181"/>
            <a:ext cx="256032" cy="256032"/>
          </a:xfrm>
          <a:prstGeom prst="ellipse">
            <a:avLst/>
          </a:prstGeom>
          <a:solidFill>
            <a:srgbClr val="F1F8F3"/>
          </a:solidFill>
          <a:ln w="12700">
            <a:solidFill>
              <a:srgbClr val="F1F8F3"/>
            </a:solidFill>
            <a:prstDash val="solid"/>
          </a:ln>
        </p:spPr>
      </p:sp>
      <p:sp>
        <p:nvSpPr>
          <p:cNvPr id="27" name="Text 25"/>
          <p:cNvSpPr txBox="1"/>
          <p:nvPr/>
        </p:nvSpPr>
        <p:spPr>
          <a:xfrm>
            <a:off x="1188720" y="3340173"/>
            <a:ext cx="1645920" cy="568234"/>
          </a:xfrm>
          <a:prstGeom prst="rect">
            <a:avLst/>
          </a:prstGeom>
          <a:noFill/>
          <a:ln/>
        </p:spPr>
        <p:txBody>
          <a:bodyPr wrap="square" lIns="0" tIns="0" rIns="0" bIns="0" rtlCol="0" anchor="t"/>
          <a:lstStyle/>
          <a:p>
            <a:pPr indent="0" marL="0">
              <a:buNone/>
            </a:pPr>
            <a:r>
              <a:rPr lang="en-US" sz="1200" b="1" dirty="0">
                <a:solidFill>
                  <a:srgbClr val="465A69"/>
                </a:solidFill>
                <a:latin typeface="Calibri" pitchFamily="34" charset="0"/>
                <a:ea typeface="Calibri" pitchFamily="34" charset="-122"/>
                <a:cs typeface="Calibri" pitchFamily="34" charset="-120"/>
              </a:rPr>
              <a:t>T+2h</a:t>
            </a:r>
            <a:endParaRPr lang="en-US" sz="1200" dirty="0"/>
          </a:p>
          <a:p>
            <a:pPr indent="0" marL="0">
              <a:buNone/>
            </a:pPr>
            <a:r>
              <a:rPr lang="en-US" sz="1200" dirty="0">
                <a:solidFill>
                  <a:srgbClr val="1E2E3A"/>
                </a:solidFill>
                <a:latin typeface="Calibri" pitchFamily="34" charset="0"/>
                <a:ea typeface="Calibri" pitchFamily="34" charset="-122"/>
                <a:cs typeface="Calibri" pitchFamily="34" charset="-120"/>
              </a:rPr>
              <a:t>Provider incident declared</a:t>
            </a:r>
            <a:endParaRPr lang="en-US" sz="1200" dirty="0"/>
          </a:p>
        </p:txBody>
      </p:sp>
      <p:sp>
        <p:nvSpPr>
          <p:cNvPr id="28" name="Shape 26"/>
          <p:cNvSpPr/>
          <p:nvPr/>
        </p:nvSpPr>
        <p:spPr>
          <a:xfrm>
            <a:off x="905256" y="4255879"/>
            <a:ext cx="0" cy="257338"/>
          </a:xfrm>
          <a:prstGeom prst="line">
            <a:avLst/>
          </a:prstGeom>
          <a:noFill/>
          <a:ln w="19050">
            <a:solidFill>
              <a:srgbClr val="C9D5D2"/>
            </a:solidFill>
            <a:prstDash val="solid"/>
          </a:ln>
        </p:spPr>
      </p:sp>
      <p:sp>
        <p:nvSpPr>
          <p:cNvPr id="29" name="Shape 27"/>
          <p:cNvSpPr/>
          <p:nvPr/>
        </p:nvSpPr>
        <p:spPr>
          <a:xfrm>
            <a:off x="777240" y="3972415"/>
            <a:ext cx="256032" cy="256032"/>
          </a:xfrm>
          <a:prstGeom prst="ellipse">
            <a:avLst/>
          </a:prstGeom>
          <a:solidFill>
            <a:srgbClr val="4C8068"/>
          </a:solidFill>
          <a:ln w="12700">
            <a:solidFill>
              <a:srgbClr val="4C8068"/>
            </a:solidFill>
            <a:prstDash val="solid"/>
          </a:ln>
        </p:spPr>
      </p:sp>
      <p:sp>
        <p:nvSpPr>
          <p:cNvPr id="30" name="Text 28"/>
          <p:cNvSpPr txBox="1"/>
          <p:nvPr/>
        </p:nvSpPr>
        <p:spPr>
          <a:xfrm>
            <a:off x="1188720" y="3908407"/>
            <a:ext cx="1645920" cy="568234"/>
          </a:xfrm>
          <a:prstGeom prst="rect">
            <a:avLst/>
          </a:prstGeom>
          <a:noFill/>
          <a:ln/>
        </p:spPr>
        <p:txBody>
          <a:bodyPr wrap="square" lIns="0" tIns="0" rIns="0" bIns="0" rtlCol="0" anchor="t"/>
          <a:lstStyle/>
          <a:p>
            <a:pPr indent="0" marL="0">
              <a:buNone/>
            </a:pPr>
            <a:r>
              <a:rPr lang="en-US" sz="1200" b="1" dirty="0">
                <a:solidFill>
                  <a:srgbClr val="4C8068"/>
                </a:solidFill>
                <a:latin typeface="Calibri" pitchFamily="34" charset="0"/>
                <a:ea typeface="Calibri" pitchFamily="34" charset="-122"/>
                <a:cs typeface="Calibri" pitchFamily="34" charset="-120"/>
              </a:rPr>
              <a:t>T+6h</a:t>
            </a:r>
            <a:endParaRPr lang="en-US" sz="1200" dirty="0"/>
          </a:p>
          <a:p>
            <a:pPr indent="0" marL="0">
              <a:buNone/>
            </a:pPr>
            <a:r>
              <a:rPr lang="en-US" sz="1200" b="1" dirty="0">
                <a:solidFill>
                  <a:srgbClr val="4C8068"/>
                </a:solidFill>
                <a:latin typeface="Calibri" pitchFamily="34" charset="0"/>
                <a:ea typeface="Calibri" pitchFamily="34" charset="-122"/>
                <a:cs typeface="Calibri" pitchFamily="34" charset="-120"/>
              </a:rPr>
              <a:t>Business impact</a:t>
            </a:r>
            <a:endParaRPr lang="en-US" sz="1200" dirty="0"/>
          </a:p>
        </p:txBody>
      </p:sp>
      <p:sp>
        <p:nvSpPr>
          <p:cNvPr id="31" name="Shape 29"/>
          <p:cNvSpPr/>
          <p:nvPr/>
        </p:nvSpPr>
        <p:spPr>
          <a:xfrm>
            <a:off x="905256" y="4824113"/>
            <a:ext cx="0" cy="257338"/>
          </a:xfrm>
          <a:prstGeom prst="line">
            <a:avLst/>
          </a:prstGeom>
          <a:noFill/>
          <a:ln w="19050">
            <a:solidFill>
              <a:srgbClr val="C9D5D2"/>
            </a:solidFill>
            <a:prstDash val="solid"/>
          </a:ln>
        </p:spPr>
      </p:sp>
      <p:sp>
        <p:nvSpPr>
          <p:cNvPr id="32" name="Shape 30"/>
          <p:cNvSpPr/>
          <p:nvPr/>
        </p:nvSpPr>
        <p:spPr>
          <a:xfrm>
            <a:off x="777240" y="4540649"/>
            <a:ext cx="256032" cy="256032"/>
          </a:xfrm>
          <a:prstGeom prst="ellipse">
            <a:avLst/>
          </a:prstGeom>
          <a:solidFill>
            <a:srgbClr val="FFFFFF"/>
          </a:solidFill>
          <a:ln w="15875">
            <a:solidFill>
              <a:srgbClr val="C9D5D2"/>
            </a:solidFill>
            <a:prstDash val="solid"/>
          </a:ln>
        </p:spPr>
      </p:sp>
      <p:sp>
        <p:nvSpPr>
          <p:cNvPr id="33" name="Shape 31"/>
          <p:cNvSpPr/>
          <p:nvPr/>
        </p:nvSpPr>
        <p:spPr>
          <a:xfrm>
            <a:off x="905256" y="5392347"/>
            <a:ext cx="0" cy="257338"/>
          </a:xfrm>
          <a:prstGeom prst="line">
            <a:avLst/>
          </a:prstGeom>
          <a:noFill/>
          <a:ln w="19050">
            <a:solidFill>
              <a:srgbClr val="C9D5D2"/>
            </a:solidFill>
            <a:prstDash val="solid"/>
          </a:ln>
        </p:spPr>
      </p:sp>
      <p:sp>
        <p:nvSpPr>
          <p:cNvPr id="34" name="Shape 32"/>
          <p:cNvSpPr/>
          <p:nvPr/>
        </p:nvSpPr>
        <p:spPr>
          <a:xfrm>
            <a:off x="777240" y="5108883"/>
            <a:ext cx="256032" cy="256032"/>
          </a:xfrm>
          <a:prstGeom prst="ellipse">
            <a:avLst/>
          </a:prstGeom>
          <a:solidFill>
            <a:srgbClr val="FFFFFF"/>
          </a:solidFill>
          <a:ln w="15875">
            <a:solidFill>
              <a:srgbClr val="C9D5D2"/>
            </a:solidFill>
            <a:prstDash val="solid"/>
          </a:ln>
        </p:spPr>
      </p:sp>
      <p:sp>
        <p:nvSpPr>
          <p:cNvPr id="35" name="Shape 33"/>
          <p:cNvSpPr/>
          <p:nvPr/>
        </p:nvSpPr>
        <p:spPr>
          <a:xfrm>
            <a:off x="777240" y="5677118"/>
            <a:ext cx="256032" cy="256032"/>
          </a:xfrm>
          <a:prstGeom prst="ellipse">
            <a:avLst/>
          </a:prstGeom>
          <a:solidFill>
            <a:srgbClr val="FFFFFF"/>
          </a:solidFill>
          <a:ln w="15875">
            <a:solidFill>
              <a:srgbClr val="C9D5D2"/>
            </a:solidFill>
            <a:prstDash val="solid"/>
          </a:ln>
        </p:spPr>
      </p:sp>
      <p:sp>
        <p:nvSpPr>
          <p:cNvPr id="36" name="Shape 34"/>
          <p:cNvSpPr/>
          <p:nvPr/>
        </p:nvSpPr>
        <p:spPr>
          <a:xfrm>
            <a:off x="3154680" y="1600200"/>
            <a:ext cx="5696712" cy="3017520"/>
          </a:xfrm>
          <a:prstGeom prst="roundRect">
            <a:avLst>
              <a:gd name="adj" fmla="val 4242"/>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37" name="Shape 35"/>
          <p:cNvSpPr/>
          <p:nvPr/>
        </p:nvSpPr>
        <p:spPr>
          <a:xfrm>
            <a:off x="3429000" y="1810512"/>
            <a:ext cx="2148840" cy="384048"/>
          </a:xfrm>
          <a:prstGeom prst="roundRect">
            <a:avLst>
              <a:gd name="adj" fmla="val 50000"/>
            </a:avLst>
          </a:prstGeom>
          <a:solidFill>
            <a:srgbClr val="4C8068"/>
          </a:solidFill>
          <a:ln w="12700">
            <a:solidFill>
              <a:srgbClr val="4C8068"/>
            </a:solidFill>
            <a:prstDash val="solid"/>
          </a:ln>
        </p:spPr>
      </p:sp>
      <p:pic>
        <p:nvPicPr>
          <p:cNvPr id="38" name="Image 0" descr="preencoded.png">    </p:cNvPr>
          <p:cNvPicPr>
            <a:picLocks noChangeAspect="1"/>
          </p:cNvPicPr>
          <p:nvPr/>
        </p:nvPicPr>
        <p:blipFill>
          <a:blip r:embed="rId1"/>
          <a:stretch>
            <a:fillRect/>
          </a:stretch>
        </p:blipFill>
        <p:spPr>
          <a:xfrm>
            <a:off x="3547872" y="1874520"/>
            <a:ext cx="246888" cy="246888"/>
          </a:xfrm>
          <a:prstGeom prst="rect">
            <a:avLst/>
          </a:prstGeom>
        </p:spPr>
      </p:pic>
      <p:sp>
        <p:nvSpPr>
          <p:cNvPr id="39" name="Text 36"/>
          <p:cNvSpPr txBox="1"/>
          <p:nvPr/>
        </p:nvSpPr>
        <p:spPr>
          <a:xfrm>
            <a:off x="3867912" y="1810512"/>
            <a:ext cx="1691640" cy="38404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T+6h  |  2:15 PM</a:t>
            </a:r>
            <a:endParaRPr lang="en-US" sz="1300" dirty="0"/>
          </a:p>
        </p:txBody>
      </p:sp>
      <p:sp>
        <p:nvSpPr>
          <p:cNvPr id="40" name="Text 37"/>
          <p:cNvSpPr txBox="1"/>
          <p:nvPr/>
        </p:nvSpPr>
        <p:spPr>
          <a:xfrm>
            <a:off x="3429000" y="2286000"/>
            <a:ext cx="2743200" cy="256032"/>
          </a:xfrm>
          <a:prstGeom prst="rect">
            <a:avLst/>
          </a:prstGeom>
          <a:noFill/>
          <a:ln/>
        </p:spPr>
        <p:txBody>
          <a:bodyPr wrap="square" lIns="0" tIns="0" rIns="0" bIns="0" rtlCol="0" anchor="t"/>
          <a:lstStyle/>
          <a:p>
            <a:pPr indent="0" marL="0">
              <a:buNone/>
            </a:pPr>
            <a:r>
              <a:rPr lang="en-US" sz="1200" b="1" dirty="0">
                <a:solidFill>
                  <a:srgbClr val="465A69"/>
                </a:solidFill>
                <a:latin typeface="Calibri" pitchFamily="34" charset="0"/>
                <a:ea typeface="Calibri" pitchFamily="34" charset="-122"/>
                <a:cs typeface="Calibri" pitchFamily="34" charset="-120"/>
              </a:rPr>
              <a:t>New information</a:t>
            </a:r>
            <a:endParaRPr lang="en-US" sz="1200" dirty="0"/>
          </a:p>
        </p:txBody>
      </p:sp>
      <p:sp>
        <p:nvSpPr>
          <p:cNvPr id="41" name="Text 38"/>
          <p:cNvSpPr txBox="1"/>
          <p:nvPr/>
        </p:nvSpPr>
        <p:spPr>
          <a:xfrm>
            <a:off x="3429000" y="2560320"/>
            <a:ext cx="5166360" cy="1965960"/>
          </a:xfrm>
          <a:prstGeom prst="rect">
            <a:avLst/>
          </a:prstGeom>
          <a:noFill/>
          <a:ln/>
        </p:spPr>
        <p:txBody>
          <a:bodyPr wrap="square" lIns="0" tIns="0" rIns="0" bIns="0" rtlCol="0" anchor="t"/>
          <a:lstStyle/>
          <a:p>
            <a:pPr indent="0" marL="0">
              <a:buNone/>
            </a:pPr>
            <a:r>
              <a:rPr lang="en-US" sz="1600" dirty="0">
                <a:solidFill>
                  <a:srgbClr val="1E2E3A"/>
                </a:solidFill>
                <a:latin typeface="Calibri" pitchFamily="34" charset="0"/>
                <a:ea typeface="Calibri" pitchFamily="34" charset="-122"/>
                <a:cs typeface="Calibri" pitchFamily="34" charset="-120"/>
              </a:rPr>
              <a:t>Critical R&amp;D and commercial processes are being disrupted. Clinical, quality, and regulatory teams cannot reach the active documentation they need.</a:t>
            </a:r>
            <a:endParaRPr lang="en-US" sz="1600" dirty="0"/>
          </a:p>
        </p:txBody>
      </p:sp>
      <p:sp>
        <p:nvSpPr>
          <p:cNvPr id="42" name="Shape 39"/>
          <p:cNvSpPr/>
          <p:nvPr/>
        </p:nvSpPr>
        <p:spPr>
          <a:xfrm>
            <a:off x="3154680" y="4800600"/>
            <a:ext cx="5696712" cy="1371600"/>
          </a:xfrm>
          <a:prstGeom prst="roundRect">
            <a:avLst>
              <a:gd name="adj" fmla="val 9333"/>
            </a:avLst>
          </a:prstGeom>
          <a:solidFill>
            <a:srgbClr val="F1F8F3"/>
          </a:solidFill>
          <a:ln w="12700">
            <a:solidFill>
              <a:srgbClr val="F1F8F3"/>
            </a:solidFill>
            <a:prstDash val="solid"/>
          </a:ln>
          <a:effectLst>
            <a:outerShdw sx="100000" sy="100000" kx="0" ky="0" algn="bl" rotWithShape="0" blurRad="177800" dist="50800" dir="5400000">
              <a:srgbClr val="1B4965">
                <a:alpha val="16000"/>
              </a:srgbClr>
            </a:outerShdw>
          </a:effectLst>
        </p:spPr>
      </p:sp>
      <p:sp>
        <p:nvSpPr>
          <p:cNvPr id="43" name="Text 40"/>
          <p:cNvSpPr txBox="1"/>
          <p:nvPr/>
        </p:nvSpPr>
        <p:spPr>
          <a:xfrm>
            <a:off x="3429000" y="4901184"/>
            <a:ext cx="2743200" cy="256032"/>
          </a:xfrm>
          <a:prstGeom prst="rect">
            <a:avLst/>
          </a:prstGeom>
          <a:noFill/>
          <a:ln/>
        </p:spPr>
        <p:txBody>
          <a:bodyPr wrap="square" lIns="0" tIns="0" rIns="0" bIns="0" rtlCol="0" anchor="t"/>
          <a:lstStyle/>
          <a:p>
            <a:pPr indent="0" marL="0">
              <a:buNone/>
            </a:pPr>
            <a:r>
              <a:rPr lang="en-US" sz="1300" b="1" dirty="0">
                <a:solidFill>
                  <a:srgbClr val="4C8068"/>
                </a:solidFill>
                <a:latin typeface="Calibri" pitchFamily="34" charset="0"/>
                <a:ea typeface="Calibri" pitchFamily="34" charset="-122"/>
                <a:cs typeface="Calibri" pitchFamily="34" charset="-120"/>
              </a:rPr>
              <a:t>Decide</a:t>
            </a:r>
            <a:endParaRPr lang="en-US" sz="1300" dirty="0"/>
          </a:p>
        </p:txBody>
      </p:sp>
      <p:sp>
        <p:nvSpPr>
          <p:cNvPr id="44" name="Text 41"/>
          <p:cNvSpPr txBox="1"/>
          <p:nvPr/>
        </p:nvSpPr>
        <p:spPr>
          <a:xfrm>
            <a:off x="3429000" y="5175504"/>
            <a:ext cx="5166360" cy="914400"/>
          </a:xfrm>
          <a:prstGeom prst="rect">
            <a:avLst/>
          </a:prstGeom>
          <a:noFill/>
          <a:ln/>
        </p:spPr>
        <p:txBody>
          <a:bodyPr wrap="square" lIns="0" tIns="0" rIns="0" bIns="0" rtlCol="0" anchor="t"/>
          <a:lstStyle/>
          <a:p>
            <a:pPr indent="0" marL="0">
              <a:buNone/>
            </a:pPr>
            <a:r>
              <a:rPr lang="en-US" sz="1600" b="1" dirty="0">
                <a:solidFill>
                  <a:srgbClr val="1E2E3A"/>
                </a:solidFill>
                <a:latin typeface="Calibri" pitchFamily="34" charset="0"/>
                <a:ea typeface="Calibri" pitchFamily="34" charset="-122"/>
                <a:cs typeface="Calibri" pitchFamily="34" charset="-120"/>
              </a:rPr>
              <a:t>Which processes get priority? What are the workarounds?</a:t>
            </a:r>
            <a:endParaRPr lang="en-US" sz="1600" dirty="0"/>
          </a:p>
        </p:txBody>
      </p:sp>
      <p:sp>
        <p:nvSpPr>
          <p:cNvPr id="45" name="Shape 42"/>
          <p:cNvSpPr/>
          <p:nvPr/>
        </p:nvSpPr>
        <p:spPr>
          <a:xfrm>
            <a:off x="9079992" y="1600200"/>
            <a:ext cx="2560320" cy="4572000"/>
          </a:xfrm>
          <a:prstGeom prst="roundRect">
            <a:avLst>
              <a:gd name="adj" fmla="val 5000"/>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46" name="Text 43"/>
          <p:cNvSpPr txBox="1"/>
          <p:nvPr/>
        </p:nvSpPr>
        <p:spPr>
          <a:xfrm>
            <a:off x="9262872" y="1728216"/>
            <a:ext cx="2194560" cy="457200"/>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Executive inquiry (simulated)</a:t>
            </a:r>
            <a:endParaRPr lang="en-US" sz="1300" dirty="0"/>
          </a:p>
        </p:txBody>
      </p:sp>
      <p:sp>
        <p:nvSpPr>
          <p:cNvPr id="47" name="Shape 44"/>
          <p:cNvSpPr/>
          <p:nvPr/>
        </p:nvSpPr>
        <p:spPr>
          <a:xfrm>
            <a:off x="9262872" y="2221992"/>
            <a:ext cx="2194560" cy="3767328"/>
          </a:xfrm>
          <a:prstGeom prst="roundRect">
            <a:avLst>
              <a:gd name="adj" fmla="val 3333"/>
            </a:avLst>
          </a:prstGeom>
          <a:solidFill>
            <a:srgbClr val="FFFFFF"/>
          </a:solidFill>
          <a:ln w="9525">
            <a:solidFill>
              <a:srgbClr val="C9D3DE"/>
            </a:solidFill>
            <a:prstDash val="solid"/>
          </a:ln>
        </p:spPr>
      </p:sp>
      <p:sp>
        <p:nvSpPr>
          <p:cNvPr id="48" name="Text 45"/>
          <p:cNvSpPr txBox="1"/>
          <p:nvPr/>
        </p:nvSpPr>
        <p:spPr>
          <a:xfrm>
            <a:off x="9381744" y="2386584"/>
            <a:ext cx="1956816" cy="235204"/>
          </a:xfrm>
          <a:prstGeom prst="rect">
            <a:avLst/>
          </a:prstGeom>
          <a:noFill/>
          <a:ln/>
        </p:spPr>
        <p:txBody>
          <a:bodyPr wrap="square" lIns="0" tIns="0" rIns="0" bIns="0" rtlCol="0" anchor="t"/>
          <a:lstStyle/>
          <a:p>
            <a:pPr indent="0" marL="0">
              <a:buNone/>
            </a:pPr>
            <a:r>
              <a:rPr lang="en-US" sz="1400" b="1" dirty="0">
                <a:solidFill>
                  <a:srgbClr val="1E2E3A"/>
                </a:solidFill>
                <a:latin typeface="Calibri" pitchFamily="34" charset="0"/>
                <a:ea typeface="Calibri" pitchFamily="34" charset="-122"/>
                <a:cs typeface="Calibri" pitchFamily="34" charset="-120"/>
              </a:rPr>
              <a:t>From: </a:t>
            </a:r>
            <a:pPr indent="0" marL="0">
              <a:buNone/>
            </a:pPr>
            <a:r>
              <a:rPr lang="en-US" sz="1400" dirty="0">
                <a:solidFill>
                  <a:srgbClr val="1E2E3A"/>
                </a:solidFill>
                <a:latin typeface="Calibri" pitchFamily="34" charset="0"/>
                <a:ea typeface="Calibri" pitchFamily="34" charset="-122"/>
                <a:cs typeface="Calibri" pitchFamily="34" charset="-120"/>
              </a:rPr>
              <a:t>CEO</a:t>
            </a:r>
            <a:endParaRPr lang="en-US" sz="1400" dirty="0"/>
          </a:p>
        </p:txBody>
      </p:sp>
      <p:sp>
        <p:nvSpPr>
          <p:cNvPr id="49" name="Text 46"/>
          <p:cNvSpPr txBox="1"/>
          <p:nvPr/>
        </p:nvSpPr>
        <p:spPr>
          <a:xfrm>
            <a:off x="9381744" y="2621788"/>
            <a:ext cx="1956816" cy="452120"/>
          </a:xfrm>
          <a:prstGeom prst="rect">
            <a:avLst/>
          </a:prstGeom>
          <a:noFill/>
          <a:ln/>
        </p:spPr>
        <p:txBody>
          <a:bodyPr wrap="square" lIns="0" tIns="0" rIns="0" bIns="0" rtlCol="0" anchor="t"/>
          <a:lstStyle/>
          <a:p>
            <a:pPr indent="0" marL="0">
              <a:buNone/>
            </a:pPr>
            <a:r>
              <a:rPr lang="en-US" sz="1400" b="1" dirty="0">
                <a:solidFill>
                  <a:srgbClr val="1E2E3A"/>
                </a:solidFill>
                <a:latin typeface="Calibri" pitchFamily="34" charset="0"/>
                <a:ea typeface="Calibri" pitchFamily="34" charset="-122"/>
                <a:cs typeface="Calibri" pitchFamily="34" charset="-120"/>
              </a:rPr>
              <a:t>Subject: </a:t>
            </a:r>
            <a:pPr indent="0" marL="0">
              <a:buNone/>
            </a:pPr>
            <a:r>
              <a:rPr lang="en-US" sz="1400" dirty="0">
                <a:solidFill>
                  <a:srgbClr val="1E2E3A"/>
                </a:solidFill>
                <a:latin typeface="Calibri" pitchFamily="34" charset="0"/>
                <a:ea typeface="Calibri" pitchFamily="34" charset="-122"/>
                <a:cs typeface="Calibri" pitchFamily="34" charset="-120"/>
              </a:rPr>
              <a:t>Company impact</a:t>
            </a:r>
            <a:endParaRPr lang="en-US" sz="1400" dirty="0"/>
          </a:p>
        </p:txBody>
      </p:sp>
      <p:sp>
        <p:nvSpPr>
          <p:cNvPr id="50" name="Text 47"/>
          <p:cNvSpPr txBox="1"/>
          <p:nvPr/>
        </p:nvSpPr>
        <p:spPr>
          <a:xfrm>
            <a:off x="9381744" y="3147060"/>
            <a:ext cx="1956816" cy="1121156"/>
          </a:xfrm>
          <a:prstGeom prst="rect">
            <a:avLst/>
          </a:prstGeom>
          <a:noFill/>
          <a:ln/>
        </p:spPr>
        <p:txBody>
          <a:bodyPr wrap="square" lIns="0" tIns="0" rIns="0" bIns="0" rtlCol="0" anchor="t"/>
          <a:lstStyle/>
          <a:p>
            <a:pPr indent="0" marL="0">
              <a:buNone/>
            </a:pPr>
            <a:r>
              <a:rPr lang="en-US" sz="1400" dirty="0">
                <a:solidFill>
                  <a:srgbClr val="1E2E3A"/>
                </a:solidFill>
                <a:latin typeface="Calibri" pitchFamily="34" charset="0"/>
                <a:ea typeface="Calibri" pitchFamily="34" charset="-122"/>
                <a:cs typeface="Calibri" pitchFamily="34" charset="-120"/>
              </a:rPr>
              <a:t>What is the impact on R&amp;D, clinical and commercial teams? Can we still operate?</a:t>
            </a:r>
            <a:endParaRPr lang="en-US" sz="1400" dirty="0"/>
          </a:p>
        </p:txBody>
      </p:sp>
      <p:sp>
        <p:nvSpPr>
          <p:cNvPr id="51" name="Text 48"/>
          <p:cNvSpPr txBox="1"/>
          <p:nvPr/>
        </p:nvSpPr>
        <p:spPr>
          <a:xfrm>
            <a:off x="9381744" y="4350512"/>
            <a:ext cx="1956816" cy="228600"/>
          </a:xfrm>
          <a:prstGeom prst="rect">
            <a:avLst/>
          </a:prstGeom>
          <a:noFill/>
          <a:ln/>
        </p:spPr>
        <p:txBody>
          <a:bodyPr wrap="square" lIns="0" tIns="0" rIns="0" bIns="0" rtlCol="0" anchor="t"/>
          <a:lstStyle/>
          <a:p>
            <a:pPr indent="0" marL="0">
              <a:buNone/>
            </a:pPr>
            <a:r>
              <a:rPr lang="en-US" sz="1200" dirty="0">
                <a:solidFill>
                  <a:srgbClr val="465A69"/>
                </a:solidFill>
                <a:latin typeface="Calibri" pitchFamily="34" charset="0"/>
                <a:ea typeface="Calibri" pitchFamily="34" charset="-122"/>
                <a:cs typeface="Calibri" pitchFamily="34" charset="-120"/>
              </a:rPr>
              <a:t>2:15 PM</a:t>
            </a:r>
            <a:endParaRPr lang="en-US" sz="1200" dirty="0"/>
          </a:p>
        </p:txBody>
      </p:sp>
      <p:sp>
        <p:nvSpPr>
          <p:cNvPr id="52" name="Text 49"/>
          <p:cNvSpPr txBox="1"/>
          <p:nvPr/>
        </p:nvSpPr>
        <p:spPr>
          <a:xfrm>
            <a:off x="548640" y="6254496"/>
            <a:ext cx="11091672" cy="256032"/>
          </a:xfrm>
          <a:prstGeom prst="rect">
            <a:avLst/>
          </a:prstGeom>
          <a:noFill/>
          <a:ln/>
        </p:spPr>
        <p:txBody>
          <a:bodyPr wrap="square" lIns="0" tIns="0" rIns="0" bIns="0" rtlCol="0" anchor="ctr"/>
          <a:lstStyle/>
          <a:p>
            <a:pPr indent="0" marL="0">
              <a:buNone/>
            </a:pPr>
            <a:r>
              <a:rPr lang="en-US" sz="1200" b="1" dirty="0">
                <a:solidFill>
                  <a:srgbClr val="465A69"/>
                </a:solidFill>
                <a:latin typeface="Calibri" pitchFamily="34" charset="0"/>
                <a:ea typeface="Calibri" pitchFamily="34" charset="-122"/>
                <a:cs typeface="Calibri" pitchFamily="34" charset="-120"/>
              </a:rPr>
              <a:t>Acronyms:  </a:t>
            </a:r>
            <a:pPr indent="0" marL="0">
              <a:buNone/>
            </a:pPr>
            <a:r>
              <a:rPr lang="en-US" sz="1200" dirty="0">
                <a:solidFill>
                  <a:srgbClr val="465A69"/>
                </a:solidFill>
                <a:latin typeface="Calibri" pitchFamily="34" charset="0"/>
                <a:ea typeface="Calibri" pitchFamily="34" charset="-122"/>
                <a:cs typeface="Calibri" pitchFamily="34" charset="-120"/>
              </a:rPr>
              <a:t>T+: time since the first signal;  R&amp;D: research and development;  CEO: chief executive officer</a:t>
            </a:r>
            <a:endParaRPr lang="en-US" sz="1200" dirty="0"/>
          </a:p>
        </p:txBody>
      </p:sp>
      <p:sp>
        <p:nvSpPr>
          <p:cNvPr id="53" name="Shape 50"/>
          <p:cNvSpPr/>
          <p:nvPr/>
        </p:nvSpPr>
        <p:spPr>
          <a:xfrm>
            <a:off x="548640" y="6537960"/>
            <a:ext cx="763524" cy="274320"/>
          </a:xfrm>
          <a:prstGeom prst="roundRect">
            <a:avLst>
              <a:gd name="adj" fmla="val 50000"/>
            </a:avLst>
          </a:prstGeom>
          <a:solidFill>
            <a:srgbClr val="E4ECF2"/>
          </a:solidFill>
          <a:ln w="12700">
            <a:solidFill>
              <a:srgbClr val="E4ECF2"/>
            </a:solidFill>
            <a:prstDash val="solid"/>
          </a:ln>
        </p:spPr>
      </p:sp>
      <p:sp>
        <p:nvSpPr>
          <p:cNvPr id="54" name="Text 51"/>
          <p:cNvSpPr txBox="1"/>
          <p:nvPr/>
        </p:nvSpPr>
        <p:spPr>
          <a:xfrm>
            <a:off x="548640" y="6537960"/>
            <a:ext cx="763524" cy="274320"/>
          </a:xfrm>
          <a:prstGeom prst="rect">
            <a:avLst/>
          </a:prstGeom>
          <a:noFill/>
          <a:ln/>
        </p:spPr>
        <p:txBody>
          <a:bodyPr wrap="square" lIns="0" tIns="0" rIns="0" bIns="0" rtlCol="0" anchor="ctr"/>
          <a:lstStyle/>
          <a:p>
            <a:pPr algn="ctr" indent="0" marL="0">
              <a:buNone/>
            </a:pPr>
            <a:r>
              <a:rPr lang="en-US" sz="1200" b="1" dirty="0">
                <a:solidFill>
                  <a:srgbClr val="23405A"/>
                </a:solidFill>
                <a:latin typeface="Calibri" pitchFamily="34" charset="0"/>
                <a:ea typeface="Calibri" pitchFamily="34" charset="-122"/>
                <a:cs typeface="Calibri" pitchFamily="34" charset="-120"/>
              </a:rPr>
              <a:t>Start</a:t>
            </a:r>
            <a:endParaRPr lang="en-US" sz="1200" dirty="0"/>
          </a:p>
        </p:txBody>
      </p:sp>
      <p:pic>
        <p:nvPicPr>
          <p:cNvPr id="55" name="Image 1" descr="preencoded.png">
            <a:hlinkClick r:id="rId3" tooltip="Go to Start" action="ppaction://hlinksldjump"/>
          </p:cNvPr>
          <p:cNvPicPr>
            <a:picLocks noChangeAspect="1"/>
          </p:cNvPicPr>
          <p:nvPr/>
        </p:nvPicPr>
        <p:blipFill>
          <a:blip r:embed="rId2"/>
          <a:stretch>
            <a:fillRect/>
          </a:stretch>
        </p:blipFill>
        <p:spPr>
          <a:xfrm>
            <a:off x="548640" y="6537960"/>
            <a:ext cx="763524" cy="274320"/>
          </a:xfrm>
          <a:prstGeom prst="rect">
            <a:avLst/>
          </a:prstGeom>
        </p:spPr>
      </p:pic>
      <p:sp>
        <p:nvSpPr>
          <p:cNvPr id="56" name="Shape 52"/>
          <p:cNvSpPr/>
          <p:nvPr/>
        </p:nvSpPr>
        <p:spPr>
          <a:xfrm>
            <a:off x="1385316" y="6537960"/>
            <a:ext cx="1197864" cy="274320"/>
          </a:xfrm>
          <a:prstGeom prst="roundRect">
            <a:avLst>
              <a:gd name="adj" fmla="val 50000"/>
            </a:avLst>
          </a:prstGeom>
          <a:solidFill>
            <a:srgbClr val="F1F6FA"/>
          </a:solidFill>
          <a:ln w="12700">
            <a:solidFill>
              <a:srgbClr val="F1F6FA"/>
            </a:solidFill>
            <a:prstDash val="solid"/>
          </a:ln>
        </p:spPr>
      </p:sp>
      <p:sp>
        <p:nvSpPr>
          <p:cNvPr id="57" name="Text 53"/>
          <p:cNvSpPr txBox="1"/>
          <p:nvPr/>
        </p:nvSpPr>
        <p:spPr>
          <a:xfrm>
            <a:off x="1385316" y="6537960"/>
            <a:ext cx="1197864" cy="274320"/>
          </a:xfrm>
          <a:prstGeom prst="rect">
            <a:avLst/>
          </a:prstGeom>
          <a:noFill/>
          <a:ln/>
        </p:spPr>
        <p:txBody>
          <a:bodyPr wrap="square" lIns="0" tIns="0" rIns="0" bIns="0" rtlCol="0" anchor="ctr"/>
          <a:lstStyle/>
          <a:p>
            <a:pPr algn="ctr" indent="0" marL="0">
              <a:buNone/>
            </a:pPr>
            <a:r>
              <a:rPr lang="en-US" sz="1200" b="1" dirty="0">
                <a:solidFill>
                  <a:srgbClr val="3F6E8C"/>
                </a:solidFill>
                <a:latin typeface="Calibri" pitchFamily="34" charset="0"/>
                <a:ea typeface="Calibri" pitchFamily="34" charset="-122"/>
                <a:cs typeface="Calibri" pitchFamily="34" charset="-120"/>
              </a:rPr>
              <a:t>Scenario 1</a:t>
            </a:r>
            <a:endParaRPr lang="en-US" sz="1200" dirty="0"/>
          </a:p>
        </p:txBody>
      </p:sp>
      <p:pic>
        <p:nvPicPr>
          <p:cNvPr id="58" name="Image 2" descr="preencoded.png">
            <a:hlinkClick r:id="rId5" tooltip="Go to Scenario 1" action="ppaction://hlinksldjump"/>
          </p:cNvPr>
          <p:cNvPicPr>
            <a:picLocks noChangeAspect="1"/>
          </p:cNvPicPr>
          <p:nvPr/>
        </p:nvPicPr>
        <p:blipFill>
          <a:blip r:embed="rId4"/>
          <a:stretch>
            <a:fillRect/>
          </a:stretch>
        </p:blipFill>
        <p:spPr>
          <a:xfrm>
            <a:off x="1385316" y="6537960"/>
            <a:ext cx="1197864" cy="274320"/>
          </a:xfrm>
          <a:prstGeom prst="rect">
            <a:avLst/>
          </a:prstGeom>
        </p:spPr>
      </p:pic>
      <p:sp>
        <p:nvSpPr>
          <p:cNvPr id="59" name="Shape 54"/>
          <p:cNvSpPr/>
          <p:nvPr/>
        </p:nvSpPr>
        <p:spPr>
          <a:xfrm>
            <a:off x="2656332" y="6537960"/>
            <a:ext cx="1197864" cy="274320"/>
          </a:xfrm>
          <a:prstGeom prst="roundRect">
            <a:avLst>
              <a:gd name="adj" fmla="val 50000"/>
            </a:avLst>
          </a:prstGeom>
          <a:solidFill>
            <a:srgbClr val="4C8068"/>
          </a:solidFill>
          <a:ln w="12700">
            <a:solidFill>
              <a:srgbClr val="4C8068"/>
            </a:solidFill>
            <a:prstDash val="solid"/>
          </a:ln>
        </p:spPr>
      </p:sp>
      <p:sp>
        <p:nvSpPr>
          <p:cNvPr id="60" name="Text 55"/>
          <p:cNvSpPr txBox="1"/>
          <p:nvPr/>
        </p:nvSpPr>
        <p:spPr>
          <a:xfrm>
            <a:off x="2656332" y="6537960"/>
            <a:ext cx="1197864"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Scenario 2</a:t>
            </a:r>
            <a:endParaRPr lang="en-US" sz="1200" dirty="0"/>
          </a:p>
        </p:txBody>
      </p:sp>
      <p:pic>
        <p:nvPicPr>
          <p:cNvPr id="61" name="Image 3" descr="preencoded.png">
            <a:hlinkClick r:id="rId7" tooltip="Go to Scenario 2" action="ppaction://hlinksldjump"/>
          </p:cNvPr>
          <p:cNvPicPr>
            <a:picLocks noChangeAspect="1"/>
          </p:cNvPicPr>
          <p:nvPr/>
        </p:nvPicPr>
        <p:blipFill>
          <a:blip r:embed="rId6"/>
          <a:stretch>
            <a:fillRect/>
          </a:stretch>
        </p:blipFill>
        <p:spPr>
          <a:xfrm>
            <a:off x="2656332" y="6537960"/>
            <a:ext cx="1197864" cy="274320"/>
          </a:xfrm>
          <a:prstGeom prst="rect">
            <a:avLst/>
          </a:prstGeom>
        </p:spPr>
      </p:pic>
      <p:sp>
        <p:nvSpPr>
          <p:cNvPr id="62" name="Shape 56"/>
          <p:cNvSpPr/>
          <p:nvPr/>
        </p:nvSpPr>
        <p:spPr>
          <a:xfrm>
            <a:off x="3927348" y="6537960"/>
            <a:ext cx="1197864" cy="274320"/>
          </a:xfrm>
          <a:prstGeom prst="roundRect">
            <a:avLst>
              <a:gd name="adj" fmla="val 50000"/>
            </a:avLst>
          </a:prstGeom>
          <a:solidFill>
            <a:srgbClr val="F6F3FA"/>
          </a:solidFill>
          <a:ln w="12700">
            <a:solidFill>
              <a:srgbClr val="F6F3FA"/>
            </a:solidFill>
            <a:prstDash val="solid"/>
          </a:ln>
        </p:spPr>
      </p:sp>
      <p:sp>
        <p:nvSpPr>
          <p:cNvPr id="63" name="Text 57"/>
          <p:cNvSpPr txBox="1"/>
          <p:nvPr/>
        </p:nvSpPr>
        <p:spPr>
          <a:xfrm>
            <a:off x="3927348" y="6537960"/>
            <a:ext cx="1197864" cy="274320"/>
          </a:xfrm>
          <a:prstGeom prst="rect">
            <a:avLst/>
          </a:prstGeom>
          <a:noFill/>
          <a:ln/>
        </p:spPr>
        <p:txBody>
          <a:bodyPr wrap="square" lIns="0" tIns="0" rIns="0" bIns="0" rtlCol="0" anchor="ctr"/>
          <a:lstStyle/>
          <a:p>
            <a:pPr algn="ctr" indent="0" marL="0">
              <a:buNone/>
            </a:pPr>
            <a:r>
              <a:rPr lang="en-US" sz="1200" b="1" dirty="0">
                <a:solidFill>
                  <a:srgbClr val="6E5E94"/>
                </a:solidFill>
                <a:latin typeface="Calibri" pitchFamily="34" charset="0"/>
                <a:ea typeface="Calibri" pitchFamily="34" charset="-122"/>
                <a:cs typeface="Calibri" pitchFamily="34" charset="-120"/>
              </a:rPr>
              <a:t>Scenario 3</a:t>
            </a:r>
            <a:endParaRPr lang="en-US" sz="1200" dirty="0"/>
          </a:p>
        </p:txBody>
      </p:sp>
      <p:pic>
        <p:nvPicPr>
          <p:cNvPr id="64" name="Image 4" descr="preencoded.png">
            <a:hlinkClick r:id="rId9" tooltip="Go to Scenario 3" action="ppaction://hlinksldjump"/>
          </p:cNvPr>
          <p:cNvPicPr>
            <a:picLocks noChangeAspect="1"/>
          </p:cNvPicPr>
          <p:nvPr/>
        </p:nvPicPr>
        <p:blipFill>
          <a:blip r:embed="rId8"/>
          <a:stretch>
            <a:fillRect/>
          </a:stretch>
        </p:blipFill>
        <p:spPr>
          <a:xfrm>
            <a:off x="3927348" y="6537960"/>
            <a:ext cx="1197864" cy="274320"/>
          </a:xfrm>
          <a:prstGeom prst="rect">
            <a:avLst/>
          </a:prstGeom>
        </p:spPr>
      </p:pic>
      <p:sp>
        <p:nvSpPr>
          <p:cNvPr id="65" name="Shape 58"/>
          <p:cNvSpPr/>
          <p:nvPr/>
        </p:nvSpPr>
        <p:spPr>
          <a:xfrm>
            <a:off x="5198364" y="6537960"/>
            <a:ext cx="937260" cy="274320"/>
          </a:xfrm>
          <a:prstGeom prst="roundRect">
            <a:avLst>
              <a:gd name="adj" fmla="val 50000"/>
            </a:avLst>
          </a:prstGeom>
          <a:solidFill>
            <a:srgbClr val="E4ECF2"/>
          </a:solidFill>
          <a:ln w="12700">
            <a:solidFill>
              <a:srgbClr val="E4ECF2"/>
            </a:solidFill>
            <a:prstDash val="solid"/>
          </a:ln>
        </p:spPr>
      </p:sp>
      <p:sp>
        <p:nvSpPr>
          <p:cNvPr id="66" name="Text 59"/>
          <p:cNvSpPr txBox="1"/>
          <p:nvPr/>
        </p:nvSpPr>
        <p:spPr>
          <a:xfrm>
            <a:off x="5198364" y="6537960"/>
            <a:ext cx="937260" cy="274320"/>
          </a:xfrm>
          <a:prstGeom prst="rect">
            <a:avLst/>
          </a:prstGeom>
          <a:noFill/>
          <a:ln/>
        </p:spPr>
        <p:txBody>
          <a:bodyPr wrap="square" lIns="0" tIns="0" rIns="0" bIns="0" rtlCol="0" anchor="ctr"/>
          <a:lstStyle/>
          <a:p>
            <a:pPr algn="ctr" indent="0" marL="0">
              <a:buNone/>
            </a:pPr>
            <a:r>
              <a:rPr lang="en-US" sz="1200" b="1" dirty="0">
                <a:solidFill>
                  <a:srgbClr val="23405A"/>
                </a:solidFill>
                <a:latin typeface="Calibri" pitchFamily="34" charset="0"/>
                <a:ea typeface="Calibri" pitchFamily="34" charset="-122"/>
                <a:cs typeface="Calibri" pitchFamily="34" charset="-120"/>
              </a:rPr>
              <a:t>Closing</a:t>
            </a:r>
            <a:endParaRPr lang="en-US" sz="1200" dirty="0"/>
          </a:p>
        </p:txBody>
      </p:sp>
      <p:pic>
        <p:nvPicPr>
          <p:cNvPr id="67" name="Image 5" descr="preencoded.png">
            <a:hlinkClick r:id="rId11" tooltip="Go to Closing" action="ppaction://hlinksldjump"/>
          </p:cNvPr>
          <p:cNvPicPr>
            <a:picLocks noChangeAspect="1"/>
          </p:cNvPicPr>
          <p:nvPr/>
        </p:nvPicPr>
        <p:blipFill>
          <a:blip r:embed="rId10"/>
          <a:stretch>
            <a:fillRect/>
          </a:stretch>
        </p:blipFill>
        <p:spPr>
          <a:xfrm>
            <a:off x="5198364" y="6537960"/>
            <a:ext cx="937260" cy="274320"/>
          </a:xfrm>
          <a:prstGeom prst="rect">
            <a:avLst/>
          </a:prstGeom>
        </p:spPr>
      </p:pic>
      <p:sp>
        <p:nvSpPr>
          <p:cNvPr id="68" name="Text 60"/>
          <p:cNvSpPr txBox="1"/>
          <p:nvPr/>
        </p:nvSpPr>
        <p:spPr>
          <a:xfrm>
            <a:off x="11277295" y="6537960"/>
            <a:ext cx="365760" cy="274320"/>
          </a:xfrm>
          <a:prstGeom prst="rect">
            <a:avLst/>
          </a:prstGeom>
          <a:noFill/>
          <a:ln/>
        </p:spPr>
        <p:txBody>
          <a:bodyPr wrap="square" lIns="0" tIns="0" rIns="0" bIns="0" rtlCol="0" anchor="ctr"/>
          <a:lstStyle/>
          <a:p>
            <a:pPr algn="r" indent="0" marL="0">
              <a:buNone/>
            </a:pPr>
            <a:r>
              <a:rPr lang="en-US" sz="1200" dirty="0">
                <a:solidFill>
                  <a:srgbClr val="465A69"/>
                </a:solidFill>
                <a:latin typeface="Calibri" pitchFamily="34" charset="0"/>
                <a:ea typeface="Calibri" pitchFamily="34" charset="-122"/>
                <a:cs typeface="Calibri" pitchFamily="34" charset="-120"/>
              </a:rPr>
              <a:t>29</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E6F2E9"/>
        </a:solidFill>
      </p:bgPr>
    </p:bg>
    <p:spTree>
      <p:nvGrpSpPr>
        <p:cNvPr id="1" name=""/>
        <p:cNvGrpSpPr/>
        <p:nvPr/>
      </p:nvGrpSpPr>
      <p:grpSpPr>
        <a:xfrm>
          <a:off x="0" y="0"/>
          <a:ext cx="0" cy="0"/>
          <a:chOff x="0" y="0"/>
          <a:chExt cx="0" cy="0"/>
        </a:xfrm>
      </p:grpSpPr>
      <p:sp>
        <p:nvSpPr>
          <p:cNvPr id="2" name="Shape 0"/>
          <p:cNvSpPr/>
          <p:nvPr/>
        </p:nvSpPr>
        <p:spPr>
          <a:xfrm>
            <a:off x="548640" y="347472"/>
            <a:ext cx="2843784" cy="329184"/>
          </a:xfrm>
          <a:prstGeom prst="roundRect">
            <a:avLst>
              <a:gd name="adj" fmla="val 50000"/>
            </a:avLst>
          </a:prstGeom>
          <a:solidFill>
            <a:srgbClr val="F1F8F3"/>
          </a:solidFill>
          <a:ln w="12700">
            <a:solidFill>
              <a:srgbClr val="F1F8F3"/>
            </a:solidFill>
            <a:prstDash val="solid"/>
          </a:ln>
        </p:spPr>
      </p:sp>
      <p:sp>
        <p:nvSpPr>
          <p:cNvPr id="3" name="Text 1"/>
          <p:cNvSpPr txBox="1"/>
          <p:nvPr/>
        </p:nvSpPr>
        <p:spPr>
          <a:xfrm>
            <a:off x="548640" y="347472"/>
            <a:ext cx="2843784" cy="329184"/>
          </a:xfrm>
          <a:prstGeom prst="rect">
            <a:avLst/>
          </a:prstGeom>
          <a:noFill/>
          <a:ln/>
        </p:spPr>
        <p:txBody>
          <a:bodyPr wrap="square" lIns="0" tIns="0" rIns="0" bIns="0" rtlCol="0" anchor="ctr"/>
          <a:lstStyle/>
          <a:p>
            <a:pPr algn="ctr" indent="0" marL="0">
              <a:buNone/>
            </a:pPr>
            <a:r>
              <a:rPr lang="en-US" sz="1200" b="1" dirty="0">
                <a:solidFill>
                  <a:srgbClr val="4C8068"/>
                </a:solidFill>
                <a:latin typeface="Calibri" pitchFamily="34" charset="0"/>
                <a:ea typeface="Calibri" pitchFamily="34" charset="-122"/>
                <a:cs typeface="Calibri" pitchFamily="34" charset="-120"/>
              </a:rPr>
              <a:t>Scenario 2: Disaster Recovery</a:t>
            </a:r>
            <a:endParaRPr lang="en-US" sz="1200" dirty="0"/>
          </a:p>
        </p:txBody>
      </p:sp>
      <p:sp>
        <p:nvSpPr>
          <p:cNvPr id="4" name="Text 2"/>
          <p:cNvSpPr txBox="1"/>
          <p:nvPr/>
        </p:nvSpPr>
        <p:spPr>
          <a:xfrm>
            <a:off x="548640" y="749808"/>
            <a:ext cx="11064240" cy="640080"/>
          </a:xfrm>
          <a:prstGeom prst="rect">
            <a:avLst/>
          </a:prstGeom>
          <a:noFill/>
          <a:ln/>
        </p:spPr>
        <p:txBody>
          <a:bodyPr wrap="square" lIns="0" tIns="0" rIns="0" bIns="0" rtlCol="0" anchor="ctr"/>
          <a:lstStyle/>
          <a:p>
            <a:pPr indent="0" marL="0">
              <a:buNone/>
            </a:pPr>
            <a:r>
              <a:rPr lang="en-US" sz="2800" b="1" dirty="0">
                <a:solidFill>
                  <a:srgbClr val="23405A"/>
                </a:solidFill>
                <a:latin typeface="Calibri" pitchFamily="34" charset="0"/>
                <a:ea typeface="Calibri" pitchFamily="34" charset="-122"/>
                <a:cs typeface="Calibri" pitchFamily="34" charset="-120"/>
              </a:rPr>
              <a:t>T+12h: Extended Outage</a:t>
            </a:r>
            <a:endParaRPr lang="en-US" sz="2800" dirty="0"/>
          </a:p>
        </p:txBody>
      </p:sp>
      <p:sp>
        <p:nvSpPr>
          <p:cNvPr id="5" name="Shape 3"/>
          <p:cNvSpPr/>
          <p:nvPr/>
        </p:nvSpPr>
        <p:spPr>
          <a:xfrm>
            <a:off x="10705795" y="347472"/>
            <a:ext cx="937260" cy="329184"/>
          </a:xfrm>
          <a:prstGeom prst="roundRect">
            <a:avLst>
              <a:gd name="adj" fmla="val 50000"/>
            </a:avLst>
          </a:prstGeom>
          <a:solidFill>
            <a:srgbClr val="FFFFFF"/>
          </a:solidFill>
          <a:ln w="12700">
            <a:solidFill>
              <a:srgbClr val="FFFFFF"/>
            </a:solidFill>
            <a:prstDash val="solid"/>
          </a:ln>
        </p:spPr>
      </p:sp>
      <p:sp>
        <p:nvSpPr>
          <p:cNvPr id="6" name="Text 4"/>
          <p:cNvSpPr txBox="1"/>
          <p:nvPr/>
        </p:nvSpPr>
        <p:spPr>
          <a:xfrm>
            <a:off x="10705795" y="347472"/>
            <a:ext cx="937260" cy="329184"/>
          </a:xfrm>
          <a:prstGeom prst="rect">
            <a:avLst/>
          </a:prstGeom>
          <a:noFill/>
          <a:ln/>
        </p:spPr>
        <p:txBody>
          <a:bodyPr wrap="square" lIns="0" tIns="0" rIns="0" bIns="0" rtlCol="0" anchor="ctr"/>
          <a:lstStyle/>
          <a:p>
            <a:pPr algn="ctr" indent="0" marL="0">
              <a:buNone/>
            </a:pPr>
            <a:r>
              <a:rPr lang="en-US" sz="1200" dirty="0">
                <a:solidFill>
                  <a:srgbClr val="465A69"/>
                </a:solidFill>
                <a:latin typeface="Calibri" pitchFamily="34" charset="0"/>
                <a:ea typeface="Calibri" pitchFamily="34" charset="-122"/>
                <a:cs typeface="Calibri" pitchFamily="34" charset="-120"/>
              </a:rPr>
              <a:t>Hotwash</a:t>
            </a:r>
            <a:endParaRPr lang="en-US" sz="1200" dirty="0"/>
          </a:p>
        </p:txBody>
      </p:sp>
      <p:sp>
        <p:nvSpPr>
          <p:cNvPr id="7" name="Shape 5"/>
          <p:cNvSpPr/>
          <p:nvPr/>
        </p:nvSpPr>
        <p:spPr>
          <a:xfrm>
            <a:off x="9608515" y="347472"/>
            <a:ext cx="1024128" cy="329184"/>
          </a:xfrm>
          <a:prstGeom prst="roundRect">
            <a:avLst>
              <a:gd name="adj" fmla="val 50000"/>
            </a:avLst>
          </a:prstGeom>
          <a:solidFill>
            <a:srgbClr val="FFFFFF"/>
          </a:solidFill>
          <a:ln w="12700">
            <a:solidFill>
              <a:srgbClr val="FFFFFF"/>
            </a:solidFill>
            <a:prstDash val="solid"/>
          </a:ln>
        </p:spPr>
      </p:sp>
      <p:sp>
        <p:nvSpPr>
          <p:cNvPr id="8" name="Text 6"/>
          <p:cNvSpPr txBox="1"/>
          <p:nvPr/>
        </p:nvSpPr>
        <p:spPr>
          <a:xfrm>
            <a:off x="9608515" y="347472"/>
            <a:ext cx="1024128" cy="329184"/>
          </a:xfrm>
          <a:prstGeom prst="rect">
            <a:avLst/>
          </a:prstGeom>
          <a:noFill/>
          <a:ln/>
        </p:spPr>
        <p:txBody>
          <a:bodyPr wrap="square" lIns="0" tIns="0" rIns="0" bIns="0" rtlCol="0" anchor="ctr"/>
          <a:lstStyle/>
          <a:p>
            <a:pPr algn="ctr" indent="0" marL="0">
              <a:buNone/>
            </a:pPr>
            <a:r>
              <a:rPr lang="en-US" sz="1200" dirty="0">
                <a:solidFill>
                  <a:srgbClr val="465A69"/>
                </a:solidFill>
                <a:latin typeface="Calibri" pitchFamily="34" charset="0"/>
                <a:ea typeface="Calibri" pitchFamily="34" charset="-122"/>
                <a:cs typeface="Calibri" pitchFamily="34" charset="-120"/>
              </a:rPr>
              <a:t>Recovery</a:t>
            </a:r>
            <a:endParaRPr lang="en-US" sz="1200" dirty="0"/>
          </a:p>
        </p:txBody>
      </p:sp>
      <p:sp>
        <p:nvSpPr>
          <p:cNvPr id="9" name="Shape 7"/>
          <p:cNvSpPr/>
          <p:nvPr/>
        </p:nvSpPr>
        <p:spPr>
          <a:xfrm>
            <a:off x="8598103" y="347472"/>
            <a:ext cx="937260" cy="329184"/>
          </a:xfrm>
          <a:prstGeom prst="roundRect">
            <a:avLst>
              <a:gd name="adj" fmla="val 50000"/>
            </a:avLst>
          </a:prstGeom>
          <a:solidFill>
            <a:srgbClr val="4C8068"/>
          </a:solidFill>
          <a:ln w="12700">
            <a:solidFill>
              <a:srgbClr val="4C8068"/>
            </a:solidFill>
            <a:prstDash val="solid"/>
          </a:ln>
        </p:spPr>
      </p:sp>
      <p:sp>
        <p:nvSpPr>
          <p:cNvPr id="10" name="Text 8"/>
          <p:cNvSpPr txBox="1"/>
          <p:nvPr/>
        </p:nvSpPr>
        <p:spPr>
          <a:xfrm>
            <a:off x="8598103" y="347472"/>
            <a:ext cx="93726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Injects</a:t>
            </a:r>
            <a:endParaRPr lang="en-US" sz="1200" dirty="0"/>
          </a:p>
        </p:txBody>
      </p:sp>
      <p:sp>
        <p:nvSpPr>
          <p:cNvPr id="11" name="Shape 9"/>
          <p:cNvSpPr/>
          <p:nvPr/>
        </p:nvSpPr>
        <p:spPr>
          <a:xfrm>
            <a:off x="7674559" y="347472"/>
            <a:ext cx="850392" cy="329184"/>
          </a:xfrm>
          <a:prstGeom prst="roundRect">
            <a:avLst>
              <a:gd name="adj" fmla="val 50000"/>
            </a:avLst>
          </a:prstGeom>
          <a:solidFill>
            <a:srgbClr val="F1F8F3"/>
          </a:solidFill>
          <a:ln w="12700">
            <a:solidFill>
              <a:srgbClr val="F1F8F3"/>
            </a:solidFill>
            <a:prstDash val="solid"/>
          </a:ln>
        </p:spPr>
      </p:sp>
      <p:sp>
        <p:nvSpPr>
          <p:cNvPr id="12" name="Text 10"/>
          <p:cNvSpPr txBox="1"/>
          <p:nvPr/>
        </p:nvSpPr>
        <p:spPr>
          <a:xfrm>
            <a:off x="7674559" y="347472"/>
            <a:ext cx="850392" cy="329184"/>
          </a:xfrm>
          <a:prstGeom prst="rect">
            <a:avLst/>
          </a:prstGeom>
          <a:noFill/>
          <a:ln/>
        </p:spPr>
        <p:txBody>
          <a:bodyPr wrap="square" lIns="0" tIns="0" rIns="0" bIns="0" rtlCol="0" anchor="ctr"/>
          <a:lstStyle/>
          <a:p>
            <a:pPr algn="ctr" indent="0" marL="0">
              <a:buNone/>
            </a:pPr>
            <a:r>
              <a:rPr lang="en-US" sz="1200" dirty="0">
                <a:solidFill>
                  <a:srgbClr val="4C8068"/>
                </a:solidFill>
                <a:latin typeface="Calibri" pitchFamily="34" charset="0"/>
                <a:ea typeface="Calibri" pitchFamily="34" charset="-122"/>
                <a:cs typeface="Calibri" pitchFamily="34" charset="-120"/>
              </a:rPr>
              <a:t>Decide</a:t>
            </a:r>
            <a:endParaRPr lang="en-US" sz="1200" dirty="0"/>
          </a:p>
        </p:txBody>
      </p:sp>
      <p:sp>
        <p:nvSpPr>
          <p:cNvPr id="13" name="Shape 11"/>
          <p:cNvSpPr/>
          <p:nvPr/>
        </p:nvSpPr>
        <p:spPr>
          <a:xfrm>
            <a:off x="7011619" y="347472"/>
            <a:ext cx="589788" cy="329184"/>
          </a:xfrm>
          <a:prstGeom prst="roundRect">
            <a:avLst>
              <a:gd name="adj" fmla="val 50000"/>
            </a:avLst>
          </a:prstGeom>
          <a:solidFill>
            <a:srgbClr val="F1F8F3"/>
          </a:solidFill>
          <a:ln w="12700">
            <a:solidFill>
              <a:srgbClr val="F1F8F3"/>
            </a:solidFill>
            <a:prstDash val="solid"/>
          </a:ln>
        </p:spPr>
      </p:sp>
      <p:sp>
        <p:nvSpPr>
          <p:cNvPr id="14" name="Text 12"/>
          <p:cNvSpPr txBox="1"/>
          <p:nvPr/>
        </p:nvSpPr>
        <p:spPr>
          <a:xfrm>
            <a:off x="7011619" y="347472"/>
            <a:ext cx="589788" cy="329184"/>
          </a:xfrm>
          <a:prstGeom prst="rect">
            <a:avLst/>
          </a:prstGeom>
          <a:noFill/>
          <a:ln/>
        </p:spPr>
        <p:txBody>
          <a:bodyPr wrap="square" lIns="0" tIns="0" rIns="0" bIns="0" rtlCol="0" anchor="ctr"/>
          <a:lstStyle/>
          <a:p>
            <a:pPr algn="ctr" indent="0" marL="0">
              <a:buNone/>
            </a:pPr>
            <a:r>
              <a:rPr lang="en-US" sz="1200" dirty="0">
                <a:solidFill>
                  <a:srgbClr val="4C8068"/>
                </a:solidFill>
                <a:latin typeface="Calibri" pitchFamily="34" charset="0"/>
                <a:ea typeface="Calibri" pitchFamily="34" charset="-122"/>
                <a:cs typeface="Calibri" pitchFamily="34" charset="-120"/>
              </a:rPr>
              <a:t>T+0</a:t>
            </a:r>
            <a:endParaRPr lang="en-US" sz="1200" dirty="0"/>
          </a:p>
        </p:txBody>
      </p:sp>
      <p:sp>
        <p:nvSpPr>
          <p:cNvPr id="15" name="Shape 13"/>
          <p:cNvSpPr/>
          <p:nvPr/>
        </p:nvSpPr>
        <p:spPr>
          <a:xfrm>
            <a:off x="5740603" y="347472"/>
            <a:ext cx="1197864" cy="329184"/>
          </a:xfrm>
          <a:prstGeom prst="roundRect">
            <a:avLst>
              <a:gd name="adj" fmla="val 50000"/>
            </a:avLst>
          </a:prstGeom>
          <a:solidFill>
            <a:srgbClr val="F1F8F3"/>
          </a:solidFill>
          <a:ln w="12700">
            <a:solidFill>
              <a:srgbClr val="F1F8F3"/>
            </a:solidFill>
            <a:prstDash val="solid"/>
          </a:ln>
        </p:spPr>
      </p:sp>
      <p:sp>
        <p:nvSpPr>
          <p:cNvPr id="16" name="Text 14"/>
          <p:cNvSpPr txBox="1"/>
          <p:nvPr/>
        </p:nvSpPr>
        <p:spPr>
          <a:xfrm>
            <a:off x="5740603" y="347472"/>
            <a:ext cx="1197864" cy="329184"/>
          </a:xfrm>
          <a:prstGeom prst="rect">
            <a:avLst/>
          </a:prstGeom>
          <a:noFill/>
          <a:ln/>
        </p:spPr>
        <p:txBody>
          <a:bodyPr wrap="square" lIns="0" tIns="0" rIns="0" bIns="0" rtlCol="0" anchor="ctr"/>
          <a:lstStyle/>
          <a:p>
            <a:pPr algn="ctr" indent="0" marL="0">
              <a:buNone/>
            </a:pPr>
            <a:r>
              <a:rPr lang="en-US" sz="1200" dirty="0">
                <a:solidFill>
                  <a:srgbClr val="4C8068"/>
                </a:solidFill>
                <a:latin typeface="Calibri" pitchFamily="34" charset="0"/>
                <a:ea typeface="Calibri" pitchFamily="34" charset="-122"/>
                <a:cs typeface="Calibri" pitchFamily="34" charset="-120"/>
              </a:rPr>
              <a:t>Background</a:t>
            </a:r>
            <a:endParaRPr lang="en-US" sz="1200" dirty="0"/>
          </a:p>
        </p:txBody>
      </p:sp>
      <p:sp>
        <p:nvSpPr>
          <p:cNvPr id="17" name="Shape 15"/>
          <p:cNvSpPr/>
          <p:nvPr/>
        </p:nvSpPr>
        <p:spPr>
          <a:xfrm>
            <a:off x="548640" y="1600200"/>
            <a:ext cx="2377440" cy="4572000"/>
          </a:xfrm>
          <a:prstGeom prst="roundRect">
            <a:avLst>
              <a:gd name="adj" fmla="val 5385"/>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18" name="Text 16"/>
          <p:cNvSpPr txBox="1"/>
          <p:nvPr/>
        </p:nvSpPr>
        <p:spPr>
          <a:xfrm>
            <a:off x="822960" y="1783080"/>
            <a:ext cx="1874520" cy="320040"/>
          </a:xfrm>
          <a:prstGeom prst="rect">
            <a:avLst/>
          </a:prstGeom>
          <a:noFill/>
          <a:ln/>
        </p:spPr>
        <p:txBody>
          <a:bodyPr wrap="square" lIns="0" tIns="0" rIns="0" bIns="0" rtlCol="0" anchor="t"/>
          <a:lstStyle/>
          <a:p>
            <a:pPr indent="0" marL="0">
              <a:buNone/>
            </a:pPr>
            <a:r>
              <a:rPr lang="en-US" sz="1400" b="1" dirty="0">
                <a:solidFill>
                  <a:srgbClr val="465A69"/>
                </a:solidFill>
                <a:latin typeface="Calibri" pitchFamily="34" charset="0"/>
                <a:ea typeface="Calibri" pitchFamily="34" charset="-122"/>
                <a:cs typeface="Calibri" pitchFamily="34" charset="-120"/>
              </a:rPr>
              <a:t>Timeline</a:t>
            </a:r>
            <a:endParaRPr lang="en-US" sz="1400" dirty="0"/>
          </a:p>
        </p:txBody>
      </p:sp>
      <p:sp>
        <p:nvSpPr>
          <p:cNvPr id="19" name="Shape 17"/>
          <p:cNvSpPr/>
          <p:nvPr/>
        </p:nvSpPr>
        <p:spPr>
          <a:xfrm>
            <a:off x="905256" y="2551176"/>
            <a:ext cx="0" cy="257338"/>
          </a:xfrm>
          <a:prstGeom prst="line">
            <a:avLst/>
          </a:prstGeom>
          <a:noFill/>
          <a:ln w="19050">
            <a:solidFill>
              <a:srgbClr val="4C8068"/>
            </a:solidFill>
            <a:prstDash val="solid"/>
          </a:ln>
        </p:spPr>
      </p:sp>
      <p:sp>
        <p:nvSpPr>
          <p:cNvPr id="20" name="Shape 18"/>
          <p:cNvSpPr/>
          <p:nvPr/>
        </p:nvSpPr>
        <p:spPr>
          <a:xfrm>
            <a:off x="777240" y="2267712"/>
            <a:ext cx="256032" cy="256032"/>
          </a:xfrm>
          <a:prstGeom prst="ellipse">
            <a:avLst/>
          </a:prstGeom>
          <a:solidFill>
            <a:srgbClr val="F1F8F3"/>
          </a:solidFill>
          <a:ln w="12700">
            <a:solidFill>
              <a:srgbClr val="F1F8F3"/>
            </a:solidFill>
            <a:prstDash val="solid"/>
          </a:ln>
        </p:spPr>
      </p:sp>
      <p:sp>
        <p:nvSpPr>
          <p:cNvPr id="21" name="Text 19"/>
          <p:cNvSpPr txBox="1"/>
          <p:nvPr/>
        </p:nvSpPr>
        <p:spPr>
          <a:xfrm>
            <a:off x="1188720" y="2203704"/>
            <a:ext cx="1645920" cy="568234"/>
          </a:xfrm>
          <a:prstGeom prst="rect">
            <a:avLst/>
          </a:prstGeom>
          <a:noFill/>
          <a:ln/>
        </p:spPr>
        <p:txBody>
          <a:bodyPr wrap="square" lIns="0" tIns="0" rIns="0" bIns="0" rtlCol="0" anchor="t"/>
          <a:lstStyle/>
          <a:p>
            <a:pPr indent="0" marL="0">
              <a:buNone/>
            </a:pPr>
            <a:r>
              <a:rPr lang="en-US" sz="1200" b="1" dirty="0">
                <a:solidFill>
                  <a:srgbClr val="465A69"/>
                </a:solidFill>
                <a:latin typeface="Calibri" pitchFamily="34" charset="0"/>
                <a:ea typeface="Calibri" pitchFamily="34" charset="-122"/>
                <a:cs typeface="Calibri" pitchFamily="34" charset="-120"/>
              </a:rPr>
              <a:t>T+0</a:t>
            </a:r>
            <a:endParaRPr lang="en-US" sz="1200" dirty="0"/>
          </a:p>
          <a:p>
            <a:pPr indent="0" marL="0">
              <a:buNone/>
            </a:pPr>
            <a:r>
              <a:rPr lang="en-US" sz="1200" dirty="0">
                <a:solidFill>
                  <a:srgbClr val="1E2E3A"/>
                </a:solidFill>
                <a:latin typeface="Calibri" pitchFamily="34" charset="0"/>
                <a:ea typeface="Calibri" pitchFamily="34" charset="-122"/>
                <a:cs typeface="Calibri" pitchFamily="34" charset="-120"/>
              </a:rPr>
              <a:t>Initial alert</a:t>
            </a:r>
            <a:endParaRPr lang="en-US" sz="1200" dirty="0"/>
          </a:p>
        </p:txBody>
      </p:sp>
      <p:sp>
        <p:nvSpPr>
          <p:cNvPr id="22" name="Shape 20"/>
          <p:cNvSpPr/>
          <p:nvPr/>
        </p:nvSpPr>
        <p:spPr>
          <a:xfrm>
            <a:off x="905256" y="3119410"/>
            <a:ext cx="0" cy="257338"/>
          </a:xfrm>
          <a:prstGeom prst="line">
            <a:avLst/>
          </a:prstGeom>
          <a:noFill/>
          <a:ln w="19050">
            <a:solidFill>
              <a:srgbClr val="4C8068"/>
            </a:solidFill>
            <a:prstDash val="solid"/>
          </a:ln>
        </p:spPr>
      </p:sp>
      <p:sp>
        <p:nvSpPr>
          <p:cNvPr id="23" name="Shape 21"/>
          <p:cNvSpPr/>
          <p:nvPr/>
        </p:nvSpPr>
        <p:spPr>
          <a:xfrm>
            <a:off x="777240" y="2835946"/>
            <a:ext cx="256032" cy="256032"/>
          </a:xfrm>
          <a:prstGeom prst="ellipse">
            <a:avLst/>
          </a:prstGeom>
          <a:solidFill>
            <a:srgbClr val="F1F8F3"/>
          </a:solidFill>
          <a:ln w="12700">
            <a:solidFill>
              <a:srgbClr val="F1F8F3"/>
            </a:solidFill>
            <a:prstDash val="solid"/>
          </a:ln>
        </p:spPr>
      </p:sp>
      <p:sp>
        <p:nvSpPr>
          <p:cNvPr id="24" name="Text 22"/>
          <p:cNvSpPr txBox="1"/>
          <p:nvPr/>
        </p:nvSpPr>
        <p:spPr>
          <a:xfrm>
            <a:off x="1188720" y="2771938"/>
            <a:ext cx="1645920" cy="568234"/>
          </a:xfrm>
          <a:prstGeom prst="rect">
            <a:avLst/>
          </a:prstGeom>
          <a:noFill/>
          <a:ln/>
        </p:spPr>
        <p:txBody>
          <a:bodyPr wrap="square" lIns="0" tIns="0" rIns="0" bIns="0" rtlCol="0" anchor="t"/>
          <a:lstStyle/>
          <a:p>
            <a:pPr indent="0" marL="0">
              <a:buNone/>
            </a:pPr>
            <a:r>
              <a:rPr lang="en-US" sz="1200" b="1" dirty="0">
                <a:solidFill>
                  <a:srgbClr val="465A69"/>
                </a:solidFill>
                <a:latin typeface="Calibri" pitchFamily="34" charset="0"/>
                <a:ea typeface="Calibri" pitchFamily="34" charset="-122"/>
                <a:cs typeface="Calibri" pitchFamily="34" charset="-120"/>
              </a:rPr>
              <a:t>T+30m</a:t>
            </a:r>
            <a:endParaRPr lang="en-US" sz="1200" dirty="0"/>
          </a:p>
          <a:p>
            <a:pPr indent="0" marL="0">
              <a:buNone/>
            </a:pPr>
            <a:r>
              <a:rPr lang="en-US" sz="1200" dirty="0">
                <a:solidFill>
                  <a:srgbClr val="1E2E3A"/>
                </a:solidFill>
                <a:latin typeface="Calibri" pitchFamily="34" charset="0"/>
                <a:ea typeface="Calibri" pitchFamily="34" charset="-122"/>
                <a:cs typeface="Calibri" pitchFamily="34" charset="-120"/>
              </a:rPr>
              <a:t>Scope expands</a:t>
            </a:r>
            <a:endParaRPr lang="en-US" sz="1200" dirty="0"/>
          </a:p>
        </p:txBody>
      </p:sp>
      <p:sp>
        <p:nvSpPr>
          <p:cNvPr id="25" name="Shape 23"/>
          <p:cNvSpPr/>
          <p:nvPr/>
        </p:nvSpPr>
        <p:spPr>
          <a:xfrm>
            <a:off x="905256" y="3687645"/>
            <a:ext cx="0" cy="257338"/>
          </a:xfrm>
          <a:prstGeom prst="line">
            <a:avLst/>
          </a:prstGeom>
          <a:noFill/>
          <a:ln w="19050">
            <a:solidFill>
              <a:srgbClr val="4C8068"/>
            </a:solidFill>
            <a:prstDash val="solid"/>
          </a:ln>
        </p:spPr>
      </p:sp>
      <p:sp>
        <p:nvSpPr>
          <p:cNvPr id="26" name="Shape 24"/>
          <p:cNvSpPr/>
          <p:nvPr/>
        </p:nvSpPr>
        <p:spPr>
          <a:xfrm>
            <a:off x="777240" y="3404181"/>
            <a:ext cx="256032" cy="256032"/>
          </a:xfrm>
          <a:prstGeom prst="ellipse">
            <a:avLst/>
          </a:prstGeom>
          <a:solidFill>
            <a:srgbClr val="F1F8F3"/>
          </a:solidFill>
          <a:ln w="12700">
            <a:solidFill>
              <a:srgbClr val="F1F8F3"/>
            </a:solidFill>
            <a:prstDash val="solid"/>
          </a:ln>
        </p:spPr>
      </p:sp>
      <p:sp>
        <p:nvSpPr>
          <p:cNvPr id="27" name="Text 25"/>
          <p:cNvSpPr txBox="1"/>
          <p:nvPr/>
        </p:nvSpPr>
        <p:spPr>
          <a:xfrm>
            <a:off x="1188720" y="3340173"/>
            <a:ext cx="1645920" cy="568234"/>
          </a:xfrm>
          <a:prstGeom prst="rect">
            <a:avLst/>
          </a:prstGeom>
          <a:noFill/>
          <a:ln/>
        </p:spPr>
        <p:txBody>
          <a:bodyPr wrap="square" lIns="0" tIns="0" rIns="0" bIns="0" rtlCol="0" anchor="t"/>
          <a:lstStyle/>
          <a:p>
            <a:pPr indent="0" marL="0">
              <a:buNone/>
            </a:pPr>
            <a:r>
              <a:rPr lang="en-US" sz="1200" b="1" dirty="0">
                <a:solidFill>
                  <a:srgbClr val="465A69"/>
                </a:solidFill>
                <a:latin typeface="Calibri" pitchFamily="34" charset="0"/>
                <a:ea typeface="Calibri" pitchFamily="34" charset="-122"/>
                <a:cs typeface="Calibri" pitchFamily="34" charset="-120"/>
              </a:rPr>
              <a:t>T+2h</a:t>
            </a:r>
            <a:endParaRPr lang="en-US" sz="1200" dirty="0"/>
          </a:p>
          <a:p>
            <a:pPr indent="0" marL="0">
              <a:buNone/>
            </a:pPr>
            <a:r>
              <a:rPr lang="en-US" sz="1200" dirty="0">
                <a:solidFill>
                  <a:srgbClr val="1E2E3A"/>
                </a:solidFill>
                <a:latin typeface="Calibri" pitchFamily="34" charset="0"/>
                <a:ea typeface="Calibri" pitchFamily="34" charset="-122"/>
                <a:cs typeface="Calibri" pitchFamily="34" charset="-120"/>
              </a:rPr>
              <a:t>Provider incident declared</a:t>
            </a:r>
            <a:endParaRPr lang="en-US" sz="1200" dirty="0"/>
          </a:p>
        </p:txBody>
      </p:sp>
      <p:sp>
        <p:nvSpPr>
          <p:cNvPr id="28" name="Shape 26"/>
          <p:cNvSpPr/>
          <p:nvPr/>
        </p:nvSpPr>
        <p:spPr>
          <a:xfrm>
            <a:off x="905256" y="4255879"/>
            <a:ext cx="0" cy="257338"/>
          </a:xfrm>
          <a:prstGeom prst="line">
            <a:avLst/>
          </a:prstGeom>
          <a:noFill/>
          <a:ln w="19050">
            <a:solidFill>
              <a:srgbClr val="4C8068"/>
            </a:solidFill>
            <a:prstDash val="solid"/>
          </a:ln>
        </p:spPr>
      </p:sp>
      <p:sp>
        <p:nvSpPr>
          <p:cNvPr id="29" name="Shape 27"/>
          <p:cNvSpPr/>
          <p:nvPr/>
        </p:nvSpPr>
        <p:spPr>
          <a:xfrm>
            <a:off x="777240" y="3972415"/>
            <a:ext cx="256032" cy="256032"/>
          </a:xfrm>
          <a:prstGeom prst="ellipse">
            <a:avLst/>
          </a:prstGeom>
          <a:solidFill>
            <a:srgbClr val="F1F8F3"/>
          </a:solidFill>
          <a:ln w="12700">
            <a:solidFill>
              <a:srgbClr val="F1F8F3"/>
            </a:solidFill>
            <a:prstDash val="solid"/>
          </a:ln>
        </p:spPr>
      </p:sp>
      <p:sp>
        <p:nvSpPr>
          <p:cNvPr id="30" name="Text 28"/>
          <p:cNvSpPr txBox="1"/>
          <p:nvPr/>
        </p:nvSpPr>
        <p:spPr>
          <a:xfrm>
            <a:off x="1188720" y="3908407"/>
            <a:ext cx="1645920" cy="568234"/>
          </a:xfrm>
          <a:prstGeom prst="rect">
            <a:avLst/>
          </a:prstGeom>
          <a:noFill/>
          <a:ln/>
        </p:spPr>
        <p:txBody>
          <a:bodyPr wrap="square" lIns="0" tIns="0" rIns="0" bIns="0" rtlCol="0" anchor="t"/>
          <a:lstStyle/>
          <a:p>
            <a:pPr indent="0" marL="0">
              <a:buNone/>
            </a:pPr>
            <a:r>
              <a:rPr lang="en-US" sz="1200" b="1" dirty="0">
                <a:solidFill>
                  <a:srgbClr val="465A69"/>
                </a:solidFill>
                <a:latin typeface="Calibri" pitchFamily="34" charset="0"/>
                <a:ea typeface="Calibri" pitchFamily="34" charset="-122"/>
                <a:cs typeface="Calibri" pitchFamily="34" charset="-120"/>
              </a:rPr>
              <a:t>T+6h</a:t>
            </a:r>
            <a:endParaRPr lang="en-US" sz="1200" dirty="0"/>
          </a:p>
          <a:p>
            <a:pPr indent="0" marL="0">
              <a:buNone/>
            </a:pPr>
            <a:r>
              <a:rPr lang="en-US" sz="1200" dirty="0">
                <a:solidFill>
                  <a:srgbClr val="1E2E3A"/>
                </a:solidFill>
                <a:latin typeface="Calibri" pitchFamily="34" charset="0"/>
                <a:ea typeface="Calibri" pitchFamily="34" charset="-122"/>
                <a:cs typeface="Calibri" pitchFamily="34" charset="-120"/>
              </a:rPr>
              <a:t>Business impact</a:t>
            </a:r>
            <a:endParaRPr lang="en-US" sz="1200" dirty="0"/>
          </a:p>
        </p:txBody>
      </p:sp>
      <p:sp>
        <p:nvSpPr>
          <p:cNvPr id="31" name="Shape 29"/>
          <p:cNvSpPr/>
          <p:nvPr/>
        </p:nvSpPr>
        <p:spPr>
          <a:xfrm>
            <a:off x="905256" y="4824113"/>
            <a:ext cx="0" cy="257338"/>
          </a:xfrm>
          <a:prstGeom prst="line">
            <a:avLst/>
          </a:prstGeom>
          <a:noFill/>
          <a:ln w="19050">
            <a:solidFill>
              <a:srgbClr val="C9D5D2"/>
            </a:solidFill>
            <a:prstDash val="solid"/>
          </a:ln>
        </p:spPr>
      </p:sp>
      <p:sp>
        <p:nvSpPr>
          <p:cNvPr id="32" name="Shape 30"/>
          <p:cNvSpPr/>
          <p:nvPr/>
        </p:nvSpPr>
        <p:spPr>
          <a:xfrm>
            <a:off x="777240" y="4540649"/>
            <a:ext cx="256032" cy="256032"/>
          </a:xfrm>
          <a:prstGeom prst="ellipse">
            <a:avLst/>
          </a:prstGeom>
          <a:solidFill>
            <a:srgbClr val="4C8068"/>
          </a:solidFill>
          <a:ln w="12700">
            <a:solidFill>
              <a:srgbClr val="4C8068"/>
            </a:solidFill>
            <a:prstDash val="solid"/>
          </a:ln>
        </p:spPr>
      </p:sp>
      <p:sp>
        <p:nvSpPr>
          <p:cNvPr id="33" name="Text 31"/>
          <p:cNvSpPr txBox="1"/>
          <p:nvPr/>
        </p:nvSpPr>
        <p:spPr>
          <a:xfrm>
            <a:off x="1188720" y="4476641"/>
            <a:ext cx="1645920" cy="568234"/>
          </a:xfrm>
          <a:prstGeom prst="rect">
            <a:avLst/>
          </a:prstGeom>
          <a:noFill/>
          <a:ln/>
        </p:spPr>
        <p:txBody>
          <a:bodyPr wrap="square" lIns="0" tIns="0" rIns="0" bIns="0" rtlCol="0" anchor="t"/>
          <a:lstStyle/>
          <a:p>
            <a:pPr indent="0" marL="0">
              <a:buNone/>
            </a:pPr>
            <a:r>
              <a:rPr lang="en-US" sz="1200" b="1" dirty="0">
                <a:solidFill>
                  <a:srgbClr val="4C8068"/>
                </a:solidFill>
                <a:latin typeface="Calibri" pitchFamily="34" charset="0"/>
                <a:ea typeface="Calibri" pitchFamily="34" charset="-122"/>
                <a:cs typeface="Calibri" pitchFamily="34" charset="-120"/>
              </a:rPr>
              <a:t>T+12h</a:t>
            </a:r>
            <a:endParaRPr lang="en-US" sz="1200" dirty="0"/>
          </a:p>
          <a:p>
            <a:pPr indent="0" marL="0">
              <a:buNone/>
            </a:pPr>
            <a:r>
              <a:rPr lang="en-US" sz="1200" b="1" dirty="0">
                <a:solidFill>
                  <a:srgbClr val="4C8068"/>
                </a:solidFill>
                <a:latin typeface="Calibri" pitchFamily="34" charset="0"/>
                <a:ea typeface="Calibri" pitchFamily="34" charset="-122"/>
                <a:cs typeface="Calibri" pitchFamily="34" charset="-120"/>
              </a:rPr>
              <a:t>Extended outage</a:t>
            </a:r>
            <a:endParaRPr lang="en-US" sz="1200" dirty="0"/>
          </a:p>
        </p:txBody>
      </p:sp>
      <p:sp>
        <p:nvSpPr>
          <p:cNvPr id="34" name="Shape 32"/>
          <p:cNvSpPr/>
          <p:nvPr/>
        </p:nvSpPr>
        <p:spPr>
          <a:xfrm>
            <a:off x="905256" y="5392347"/>
            <a:ext cx="0" cy="257338"/>
          </a:xfrm>
          <a:prstGeom prst="line">
            <a:avLst/>
          </a:prstGeom>
          <a:noFill/>
          <a:ln w="19050">
            <a:solidFill>
              <a:srgbClr val="C9D5D2"/>
            </a:solidFill>
            <a:prstDash val="solid"/>
          </a:ln>
        </p:spPr>
      </p:sp>
      <p:sp>
        <p:nvSpPr>
          <p:cNvPr id="35" name="Shape 33"/>
          <p:cNvSpPr/>
          <p:nvPr/>
        </p:nvSpPr>
        <p:spPr>
          <a:xfrm>
            <a:off x="777240" y="5108883"/>
            <a:ext cx="256032" cy="256032"/>
          </a:xfrm>
          <a:prstGeom prst="ellipse">
            <a:avLst/>
          </a:prstGeom>
          <a:solidFill>
            <a:srgbClr val="FFFFFF"/>
          </a:solidFill>
          <a:ln w="15875">
            <a:solidFill>
              <a:srgbClr val="C9D5D2"/>
            </a:solidFill>
            <a:prstDash val="solid"/>
          </a:ln>
        </p:spPr>
      </p:sp>
      <p:sp>
        <p:nvSpPr>
          <p:cNvPr id="36" name="Shape 34"/>
          <p:cNvSpPr/>
          <p:nvPr/>
        </p:nvSpPr>
        <p:spPr>
          <a:xfrm>
            <a:off x="777240" y="5677118"/>
            <a:ext cx="256032" cy="256032"/>
          </a:xfrm>
          <a:prstGeom prst="ellipse">
            <a:avLst/>
          </a:prstGeom>
          <a:solidFill>
            <a:srgbClr val="FFFFFF"/>
          </a:solidFill>
          <a:ln w="15875">
            <a:solidFill>
              <a:srgbClr val="C9D5D2"/>
            </a:solidFill>
            <a:prstDash val="solid"/>
          </a:ln>
        </p:spPr>
      </p:sp>
      <p:sp>
        <p:nvSpPr>
          <p:cNvPr id="37" name="Shape 35"/>
          <p:cNvSpPr/>
          <p:nvPr/>
        </p:nvSpPr>
        <p:spPr>
          <a:xfrm>
            <a:off x="3154680" y="1600200"/>
            <a:ext cx="5696712" cy="3017520"/>
          </a:xfrm>
          <a:prstGeom prst="roundRect">
            <a:avLst>
              <a:gd name="adj" fmla="val 4242"/>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38" name="Shape 36"/>
          <p:cNvSpPr/>
          <p:nvPr/>
        </p:nvSpPr>
        <p:spPr>
          <a:xfrm>
            <a:off x="3429000" y="1810512"/>
            <a:ext cx="2240280" cy="384048"/>
          </a:xfrm>
          <a:prstGeom prst="roundRect">
            <a:avLst>
              <a:gd name="adj" fmla="val 50000"/>
            </a:avLst>
          </a:prstGeom>
          <a:solidFill>
            <a:srgbClr val="4C8068"/>
          </a:solidFill>
          <a:ln w="12700">
            <a:solidFill>
              <a:srgbClr val="4C8068"/>
            </a:solidFill>
            <a:prstDash val="solid"/>
          </a:ln>
        </p:spPr>
      </p:sp>
      <p:pic>
        <p:nvPicPr>
          <p:cNvPr id="39" name="Image 0" descr="preencoded.png">    </p:cNvPr>
          <p:cNvPicPr>
            <a:picLocks noChangeAspect="1"/>
          </p:cNvPicPr>
          <p:nvPr/>
        </p:nvPicPr>
        <p:blipFill>
          <a:blip r:embed="rId1"/>
          <a:stretch>
            <a:fillRect/>
          </a:stretch>
        </p:blipFill>
        <p:spPr>
          <a:xfrm>
            <a:off x="3547872" y="1874520"/>
            <a:ext cx="246888" cy="246888"/>
          </a:xfrm>
          <a:prstGeom prst="rect">
            <a:avLst/>
          </a:prstGeom>
        </p:spPr>
      </p:pic>
      <p:sp>
        <p:nvSpPr>
          <p:cNvPr id="40" name="Text 37"/>
          <p:cNvSpPr txBox="1"/>
          <p:nvPr/>
        </p:nvSpPr>
        <p:spPr>
          <a:xfrm>
            <a:off x="3867912" y="1810512"/>
            <a:ext cx="1783080" cy="38404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T+12h  |  8:05 PM</a:t>
            </a:r>
            <a:endParaRPr lang="en-US" sz="1300" dirty="0"/>
          </a:p>
        </p:txBody>
      </p:sp>
      <p:sp>
        <p:nvSpPr>
          <p:cNvPr id="41" name="Text 38"/>
          <p:cNvSpPr txBox="1"/>
          <p:nvPr/>
        </p:nvSpPr>
        <p:spPr>
          <a:xfrm>
            <a:off x="3429000" y="2286000"/>
            <a:ext cx="2743200" cy="256032"/>
          </a:xfrm>
          <a:prstGeom prst="rect">
            <a:avLst/>
          </a:prstGeom>
          <a:noFill/>
          <a:ln/>
        </p:spPr>
        <p:txBody>
          <a:bodyPr wrap="square" lIns="0" tIns="0" rIns="0" bIns="0" rtlCol="0" anchor="t"/>
          <a:lstStyle/>
          <a:p>
            <a:pPr indent="0" marL="0">
              <a:buNone/>
            </a:pPr>
            <a:r>
              <a:rPr lang="en-US" sz="1200" b="1" dirty="0">
                <a:solidFill>
                  <a:srgbClr val="465A69"/>
                </a:solidFill>
                <a:latin typeface="Calibri" pitchFamily="34" charset="0"/>
                <a:ea typeface="Calibri" pitchFamily="34" charset="-122"/>
                <a:cs typeface="Calibri" pitchFamily="34" charset="-120"/>
              </a:rPr>
              <a:t>New information</a:t>
            </a:r>
            <a:endParaRPr lang="en-US" sz="1200" dirty="0"/>
          </a:p>
        </p:txBody>
      </p:sp>
      <p:sp>
        <p:nvSpPr>
          <p:cNvPr id="42" name="Text 39"/>
          <p:cNvSpPr txBox="1"/>
          <p:nvPr/>
        </p:nvSpPr>
        <p:spPr>
          <a:xfrm>
            <a:off x="3429000" y="2560320"/>
            <a:ext cx="5166360" cy="1965960"/>
          </a:xfrm>
          <a:prstGeom prst="rect">
            <a:avLst/>
          </a:prstGeom>
          <a:noFill/>
          <a:ln/>
        </p:spPr>
        <p:txBody>
          <a:bodyPr wrap="square" lIns="0" tIns="0" rIns="0" bIns="0" rtlCol="0" anchor="t"/>
          <a:lstStyle/>
          <a:p>
            <a:pPr indent="0" marL="0">
              <a:buNone/>
            </a:pPr>
            <a:r>
              <a:rPr lang="en-US" sz="1800" dirty="0">
                <a:solidFill>
                  <a:srgbClr val="1E2E3A"/>
                </a:solidFill>
                <a:latin typeface="Calibri" pitchFamily="34" charset="0"/>
                <a:ea typeface="Calibri" pitchFamily="34" charset="-122"/>
                <a:cs typeface="Calibri" pitchFamily="34" charset="-120"/>
              </a:rPr>
              <a:t>Microsoft says recovery is continuing, but there is still no reliable ETA.</a:t>
            </a:r>
            <a:endParaRPr lang="en-US" sz="1800" dirty="0"/>
          </a:p>
        </p:txBody>
      </p:sp>
      <p:sp>
        <p:nvSpPr>
          <p:cNvPr id="43" name="Shape 40"/>
          <p:cNvSpPr/>
          <p:nvPr/>
        </p:nvSpPr>
        <p:spPr>
          <a:xfrm>
            <a:off x="3154680" y="4800600"/>
            <a:ext cx="5696712" cy="1371600"/>
          </a:xfrm>
          <a:prstGeom prst="roundRect">
            <a:avLst>
              <a:gd name="adj" fmla="val 9333"/>
            </a:avLst>
          </a:prstGeom>
          <a:solidFill>
            <a:srgbClr val="F1F8F3"/>
          </a:solidFill>
          <a:ln w="12700">
            <a:solidFill>
              <a:srgbClr val="F1F8F3"/>
            </a:solidFill>
            <a:prstDash val="solid"/>
          </a:ln>
          <a:effectLst>
            <a:outerShdw sx="100000" sy="100000" kx="0" ky="0" algn="bl" rotWithShape="0" blurRad="177800" dist="50800" dir="5400000">
              <a:srgbClr val="1B4965">
                <a:alpha val="16000"/>
              </a:srgbClr>
            </a:outerShdw>
          </a:effectLst>
        </p:spPr>
      </p:sp>
      <p:sp>
        <p:nvSpPr>
          <p:cNvPr id="44" name="Text 41"/>
          <p:cNvSpPr txBox="1"/>
          <p:nvPr/>
        </p:nvSpPr>
        <p:spPr>
          <a:xfrm>
            <a:off x="3429000" y="4901184"/>
            <a:ext cx="2743200" cy="256032"/>
          </a:xfrm>
          <a:prstGeom prst="rect">
            <a:avLst/>
          </a:prstGeom>
          <a:noFill/>
          <a:ln/>
        </p:spPr>
        <p:txBody>
          <a:bodyPr wrap="square" lIns="0" tIns="0" rIns="0" bIns="0" rtlCol="0" anchor="t"/>
          <a:lstStyle/>
          <a:p>
            <a:pPr indent="0" marL="0">
              <a:buNone/>
            </a:pPr>
            <a:r>
              <a:rPr lang="en-US" sz="1300" b="1" dirty="0">
                <a:solidFill>
                  <a:srgbClr val="4C8068"/>
                </a:solidFill>
                <a:latin typeface="Calibri" pitchFamily="34" charset="0"/>
                <a:ea typeface="Calibri" pitchFamily="34" charset="-122"/>
                <a:cs typeface="Calibri" pitchFamily="34" charset="-120"/>
              </a:rPr>
              <a:t>Decide</a:t>
            </a:r>
            <a:endParaRPr lang="en-US" sz="1300" dirty="0"/>
          </a:p>
        </p:txBody>
      </p:sp>
      <p:sp>
        <p:nvSpPr>
          <p:cNvPr id="45" name="Text 42"/>
          <p:cNvSpPr txBox="1"/>
          <p:nvPr/>
        </p:nvSpPr>
        <p:spPr>
          <a:xfrm>
            <a:off x="3429000" y="5175504"/>
            <a:ext cx="5166360" cy="914400"/>
          </a:xfrm>
          <a:prstGeom prst="rect">
            <a:avLst/>
          </a:prstGeom>
          <a:noFill/>
          <a:ln/>
        </p:spPr>
        <p:txBody>
          <a:bodyPr wrap="square" lIns="0" tIns="0" rIns="0" bIns="0" rtlCol="0" anchor="t"/>
          <a:lstStyle/>
          <a:p>
            <a:pPr indent="0" marL="0">
              <a:buNone/>
            </a:pPr>
            <a:r>
              <a:rPr lang="en-US" sz="1600" b="1" dirty="0">
                <a:solidFill>
                  <a:srgbClr val="1E2E3A"/>
                </a:solidFill>
                <a:latin typeface="Calibri" pitchFamily="34" charset="0"/>
                <a:ea typeface="Calibri" pitchFamily="34" charset="-122"/>
                <a:cs typeface="Calibri" pitchFamily="34" charset="-120"/>
              </a:rPr>
              <a:t>How long can you operate this way? What additional continuity measures do you activate?</a:t>
            </a:r>
            <a:endParaRPr lang="en-US" sz="1600" dirty="0"/>
          </a:p>
        </p:txBody>
      </p:sp>
      <p:sp>
        <p:nvSpPr>
          <p:cNvPr id="46" name="Shape 43"/>
          <p:cNvSpPr/>
          <p:nvPr/>
        </p:nvSpPr>
        <p:spPr>
          <a:xfrm>
            <a:off x="9079992" y="1600200"/>
            <a:ext cx="2560320" cy="4572000"/>
          </a:xfrm>
          <a:prstGeom prst="roundRect">
            <a:avLst>
              <a:gd name="adj" fmla="val 5000"/>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47" name="Text 44"/>
          <p:cNvSpPr txBox="1"/>
          <p:nvPr/>
        </p:nvSpPr>
        <p:spPr>
          <a:xfrm>
            <a:off x="9262872" y="1728216"/>
            <a:ext cx="2194560" cy="457200"/>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Provider status (simulated)</a:t>
            </a:r>
            <a:endParaRPr lang="en-US" sz="1300" dirty="0"/>
          </a:p>
        </p:txBody>
      </p:sp>
      <p:sp>
        <p:nvSpPr>
          <p:cNvPr id="48" name="Shape 45"/>
          <p:cNvSpPr/>
          <p:nvPr/>
        </p:nvSpPr>
        <p:spPr>
          <a:xfrm>
            <a:off x="9262872" y="2221992"/>
            <a:ext cx="2194560" cy="3767328"/>
          </a:xfrm>
          <a:prstGeom prst="roundRect">
            <a:avLst>
              <a:gd name="adj" fmla="val 3333"/>
            </a:avLst>
          </a:prstGeom>
          <a:solidFill>
            <a:srgbClr val="FFFFFF"/>
          </a:solidFill>
          <a:ln w="9525">
            <a:solidFill>
              <a:srgbClr val="C9D3DE"/>
            </a:solidFill>
            <a:prstDash val="solid"/>
          </a:ln>
        </p:spPr>
      </p:sp>
      <p:sp>
        <p:nvSpPr>
          <p:cNvPr id="49" name="Shape 46"/>
          <p:cNvSpPr/>
          <p:nvPr/>
        </p:nvSpPr>
        <p:spPr>
          <a:xfrm>
            <a:off x="9381744" y="2432304"/>
            <a:ext cx="109728" cy="109728"/>
          </a:xfrm>
          <a:prstGeom prst="rect">
            <a:avLst/>
          </a:prstGeom>
          <a:solidFill>
            <a:srgbClr val="D99A8A"/>
          </a:solidFill>
          <a:ln w="12700">
            <a:solidFill>
              <a:srgbClr val="D99A8A"/>
            </a:solidFill>
            <a:prstDash val="solid"/>
          </a:ln>
        </p:spPr>
      </p:sp>
      <p:sp>
        <p:nvSpPr>
          <p:cNvPr id="50" name="Shape 47"/>
          <p:cNvSpPr/>
          <p:nvPr/>
        </p:nvSpPr>
        <p:spPr>
          <a:xfrm>
            <a:off x="9500616" y="2432304"/>
            <a:ext cx="109728" cy="109728"/>
          </a:xfrm>
          <a:prstGeom prst="rect">
            <a:avLst/>
          </a:prstGeom>
          <a:solidFill>
            <a:srgbClr val="A9C38A"/>
          </a:solidFill>
          <a:ln w="12700">
            <a:solidFill>
              <a:srgbClr val="A9C38A"/>
            </a:solidFill>
            <a:prstDash val="solid"/>
          </a:ln>
        </p:spPr>
      </p:sp>
      <p:sp>
        <p:nvSpPr>
          <p:cNvPr id="51" name="Shape 48"/>
          <p:cNvSpPr/>
          <p:nvPr/>
        </p:nvSpPr>
        <p:spPr>
          <a:xfrm>
            <a:off x="9381744" y="2551176"/>
            <a:ext cx="109728" cy="109728"/>
          </a:xfrm>
          <a:prstGeom prst="rect">
            <a:avLst/>
          </a:prstGeom>
          <a:solidFill>
            <a:srgbClr val="8FBCD6"/>
          </a:solidFill>
          <a:ln w="12700">
            <a:solidFill>
              <a:srgbClr val="8FBCD6"/>
            </a:solidFill>
            <a:prstDash val="solid"/>
          </a:ln>
        </p:spPr>
      </p:sp>
      <p:sp>
        <p:nvSpPr>
          <p:cNvPr id="52" name="Shape 49"/>
          <p:cNvSpPr/>
          <p:nvPr/>
        </p:nvSpPr>
        <p:spPr>
          <a:xfrm>
            <a:off x="9500616" y="2551176"/>
            <a:ext cx="109728" cy="109728"/>
          </a:xfrm>
          <a:prstGeom prst="rect">
            <a:avLst/>
          </a:prstGeom>
          <a:solidFill>
            <a:srgbClr val="E0C58A"/>
          </a:solidFill>
          <a:ln w="12700">
            <a:solidFill>
              <a:srgbClr val="E0C58A"/>
            </a:solidFill>
            <a:prstDash val="solid"/>
          </a:ln>
        </p:spPr>
      </p:sp>
      <p:sp>
        <p:nvSpPr>
          <p:cNvPr id="53" name="Text 50"/>
          <p:cNvSpPr txBox="1"/>
          <p:nvPr/>
        </p:nvSpPr>
        <p:spPr>
          <a:xfrm>
            <a:off x="9729216" y="2386584"/>
            <a:ext cx="1591056" cy="292608"/>
          </a:xfrm>
          <a:prstGeom prst="rect">
            <a:avLst/>
          </a:prstGeom>
          <a:noFill/>
          <a:ln/>
        </p:spPr>
        <p:txBody>
          <a:bodyPr wrap="square" lIns="0" tIns="0" rIns="0" bIns="0" rtlCol="0" anchor="ctr"/>
          <a:lstStyle/>
          <a:p>
            <a:pPr indent="0" marL="0">
              <a:buNone/>
            </a:pPr>
            <a:r>
              <a:rPr lang="en-US" sz="1700" dirty="0">
                <a:solidFill>
                  <a:srgbClr val="3C3C3C"/>
                </a:solidFill>
                <a:latin typeface="Calibri" pitchFamily="34" charset="0"/>
                <a:ea typeface="Calibri" pitchFamily="34" charset="-122"/>
                <a:cs typeface="Calibri" pitchFamily="34" charset="-120"/>
              </a:rPr>
              <a:t>Microsoft</a:t>
            </a:r>
            <a:endParaRPr lang="en-US" sz="1700" dirty="0"/>
          </a:p>
        </p:txBody>
      </p:sp>
      <p:pic>
        <p:nvPicPr>
          <p:cNvPr id="54" name="Image 1" descr="preencoded.png">    </p:cNvPr>
          <p:cNvPicPr>
            <a:picLocks noChangeAspect="1"/>
          </p:cNvPicPr>
          <p:nvPr/>
        </p:nvPicPr>
        <p:blipFill>
          <a:blip r:embed="rId2"/>
          <a:stretch>
            <a:fillRect/>
          </a:stretch>
        </p:blipFill>
        <p:spPr>
          <a:xfrm>
            <a:off x="9381744" y="2798064"/>
            <a:ext cx="219456" cy="219456"/>
          </a:xfrm>
          <a:prstGeom prst="rect">
            <a:avLst/>
          </a:prstGeom>
        </p:spPr>
      </p:pic>
      <p:sp>
        <p:nvSpPr>
          <p:cNvPr id="55" name="Text 51"/>
          <p:cNvSpPr txBox="1"/>
          <p:nvPr/>
        </p:nvSpPr>
        <p:spPr>
          <a:xfrm>
            <a:off x="9674352" y="2770632"/>
            <a:ext cx="1636776" cy="253492"/>
          </a:xfrm>
          <a:prstGeom prst="rect">
            <a:avLst/>
          </a:prstGeom>
          <a:noFill/>
          <a:ln/>
        </p:spPr>
        <p:txBody>
          <a:bodyPr wrap="square" lIns="0" tIns="0" rIns="0" bIns="0" rtlCol="0" anchor="ctr"/>
          <a:lstStyle/>
          <a:p>
            <a:pPr indent="0" marL="0">
              <a:buNone/>
            </a:pPr>
            <a:r>
              <a:rPr lang="en-US" sz="1400" b="1" dirty="0">
                <a:solidFill>
                  <a:srgbClr val="1B2A4A"/>
                </a:solidFill>
                <a:latin typeface="Calibri" pitchFamily="34" charset="0"/>
                <a:ea typeface="Calibri" pitchFamily="34" charset="-122"/>
                <a:cs typeface="Calibri" pitchFamily="34" charset="-120"/>
              </a:rPr>
              <a:t>Extended outage</a:t>
            </a:r>
            <a:endParaRPr lang="en-US" sz="1400" dirty="0"/>
          </a:p>
        </p:txBody>
      </p:sp>
      <p:sp>
        <p:nvSpPr>
          <p:cNvPr id="56" name="Text 52"/>
          <p:cNvSpPr txBox="1"/>
          <p:nvPr/>
        </p:nvSpPr>
        <p:spPr>
          <a:xfrm>
            <a:off x="9381744" y="3078988"/>
            <a:ext cx="1956816" cy="1121156"/>
          </a:xfrm>
          <a:prstGeom prst="rect">
            <a:avLst/>
          </a:prstGeom>
          <a:noFill/>
          <a:ln/>
        </p:spPr>
        <p:txBody>
          <a:bodyPr wrap="square" lIns="0" tIns="0" rIns="0" bIns="0" rtlCol="0" anchor="t"/>
          <a:lstStyle/>
          <a:p>
            <a:pPr indent="0" marL="0">
              <a:buNone/>
            </a:pPr>
            <a:r>
              <a:rPr lang="en-US" sz="1400" dirty="0">
                <a:solidFill>
                  <a:srgbClr val="1E2E3A"/>
                </a:solidFill>
                <a:latin typeface="Calibri" pitchFamily="34" charset="0"/>
                <a:ea typeface="Calibri" pitchFamily="34" charset="-122"/>
                <a:cs typeface="Calibri" pitchFamily="34" charset="-120"/>
              </a:rPr>
              <a:t>We are continuing to work on recovery. Current estimated time to restore service: Unknown.</a:t>
            </a:r>
            <a:endParaRPr lang="en-US" sz="1400" dirty="0"/>
          </a:p>
        </p:txBody>
      </p:sp>
      <p:sp>
        <p:nvSpPr>
          <p:cNvPr id="57" name="Text 53"/>
          <p:cNvSpPr txBox="1"/>
          <p:nvPr/>
        </p:nvSpPr>
        <p:spPr>
          <a:xfrm>
            <a:off x="9381744" y="4282440"/>
            <a:ext cx="1956816" cy="228600"/>
          </a:xfrm>
          <a:prstGeom prst="rect">
            <a:avLst/>
          </a:prstGeom>
          <a:noFill/>
          <a:ln/>
        </p:spPr>
        <p:txBody>
          <a:bodyPr wrap="square" lIns="0" tIns="0" rIns="0" bIns="0" rtlCol="0" anchor="t"/>
          <a:lstStyle/>
          <a:p>
            <a:pPr indent="0" marL="0">
              <a:buNone/>
            </a:pPr>
            <a:r>
              <a:rPr lang="en-US" sz="1200" dirty="0">
                <a:solidFill>
                  <a:srgbClr val="465A69"/>
                </a:solidFill>
                <a:latin typeface="Calibri" pitchFamily="34" charset="0"/>
                <a:ea typeface="Calibri" pitchFamily="34" charset="-122"/>
                <a:cs typeface="Calibri" pitchFamily="34" charset="-120"/>
              </a:rPr>
              <a:t>8:05 PM</a:t>
            </a:r>
            <a:endParaRPr lang="en-US" sz="1200" dirty="0"/>
          </a:p>
        </p:txBody>
      </p:sp>
      <p:sp>
        <p:nvSpPr>
          <p:cNvPr id="58" name="Text 54"/>
          <p:cNvSpPr txBox="1"/>
          <p:nvPr/>
        </p:nvSpPr>
        <p:spPr>
          <a:xfrm>
            <a:off x="548640" y="6254496"/>
            <a:ext cx="11091672" cy="256032"/>
          </a:xfrm>
          <a:prstGeom prst="rect">
            <a:avLst/>
          </a:prstGeom>
          <a:noFill/>
          <a:ln/>
        </p:spPr>
        <p:txBody>
          <a:bodyPr wrap="square" lIns="0" tIns="0" rIns="0" bIns="0" rtlCol="0" anchor="ctr"/>
          <a:lstStyle/>
          <a:p>
            <a:pPr indent="0" marL="0">
              <a:buNone/>
            </a:pPr>
            <a:r>
              <a:rPr lang="en-US" sz="1200" b="1" dirty="0">
                <a:solidFill>
                  <a:srgbClr val="465A69"/>
                </a:solidFill>
                <a:latin typeface="Calibri" pitchFamily="34" charset="0"/>
                <a:ea typeface="Calibri" pitchFamily="34" charset="-122"/>
                <a:cs typeface="Calibri" pitchFamily="34" charset="-120"/>
              </a:rPr>
              <a:t>Acronyms:  </a:t>
            </a:r>
            <a:pPr indent="0" marL="0">
              <a:buNone/>
            </a:pPr>
            <a:r>
              <a:rPr lang="en-US" sz="1200" dirty="0">
                <a:solidFill>
                  <a:srgbClr val="465A69"/>
                </a:solidFill>
                <a:latin typeface="Calibri" pitchFamily="34" charset="0"/>
                <a:ea typeface="Calibri" pitchFamily="34" charset="-122"/>
                <a:cs typeface="Calibri" pitchFamily="34" charset="-120"/>
              </a:rPr>
              <a:t>T+: time since the first signal;  ETA: estimated time of arrival</a:t>
            </a:r>
            <a:endParaRPr lang="en-US" sz="1200" dirty="0"/>
          </a:p>
        </p:txBody>
      </p:sp>
      <p:sp>
        <p:nvSpPr>
          <p:cNvPr id="59" name="Shape 55"/>
          <p:cNvSpPr/>
          <p:nvPr/>
        </p:nvSpPr>
        <p:spPr>
          <a:xfrm>
            <a:off x="548640" y="6537960"/>
            <a:ext cx="763524" cy="274320"/>
          </a:xfrm>
          <a:prstGeom prst="roundRect">
            <a:avLst>
              <a:gd name="adj" fmla="val 50000"/>
            </a:avLst>
          </a:prstGeom>
          <a:solidFill>
            <a:srgbClr val="E4ECF2"/>
          </a:solidFill>
          <a:ln w="12700">
            <a:solidFill>
              <a:srgbClr val="E4ECF2"/>
            </a:solidFill>
            <a:prstDash val="solid"/>
          </a:ln>
        </p:spPr>
      </p:sp>
      <p:sp>
        <p:nvSpPr>
          <p:cNvPr id="60" name="Text 56"/>
          <p:cNvSpPr txBox="1"/>
          <p:nvPr/>
        </p:nvSpPr>
        <p:spPr>
          <a:xfrm>
            <a:off x="548640" y="6537960"/>
            <a:ext cx="763524" cy="274320"/>
          </a:xfrm>
          <a:prstGeom prst="rect">
            <a:avLst/>
          </a:prstGeom>
          <a:noFill/>
          <a:ln/>
        </p:spPr>
        <p:txBody>
          <a:bodyPr wrap="square" lIns="0" tIns="0" rIns="0" bIns="0" rtlCol="0" anchor="ctr"/>
          <a:lstStyle/>
          <a:p>
            <a:pPr algn="ctr" indent="0" marL="0">
              <a:buNone/>
            </a:pPr>
            <a:r>
              <a:rPr lang="en-US" sz="1200" b="1" dirty="0">
                <a:solidFill>
                  <a:srgbClr val="23405A"/>
                </a:solidFill>
                <a:latin typeface="Calibri" pitchFamily="34" charset="0"/>
                <a:ea typeface="Calibri" pitchFamily="34" charset="-122"/>
                <a:cs typeface="Calibri" pitchFamily="34" charset="-120"/>
              </a:rPr>
              <a:t>Start</a:t>
            </a:r>
            <a:endParaRPr lang="en-US" sz="1200" dirty="0"/>
          </a:p>
        </p:txBody>
      </p:sp>
      <p:pic>
        <p:nvPicPr>
          <p:cNvPr id="61" name="Image 2" descr="preencoded.png">
            <a:hlinkClick r:id="rId4" tooltip="Go to Start" action="ppaction://hlinksldjump"/>
          </p:cNvPr>
          <p:cNvPicPr>
            <a:picLocks noChangeAspect="1"/>
          </p:cNvPicPr>
          <p:nvPr/>
        </p:nvPicPr>
        <p:blipFill>
          <a:blip r:embed="rId3"/>
          <a:stretch>
            <a:fillRect/>
          </a:stretch>
        </p:blipFill>
        <p:spPr>
          <a:xfrm>
            <a:off x="548640" y="6537960"/>
            <a:ext cx="763524" cy="274320"/>
          </a:xfrm>
          <a:prstGeom prst="rect">
            <a:avLst/>
          </a:prstGeom>
        </p:spPr>
      </p:pic>
      <p:sp>
        <p:nvSpPr>
          <p:cNvPr id="62" name="Shape 57"/>
          <p:cNvSpPr/>
          <p:nvPr/>
        </p:nvSpPr>
        <p:spPr>
          <a:xfrm>
            <a:off x="1385316" y="6537960"/>
            <a:ext cx="1197864" cy="274320"/>
          </a:xfrm>
          <a:prstGeom prst="roundRect">
            <a:avLst>
              <a:gd name="adj" fmla="val 50000"/>
            </a:avLst>
          </a:prstGeom>
          <a:solidFill>
            <a:srgbClr val="F1F6FA"/>
          </a:solidFill>
          <a:ln w="12700">
            <a:solidFill>
              <a:srgbClr val="F1F6FA"/>
            </a:solidFill>
            <a:prstDash val="solid"/>
          </a:ln>
        </p:spPr>
      </p:sp>
      <p:sp>
        <p:nvSpPr>
          <p:cNvPr id="63" name="Text 58"/>
          <p:cNvSpPr txBox="1"/>
          <p:nvPr/>
        </p:nvSpPr>
        <p:spPr>
          <a:xfrm>
            <a:off x="1385316" y="6537960"/>
            <a:ext cx="1197864" cy="274320"/>
          </a:xfrm>
          <a:prstGeom prst="rect">
            <a:avLst/>
          </a:prstGeom>
          <a:noFill/>
          <a:ln/>
        </p:spPr>
        <p:txBody>
          <a:bodyPr wrap="square" lIns="0" tIns="0" rIns="0" bIns="0" rtlCol="0" anchor="ctr"/>
          <a:lstStyle/>
          <a:p>
            <a:pPr algn="ctr" indent="0" marL="0">
              <a:buNone/>
            </a:pPr>
            <a:r>
              <a:rPr lang="en-US" sz="1200" b="1" dirty="0">
                <a:solidFill>
                  <a:srgbClr val="3F6E8C"/>
                </a:solidFill>
                <a:latin typeface="Calibri" pitchFamily="34" charset="0"/>
                <a:ea typeface="Calibri" pitchFamily="34" charset="-122"/>
                <a:cs typeface="Calibri" pitchFamily="34" charset="-120"/>
              </a:rPr>
              <a:t>Scenario 1</a:t>
            </a:r>
            <a:endParaRPr lang="en-US" sz="1200" dirty="0"/>
          </a:p>
        </p:txBody>
      </p:sp>
      <p:pic>
        <p:nvPicPr>
          <p:cNvPr id="64" name="Image 3" descr="preencoded.png">
            <a:hlinkClick r:id="rId6" tooltip="Go to Scenario 1" action="ppaction://hlinksldjump"/>
          </p:cNvPr>
          <p:cNvPicPr>
            <a:picLocks noChangeAspect="1"/>
          </p:cNvPicPr>
          <p:nvPr/>
        </p:nvPicPr>
        <p:blipFill>
          <a:blip r:embed="rId5"/>
          <a:stretch>
            <a:fillRect/>
          </a:stretch>
        </p:blipFill>
        <p:spPr>
          <a:xfrm>
            <a:off x="1385316" y="6537960"/>
            <a:ext cx="1197864" cy="274320"/>
          </a:xfrm>
          <a:prstGeom prst="rect">
            <a:avLst/>
          </a:prstGeom>
        </p:spPr>
      </p:pic>
      <p:sp>
        <p:nvSpPr>
          <p:cNvPr id="65" name="Shape 59"/>
          <p:cNvSpPr/>
          <p:nvPr/>
        </p:nvSpPr>
        <p:spPr>
          <a:xfrm>
            <a:off x="2656332" y="6537960"/>
            <a:ext cx="1197864" cy="274320"/>
          </a:xfrm>
          <a:prstGeom prst="roundRect">
            <a:avLst>
              <a:gd name="adj" fmla="val 50000"/>
            </a:avLst>
          </a:prstGeom>
          <a:solidFill>
            <a:srgbClr val="4C8068"/>
          </a:solidFill>
          <a:ln w="12700">
            <a:solidFill>
              <a:srgbClr val="4C8068"/>
            </a:solidFill>
            <a:prstDash val="solid"/>
          </a:ln>
        </p:spPr>
      </p:sp>
      <p:sp>
        <p:nvSpPr>
          <p:cNvPr id="66" name="Text 60"/>
          <p:cNvSpPr txBox="1"/>
          <p:nvPr/>
        </p:nvSpPr>
        <p:spPr>
          <a:xfrm>
            <a:off x="2656332" y="6537960"/>
            <a:ext cx="1197864"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Scenario 2</a:t>
            </a:r>
            <a:endParaRPr lang="en-US" sz="1200" dirty="0"/>
          </a:p>
        </p:txBody>
      </p:sp>
      <p:pic>
        <p:nvPicPr>
          <p:cNvPr id="67" name="Image 4" descr="preencoded.png">
            <a:hlinkClick r:id="rId8" tooltip="Go to Scenario 2" action="ppaction://hlinksldjump"/>
          </p:cNvPr>
          <p:cNvPicPr>
            <a:picLocks noChangeAspect="1"/>
          </p:cNvPicPr>
          <p:nvPr/>
        </p:nvPicPr>
        <p:blipFill>
          <a:blip r:embed="rId7"/>
          <a:stretch>
            <a:fillRect/>
          </a:stretch>
        </p:blipFill>
        <p:spPr>
          <a:xfrm>
            <a:off x="2656332" y="6537960"/>
            <a:ext cx="1197864" cy="274320"/>
          </a:xfrm>
          <a:prstGeom prst="rect">
            <a:avLst/>
          </a:prstGeom>
        </p:spPr>
      </p:pic>
      <p:sp>
        <p:nvSpPr>
          <p:cNvPr id="68" name="Shape 61"/>
          <p:cNvSpPr/>
          <p:nvPr/>
        </p:nvSpPr>
        <p:spPr>
          <a:xfrm>
            <a:off x="3927348" y="6537960"/>
            <a:ext cx="1197864" cy="274320"/>
          </a:xfrm>
          <a:prstGeom prst="roundRect">
            <a:avLst>
              <a:gd name="adj" fmla="val 50000"/>
            </a:avLst>
          </a:prstGeom>
          <a:solidFill>
            <a:srgbClr val="F6F3FA"/>
          </a:solidFill>
          <a:ln w="12700">
            <a:solidFill>
              <a:srgbClr val="F6F3FA"/>
            </a:solidFill>
            <a:prstDash val="solid"/>
          </a:ln>
        </p:spPr>
      </p:sp>
      <p:sp>
        <p:nvSpPr>
          <p:cNvPr id="69" name="Text 62"/>
          <p:cNvSpPr txBox="1"/>
          <p:nvPr/>
        </p:nvSpPr>
        <p:spPr>
          <a:xfrm>
            <a:off x="3927348" y="6537960"/>
            <a:ext cx="1197864" cy="274320"/>
          </a:xfrm>
          <a:prstGeom prst="rect">
            <a:avLst/>
          </a:prstGeom>
          <a:noFill/>
          <a:ln/>
        </p:spPr>
        <p:txBody>
          <a:bodyPr wrap="square" lIns="0" tIns="0" rIns="0" bIns="0" rtlCol="0" anchor="ctr"/>
          <a:lstStyle/>
          <a:p>
            <a:pPr algn="ctr" indent="0" marL="0">
              <a:buNone/>
            </a:pPr>
            <a:r>
              <a:rPr lang="en-US" sz="1200" b="1" dirty="0">
                <a:solidFill>
                  <a:srgbClr val="6E5E94"/>
                </a:solidFill>
                <a:latin typeface="Calibri" pitchFamily="34" charset="0"/>
                <a:ea typeface="Calibri" pitchFamily="34" charset="-122"/>
                <a:cs typeface="Calibri" pitchFamily="34" charset="-120"/>
              </a:rPr>
              <a:t>Scenario 3</a:t>
            </a:r>
            <a:endParaRPr lang="en-US" sz="1200" dirty="0"/>
          </a:p>
        </p:txBody>
      </p:sp>
      <p:pic>
        <p:nvPicPr>
          <p:cNvPr id="70" name="Image 5" descr="preencoded.png">
            <a:hlinkClick r:id="rId10" tooltip="Go to Scenario 3" action="ppaction://hlinksldjump"/>
          </p:cNvPr>
          <p:cNvPicPr>
            <a:picLocks noChangeAspect="1"/>
          </p:cNvPicPr>
          <p:nvPr/>
        </p:nvPicPr>
        <p:blipFill>
          <a:blip r:embed="rId9"/>
          <a:stretch>
            <a:fillRect/>
          </a:stretch>
        </p:blipFill>
        <p:spPr>
          <a:xfrm>
            <a:off x="3927348" y="6537960"/>
            <a:ext cx="1197864" cy="274320"/>
          </a:xfrm>
          <a:prstGeom prst="rect">
            <a:avLst/>
          </a:prstGeom>
        </p:spPr>
      </p:pic>
      <p:sp>
        <p:nvSpPr>
          <p:cNvPr id="71" name="Shape 63"/>
          <p:cNvSpPr/>
          <p:nvPr/>
        </p:nvSpPr>
        <p:spPr>
          <a:xfrm>
            <a:off x="5198364" y="6537960"/>
            <a:ext cx="937260" cy="274320"/>
          </a:xfrm>
          <a:prstGeom prst="roundRect">
            <a:avLst>
              <a:gd name="adj" fmla="val 50000"/>
            </a:avLst>
          </a:prstGeom>
          <a:solidFill>
            <a:srgbClr val="E4ECF2"/>
          </a:solidFill>
          <a:ln w="12700">
            <a:solidFill>
              <a:srgbClr val="E4ECF2"/>
            </a:solidFill>
            <a:prstDash val="solid"/>
          </a:ln>
        </p:spPr>
      </p:sp>
      <p:sp>
        <p:nvSpPr>
          <p:cNvPr id="72" name="Text 64"/>
          <p:cNvSpPr txBox="1"/>
          <p:nvPr/>
        </p:nvSpPr>
        <p:spPr>
          <a:xfrm>
            <a:off x="5198364" y="6537960"/>
            <a:ext cx="937260" cy="274320"/>
          </a:xfrm>
          <a:prstGeom prst="rect">
            <a:avLst/>
          </a:prstGeom>
          <a:noFill/>
          <a:ln/>
        </p:spPr>
        <p:txBody>
          <a:bodyPr wrap="square" lIns="0" tIns="0" rIns="0" bIns="0" rtlCol="0" anchor="ctr"/>
          <a:lstStyle/>
          <a:p>
            <a:pPr algn="ctr" indent="0" marL="0">
              <a:buNone/>
            </a:pPr>
            <a:r>
              <a:rPr lang="en-US" sz="1200" b="1" dirty="0">
                <a:solidFill>
                  <a:srgbClr val="23405A"/>
                </a:solidFill>
                <a:latin typeface="Calibri" pitchFamily="34" charset="0"/>
                <a:ea typeface="Calibri" pitchFamily="34" charset="-122"/>
                <a:cs typeface="Calibri" pitchFamily="34" charset="-120"/>
              </a:rPr>
              <a:t>Closing</a:t>
            </a:r>
            <a:endParaRPr lang="en-US" sz="1200" dirty="0"/>
          </a:p>
        </p:txBody>
      </p:sp>
      <p:pic>
        <p:nvPicPr>
          <p:cNvPr id="73" name="Image 6" descr="preencoded.png">
            <a:hlinkClick r:id="rId12" tooltip="Go to Closing" action="ppaction://hlinksldjump"/>
          </p:cNvPr>
          <p:cNvPicPr>
            <a:picLocks noChangeAspect="1"/>
          </p:cNvPicPr>
          <p:nvPr/>
        </p:nvPicPr>
        <p:blipFill>
          <a:blip r:embed="rId11"/>
          <a:stretch>
            <a:fillRect/>
          </a:stretch>
        </p:blipFill>
        <p:spPr>
          <a:xfrm>
            <a:off x="5198364" y="6537960"/>
            <a:ext cx="937260" cy="274320"/>
          </a:xfrm>
          <a:prstGeom prst="rect">
            <a:avLst/>
          </a:prstGeom>
        </p:spPr>
      </p:pic>
      <p:sp>
        <p:nvSpPr>
          <p:cNvPr id="74" name="Text 65"/>
          <p:cNvSpPr txBox="1"/>
          <p:nvPr/>
        </p:nvSpPr>
        <p:spPr>
          <a:xfrm>
            <a:off x="11277295" y="6537960"/>
            <a:ext cx="365760" cy="274320"/>
          </a:xfrm>
          <a:prstGeom prst="rect">
            <a:avLst/>
          </a:prstGeom>
          <a:noFill/>
          <a:ln/>
        </p:spPr>
        <p:txBody>
          <a:bodyPr wrap="square" lIns="0" tIns="0" rIns="0" bIns="0" rtlCol="0" anchor="ctr"/>
          <a:lstStyle/>
          <a:p>
            <a:pPr algn="r" indent="0" marL="0">
              <a:buNone/>
            </a:pPr>
            <a:r>
              <a:rPr lang="en-US" sz="1200" dirty="0">
                <a:solidFill>
                  <a:srgbClr val="465A69"/>
                </a:solidFill>
                <a:latin typeface="Calibri" pitchFamily="34" charset="0"/>
                <a:ea typeface="Calibri" pitchFamily="34" charset="-122"/>
                <a:cs typeface="Calibri" pitchFamily="34" charset="-120"/>
              </a:rPr>
              <a:t>30</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E6F2E9"/>
        </a:solidFill>
      </p:bgPr>
    </p:bg>
    <p:spTree>
      <p:nvGrpSpPr>
        <p:cNvPr id="1" name=""/>
        <p:cNvGrpSpPr/>
        <p:nvPr/>
      </p:nvGrpSpPr>
      <p:grpSpPr>
        <a:xfrm>
          <a:off x="0" y="0"/>
          <a:ext cx="0" cy="0"/>
          <a:chOff x="0" y="0"/>
          <a:chExt cx="0" cy="0"/>
        </a:xfrm>
      </p:grpSpPr>
      <p:sp>
        <p:nvSpPr>
          <p:cNvPr id="2" name="Shape 0"/>
          <p:cNvSpPr/>
          <p:nvPr/>
        </p:nvSpPr>
        <p:spPr>
          <a:xfrm>
            <a:off x="548640" y="347472"/>
            <a:ext cx="2843784" cy="329184"/>
          </a:xfrm>
          <a:prstGeom prst="roundRect">
            <a:avLst>
              <a:gd name="adj" fmla="val 50000"/>
            </a:avLst>
          </a:prstGeom>
          <a:solidFill>
            <a:srgbClr val="F1F8F3"/>
          </a:solidFill>
          <a:ln w="12700">
            <a:solidFill>
              <a:srgbClr val="F1F8F3"/>
            </a:solidFill>
            <a:prstDash val="solid"/>
          </a:ln>
        </p:spPr>
      </p:sp>
      <p:sp>
        <p:nvSpPr>
          <p:cNvPr id="3" name="Text 1"/>
          <p:cNvSpPr txBox="1"/>
          <p:nvPr/>
        </p:nvSpPr>
        <p:spPr>
          <a:xfrm>
            <a:off x="548640" y="347472"/>
            <a:ext cx="2843784" cy="329184"/>
          </a:xfrm>
          <a:prstGeom prst="rect">
            <a:avLst/>
          </a:prstGeom>
          <a:noFill/>
          <a:ln/>
        </p:spPr>
        <p:txBody>
          <a:bodyPr wrap="square" lIns="0" tIns="0" rIns="0" bIns="0" rtlCol="0" anchor="ctr"/>
          <a:lstStyle/>
          <a:p>
            <a:pPr algn="ctr" indent="0" marL="0">
              <a:buNone/>
            </a:pPr>
            <a:r>
              <a:rPr lang="en-US" sz="1200" b="1" dirty="0">
                <a:solidFill>
                  <a:srgbClr val="4C8068"/>
                </a:solidFill>
                <a:latin typeface="Calibri" pitchFamily="34" charset="0"/>
                <a:ea typeface="Calibri" pitchFamily="34" charset="-122"/>
                <a:cs typeface="Calibri" pitchFamily="34" charset="-120"/>
              </a:rPr>
              <a:t>Scenario 2: Disaster Recovery</a:t>
            </a:r>
            <a:endParaRPr lang="en-US" sz="1200" dirty="0"/>
          </a:p>
        </p:txBody>
      </p:sp>
      <p:sp>
        <p:nvSpPr>
          <p:cNvPr id="4" name="Text 2"/>
          <p:cNvSpPr txBox="1"/>
          <p:nvPr/>
        </p:nvSpPr>
        <p:spPr>
          <a:xfrm>
            <a:off x="548640" y="749808"/>
            <a:ext cx="11064240" cy="640080"/>
          </a:xfrm>
          <a:prstGeom prst="rect">
            <a:avLst/>
          </a:prstGeom>
          <a:noFill/>
          <a:ln/>
        </p:spPr>
        <p:txBody>
          <a:bodyPr wrap="square" lIns="0" tIns="0" rIns="0" bIns="0" rtlCol="0" anchor="ctr"/>
          <a:lstStyle/>
          <a:p>
            <a:pPr indent="0" marL="0">
              <a:buNone/>
            </a:pPr>
            <a:r>
              <a:rPr lang="en-US" sz="2800" b="1" dirty="0">
                <a:solidFill>
                  <a:srgbClr val="23405A"/>
                </a:solidFill>
                <a:latin typeface="Calibri" pitchFamily="34" charset="0"/>
                <a:ea typeface="Calibri" pitchFamily="34" charset="-122"/>
                <a:cs typeface="Calibri" pitchFamily="34" charset="-120"/>
              </a:rPr>
              <a:t>T+24h: Beyond SLA</a:t>
            </a:r>
            <a:endParaRPr lang="en-US" sz="2800" dirty="0"/>
          </a:p>
        </p:txBody>
      </p:sp>
      <p:sp>
        <p:nvSpPr>
          <p:cNvPr id="5" name="Shape 3"/>
          <p:cNvSpPr/>
          <p:nvPr/>
        </p:nvSpPr>
        <p:spPr>
          <a:xfrm>
            <a:off x="10705795" y="347472"/>
            <a:ext cx="937260" cy="329184"/>
          </a:xfrm>
          <a:prstGeom prst="roundRect">
            <a:avLst>
              <a:gd name="adj" fmla="val 50000"/>
            </a:avLst>
          </a:prstGeom>
          <a:solidFill>
            <a:srgbClr val="FFFFFF"/>
          </a:solidFill>
          <a:ln w="12700">
            <a:solidFill>
              <a:srgbClr val="FFFFFF"/>
            </a:solidFill>
            <a:prstDash val="solid"/>
          </a:ln>
        </p:spPr>
      </p:sp>
      <p:sp>
        <p:nvSpPr>
          <p:cNvPr id="6" name="Text 4"/>
          <p:cNvSpPr txBox="1"/>
          <p:nvPr/>
        </p:nvSpPr>
        <p:spPr>
          <a:xfrm>
            <a:off x="10705795" y="347472"/>
            <a:ext cx="937260" cy="329184"/>
          </a:xfrm>
          <a:prstGeom prst="rect">
            <a:avLst/>
          </a:prstGeom>
          <a:noFill/>
          <a:ln/>
        </p:spPr>
        <p:txBody>
          <a:bodyPr wrap="square" lIns="0" tIns="0" rIns="0" bIns="0" rtlCol="0" anchor="ctr"/>
          <a:lstStyle/>
          <a:p>
            <a:pPr algn="ctr" indent="0" marL="0">
              <a:buNone/>
            </a:pPr>
            <a:r>
              <a:rPr lang="en-US" sz="1200" dirty="0">
                <a:solidFill>
                  <a:srgbClr val="465A69"/>
                </a:solidFill>
                <a:latin typeface="Calibri" pitchFamily="34" charset="0"/>
                <a:ea typeface="Calibri" pitchFamily="34" charset="-122"/>
                <a:cs typeface="Calibri" pitchFamily="34" charset="-120"/>
              </a:rPr>
              <a:t>Hotwash</a:t>
            </a:r>
            <a:endParaRPr lang="en-US" sz="1200" dirty="0"/>
          </a:p>
        </p:txBody>
      </p:sp>
      <p:sp>
        <p:nvSpPr>
          <p:cNvPr id="7" name="Shape 5"/>
          <p:cNvSpPr/>
          <p:nvPr/>
        </p:nvSpPr>
        <p:spPr>
          <a:xfrm>
            <a:off x="9608515" y="347472"/>
            <a:ext cx="1024128" cy="329184"/>
          </a:xfrm>
          <a:prstGeom prst="roundRect">
            <a:avLst>
              <a:gd name="adj" fmla="val 50000"/>
            </a:avLst>
          </a:prstGeom>
          <a:solidFill>
            <a:srgbClr val="FFFFFF"/>
          </a:solidFill>
          <a:ln w="12700">
            <a:solidFill>
              <a:srgbClr val="FFFFFF"/>
            </a:solidFill>
            <a:prstDash val="solid"/>
          </a:ln>
        </p:spPr>
      </p:sp>
      <p:sp>
        <p:nvSpPr>
          <p:cNvPr id="8" name="Text 6"/>
          <p:cNvSpPr txBox="1"/>
          <p:nvPr/>
        </p:nvSpPr>
        <p:spPr>
          <a:xfrm>
            <a:off x="9608515" y="347472"/>
            <a:ext cx="1024128" cy="329184"/>
          </a:xfrm>
          <a:prstGeom prst="rect">
            <a:avLst/>
          </a:prstGeom>
          <a:noFill/>
          <a:ln/>
        </p:spPr>
        <p:txBody>
          <a:bodyPr wrap="square" lIns="0" tIns="0" rIns="0" bIns="0" rtlCol="0" anchor="ctr"/>
          <a:lstStyle/>
          <a:p>
            <a:pPr algn="ctr" indent="0" marL="0">
              <a:buNone/>
            </a:pPr>
            <a:r>
              <a:rPr lang="en-US" sz="1200" dirty="0">
                <a:solidFill>
                  <a:srgbClr val="465A69"/>
                </a:solidFill>
                <a:latin typeface="Calibri" pitchFamily="34" charset="0"/>
                <a:ea typeface="Calibri" pitchFamily="34" charset="-122"/>
                <a:cs typeface="Calibri" pitchFamily="34" charset="-120"/>
              </a:rPr>
              <a:t>Recovery</a:t>
            </a:r>
            <a:endParaRPr lang="en-US" sz="1200" dirty="0"/>
          </a:p>
        </p:txBody>
      </p:sp>
      <p:sp>
        <p:nvSpPr>
          <p:cNvPr id="9" name="Shape 7"/>
          <p:cNvSpPr/>
          <p:nvPr/>
        </p:nvSpPr>
        <p:spPr>
          <a:xfrm>
            <a:off x="8598103" y="347472"/>
            <a:ext cx="937260" cy="329184"/>
          </a:xfrm>
          <a:prstGeom prst="roundRect">
            <a:avLst>
              <a:gd name="adj" fmla="val 50000"/>
            </a:avLst>
          </a:prstGeom>
          <a:solidFill>
            <a:srgbClr val="4C8068"/>
          </a:solidFill>
          <a:ln w="12700">
            <a:solidFill>
              <a:srgbClr val="4C8068"/>
            </a:solidFill>
            <a:prstDash val="solid"/>
          </a:ln>
        </p:spPr>
      </p:sp>
      <p:sp>
        <p:nvSpPr>
          <p:cNvPr id="10" name="Text 8"/>
          <p:cNvSpPr txBox="1"/>
          <p:nvPr/>
        </p:nvSpPr>
        <p:spPr>
          <a:xfrm>
            <a:off x="8598103" y="347472"/>
            <a:ext cx="93726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Injects</a:t>
            </a:r>
            <a:endParaRPr lang="en-US" sz="1200" dirty="0"/>
          </a:p>
        </p:txBody>
      </p:sp>
      <p:sp>
        <p:nvSpPr>
          <p:cNvPr id="11" name="Shape 9"/>
          <p:cNvSpPr/>
          <p:nvPr/>
        </p:nvSpPr>
        <p:spPr>
          <a:xfrm>
            <a:off x="7674559" y="347472"/>
            <a:ext cx="850392" cy="329184"/>
          </a:xfrm>
          <a:prstGeom prst="roundRect">
            <a:avLst>
              <a:gd name="adj" fmla="val 50000"/>
            </a:avLst>
          </a:prstGeom>
          <a:solidFill>
            <a:srgbClr val="F1F8F3"/>
          </a:solidFill>
          <a:ln w="12700">
            <a:solidFill>
              <a:srgbClr val="F1F8F3"/>
            </a:solidFill>
            <a:prstDash val="solid"/>
          </a:ln>
        </p:spPr>
      </p:sp>
      <p:sp>
        <p:nvSpPr>
          <p:cNvPr id="12" name="Text 10"/>
          <p:cNvSpPr txBox="1"/>
          <p:nvPr/>
        </p:nvSpPr>
        <p:spPr>
          <a:xfrm>
            <a:off x="7674559" y="347472"/>
            <a:ext cx="850392" cy="329184"/>
          </a:xfrm>
          <a:prstGeom prst="rect">
            <a:avLst/>
          </a:prstGeom>
          <a:noFill/>
          <a:ln/>
        </p:spPr>
        <p:txBody>
          <a:bodyPr wrap="square" lIns="0" tIns="0" rIns="0" bIns="0" rtlCol="0" anchor="ctr"/>
          <a:lstStyle/>
          <a:p>
            <a:pPr algn="ctr" indent="0" marL="0">
              <a:buNone/>
            </a:pPr>
            <a:r>
              <a:rPr lang="en-US" sz="1200" dirty="0">
                <a:solidFill>
                  <a:srgbClr val="4C8068"/>
                </a:solidFill>
                <a:latin typeface="Calibri" pitchFamily="34" charset="0"/>
                <a:ea typeface="Calibri" pitchFamily="34" charset="-122"/>
                <a:cs typeface="Calibri" pitchFamily="34" charset="-120"/>
              </a:rPr>
              <a:t>Decide</a:t>
            </a:r>
            <a:endParaRPr lang="en-US" sz="1200" dirty="0"/>
          </a:p>
        </p:txBody>
      </p:sp>
      <p:sp>
        <p:nvSpPr>
          <p:cNvPr id="13" name="Shape 11"/>
          <p:cNvSpPr/>
          <p:nvPr/>
        </p:nvSpPr>
        <p:spPr>
          <a:xfrm>
            <a:off x="7011619" y="347472"/>
            <a:ext cx="589788" cy="329184"/>
          </a:xfrm>
          <a:prstGeom prst="roundRect">
            <a:avLst>
              <a:gd name="adj" fmla="val 50000"/>
            </a:avLst>
          </a:prstGeom>
          <a:solidFill>
            <a:srgbClr val="F1F8F3"/>
          </a:solidFill>
          <a:ln w="12700">
            <a:solidFill>
              <a:srgbClr val="F1F8F3"/>
            </a:solidFill>
            <a:prstDash val="solid"/>
          </a:ln>
        </p:spPr>
      </p:sp>
      <p:sp>
        <p:nvSpPr>
          <p:cNvPr id="14" name="Text 12"/>
          <p:cNvSpPr txBox="1"/>
          <p:nvPr/>
        </p:nvSpPr>
        <p:spPr>
          <a:xfrm>
            <a:off x="7011619" y="347472"/>
            <a:ext cx="589788" cy="329184"/>
          </a:xfrm>
          <a:prstGeom prst="rect">
            <a:avLst/>
          </a:prstGeom>
          <a:noFill/>
          <a:ln/>
        </p:spPr>
        <p:txBody>
          <a:bodyPr wrap="square" lIns="0" tIns="0" rIns="0" bIns="0" rtlCol="0" anchor="ctr"/>
          <a:lstStyle/>
          <a:p>
            <a:pPr algn="ctr" indent="0" marL="0">
              <a:buNone/>
            </a:pPr>
            <a:r>
              <a:rPr lang="en-US" sz="1200" dirty="0">
                <a:solidFill>
                  <a:srgbClr val="4C8068"/>
                </a:solidFill>
                <a:latin typeface="Calibri" pitchFamily="34" charset="0"/>
                <a:ea typeface="Calibri" pitchFamily="34" charset="-122"/>
                <a:cs typeface="Calibri" pitchFamily="34" charset="-120"/>
              </a:rPr>
              <a:t>T+0</a:t>
            </a:r>
            <a:endParaRPr lang="en-US" sz="1200" dirty="0"/>
          </a:p>
        </p:txBody>
      </p:sp>
      <p:sp>
        <p:nvSpPr>
          <p:cNvPr id="15" name="Shape 13"/>
          <p:cNvSpPr/>
          <p:nvPr/>
        </p:nvSpPr>
        <p:spPr>
          <a:xfrm>
            <a:off x="5740603" y="347472"/>
            <a:ext cx="1197864" cy="329184"/>
          </a:xfrm>
          <a:prstGeom prst="roundRect">
            <a:avLst>
              <a:gd name="adj" fmla="val 50000"/>
            </a:avLst>
          </a:prstGeom>
          <a:solidFill>
            <a:srgbClr val="F1F8F3"/>
          </a:solidFill>
          <a:ln w="12700">
            <a:solidFill>
              <a:srgbClr val="F1F8F3"/>
            </a:solidFill>
            <a:prstDash val="solid"/>
          </a:ln>
        </p:spPr>
      </p:sp>
      <p:sp>
        <p:nvSpPr>
          <p:cNvPr id="16" name="Text 14"/>
          <p:cNvSpPr txBox="1"/>
          <p:nvPr/>
        </p:nvSpPr>
        <p:spPr>
          <a:xfrm>
            <a:off x="5740603" y="347472"/>
            <a:ext cx="1197864" cy="329184"/>
          </a:xfrm>
          <a:prstGeom prst="rect">
            <a:avLst/>
          </a:prstGeom>
          <a:noFill/>
          <a:ln/>
        </p:spPr>
        <p:txBody>
          <a:bodyPr wrap="square" lIns="0" tIns="0" rIns="0" bIns="0" rtlCol="0" anchor="ctr"/>
          <a:lstStyle/>
          <a:p>
            <a:pPr algn="ctr" indent="0" marL="0">
              <a:buNone/>
            </a:pPr>
            <a:r>
              <a:rPr lang="en-US" sz="1200" dirty="0">
                <a:solidFill>
                  <a:srgbClr val="4C8068"/>
                </a:solidFill>
                <a:latin typeface="Calibri" pitchFamily="34" charset="0"/>
                <a:ea typeface="Calibri" pitchFamily="34" charset="-122"/>
                <a:cs typeface="Calibri" pitchFamily="34" charset="-120"/>
              </a:rPr>
              <a:t>Background</a:t>
            </a:r>
            <a:endParaRPr lang="en-US" sz="1200" dirty="0"/>
          </a:p>
        </p:txBody>
      </p:sp>
      <p:sp>
        <p:nvSpPr>
          <p:cNvPr id="17" name="Shape 15"/>
          <p:cNvSpPr/>
          <p:nvPr/>
        </p:nvSpPr>
        <p:spPr>
          <a:xfrm>
            <a:off x="548640" y="1600200"/>
            <a:ext cx="2377440" cy="4572000"/>
          </a:xfrm>
          <a:prstGeom prst="roundRect">
            <a:avLst>
              <a:gd name="adj" fmla="val 5385"/>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18" name="Text 16"/>
          <p:cNvSpPr txBox="1"/>
          <p:nvPr/>
        </p:nvSpPr>
        <p:spPr>
          <a:xfrm>
            <a:off x="822960" y="1783080"/>
            <a:ext cx="1874520" cy="320040"/>
          </a:xfrm>
          <a:prstGeom prst="rect">
            <a:avLst/>
          </a:prstGeom>
          <a:noFill/>
          <a:ln/>
        </p:spPr>
        <p:txBody>
          <a:bodyPr wrap="square" lIns="0" tIns="0" rIns="0" bIns="0" rtlCol="0" anchor="t"/>
          <a:lstStyle/>
          <a:p>
            <a:pPr indent="0" marL="0">
              <a:buNone/>
            </a:pPr>
            <a:r>
              <a:rPr lang="en-US" sz="1400" b="1" dirty="0">
                <a:solidFill>
                  <a:srgbClr val="465A69"/>
                </a:solidFill>
                <a:latin typeface="Calibri" pitchFamily="34" charset="0"/>
                <a:ea typeface="Calibri" pitchFamily="34" charset="-122"/>
                <a:cs typeface="Calibri" pitchFamily="34" charset="-120"/>
              </a:rPr>
              <a:t>Timeline</a:t>
            </a:r>
            <a:endParaRPr lang="en-US" sz="1400" dirty="0"/>
          </a:p>
        </p:txBody>
      </p:sp>
      <p:sp>
        <p:nvSpPr>
          <p:cNvPr id="19" name="Shape 17"/>
          <p:cNvSpPr/>
          <p:nvPr/>
        </p:nvSpPr>
        <p:spPr>
          <a:xfrm>
            <a:off x="905256" y="2551176"/>
            <a:ext cx="0" cy="257338"/>
          </a:xfrm>
          <a:prstGeom prst="line">
            <a:avLst/>
          </a:prstGeom>
          <a:noFill/>
          <a:ln w="19050">
            <a:solidFill>
              <a:srgbClr val="4C8068"/>
            </a:solidFill>
            <a:prstDash val="solid"/>
          </a:ln>
        </p:spPr>
      </p:sp>
      <p:sp>
        <p:nvSpPr>
          <p:cNvPr id="20" name="Shape 18"/>
          <p:cNvSpPr/>
          <p:nvPr/>
        </p:nvSpPr>
        <p:spPr>
          <a:xfrm>
            <a:off x="777240" y="2267712"/>
            <a:ext cx="256032" cy="256032"/>
          </a:xfrm>
          <a:prstGeom prst="ellipse">
            <a:avLst/>
          </a:prstGeom>
          <a:solidFill>
            <a:srgbClr val="F1F8F3"/>
          </a:solidFill>
          <a:ln w="12700">
            <a:solidFill>
              <a:srgbClr val="F1F8F3"/>
            </a:solidFill>
            <a:prstDash val="solid"/>
          </a:ln>
        </p:spPr>
      </p:sp>
      <p:sp>
        <p:nvSpPr>
          <p:cNvPr id="21" name="Text 19"/>
          <p:cNvSpPr txBox="1"/>
          <p:nvPr/>
        </p:nvSpPr>
        <p:spPr>
          <a:xfrm>
            <a:off x="1188720" y="2203704"/>
            <a:ext cx="1645920" cy="568234"/>
          </a:xfrm>
          <a:prstGeom prst="rect">
            <a:avLst/>
          </a:prstGeom>
          <a:noFill/>
          <a:ln/>
        </p:spPr>
        <p:txBody>
          <a:bodyPr wrap="square" lIns="0" tIns="0" rIns="0" bIns="0" rtlCol="0" anchor="t"/>
          <a:lstStyle/>
          <a:p>
            <a:pPr indent="0" marL="0">
              <a:buNone/>
            </a:pPr>
            <a:r>
              <a:rPr lang="en-US" sz="1200" b="1" dirty="0">
                <a:solidFill>
                  <a:srgbClr val="465A69"/>
                </a:solidFill>
                <a:latin typeface="Calibri" pitchFamily="34" charset="0"/>
                <a:ea typeface="Calibri" pitchFamily="34" charset="-122"/>
                <a:cs typeface="Calibri" pitchFamily="34" charset="-120"/>
              </a:rPr>
              <a:t>T+0</a:t>
            </a:r>
            <a:endParaRPr lang="en-US" sz="1200" dirty="0"/>
          </a:p>
          <a:p>
            <a:pPr indent="0" marL="0">
              <a:buNone/>
            </a:pPr>
            <a:r>
              <a:rPr lang="en-US" sz="1200" dirty="0">
                <a:solidFill>
                  <a:srgbClr val="1E2E3A"/>
                </a:solidFill>
                <a:latin typeface="Calibri" pitchFamily="34" charset="0"/>
                <a:ea typeface="Calibri" pitchFamily="34" charset="-122"/>
                <a:cs typeface="Calibri" pitchFamily="34" charset="-120"/>
              </a:rPr>
              <a:t>Initial alert</a:t>
            </a:r>
            <a:endParaRPr lang="en-US" sz="1200" dirty="0"/>
          </a:p>
        </p:txBody>
      </p:sp>
      <p:sp>
        <p:nvSpPr>
          <p:cNvPr id="22" name="Shape 20"/>
          <p:cNvSpPr/>
          <p:nvPr/>
        </p:nvSpPr>
        <p:spPr>
          <a:xfrm>
            <a:off x="905256" y="3119410"/>
            <a:ext cx="0" cy="257338"/>
          </a:xfrm>
          <a:prstGeom prst="line">
            <a:avLst/>
          </a:prstGeom>
          <a:noFill/>
          <a:ln w="19050">
            <a:solidFill>
              <a:srgbClr val="4C8068"/>
            </a:solidFill>
            <a:prstDash val="solid"/>
          </a:ln>
        </p:spPr>
      </p:sp>
      <p:sp>
        <p:nvSpPr>
          <p:cNvPr id="23" name="Shape 21"/>
          <p:cNvSpPr/>
          <p:nvPr/>
        </p:nvSpPr>
        <p:spPr>
          <a:xfrm>
            <a:off x="777240" y="2835946"/>
            <a:ext cx="256032" cy="256032"/>
          </a:xfrm>
          <a:prstGeom prst="ellipse">
            <a:avLst/>
          </a:prstGeom>
          <a:solidFill>
            <a:srgbClr val="F1F8F3"/>
          </a:solidFill>
          <a:ln w="12700">
            <a:solidFill>
              <a:srgbClr val="F1F8F3"/>
            </a:solidFill>
            <a:prstDash val="solid"/>
          </a:ln>
        </p:spPr>
      </p:sp>
      <p:sp>
        <p:nvSpPr>
          <p:cNvPr id="24" name="Text 22"/>
          <p:cNvSpPr txBox="1"/>
          <p:nvPr/>
        </p:nvSpPr>
        <p:spPr>
          <a:xfrm>
            <a:off x="1188720" y="2771938"/>
            <a:ext cx="1645920" cy="568234"/>
          </a:xfrm>
          <a:prstGeom prst="rect">
            <a:avLst/>
          </a:prstGeom>
          <a:noFill/>
          <a:ln/>
        </p:spPr>
        <p:txBody>
          <a:bodyPr wrap="square" lIns="0" tIns="0" rIns="0" bIns="0" rtlCol="0" anchor="t"/>
          <a:lstStyle/>
          <a:p>
            <a:pPr indent="0" marL="0">
              <a:buNone/>
            </a:pPr>
            <a:r>
              <a:rPr lang="en-US" sz="1200" b="1" dirty="0">
                <a:solidFill>
                  <a:srgbClr val="465A69"/>
                </a:solidFill>
                <a:latin typeface="Calibri" pitchFamily="34" charset="0"/>
                <a:ea typeface="Calibri" pitchFamily="34" charset="-122"/>
                <a:cs typeface="Calibri" pitchFamily="34" charset="-120"/>
              </a:rPr>
              <a:t>T+30m</a:t>
            </a:r>
            <a:endParaRPr lang="en-US" sz="1200" dirty="0"/>
          </a:p>
          <a:p>
            <a:pPr indent="0" marL="0">
              <a:buNone/>
            </a:pPr>
            <a:r>
              <a:rPr lang="en-US" sz="1200" dirty="0">
                <a:solidFill>
                  <a:srgbClr val="1E2E3A"/>
                </a:solidFill>
                <a:latin typeface="Calibri" pitchFamily="34" charset="0"/>
                <a:ea typeface="Calibri" pitchFamily="34" charset="-122"/>
                <a:cs typeface="Calibri" pitchFamily="34" charset="-120"/>
              </a:rPr>
              <a:t>Scope expands</a:t>
            </a:r>
            <a:endParaRPr lang="en-US" sz="1200" dirty="0"/>
          </a:p>
        </p:txBody>
      </p:sp>
      <p:sp>
        <p:nvSpPr>
          <p:cNvPr id="25" name="Shape 23"/>
          <p:cNvSpPr/>
          <p:nvPr/>
        </p:nvSpPr>
        <p:spPr>
          <a:xfrm>
            <a:off x="905256" y="3687645"/>
            <a:ext cx="0" cy="257338"/>
          </a:xfrm>
          <a:prstGeom prst="line">
            <a:avLst/>
          </a:prstGeom>
          <a:noFill/>
          <a:ln w="19050">
            <a:solidFill>
              <a:srgbClr val="4C8068"/>
            </a:solidFill>
            <a:prstDash val="solid"/>
          </a:ln>
        </p:spPr>
      </p:sp>
      <p:sp>
        <p:nvSpPr>
          <p:cNvPr id="26" name="Shape 24"/>
          <p:cNvSpPr/>
          <p:nvPr/>
        </p:nvSpPr>
        <p:spPr>
          <a:xfrm>
            <a:off x="777240" y="3404181"/>
            <a:ext cx="256032" cy="256032"/>
          </a:xfrm>
          <a:prstGeom prst="ellipse">
            <a:avLst/>
          </a:prstGeom>
          <a:solidFill>
            <a:srgbClr val="F1F8F3"/>
          </a:solidFill>
          <a:ln w="12700">
            <a:solidFill>
              <a:srgbClr val="F1F8F3"/>
            </a:solidFill>
            <a:prstDash val="solid"/>
          </a:ln>
        </p:spPr>
      </p:sp>
      <p:sp>
        <p:nvSpPr>
          <p:cNvPr id="27" name="Text 25"/>
          <p:cNvSpPr txBox="1"/>
          <p:nvPr/>
        </p:nvSpPr>
        <p:spPr>
          <a:xfrm>
            <a:off x="1188720" y="3340173"/>
            <a:ext cx="1645920" cy="568234"/>
          </a:xfrm>
          <a:prstGeom prst="rect">
            <a:avLst/>
          </a:prstGeom>
          <a:noFill/>
          <a:ln/>
        </p:spPr>
        <p:txBody>
          <a:bodyPr wrap="square" lIns="0" tIns="0" rIns="0" bIns="0" rtlCol="0" anchor="t"/>
          <a:lstStyle/>
          <a:p>
            <a:pPr indent="0" marL="0">
              <a:buNone/>
            </a:pPr>
            <a:r>
              <a:rPr lang="en-US" sz="1200" b="1" dirty="0">
                <a:solidFill>
                  <a:srgbClr val="465A69"/>
                </a:solidFill>
                <a:latin typeface="Calibri" pitchFamily="34" charset="0"/>
                <a:ea typeface="Calibri" pitchFamily="34" charset="-122"/>
                <a:cs typeface="Calibri" pitchFamily="34" charset="-120"/>
              </a:rPr>
              <a:t>T+2h</a:t>
            </a:r>
            <a:endParaRPr lang="en-US" sz="1200" dirty="0"/>
          </a:p>
          <a:p>
            <a:pPr indent="0" marL="0">
              <a:buNone/>
            </a:pPr>
            <a:r>
              <a:rPr lang="en-US" sz="1200" dirty="0">
                <a:solidFill>
                  <a:srgbClr val="1E2E3A"/>
                </a:solidFill>
                <a:latin typeface="Calibri" pitchFamily="34" charset="0"/>
                <a:ea typeface="Calibri" pitchFamily="34" charset="-122"/>
                <a:cs typeface="Calibri" pitchFamily="34" charset="-120"/>
              </a:rPr>
              <a:t>Provider incident declared</a:t>
            </a:r>
            <a:endParaRPr lang="en-US" sz="1200" dirty="0"/>
          </a:p>
        </p:txBody>
      </p:sp>
      <p:sp>
        <p:nvSpPr>
          <p:cNvPr id="28" name="Shape 26"/>
          <p:cNvSpPr/>
          <p:nvPr/>
        </p:nvSpPr>
        <p:spPr>
          <a:xfrm>
            <a:off x="905256" y="4255879"/>
            <a:ext cx="0" cy="257338"/>
          </a:xfrm>
          <a:prstGeom prst="line">
            <a:avLst/>
          </a:prstGeom>
          <a:noFill/>
          <a:ln w="19050">
            <a:solidFill>
              <a:srgbClr val="4C8068"/>
            </a:solidFill>
            <a:prstDash val="solid"/>
          </a:ln>
        </p:spPr>
      </p:sp>
      <p:sp>
        <p:nvSpPr>
          <p:cNvPr id="29" name="Shape 27"/>
          <p:cNvSpPr/>
          <p:nvPr/>
        </p:nvSpPr>
        <p:spPr>
          <a:xfrm>
            <a:off x="777240" y="3972415"/>
            <a:ext cx="256032" cy="256032"/>
          </a:xfrm>
          <a:prstGeom prst="ellipse">
            <a:avLst/>
          </a:prstGeom>
          <a:solidFill>
            <a:srgbClr val="F1F8F3"/>
          </a:solidFill>
          <a:ln w="12700">
            <a:solidFill>
              <a:srgbClr val="F1F8F3"/>
            </a:solidFill>
            <a:prstDash val="solid"/>
          </a:ln>
        </p:spPr>
      </p:sp>
      <p:sp>
        <p:nvSpPr>
          <p:cNvPr id="30" name="Text 28"/>
          <p:cNvSpPr txBox="1"/>
          <p:nvPr/>
        </p:nvSpPr>
        <p:spPr>
          <a:xfrm>
            <a:off x="1188720" y="3908407"/>
            <a:ext cx="1645920" cy="568234"/>
          </a:xfrm>
          <a:prstGeom prst="rect">
            <a:avLst/>
          </a:prstGeom>
          <a:noFill/>
          <a:ln/>
        </p:spPr>
        <p:txBody>
          <a:bodyPr wrap="square" lIns="0" tIns="0" rIns="0" bIns="0" rtlCol="0" anchor="t"/>
          <a:lstStyle/>
          <a:p>
            <a:pPr indent="0" marL="0">
              <a:buNone/>
            </a:pPr>
            <a:r>
              <a:rPr lang="en-US" sz="1200" b="1" dirty="0">
                <a:solidFill>
                  <a:srgbClr val="465A69"/>
                </a:solidFill>
                <a:latin typeface="Calibri" pitchFamily="34" charset="0"/>
                <a:ea typeface="Calibri" pitchFamily="34" charset="-122"/>
                <a:cs typeface="Calibri" pitchFamily="34" charset="-120"/>
              </a:rPr>
              <a:t>T+6h</a:t>
            </a:r>
            <a:endParaRPr lang="en-US" sz="1200" dirty="0"/>
          </a:p>
          <a:p>
            <a:pPr indent="0" marL="0">
              <a:buNone/>
            </a:pPr>
            <a:r>
              <a:rPr lang="en-US" sz="1200" dirty="0">
                <a:solidFill>
                  <a:srgbClr val="1E2E3A"/>
                </a:solidFill>
                <a:latin typeface="Calibri" pitchFamily="34" charset="0"/>
                <a:ea typeface="Calibri" pitchFamily="34" charset="-122"/>
                <a:cs typeface="Calibri" pitchFamily="34" charset="-120"/>
              </a:rPr>
              <a:t>Business impact</a:t>
            </a:r>
            <a:endParaRPr lang="en-US" sz="1200" dirty="0"/>
          </a:p>
        </p:txBody>
      </p:sp>
      <p:sp>
        <p:nvSpPr>
          <p:cNvPr id="31" name="Shape 29"/>
          <p:cNvSpPr/>
          <p:nvPr/>
        </p:nvSpPr>
        <p:spPr>
          <a:xfrm>
            <a:off x="905256" y="4824113"/>
            <a:ext cx="0" cy="257338"/>
          </a:xfrm>
          <a:prstGeom prst="line">
            <a:avLst/>
          </a:prstGeom>
          <a:noFill/>
          <a:ln w="19050">
            <a:solidFill>
              <a:srgbClr val="4C8068"/>
            </a:solidFill>
            <a:prstDash val="solid"/>
          </a:ln>
        </p:spPr>
      </p:sp>
      <p:sp>
        <p:nvSpPr>
          <p:cNvPr id="32" name="Shape 30"/>
          <p:cNvSpPr/>
          <p:nvPr/>
        </p:nvSpPr>
        <p:spPr>
          <a:xfrm>
            <a:off x="777240" y="4540649"/>
            <a:ext cx="256032" cy="256032"/>
          </a:xfrm>
          <a:prstGeom prst="ellipse">
            <a:avLst/>
          </a:prstGeom>
          <a:solidFill>
            <a:srgbClr val="F1F8F3"/>
          </a:solidFill>
          <a:ln w="12700">
            <a:solidFill>
              <a:srgbClr val="F1F8F3"/>
            </a:solidFill>
            <a:prstDash val="solid"/>
          </a:ln>
        </p:spPr>
      </p:sp>
      <p:sp>
        <p:nvSpPr>
          <p:cNvPr id="33" name="Text 31"/>
          <p:cNvSpPr txBox="1"/>
          <p:nvPr/>
        </p:nvSpPr>
        <p:spPr>
          <a:xfrm>
            <a:off x="1188720" y="4476641"/>
            <a:ext cx="1645920" cy="568234"/>
          </a:xfrm>
          <a:prstGeom prst="rect">
            <a:avLst/>
          </a:prstGeom>
          <a:noFill/>
          <a:ln/>
        </p:spPr>
        <p:txBody>
          <a:bodyPr wrap="square" lIns="0" tIns="0" rIns="0" bIns="0" rtlCol="0" anchor="t"/>
          <a:lstStyle/>
          <a:p>
            <a:pPr indent="0" marL="0">
              <a:buNone/>
            </a:pPr>
            <a:r>
              <a:rPr lang="en-US" sz="1200" b="1" dirty="0">
                <a:solidFill>
                  <a:srgbClr val="465A69"/>
                </a:solidFill>
                <a:latin typeface="Calibri" pitchFamily="34" charset="0"/>
                <a:ea typeface="Calibri" pitchFamily="34" charset="-122"/>
                <a:cs typeface="Calibri" pitchFamily="34" charset="-120"/>
              </a:rPr>
              <a:t>T+12h</a:t>
            </a:r>
            <a:endParaRPr lang="en-US" sz="1200" dirty="0"/>
          </a:p>
          <a:p>
            <a:pPr indent="0" marL="0">
              <a:buNone/>
            </a:pPr>
            <a:r>
              <a:rPr lang="en-US" sz="1200" dirty="0">
                <a:solidFill>
                  <a:srgbClr val="1E2E3A"/>
                </a:solidFill>
                <a:latin typeface="Calibri" pitchFamily="34" charset="0"/>
                <a:ea typeface="Calibri" pitchFamily="34" charset="-122"/>
                <a:cs typeface="Calibri" pitchFamily="34" charset="-120"/>
              </a:rPr>
              <a:t>Extended outage</a:t>
            </a:r>
            <a:endParaRPr lang="en-US" sz="1200" dirty="0"/>
          </a:p>
        </p:txBody>
      </p:sp>
      <p:sp>
        <p:nvSpPr>
          <p:cNvPr id="34" name="Shape 32"/>
          <p:cNvSpPr/>
          <p:nvPr/>
        </p:nvSpPr>
        <p:spPr>
          <a:xfrm>
            <a:off x="905256" y="5392347"/>
            <a:ext cx="0" cy="257338"/>
          </a:xfrm>
          <a:prstGeom prst="line">
            <a:avLst/>
          </a:prstGeom>
          <a:noFill/>
          <a:ln w="19050">
            <a:solidFill>
              <a:srgbClr val="C9D5D2"/>
            </a:solidFill>
            <a:prstDash val="solid"/>
          </a:ln>
        </p:spPr>
      </p:sp>
      <p:sp>
        <p:nvSpPr>
          <p:cNvPr id="35" name="Shape 33"/>
          <p:cNvSpPr/>
          <p:nvPr/>
        </p:nvSpPr>
        <p:spPr>
          <a:xfrm>
            <a:off x="777240" y="5108883"/>
            <a:ext cx="256032" cy="256032"/>
          </a:xfrm>
          <a:prstGeom prst="ellipse">
            <a:avLst/>
          </a:prstGeom>
          <a:solidFill>
            <a:srgbClr val="4C8068"/>
          </a:solidFill>
          <a:ln w="12700">
            <a:solidFill>
              <a:srgbClr val="4C8068"/>
            </a:solidFill>
            <a:prstDash val="solid"/>
          </a:ln>
        </p:spPr>
      </p:sp>
      <p:sp>
        <p:nvSpPr>
          <p:cNvPr id="36" name="Text 34"/>
          <p:cNvSpPr txBox="1"/>
          <p:nvPr/>
        </p:nvSpPr>
        <p:spPr>
          <a:xfrm>
            <a:off x="1188720" y="5044875"/>
            <a:ext cx="1645920" cy="568234"/>
          </a:xfrm>
          <a:prstGeom prst="rect">
            <a:avLst/>
          </a:prstGeom>
          <a:noFill/>
          <a:ln/>
        </p:spPr>
        <p:txBody>
          <a:bodyPr wrap="square" lIns="0" tIns="0" rIns="0" bIns="0" rtlCol="0" anchor="t"/>
          <a:lstStyle/>
          <a:p>
            <a:pPr indent="0" marL="0">
              <a:buNone/>
            </a:pPr>
            <a:r>
              <a:rPr lang="en-US" sz="1200" b="1" dirty="0">
                <a:solidFill>
                  <a:srgbClr val="4C8068"/>
                </a:solidFill>
                <a:latin typeface="Calibri" pitchFamily="34" charset="0"/>
                <a:ea typeface="Calibri" pitchFamily="34" charset="-122"/>
                <a:cs typeface="Calibri" pitchFamily="34" charset="-120"/>
              </a:rPr>
              <a:t>T+24h</a:t>
            </a:r>
            <a:endParaRPr lang="en-US" sz="1200" dirty="0"/>
          </a:p>
          <a:p>
            <a:pPr indent="0" marL="0">
              <a:buNone/>
            </a:pPr>
            <a:r>
              <a:rPr lang="en-US" sz="1200" b="1" dirty="0">
                <a:solidFill>
                  <a:srgbClr val="4C8068"/>
                </a:solidFill>
                <a:latin typeface="Calibri" pitchFamily="34" charset="0"/>
                <a:ea typeface="Calibri" pitchFamily="34" charset="-122"/>
                <a:cs typeface="Calibri" pitchFamily="34" charset="-120"/>
              </a:rPr>
              <a:t>Beyond SLA</a:t>
            </a:r>
            <a:endParaRPr lang="en-US" sz="1200" dirty="0"/>
          </a:p>
        </p:txBody>
      </p:sp>
      <p:sp>
        <p:nvSpPr>
          <p:cNvPr id="37" name="Shape 35"/>
          <p:cNvSpPr/>
          <p:nvPr/>
        </p:nvSpPr>
        <p:spPr>
          <a:xfrm>
            <a:off x="777240" y="5677118"/>
            <a:ext cx="256032" cy="256032"/>
          </a:xfrm>
          <a:prstGeom prst="ellipse">
            <a:avLst/>
          </a:prstGeom>
          <a:solidFill>
            <a:srgbClr val="FFFFFF"/>
          </a:solidFill>
          <a:ln w="15875">
            <a:solidFill>
              <a:srgbClr val="C9D5D2"/>
            </a:solidFill>
            <a:prstDash val="solid"/>
          </a:ln>
        </p:spPr>
      </p:sp>
      <p:sp>
        <p:nvSpPr>
          <p:cNvPr id="38" name="Shape 36"/>
          <p:cNvSpPr/>
          <p:nvPr/>
        </p:nvSpPr>
        <p:spPr>
          <a:xfrm>
            <a:off x="3154680" y="1600200"/>
            <a:ext cx="5696712" cy="3017520"/>
          </a:xfrm>
          <a:prstGeom prst="roundRect">
            <a:avLst>
              <a:gd name="adj" fmla="val 4242"/>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39" name="Shape 37"/>
          <p:cNvSpPr/>
          <p:nvPr/>
        </p:nvSpPr>
        <p:spPr>
          <a:xfrm>
            <a:off x="3429000" y="1810512"/>
            <a:ext cx="2880360" cy="384048"/>
          </a:xfrm>
          <a:prstGeom prst="roundRect">
            <a:avLst>
              <a:gd name="adj" fmla="val 50000"/>
            </a:avLst>
          </a:prstGeom>
          <a:solidFill>
            <a:srgbClr val="4C8068"/>
          </a:solidFill>
          <a:ln w="12700">
            <a:solidFill>
              <a:srgbClr val="4C8068"/>
            </a:solidFill>
            <a:prstDash val="solid"/>
          </a:ln>
        </p:spPr>
      </p:sp>
      <p:pic>
        <p:nvPicPr>
          <p:cNvPr id="40" name="Image 0" descr="preencoded.png">    </p:cNvPr>
          <p:cNvPicPr>
            <a:picLocks noChangeAspect="1"/>
          </p:cNvPicPr>
          <p:nvPr/>
        </p:nvPicPr>
        <p:blipFill>
          <a:blip r:embed="rId1"/>
          <a:stretch>
            <a:fillRect/>
          </a:stretch>
        </p:blipFill>
        <p:spPr>
          <a:xfrm>
            <a:off x="3547872" y="1874520"/>
            <a:ext cx="246888" cy="246888"/>
          </a:xfrm>
          <a:prstGeom prst="rect">
            <a:avLst/>
          </a:prstGeom>
        </p:spPr>
      </p:pic>
      <p:sp>
        <p:nvSpPr>
          <p:cNvPr id="41" name="Text 38"/>
          <p:cNvSpPr txBox="1"/>
          <p:nvPr/>
        </p:nvSpPr>
        <p:spPr>
          <a:xfrm>
            <a:off x="3867912" y="1810512"/>
            <a:ext cx="2423160" cy="38404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T+24h  |  Day 2, 8:00 AM</a:t>
            </a:r>
            <a:endParaRPr lang="en-US" sz="1300" dirty="0"/>
          </a:p>
        </p:txBody>
      </p:sp>
      <p:sp>
        <p:nvSpPr>
          <p:cNvPr id="42" name="Text 39"/>
          <p:cNvSpPr txBox="1"/>
          <p:nvPr/>
        </p:nvSpPr>
        <p:spPr>
          <a:xfrm>
            <a:off x="3429000" y="2286000"/>
            <a:ext cx="2743200" cy="256032"/>
          </a:xfrm>
          <a:prstGeom prst="rect">
            <a:avLst/>
          </a:prstGeom>
          <a:noFill/>
          <a:ln/>
        </p:spPr>
        <p:txBody>
          <a:bodyPr wrap="square" lIns="0" tIns="0" rIns="0" bIns="0" rtlCol="0" anchor="t"/>
          <a:lstStyle/>
          <a:p>
            <a:pPr indent="0" marL="0">
              <a:buNone/>
            </a:pPr>
            <a:r>
              <a:rPr lang="en-US" sz="1200" b="1" dirty="0">
                <a:solidFill>
                  <a:srgbClr val="465A69"/>
                </a:solidFill>
                <a:latin typeface="Calibri" pitchFamily="34" charset="0"/>
                <a:ea typeface="Calibri" pitchFamily="34" charset="-122"/>
                <a:cs typeface="Calibri" pitchFamily="34" charset="-120"/>
              </a:rPr>
              <a:t>New information</a:t>
            </a:r>
            <a:endParaRPr lang="en-US" sz="1200" dirty="0"/>
          </a:p>
        </p:txBody>
      </p:sp>
      <p:sp>
        <p:nvSpPr>
          <p:cNvPr id="43" name="Text 40"/>
          <p:cNvSpPr txBox="1"/>
          <p:nvPr/>
        </p:nvSpPr>
        <p:spPr>
          <a:xfrm>
            <a:off x="3429000" y="2560320"/>
            <a:ext cx="5166360" cy="1965960"/>
          </a:xfrm>
          <a:prstGeom prst="rect">
            <a:avLst/>
          </a:prstGeom>
          <a:noFill/>
          <a:ln/>
        </p:spPr>
        <p:txBody>
          <a:bodyPr wrap="square" lIns="0" tIns="0" rIns="0" bIns="0" rtlCol="0" anchor="t"/>
          <a:lstStyle/>
          <a:p>
            <a:pPr indent="0" marL="0">
              <a:buNone/>
            </a:pPr>
            <a:r>
              <a:rPr lang="en-US" sz="1800" dirty="0">
                <a:solidFill>
                  <a:srgbClr val="1E2E3A"/>
                </a:solidFill>
                <a:latin typeface="Calibri" pitchFamily="34" charset="0"/>
                <a:ea typeface="Calibri" pitchFamily="34" charset="-122"/>
                <a:cs typeface="Calibri" pitchFamily="34" charset="-120"/>
              </a:rPr>
              <a:t>The outage now exceeds your planning assumption and the provider's SLA.</a:t>
            </a:r>
            <a:endParaRPr lang="en-US" sz="1800" dirty="0"/>
          </a:p>
        </p:txBody>
      </p:sp>
      <p:sp>
        <p:nvSpPr>
          <p:cNvPr id="44" name="Shape 41"/>
          <p:cNvSpPr/>
          <p:nvPr/>
        </p:nvSpPr>
        <p:spPr>
          <a:xfrm>
            <a:off x="3154680" y="4800600"/>
            <a:ext cx="5696712" cy="1371600"/>
          </a:xfrm>
          <a:prstGeom prst="roundRect">
            <a:avLst>
              <a:gd name="adj" fmla="val 9333"/>
            </a:avLst>
          </a:prstGeom>
          <a:solidFill>
            <a:srgbClr val="F1F8F3"/>
          </a:solidFill>
          <a:ln w="12700">
            <a:solidFill>
              <a:srgbClr val="F1F8F3"/>
            </a:solidFill>
            <a:prstDash val="solid"/>
          </a:ln>
          <a:effectLst>
            <a:outerShdw sx="100000" sy="100000" kx="0" ky="0" algn="bl" rotWithShape="0" blurRad="177800" dist="50800" dir="5400000">
              <a:srgbClr val="1B4965">
                <a:alpha val="16000"/>
              </a:srgbClr>
            </a:outerShdw>
          </a:effectLst>
        </p:spPr>
      </p:sp>
      <p:sp>
        <p:nvSpPr>
          <p:cNvPr id="45" name="Text 42"/>
          <p:cNvSpPr txBox="1"/>
          <p:nvPr/>
        </p:nvSpPr>
        <p:spPr>
          <a:xfrm>
            <a:off x="3429000" y="4901184"/>
            <a:ext cx="2743200" cy="256032"/>
          </a:xfrm>
          <a:prstGeom prst="rect">
            <a:avLst/>
          </a:prstGeom>
          <a:noFill/>
          <a:ln/>
        </p:spPr>
        <p:txBody>
          <a:bodyPr wrap="square" lIns="0" tIns="0" rIns="0" bIns="0" rtlCol="0" anchor="t"/>
          <a:lstStyle/>
          <a:p>
            <a:pPr indent="0" marL="0">
              <a:buNone/>
            </a:pPr>
            <a:r>
              <a:rPr lang="en-US" sz="1300" b="1" dirty="0">
                <a:solidFill>
                  <a:srgbClr val="4C8068"/>
                </a:solidFill>
                <a:latin typeface="Calibri" pitchFamily="34" charset="0"/>
                <a:ea typeface="Calibri" pitchFamily="34" charset="-122"/>
                <a:cs typeface="Calibri" pitchFamily="34" charset="-120"/>
              </a:rPr>
              <a:t>Decide</a:t>
            </a:r>
            <a:endParaRPr lang="en-US" sz="1300" dirty="0"/>
          </a:p>
        </p:txBody>
      </p:sp>
      <p:sp>
        <p:nvSpPr>
          <p:cNvPr id="46" name="Text 43"/>
          <p:cNvSpPr txBox="1"/>
          <p:nvPr/>
        </p:nvSpPr>
        <p:spPr>
          <a:xfrm>
            <a:off x="3429000" y="5175504"/>
            <a:ext cx="5166360" cy="914400"/>
          </a:xfrm>
          <a:prstGeom prst="rect">
            <a:avLst/>
          </a:prstGeom>
          <a:noFill/>
          <a:ln/>
        </p:spPr>
        <p:txBody>
          <a:bodyPr wrap="square" lIns="0" tIns="0" rIns="0" bIns="0" rtlCol="0" anchor="t"/>
          <a:lstStyle/>
          <a:p>
            <a:pPr indent="0" marL="0">
              <a:buNone/>
            </a:pPr>
            <a:r>
              <a:rPr lang="en-US" sz="1400" b="1" dirty="0">
                <a:solidFill>
                  <a:srgbClr val="1E2E3A"/>
                </a:solidFill>
                <a:latin typeface="Calibri" pitchFamily="34" charset="0"/>
                <a:ea typeface="Calibri" pitchFamily="34" charset="-122"/>
                <a:cs typeface="Calibri" pitchFamily="34" charset="-120"/>
              </a:rPr>
              <a:t>What changes now? What alternate communications, authentication, document access, and business processes are activated?</a:t>
            </a:r>
            <a:endParaRPr lang="en-US" sz="1400" dirty="0"/>
          </a:p>
        </p:txBody>
      </p:sp>
      <p:sp>
        <p:nvSpPr>
          <p:cNvPr id="47" name="Shape 44"/>
          <p:cNvSpPr/>
          <p:nvPr/>
        </p:nvSpPr>
        <p:spPr>
          <a:xfrm>
            <a:off x="9079992" y="1600200"/>
            <a:ext cx="2560320" cy="4572000"/>
          </a:xfrm>
          <a:prstGeom prst="roundRect">
            <a:avLst>
              <a:gd name="adj" fmla="val 5000"/>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48" name="Text 45"/>
          <p:cNvSpPr txBox="1"/>
          <p:nvPr/>
        </p:nvSpPr>
        <p:spPr>
          <a:xfrm>
            <a:off x="9262872" y="1728216"/>
            <a:ext cx="2194560" cy="457200"/>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Provider status (simulated)</a:t>
            </a:r>
            <a:endParaRPr lang="en-US" sz="1300" dirty="0"/>
          </a:p>
        </p:txBody>
      </p:sp>
      <p:sp>
        <p:nvSpPr>
          <p:cNvPr id="49" name="Shape 46"/>
          <p:cNvSpPr/>
          <p:nvPr/>
        </p:nvSpPr>
        <p:spPr>
          <a:xfrm>
            <a:off x="9262872" y="2221992"/>
            <a:ext cx="2194560" cy="3767328"/>
          </a:xfrm>
          <a:prstGeom prst="roundRect">
            <a:avLst>
              <a:gd name="adj" fmla="val 3333"/>
            </a:avLst>
          </a:prstGeom>
          <a:solidFill>
            <a:srgbClr val="FFFFFF"/>
          </a:solidFill>
          <a:ln w="9525">
            <a:solidFill>
              <a:srgbClr val="C9D3DE"/>
            </a:solidFill>
            <a:prstDash val="solid"/>
          </a:ln>
        </p:spPr>
      </p:sp>
      <p:sp>
        <p:nvSpPr>
          <p:cNvPr id="50" name="Shape 47"/>
          <p:cNvSpPr/>
          <p:nvPr/>
        </p:nvSpPr>
        <p:spPr>
          <a:xfrm>
            <a:off x="9381744" y="2432304"/>
            <a:ext cx="109728" cy="109728"/>
          </a:xfrm>
          <a:prstGeom prst="rect">
            <a:avLst/>
          </a:prstGeom>
          <a:solidFill>
            <a:srgbClr val="D99A8A"/>
          </a:solidFill>
          <a:ln w="12700">
            <a:solidFill>
              <a:srgbClr val="D99A8A"/>
            </a:solidFill>
            <a:prstDash val="solid"/>
          </a:ln>
        </p:spPr>
      </p:sp>
      <p:sp>
        <p:nvSpPr>
          <p:cNvPr id="51" name="Shape 48"/>
          <p:cNvSpPr/>
          <p:nvPr/>
        </p:nvSpPr>
        <p:spPr>
          <a:xfrm>
            <a:off x="9500616" y="2432304"/>
            <a:ext cx="109728" cy="109728"/>
          </a:xfrm>
          <a:prstGeom prst="rect">
            <a:avLst/>
          </a:prstGeom>
          <a:solidFill>
            <a:srgbClr val="A9C38A"/>
          </a:solidFill>
          <a:ln w="12700">
            <a:solidFill>
              <a:srgbClr val="A9C38A"/>
            </a:solidFill>
            <a:prstDash val="solid"/>
          </a:ln>
        </p:spPr>
      </p:sp>
      <p:sp>
        <p:nvSpPr>
          <p:cNvPr id="52" name="Shape 49"/>
          <p:cNvSpPr/>
          <p:nvPr/>
        </p:nvSpPr>
        <p:spPr>
          <a:xfrm>
            <a:off x="9381744" y="2551176"/>
            <a:ext cx="109728" cy="109728"/>
          </a:xfrm>
          <a:prstGeom prst="rect">
            <a:avLst/>
          </a:prstGeom>
          <a:solidFill>
            <a:srgbClr val="8FBCD6"/>
          </a:solidFill>
          <a:ln w="12700">
            <a:solidFill>
              <a:srgbClr val="8FBCD6"/>
            </a:solidFill>
            <a:prstDash val="solid"/>
          </a:ln>
        </p:spPr>
      </p:sp>
      <p:sp>
        <p:nvSpPr>
          <p:cNvPr id="53" name="Shape 50"/>
          <p:cNvSpPr/>
          <p:nvPr/>
        </p:nvSpPr>
        <p:spPr>
          <a:xfrm>
            <a:off x="9500616" y="2551176"/>
            <a:ext cx="109728" cy="109728"/>
          </a:xfrm>
          <a:prstGeom prst="rect">
            <a:avLst/>
          </a:prstGeom>
          <a:solidFill>
            <a:srgbClr val="E0C58A"/>
          </a:solidFill>
          <a:ln w="12700">
            <a:solidFill>
              <a:srgbClr val="E0C58A"/>
            </a:solidFill>
            <a:prstDash val="solid"/>
          </a:ln>
        </p:spPr>
      </p:sp>
      <p:sp>
        <p:nvSpPr>
          <p:cNvPr id="54" name="Text 51"/>
          <p:cNvSpPr txBox="1"/>
          <p:nvPr/>
        </p:nvSpPr>
        <p:spPr>
          <a:xfrm>
            <a:off x="9729216" y="2386584"/>
            <a:ext cx="1591056" cy="292608"/>
          </a:xfrm>
          <a:prstGeom prst="rect">
            <a:avLst/>
          </a:prstGeom>
          <a:noFill/>
          <a:ln/>
        </p:spPr>
        <p:txBody>
          <a:bodyPr wrap="square" lIns="0" tIns="0" rIns="0" bIns="0" rtlCol="0" anchor="ctr"/>
          <a:lstStyle/>
          <a:p>
            <a:pPr indent="0" marL="0">
              <a:buNone/>
            </a:pPr>
            <a:r>
              <a:rPr lang="en-US" sz="1700" dirty="0">
                <a:solidFill>
                  <a:srgbClr val="3C3C3C"/>
                </a:solidFill>
                <a:latin typeface="Calibri" pitchFamily="34" charset="0"/>
                <a:ea typeface="Calibri" pitchFamily="34" charset="-122"/>
                <a:cs typeface="Calibri" pitchFamily="34" charset="-120"/>
              </a:rPr>
              <a:t>Microsoft</a:t>
            </a:r>
            <a:endParaRPr lang="en-US" sz="1700" dirty="0"/>
          </a:p>
        </p:txBody>
      </p:sp>
      <p:pic>
        <p:nvPicPr>
          <p:cNvPr id="55" name="Image 1" descr="preencoded.png">    </p:cNvPr>
          <p:cNvPicPr>
            <a:picLocks noChangeAspect="1"/>
          </p:cNvPicPr>
          <p:nvPr/>
        </p:nvPicPr>
        <p:blipFill>
          <a:blip r:embed="rId2"/>
          <a:stretch>
            <a:fillRect/>
          </a:stretch>
        </p:blipFill>
        <p:spPr>
          <a:xfrm>
            <a:off x="9381744" y="2798064"/>
            <a:ext cx="219456" cy="219456"/>
          </a:xfrm>
          <a:prstGeom prst="rect">
            <a:avLst/>
          </a:prstGeom>
        </p:spPr>
      </p:pic>
      <p:sp>
        <p:nvSpPr>
          <p:cNvPr id="56" name="Text 52"/>
          <p:cNvSpPr txBox="1"/>
          <p:nvPr/>
        </p:nvSpPr>
        <p:spPr>
          <a:xfrm>
            <a:off x="9674352" y="2770632"/>
            <a:ext cx="1636776" cy="253492"/>
          </a:xfrm>
          <a:prstGeom prst="rect">
            <a:avLst/>
          </a:prstGeom>
          <a:noFill/>
          <a:ln/>
        </p:spPr>
        <p:txBody>
          <a:bodyPr wrap="square" lIns="0" tIns="0" rIns="0" bIns="0" rtlCol="0" anchor="ctr"/>
          <a:lstStyle/>
          <a:p>
            <a:pPr indent="0" marL="0">
              <a:buNone/>
            </a:pPr>
            <a:r>
              <a:rPr lang="en-US" sz="1400" b="1" dirty="0">
                <a:solidFill>
                  <a:srgbClr val="1B2A4A"/>
                </a:solidFill>
                <a:latin typeface="Calibri" pitchFamily="34" charset="0"/>
                <a:ea typeface="Calibri" pitchFamily="34" charset="-122"/>
                <a:cs typeface="Calibri" pitchFamily="34" charset="-120"/>
              </a:rPr>
              <a:t>Extended outage</a:t>
            </a:r>
            <a:endParaRPr lang="en-US" sz="1400" dirty="0"/>
          </a:p>
        </p:txBody>
      </p:sp>
      <p:sp>
        <p:nvSpPr>
          <p:cNvPr id="57" name="Text 53"/>
          <p:cNvSpPr txBox="1"/>
          <p:nvPr/>
        </p:nvSpPr>
        <p:spPr>
          <a:xfrm>
            <a:off x="9381744" y="3078988"/>
            <a:ext cx="1956816" cy="1338072"/>
          </a:xfrm>
          <a:prstGeom prst="rect">
            <a:avLst/>
          </a:prstGeom>
          <a:noFill/>
          <a:ln/>
        </p:spPr>
        <p:txBody>
          <a:bodyPr wrap="square" lIns="0" tIns="0" rIns="0" bIns="0" rtlCol="0" anchor="t"/>
          <a:lstStyle/>
          <a:p>
            <a:pPr indent="0" marL="0">
              <a:buNone/>
            </a:pPr>
            <a:r>
              <a:rPr lang="en-US" sz="1400" dirty="0">
                <a:solidFill>
                  <a:srgbClr val="1E2E3A"/>
                </a:solidFill>
                <a:latin typeface="Calibri" pitchFamily="34" charset="0"/>
                <a:ea typeface="Calibri" pitchFamily="34" charset="-122"/>
                <a:cs typeface="Calibri" pitchFamily="34" charset="-120"/>
              </a:rPr>
              <a:t>Services in US-East remain unavailable. This incident has exceeded 24 hours. Next update in 4 hours.</a:t>
            </a:r>
            <a:endParaRPr lang="en-US" sz="1400" dirty="0"/>
          </a:p>
        </p:txBody>
      </p:sp>
      <p:sp>
        <p:nvSpPr>
          <p:cNvPr id="58" name="Text 54"/>
          <p:cNvSpPr txBox="1"/>
          <p:nvPr/>
        </p:nvSpPr>
        <p:spPr>
          <a:xfrm>
            <a:off x="9381744" y="4499356"/>
            <a:ext cx="1956816" cy="228600"/>
          </a:xfrm>
          <a:prstGeom prst="rect">
            <a:avLst/>
          </a:prstGeom>
          <a:noFill/>
          <a:ln/>
        </p:spPr>
        <p:txBody>
          <a:bodyPr wrap="square" lIns="0" tIns="0" rIns="0" bIns="0" rtlCol="0" anchor="t"/>
          <a:lstStyle/>
          <a:p>
            <a:pPr indent="0" marL="0">
              <a:buNone/>
            </a:pPr>
            <a:r>
              <a:rPr lang="en-US" sz="1200" dirty="0">
                <a:solidFill>
                  <a:srgbClr val="465A69"/>
                </a:solidFill>
                <a:latin typeface="Calibri" pitchFamily="34" charset="0"/>
                <a:ea typeface="Calibri" pitchFamily="34" charset="-122"/>
                <a:cs typeface="Calibri" pitchFamily="34" charset="-120"/>
              </a:rPr>
              <a:t>Day 2, 8:00 AM</a:t>
            </a:r>
            <a:endParaRPr lang="en-US" sz="1200" dirty="0"/>
          </a:p>
        </p:txBody>
      </p:sp>
      <p:sp>
        <p:nvSpPr>
          <p:cNvPr id="59" name="Text 55"/>
          <p:cNvSpPr txBox="1"/>
          <p:nvPr/>
        </p:nvSpPr>
        <p:spPr>
          <a:xfrm>
            <a:off x="548640" y="6254496"/>
            <a:ext cx="11091672" cy="256032"/>
          </a:xfrm>
          <a:prstGeom prst="rect">
            <a:avLst/>
          </a:prstGeom>
          <a:noFill/>
          <a:ln/>
        </p:spPr>
        <p:txBody>
          <a:bodyPr wrap="square" lIns="0" tIns="0" rIns="0" bIns="0" rtlCol="0" anchor="ctr"/>
          <a:lstStyle/>
          <a:p>
            <a:pPr indent="0" marL="0">
              <a:buNone/>
            </a:pPr>
            <a:r>
              <a:rPr lang="en-US" sz="1200" b="1" dirty="0">
                <a:solidFill>
                  <a:srgbClr val="465A69"/>
                </a:solidFill>
                <a:latin typeface="Calibri" pitchFamily="34" charset="0"/>
                <a:ea typeface="Calibri" pitchFamily="34" charset="-122"/>
                <a:cs typeface="Calibri" pitchFamily="34" charset="-120"/>
              </a:rPr>
              <a:t>Acronyms:  </a:t>
            </a:r>
            <a:pPr indent="0" marL="0">
              <a:buNone/>
            </a:pPr>
            <a:r>
              <a:rPr lang="en-US" sz="1200" dirty="0">
                <a:solidFill>
                  <a:srgbClr val="465A69"/>
                </a:solidFill>
                <a:latin typeface="Calibri" pitchFamily="34" charset="0"/>
                <a:ea typeface="Calibri" pitchFamily="34" charset="-122"/>
                <a:cs typeface="Calibri" pitchFamily="34" charset="-120"/>
              </a:rPr>
              <a:t>T+: time since the first signal;  SLA: service level agreement</a:t>
            </a:r>
            <a:endParaRPr lang="en-US" sz="1200" dirty="0"/>
          </a:p>
        </p:txBody>
      </p:sp>
      <p:sp>
        <p:nvSpPr>
          <p:cNvPr id="60" name="Shape 56"/>
          <p:cNvSpPr/>
          <p:nvPr/>
        </p:nvSpPr>
        <p:spPr>
          <a:xfrm>
            <a:off x="548640" y="6537960"/>
            <a:ext cx="763524" cy="274320"/>
          </a:xfrm>
          <a:prstGeom prst="roundRect">
            <a:avLst>
              <a:gd name="adj" fmla="val 50000"/>
            </a:avLst>
          </a:prstGeom>
          <a:solidFill>
            <a:srgbClr val="E4ECF2"/>
          </a:solidFill>
          <a:ln w="12700">
            <a:solidFill>
              <a:srgbClr val="E4ECF2"/>
            </a:solidFill>
            <a:prstDash val="solid"/>
          </a:ln>
        </p:spPr>
      </p:sp>
      <p:sp>
        <p:nvSpPr>
          <p:cNvPr id="61" name="Text 57"/>
          <p:cNvSpPr txBox="1"/>
          <p:nvPr/>
        </p:nvSpPr>
        <p:spPr>
          <a:xfrm>
            <a:off x="548640" y="6537960"/>
            <a:ext cx="763524" cy="274320"/>
          </a:xfrm>
          <a:prstGeom prst="rect">
            <a:avLst/>
          </a:prstGeom>
          <a:noFill/>
          <a:ln/>
        </p:spPr>
        <p:txBody>
          <a:bodyPr wrap="square" lIns="0" tIns="0" rIns="0" bIns="0" rtlCol="0" anchor="ctr"/>
          <a:lstStyle/>
          <a:p>
            <a:pPr algn="ctr" indent="0" marL="0">
              <a:buNone/>
            </a:pPr>
            <a:r>
              <a:rPr lang="en-US" sz="1200" b="1" dirty="0">
                <a:solidFill>
                  <a:srgbClr val="23405A"/>
                </a:solidFill>
                <a:latin typeface="Calibri" pitchFamily="34" charset="0"/>
                <a:ea typeface="Calibri" pitchFamily="34" charset="-122"/>
                <a:cs typeface="Calibri" pitchFamily="34" charset="-120"/>
              </a:rPr>
              <a:t>Start</a:t>
            </a:r>
            <a:endParaRPr lang="en-US" sz="1200" dirty="0"/>
          </a:p>
        </p:txBody>
      </p:sp>
      <p:pic>
        <p:nvPicPr>
          <p:cNvPr id="62" name="Image 2" descr="preencoded.png">
            <a:hlinkClick r:id="rId4" tooltip="Go to Start" action="ppaction://hlinksldjump"/>
          </p:cNvPr>
          <p:cNvPicPr>
            <a:picLocks noChangeAspect="1"/>
          </p:cNvPicPr>
          <p:nvPr/>
        </p:nvPicPr>
        <p:blipFill>
          <a:blip r:embed="rId3"/>
          <a:stretch>
            <a:fillRect/>
          </a:stretch>
        </p:blipFill>
        <p:spPr>
          <a:xfrm>
            <a:off x="548640" y="6537960"/>
            <a:ext cx="763524" cy="274320"/>
          </a:xfrm>
          <a:prstGeom prst="rect">
            <a:avLst/>
          </a:prstGeom>
        </p:spPr>
      </p:pic>
      <p:sp>
        <p:nvSpPr>
          <p:cNvPr id="63" name="Shape 58"/>
          <p:cNvSpPr/>
          <p:nvPr/>
        </p:nvSpPr>
        <p:spPr>
          <a:xfrm>
            <a:off x="1385316" y="6537960"/>
            <a:ext cx="1197864" cy="274320"/>
          </a:xfrm>
          <a:prstGeom prst="roundRect">
            <a:avLst>
              <a:gd name="adj" fmla="val 50000"/>
            </a:avLst>
          </a:prstGeom>
          <a:solidFill>
            <a:srgbClr val="F1F6FA"/>
          </a:solidFill>
          <a:ln w="12700">
            <a:solidFill>
              <a:srgbClr val="F1F6FA"/>
            </a:solidFill>
            <a:prstDash val="solid"/>
          </a:ln>
        </p:spPr>
      </p:sp>
      <p:sp>
        <p:nvSpPr>
          <p:cNvPr id="64" name="Text 59"/>
          <p:cNvSpPr txBox="1"/>
          <p:nvPr/>
        </p:nvSpPr>
        <p:spPr>
          <a:xfrm>
            <a:off x="1385316" y="6537960"/>
            <a:ext cx="1197864" cy="274320"/>
          </a:xfrm>
          <a:prstGeom prst="rect">
            <a:avLst/>
          </a:prstGeom>
          <a:noFill/>
          <a:ln/>
        </p:spPr>
        <p:txBody>
          <a:bodyPr wrap="square" lIns="0" tIns="0" rIns="0" bIns="0" rtlCol="0" anchor="ctr"/>
          <a:lstStyle/>
          <a:p>
            <a:pPr algn="ctr" indent="0" marL="0">
              <a:buNone/>
            </a:pPr>
            <a:r>
              <a:rPr lang="en-US" sz="1200" b="1" dirty="0">
                <a:solidFill>
                  <a:srgbClr val="3F6E8C"/>
                </a:solidFill>
                <a:latin typeface="Calibri" pitchFamily="34" charset="0"/>
                <a:ea typeface="Calibri" pitchFamily="34" charset="-122"/>
                <a:cs typeface="Calibri" pitchFamily="34" charset="-120"/>
              </a:rPr>
              <a:t>Scenario 1</a:t>
            </a:r>
            <a:endParaRPr lang="en-US" sz="1200" dirty="0"/>
          </a:p>
        </p:txBody>
      </p:sp>
      <p:pic>
        <p:nvPicPr>
          <p:cNvPr id="65" name="Image 3" descr="preencoded.png">
            <a:hlinkClick r:id="rId6" tooltip="Go to Scenario 1" action="ppaction://hlinksldjump"/>
          </p:cNvPr>
          <p:cNvPicPr>
            <a:picLocks noChangeAspect="1"/>
          </p:cNvPicPr>
          <p:nvPr/>
        </p:nvPicPr>
        <p:blipFill>
          <a:blip r:embed="rId5"/>
          <a:stretch>
            <a:fillRect/>
          </a:stretch>
        </p:blipFill>
        <p:spPr>
          <a:xfrm>
            <a:off x="1385316" y="6537960"/>
            <a:ext cx="1197864" cy="274320"/>
          </a:xfrm>
          <a:prstGeom prst="rect">
            <a:avLst/>
          </a:prstGeom>
        </p:spPr>
      </p:pic>
      <p:sp>
        <p:nvSpPr>
          <p:cNvPr id="66" name="Shape 60"/>
          <p:cNvSpPr/>
          <p:nvPr/>
        </p:nvSpPr>
        <p:spPr>
          <a:xfrm>
            <a:off x="2656332" y="6537960"/>
            <a:ext cx="1197864" cy="274320"/>
          </a:xfrm>
          <a:prstGeom prst="roundRect">
            <a:avLst>
              <a:gd name="adj" fmla="val 50000"/>
            </a:avLst>
          </a:prstGeom>
          <a:solidFill>
            <a:srgbClr val="4C8068"/>
          </a:solidFill>
          <a:ln w="12700">
            <a:solidFill>
              <a:srgbClr val="4C8068"/>
            </a:solidFill>
            <a:prstDash val="solid"/>
          </a:ln>
        </p:spPr>
      </p:sp>
      <p:sp>
        <p:nvSpPr>
          <p:cNvPr id="67" name="Text 61"/>
          <p:cNvSpPr txBox="1"/>
          <p:nvPr/>
        </p:nvSpPr>
        <p:spPr>
          <a:xfrm>
            <a:off x="2656332" y="6537960"/>
            <a:ext cx="1197864"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Scenario 2</a:t>
            </a:r>
            <a:endParaRPr lang="en-US" sz="1200" dirty="0"/>
          </a:p>
        </p:txBody>
      </p:sp>
      <p:pic>
        <p:nvPicPr>
          <p:cNvPr id="68" name="Image 4" descr="preencoded.png">
            <a:hlinkClick r:id="rId8" tooltip="Go to Scenario 2" action="ppaction://hlinksldjump"/>
          </p:cNvPr>
          <p:cNvPicPr>
            <a:picLocks noChangeAspect="1"/>
          </p:cNvPicPr>
          <p:nvPr/>
        </p:nvPicPr>
        <p:blipFill>
          <a:blip r:embed="rId7"/>
          <a:stretch>
            <a:fillRect/>
          </a:stretch>
        </p:blipFill>
        <p:spPr>
          <a:xfrm>
            <a:off x="2656332" y="6537960"/>
            <a:ext cx="1197864" cy="274320"/>
          </a:xfrm>
          <a:prstGeom prst="rect">
            <a:avLst/>
          </a:prstGeom>
        </p:spPr>
      </p:pic>
      <p:sp>
        <p:nvSpPr>
          <p:cNvPr id="69" name="Shape 62"/>
          <p:cNvSpPr/>
          <p:nvPr/>
        </p:nvSpPr>
        <p:spPr>
          <a:xfrm>
            <a:off x="3927348" y="6537960"/>
            <a:ext cx="1197864" cy="274320"/>
          </a:xfrm>
          <a:prstGeom prst="roundRect">
            <a:avLst>
              <a:gd name="adj" fmla="val 50000"/>
            </a:avLst>
          </a:prstGeom>
          <a:solidFill>
            <a:srgbClr val="F6F3FA"/>
          </a:solidFill>
          <a:ln w="12700">
            <a:solidFill>
              <a:srgbClr val="F6F3FA"/>
            </a:solidFill>
            <a:prstDash val="solid"/>
          </a:ln>
        </p:spPr>
      </p:sp>
      <p:sp>
        <p:nvSpPr>
          <p:cNvPr id="70" name="Text 63"/>
          <p:cNvSpPr txBox="1"/>
          <p:nvPr/>
        </p:nvSpPr>
        <p:spPr>
          <a:xfrm>
            <a:off x="3927348" y="6537960"/>
            <a:ext cx="1197864" cy="274320"/>
          </a:xfrm>
          <a:prstGeom prst="rect">
            <a:avLst/>
          </a:prstGeom>
          <a:noFill/>
          <a:ln/>
        </p:spPr>
        <p:txBody>
          <a:bodyPr wrap="square" lIns="0" tIns="0" rIns="0" bIns="0" rtlCol="0" anchor="ctr"/>
          <a:lstStyle/>
          <a:p>
            <a:pPr algn="ctr" indent="0" marL="0">
              <a:buNone/>
            </a:pPr>
            <a:r>
              <a:rPr lang="en-US" sz="1200" b="1" dirty="0">
                <a:solidFill>
                  <a:srgbClr val="6E5E94"/>
                </a:solidFill>
                <a:latin typeface="Calibri" pitchFamily="34" charset="0"/>
                <a:ea typeface="Calibri" pitchFamily="34" charset="-122"/>
                <a:cs typeface="Calibri" pitchFamily="34" charset="-120"/>
              </a:rPr>
              <a:t>Scenario 3</a:t>
            </a:r>
            <a:endParaRPr lang="en-US" sz="1200" dirty="0"/>
          </a:p>
        </p:txBody>
      </p:sp>
      <p:pic>
        <p:nvPicPr>
          <p:cNvPr id="71" name="Image 5" descr="preencoded.png">
            <a:hlinkClick r:id="rId10" tooltip="Go to Scenario 3" action="ppaction://hlinksldjump"/>
          </p:cNvPr>
          <p:cNvPicPr>
            <a:picLocks noChangeAspect="1"/>
          </p:cNvPicPr>
          <p:nvPr/>
        </p:nvPicPr>
        <p:blipFill>
          <a:blip r:embed="rId9"/>
          <a:stretch>
            <a:fillRect/>
          </a:stretch>
        </p:blipFill>
        <p:spPr>
          <a:xfrm>
            <a:off x="3927348" y="6537960"/>
            <a:ext cx="1197864" cy="274320"/>
          </a:xfrm>
          <a:prstGeom prst="rect">
            <a:avLst/>
          </a:prstGeom>
        </p:spPr>
      </p:pic>
      <p:sp>
        <p:nvSpPr>
          <p:cNvPr id="72" name="Shape 64"/>
          <p:cNvSpPr/>
          <p:nvPr/>
        </p:nvSpPr>
        <p:spPr>
          <a:xfrm>
            <a:off x="5198364" y="6537960"/>
            <a:ext cx="937260" cy="274320"/>
          </a:xfrm>
          <a:prstGeom prst="roundRect">
            <a:avLst>
              <a:gd name="adj" fmla="val 50000"/>
            </a:avLst>
          </a:prstGeom>
          <a:solidFill>
            <a:srgbClr val="E4ECF2"/>
          </a:solidFill>
          <a:ln w="12700">
            <a:solidFill>
              <a:srgbClr val="E4ECF2"/>
            </a:solidFill>
            <a:prstDash val="solid"/>
          </a:ln>
        </p:spPr>
      </p:sp>
      <p:sp>
        <p:nvSpPr>
          <p:cNvPr id="73" name="Text 65"/>
          <p:cNvSpPr txBox="1"/>
          <p:nvPr/>
        </p:nvSpPr>
        <p:spPr>
          <a:xfrm>
            <a:off x="5198364" y="6537960"/>
            <a:ext cx="937260" cy="274320"/>
          </a:xfrm>
          <a:prstGeom prst="rect">
            <a:avLst/>
          </a:prstGeom>
          <a:noFill/>
          <a:ln/>
        </p:spPr>
        <p:txBody>
          <a:bodyPr wrap="square" lIns="0" tIns="0" rIns="0" bIns="0" rtlCol="0" anchor="ctr"/>
          <a:lstStyle/>
          <a:p>
            <a:pPr algn="ctr" indent="0" marL="0">
              <a:buNone/>
            </a:pPr>
            <a:r>
              <a:rPr lang="en-US" sz="1200" b="1" dirty="0">
                <a:solidFill>
                  <a:srgbClr val="23405A"/>
                </a:solidFill>
                <a:latin typeface="Calibri" pitchFamily="34" charset="0"/>
                <a:ea typeface="Calibri" pitchFamily="34" charset="-122"/>
                <a:cs typeface="Calibri" pitchFamily="34" charset="-120"/>
              </a:rPr>
              <a:t>Closing</a:t>
            </a:r>
            <a:endParaRPr lang="en-US" sz="1200" dirty="0"/>
          </a:p>
        </p:txBody>
      </p:sp>
      <p:pic>
        <p:nvPicPr>
          <p:cNvPr id="74" name="Image 6" descr="preencoded.png">
            <a:hlinkClick r:id="rId12" tooltip="Go to Closing" action="ppaction://hlinksldjump"/>
          </p:cNvPr>
          <p:cNvPicPr>
            <a:picLocks noChangeAspect="1"/>
          </p:cNvPicPr>
          <p:nvPr/>
        </p:nvPicPr>
        <p:blipFill>
          <a:blip r:embed="rId11"/>
          <a:stretch>
            <a:fillRect/>
          </a:stretch>
        </p:blipFill>
        <p:spPr>
          <a:xfrm>
            <a:off x="5198364" y="6537960"/>
            <a:ext cx="937260" cy="274320"/>
          </a:xfrm>
          <a:prstGeom prst="rect">
            <a:avLst/>
          </a:prstGeom>
        </p:spPr>
      </p:pic>
      <p:sp>
        <p:nvSpPr>
          <p:cNvPr id="75" name="Text 66"/>
          <p:cNvSpPr txBox="1"/>
          <p:nvPr/>
        </p:nvSpPr>
        <p:spPr>
          <a:xfrm>
            <a:off x="11277295" y="6537960"/>
            <a:ext cx="365760" cy="274320"/>
          </a:xfrm>
          <a:prstGeom prst="rect">
            <a:avLst/>
          </a:prstGeom>
          <a:noFill/>
          <a:ln/>
        </p:spPr>
        <p:txBody>
          <a:bodyPr wrap="square" lIns="0" tIns="0" rIns="0" bIns="0" rtlCol="0" anchor="ctr"/>
          <a:lstStyle/>
          <a:p>
            <a:pPr algn="r" indent="0" marL="0">
              <a:buNone/>
            </a:pPr>
            <a:r>
              <a:rPr lang="en-US" sz="1200" dirty="0">
                <a:solidFill>
                  <a:srgbClr val="465A69"/>
                </a:solidFill>
                <a:latin typeface="Calibri" pitchFamily="34" charset="0"/>
                <a:ea typeface="Calibri" pitchFamily="34" charset="-122"/>
                <a:cs typeface="Calibri" pitchFamily="34" charset="-120"/>
              </a:rPr>
              <a:t>31</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E6F2E9"/>
        </a:solidFill>
      </p:bgPr>
    </p:bg>
    <p:spTree>
      <p:nvGrpSpPr>
        <p:cNvPr id="1" name=""/>
        <p:cNvGrpSpPr/>
        <p:nvPr/>
      </p:nvGrpSpPr>
      <p:grpSpPr>
        <a:xfrm>
          <a:off x="0" y="0"/>
          <a:ext cx="0" cy="0"/>
          <a:chOff x="0" y="0"/>
          <a:chExt cx="0" cy="0"/>
        </a:xfrm>
      </p:grpSpPr>
      <p:sp>
        <p:nvSpPr>
          <p:cNvPr id="2" name="Shape 0"/>
          <p:cNvSpPr/>
          <p:nvPr/>
        </p:nvSpPr>
        <p:spPr>
          <a:xfrm>
            <a:off x="548640" y="347472"/>
            <a:ext cx="2843784" cy="329184"/>
          </a:xfrm>
          <a:prstGeom prst="roundRect">
            <a:avLst>
              <a:gd name="adj" fmla="val 50000"/>
            </a:avLst>
          </a:prstGeom>
          <a:solidFill>
            <a:srgbClr val="F1F8F3"/>
          </a:solidFill>
          <a:ln w="12700">
            <a:solidFill>
              <a:srgbClr val="F1F8F3"/>
            </a:solidFill>
            <a:prstDash val="solid"/>
          </a:ln>
        </p:spPr>
      </p:sp>
      <p:sp>
        <p:nvSpPr>
          <p:cNvPr id="3" name="Text 1"/>
          <p:cNvSpPr txBox="1"/>
          <p:nvPr/>
        </p:nvSpPr>
        <p:spPr>
          <a:xfrm>
            <a:off x="548640" y="347472"/>
            <a:ext cx="2843784" cy="329184"/>
          </a:xfrm>
          <a:prstGeom prst="rect">
            <a:avLst/>
          </a:prstGeom>
          <a:noFill/>
          <a:ln/>
        </p:spPr>
        <p:txBody>
          <a:bodyPr wrap="square" lIns="0" tIns="0" rIns="0" bIns="0" rtlCol="0" anchor="ctr"/>
          <a:lstStyle/>
          <a:p>
            <a:pPr algn="ctr" indent="0" marL="0">
              <a:buNone/>
            </a:pPr>
            <a:r>
              <a:rPr lang="en-US" sz="1200" b="1" dirty="0">
                <a:solidFill>
                  <a:srgbClr val="4C8068"/>
                </a:solidFill>
                <a:latin typeface="Calibri" pitchFamily="34" charset="0"/>
                <a:ea typeface="Calibri" pitchFamily="34" charset="-122"/>
                <a:cs typeface="Calibri" pitchFamily="34" charset="-120"/>
              </a:rPr>
              <a:t>Scenario 2: Disaster Recovery</a:t>
            </a:r>
            <a:endParaRPr lang="en-US" sz="1200" dirty="0"/>
          </a:p>
        </p:txBody>
      </p:sp>
      <p:sp>
        <p:nvSpPr>
          <p:cNvPr id="4" name="Text 2"/>
          <p:cNvSpPr txBox="1"/>
          <p:nvPr/>
        </p:nvSpPr>
        <p:spPr>
          <a:xfrm>
            <a:off x="548640" y="749808"/>
            <a:ext cx="11064240" cy="640080"/>
          </a:xfrm>
          <a:prstGeom prst="rect">
            <a:avLst/>
          </a:prstGeom>
          <a:noFill/>
          <a:ln/>
        </p:spPr>
        <p:txBody>
          <a:bodyPr wrap="square" lIns="0" tIns="0" rIns="0" bIns="0" rtlCol="0" anchor="ctr"/>
          <a:lstStyle/>
          <a:p>
            <a:pPr indent="0" marL="0">
              <a:buNone/>
            </a:pPr>
            <a:r>
              <a:rPr lang="en-US" sz="2800" b="1" dirty="0">
                <a:solidFill>
                  <a:srgbClr val="23405A"/>
                </a:solidFill>
                <a:latin typeface="Calibri" pitchFamily="34" charset="0"/>
                <a:ea typeface="Calibri" pitchFamily="34" charset="-122"/>
                <a:cs typeface="Calibri" pitchFamily="34" charset="-120"/>
              </a:rPr>
              <a:t>T+48 to 72h: Continued Disruption</a:t>
            </a:r>
            <a:endParaRPr lang="en-US" sz="2800" dirty="0"/>
          </a:p>
        </p:txBody>
      </p:sp>
      <p:sp>
        <p:nvSpPr>
          <p:cNvPr id="5" name="Shape 3"/>
          <p:cNvSpPr/>
          <p:nvPr/>
        </p:nvSpPr>
        <p:spPr>
          <a:xfrm>
            <a:off x="10705795" y="347472"/>
            <a:ext cx="937260" cy="329184"/>
          </a:xfrm>
          <a:prstGeom prst="roundRect">
            <a:avLst>
              <a:gd name="adj" fmla="val 50000"/>
            </a:avLst>
          </a:prstGeom>
          <a:solidFill>
            <a:srgbClr val="FFFFFF"/>
          </a:solidFill>
          <a:ln w="12700">
            <a:solidFill>
              <a:srgbClr val="FFFFFF"/>
            </a:solidFill>
            <a:prstDash val="solid"/>
          </a:ln>
        </p:spPr>
      </p:sp>
      <p:sp>
        <p:nvSpPr>
          <p:cNvPr id="6" name="Text 4"/>
          <p:cNvSpPr txBox="1"/>
          <p:nvPr/>
        </p:nvSpPr>
        <p:spPr>
          <a:xfrm>
            <a:off x="10705795" y="347472"/>
            <a:ext cx="937260" cy="329184"/>
          </a:xfrm>
          <a:prstGeom prst="rect">
            <a:avLst/>
          </a:prstGeom>
          <a:noFill/>
          <a:ln/>
        </p:spPr>
        <p:txBody>
          <a:bodyPr wrap="square" lIns="0" tIns="0" rIns="0" bIns="0" rtlCol="0" anchor="ctr"/>
          <a:lstStyle/>
          <a:p>
            <a:pPr algn="ctr" indent="0" marL="0">
              <a:buNone/>
            </a:pPr>
            <a:r>
              <a:rPr lang="en-US" sz="1200" dirty="0">
                <a:solidFill>
                  <a:srgbClr val="465A69"/>
                </a:solidFill>
                <a:latin typeface="Calibri" pitchFamily="34" charset="0"/>
                <a:ea typeface="Calibri" pitchFamily="34" charset="-122"/>
                <a:cs typeface="Calibri" pitchFamily="34" charset="-120"/>
              </a:rPr>
              <a:t>Hotwash</a:t>
            </a:r>
            <a:endParaRPr lang="en-US" sz="1200" dirty="0"/>
          </a:p>
        </p:txBody>
      </p:sp>
      <p:sp>
        <p:nvSpPr>
          <p:cNvPr id="7" name="Shape 5"/>
          <p:cNvSpPr/>
          <p:nvPr/>
        </p:nvSpPr>
        <p:spPr>
          <a:xfrm>
            <a:off x="9608515" y="347472"/>
            <a:ext cx="1024128" cy="329184"/>
          </a:xfrm>
          <a:prstGeom prst="roundRect">
            <a:avLst>
              <a:gd name="adj" fmla="val 50000"/>
            </a:avLst>
          </a:prstGeom>
          <a:solidFill>
            <a:srgbClr val="FFFFFF"/>
          </a:solidFill>
          <a:ln w="12700">
            <a:solidFill>
              <a:srgbClr val="FFFFFF"/>
            </a:solidFill>
            <a:prstDash val="solid"/>
          </a:ln>
        </p:spPr>
      </p:sp>
      <p:sp>
        <p:nvSpPr>
          <p:cNvPr id="8" name="Text 6"/>
          <p:cNvSpPr txBox="1"/>
          <p:nvPr/>
        </p:nvSpPr>
        <p:spPr>
          <a:xfrm>
            <a:off x="9608515" y="347472"/>
            <a:ext cx="1024128" cy="329184"/>
          </a:xfrm>
          <a:prstGeom prst="rect">
            <a:avLst/>
          </a:prstGeom>
          <a:noFill/>
          <a:ln/>
        </p:spPr>
        <p:txBody>
          <a:bodyPr wrap="square" lIns="0" tIns="0" rIns="0" bIns="0" rtlCol="0" anchor="ctr"/>
          <a:lstStyle/>
          <a:p>
            <a:pPr algn="ctr" indent="0" marL="0">
              <a:buNone/>
            </a:pPr>
            <a:r>
              <a:rPr lang="en-US" sz="1200" dirty="0">
                <a:solidFill>
                  <a:srgbClr val="465A69"/>
                </a:solidFill>
                <a:latin typeface="Calibri" pitchFamily="34" charset="0"/>
                <a:ea typeface="Calibri" pitchFamily="34" charset="-122"/>
                <a:cs typeface="Calibri" pitchFamily="34" charset="-120"/>
              </a:rPr>
              <a:t>Recovery</a:t>
            </a:r>
            <a:endParaRPr lang="en-US" sz="1200" dirty="0"/>
          </a:p>
        </p:txBody>
      </p:sp>
      <p:sp>
        <p:nvSpPr>
          <p:cNvPr id="9" name="Shape 7"/>
          <p:cNvSpPr/>
          <p:nvPr/>
        </p:nvSpPr>
        <p:spPr>
          <a:xfrm>
            <a:off x="8598103" y="347472"/>
            <a:ext cx="937260" cy="329184"/>
          </a:xfrm>
          <a:prstGeom prst="roundRect">
            <a:avLst>
              <a:gd name="adj" fmla="val 50000"/>
            </a:avLst>
          </a:prstGeom>
          <a:solidFill>
            <a:srgbClr val="4C8068"/>
          </a:solidFill>
          <a:ln w="12700">
            <a:solidFill>
              <a:srgbClr val="4C8068"/>
            </a:solidFill>
            <a:prstDash val="solid"/>
          </a:ln>
        </p:spPr>
      </p:sp>
      <p:sp>
        <p:nvSpPr>
          <p:cNvPr id="10" name="Text 8"/>
          <p:cNvSpPr txBox="1"/>
          <p:nvPr/>
        </p:nvSpPr>
        <p:spPr>
          <a:xfrm>
            <a:off x="8598103" y="347472"/>
            <a:ext cx="93726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Injects</a:t>
            </a:r>
            <a:endParaRPr lang="en-US" sz="1200" dirty="0"/>
          </a:p>
        </p:txBody>
      </p:sp>
      <p:sp>
        <p:nvSpPr>
          <p:cNvPr id="11" name="Shape 9"/>
          <p:cNvSpPr/>
          <p:nvPr/>
        </p:nvSpPr>
        <p:spPr>
          <a:xfrm>
            <a:off x="7674559" y="347472"/>
            <a:ext cx="850392" cy="329184"/>
          </a:xfrm>
          <a:prstGeom prst="roundRect">
            <a:avLst>
              <a:gd name="adj" fmla="val 50000"/>
            </a:avLst>
          </a:prstGeom>
          <a:solidFill>
            <a:srgbClr val="F1F8F3"/>
          </a:solidFill>
          <a:ln w="12700">
            <a:solidFill>
              <a:srgbClr val="F1F8F3"/>
            </a:solidFill>
            <a:prstDash val="solid"/>
          </a:ln>
        </p:spPr>
      </p:sp>
      <p:sp>
        <p:nvSpPr>
          <p:cNvPr id="12" name="Text 10"/>
          <p:cNvSpPr txBox="1"/>
          <p:nvPr/>
        </p:nvSpPr>
        <p:spPr>
          <a:xfrm>
            <a:off x="7674559" y="347472"/>
            <a:ext cx="850392" cy="329184"/>
          </a:xfrm>
          <a:prstGeom prst="rect">
            <a:avLst/>
          </a:prstGeom>
          <a:noFill/>
          <a:ln/>
        </p:spPr>
        <p:txBody>
          <a:bodyPr wrap="square" lIns="0" tIns="0" rIns="0" bIns="0" rtlCol="0" anchor="ctr"/>
          <a:lstStyle/>
          <a:p>
            <a:pPr algn="ctr" indent="0" marL="0">
              <a:buNone/>
            </a:pPr>
            <a:r>
              <a:rPr lang="en-US" sz="1200" dirty="0">
                <a:solidFill>
                  <a:srgbClr val="4C8068"/>
                </a:solidFill>
                <a:latin typeface="Calibri" pitchFamily="34" charset="0"/>
                <a:ea typeface="Calibri" pitchFamily="34" charset="-122"/>
                <a:cs typeface="Calibri" pitchFamily="34" charset="-120"/>
              </a:rPr>
              <a:t>Decide</a:t>
            </a:r>
            <a:endParaRPr lang="en-US" sz="1200" dirty="0"/>
          </a:p>
        </p:txBody>
      </p:sp>
      <p:sp>
        <p:nvSpPr>
          <p:cNvPr id="13" name="Shape 11"/>
          <p:cNvSpPr/>
          <p:nvPr/>
        </p:nvSpPr>
        <p:spPr>
          <a:xfrm>
            <a:off x="7011619" y="347472"/>
            <a:ext cx="589788" cy="329184"/>
          </a:xfrm>
          <a:prstGeom prst="roundRect">
            <a:avLst>
              <a:gd name="adj" fmla="val 50000"/>
            </a:avLst>
          </a:prstGeom>
          <a:solidFill>
            <a:srgbClr val="F1F8F3"/>
          </a:solidFill>
          <a:ln w="12700">
            <a:solidFill>
              <a:srgbClr val="F1F8F3"/>
            </a:solidFill>
            <a:prstDash val="solid"/>
          </a:ln>
        </p:spPr>
      </p:sp>
      <p:sp>
        <p:nvSpPr>
          <p:cNvPr id="14" name="Text 12"/>
          <p:cNvSpPr txBox="1"/>
          <p:nvPr/>
        </p:nvSpPr>
        <p:spPr>
          <a:xfrm>
            <a:off x="7011619" y="347472"/>
            <a:ext cx="589788" cy="329184"/>
          </a:xfrm>
          <a:prstGeom prst="rect">
            <a:avLst/>
          </a:prstGeom>
          <a:noFill/>
          <a:ln/>
        </p:spPr>
        <p:txBody>
          <a:bodyPr wrap="square" lIns="0" tIns="0" rIns="0" bIns="0" rtlCol="0" anchor="ctr"/>
          <a:lstStyle/>
          <a:p>
            <a:pPr algn="ctr" indent="0" marL="0">
              <a:buNone/>
            </a:pPr>
            <a:r>
              <a:rPr lang="en-US" sz="1200" dirty="0">
                <a:solidFill>
                  <a:srgbClr val="4C8068"/>
                </a:solidFill>
                <a:latin typeface="Calibri" pitchFamily="34" charset="0"/>
                <a:ea typeface="Calibri" pitchFamily="34" charset="-122"/>
                <a:cs typeface="Calibri" pitchFamily="34" charset="-120"/>
              </a:rPr>
              <a:t>T+0</a:t>
            </a:r>
            <a:endParaRPr lang="en-US" sz="1200" dirty="0"/>
          </a:p>
        </p:txBody>
      </p:sp>
      <p:sp>
        <p:nvSpPr>
          <p:cNvPr id="15" name="Shape 13"/>
          <p:cNvSpPr/>
          <p:nvPr/>
        </p:nvSpPr>
        <p:spPr>
          <a:xfrm>
            <a:off x="5740603" y="347472"/>
            <a:ext cx="1197864" cy="329184"/>
          </a:xfrm>
          <a:prstGeom prst="roundRect">
            <a:avLst>
              <a:gd name="adj" fmla="val 50000"/>
            </a:avLst>
          </a:prstGeom>
          <a:solidFill>
            <a:srgbClr val="F1F8F3"/>
          </a:solidFill>
          <a:ln w="12700">
            <a:solidFill>
              <a:srgbClr val="F1F8F3"/>
            </a:solidFill>
            <a:prstDash val="solid"/>
          </a:ln>
        </p:spPr>
      </p:sp>
      <p:sp>
        <p:nvSpPr>
          <p:cNvPr id="16" name="Text 14"/>
          <p:cNvSpPr txBox="1"/>
          <p:nvPr/>
        </p:nvSpPr>
        <p:spPr>
          <a:xfrm>
            <a:off x="5740603" y="347472"/>
            <a:ext cx="1197864" cy="329184"/>
          </a:xfrm>
          <a:prstGeom prst="rect">
            <a:avLst/>
          </a:prstGeom>
          <a:noFill/>
          <a:ln/>
        </p:spPr>
        <p:txBody>
          <a:bodyPr wrap="square" lIns="0" tIns="0" rIns="0" bIns="0" rtlCol="0" anchor="ctr"/>
          <a:lstStyle/>
          <a:p>
            <a:pPr algn="ctr" indent="0" marL="0">
              <a:buNone/>
            </a:pPr>
            <a:r>
              <a:rPr lang="en-US" sz="1200" dirty="0">
                <a:solidFill>
                  <a:srgbClr val="4C8068"/>
                </a:solidFill>
                <a:latin typeface="Calibri" pitchFamily="34" charset="0"/>
                <a:ea typeface="Calibri" pitchFamily="34" charset="-122"/>
                <a:cs typeface="Calibri" pitchFamily="34" charset="-120"/>
              </a:rPr>
              <a:t>Background</a:t>
            </a:r>
            <a:endParaRPr lang="en-US" sz="1200" dirty="0"/>
          </a:p>
        </p:txBody>
      </p:sp>
      <p:sp>
        <p:nvSpPr>
          <p:cNvPr id="17" name="Shape 15"/>
          <p:cNvSpPr/>
          <p:nvPr/>
        </p:nvSpPr>
        <p:spPr>
          <a:xfrm>
            <a:off x="548640" y="1600200"/>
            <a:ext cx="2377440" cy="4572000"/>
          </a:xfrm>
          <a:prstGeom prst="roundRect">
            <a:avLst>
              <a:gd name="adj" fmla="val 5385"/>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18" name="Text 16"/>
          <p:cNvSpPr txBox="1"/>
          <p:nvPr/>
        </p:nvSpPr>
        <p:spPr>
          <a:xfrm>
            <a:off x="822960" y="1783080"/>
            <a:ext cx="1874520" cy="320040"/>
          </a:xfrm>
          <a:prstGeom prst="rect">
            <a:avLst/>
          </a:prstGeom>
          <a:noFill/>
          <a:ln/>
        </p:spPr>
        <p:txBody>
          <a:bodyPr wrap="square" lIns="0" tIns="0" rIns="0" bIns="0" rtlCol="0" anchor="t"/>
          <a:lstStyle/>
          <a:p>
            <a:pPr indent="0" marL="0">
              <a:buNone/>
            </a:pPr>
            <a:r>
              <a:rPr lang="en-US" sz="1400" b="1" dirty="0">
                <a:solidFill>
                  <a:srgbClr val="465A69"/>
                </a:solidFill>
                <a:latin typeface="Calibri" pitchFamily="34" charset="0"/>
                <a:ea typeface="Calibri" pitchFamily="34" charset="-122"/>
                <a:cs typeface="Calibri" pitchFamily="34" charset="-120"/>
              </a:rPr>
              <a:t>Timeline</a:t>
            </a:r>
            <a:endParaRPr lang="en-US" sz="1400" dirty="0"/>
          </a:p>
        </p:txBody>
      </p:sp>
      <p:sp>
        <p:nvSpPr>
          <p:cNvPr id="19" name="Shape 17"/>
          <p:cNvSpPr/>
          <p:nvPr/>
        </p:nvSpPr>
        <p:spPr>
          <a:xfrm>
            <a:off x="905256" y="2551176"/>
            <a:ext cx="0" cy="257338"/>
          </a:xfrm>
          <a:prstGeom prst="line">
            <a:avLst/>
          </a:prstGeom>
          <a:noFill/>
          <a:ln w="19050">
            <a:solidFill>
              <a:srgbClr val="4C8068"/>
            </a:solidFill>
            <a:prstDash val="solid"/>
          </a:ln>
        </p:spPr>
      </p:sp>
      <p:sp>
        <p:nvSpPr>
          <p:cNvPr id="20" name="Shape 18"/>
          <p:cNvSpPr/>
          <p:nvPr/>
        </p:nvSpPr>
        <p:spPr>
          <a:xfrm>
            <a:off x="777240" y="2267712"/>
            <a:ext cx="256032" cy="256032"/>
          </a:xfrm>
          <a:prstGeom prst="ellipse">
            <a:avLst/>
          </a:prstGeom>
          <a:solidFill>
            <a:srgbClr val="F1F8F3"/>
          </a:solidFill>
          <a:ln w="12700">
            <a:solidFill>
              <a:srgbClr val="F1F8F3"/>
            </a:solidFill>
            <a:prstDash val="solid"/>
          </a:ln>
        </p:spPr>
      </p:sp>
      <p:sp>
        <p:nvSpPr>
          <p:cNvPr id="21" name="Text 19"/>
          <p:cNvSpPr txBox="1"/>
          <p:nvPr/>
        </p:nvSpPr>
        <p:spPr>
          <a:xfrm>
            <a:off x="1188720" y="2203704"/>
            <a:ext cx="1645920" cy="568234"/>
          </a:xfrm>
          <a:prstGeom prst="rect">
            <a:avLst/>
          </a:prstGeom>
          <a:noFill/>
          <a:ln/>
        </p:spPr>
        <p:txBody>
          <a:bodyPr wrap="square" lIns="0" tIns="0" rIns="0" bIns="0" rtlCol="0" anchor="t"/>
          <a:lstStyle/>
          <a:p>
            <a:pPr indent="0" marL="0">
              <a:buNone/>
            </a:pPr>
            <a:r>
              <a:rPr lang="en-US" sz="1200" b="1" dirty="0">
                <a:solidFill>
                  <a:srgbClr val="465A69"/>
                </a:solidFill>
                <a:latin typeface="Calibri" pitchFamily="34" charset="0"/>
                <a:ea typeface="Calibri" pitchFamily="34" charset="-122"/>
                <a:cs typeface="Calibri" pitchFamily="34" charset="-120"/>
              </a:rPr>
              <a:t>T+0</a:t>
            </a:r>
            <a:endParaRPr lang="en-US" sz="1200" dirty="0"/>
          </a:p>
          <a:p>
            <a:pPr indent="0" marL="0">
              <a:buNone/>
            </a:pPr>
            <a:r>
              <a:rPr lang="en-US" sz="1200" dirty="0">
                <a:solidFill>
                  <a:srgbClr val="1E2E3A"/>
                </a:solidFill>
                <a:latin typeface="Calibri" pitchFamily="34" charset="0"/>
                <a:ea typeface="Calibri" pitchFamily="34" charset="-122"/>
                <a:cs typeface="Calibri" pitchFamily="34" charset="-120"/>
              </a:rPr>
              <a:t>Initial alert</a:t>
            </a:r>
            <a:endParaRPr lang="en-US" sz="1200" dirty="0"/>
          </a:p>
        </p:txBody>
      </p:sp>
      <p:sp>
        <p:nvSpPr>
          <p:cNvPr id="22" name="Shape 20"/>
          <p:cNvSpPr/>
          <p:nvPr/>
        </p:nvSpPr>
        <p:spPr>
          <a:xfrm>
            <a:off x="905256" y="3119410"/>
            <a:ext cx="0" cy="257338"/>
          </a:xfrm>
          <a:prstGeom prst="line">
            <a:avLst/>
          </a:prstGeom>
          <a:noFill/>
          <a:ln w="19050">
            <a:solidFill>
              <a:srgbClr val="4C8068"/>
            </a:solidFill>
            <a:prstDash val="solid"/>
          </a:ln>
        </p:spPr>
      </p:sp>
      <p:sp>
        <p:nvSpPr>
          <p:cNvPr id="23" name="Shape 21"/>
          <p:cNvSpPr/>
          <p:nvPr/>
        </p:nvSpPr>
        <p:spPr>
          <a:xfrm>
            <a:off x="777240" y="2835946"/>
            <a:ext cx="256032" cy="256032"/>
          </a:xfrm>
          <a:prstGeom prst="ellipse">
            <a:avLst/>
          </a:prstGeom>
          <a:solidFill>
            <a:srgbClr val="F1F8F3"/>
          </a:solidFill>
          <a:ln w="12700">
            <a:solidFill>
              <a:srgbClr val="F1F8F3"/>
            </a:solidFill>
            <a:prstDash val="solid"/>
          </a:ln>
        </p:spPr>
      </p:sp>
      <p:sp>
        <p:nvSpPr>
          <p:cNvPr id="24" name="Text 22"/>
          <p:cNvSpPr txBox="1"/>
          <p:nvPr/>
        </p:nvSpPr>
        <p:spPr>
          <a:xfrm>
            <a:off x="1188720" y="2771938"/>
            <a:ext cx="1645920" cy="568234"/>
          </a:xfrm>
          <a:prstGeom prst="rect">
            <a:avLst/>
          </a:prstGeom>
          <a:noFill/>
          <a:ln/>
        </p:spPr>
        <p:txBody>
          <a:bodyPr wrap="square" lIns="0" tIns="0" rIns="0" bIns="0" rtlCol="0" anchor="t"/>
          <a:lstStyle/>
          <a:p>
            <a:pPr indent="0" marL="0">
              <a:buNone/>
            </a:pPr>
            <a:r>
              <a:rPr lang="en-US" sz="1200" b="1" dirty="0">
                <a:solidFill>
                  <a:srgbClr val="465A69"/>
                </a:solidFill>
                <a:latin typeface="Calibri" pitchFamily="34" charset="0"/>
                <a:ea typeface="Calibri" pitchFamily="34" charset="-122"/>
                <a:cs typeface="Calibri" pitchFamily="34" charset="-120"/>
              </a:rPr>
              <a:t>T+30m</a:t>
            </a:r>
            <a:endParaRPr lang="en-US" sz="1200" dirty="0"/>
          </a:p>
          <a:p>
            <a:pPr indent="0" marL="0">
              <a:buNone/>
            </a:pPr>
            <a:r>
              <a:rPr lang="en-US" sz="1200" dirty="0">
                <a:solidFill>
                  <a:srgbClr val="1E2E3A"/>
                </a:solidFill>
                <a:latin typeface="Calibri" pitchFamily="34" charset="0"/>
                <a:ea typeface="Calibri" pitchFamily="34" charset="-122"/>
                <a:cs typeface="Calibri" pitchFamily="34" charset="-120"/>
              </a:rPr>
              <a:t>Scope expands</a:t>
            </a:r>
            <a:endParaRPr lang="en-US" sz="1200" dirty="0"/>
          </a:p>
        </p:txBody>
      </p:sp>
      <p:sp>
        <p:nvSpPr>
          <p:cNvPr id="25" name="Shape 23"/>
          <p:cNvSpPr/>
          <p:nvPr/>
        </p:nvSpPr>
        <p:spPr>
          <a:xfrm>
            <a:off x="905256" y="3687645"/>
            <a:ext cx="0" cy="257338"/>
          </a:xfrm>
          <a:prstGeom prst="line">
            <a:avLst/>
          </a:prstGeom>
          <a:noFill/>
          <a:ln w="19050">
            <a:solidFill>
              <a:srgbClr val="4C8068"/>
            </a:solidFill>
            <a:prstDash val="solid"/>
          </a:ln>
        </p:spPr>
      </p:sp>
      <p:sp>
        <p:nvSpPr>
          <p:cNvPr id="26" name="Shape 24"/>
          <p:cNvSpPr/>
          <p:nvPr/>
        </p:nvSpPr>
        <p:spPr>
          <a:xfrm>
            <a:off x="777240" y="3404181"/>
            <a:ext cx="256032" cy="256032"/>
          </a:xfrm>
          <a:prstGeom prst="ellipse">
            <a:avLst/>
          </a:prstGeom>
          <a:solidFill>
            <a:srgbClr val="F1F8F3"/>
          </a:solidFill>
          <a:ln w="12700">
            <a:solidFill>
              <a:srgbClr val="F1F8F3"/>
            </a:solidFill>
            <a:prstDash val="solid"/>
          </a:ln>
        </p:spPr>
      </p:sp>
      <p:sp>
        <p:nvSpPr>
          <p:cNvPr id="27" name="Text 25"/>
          <p:cNvSpPr txBox="1"/>
          <p:nvPr/>
        </p:nvSpPr>
        <p:spPr>
          <a:xfrm>
            <a:off x="1188720" y="3340173"/>
            <a:ext cx="1645920" cy="568234"/>
          </a:xfrm>
          <a:prstGeom prst="rect">
            <a:avLst/>
          </a:prstGeom>
          <a:noFill/>
          <a:ln/>
        </p:spPr>
        <p:txBody>
          <a:bodyPr wrap="square" lIns="0" tIns="0" rIns="0" bIns="0" rtlCol="0" anchor="t"/>
          <a:lstStyle/>
          <a:p>
            <a:pPr indent="0" marL="0">
              <a:buNone/>
            </a:pPr>
            <a:r>
              <a:rPr lang="en-US" sz="1200" b="1" dirty="0">
                <a:solidFill>
                  <a:srgbClr val="465A69"/>
                </a:solidFill>
                <a:latin typeface="Calibri" pitchFamily="34" charset="0"/>
                <a:ea typeface="Calibri" pitchFamily="34" charset="-122"/>
                <a:cs typeface="Calibri" pitchFamily="34" charset="-120"/>
              </a:rPr>
              <a:t>T+2h</a:t>
            </a:r>
            <a:endParaRPr lang="en-US" sz="1200" dirty="0"/>
          </a:p>
          <a:p>
            <a:pPr indent="0" marL="0">
              <a:buNone/>
            </a:pPr>
            <a:r>
              <a:rPr lang="en-US" sz="1200" dirty="0">
                <a:solidFill>
                  <a:srgbClr val="1E2E3A"/>
                </a:solidFill>
                <a:latin typeface="Calibri" pitchFamily="34" charset="0"/>
                <a:ea typeface="Calibri" pitchFamily="34" charset="-122"/>
                <a:cs typeface="Calibri" pitchFamily="34" charset="-120"/>
              </a:rPr>
              <a:t>Provider incident declared</a:t>
            </a:r>
            <a:endParaRPr lang="en-US" sz="1200" dirty="0"/>
          </a:p>
        </p:txBody>
      </p:sp>
      <p:sp>
        <p:nvSpPr>
          <p:cNvPr id="28" name="Shape 26"/>
          <p:cNvSpPr/>
          <p:nvPr/>
        </p:nvSpPr>
        <p:spPr>
          <a:xfrm>
            <a:off x="905256" y="4255879"/>
            <a:ext cx="0" cy="257338"/>
          </a:xfrm>
          <a:prstGeom prst="line">
            <a:avLst/>
          </a:prstGeom>
          <a:noFill/>
          <a:ln w="19050">
            <a:solidFill>
              <a:srgbClr val="4C8068"/>
            </a:solidFill>
            <a:prstDash val="solid"/>
          </a:ln>
        </p:spPr>
      </p:sp>
      <p:sp>
        <p:nvSpPr>
          <p:cNvPr id="29" name="Shape 27"/>
          <p:cNvSpPr/>
          <p:nvPr/>
        </p:nvSpPr>
        <p:spPr>
          <a:xfrm>
            <a:off x="777240" y="3972415"/>
            <a:ext cx="256032" cy="256032"/>
          </a:xfrm>
          <a:prstGeom prst="ellipse">
            <a:avLst/>
          </a:prstGeom>
          <a:solidFill>
            <a:srgbClr val="F1F8F3"/>
          </a:solidFill>
          <a:ln w="12700">
            <a:solidFill>
              <a:srgbClr val="F1F8F3"/>
            </a:solidFill>
            <a:prstDash val="solid"/>
          </a:ln>
        </p:spPr>
      </p:sp>
      <p:sp>
        <p:nvSpPr>
          <p:cNvPr id="30" name="Text 28"/>
          <p:cNvSpPr txBox="1"/>
          <p:nvPr/>
        </p:nvSpPr>
        <p:spPr>
          <a:xfrm>
            <a:off x="1188720" y="3908407"/>
            <a:ext cx="1645920" cy="568234"/>
          </a:xfrm>
          <a:prstGeom prst="rect">
            <a:avLst/>
          </a:prstGeom>
          <a:noFill/>
          <a:ln/>
        </p:spPr>
        <p:txBody>
          <a:bodyPr wrap="square" lIns="0" tIns="0" rIns="0" bIns="0" rtlCol="0" anchor="t"/>
          <a:lstStyle/>
          <a:p>
            <a:pPr indent="0" marL="0">
              <a:buNone/>
            </a:pPr>
            <a:r>
              <a:rPr lang="en-US" sz="1200" b="1" dirty="0">
                <a:solidFill>
                  <a:srgbClr val="465A69"/>
                </a:solidFill>
                <a:latin typeface="Calibri" pitchFamily="34" charset="0"/>
                <a:ea typeface="Calibri" pitchFamily="34" charset="-122"/>
                <a:cs typeface="Calibri" pitchFamily="34" charset="-120"/>
              </a:rPr>
              <a:t>T+6h</a:t>
            </a:r>
            <a:endParaRPr lang="en-US" sz="1200" dirty="0"/>
          </a:p>
          <a:p>
            <a:pPr indent="0" marL="0">
              <a:buNone/>
            </a:pPr>
            <a:r>
              <a:rPr lang="en-US" sz="1200" dirty="0">
                <a:solidFill>
                  <a:srgbClr val="1E2E3A"/>
                </a:solidFill>
                <a:latin typeface="Calibri" pitchFamily="34" charset="0"/>
                <a:ea typeface="Calibri" pitchFamily="34" charset="-122"/>
                <a:cs typeface="Calibri" pitchFamily="34" charset="-120"/>
              </a:rPr>
              <a:t>Business impact</a:t>
            </a:r>
            <a:endParaRPr lang="en-US" sz="1200" dirty="0"/>
          </a:p>
        </p:txBody>
      </p:sp>
      <p:sp>
        <p:nvSpPr>
          <p:cNvPr id="31" name="Shape 29"/>
          <p:cNvSpPr/>
          <p:nvPr/>
        </p:nvSpPr>
        <p:spPr>
          <a:xfrm>
            <a:off x="905256" y="4824113"/>
            <a:ext cx="0" cy="257338"/>
          </a:xfrm>
          <a:prstGeom prst="line">
            <a:avLst/>
          </a:prstGeom>
          <a:noFill/>
          <a:ln w="19050">
            <a:solidFill>
              <a:srgbClr val="4C8068"/>
            </a:solidFill>
            <a:prstDash val="solid"/>
          </a:ln>
        </p:spPr>
      </p:sp>
      <p:sp>
        <p:nvSpPr>
          <p:cNvPr id="32" name="Shape 30"/>
          <p:cNvSpPr/>
          <p:nvPr/>
        </p:nvSpPr>
        <p:spPr>
          <a:xfrm>
            <a:off x="777240" y="4540649"/>
            <a:ext cx="256032" cy="256032"/>
          </a:xfrm>
          <a:prstGeom prst="ellipse">
            <a:avLst/>
          </a:prstGeom>
          <a:solidFill>
            <a:srgbClr val="F1F8F3"/>
          </a:solidFill>
          <a:ln w="12700">
            <a:solidFill>
              <a:srgbClr val="F1F8F3"/>
            </a:solidFill>
            <a:prstDash val="solid"/>
          </a:ln>
        </p:spPr>
      </p:sp>
      <p:sp>
        <p:nvSpPr>
          <p:cNvPr id="33" name="Text 31"/>
          <p:cNvSpPr txBox="1"/>
          <p:nvPr/>
        </p:nvSpPr>
        <p:spPr>
          <a:xfrm>
            <a:off x="1188720" y="4476641"/>
            <a:ext cx="1645920" cy="568234"/>
          </a:xfrm>
          <a:prstGeom prst="rect">
            <a:avLst/>
          </a:prstGeom>
          <a:noFill/>
          <a:ln/>
        </p:spPr>
        <p:txBody>
          <a:bodyPr wrap="square" lIns="0" tIns="0" rIns="0" bIns="0" rtlCol="0" anchor="t"/>
          <a:lstStyle/>
          <a:p>
            <a:pPr indent="0" marL="0">
              <a:buNone/>
            </a:pPr>
            <a:r>
              <a:rPr lang="en-US" sz="1200" b="1" dirty="0">
                <a:solidFill>
                  <a:srgbClr val="465A69"/>
                </a:solidFill>
                <a:latin typeface="Calibri" pitchFamily="34" charset="0"/>
                <a:ea typeface="Calibri" pitchFamily="34" charset="-122"/>
                <a:cs typeface="Calibri" pitchFamily="34" charset="-120"/>
              </a:rPr>
              <a:t>T+12h</a:t>
            </a:r>
            <a:endParaRPr lang="en-US" sz="1200" dirty="0"/>
          </a:p>
          <a:p>
            <a:pPr indent="0" marL="0">
              <a:buNone/>
            </a:pPr>
            <a:r>
              <a:rPr lang="en-US" sz="1200" dirty="0">
                <a:solidFill>
                  <a:srgbClr val="1E2E3A"/>
                </a:solidFill>
                <a:latin typeface="Calibri" pitchFamily="34" charset="0"/>
                <a:ea typeface="Calibri" pitchFamily="34" charset="-122"/>
                <a:cs typeface="Calibri" pitchFamily="34" charset="-120"/>
              </a:rPr>
              <a:t>Extended outage</a:t>
            </a:r>
            <a:endParaRPr lang="en-US" sz="1200" dirty="0"/>
          </a:p>
        </p:txBody>
      </p:sp>
      <p:sp>
        <p:nvSpPr>
          <p:cNvPr id="34" name="Shape 32"/>
          <p:cNvSpPr/>
          <p:nvPr/>
        </p:nvSpPr>
        <p:spPr>
          <a:xfrm>
            <a:off x="905256" y="5392347"/>
            <a:ext cx="0" cy="257338"/>
          </a:xfrm>
          <a:prstGeom prst="line">
            <a:avLst/>
          </a:prstGeom>
          <a:noFill/>
          <a:ln w="19050">
            <a:solidFill>
              <a:srgbClr val="4C8068"/>
            </a:solidFill>
            <a:prstDash val="solid"/>
          </a:ln>
        </p:spPr>
      </p:sp>
      <p:sp>
        <p:nvSpPr>
          <p:cNvPr id="35" name="Shape 33"/>
          <p:cNvSpPr/>
          <p:nvPr/>
        </p:nvSpPr>
        <p:spPr>
          <a:xfrm>
            <a:off x="777240" y="5108883"/>
            <a:ext cx="256032" cy="256032"/>
          </a:xfrm>
          <a:prstGeom prst="ellipse">
            <a:avLst/>
          </a:prstGeom>
          <a:solidFill>
            <a:srgbClr val="F1F8F3"/>
          </a:solidFill>
          <a:ln w="12700">
            <a:solidFill>
              <a:srgbClr val="F1F8F3"/>
            </a:solidFill>
            <a:prstDash val="solid"/>
          </a:ln>
        </p:spPr>
      </p:sp>
      <p:sp>
        <p:nvSpPr>
          <p:cNvPr id="36" name="Text 34"/>
          <p:cNvSpPr txBox="1"/>
          <p:nvPr/>
        </p:nvSpPr>
        <p:spPr>
          <a:xfrm>
            <a:off x="1188720" y="5044875"/>
            <a:ext cx="1645920" cy="568234"/>
          </a:xfrm>
          <a:prstGeom prst="rect">
            <a:avLst/>
          </a:prstGeom>
          <a:noFill/>
          <a:ln/>
        </p:spPr>
        <p:txBody>
          <a:bodyPr wrap="square" lIns="0" tIns="0" rIns="0" bIns="0" rtlCol="0" anchor="t"/>
          <a:lstStyle/>
          <a:p>
            <a:pPr indent="0" marL="0">
              <a:buNone/>
            </a:pPr>
            <a:r>
              <a:rPr lang="en-US" sz="1200" b="1" dirty="0">
                <a:solidFill>
                  <a:srgbClr val="465A69"/>
                </a:solidFill>
                <a:latin typeface="Calibri" pitchFamily="34" charset="0"/>
                <a:ea typeface="Calibri" pitchFamily="34" charset="-122"/>
                <a:cs typeface="Calibri" pitchFamily="34" charset="-120"/>
              </a:rPr>
              <a:t>T+24h</a:t>
            </a:r>
            <a:endParaRPr lang="en-US" sz="1200" dirty="0"/>
          </a:p>
          <a:p>
            <a:pPr indent="0" marL="0">
              <a:buNone/>
            </a:pPr>
            <a:r>
              <a:rPr lang="en-US" sz="1200" dirty="0">
                <a:solidFill>
                  <a:srgbClr val="1E2E3A"/>
                </a:solidFill>
                <a:latin typeface="Calibri" pitchFamily="34" charset="0"/>
                <a:ea typeface="Calibri" pitchFamily="34" charset="-122"/>
                <a:cs typeface="Calibri" pitchFamily="34" charset="-120"/>
              </a:rPr>
              <a:t>Beyond SLA</a:t>
            </a:r>
            <a:endParaRPr lang="en-US" sz="1200" dirty="0"/>
          </a:p>
        </p:txBody>
      </p:sp>
      <p:sp>
        <p:nvSpPr>
          <p:cNvPr id="37" name="Shape 35"/>
          <p:cNvSpPr/>
          <p:nvPr/>
        </p:nvSpPr>
        <p:spPr>
          <a:xfrm>
            <a:off x="777240" y="5677118"/>
            <a:ext cx="256032" cy="256032"/>
          </a:xfrm>
          <a:prstGeom prst="ellipse">
            <a:avLst/>
          </a:prstGeom>
          <a:solidFill>
            <a:srgbClr val="4C8068"/>
          </a:solidFill>
          <a:ln w="12700">
            <a:solidFill>
              <a:srgbClr val="4C8068"/>
            </a:solidFill>
            <a:prstDash val="solid"/>
          </a:ln>
        </p:spPr>
      </p:sp>
      <p:sp>
        <p:nvSpPr>
          <p:cNvPr id="38" name="Text 36"/>
          <p:cNvSpPr txBox="1"/>
          <p:nvPr/>
        </p:nvSpPr>
        <p:spPr>
          <a:xfrm>
            <a:off x="1188720" y="5613110"/>
            <a:ext cx="1645920" cy="568234"/>
          </a:xfrm>
          <a:prstGeom prst="rect">
            <a:avLst/>
          </a:prstGeom>
          <a:noFill/>
          <a:ln/>
        </p:spPr>
        <p:txBody>
          <a:bodyPr wrap="square" lIns="0" tIns="0" rIns="0" bIns="0" rtlCol="0" anchor="t"/>
          <a:lstStyle/>
          <a:p>
            <a:pPr indent="0" marL="0">
              <a:buNone/>
            </a:pPr>
            <a:r>
              <a:rPr lang="en-US" sz="1200" b="1" dirty="0">
                <a:solidFill>
                  <a:srgbClr val="4C8068"/>
                </a:solidFill>
                <a:latin typeface="Calibri" pitchFamily="34" charset="0"/>
                <a:ea typeface="Calibri" pitchFamily="34" charset="-122"/>
                <a:cs typeface="Calibri" pitchFamily="34" charset="-120"/>
              </a:rPr>
              <a:t>T+48 to 72h</a:t>
            </a:r>
            <a:endParaRPr lang="en-US" sz="1200" dirty="0"/>
          </a:p>
          <a:p>
            <a:pPr indent="0" marL="0">
              <a:buNone/>
            </a:pPr>
            <a:r>
              <a:rPr lang="en-US" sz="1200" b="1" dirty="0">
                <a:solidFill>
                  <a:srgbClr val="4C8068"/>
                </a:solidFill>
                <a:latin typeface="Calibri" pitchFamily="34" charset="0"/>
                <a:ea typeface="Calibri" pitchFamily="34" charset="-122"/>
                <a:cs typeface="Calibri" pitchFamily="34" charset="-120"/>
              </a:rPr>
              <a:t>Uneven return</a:t>
            </a:r>
            <a:endParaRPr lang="en-US" sz="1200" dirty="0"/>
          </a:p>
        </p:txBody>
      </p:sp>
      <p:sp>
        <p:nvSpPr>
          <p:cNvPr id="39" name="Shape 37"/>
          <p:cNvSpPr/>
          <p:nvPr/>
        </p:nvSpPr>
        <p:spPr>
          <a:xfrm>
            <a:off x="3154680" y="1600200"/>
            <a:ext cx="5696712" cy="3017520"/>
          </a:xfrm>
          <a:prstGeom prst="roundRect">
            <a:avLst>
              <a:gd name="adj" fmla="val 4242"/>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40" name="Shape 38"/>
          <p:cNvSpPr/>
          <p:nvPr/>
        </p:nvSpPr>
        <p:spPr>
          <a:xfrm>
            <a:off x="3429000" y="1810512"/>
            <a:ext cx="3429000" cy="384048"/>
          </a:xfrm>
          <a:prstGeom prst="roundRect">
            <a:avLst>
              <a:gd name="adj" fmla="val 50000"/>
            </a:avLst>
          </a:prstGeom>
          <a:solidFill>
            <a:srgbClr val="4C8068"/>
          </a:solidFill>
          <a:ln w="12700">
            <a:solidFill>
              <a:srgbClr val="4C8068"/>
            </a:solidFill>
            <a:prstDash val="solid"/>
          </a:ln>
        </p:spPr>
      </p:sp>
      <p:pic>
        <p:nvPicPr>
          <p:cNvPr id="41" name="Image 0" descr="preencoded.png">    </p:cNvPr>
          <p:cNvPicPr>
            <a:picLocks noChangeAspect="1"/>
          </p:cNvPicPr>
          <p:nvPr/>
        </p:nvPicPr>
        <p:blipFill>
          <a:blip r:embed="rId1"/>
          <a:stretch>
            <a:fillRect/>
          </a:stretch>
        </p:blipFill>
        <p:spPr>
          <a:xfrm>
            <a:off x="3547872" y="1874520"/>
            <a:ext cx="246888" cy="246888"/>
          </a:xfrm>
          <a:prstGeom prst="rect">
            <a:avLst/>
          </a:prstGeom>
        </p:spPr>
      </p:pic>
      <p:sp>
        <p:nvSpPr>
          <p:cNvPr id="42" name="Text 39"/>
          <p:cNvSpPr txBox="1"/>
          <p:nvPr/>
        </p:nvSpPr>
        <p:spPr>
          <a:xfrm>
            <a:off x="3867912" y="1810512"/>
            <a:ext cx="2971800" cy="38404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T+48 to 72h  |  Day 3, 9:00 AM</a:t>
            </a:r>
            <a:endParaRPr lang="en-US" sz="1300" dirty="0"/>
          </a:p>
        </p:txBody>
      </p:sp>
      <p:sp>
        <p:nvSpPr>
          <p:cNvPr id="43" name="Text 40"/>
          <p:cNvSpPr txBox="1"/>
          <p:nvPr/>
        </p:nvSpPr>
        <p:spPr>
          <a:xfrm>
            <a:off x="3429000" y="2286000"/>
            <a:ext cx="2743200" cy="256032"/>
          </a:xfrm>
          <a:prstGeom prst="rect">
            <a:avLst/>
          </a:prstGeom>
          <a:noFill/>
          <a:ln/>
        </p:spPr>
        <p:txBody>
          <a:bodyPr wrap="square" lIns="0" tIns="0" rIns="0" bIns="0" rtlCol="0" anchor="t"/>
          <a:lstStyle/>
          <a:p>
            <a:pPr indent="0" marL="0">
              <a:buNone/>
            </a:pPr>
            <a:r>
              <a:rPr lang="en-US" sz="1200" b="1" dirty="0">
                <a:solidFill>
                  <a:srgbClr val="465A69"/>
                </a:solidFill>
                <a:latin typeface="Calibri" pitchFamily="34" charset="0"/>
                <a:ea typeface="Calibri" pitchFamily="34" charset="-122"/>
                <a:cs typeface="Calibri" pitchFamily="34" charset="-120"/>
              </a:rPr>
              <a:t>New information</a:t>
            </a:r>
            <a:endParaRPr lang="en-US" sz="1200" dirty="0"/>
          </a:p>
        </p:txBody>
      </p:sp>
      <p:sp>
        <p:nvSpPr>
          <p:cNvPr id="44" name="Text 41"/>
          <p:cNvSpPr txBox="1"/>
          <p:nvPr/>
        </p:nvSpPr>
        <p:spPr>
          <a:xfrm>
            <a:off x="3429000" y="2560320"/>
            <a:ext cx="5166360" cy="1965960"/>
          </a:xfrm>
          <a:prstGeom prst="rect">
            <a:avLst/>
          </a:prstGeom>
          <a:noFill/>
          <a:ln/>
        </p:spPr>
        <p:txBody>
          <a:bodyPr wrap="square" lIns="0" tIns="0" rIns="0" bIns="0" rtlCol="0" anchor="t"/>
          <a:lstStyle/>
          <a:p>
            <a:pPr indent="0" marL="0">
              <a:buNone/>
            </a:pPr>
            <a:r>
              <a:rPr lang="en-US" sz="1800" dirty="0">
                <a:solidFill>
                  <a:srgbClr val="1E2E3A"/>
                </a:solidFill>
                <a:latin typeface="Calibri" pitchFamily="34" charset="0"/>
                <a:ea typeface="Calibri" pitchFamily="34" charset="-122"/>
                <a:cs typeface="Calibri" pitchFamily="34" charset="-120"/>
              </a:rPr>
              <a:t>Some services begin returning, but recovery is inconsistent across users and apps.</a:t>
            </a:r>
            <a:endParaRPr lang="en-US" sz="1800" dirty="0"/>
          </a:p>
        </p:txBody>
      </p:sp>
      <p:sp>
        <p:nvSpPr>
          <p:cNvPr id="45" name="Shape 42"/>
          <p:cNvSpPr/>
          <p:nvPr/>
        </p:nvSpPr>
        <p:spPr>
          <a:xfrm>
            <a:off x="3154680" y="4800600"/>
            <a:ext cx="5696712" cy="1371600"/>
          </a:xfrm>
          <a:prstGeom prst="roundRect">
            <a:avLst>
              <a:gd name="adj" fmla="val 9333"/>
            </a:avLst>
          </a:prstGeom>
          <a:solidFill>
            <a:srgbClr val="F1F8F3"/>
          </a:solidFill>
          <a:ln w="12700">
            <a:solidFill>
              <a:srgbClr val="F1F8F3"/>
            </a:solidFill>
            <a:prstDash val="solid"/>
          </a:ln>
          <a:effectLst>
            <a:outerShdw sx="100000" sy="100000" kx="0" ky="0" algn="bl" rotWithShape="0" blurRad="177800" dist="50800" dir="5400000">
              <a:srgbClr val="1B4965">
                <a:alpha val="16000"/>
              </a:srgbClr>
            </a:outerShdw>
          </a:effectLst>
        </p:spPr>
      </p:sp>
      <p:sp>
        <p:nvSpPr>
          <p:cNvPr id="46" name="Text 43"/>
          <p:cNvSpPr txBox="1"/>
          <p:nvPr/>
        </p:nvSpPr>
        <p:spPr>
          <a:xfrm>
            <a:off x="3429000" y="4901184"/>
            <a:ext cx="2743200" cy="256032"/>
          </a:xfrm>
          <a:prstGeom prst="rect">
            <a:avLst/>
          </a:prstGeom>
          <a:noFill/>
          <a:ln/>
        </p:spPr>
        <p:txBody>
          <a:bodyPr wrap="square" lIns="0" tIns="0" rIns="0" bIns="0" rtlCol="0" anchor="t"/>
          <a:lstStyle/>
          <a:p>
            <a:pPr indent="0" marL="0">
              <a:buNone/>
            </a:pPr>
            <a:r>
              <a:rPr lang="en-US" sz="1300" b="1" dirty="0">
                <a:solidFill>
                  <a:srgbClr val="4C8068"/>
                </a:solidFill>
                <a:latin typeface="Calibri" pitchFamily="34" charset="0"/>
                <a:ea typeface="Calibri" pitchFamily="34" charset="-122"/>
                <a:cs typeface="Calibri" pitchFamily="34" charset="-120"/>
              </a:rPr>
              <a:t>Decide</a:t>
            </a:r>
            <a:endParaRPr lang="en-US" sz="1300" dirty="0"/>
          </a:p>
        </p:txBody>
      </p:sp>
      <p:sp>
        <p:nvSpPr>
          <p:cNvPr id="47" name="Text 44"/>
          <p:cNvSpPr txBox="1"/>
          <p:nvPr/>
        </p:nvSpPr>
        <p:spPr>
          <a:xfrm>
            <a:off x="3429000" y="5175504"/>
            <a:ext cx="5166360" cy="914400"/>
          </a:xfrm>
          <a:prstGeom prst="rect">
            <a:avLst/>
          </a:prstGeom>
          <a:noFill/>
          <a:ln/>
        </p:spPr>
        <p:txBody>
          <a:bodyPr wrap="square" lIns="0" tIns="0" rIns="0" bIns="0" rtlCol="0" anchor="t"/>
          <a:lstStyle/>
          <a:p>
            <a:pPr indent="0" marL="0">
              <a:buNone/>
            </a:pPr>
            <a:r>
              <a:rPr lang="en-US" sz="1600" b="1" dirty="0">
                <a:solidFill>
                  <a:srgbClr val="1E2E3A"/>
                </a:solidFill>
                <a:latin typeface="Calibri" pitchFamily="34" charset="0"/>
                <a:ea typeface="Calibri" pitchFamily="34" charset="-122"/>
                <a:cs typeface="Calibri" pitchFamily="34" charset="-120"/>
              </a:rPr>
              <a:t>Do you immediately return everyone to M365? How do you validate service and data integrity first?</a:t>
            </a:r>
            <a:endParaRPr lang="en-US" sz="1600" dirty="0"/>
          </a:p>
        </p:txBody>
      </p:sp>
      <p:sp>
        <p:nvSpPr>
          <p:cNvPr id="48" name="Shape 45"/>
          <p:cNvSpPr/>
          <p:nvPr/>
        </p:nvSpPr>
        <p:spPr>
          <a:xfrm>
            <a:off x="9079992" y="1600200"/>
            <a:ext cx="2560320" cy="4572000"/>
          </a:xfrm>
          <a:prstGeom prst="roundRect">
            <a:avLst>
              <a:gd name="adj" fmla="val 5000"/>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49" name="Text 46"/>
          <p:cNvSpPr txBox="1"/>
          <p:nvPr/>
        </p:nvSpPr>
        <p:spPr>
          <a:xfrm>
            <a:off x="9262872" y="1728216"/>
            <a:ext cx="2194560" cy="457200"/>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Provider status (simulated)</a:t>
            </a:r>
            <a:endParaRPr lang="en-US" sz="1300" dirty="0"/>
          </a:p>
        </p:txBody>
      </p:sp>
      <p:sp>
        <p:nvSpPr>
          <p:cNvPr id="50" name="Shape 47"/>
          <p:cNvSpPr/>
          <p:nvPr/>
        </p:nvSpPr>
        <p:spPr>
          <a:xfrm>
            <a:off x="9262872" y="2221992"/>
            <a:ext cx="2194560" cy="3767328"/>
          </a:xfrm>
          <a:prstGeom prst="roundRect">
            <a:avLst>
              <a:gd name="adj" fmla="val 3333"/>
            </a:avLst>
          </a:prstGeom>
          <a:solidFill>
            <a:srgbClr val="FFFFFF"/>
          </a:solidFill>
          <a:ln w="9525">
            <a:solidFill>
              <a:srgbClr val="C9D3DE"/>
            </a:solidFill>
            <a:prstDash val="solid"/>
          </a:ln>
        </p:spPr>
      </p:sp>
      <p:sp>
        <p:nvSpPr>
          <p:cNvPr id="51" name="Shape 48"/>
          <p:cNvSpPr/>
          <p:nvPr/>
        </p:nvSpPr>
        <p:spPr>
          <a:xfrm>
            <a:off x="9381744" y="2432304"/>
            <a:ext cx="109728" cy="109728"/>
          </a:xfrm>
          <a:prstGeom prst="rect">
            <a:avLst/>
          </a:prstGeom>
          <a:solidFill>
            <a:srgbClr val="D99A8A"/>
          </a:solidFill>
          <a:ln w="12700">
            <a:solidFill>
              <a:srgbClr val="D99A8A"/>
            </a:solidFill>
            <a:prstDash val="solid"/>
          </a:ln>
        </p:spPr>
      </p:sp>
      <p:sp>
        <p:nvSpPr>
          <p:cNvPr id="52" name="Shape 49"/>
          <p:cNvSpPr/>
          <p:nvPr/>
        </p:nvSpPr>
        <p:spPr>
          <a:xfrm>
            <a:off x="9500616" y="2432304"/>
            <a:ext cx="109728" cy="109728"/>
          </a:xfrm>
          <a:prstGeom prst="rect">
            <a:avLst/>
          </a:prstGeom>
          <a:solidFill>
            <a:srgbClr val="A9C38A"/>
          </a:solidFill>
          <a:ln w="12700">
            <a:solidFill>
              <a:srgbClr val="A9C38A"/>
            </a:solidFill>
            <a:prstDash val="solid"/>
          </a:ln>
        </p:spPr>
      </p:sp>
      <p:sp>
        <p:nvSpPr>
          <p:cNvPr id="53" name="Shape 50"/>
          <p:cNvSpPr/>
          <p:nvPr/>
        </p:nvSpPr>
        <p:spPr>
          <a:xfrm>
            <a:off x="9381744" y="2551176"/>
            <a:ext cx="109728" cy="109728"/>
          </a:xfrm>
          <a:prstGeom prst="rect">
            <a:avLst/>
          </a:prstGeom>
          <a:solidFill>
            <a:srgbClr val="8FBCD6"/>
          </a:solidFill>
          <a:ln w="12700">
            <a:solidFill>
              <a:srgbClr val="8FBCD6"/>
            </a:solidFill>
            <a:prstDash val="solid"/>
          </a:ln>
        </p:spPr>
      </p:sp>
      <p:sp>
        <p:nvSpPr>
          <p:cNvPr id="54" name="Shape 51"/>
          <p:cNvSpPr/>
          <p:nvPr/>
        </p:nvSpPr>
        <p:spPr>
          <a:xfrm>
            <a:off x="9500616" y="2551176"/>
            <a:ext cx="109728" cy="109728"/>
          </a:xfrm>
          <a:prstGeom prst="rect">
            <a:avLst/>
          </a:prstGeom>
          <a:solidFill>
            <a:srgbClr val="E0C58A"/>
          </a:solidFill>
          <a:ln w="12700">
            <a:solidFill>
              <a:srgbClr val="E0C58A"/>
            </a:solidFill>
            <a:prstDash val="solid"/>
          </a:ln>
        </p:spPr>
      </p:sp>
      <p:sp>
        <p:nvSpPr>
          <p:cNvPr id="55" name="Text 52"/>
          <p:cNvSpPr txBox="1"/>
          <p:nvPr/>
        </p:nvSpPr>
        <p:spPr>
          <a:xfrm>
            <a:off x="9729216" y="2386584"/>
            <a:ext cx="1591056" cy="292608"/>
          </a:xfrm>
          <a:prstGeom prst="rect">
            <a:avLst/>
          </a:prstGeom>
          <a:noFill/>
          <a:ln/>
        </p:spPr>
        <p:txBody>
          <a:bodyPr wrap="square" lIns="0" tIns="0" rIns="0" bIns="0" rtlCol="0" anchor="ctr"/>
          <a:lstStyle/>
          <a:p>
            <a:pPr indent="0" marL="0">
              <a:buNone/>
            </a:pPr>
            <a:r>
              <a:rPr lang="en-US" sz="1700" dirty="0">
                <a:solidFill>
                  <a:srgbClr val="3C3C3C"/>
                </a:solidFill>
                <a:latin typeface="Calibri" pitchFamily="34" charset="0"/>
                <a:ea typeface="Calibri" pitchFamily="34" charset="-122"/>
                <a:cs typeface="Calibri" pitchFamily="34" charset="-120"/>
              </a:rPr>
              <a:t>Microsoft</a:t>
            </a:r>
            <a:endParaRPr lang="en-US" sz="1700" dirty="0"/>
          </a:p>
        </p:txBody>
      </p:sp>
      <p:pic>
        <p:nvPicPr>
          <p:cNvPr id="56" name="Image 1" descr="preencoded.png">    </p:cNvPr>
          <p:cNvPicPr>
            <a:picLocks noChangeAspect="1"/>
          </p:cNvPicPr>
          <p:nvPr/>
        </p:nvPicPr>
        <p:blipFill>
          <a:blip r:embed="rId2"/>
          <a:stretch>
            <a:fillRect/>
          </a:stretch>
        </p:blipFill>
        <p:spPr>
          <a:xfrm>
            <a:off x="9381744" y="2798064"/>
            <a:ext cx="219456" cy="219456"/>
          </a:xfrm>
          <a:prstGeom prst="rect">
            <a:avLst/>
          </a:prstGeom>
        </p:spPr>
      </p:pic>
      <p:sp>
        <p:nvSpPr>
          <p:cNvPr id="57" name="Text 53"/>
          <p:cNvSpPr txBox="1"/>
          <p:nvPr/>
        </p:nvSpPr>
        <p:spPr>
          <a:xfrm>
            <a:off x="9674352" y="2770632"/>
            <a:ext cx="1636776" cy="470408"/>
          </a:xfrm>
          <a:prstGeom prst="rect">
            <a:avLst/>
          </a:prstGeom>
          <a:noFill/>
          <a:ln/>
        </p:spPr>
        <p:txBody>
          <a:bodyPr wrap="square" lIns="0" tIns="0" rIns="0" bIns="0" rtlCol="0" anchor="ctr"/>
          <a:lstStyle/>
          <a:p>
            <a:pPr indent="0" marL="0">
              <a:buNone/>
            </a:pPr>
            <a:r>
              <a:rPr lang="en-US" sz="1400" b="1" dirty="0">
                <a:solidFill>
                  <a:srgbClr val="1B2A4A"/>
                </a:solidFill>
                <a:latin typeface="Calibri" pitchFamily="34" charset="0"/>
                <a:ea typeface="Calibri" pitchFamily="34" charset="-122"/>
                <a:cs typeface="Calibri" pitchFamily="34" charset="-120"/>
              </a:rPr>
              <a:t>Partial restoration</a:t>
            </a:r>
            <a:endParaRPr lang="en-US" sz="1400" dirty="0"/>
          </a:p>
        </p:txBody>
      </p:sp>
      <p:sp>
        <p:nvSpPr>
          <p:cNvPr id="58" name="Text 54"/>
          <p:cNvSpPr txBox="1"/>
          <p:nvPr/>
        </p:nvSpPr>
        <p:spPr>
          <a:xfrm>
            <a:off x="9381744" y="3295904"/>
            <a:ext cx="1956816" cy="1338072"/>
          </a:xfrm>
          <a:prstGeom prst="rect">
            <a:avLst/>
          </a:prstGeom>
          <a:noFill/>
          <a:ln/>
        </p:spPr>
        <p:txBody>
          <a:bodyPr wrap="square" lIns="0" tIns="0" rIns="0" bIns="0" rtlCol="0" anchor="t"/>
          <a:lstStyle/>
          <a:p>
            <a:pPr indent="0" marL="0">
              <a:buNone/>
            </a:pPr>
            <a:r>
              <a:rPr lang="en-US" sz="1400" dirty="0">
                <a:solidFill>
                  <a:srgbClr val="1E2E3A"/>
                </a:solidFill>
                <a:latin typeface="Calibri" pitchFamily="34" charset="0"/>
                <a:ea typeface="Calibri" pitchFamily="34" charset="-122"/>
                <a:cs typeface="Calibri" pitchFamily="34" charset="-120"/>
              </a:rPr>
              <a:t>Some services in US-East are recovering. Users may see intermittent access while recovery continues.</a:t>
            </a:r>
            <a:endParaRPr lang="en-US" sz="1400" dirty="0"/>
          </a:p>
        </p:txBody>
      </p:sp>
      <p:sp>
        <p:nvSpPr>
          <p:cNvPr id="59" name="Text 55"/>
          <p:cNvSpPr txBox="1"/>
          <p:nvPr/>
        </p:nvSpPr>
        <p:spPr>
          <a:xfrm>
            <a:off x="9381744" y="4716272"/>
            <a:ext cx="1956816" cy="228600"/>
          </a:xfrm>
          <a:prstGeom prst="rect">
            <a:avLst/>
          </a:prstGeom>
          <a:noFill/>
          <a:ln/>
        </p:spPr>
        <p:txBody>
          <a:bodyPr wrap="square" lIns="0" tIns="0" rIns="0" bIns="0" rtlCol="0" anchor="t"/>
          <a:lstStyle/>
          <a:p>
            <a:pPr indent="0" marL="0">
              <a:buNone/>
            </a:pPr>
            <a:r>
              <a:rPr lang="en-US" sz="1200" dirty="0">
                <a:solidFill>
                  <a:srgbClr val="465A69"/>
                </a:solidFill>
                <a:latin typeface="Calibri" pitchFamily="34" charset="0"/>
                <a:ea typeface="Calibri" pitchFamily="34" charset="-122"/>
                <a:cs typeface="Calibri" pitchFamily="34" charset="-120"/>
              </a:rPr>
              <a:t>Day 3, 9:00 AM</a:t>
            </a:r>
            <a:endParaRPr lang="en-US" sz="1200" dirty="0"/>
          </a:p>
        </p:txBody>
      </p:sp>
      <p:sp>
        <p:nvSpPr>
          <p:cNvPr id="60" name="Text 56"/>
          <p:cNvSpPr txBox="1"/>
          <p:nvPr/>
        </p:nvSpPr>
        <p:spPr>
          <a:xfrm>
            <a:off x="548640" y="6254496"/>
            <a:ext cx="11091672" cy="256032"/>
          </a:xfrm>
          <a:prstGeom prst="rect">
            <a:avLst/>
          </a:prstGeom>
          <a:noFill/>
          <a:ln/>
        </p:spPr>
        <p:txBody>
          <a:bodyPr wrap="square" lIns="0" tIns="0" rIns="0" bIns="0" rtlCol="0" anchor="ctr"/>
          <a:lstStyle/>
          <a:p>
            <a:pPr indent="0" marL="0">
              <a:buNone/>
            </a:pPr>
            <a:r>
              <a:rPr lang="en-US" sz="1200" b="1" dirty="0">
                <a:solidFill>
                  <a:srgbClr val="465A69"/>
                </a:solidFill>
                <a:latin typeface="Calibri" pitchFamily="34" charset="0"/>
                <a:ea typeface="Calibri" pitchFamily="34" charset="-122"/>
                <a:cs typeface="Calibri" pitchFamily="34" charset="-120"/>
              </a:rPr>
              <a:t>Acronyms:  </a:t>
            </a:r>
            <a:pPr indent="0" marL="0">
              <a:buNone/>
            </a:pPr>
            <a:r>
              <a:rPr lang="en-US" sz="1200" dirty="0">
                <a:solidFill>
                  <a:srgbClr val="465A69"/>
                </a:solidFill>
                <a:latin typeface="Calibri" pitchFamily="34" charset="0"/>
                <a:ea typeface="Calibri" pitchFamily="34" charset="-122"/>
                <a:cs typeface="Calibri" pitchFamily="34" charset="-120"/>
              </a:rPr>
              <a:t>T+: time since the first signal;  M365: Microsoft 365;  SLA: service level agreement</a:t>
            </a:r>
            <a:endParaRPr lang="en-US" sz="1200" dirty="0"/>
          </a:p>
        </p:txBody>
      </p:sp>
      <p:sp>
        <p:nvSpPr>
          <p:cNvPr id="61" name="Shape 57"/>
          <p:cNvSpPr/>
          <p:nvPr/>
        </p:nvSpPr>
        <p:spPr>
          <a:xfrm>
            <a:off x="548640" y="6537960"/>
            <a:ext cx="763524" cy="274320"/>
          </a:xfrm>
          <a:prstGeom prst="roundRect">
            <a:avLst>
              <a:gd name="adj" fmla="val 50000"/>
            </a:avLst>
          </a:prstGeom>
          <a:solidFill>
            <a:srgbClr val="E4ECF2"/>
          </a:solidFill>
          <a:ln w="12700">
            <a:solidFill>
              <a:srgbClr val="E4ECF2"/>
            </a:solidFill>
            <a:prstDash val="solid"/>
          </a:ln>
        </p:spPr>
      </p:sp>
      <p:sp>
        <p:nvSpPr>
          <p:cNvPr id="62" name="Text 58"/>
          <p:cNvSpPr txBox="1"/>
          <p:nvPr/>
        </p:nvSpPr>
        <p:spPr>
          <a:xfrm>
            <a:off x="548640" y="6537960"/>
            <a:ext cx="763524" cy="274320"/>
          </a:xfrm>
          <a:prstGeom prst="rect">
            <a:avLst/>
          </a:prstGeom>
          <a:noFill/>
          <a:ln/>
        </p:spPr>
        <p:txBody>
          <a:bodyPr wrap="square" lIns="0" tIns="0" rIns="0" bIns="0" rtlCol="0" anchor="ctr"/>
          <a:lstStyle/>
          <a:p>
            <a:pPr algn="ctr" indent="0" marL="0">
              <a:buNone/>
            </a:pPr>
            <a:r>
              <a:rPr lang="en-US" sz="1200" b="1" dirty="0">
                <a:solidFill>
                  <a:srgbClr val="23405A"/>
                </a:solidFill>
                <a:latin typeface="Calibri" pitchFamily="34" charset="0"/>
                <a:ea typeface="Calibri" pitchFamily="34" charset="-122"/>
                <a:cs typeface="Calibri" pitchFamily="34" charset="-120"/>
              </a:rPr>
              <a:t>Start</a:t>
            </a:r>
            <a:endParaRPr lang="en-US" sz="1200" dirty="0"/>
          </a:p>
        </p:txBody>
      </p:sp>
      <p:pic>
        <p:nvPicPr>
          <p:cNvPr id="63" name="Image 2" descr="preencoded.png">
            <a:hlinkClick r:id="rId4" tooltip="Go to Start" action="ppaction://hlinksldjump"/>
          </p:cNvPr>
          <p:cNvPicPr>
            <a:picLocks noChangeAspect="1"/>
          </p:cNvPicPr>
          <p:nvPr/>
        </p:nvPicPr>
        <p:blipFill>
          <a:blip r:embed="rId3"/>
          <a:stretch>
            <a:fillRect/>
          </a:stretch>
        </p:blipFill>
        <p:spPr>
          <a:xfrm>
            <a:off x="548640" y="6537960"/>
            <a:ext cx="763524" cy="274320"/>
          </a:xfrm>
          <a:prstGeom prst="rect">
            <a:avLst/>
          </a:prstGeom>
        </p:spPr>
      </p:pic>
      <p:sp>
        <p:nvSpPr>
          <p:cNvPr id="64" name="Shape 59"/>
          <p:cNvSpPr/>
          <p:nvPr/>
        </p:nvSpPr>
        <p:spPr>
          <a:xfrm>
            <a:off x="1385316" y="6537960"/>
            <a:ext cx="1197864" cy="274320"/>
          </a:xfrm>
          <a:prstGeom prst="roundRect">
            <a:avLst>
              <a:gd name="adj" fmla="val 50000"/>
            </a:avLst>
          </a:prstGeom>
          <a:solidFill>
            <a:srgbClr val="F1F6FA"/>
          </a:solidFill>
          <a:ln w="12700">
            <a:solidFill>
              <a:srgbClr val="F1F6FA"/>
            </a:solidFill>
            <a:prstDash val="solid"/>
          </a:ln>
        </p:spPr>
      </p:sp>
      <p:sp>
        <p:nvSpPr>
          <p:cNvPr id="65" name="Text 60"/>
          <p:cNvSpPr txBox="1"/>
          <p:nvPr/>
        </p:nvSpPr>
        <p:spPr>
          <a:xfrm>
            <a:off x="1385316" y="6537960"/>
            <a:ext cx="1197864" cy="274320"/>
          </a:xfrm>
          <a:prstGeom prst="rect">
            <a:avLst/>
          </a:prstGeom>
          <a:noFill/>
          <a:ln/>
        </p:spPr>
        <p:txBody>
          <a:bodyPr wrap="square" lIns="0" tIns="0" rIns="0" bIns="0" rtlCol="0" anchor="ctr"/>
          <a:lstStyle/>
          <a:p>
            <a:pPr algn="ctr" indent="0" marL="0">
              <a:buNone/>
            </a:pPr>
            <a:r>
              <a:rPr lang="en-US" sz="1200" b="1" dirty="0">
                <a:solidFill>
                  <a:srgbClr val="3F6E8C"/>
                </a:solidFill>
                <a:latin typeface="Calibri" pitchFamily="34" charset="0"/>
                <a:ea typeface="Calibri" pitchFamily="34" charset="-122"/>
                <a:cs typeface="Calibri" pitchFamily="34" charset="-120"/>
              </a:rPr>
              <a:t>Scenario 1</a:t>
            </a:r>
            <a:endParaRPr lang="en-US" sz="1200" dirty="0"/>
          </a:p>
        </p:txBody>
      </p:sp>
      <p:pic>
        <p:nvPicPr>
          <p:cNvPr id="66" name="Image 3" descr="preencoded.png">
            <a:hlinkClick r:id="rId6" tooltip="Go to Scenario 1" action="ppaction://hlinksldjump"/>
          </p:cNvPr>
          <p:cNvPicPr>
            <a:picLocks noChangeAspect="1"/>
          </p:cNvPicPr>
          <p:nvPr/>
        </p:nvPicPr>
        <p:blipFill>
          <a:blip r:embed="rId5"/>
          <a:stretch>
            <a:fillRect/>
          </a:stretch>
        </p:blipFill>
        <p:spPr>
          <a:xfrm>
            <a:off x="1385316" y="6537960"/>
            <a:ext cx="1197864" cy="274320"/>
          </a:xfrm>
          <a:prstGeom prst="rect">
            <a:avLst/>
          </a:prstGeom>
        </p:spPr>
      </p:pic>
      <p:sp>
        <p:nvSpPr>
          <p:cNvPr id="67" name="Shape 61"/>
          <p:cNvSpPr/>
          <p:nvPr/>
        </p:nvSpPr>
        <p:spPr>
          <a:xfrm>
            <a:off x="2656332" y="6537960"/>
            <a:ext cx="1197864" cy="274320"/>
          </a:xfrm>
          <a:prstGeom prst="roundRect">
            <a:avLst>
              <a:gd name="adj" fmla="val 50000"/>
            </a:avLst>
          </a:prstGeom>
          <a:solidFill>
            <a:srgbClr val="4C8068"/>
          </a:solidFill>
          <a:ln w="12700">
            <a:solidFill>
              <a:srgbClr val="4C8068"/>
            </a:solidFill>
            <a:prstDash val="solid"/>
          </a:ln>
        </p:spPr>
      </p:sp>
      <p:sp>
        <p:nvSpPr>
          <p:cNvPr id="68" name="Text 62"/>
          <p:cNvSpPr txBox="1"/>
          <p:nvPr/>
        </p:nvSpPr>
        <p:spPr>
          <a:xfrm>
            <a:off x="2656332" y="6537960"/>
            <a:ext cx="1197864"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Scenario 2</a:t>
            </a:r>
            <a:endParaRPr lang="en-US" sz="1200" dirty="0"/>
          </a:p>
        </p:txBody>
      </p:sp>
      <p:pic>
        <p:nvPicPr>
          <p:cNvPr id="69" name="Image 4" descr="preencoded.png">
            <a:hlinkClick r:id="rId8" tooltip="Go to Scenario 2" action="ppaction://hlinksldjump"/>
          </p:cNvPr>
          <p:cNvPicPr>
            <a:picLocks noChangeAspect="1"/>
          </p:cNvPicPr>
          <p:nvPr/>
        </p:nvPicPr>
        <p:blipFill>
          <a:blip r:embed="rId7"/>
          <a:stretch>
            <a:fillRect/>
          </a:stretch>
        </p:blipFill>
        <p:spPr>
          <a:xfrm>
            <a:off x="2656332" y="6537960"/>
            <a:ext cx="1197864" cy="274320"/>
          </a:xfrm>
          <a:prstGeom prst="rect">
            <a:avLst/>
          </a:prstGeom>
        </p:spPr>
      </p:pic>
      <p:sp>
        <p:nvSpPr>
          <p:cNvPr id="70" name="Shape 63"/>
          <p:cNvSpPr/>
          <p:nvPr/>
        </p:nvSpPr>
        <p:spPr>
          <a:xfrm>
            <a:off x="3927348" y="6537960"/>
            <a:ext cx="1197864" cy="274320"/>
          </a:xfrm>
          <a:prstGeom prst="roundRect">
            <a:avLst>
              <a:gd name="adj" fmla="val 50000"/>
            </a:avLst>
          </a:prstGeom>
          <a:solidFill>
            <a:srgbClr val="F6F3FA"/>
          </a:solidFill>
          <a:ln w="12700">
            <a:solidFill>
              <a:srgbClr val="F6F3FA"/>
            </a:solidFill>
            <a:prstDash val="solid"/>
          </a:ln>
        </p:spPr>
      </p:sp>
      <p:sp>
        <p:nvSpPr>
          <p:cNvPr id="71" name="Text 64"/>
          <p:cNvSpPr txBox="1"/>
          <p:nvPr/>
        </p:nvSpPr>
        <p:spPr>
          <a:xfrm>
            <a:off x="3927348" y="6537960"/>
            <a:ext cx="1197864" cy="274320"/>
          </a:xfrm>
          <a:prstGeom prst="rect">
            <a:avLst/>
          </a:prstGeom>
          <a:noFill/>
          <a:ln/>
        </p:spPr>
        <p:txBody>
          <a:bodyPr wrap="square" lIns="0" tIns="0" rIns="0" bIns="0" rtlCol="0" anchor="ctr"/>
          <a:lstStyle/>
          <a:p>
            <a:pPr algn="ctr" indent="0" marL="0">
              <a:buNone/>
            </a:pPr>
            <a:r>
              <a:rPr lang="en-US" sz="1200" b="1" dirty="0">
                <a:solidFill>
                  <a:srgbClr val="6E5E94"/>
                </a:solidFill>
                <a:latin typeface="Calibri" pitchFamily="34" charset="0"/>
                <a:ea typeface="Calibri" pitchFamily="34" charset="-122"/>
                <a:cs typeface="Calibri" pitchFamily="34" charset="-120"/>
              </a:rPr>
              <a:t>Scenario 3</a:t>
            </a:r>
            <a:endParaRPr lang="en-US" sz="1200" dirty="0"/>
          </a:p>
        </p:txBody>
      </p:sp>
      <p:pic>
        <p:nvPicPr>
          <p:cNvPr id="72" name="Image 5" descr="preencoded.png">
            <a:hlinkClick r:id="rId10" tooltip="Go to Scenario 3" action="ppaction://hlinksldjump"/>
          </p:cNvPr>
          <p:cNvPicPr>
            <a:picLocks noChangeAspect="1"/>
          </p:cNvPicPr>
          <p:nvPr/>
        </p:nvPicPr>
        <p:blipFill>
          <a:blip r:embed="rId9"/>
          <a:stretch>
            <a:fillRect/>
          </a:stretch>
        </p:blipFill>
        <p:spPr>
          <a:xfrm>
            <a:off x="3927348" y="6537960"/>
            <a:ext cx="1197864" cy="274320"/>
          </a:xfrm>
          <a:prstGeom prst="rect">
            <a:avLst/>
          </a:prstGeom>
        </p:spPr>
      </p:pic>
      <p:sp>
        <p:nvSpPr>
          <p:cNvPr id="73" name="Shape 65"/>
          <p:cNvSpPr/>
          <p:nvPr/>
        </p:nvSpPr>
        <p:spPr>
          <a:xfrm>
            <a:off x="5198364" y="6537960"/>
            <a:ext cx="937260" cy="274320"/>
          </a:xfrm>
          <a:prstGeom prst="roundRect">
            <a:avLst>
              <a:gd name="adj" fmla="val 50000"/>
            </a:avLst>
          </a:prstGeom>
          <a:solidFill>
            <a:srgbClr val="E4ECF2"/>
          </a:solidFill>
          <a:ln w="12700">
            <a:solidFill>
              <a:srgbClr val="E4ECF2"/>
            </a:solidFill>
            <a:prstDash val="solid"/>
          </a:ln>
        </p:spPr>
      </p:sp>
      <p:sp>
        <p:nvSpPr>
          <p:cNvPr id="74" name="Text 66"/>
          <p:cNvSpPr txBox="1"/>
          <p:nvPr/>
        </p:nvSpPr>
        <p:spPr>
          <a:xfrm>
            <a:off x="5198364" y="6537960"/>
            <a:ext cx="937260" cy="274320"/>
          </a:xfrm>
          <a:prstGeom prst="rect">
            <a:avLst/>
          </a:prstGeom>
          <a:noFill/>
          <a:ln/>
        </p:spPr>
        <p:txBody>
          <a:bodyPr wrap="square" lIns="0" tIns="0" rIns="0" bIns="0" rtlCol="0" anchor="ctr"/>
          <a:lstStyle/>
          <a:p>
            <a:pPr algn="ctr" indent="0" marL="0">
              <a:buNone/>
            </a:pPr>
            <a:r>
              <a:rPr lang="en-US" sz="1200" b="1" dirty="0">
                <a:solidFill>
                  <a:srgbClr val="23405A"/>
                </a:solidFill>
                <a:latin typeface="Calibri" pitchFamily="34" charset="0"/>
                <a:ea typeface="Calibri" pitchFamily="34" charset="-122"/>
                <a:cs typeface="Calibri" pitchFamily="34" charset="-120"/>
              </a:rPr>
              <a:t>Closing</a:t>
            </a:r>
            <a:endParaRPr lang="en-US" sz="1200" dirty="0"/>
          </a:p>
        </p:txBody>
      </p:sp>
      <p:pic>
        <p:nvPicPr>
          <p:cNvPr id="75" name="Image 6" descr="preencoded.png">
            <a:hlinkClick r:id="rId12" tooltip="Go to Closing" action="ppaction://hlinksldjump"/>
          </p:cNvPr>
          <p:cNvPicPr>
            <a:picLocks noChangeAspect="1"/>
          </p:cNvPicPr>
          <p:nvPr/>
        </p:nvPicPr>
        <p:blipFill>
          <a:blip r:embed="rId11"/>
          <a:stretch>
            <a:fillRect/>
          </a:stretch>
        </p:blipFill>
        <p:spPr>
          <a:xfrm>
            <a:off x="5198364" y="6537960"/>
            <a:ext cx="937260" cy="274320"/>
          </a:xfrm>
          <a:prstGeom prst="rect">
            <a:avLst/>
          </a:prstGeom>
        </p:spPr>
      </p:pic>
      <p:sp>
        <p:nvSpPr>
          <p:cNvPr id="76" name="Text 67"/>
          <p:cNvSpPr txBox="1"/>
          <p:nvPr/>
        </p:nvSpPr>
        <p:spPr>
          <a:xfrm>
            <a:off x="11277295" y="6537960"/>
            <a:ext cx="365760" cy="274320"/>
          </a:xfrm>
          <a:prstGeom prst="rect">
            <a:avLst/>
          </a:prstGeom>
          <a:noFill/>
          <a:ln/>
        </p:spPr>
        <p:txBody>
          <a:bodyPr wrap="square" lIns="0" tIns="0" rIns="0" bIns="0" rtlCol="0" anchor="ctr"/>
          <a:lstStyle/>
          <a:p>
            <a:pPr algn="r" indent="0" marL="0">
              <a:buNone/>
            </a:pPr>
            <a:r>
              <a:rPr lang="en-US" sz="1200" dirty="0">
                <a:solidFill>
                  <a:srgbClr val="465A69"/>
                </a:solidFill>
                <a:latin typeface="Calibri" pitchFamily="34" charset="0"/>
                <a:ea typeface="Calibri" pitchFamily="34" charset="-122"/>
                <a:cs typeface="Calibri" pitchFamily="34" charset="-120"/>
              </a:rPr>
              <a:t>32</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E6F2E9"/>
        </a:solidFill>
      </p:bgPr>
    </p:bg>
    <p:spTree>
      <p:nvGrpSpPr>
        <p:cNvPr id="1" name=""/>
        <p:cNvGrpSpPr/>
        <p:nvPr/>
      </p:nvGrpSpPr>
      <p:grpSpPr>
        <a:xfrm>
          <a:off x="0" y="0"/>
          <a:ext cx="0" cy="0"/>
          <a:chOff x="0" y="0"/>
          <a:chExt cx="0" cy="0"/>
        </a:xfrm>
      </p:grpSpPr>
      <p:sp>
        <p:nvSpPr>
          <p:cNvPr id="2" name="Shape 0"/>
          <p:cNvSpPr/>
          <p:nvPr/>
        </p:nvSpPr>
        <p:spPr>
          <a:xfrm>
            <a:off x="548640" y="347472"/>
            <a:ext cx="2843784" cy="329184"/>
          </a:xfrm>
          <a:prstGeom prst="roundRect">
            <a:avLst>
              <a:gd name="adj" fmla="val 50000"/>
            </a:avLst>
          </a:prstGeom>
          <a:solidFill>
            <a:srgbClr val="F1F8F3"/>
          </a:solidFill>
          <a:ln w="12700">
            <a:solidFill>
              <a:srgbClr val="F1F8F3"/>
            </a:solidFill>
            <a:prstDash val="solid"/>
          </a:ln>
        </p:spPr>
      </p:sp>
      <p:sp>
        <p:nvSpPr>
          <p:cNvPr id="3" name="Text 1"/>
          <p:cNvSpPr txBox="1"/>
          <p:nvPr/>
        </p:nvSpPr>
        <p:spPr>
          <a:xfrm>
            <a:off x="548640" y="347472"/>
            <a:ext cx="2843784" cy="329184"/>
          </a:xfrm>
          <a:prstGeom prst="rect">
            <a:avLst/>
          </a:prstGeom>
          <a:noFill/>
          <a:ln/>
        </p:spPr>
        <p:txBody>
          <a:bodyPr wrap="square" lIns="0" tIns="0" rIns="0" bIns="0" rtlCol="0" anchor="ctr"/>
          <a:lstStyle/>
          <a:p>
            <a:pPr algn="ctr" indent="0" marL="0">
              <a:buNone/>
            </a:pPr>
            <a:r>
              <a:rPr lang="en-US" sz="1200" b="1" dirty="0">
                <a:solidFill>
                  <a:srgbClr val="4C8068"/>
                </a:solidFill>
                <a:latin typeface="Calibri" pitchFamily="34" charset="0"/>
                <a:ea typeface="Calibri" pitchFamily="34" charset="-122"/>
                <a:cs typeface="Calibri" pitchFamily="34" charset="-120"/>
              </a:rPr>
              <a:t>Scenario 2: Disaster Recovery</a:t>
            </a:r>
            <a:endParaRPr lang="en-US" sz="1200" dirty="0"/>
          </a:p>
        </p:txBody>
      </p:sp>
      <p:sp>
        <p:nvSpPr>
          <p:cNvPr id="4" name="Text 2"/>
          <p:cNvSpPr txBox="1"/>
          <p:nvPr/>
        </p:nvSpPr>
        <p:spPr>
          <a:xfrm>
            <a:off x="548640" y="749808"/>
            <a:ext cx="11064240" cy="640080"/>
          </a:xfrm>
          <a:prstGeom prst="rect">
            <a:avLst/>
          </a:prstGeom>
          <a:noFill/>
          <a:ln/>
        </p:spPr>
        <p:txBody>
          <a:bodyPr wrap="square" lIns="0" tIns="0" rIns="0" bIns="0" rtlCol="0" anchor="ctr"/>
          <a:lstStyle/>
          <a:p>
            <a:pPr indent="0" marL="0">
              <a:buNone/>
            </a:pPr>
            <a:r>
              <a:rPr lang="en-US" sz="2800" b="1" dirty="0">
                <a:solidFill>
                  <a:srgbClr val="23405A"/>
                </a:solidFill>
                <a:latin typeface="Calibri" pitchFamily="34" charset="0"/>
                <a:ea typeface="Calibri" pitchFamily="34" charset="-122"/>
                <a:cs typeface="Calibri" pitchFamily="34" charset="-120"/>
              </a:rPr>
              <a:t>Recovery: what would have to be true?</a:t>
            </a:r>
            <a:endParaRPr lang="en-US" sz="2800" dirty="0"/>
          </a:p>
        </p:txBody>
      </p:sp>
      <p:sp>
        <p:nvSpPr>
          <p:cNvPr id="5" name="Shape 3"/>
          <p:cNvSpPr/>
          <p:nvPr/>
        </p:nvSpPr>
        <p:spPr>
          <a:xfrm>
            <a:off x="10705795" y="347472"/>
            <a:ext cx="937260" cy="329184"/>
          </a:xfrm>
          <a:prstGeom prst="roundRect">
            <a:avLst>
              <a:gd name="adj" fmla="val 50000"/>
            </a:avLst>
          </a:prstGeom>
          <a:solidFill>
            <a:srgbClr val="FFFFFF"/>
          </a:solidFill>
          <a:ln w="12700">
            <a:solidFill>
              <a:srgbClr val="FFFFFF"/>
            </a:solidFill>
            <a:prstDash val="solid"/>
          </a:ln>
        </p:spPr>
      </p:sp>
      <p:sp>
        <p:nvSpPr>
          <p:cNvPr id="6" name="Text 4"/>
          <p:cNvSpPr txBox="1"/>
          <p:nvPr/>
        </p:nvSpPr>
        <p:spPr>
          <a:xfrm>
            <a:off x="10705795" y="347472"/>
            <a:ext cx="937260" cy="329184"/>
          </a:xfrm>
          <a:prstGeom prst="rect">
            <a:avLst/>
          </a:prstGeom>
          <a:noFill/>
          <a:ln/>
        </p:spPr>
        <p:txBody>
          <a:bodyPr wrap="square" lIns="0" tIns="0" rIns="0" bIns="0" rtlCol="0" anchor="ctr"/>
          <a:lstStyle/>
          <a:p>
            <a:pPr algn="ctr" indent="0" marL="0">
              <a:buNone/>
            </a:pPr>
            <a:r>
              <a:rPr lang="en-US" sz="1200" dirty="0">
                <a:solidFill>
                  <a:srgbClr val="465A69"/>
                </a:solidFill>
                <a:latin typeface="Calibri" pitchFamily="34" charset="0"/>
                <a:ea typeface="Calibri" pitchFamily="34" charset="-122"/>
                <a:cs typeface="Calibri" pitchFamily="34" charset="-120"/>
              </a:rPr>
              <a:t>Hotwash</a:t>
            </a:r>
            <a:endParaRPr lang="en-US" sz="1200" dirty="0"/>
          </a:p>
        </p:txBody>
      </p:sp>
      <p:sp>
        <p:nvSpPr>
          <p:cNvPr id="7" name="Shape 5"/>
          <p:cNvSpPr/>
          <p:nvPr/>
        </p:nvSpPr>
        <p:spPr>
          <a:xfrm>
            <a:off x="9608515" y="347472"/>
            <a:ext cx="1024128" cy="329184"/>
          </a:xfrm>
          <a:prstGeom prst="roundRect">
            <a:avLst>
              <a:gd name="adj" fmla="val 50000"/>
            </a:avLst>
          </a:prstGeom>
          <a:solidFill>
            <a:srgbClr val="4C8068"/>
          </a:solidFill>
          <a:ln w="12700">
            <a:solidFill>
              <a:srgbClr val="4C8068"/>
            </a:solidFill>
            <a:prstDash val="solid"/>
          </a:ln>
        </p:spPr>
      </p:sp>
      <p:sp>
        <p:nvSpPr>
          <p:cNvPr id="8" name="Text 6"/>
          <p:cNvSpPr txBox="1"/>
          <p:nvPr/>
        </p:nvSpPr>
        <p:spPr>
          <a:xfrm>
            <a:off x="9608515" y="347472"/>
            <a:ext cx="1024128"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Recovery</a:t>
            </a:r>
            <a:endParaRPr lang="en-US" sz="1200" dirty="0"/>
          </a:p>
        </p:txBody>
      </p:sp>
      <p:sp>
        <p:nvSpPr>
          <p:cNvPr id="9" name="Shape 7"/>
          <p:cNvSpPr/>
          <p:nvPr/>
        </p:nvSpPr>
        <p:spPr>
          <a:xfrm>
            <a:off x="8598103" y="347472"/>
            <a:ext cx="937260" cy="329184"/>
          </a:xfrm>
          <a:prstGeom prst="roundRect">
            <a:avLst>
              <a:gd name="adj" fmla="val 50000"/>
            </a:avLst>
          </a:prstGeom>
          <a:solidFill>
            <a:srgbClr val="F1F8F3"/>
          </a:solidFill>
          <a:ln w="12700">
            <a:solidFill>
              <a:srgbClr val="F1F8F3"/>
            </a:solidFill>
            <a:prstDash val="solid"/>
          </a:ln>
        </p:spPr>
      </p:sp>
      <p:sp>
        <p:nvSpPr>
          <p:cNvPr id="10" name="Text 8"/>
          <p:cNvSpPr txBox="1"/>
          <p:nvPr/>
        </p:nvSpPr>
        <p:spPr>
          <a:xfrm>
            <a:off x="8598103" y="347472"/>
            <a:ext cx="937260" cy="329184"/>
          </a:xfrm>
          <a:prstGeom prst="rect">
            <a:avLst/>
          </a:prstGeom>
          <a:noFill/>
          <a:ln/>
        </p:spPr>
        <p:txBody>
          <a:bodyPr wrap="square" lIns="0" tIns="0" rIns="0" bIns="0" rtlCol="0" anchor="ctr"/>
          <a:lstStyle/>
          <a:p>
            <a:pPr algn="ctr" indent="0" marL="0">
              <a:buNone/>
            </a:pPr>
            <a:r>
              <a:rPr lang="en-US" sz="1200" dirty="0">
                <a:solidFill>
                  <a:srgbClr val="4C8068"/>
                </a:solidFill>
                <a:latin typeface="Calibri" pitchFamily="34" charset="0"/>
                <a:ea typeface="Calibri" pitchFamily="34" charset="-122"/>
                <a:cs typeface="Calibri" pitchFamily="34" charset="-120"/>
              </a:rPr>
              <a:t>Injects</a:t>
            </a:r>
            <a:endParaRPr lang="en-US" sz="1200" dirty="0"/>
          </a:p>
        </p:txBody>
      </p:sp>
      <p:sp>
        <p:nvSpPr>
          <p:cNvPr id="11" name="Shape 9"/>
          <p:cNvSpPr/>
          <p:nvPr/>
        </p:nvSpPr>
        <p:spPr>
          <a:xfrm>
            <a:off x="7674559" y="347472"/>
            <a:ext cx="850392" cy="329184"/>
          </a:xfrm>
          <a:prstGeom prst="roundRect">
            <a:avLst>
              <a:gd name="adj" fmla="val 50000"/>
            </a:avLst>
          </a:prstGeom>
          <a:solidFill>
            <a:srgbClr val="F1F8F3"/>
          </a:solidFill>
          <a:ln w="12700">
            <a:solidFill>
              <a:srgbClr val="F1F8F3"/>
            </a:solidFill>
            <a:prstDash val="solid"/>
          </a:ln>
        </p:spPr>
      </p:sp>
      <p:sp>
        <p:nvSpPr>
          <p:cNvPr id="12" name="Text 10"/>
          <p:cNvSpPr txBox="1"/>
          <p:nvPr/>
        </p:nvSpPr>
        <p:spPr>
          <a:xfrm>
            <a:off x="7674559" y="347472"/>
            <a:ext cx="850392" cy="329184"/>
          </a:xfrm>
          <a:prstGeom prst="rect">
            <a:avLst/>
          </a:prstGeom>
          <a:noFill/>
          <a:ln/>
        </p:spPr>
        <p:txBody>
          <a:bodyPr wrap="square" lIns="0" tIns="0" rIns="0" bIns="0" rtlCol="0" anchor="ctr"/>
          <a:lstStyle/>
          <a:p>
            <a:pPr algn="ctr" indent="0" marL="0">
              <a:buNone/>
            </a:pPr>
            <a:r>
              <a:rPr lang="en-US" sz="1200" dirty="0">
                <a:solidFill>
                  <a:srgbClr val="4C8068"/>
                </a:solidFill>
                <a:latin typeface="Calibri" pitchFamily="34" charset="0"/>
                <a:ea typeface="Calibri" pitchFamily="34" charset="-122"/>
                <a:cs typeface="Calibri" pitchFamily="34" charset="-120"/>
              </a:rPr>
              <a:t>Decide</a:t>
            </a:r>
            <a:endParaRPr lang="en-US" sz="1200" dirty="0"/>
          </a:p>
        </p:txBody>
      </p:sp>
      <p:sp>
        <p:nvSpPr>
          <p:cNvPr id="13" name="Shape 11"/>
          <p:cNvSpPr/>
          <p:nvPr/>
        </p:nvSpPr>
        <p:spPr>
          <a:xfrm>
            <a:off x="7011619" y="347472"/>
            <a:ext cx="589788" cy="329184"/>
          </a:xfrm>
          <a:prstGeom prst="roundRect">
            <a:avLst>
              <a:gd name="adj" fmla="val 50000"/>
            </a:avLst>
          </a:prstGeom>
          <a:solidFill>
            <a:srgbClr val="F1F8F3"/>
          </a:solidFill>
          <a:ln w="12700">
            <a:solidFill>
              <a:srgbClr val="F1F8F3"/>
            </a:solidFill>
            <a:prstDash val="solid"/>
          </a:ln>
        </p:spPr>
      </p:sp>
      <p:sp>
        <p:nvSpPr>
          <p:cNvPr id="14" name="Text 12"/>
          <p:cNvSpPr txBox="1"/>
          <p:nvPr/>
        </p:nvSpPr>
        <p:spPr>
          <a:xfrm>
            <a:off x="7011619" y="347472"/>
            <a:ext cx="589788" cy="329184"/>
          </a:xfrm>
          <a:prstGeom prst="rect">
            <a:avLst/>
          </a:prstGeom>
          <a:noFill/>
          <a:ln/>
        </p:spPr>
        <p:txBody>
          <a:bodyPr wrap="square" lIns="0" tIns="0" rIns="0" bIns="0" rtlCol="0" anchor="ctr"/>
          <a:lstStyle/>
          <a:p>
            <a:pPr algn="ctr" indent="0" marL="0">
              <a:buNone/>
            </a:pPr>
            <a:r>
              <a:rPr lang="en-US" sz="1200" dirty="0">
                <a:solidFill>
                  <a:srgbClr val="4C8068"/>
                </a:solidFill>
                <a:latin typeface="Calibri" pitchFamily="34" charset="0"/>
                <a:ea typeface="Calibri" pitchFamily="34" charset="-122"/>
                <a:cs typeface="Calibri" pitchFamily="34" charset="-120"/>
              </a:rPr>
              <a:t>T+0</a:t>
            </a:r>
            <a:endParaRPr lang="en-US" sz="1200" dirty="0"/>
          </a:p>
        </p:txBody>
      </p:sp>
      <p:sp>
        <p:nvSpPr>
          <p:cNvPr id="15" name="Shape 13"/>
          <p:cNvSpPr/>
          <p:nvPr/>
        </p:nvSpPr>
        <p:spPr>
          <a:xfrm>
            <a:off x="5740603" y="347472"/>
            <a:ext cx="1197864" cy="329184"/>
          </a:xfrm>
          <a:prstGeom prst="roundRect">
            <a:avLst>
              <a:gd name="adj" fmla="val 50000"/>
            </a:avLst>
          </a:prstGeom>
          <a:solidFill>
            <a:srgbClr val="F1F8F3"/>
          </a:solidFill>
          <a:ln w="12700">
            <a:solidFill>
              <a:srgbClr val="F1F8F3"/>
            </a:solidFill>
            <a:prstDash val="solid"/>
          </a:ln>
        </p:spPr>
      </p:sp>
      <p:sp>
        <p:nvSpPr>
          <p:cNvPr id="16" name="Text 14"/>
          <p:cNvSpPr txBox="1"/>
          <p:nvPr/>
        </p:nvSpPr>
        <p:spPr>
          <a:xfrm>
            <a:off x="5740603" y="347472"/>
            <a:ext cx="1197864" cy="329184"/>
          </a:xfrm>
          <a:prstGeom prst="rect">
            <a:avLst/>
          </a:prstGeom>
          <a:noFill/>
          <a:ln/>
        </p:spPr>
        <p:txBody>
          <a:bodyPr wrap="square" lIns="0" tIns="0" rIns="0" bIns="0" rtlCol="0" anchor="ctr"/>
          <a:lstStyle/>
          <a:p>
            <a:pPr algn="ctr" indent="0" marL="0">
              <a:buNone/>
            </a:pPr>
            <a:r>
              <a:rPr lang="en-US" sz="1200" dirty="0">
                <a:solidFill>
                  <a:srgbClr val="4C8068"/>
                </a:solidFill>
                <a:latin typeface="Calibri" pitchFamily="34" charset="0"/>
                <a:ea typeface="Calibri" pitchFamily="34" charset="-122"/>
                <a:cs typeface="Calibri" pitchFamily="34" charset="-120"/>
              </a:rPr>
              <a:t>Background</a:t>
            </a:r>
            <a:endParaRPr lang="en-US" sz="1200" dirty="0"/>
          </a:p>
        </p:txBody>
      </p:sp>
      <p:sp>
        <p:nvSpPr>
          <p:cNvPr id="17" name="Shape 15"/>
          <p:cNvSpPr/>
          <p:nvPr/>
        </p:nvSpPr>
        <p:spPr>
          <a:xfrm>
            <a:off x="548640" y="1600200"/>
            <a:ext cx="8302752" cy="1417320"/>
          </a:xfrm>
          <a:prstGeom prst="roundRect">
            <a:avLst>
              <a:gd name="adj" fmla="val 9032"/>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pic>
        <p:nvPicPr>
          <p:cNvPr id="18" name="Image 0" descr="preencoded.png">    </p:cNvPr>
          <p:cNvPicPr>
            <a:picLocks noChangeAspect="1"/>
          </p:cNvPicPr>
          <p:nvPr/>
        </p:nvPicPr>
        <p:blipFill>
          <a:blip r:embed="rId1"/>
          <a:stretch>
            <a:fillRect/>
          </a:stretch>
        </p:blipFill>
        <p:spPr>
          <a:xfrm>
            <a:off x="822960" y="1874520"/>
            <a:ext cx="310896" cy="310896"/>
          </a:xfrm>
          <a:prstGeom prst="rect">
            <a:avLst/>
          </a:prstGeom>
        </p:spPr>
      </p:pic>
      <p:sp>
        <p:nvSpPr>
          <p:cNvPr id="19" name="Text 16"/>
          <p:cNvSpPr txBox="1"/>
          <p:nvPr/>
        </p:nvSpPr>
        <p:spPr>
          <a:xfrm>
            <a:off x="1280160" y="1755648"/>
            <a:ext cx="3657600" cy="274320"/>
          </a:xfrm>
          <a:prstGeom prst="rect">
            <a:avLst/>
          </a:prstGeom>
          <a:noFill/>
          <a:ln/>
        </p:spPr>
        <p:txBody>
          <a:bodyPr wrap="square" lIns="0" tIns="0" rIns="0" bIns="0" rtlCol="0" anchor="t"/>
          <a:lstStyle/>
          <a:p>
            <a:pPr indent="0" marL="0">
              <a:buNone/>
            </a:pPr>
            <a:r>
              <a:rPr lang="en-US" sz="1300" b="1" dirty="0">
                <a:solidFill>
                  <a:srgbClr val="4C8068"/>
                </a:solidFill>
                <a:latin typeface="Calibri" pitchFamily="34" charset="0"/>
                <a:ea typeface="Calibri" pitchFamily="34" charset="-122"/>
                <a:cs typeface="Calibri" pitchFamily="34" charset="-120"/>
              </a:rPr>
              <a:t>Day 4, 6:30 AM</a:t>
            </a:r>
            <a:endParaRPr lang="en-US" sz="1300" dirty="0"/>
          </a:p>
        </p:txBody>
      </p:sp>
      <p:sp>
        <p:nvSpPr>
          <p:cNvPr id="20" name="Text 17"/>
          <p:cNvSpPr txBox="1"/>
          <p:nvPr/>
        </p:nvSpPr>
        <p:spPr>
          <a:xfrm>
            <a:off x="1280160" y="2029968"/>
            <a:ext cx="7388352" cy="914400"/>
          </a:xfrm>
          <a:prstGeom prst="rect">
            <a:avLst/>
          </a:prstGeom>
          <a:noFill/>
          <a:ln/>
        </p:spPr>
        <p:txBody>
          <a:bodyPr wrap="square" lIns="0" tIns="0" rIns="0" bIns="0" rtlCol="0" anchor="t"/>
          <a:lstStyle/>
          <a:p>
            <a:pPr indent="0" marL="0">
              <a:buNone/>
            </a:pPr>
            <a:r>
              <a:rPr lang="en-US" sz="1300" dirty="0">
                <a:solidFill>
                  <a:srgbClr val="1E2E3A"/>
                </a:solidFill>
                <a:latin typeface="Calibri" pitchFamily="34" charset="0"/>
                <a:ea typeface="Calibri" pitchFamily="34" charset="-122"/>
                <a:cs typeface="Calibri" pitchFamily="34" charset="-120"/>
              </a:rPr>
              <a:t>Microsoft reports that services in US-East have been restored and is monitoring stability over the next 24 hours.</a:t>
            </a:r>
            <a:endParaRPr lang="en-US" sz="1300" dirty="0"/>
          </a:p>
        </p:txBody>
      </p:sp>
      <p:sp>
        <p:nvSpPr>
          <p:cNvPr id="21" name="Shape 18"/>
          <p:cNvSpPr/>
          <p:nvPr/>
        </p:nvSpPr>
        <p:spPr>
          <a:xfrm>
            <a:off x="548640" y="3200400"/>
            <a:ext cx="8302752" cy="2971800"/>
          </a:xfrm>
          <a:prstGeom prst="roundRect">
            <a:avLst>
              <a:gd name="adj" fmla="val 4308"/>
            </a:avLst>
          </a:prstGeom>
          <a:solidFill>
            <a:srgbClr val="F1F8F3"/>
          </a:solidFill>
          <a:ln w="12700">
            <a:solidFill>
              <a:srgbClr val="F1F8F3"/>
            </a:solidFill>
            <a:prstDash val="solid"/>
          </a:ln>
          <a:effectLst>
            <a:outerShdw sx="100000" sy="100000" kx="0" ky="0" algn="bl" rotWithShape="0" blurRad="177800" dist="50800" dir="5400000">
              <a:srgbClr val="1B4965">
                <a:alpha val="16000"/>
              </a:srgbClr>
            </a:outerShdw>
          </a:effectLst>
        </p:spPr>
      </p:sp>
      <p:sp>
        <p:nvSpPr>
          <p:cNvPr id="22" name="Text 19"/>
          <p:cNvSpPr txBox="1"/>
          <p:nvPr/>
        </p:nvSpPr>
        <p:spPr>
          <a:xfrm>
            <a:off x="868680" y="3364992"/>
            <a:ext cx="7708392" cy="777240"/>
          </a:xfrm>
          <a:prstGeom prst="rect">
            <a:avLst/>
          </a:prstGeom>
          <a:noFill/>
          <a:ln/>
        </p:spPr>
        <p:txBody>
          <a:bodyPr wrap="square" lIns="0" tIns="0" rIns="0" bIns="0" rtlCol="0" anchor="t"/>
          <a:lstStyle/>
          <a:p>
            <a:pPr indent="0" marL="0">
              <a:buNone/>
            </a:pPr>
            <a:r>
              <a:rPr lang="en-US" sz="1900" b="1" dirty="0">
                <a:solidFill>
                  <a:srgbClr val="4C8068"/>
                </a:solidFill>
                <a:latin typeface="Calibri" pitchFamily="34" charset="0"/>
                <a:ea typeface="Calibri" pitchFamily="34" charset="-122"/>
                <a:cs typeface="Calibri" pitchFamily="34" charset="-120"/>
              </a:rPr>
              <a:t>What would have to be true before you declare recovery?</a:t>
            </a:r>
            <a:endParaRPr lang="en-US" sz="1900" dirty="0"/>
          </a:p>
        </p:txBody>
      </p:sp>
      <p:sp>
        <p:nvSpPr>
          <p:cNvPr id="23" name="Shape 20"/>
          <p:cNvSpPr/>
          <p:nvPr/>
        </p:nvSpPr>
        <p:spPr>
          <a:xfrm>
            <a:off x="868680" y="4343400"/>
            <a:ext cx="7662672" cy="420624"/>
          </a:xfrm>
          <a:prstGeom prst="roundRect">
            <a:avLst>
              <a:gd name="adj" fmla="val 17391"/>
            </a:avLst>
          </a:prstGeom>
          <a:solidFill>
            <a:srgbClr val="FFFFFF"/>
          </a:solidFill>
          <a:ln w="12700">
            <a:solidFill>
              <a:srgbClr val="FFFFFF"/>
            </a:solidFill>
            <a:prstDash val="solid"/>
          </a:ln>
        </p:spPr>
      </p:sp>
      <p:sp>
        <p:nvSpPr>
          <p:cNvPr id="24" name="Text 21"/>
          <p:cNvSpPr txBox="1"/>
          <p:nvPr/>
        </p:nvSpPr>
        <p:spPr>
          <a:xfrm>
            <a:off x="1005840" y="4343400"/>
            <a:ext cx="2743200" cy="384048"/>
          </a:xfrm>
          <a:prstGeom prst="rect">
            <a:avLst/>
          </a:prstGeom>
          <a:noFill/>
          <a:ln/>
        </p:spPr>
        <p:txBody>
          <a:bodyPr wrap="square" lIns="0" tIns="0" rIns="0" bIns="0" rtlCol="0" anchor="ctr"/>
          <a:lstStyle/>
          <a:p>
            <a:pPr indent="0" marL="0">
              <a:buNone/>
            </a:pPr>
            <a:r>
              <a:rPr lang="en-US" sz="1200" dirty="0">
                <a:solidFill>
                  <a:srgbClr val="465A69"/>
                </a:solidFill>
                <a:latin typeface="Calibri" pitchFamily="34" charset="0"/>
                <a:ea typeface="Calibri" pitchFamily="34" charset="-122"/>
                <a:cs typeface="Calibri" pitchFamily="34" charset="-120"/>
              </a:rPr>
              <a:t>Condition 1</a:t>
            </a:r>
            <a:endParaRPr lang="en-US" sz="1200" dirty="0"/>
          </a:p>
        </p:txBody>
      </p:sp>
      <p:sp>
        <p:nvSpPr>
          <p:cNvPr id="25" name="Shape 22"/>
          <p:cNvSpPr/>
          <p:nvPr/>
        </p:nvSpPr>
        <p:spPr>
          <a:xfrm>
            <a:off x="868680" y="4892040"/>
            <a:ext cx="7662672" cy="420624"/>
          </a:xfrm>
          <a:prstGeom prst="roundRect">
            <a:avLst>
              <a:gd name="adj" fmla="val 17391"/>
            </a:avLst>
          </a:prstGeom>
          <a:solidFill>
            <a:srgbClr val="FFFFFF"/>
          </a:solidFill>
          <a:ln w="12700">
            <a:solidFill>
              <a:srgbClr val="FFFFFF"/>
            </a:solidFill>
            <a:prstDash val="solid"/>
          </a:ln>
        </p:spPr>
      </p:sp>
      <p:sp>
        <p:nvSpPr>
          <p:cNvPr id="26" name="Text 23"/>
          <p:cNvSpPr txBox="1"/>
          <p:nvPr/>
        </p:nvSpPr>
        <p:spPr>
          <a:xfrm>
            <a:off x="1005840" y="4892040"/>
            <a:ext cx="2743200" cy="384048"/>
          </a:xfrm>
          <a:prstGeom prst="rect">
            <a:avLst/>
          </a:prstGeom>
          <a:noFill/>
          <a:ln/>
        </p:spPr>
        <p:txBody>
          <a:bodyPr wrap="square" lIns="0" tIns="0" rIns="0" bIns="0" rtlCol="0" anchor="ctr"/>
          <a:lstStyle/>
          <a:p>
            <a:pPr indent="0" marL="0">
              <a:buNone/>
            </a:pPr>
            <a:r>
              <a:rPr lang="en-US" sz="1200" dirty="0">
                <a:solidFill>
                  <a:srgbClr val="465A69"/>
                </a:solidFill>
                <a:latin typeface="Calibri" pitchFamily="34" charset="0"/>
                <a:ea typeface="Calibri" pitchFamily="34" charset="-122"/>
                <a:cs typeface="Calibri" pitchFamily="34" charset="-120"/>
              </a:rPr>
              <a:t>Condition 2</a:t>
            </a:r>
            <a:endParaRPr lang="en-US" sz="1200" dirty="0"/>
          </a:p>
        </p:txBody>
      </p:sp>
      <p:sp>
        <p:nvSpPr>
          <p:cNvPr id="27" name="Shape 24"/>
          <p:cNvSpPr/>
          <p:nvPr/>
        </p:nvSpPr>
        <p:spPr>
          <a:xfrm>
            <a:off x="868680" y="5440680"/>
            <a:ext cx="7662672" cy="420624"/>
          </a:xfrm>
          <a:prstGeom prst="roundRect">
            <a:avLst>
              <a:gd name="adj" fmla="val 17391"/>
            </a:avLst>
          </a:prstGeom>
          <a:solidFill>
            <a:srgbClr val="FFFFFF"/>
          </a:solidFill>
          <a:ln w="12700">
            <a:solidFill>
              <a:srgbClr val="FFFFFF"/>
            </a:solidFill>
            <a:prstDash val="solid"/>
          </a:ln>
        </p:spPr>
      </p:sp>
      <p:sp>
        <p:nvSpPr>
          <p:cNvPr id="28" name="Text 25"/>
          <p:cNvSpPr txBox="1"/>
          <p:nvPr/>
        </p:nvSpPr>
        <p:spPr>
          <a:xfrm>
            <a:off x="1005840" y="5440680"/>
            <a:ext cx="2743200" cy="384048"/>
          </a:xfrm>
          <a:prstGeom prst="rect">
            <a:avLst/>
          </a:prstGeom>
          <a:noFill/>
          <a:ln/>
        </p:spPr>
        <p:txBody>
          <a:bodyPr wrap="square" lIns="0" tIns="0" rIns="0" bIns="0" rtlCol="0" anchor="ctr"/>
          <a:lstStyle/>
          <a:p>
            <a:pPr indent="0" marL="0">
              <a:buNone/>
            </a:pPr>
            <a:r>
              <a:rPr lang="en-US" sz="1200" dirty="0">
                <a:solidFill>
                  <a:srgbClr val="465A69"/>
                </a:solidFill>
                <a:latin typeface="Calibri" pitchFamily="34" charset="0"/>
                <a:ea typeface="Calibri" pitchFamily="34" charset="-122"/>
                <a:cs typeface="Calibri" pitchFamily="34" charset="-120"/>
              </a:rPr>
              <a:t>Condition 3</a:t>
            </a:r>
            <a:endParaRPr lang="en-US" sz="1200" dirty="0"/>
          </a:p>
        </p:txBody>
      </p:sp>
      <p:sp>
        <p:nvSpPr>
          <p:cNvPr id="29" name="Shape 26"/>
          <p:cNvSpPr/>
          <p:nvPr/>
        </p:nvSpPr>
        <p:spPr>
          <a:xfrm>
            <a:off x="9079992" y="1600200"/>
            <a:ext cx="2560320" cy="4572000"/>
          </a:xfrm>
          <a:prstGeom prst="roundRect">
            <a:avLst>
              <a:gd name="adj" fmla="val 5000"/>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30" name="Text 27"/>
          <p:cNvSpPr txBox="1"/>
          <p:nvPr/>
        </p:nvSpPr>
        <p:spPr>
          <a:xfrm>
            <a:off x="9262872" y="1728216"/>
            <a:ext cx="2194560" cy="457200"/>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Provider resolution (simulated)</a:t>
            </a:r>
            <a:endParaRPr lang="en-US" sz="1300" dirty="0"/>
          </a:p>
        </p:txBody>
      </p:sp>
      <p:sp>
        <p:nvSpPr>
          <p:cNvPr id="31" name="Shape 28"/>
          <p:cNvSpPr/>
          <p:nvPr/>
        </p:nvSpPr>
        <p:spPr>
          <a:xfrm>
            <a:off x="9262872" y="2221992"/>
            <a:ext cx="2194560" cy="3767328"/>
          </a:xfrm>
          <a:prstGeom prst="roundRect">
            <a:avLst>
              <a:gd name="adj" fmla="val 3333"/>
            </a:avLst>
          </a:prstGeom>
          <a:solidFill>
            <a:srgbClr val="FFFFFF"/>
          </a:solidFill>
          <a:ln w="9525">
            <a:solidFill>
              <a:srgbClr val="C9D3DE"/>
            </a:solidFill>
            <a:prstDash val="solid"/>
          </a:ln>
        </p:spPr>
      </p:sp>
      <p:sp>
        <p:nvSpPr>
          <p:cNvPr id="32" name="Shape 29"/>
          <p:cNvSpPr/>
          <p:nvPr/>
        </p:nvSpPr>
        <p:spPr>
          <a:xfrm>
            <a:off x="9381744" y="2432304"/>
            <a:ext cx="109728" cy="109728"/>
          </a:xfrm>
          <a:prstGeom prst="rect">
            <a:avLst/>
          </a:prstGeom>
          <a:solidFill>
            <a:srgbClr val="D99A8A"/>
          </a:solidFill>
          <a:ln w="12700">
            <a:solidFill>
              <a:srgbClr val="D99A8A"/>
            </a:solidFill>
            <a:prstDash val="solid"/>
          </a:ln>
        </p:spPr>
      </p:sp>
      <p:sp>
        <p:nvSpPr>
          <p:cNvPr id="33" name="Shape 30"/>
          <p:cNvSpPr/>
          <p:nvPr/>
        </p:nvSpPr>
        <p:spPr>
          <a:xfrm>
            <a:off x="9500616" y="2432304"/>
            <a:ext cx="109728" cy="109728"/>
          </a:xfrm>
          <a:prstGeom prst="rect">
            <a:avLst/>
          </a:prstGeom>
          <a:solidFill>
            <a:srgbClr val="A9C38A"/>
          </a:solidFill>
          <a:ln w="12700">
            <a:solidFill>
              <a:srgbClr val="A9C38A"/>
            </a:solidFill>
            <a:prstDash val="solid"/>
          </a:ln>
        </p:spPr>
      </p:sp>
      <p:sp>
        <p:nvSpPr>
          <p:cNvPr id="34" name="Shape 31"/>
          <p:cNvSpPr/>
          <p:nvPr/>
        </p:nvSpPr>
        <p:spPr>
          <a:xfrm>
            <a:off x="9381744" y="2551176"/>
            <a:ext cx="109728" cy="109728"/>
          </a:xfrm>
          <a:prstGeom prst="rect">
            <a:avLst/>
          </a:prstGeom>
          <a:solidFill>
            <a:srgbClr val="8FBCD6"/>
          </a:solidFill>
          <a:ln w="12700">
            <a:solidFill>
              <a:srgbClr val="8FBCD6"/>
            </a:solidFill>
            <a:prstDash val="solid"/>
          </a:ln>
        </p:spPr>
      </p:sp>
      <p:sp>
        <p:nvSpPr>
          <p:cNvPr id="35" name="Shape 32"/>
          <p:cNvSpPr/>
          <p:nvPr/>
        </p:nvSpPr>
        <p:spPr>
          <a:xfrm>
            <a:off x="9500616" y="2551176"/>
            <a:ext cx="109728" cy="109728"/>
          </a:xfrm>
          <a:prstGeom prst="rect">
            <a:avLst/>
          </a:prstGeom>
          <a:solidFill>
            <a:srgbClr val="E0C58A"/>
          </a:solidFill>
          <a:ln w="12700">
            <a:solidFill>
              <a:srgbClr val="E0C58A"/>
            </a:solidFill>
            <a:prstDash val="solid"/>
          </a:ln>
        </p:spPr>
      </p:sp>
      <p:sp>
        <p:nvSpPr>
          <p:cNvPr id="36" name="Text 33"/>
          <p:cNvSpPr txBox="1"/>
          <p:nvPr/>
        </p:nvSpPr>
        <p:spPr>
          <a:xfrm>
            <a:off x="9729216" y="2386584"/>
            <a:ext cx="1591056" cy="292608"/>
          </a:xfrm>
          <a:prstGeom prst="rect">
            <a:avLst/>
          </a:prstGeom>
          <a:noFill/>
          <a:ln/>
        </p:spPr>
        <p:txBody>
          <a:bodyPr wrap="square" lIns="0" tIns="0" rIns="0" bIns="0" rtlCol="0" anchor="ctr"/>
          <a:lstStyle/>
          <a:p>
            <a:pPr indent="0" marL="0">
              <a:buNone/>
            </a:pPr>
            <a:r>
              <a:rPr lang="en-US" sz="1700" dirty="0">
                <a:solidFill>
                  <a:srgbClr val="3C3C3C"/>
                </a:solidFill>
                <a:latin typeface="Calibri" pitchFamily="34" charset="0"/>
                <a:ea typeface="Calibri" pitchFamily="34" charset="-122"/>
                <a:cs typeface="Calibri" pitchFamily="34" charset="-120"/>
              </a:rPr>
              <a:t>Microsoft</a:t>
            </a:r>
            <a:endParaRPr lang="en-US" sz="1700" dirty="0"/>
          </a:p>
        </p:txBody>
      </p:sp>
      <p:pic>
        <p:nvPicPr>
          <p:cNvPr id="37" name="Image 1" descr="preencoded.png">    </p:cNvPr>
          <p:cNvPicPr>
            <a:picLocks noChangeAspect="1"/>
          </p:cNvPicPr>
          <p:nvPr/>
        </p:nvPicPr>
        <p:blipFill>
          <a:blip r:embed="rId2"/>
          <a:stretch>
            <a:fillRect/>
          </a:stretch>
        </p:blipFill>
        <p:spPr>
          <a:xfrm>
            <a:off x="9381744" y="2798064"/>
            <a:ext cx="219456" cy="219456"/>
          </a:xfrm>
          <a:prstGeom prst="rect">
            <a:avLst/>
          </a:prstGeom>
        </p:spPr>
      </p:pic>
      <p:sp>
        <p:nvSpPr>
          <p:cNvPr id="38" name="Text 34"/>
          <p:cNvSpPr txBox="1"/>
          <p:nvPr/>
        </p:nvSpPr>
        <p:spPr>
          <a:xfrm>
            <a:off x="9674352" y="2770632"/>
            <a:ext cx="1636776" cy="470408"/>
          </a:xfrm>
          <a:prstGeom prst="rect">
            <a:avLst/>
          </a:prstGeom>
          <a:noFill/>
          <a:ln/>
        </p:spPr>
        <p:txBody>
          <a:bodyPr wrap="square" lIns="0" tIns="0" rIns="0" bIns="0" rtlCol="0" anchor="ctr"/>
          <a:lstStyle/>
          <a:p>
            <a:pPr indent="0" marL="0">
              <a:buNone/>
            </a:pPr>
            <a:r>
              <a:rPr lang="en-US" sz="1400" b="1" dirty="0">
                <a:solidFill>
                  <a:srgbClr val="1B2A4A"/>
                </a:solidFill>
                <a:latin typeface="Calibri" pitchFamily="34" charset="0"/>
                <a:ea typeface="Calibri" pitchFamily="34" charset="-122"/>
                <a:cs typeface="Calibri" pitchFamily="34" charset="-120"/>
              </a:rPr>
              <a:t>Services restored</a:t>
            </a:r>
            <a:endParaRPr lang="en-US" sz="1400" dirty="0"/>
          </a:p>
        </p:txBody>
      </p:sp>
      <p:sp>
        <p:nvSpPr>
          <p:cNvPr id="39" name="Text 35"/>
          <p:cNvSpPr txBox="1"/>
          <p:nvPr/>
        </p:nvSpPr>
        <p:spPr>
          <a:xfrm>
            <a:off x="9381744" y="3295904"/>
            <a:ext cx="1956816" cy="1121156"/>
          </a:xfrm>
          <a:prstGeom prst="rect">
            <a:avLst/>
          </a:prstGeom>
          <a:noFill/>
          <a:ln/>
        </p:spPr>
        <p:txBody>
          <a:bodyPr wrap="square" lIns="0" tIns="0" rIns="0" bIns="0" rtlCol="0" anchor="t"/>
          <a:lstStyle/>
          <a:p>
            <a:pPr indent="0" marL="0">
              <a:buNone/>
            </a:pPr>
            <a:r>
              <a:rPr lang="en-US" sz="1400" dirty="0">
                <a:solidFill>
                  <a:srgbClr val="1E2E3A"/>
                </a:solidFill>
                <a:latin typeface="Calibri" pitchFamily="34" charset="0"/>
                <a:ea typeface="Calibri" pitchFamily="34" charset="-122"/>
                <a:cs typeface="Calibri" pitchFamily="34" charset="-120"/>
              </a:rPr>
              <a:t>Services in US-East have been restored. We are monitoring for stability over the next 24 hours.</a:t>
            </a:r>
            <a:endParaRPr lang="en-US" sz="1400" dirty="0"/>
          </a:p>
        </p:txBody>
      </p:sp>
      <p:sp>
        <p:nvSpPr>
          <p:cNvPr id="40" name="Text 36"/>
          <p:cNvSpPr txBox="1"/>
          <p:nvPr/>
        </p:nvSpPr>
        <p:spPr>
          <a:xfrm>
            <a:off x="9381744" y="4499356"/>
            <a:ext cx="1956816" cy="228600"/>
          </a:xfrm>
          <a:prstGeom prst="rect">
            <a:avLst/>
          </a:prstGeom>
          <a:noFill/>
          <a:ln/>
        </p:spPr>
        <p:txBody>
          <a:bodyPr wrap="square" lIns="0" tIns="0" rIns="0" bIns="0" rtlCol="0" anchor="t"/>
          <a:lstStyle/>
          <a:p>
            <a:pPr indent="0" marL="0">
              <a:buNone/>
            </a:pPr>
            <a:r>
              <a:rPr lang="en-US" sz="1200" dirty="0">
                <a:solidFill>
                  <a:srgbClr val="465A69"/>
                </a:solidFill>
                <a:latin typeface="Calibri" pitchFamily="34" charset="0"/>
                <a:ea typeface="Calibri" pitchFamily="34" charset="-122"/>
                <a:cs typeface="Calibri" pitchFamily="34" charset="-120"/>
              </a:rPr>
              <a:t>Day 4, 6:30 AM</a:t>
            </a:r>
            <a:endParaRPr lang="en-US" sz="1200" dirty="0"/>
          </a:p>
        </p:txBody>
      </p:sp>
      <p:sp>
        <p:nvSpPr>
          <p:cNvPr id="41" name="Text 37"/>
          <p:cNvSpPr txBox="1"/>
          <p:nvPr/>
        </p:nvSpPr>
        <p:spPr>
          <a:xfrm>
            <a:off x="548640" y="6254496"/>
            <a:ext cx="11091672" cy="256032"/>
          </a:xfrm>
          <a:prstGeom prst="rect">
            <a:avLst/>
          </a:prstGeom>
          <a:noFill/>
          <a:ln/>
        </p:spPr>
        <p:txBody>
          <a:bodyPr wrap="square" lIns="0" tIns="0" rIns="0" bIns="0" rtlCol="0" anchor="ctr"/>
          <a:lstStyle/>
          <a:p>
            <a:pPr indent="0" marL="0">
              <a:buNone/>
            </a:pPr>
            <a:r>
              <a:rPr lang="en-US" sz="1200" b="1" dirty="0">
                <a:solidFill>
                  <a:srgbClr val="465A69"/>
                </a:solidFill>
                <a:latin typeface="Calibri" pitchFamily="34" charset="0"/>
                <a:ea typeface="Calibri" pitchFamily="34" charset="-122"/>
                <a:cs typeface="Calibri" pitchFamily="34" charset="-120"/>
              </a:rPr>
              <a:t>Acronyms:  </a:t>
            </a:r>
            <a:pPr indent="0" marL="0">
              <a:buNone/>
            </a:pPr>
            <a:r>
              <a:rPr lang="en-US" sz="1200" dirty="0">
                <a:solidFill>
                  <a:srgbClr val="465A69"/>
                </a:solidFill>
                <a:latin typeface="Calibri" pitchFamily="34" charset="0"/>
                <a:ea typeface="Calibri" pitchFamily="34" charset="-122"/>
                <a:cs typeface="Calibri" pitchFamily="34" charset="-120"/>
              </a:rPr>
              <a:t>T+: time since the first signal</a:t>
            </a:r>
            <a:endParaRPr lang="en-US" sz="1200" dirty="0"/>
          </a:p>
        </p:txBody>
      </p:sp>
      <p:sp>
        <p:nvSpPr>
          <p:cNvPr id="42" name="Shape 38"/>
          <p:cNvSpPr/>
          <p:nvPr/>
        </p:nvSpPr>
        <p:spPr>
          <a:xfrm>
            <a:off x="548640" y="6537960"/>
            <a:ext cx="763524" cy="274320"/>
          </a:xfrm>
          <a:prstGeom prst="roundRect">
            <a:avLst>
              <a:gd name="adj" fmla="val 50000"/>
            </a:avLst>
          </a:prstGeom>
          <a:solidFill>
            <a:srgbClr val="E4ECF2"/>
          </a:solidFill>
          <a:ln w="12700">
            <a:solidFill>
              <a:srgbClr val="E4ECF2"/>
            </a:solidFill>
            <a:prstDash val="solid"/>
          </a:ln>
        </p:spPr>
      </p:sp>
      <p:sp>
        <p:nvSpPr>
          <p:cNvPr id="43" name="Text 39"/>
          <p:cNvSpPr txBox="1"/>
          <p:nvPr/>
        </p:nvSpPr>
        <p:spPr>
          <a:xfrm>
            <a:off x="548640" y="6537960"/>
            <a:ext cx="763524" cy="274320"/>
          </a:xfrm>
          <a:prstGeom prst="rect">
            <a:avLst/>
          </a:prstGeom>
          <a:noFill/>
          <a:ln/>
        </p:spPr>
        <p:txBody>
          <a:bodyPr wrap="square" lIns="0" tIns="0" rIns="0" bIns="0" rtlCol="0" anchor="ctr"/>
          <a:lstStyle/>
          <a:p>
            <a:pPr algn="ctr" indent="0" marL="0">
              <a:buNone/>
            </a:pPr>
            <a:r>
              <a:rPr lang="en-US" sz="1200" b="1" dirty="0">
                <a:solidFill>
                  <a:srgbClr val="23405A"/>
                </a:solidFill>
                <a:latin typeface="Calibri" pitchFamily="34" charset="0"/>
                <a:ea typeface="Calibri" pitchFamily="34" charset="-122"/>
                <a:cs typeface="Calibri" pitchFamily="34" charset="-120"/>
              </a:rPr>
              <a:t>Start</a:t>
            </a:r>
            <a:endParaRPr lang="en-US" sz="1200" dirty="0"/>
          </a:p>
        </p:txBody>
      </p:sp>
      <p:pic>
        <p:nvPicPr>
          <p:cNvPr id="44" name="Image 2" descr="preencoded.png">
            <a:hlinkClick r:id="rId4" tooltip="Go to Start" action="ppaction://hlinksldjump"/>
          </p:cNvPr>
          <p:cNvPicPr>
            <a:picLocks noChangeAspect="1"/>
          </p:cNvPicPr>
          <p:nvPr/>
        </p:nvPicPr>
        <p:blipFill>
          <a:blip r:embed="rId3"/>
          <a:stretch>
            <a:fillRect/>
          </a:stretch>
        </p:blipFill>
        <p:spPr>
          <a:xfrm>
            <a:off x="548640" y="6537960"/>
            <a:ext cx="763524" cy="274320"/>
          </a:xfrm>
          <a:prstGeom prst="rect">
            <a:avLst/>
          </a:prstGeom>
        </p:spPr>
      </p:pic>
      <p:sp>
        <p:nvSpPr>
          <p:cNvPr id="45" name="Shape 40"/>
          <p:cNvSpPr/>
          <p:nvPr/>
        </p:nvSpPr>
        <p:spPr>
          <a:xfrm>
            <a:off x="1385316" y="6537960"/>
            <a:ext cx="1197864" cy="274320"/>
          </a:xfrm>
          <a:prstGeom prst="roundRect">
            <a:avLst>
              <a:gd name="adj" fmla="val 50000"/>
            </a:avLst>
          </a:prstGeom>
          <a:solidFill>
            <a:srgbClr val="F1F6FA"/>
          </a:solidFill>
          <a:ln w="12700">
            <a:solidFill>
              <a:srgbClr val="F1F6FA"/>
            </a:solidFill>
            <a:prstDash val="solid"/>
          </a:ln>
        </p:spPr>
      </p:sp>
      <p:sp>
        <p:nvSpPr>
          <p:cNvPr id="46" name="Text 41"/>
          <p:cNvSpPr txBox="1"/>
          <p:nvPr/>
        </p:nvSpPr>
        <p:spPr>
          <a:xfrm>
            <a:off x="1385316" y="6537960"/>
            <a:ext cx="1197864" cy="274320"/>
          </a:xfrm>
          <a:prstGeom prst="rect">
            <a:avLst/>
          </a:prstGeom>
          <a:noFill/>
          <a:ln/>
        </p:spPr>
        <p:txBody>
          <a:bodyPr wrap="square" lIns="0" tIns="0" rIns="0" bIns="0" rtlCol="0" anchor="ctr"/>
          <a:lstStyle/>
          <a:p>
            <a:pPr algn="ctr" indent="0" marL="0">
              <a:buNone/>
            </a:pPr>
            <a:r>
              <a:rPr lang="en-US" sz="1200" b="1" dirty="0">
                <a:solidFill>
                  <a:srgbClr val="3F6E8C"/>
                </a:solidFill>
                <a:latin typeface="Calibri" pitchFamily="34" charset="0"/>
                <a:ea typeface="Calibri" pitchFamily="34" charset="-122"/>
                <a:cs typeface="Calibri" pitchFamily="34" charset="-120"/>
              </a:rPr>
              <a:t>Scenario 1</a:t>
            </a:r>
            <a:endParaRPr lang="en-US" sz="1200" dirty="0"/>
          </a:p>
        </p:txBody>
      </p:sp>
      <p:pic>
        <p:nvPicPr>
          <p:cNvPr id="47" name="Image 3" descr="preencoded.png">
            <a:hlinkClick r:id="rId6" tooltip="Go to Scenario 1" action="ppaction://hlinksldjump"/>
          </p:cNvPr>
          <p:cNvPicPr>
            <a:picLocks noChangeAspect="1"/>
          </p:cNvPicPr>
          <p:nvPr/>
        </p:nvPicPr>
        <p:blipFill>
          <a:blip r:embed="rId5"/>
          <a:stretch>
            <a:fillRect/>
          </a:stretch>
        </p:blipFill>
        <p:spPr>
          <a:xfrm>
            <a:off x="1385316" y="6537960"/>
            <a:ext cx="1197864" cy="274320"/>
          </a:xfrm>
          <a:prstGeom prst="rect">
            <a:avLst/>
          </a:prstGeom>
        </p:spPr>
      </p:pic>
      <p:sp>
        <p:nvSpPr>
          <p:cNvPr id="48" name="Shape 42"/>
          <p:cNvSpPr/>
          <p:nvPr/>
        </p:nvSpPr>
        <p:spPr>
          <a:xfrm>
            <a:off x="2656332" y="6537960"/>
            <a:ext cx="1197864" cy="274320"/>
          </a:xfrm>
          <a:prstGeom prst="roundRect">
            <a:avLst>
              <a:gd name="adj" fmla="val 50000"/>
            </a:avLst>
          </a:prstGeom>
          <a:solidFill>
            <a:srgbClr val="4C8068"/>
          </a:solidFill>
          <a:ln w="12700">
            <a:solidFill>
              <a:srgbClr val="4C8068"/>
            </a:solidFill>
            <a:prstDash val="solid"/>
          </a:ln>
        </p:spPr>
      </p:sp>
      <p:sp>
        <p:nvSpPr>
          <p:cNvPr id="49" name="Text 43"/>
          <p:cNvSpPr txBox="1"/>
          <p:nvPr/>
        </p:nvSpPr>
        <p:spPr>
          <a:xfrm>
            <a:off x="2656332" y="6537960"/>
            <a:ext cx="1197864"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Scenario 2</a:t>
            </a:r>
            <a:endParaRPr lang="en-US" sz="1200" dirty="0"/>
          </a:p>
        </p:txBody>
      </p:sp>
      <p:pic>
        <p:nvPicPr>
          <p:cNvPr id="50" name="Image 4" descr="preencoded.png">
            <a:hlinkClick r:id="rId8" tooltip="Go to Scenario 2" action="ppaction://hlinksldjump"/>
          </p:cNvPr>
          <p:cNvPicPr>
            <a:picLocks noChangeAspect="1"/>
          </p:cNvPicPr>
          <p:nvPr/>
        </p:nvPicPr>
        <p:blipFill>
          <a:blip r:embed="rId7"/>
          <a:stretch>
            <a:fillRect/>
          </a:stretch>
        </p:blipFill>
        <p:spPr>
          <a:xfrm>
            <a:off x="2656332" y="6537960"/>
            <a:ext cx="1197864" cy="274320"/>
          </a:xfrm>
          <a:prstGeom prst="rect">
            <a:avLst/>
          </a:prstGeom>
        </p:spPr>
      </p:pic>
      <p:sp>
        <p:nvSpPr>
          <p:cNvPr id="51" name="Shape 44"/>
          <p:cNvSpPr/>
          <p:nvPr/>
        </p:nvSpPr>
        <p:spPr>
          <a:xfrm>
            <a:off x="3927348" y="6537960"/>
            <a:ext cx="1197864" cy="274320"/>
          </a:xfrm>
          <a:prstGeom prst="roundRect">
            <a:avLst>
              <a:gd name="adj" fmla="val 50000"/>
            </a:avLst>
          </a:prstGeom>
          <a:solidFill>
            <a:srgbClr val="F6F3FA"/>
          </a:solidFill>
          <a:ln w="12700">
            <a:solidFill>
              <a:srgbClr val="F6F3FA"/>
            </a:solidFill>
            <a:prstDash val="solid"/>
          </a:ln>
        </p:spPr>
      </p:sp>
      <p:sp>
        <p:nvSpPr>
          <p:cNvPr id="52" name="Text 45"/>
          <p:cNvSpPr txBox="1"/>
          <p:nvPr/>
        </p:nvSpPr>
        <p:spPr>
          <a:xfrm>
            <a:off x="3927348" y="6537960"/>
            <a:ext cx="1197864" cy="274320"/>
          </a:xfrm>
          <a:prstGeom prst="rect">
            <a:avLst/>
          </a:prstGeom>
          <a:noFill/>
          <a:ln/>
        </p:spPr>
        <p:txBody>
          <a:bodyPr wrap="square" lIns="0" tIns="0" rIns="0" bIns="0" rtlCol="0" anchor="ctr"/>
          <a:lstStyle/>
          <a:p>
            <a:pPr algn="ctr" indent="0" marL="0">
              <a:buNone/>
            </a:pPr>
            <a:r>
              <a:rPr lang="en-US" sz="1200" b="1" dirty="0">
                <a:solidFill>
                  <a:srgbClr val="6E5E94"/>
                </a:solidFill>
                <a:latin typeface="Calibri" pitchFamily="34" charset="0"/>
                <a:ea typeface="Calibri" pitchFamily="34" charset="-122"/>
                <a:cs typeface="Calibri" pitchFamily="34" charset="-120"/>
              </a:rPr>
              <a:t>Scenario 3</a:t>
            </a:r>
            <a:endParaRPr lang="en-US" sz="1200" dirty="0"/>
          </a:p>
        </p:txBody>
      </p:sp>
      <p:pic>
        <p:nvPicPr>
          <p:cNvPr id="53" name="Image 5" descr="preencoded.png">
            <a:hlinkClick r:id="rId10" tooltip="Go to Scenario 3" action="ppaction://hlinksldjump"/>
          </p:cNvPr>
          <p:cNvPicPr>
            <a:picLocks noChangeAspect="1"/>
          </p:cNvPicPr>
          <p:nvPr/>
        </p:nvPicPr>
        <p:blipFill>
          <a:blip r:embed="rId9"/>
          <a:stretch>
            <a:fillRect/>
          </a:stretch>
        </p:blipFill>
        <p:spPr>
          <a:xfrm>
            <a:off x="3927348" y="6537960"/>
            <a:ext cx="1197864" cy="274320"/>
          </a:xfrm>
          <a:prstGeom prst="rect">
            <a:avLst/>
          </a:prstGeom>
        </p:spPr>
      </p:pic>
      <p:sp>
        <p:nvSpPr>
          <p:cNvPr id="54" name="Shape 46"/>
          <p:cNvSpPr/>
          <p:nvPr/>
        </p:nvSpPr>
        <p:spPr>
          <a:xfrm>
            <a:off x="5198364" y="6537960"/>
            <a:ext cx="937260" cy="274320"/>
          </a:xfrm>
          <a:prstGeom prst="roundRect">
            <a:avLst>
              <a:gd name="adj" fmla="val 50000"/>
            </a:avLst>
          </a:prstGeom>
          <a:solidFill>
            <a:srgbClr val="E4ECF2"/>
          </a:solidFill>
          <a:ln w="12700">
            <a:solidFill>
              <a:srgbClr val="E4ECF2"/>
            </a:solidFill>
            <a:prstDash val="solid"/>
          </a:ln>
        </p:spPr>
      </p:sp>
      <p:sp>
        <p:nvSpPr>
          <p:cNvPr id="55" name="Text 47"/>
          <p:cNvSpPr txBox="1"/>
          <p:nvPr/>
        </p:nvSpPr>
        <p:spPr>
          <a:xfrm>
            <a:off x="5198364" y="6537960"/>
            <a:ext cx="937260" cy="274320"/>
          </a:xfrm>
          <a:prstGeom prst="rect">
            <a:avLst/>
          </a:prstGeom>
          <a:noFill/>
          <a:ln/>
        </p:spPr>
        <p:txBody>
          <a:bodyPr wrap="square" lIns="0" tIns="0" rIns="0" bIns="0" rtlCol="0" anchor="ctr"/>
          <a:lstStyle/>
          <a:p>
            <a:pPr algn="ctr" indent="0" marL="0">
              <a:buNone/>
            </a:pPr>
            <a:r>
              <a:rPr lang="en-US" sz="1200" b="1" dirty="0">
                <a:solidFill>
                  <a:srgbClr val="23405A"/>
                </a:solidFill>
                <a:latin typeface="Calibri" pitchFamily="34" charset="0"/>
                <a:ea typeface="Calibri" pitchFamily="34" charset="-122"/>
                <a:cs typeface="Calibri" pitchFamily="34" charset="-120"/>
              </a:rPr>
              <a:t>Closing</a:t>
            </a:r>
            <a:endParaRPr lang="en-US" sz="1200" dirty="0"/>
          </a:p>
        </p:txBody>
      </p:sp>
      <p:pic>
        <p:nvPicPr>
          <p:cNvPr id="56" name="Image 6" descr="preencoded.png">
            <a:hlinkClick r:id="rId12" tooltip="Go to Closing" action="ppaction://hlinksldjump"/>
          </p:cNvPr>
          <p:cNvPicPr>
            <a:picLocks noChangeAspect="1"/>
          </p:cNvPicPr>
          <p:nvPr/>
        </p:nvPicPr>
        <p:blipFill>
          <a:blip r:embed="rId11"/>
          <a:stretch>
            <a:fillRect/>
          </a:stretch>
        </p:blipFill>
        <p:spPr>
          <a:xfrm>
            <a:off x="5198364" y="6537960"/>
            <a:ext cx="937260" cy="274320"/>
          </a:xfrm>
          <a:prstGeom prst="rect">
            <a:avLst/>
          </a:prstGeom>
        </p:spPr>
      </p:pic>
      <p:sp>
        <p:nvSpPr>
          <p:cNvPr id="57" name="Text 48"/>
          <p:cNvSpPr txBox="1"/>
          <p:nvPr/>
        </p:nvSpPr>
        <p:spPr>
          <a:xfrm>
            <a:off x="11277295" y="6537960"/>
            <a:ext cx="365760" cy="274320"/>
          </a:xfrm>
          <a:prstGeom prst="rect">
            <a:avLst/>
          </a:prstGeom>
          <a:noFill/>
          <a:ln/>
        </p:spPr>
        <p:txBody>
          <a:bodyPr wrap="square" lIns="0" tIns="0" rIns="0" bIns="0" rtlCol="0" anchor="ctr"/>
          <a:lstStyle/>
          <a:p>
            <a:pPr algn="r" indent="0" marL="0">
              <a:buNone/>
            </a:pPr>
            <a:r>
              <a:rPr lang="en-US" sz="1200" dirty="0">
                <a:solidFill>
                  <a:srgbClr val="465A69"/>
                </a:solidFill>
                <a:latin typeface="Calibri" pitchFamily="34" charset="0"/>
                <a:ea typeface="Calibri" pitchFamily="34" charset="-122"/>
                <a:cs typeface="Calibri" pitchFamily="34" charset="-120"/>
              </a:rPr>
              <a:t>33</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E6F2E9"/>
        </a:solidFill>
      </p:bgPr>
    </p:bg>
    <p:spTree>
      <p:nvGrpSpPr>
        <p:cNvPr id="1" name=""/>
        <p:cNvGrpSpPr/>
        <p:nvPr/>
      </p:nvGrpSpPr>
      <p:grpSpPr>
        <a:xfrm>
          <a:off x="0" y="0"/>
          <a:ext cx="0" cy="0"/>
          <a:chOff x="0" y="0"/>
          <a:chExt cx="0" cy="0"/>
        </a:xfrm>
      </p:grpSpPr>
      <p:sp>
        <p:nvSpPr>
          <p:cNvPr id="2" name="Shape 0"/>
          <p:cNvSpPr/>
          <p:nvPr/>
        </p:nvSpPr>
        <p:spPr>
          <a:xfrm>
            <a:off x="548640" y="347472"/>
            <a:ext cx="2843784" cy="329184"/>
          </a:xfrm>
          <a:prstGeom prst="roundRect">
            <a:avLst>
              <a:gd name="adj" fmla="val 50000"/>
            </a:avLst>
          </a:prstGeom>
          <a:solidFill>
            <a:srgbClr val="F1F8F3"/>
          </a:solidFill>
          <a:ln w="12700">
            <a:solidFill>
              <a:srgbClr val="F1F8F3"/>
            </a:solidFill>
            <a:prstDash val="solid"/>
          </a:ln>
        </p:spPr>
      </p:sp>
      <p:sp>
        <p:nvSpPr>
          <p:cNvPr id="3" name="Text 1"/>
          <p:cNvSpPr txBox="1"/>
          <p:nvPr/>
        </p:nvSpPr>
        <p:spPr>
          <a:xfrm>
            <a:off x="548640" y="347472"/>
            <a:ext cx="2843784" cy="329184"/>
          </a:xfrm>
          <a:prstGeom prst="rect">
            <a:avLst/>
          </a:prstGeom>
          <a:noFill/>
          <a:ln/>
        </p:spPr>
        <p:txBody>
          <a:bodyPr wrap="square" lIns="0" tIns="0" rIns="0" bIns="0" rtlCol="0" anchor="ctr"/>
          <a:lstStyle/>
          <a:p>
            <a:pPr algn="ctr" indent="0" marL="0">
              <a:buNone/>
            </a:pPr>
            <a:r>
              <a:rPr lang="en-US" sz="1200" b="1" dirty="0">
                <a:solidFill>
                  <a:srgbClr val="4C8068"/>
                </a:solidFill>
                <a:latin typeface="Calibri" pitchFamily="34" charset="0"/>
                <a:ea typeface="Calibri" pitchFamily="34" charset="-122"/>
                <a:cs typeface="Calibri" pitchFamily="34" charset="-120"/>
              </a:rPr>
              <a:t>Scenario 2 recap, part 1 of 4</a:t>
            </a:r>
            <a:endParaRPr lang="en-US" sz="1200" dirty="0"/>
          </a:p>
        </p:txBody>
      </p:sp>
      <p:sp>
        <p:nvSpPr>
          <p:cNvPr id="4" name="Text 2"/>
          <p:cNvSpPr txBox="1"/>
          <p:nvPr/>
        </p:nvSpPr>
        <p:spPr>
          <a:xfrm>
            <a:off x="548640" y="749808"/>
            <a:ext cx="11064240" cy="548640"/>
          </a:xfrm>
          <a:prstGeom prst="rect">
            <a:avLst/>
          </a:prstGeom>
          <a:noFill/>
          <a:ln/>
        </p:spPr>
        <p:txBody>
          <a:bodyPr wrap="square" lIns="0" tIns="0" rIns="0" bIns="0" rtlCol="0" anchor="ctr"/>
          <a:lstStyle/>
          <a:p>
            <a:pPr indent="0" marL="0">
              <a:buNone/>
            </a:pPr>
            <a:r>
              <a:rPr lang="en-US" sz="2400" b="1" dirty="0">
                <a:solidFill>
                  <a:srgbClr val="1B2A4A"/>
                </a:solidFill>
                <a:latin typeface="Cambria" pitchFamily="34" charset="0"/>
                <a:ea typeface="Cambria" pitchFamily="34" charset="-122"/>
                <a:cs typeface="Cambria" pitchFamily="34" charset="-120"/>
              </a:rPr>
              <a:t>Exercise: Major SaaS Provider Cloud Outage</a:t>
            </a:r>
            <a:endParaRPr lang="en-US" sz="2400" dirty="0"/>
          </a:p>
        </p:txBody>
      </p:sp>
      <p:sp>
        <p:nvSpPr>
          <p:cNvPr id="5" name="Text 3"/>
          <p:cNvSpPr txBox="1"/>
          <p:nvPr/>
        </p:nvSpPr>
        <p:spPr>
          <a:xfrm>
            <a:off x="548640" y="4058412"/>
            <a:ext cx="2743200" cy="274320"/>
          </a:xfrm>
          <a:prstGeom prst="rect">
            <a:avLst/>
          </a:prstGeom>
          <a:noFill/>
          <a:ln/>
        </p:spPr>
        <p:txBody>
          <a:bodyPr wrap="square" lIns="0" tIns="0" rIns="0" bIns="0" rtlCol="0" anchor="t"/>
          <a:lstStyle/>
          <a:p>
            <a:pPr indent="0" marL="0">
              <a:buNone/>
            </a:pPr>
            <a:r>
              <a:rPr lang="en-US" sz="1300" b="1" dirty="0">
                <a:solidFill>
                  <a:srgbClr val="465A69"/>
                </a:solidFill>
                <a:latin typeface="Calibri" pitchFamily="34" charset="0"/>
                <a:ea typeface="Calibri" pitchFamily="34" charset="-122"/>
                <a:cs typeface="Calibri" pitchFamily="34" charset="-120"/>
              </a:rPr>
              <a:t>Plan focus</a:t>
            </a:r>
            <a:endParaRPr lang="en-US" sz="1300" dirty="0"/>
          </a:p>
        </p:txBody>
      </p:sp>
      <p:sp>
        <p:nvSpPr>
          <p:cNvPr id="6" name="Shape 4"/>
          <p:cNvSpPr/>
          <p:nvPr/>
        </p:nvSpPr>
        <p:spPr>
          <a:xfrm>
            <a:off x="548640" y="1325880"/>
            <a:ext cx="1258443" cy="2732532"/>
          </a:xfrm>
          <a:prstGeom prst="roundRect">
            <a:avLst>
              <a:gd name="adj" fmla="val 10173"/>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7" name="Shape 5"/>
          <p:cNvSpPr/>
          <p:nvPr/>
        </p:nvSpPr>
        <p:spPr>
          <a:xfrm>
            <a:off x="949262" y="1463040"/>
            <a:ext cx="457200" cy="457200"/>
          </a:xfrm>
          <a:prstGeom prst="ellipse">
            <a:avLst/>
          </a:prstGeom>
          <a:solidFill>
            <a:srgbClr val="6F93B3"/>
          </a:solidFill>
          <a:ln w="12700">
            <a:solidFill>
              <a:srgbClr val="6F93B3"/>
            </a:solidFill>
            <a:prstDash val="solid"/>
          </a:ln>
        </p:spPr>
      </p:sp>
      <p:pic>
        <p:nvPicPr>
          <p:cNvPr id="8" name="Image 0" descr="preencoded.png">    </p:cNvPr>
          <p:cNvPicPr>
            <a:picLocks noChangeAspect="1"/>
          </p:cNvPicPr>
          <p:nvPr/>
        </p:nvPicPr>
        <p:blipFill>
          <a:blip r:embed="rId1"/>
          <a:stretch>
            <a:fillRect/>
          </a:stretch>
        </p:blipFill>
        <p:spPr>
          <a:xfrm>
            <a:off x="1068134" y="1581912"/>
            <a:ext cx="219456" cy="219456"/>
          </a:xfrm>
          <a:prstGeom prst="rect">
            <a:avLst/>
          </a:prstGeom>
        </p:spPr>
      </p:pic>
      <p:sp>
        <p:nvSpPr>
          <p:cNvPr id="9" name="Text 6"/>
          <p:cNvSpPr txBox="1"/>
          <p:nvPr/>
        </p:nvSpPr>
        <p:spPr>
          <a:xfrm>
            <a:off x="594360" y="1929384"/>
            <a:ext cx="1167003" cy="948309"/>
          </a:xfrm>
          <a:prstGeom prst="rect">
            <a:avLst/>
          </a:prstGeom>
          <a:noFill/>
          <a:ln/>
        </p:spPr>
        <p:txBody>
          <a:bodyPr wrap="square" lIns="0" tIns="0" rIns="0" bIns="0" rtlCol="0" anchor="t"/>
          <a:lstStyle/>
          <a:p>
            <a:pPr algn="ctr" indent="0" marL="0">
              <a:buNone/>
            </a:pPr>
            <a:r>
              <a:rPr lang="en-US" sz="1500" b="1" dirty="0">
                <a:solidFill>
                  <a:srgbClr val="1B2A4A"/>
                </a:solidFill>
                <a:latin typeface="Calibri" pitchFamily="34" charset="0"/>
                <a:ea typeface="Calibri" pitchFamily="34" charset="-122"/>
                <a:cs typeface="Calibri" pitchFamily="34" charset="-120"/>
              </a:rPr>
              <a:t>T+0</a:t>
            </a:r>
            <a:endParaRPr lang="en-US" sz="1500" dirty="0"/>
          </a:p>
          <a:p>
            <a:pPr algn="ctr" indent="0" marL="0">
              <a:buNone/>
            </a:pPr>
            <a:r>
              <a:rPr lang="en-US" sz="1300" b="1" dirty="0">
                <a:solidFill>
                  <a:srgbClr val="1B2A4A"/>
                </a:solidFill>
                <a:latin typeface="Calibri" pitchFamily="34" charset="0"/>
                <a:ea typeface="Calibri" pitchFamily="34" charset="-122"/>
                <a:cs typeface="Calibri" pitchFamily="34" charset="-120"/>
              </a:rPr>
              <a:t>Initial Alert</a:t>
            </a:r>
            <a:endParaRPr lang="en-US" sz="1500" dirty="0"/>
          </a:p>
        </p:txBody>
      </p:sp>
      <p:sp>
        <p:nvSpPr>
          <p:cNvPr id="10" name="Text 7"/>
          <p:cNvSpPr txBox="1"/>
          <p:nvPr/>
        </p:nvSpPr>
        <p:spPr>
          <a:xfrm>
            <a:off x="612648" y="2895981"/>
            <a:ext cx="1130427" cy="1116711"/>
          </a:xfrm>
          <a:prstGeom prst="rect">
            <a:avLst/>
          </a:prstGeom>
          <a:noFill/>
          <a:ln/>
        </p:spPr>
        <p:txBody>
          <a:bodyPr wrap="square" lIns="0" tIns="0" rIns="0" bIns="0" rtlCol="0" anchor="t"/>
          <a:lstStyle/>
          <a:p>
            <a:pPr algn="ctr" indent="0" marL="0">
              <a:buNone/>
            </a:pPr>
            <a:r>
              <a:rPr lang="en-US" sz="1300" dirty="0">
                <a:solidFill>
                  <a:srgbClr val="1E2E3A"/>
                </a:solidFill>
                <a:latin typeface="Calibri" pitchFamily="34" charset="0"/>
                <a:ea typeface="Calibri" pitchFamily="34" charset="-122"/>
                <a:cs typeface="Calibri" pitchFamily="34" charset="-120"/>
              </a:rPr>
              <a:t>Service disruptions reported.</a:t>
            </a:r>
            <a:endParaRPr lang="en-US" sz="1300" dirty="0"/>
          </a:p>
        </p:txBody>
      </p:sp>
      <p:sp>
        <p:nvSpPr>
          <p:cNvPr id="11" name="Shape 8"/>
          <p:cNvSpPr/>
          <p:nvPr/>
        </p:nvSpPr>
        <p:spPr>
          <a:xfrm>
            <a:off x="1839087" y="2240280"/>
            <a:ext cx="82296" cy="182880"/>
          </a:xfrm>
          <a:prstGeom prst="chevron">
            <a:avLst/>
          </a:prstGeom>
          <a:solidFill>
            <a:srgbClr val="A9BDD0"/>
          </a:solidFill>
          <a:ln w="12700">
            <a:solidFill>
              <a:srgbClr val="A9BDD0"/>
            </a:solidFill>
            <a:prstDash val="solid"/>
          </a:ln>
        </p:spPr>
      </p:sp>
      <p:sp>
        <p:nvSpPr>
          <p:cNvPr id="12" name="Shape 9"/>
          <p:cNvSpPr/>
          <p:nvPr/>
        </p:nvSpPr>
        <p:spPr>
          <a:xfrm>
            <a:off x="548640" y="4341876"/>
            <a:ext cx="1258443" cy="1665732"/>
          </a:xfrm>
          <a:prstGeom prst="roundRect">
            <a:avLst>
              <a:gd name="adj" fmla="val 10173"/>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13" name="Shape 10"/>
          <p:cNvSpPr/>
          <p:nvPr/>
        </p:nvSpPr>
        <p:spPr>
          <a:xfrm>
            <a:off x="1031558" y="4415028"/>
            <a:ext cx="292608" cy="292608"/>
          </a:xfrm>
          <a:prstGeom prst="ellipse">
            <a:avLst/>
          </a:prstGeom>
          <a:solidFill>
            <a:srgbClr val="6F93B3"/>
          </a:solidFill>
          <a:ln w="12700">
            <a:solidFill>
              <a:srgbClr val="6F93B3"/>
            </a:solidFill>
            <a:prstDash val="solid"/>
          </a:ln>
        </p:spPr>
      </p:sp>
      <p:pic>
        <p:nvPicPr>
          <p:cNvPr id="14" name="Image 1" descr="preencoded.png">    </p:cNvPr>
          <p:cNvPicPr>
            <a:picLocks noChangeAspect="1"/>
          </p:cNvPicPr>
          <p:nvPr/>
        </p:nvPicPr>
        <p:blipFill>
          <a:blip r:embed="rId2"/>
          <a:stretch>
            <a:fillRect/>
          </a:stretch>
        </p:blipFill>
        <p:spPr>
          <a:xfrm>
            <a:off x="1104710" y="4488180"/>
            <a:ext cx="146304" cy="146304"/>
          </a:xfrm>
          <a:prstGeom prst="rect">
            <a:avLst/>
          </a:prstGeom>
        </p:spPr>
      </p:pic>
      <p:sp>
        <p:nvSpPr>
          <p:cNvPr id="15" name="Text 11"/>
          <p:cNvSpPr txBox="1"/>
          <p:nvPr/>
        </p:nvSpPr>
        <p:spPr>
          <a:xfrm>
            <a:off x="594360" y="4744212"/>
            <a:ext cx="1167003" cy="1245108"/>
          </a:xfrm>
          <a:prstGeom prst="rect">
            <a:avLst/>
          </a:prstGeom>
          <a:noFill/>
          <a:ln/>
        </p:spPr>
        <p:txBody>
          <a:bodyPr wrap="square" lIns="0" tIns="0" rIns="0" bIns="0" rtlCol="0" anchor="t"/>
          <a:lstStyle/>
          <a:p>
            <a:pPr algn="ctr" indent="0" marL="0">
              <a:buNone/>
            </a:pPr>
            <a:r>
              <a:rPr lang="en-US" sz="1300" b="1" dirty="0">
                <a:solidFill>
                  <a:srgbClr val="1B2A4A"/>
                </a:solidFill>
                <a:latin typeface="Calibri" pitchFamily="34" charset="0"/>
                <a:ea typeface="Calibri" pitchFamily="34" charset="-122"/>
                <a:cs typeface="Calibri" pitchFamily="34" charset="-120"/>
              </a:rPr>
              <a:t>Detect &amp; Assess</a:t>
            </a:r>
            <a:endParaRPr lang="en-US" sz="1300" dirty="0"/>
          </a:p>
          <a:p>
            <a:pPr algn="ctr" indent="0" marL="0">
              <a:buNone/>
            </a:pPr>
            <a:r>
              <a:rPr lang="en-US" sz="1300" dirty="0">
                <a:solidFill>
                  <a:srgbClr val="1E2E3A"/>
                </a:solidFill>
                <a:latin typeface="Calibri" pitchFamily="34" charset="0"/>
                <a:ea typeface="Calibri" pitchFamily="34" charset="-122"/>
                <a:cs typeface="Calibri" pitchFamily="34" charset="-120"/>
              </a:rPr>
              <a:t>Validate scope and confirm provider issue</a:t>
            </a:r>
            <a:endParaRPr lang="en-US" sz="1300" dirty="0"/>
          </a:p>
        </p:txBody>
      </p:sp>
      <p:sp>
        <p:nvSpPr>
          <p:cNvPr id="16" name="Shape 12"/>
          <p:cNvSpPr/>
          <p:nvPr/>
        </p:nvSpPr>
        <p:spPr>
          <a:xfrm>
            <a:off x="1953387" y="1325880"/>
            <a:ext cx="1258443" cy="2732532"/>
          </a:xfrm>
          <a:prstGeom prst="roundRect">
            <a:avLst>
              <a:gd name="adj" fmla="val 10173"/>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17" name="Shape 13"/>
          <p:cNvSpPr/>
          <p:nvPr/>
        </p:nvSpPr>
        <p:spPr>
          <a:xfrm>
            <a:off x="2354009" y="1463040"/>
            <a:ext cx="457200" cy="457200"/>
          </a:xfrm>
          <a:prstGeom prst="ellipse">
            <a:avLst/>
          </a:prstGeom>
          <a:solidFill>
            <a:srgbClr val="6FA394"/>
          </a:solidFill>
          <a:ln w="12700">
            <a:solidFill>
              <a:srgbClr val="6FA394"/>
            </a:solidFill>
            <a:prstDash val="solid"/>
          </a:ln>
        </p:spPr>
      </p:sp>
      <p:pic>
        <p:nvPicPr>
          <p:cNvPr id="18" name="Image 2" descr="preencoded.png">    </p:cNvPr>
          <p:cNvPicPr>
            <a:picLocks noChangeAspect="1"/>
          </p:cNvPicPr>
          <p:nvPr/>
        </p:nvPicPr>
        <p:blipFill>
          <a:blip r:embed="rId3"/>
          <a:stretch>
            <a:fillRect/>
          </a:stretch>
        </p:blipFill>
        <p:spPr>
          <a:xfrm>
            <a:off x="2472881" y="1581912"/>
            <a:ext cx="219456" cy="219456"/>
          </a:xfrm>
          <a:prstGeom prst="rect">
            <a:avLst/>
          </a:prstGeom>
        </p:spPr>
      </p:pic>
      <p:sp>
        <p:nvSpPr>
          <p:cNvPr id="19" name="Text 14"/>
          <p:cNvSpPr txBox="1"/>
          <p:nvPr/>
        </p:nvSpPr>
        <p:spPr>
          <a:xfrm>
            <a:off x="1999107" y="1929384"/>
            <a:ext cx="1167003" cy="948309"/>
          </a:xfrm>
          <a:prstGeom prst="rect">
            <a:avLst/>
          </a:prstGeom>
          <a:noFill/>
          <a:ln/>
        </p:spPr>
        <p:txBody>
          <a:bodyPr wrap="square" lIns="0" tIns="0" rIns="0" bIns="0" rtlCol="0" anchor="t"/>
          <a:lstStyle/>
          <a:p>
            <a:pPr algn="ctr" indent="0" marL="0">
              <a:buNone/>
            </a:pPr>
            <a:r>
              <a:rPr lang="en-US" sz="1500" b="1" dirty="0">
                <a:solidFill>
                  <a:srgbClr val="1B2A4A"/>
                </a:solidFill>
                <a:latin typeface="Calibri" pitchFamily="34" charset="0"/>
                <a:ea typeface="Calibri" pitchFamily="34" charset="-122"/>
                <a:cs typeface="Calibri" pitchFamily="34" charset="-120"/>
              </a:rPr>
              <a:t>T+30m</a:t>
            </a:r>
            <a:endParaRPr lang="en-US" sz="1500" dirty="0"/>
          </a:p>
          <a:p>
            <a:pPr algn="ctr" indent="0" marL="0">
              <a:buNone/>
            </a:pPr>
            <a:r>
              <a:rPr lang="en-US" sz="1300" b="1" dirty="0">
                <a:solidFill>
                  <a:srgbClr val="1B2A4A"/>
                </a:solidFill>
                <a:latin typeface="Calibri" pitchFamily="34" charset="0"/>
                <a:ea typeface="Calibri" pitchFamily="34" charset="-122"/>
                <a:cs typeface="Calibri" pitchFamily="34" charset="-120"/>
              </a:rPr>
              <a:t>Scope Expands</a:t>
            </a:r>
            <a:endParaRPr lang="en-US" sz="1500" dirty="0"/>
          </a:p>
        </p:txBody>
      </p:sp>
      <p:sp>
        <p:nvSpPr>
          <p:cNvPr id="20" name="Text 15"/>
          <p:cNvSpPr txBox="1"/>
          <p:nvPr/>
        </p:nvSpPr>
        <p:spPr>
          <a:xfrm>
            <a:off x="2017395" y="2895981"/>
            <a:ext cx="1130427" cy="1116711"/>
          </a:xfrm>
          <a:prstGeom prst="rect">
            <a:avLst/>
          </a:prstGeom>
          <a:noFill/>
          <a:ln/>
        </p:spPr>
        <p:txBody>
          <a:bodyPr wrap="square" lIns="0" tIns="0" rIns="0" bIns="0" rtlCol="0" anchor="t"/>
          <a:lstStyle/>
          <a:p>
            <a:pPr algn="ctr" indent="0" marL="0">
              <a:buNone/>
            </a:pPr>
            <a:r>
              <a:rPr lang="en-US" sz="1300" dirty="0">
                <a:solidFill>
                  <a:srgbClr val="1E2E3A"/>
                </a:solidFill>
                <a:latin typeface="Calibri" pitchFamily="34" charset="0"/>
                <a:ea typeface="Calibri" pitchFamily="34" charset="-122"/>
                <a:cs typeface="Calibri" pitchFamily="34" charset="-120"/>
              </a:rPr>
              <a:t>Multiple services confirmed affected in region.</a:t>
            </a:r>
            <a:endParaRPr lang="en-US" sz="1300" dirty="0"/>
          </a:p>
        </p:txBody>
      </p:sp>
      <p:sp>
        <p:nvSpPr>
          <p:cNvPr id="21" name="Shape 16"/>
          <p:cNvSpPr/>
          <p:nvPr/>
        </p:nvSpPr>
        <p:spPr>
          <a:xfrm>
            <a:off x="3243834" y="2240280"/>
            <a:ext cx="82296" cy="182880"/>
          </a:xfrm>
          <a:prstGeom prst="chevron">
            <a:avLst/>
          </a:prstGeom>
          <a:solidFill>
            <a:srgbClr val="A9BDD0"/>
          </a:solidFill>
          <a:ln w="12700">
            <a:solidFill>
              <a:srgbClr val="A9BDD0"/>
            </a:solidFill>
            <a:prstDash val="solid"/>
          </a:ln>
        </p:spPr>
      </p:sp>
      <p:sp>
        <p:nvSpPr>
          <p:cNvPr id="22" name="Shape 17"/>
          <p:cNvSpPr/>
          <p:nvPr/>
        </p:nvSpPr>
        <p:spPr>
          <a:xfrm>
            <a:off x="1953387" y="4341876"/>
            <a:ext cx="1258443" cy="1665732"/>
          </a:xfrm>
          <a:prstGeom prst="roundRect">
            <a:avLst>
              <a:gd name="adj" fmla="val 10173"/>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23" name="Shape 18"/>
          <p:cNvSpPr/>
          <p:nvPr/>
        </p:nvSpPr>
        <p:spPr>
          <a:xfrm>
            <a:off x="2436305" y="4415028"/>
            <a:ext cx="292608" cy="292608"/>
          </a:xfrm>
          <a:prstGeom prst="ellipse">
            <a:avLst/>
          </a:prstGeom>
          <a:solidFill>
            <a:srgbClr val="6FA394"/>
          </a:solidFill>
          <a:ln w="12700">
            <a:solidFill>
              <a:srgbClr val="6FA394"/>
            </a:solidFill>
            <a:prstDash val="solid"/>
          </a:ln>
        </p:spPr>
      </p:sp>
      <p:pic>
        <p:nvPicPr>
          <p:cNvPr id="24" name="Image 3" descr="preencoded.png">    </p:cNvPr>
          <p:cNvPicPr>
            <a:picLocks noChangeAspect="1"/>
          </p:cNvPicPr>
          <p:nvPr/>
        </p:nvPicPr>
        <p:blipFill>
          <a:blip r:embed="rId4"/>
          <a:stretch>
            <a:fillRect/>
          </a:stretch>
        </p:blipFill>
        <p:spPr>
          <a:xfrm>
            <a:off x="2509457" y="4488180"/>
            <a:ext cx="146304" cy="146304"/>
          </a:xfrm>
          <a:prstGeom prst="rect">
            <a:avLst/>
          </a:prstGeom>
        </p:spPr>
      </p:pic>
      <p:sp>
        <p:nvSpPr>
          <p:cNvPr id="25" name="Text 19"/>
          <p:cNvSpPr txBox="1"/>
          <p:nvPr/>
        </p:nvSpPr>
        <p:spPr>
          <a:xfrm>
            <a:off x="1999107" y="4744212"/>
            <a:ext cx="1167003" cy="1245108"/>
          </a:xfrm>
          <a:prstGeom prst="rect">
            <a:avLst/>
          </a:prstGeom>
          <a:noFill/>
          <a:ln/>
        </p:spPr>
        <p:txBody>
          <a:bodyPr wrap="square" lIns="0" tIns="0" rIns="0" bIns="0" rtlCol="0" anchor="t"/>
          <a:lstStyle/>
          <a:p>
            <a:pPr algn="ctr" indent="0" marL="0">
              <a:buNone/>
            </a:pPr>
            <a:r>
              <a:rPr lang="en-US" sz="1300" b="1" dirty="0">
                <a:solidFill>
                  <a:srgbClr val="1B2A4A"/>
                </a:solidFill>
                <a:latin typeface="Calibri" pitchFamily="34" charset="0"/>
                <a:ea typeface="Calibri" pitchFamily="34" charset="-122"/>
                <a:cs typeface="Calibri" pitchFamily="34" charset="-120"/>
              </a:rPr>
              <a:t>Investigate &amp; Communicate</a:t>
            </a:r>
            <a:endParaRPr lang="en-US" sz="1300" dirty="0"/>
          </a:p>
          <a:p>
            <a:pPr algn="ctr" indent="0" marL="0">
              <a:buNone/>
            </a:pPr>
            <a:r>
              <a:rPr lang="en-US" sz="1300" dirty="0">
                <a:solidFill>
                  <a:srgbClr val="1E2E3A"/>
                </a:solidFill>
                <a:latin typeface="Calibri" pitchFamily="34" charset="0"/>
                <a:ea typeface="Calibri" pitchFamily="34" charset="-122"/>
                <a:cs typeface="Calibri" pitchFamily="34" charset="-120"/>
              </a:rPr>
              <a:t>Monitor provider updates and assess impact</a:t>
            </a:r>
            <a:endParaRPr lang="en-US" sz="1300" dirty="0"/>
          </a:p>
        </p:txBody>
      </p:sp>
      <p:sp>
        <p:nvSpPr>
          <p:cNvPr id="26" name="Shape 20"/>
          <p:cNvSpPr/>
          <p:nvPr/>
        </p:nvSpPr>
        <p:spPr>
          <a:xfrm>
            <a:off x="3358134" y="1325880"/>
            <a:ext cx="1258443" cy="2732532"/>
          </a:xfrm>
          <a:prstGeom prst="roundRect">
            <a:avLst>
              <a:gd name="adj" fmla="val 10173"/>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27" name="Shape 21"/>
          <p:cNvSpPr/>
          <p:nvPr/>
        </p:nvSpPr>
        <p:spPr>
          <a:xfrm>
            <a:off x="3758756" y="1463040"/>
            <a:ext cx="457200" cy="457200"/>
          </a:xfrm>
          <a:prstGeom prst="ellipse">
            <a:avLst/>
          </a:prstGeom>
          <a:solidFill>
            <a:srgbClr val="B89E68"/>
          </a:solidFill>
          <a:ln w="12700">
            <a:solidFill>
              <a:srgbClr val="B89E68"/>
            </a:solidFill>
            <a:prstDash val="solid"/>
          </a:ln>
        </p:spPr>
      </p:sp>
      <p:pic>
        <p:nvPicPr>
          <p:cNvPr id="28" name="Image 4" descr="preencoded.png">    </p:cNvPr>
          <p:cNvPicPr>
            <a:picLocks noChangeAspect="1"/>
          </p:cNvPicPr>
          <p:nvPr/>
        </p:nvPicPr>
        <p:blipFill>
          <a:blip r:embed="rId5"/>
          <a:stretch>
            <a:fillRect/>
          </a:stretch>
        </p:blipFill>
        <p:spPr>
          <a:xfrm>
            <a:off x="3877628" y="1581912"/>
            <a:ext cx="219456" cy="219456"/>
          </a:xfrm>
          <a:prstGeom prst="rect">
            <a:avLst/>
          </a:prstGeom>
        </p:spPr>
      </p:pic>
      <p:sp>
        <p:nvSpPr>
          <p:cNvPr id="29" name="Text 22"/>
          <p:cNvSpPr txBox="1"/>
          <p:nvPr/>
        </p:nvSpPr>
        <p:spPr>
          <a:xfrm>
            <a:off x="3403854" y="1929384"/>
            <a:ext cx="1167003" cy="948309"/>
          </a:xfrm>
          <a:prstGeom prst="rect">
            <a:avLst/>
          </a:prstGeom>
          <a:noFill/>
          <a:ln/>
        </p:spPr>
        <p:txBody>
          <a:bodyPr wrap="square" lIns="0" tIns="0" rIns="0" bIns="0" rtlCol="0" anchor="t"/>
          <a:lstStyle/>
          <a:p>
            <a:pPr algn="ctr" indent="0" marL="0">
              <a:buNone/>
            </a:pPr>
            <a:r>
              <a:rPr lang="en-US" sz="1500" b="1" dirty="0">
                <a:solidFill>
                  <a:srgbClr val="1B2A4A"/>
                </a:solidFill>
                <a:latin typeface="Calibri" pitchFamily="34" charset="0"/>
                <a:ea typeface="Calibri" pitchFamily="34" charset="-122"/>
                <a:cs typeface="Calibri" pitchFamily="34" charset="-120"/>
              </a:rPr>
              <a:t>T+2h</a:t>
            </a:r>
            <a:endParaRPr lang="en-US" sz="1500" dirty="0"/>
          </a:p>
          <a:p>
            <a:pPr algn="ctr" indent="0" marL="0">
              <a:buNone/>
            </a:pPr>
            <a:r>
              <a:rPr lang="en-US" sz="1300" b="1" dirty="0">
                <a:solidFill>
                  <a:srgbClr val="1B2A4A"/>
                </a:solidFill>
                <a:latin typeface="Calibri" pitchFamily="34" charset="0"/>
                <a:ea typeface="Calibri" pitchFamily="34" charset="-122"/>
                <a:cs typeface="Calibri" pitchFamily="34" charset="-120"/>
              </a:rPr>
              <a:t>Provider Incident Declared</a:t>
            </a:r>
            <a:endParaRPr lang="en-US" sz="1500" dirty="0"/>
          </a:p>
        </p:txBody>
      </p:sp>
      <p:sp>
        <p:nvSpPr>
          <p:cNvPr id="30" name="Text 23"/>
          <p:cNvSpPr txBox="1"/>
          <p:nvPr/>
        </p:nvSpPr>
        <p:spPr>
          <a:xfrm>
            <a:off x="3422142" y="2895981"/>
            <a:ext cx="1130427" cy="1116711"/>
          </a:xfrm>
          <a:prstGeom prst="rect">
            <a:avLst/>
          </a:prstGeom>
          <a:noFill/>
          <a:ln/>
        </p:spPr>
        <p:txBody>
          <a:bodyPr wrap="square" lIns="0" tIns="0" rIns="0" bIns="0" rtlCol="0" anchor="t"/>
          <a:lstStyle/>
          <a:p>
            <a:pPr algn="ctr" indent="0" marL="0">
              <a:buNone/>
            </a:pPr>
            <a:r>
              <a:rPr lang="en-US" sz="1300" dirty="0">
                <a:solidFill>
                  <a:srgbClr val="1E2E3A"/>
                </a:solidFill>
                <a:latin typeface="Calibri" pitchFamily="34" charset="0"/>
                <a:ea typeface="Calibri" pitchFamily="34" charset="-122"/>
                <a:cs typeface="Calibri" pitchFamily="34" charset="-120"/>
              </a:rPr>
              <a:t>Provider confirms a major regional outage.</a:t>
            </a:r>
            <a:endParaRPr lang="en-US" sz="1300" dirty="0"/>
          </a:p>
        </p:txBody>
      </p:sp>
      <p:sp>
        <p:nvSpPr>
          <p:cNvPr id="31" name="Shape 24"/>
          <p:cNvSpPr/>
          <p:nvPr/>
        </p:nvSpPr>
        <p:spPr>
          <a:xfrm>
            <a:off x="4648581" y="2240280"/>
            <a:ext cx="82296" cy="182880"/>
          </a:xfrm>
          <a:prstGeom prst="chevron">
            <a:avLst/>
          </a:prstGeom>
          <a:solidFill>
            <a:srgbClr val="A9BDD0"/>
          </a:solidFill>
          <a:ln w="12700">
            <a:solidFill>
              <a:srgbClr val="A9BDD0"/>
            </a:solidFill>
            <a:prstDash val="solid"/>
          </a:ln>
        </p:spPr>
      </p:sp>
      <p:sp>
        <p:nvSpPr>
          <p:cNvPr id="32" name="Shape 25"/>
          <p:cNvSpPr/>
          <p:nvPr/>
        </p:nvSpPr>
        <p:spPr>
          <a:xfrm>
            <a:off x="3358134" y="4341876"/>
            <a:ext cx="1258443" cy="1665732"/>
          </a:xfrm>
          <a:prstGeom prst="roundRect">
            <a:avLst>
              <a:gd name="adj" fmla="val 10173"/>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33" name="Shape 26"/>
          <p:cNvSpPr/>
          <p:nvPr/>
        </p:nvSpPr>
        <p:spPr>
          <a:xfrm>
            <a:off x="3841052" y="4415028"/>
            <a:ext cx="292608" cy="292608"/>
          </a:xfrm>
          <a:prstGeom prst="ellipse">
            <a:avLst/>
          </a:prstGeom>
          <a:solidFill>
            <a:srgbClr val="B89E68"/>
          </a:solidFill>
          <a:ln w="12700">
            <a:solidFill>
              <a:srgbClr val="B89E68"/>
            </a:solidFill>
            <a:prstDash val="solid"/>
          </a:ln>
        </p:spPr>
      </p:sp>
      <p:pic>
        <p:nvPicPr>
          <p:cNvPr id="34" name="Image 5" descr="preencoded.png">    </p:cNvPr>
          <p:cNvPicPr>
            <a:picLocks noChangeAspect="1"/>
          </p:cNvPicPr>
          <p:nvPr/>
        </p:nvPicPr>
        <p:blipFill>
          <a:blip r:embed="rId6"/>
          <a:stretch>
            <a:fillRect/>
          </a:stretch>
        </p:blipFill>
        <p:spPr>
          <a:xfrm>
            <a:off x="3914204" y="4488180"/>
            <a:ext cx="146304" cy="146304"/>
          </a:xfrm>
          <a:prstGeom prst="rect">
            <a:avLst/>
          </a:prstGeom>
        </p:spPr>
      </p:pic>
      <p:sp>
        <p:nvSpPr>
          <p:cNvPr id="35" name="Text 27"/>
          <p:cNvSpPr txBox="1"/>
          <p:nvPr/>
        </p:nvSpPr>
        <p:spPr>
          <a:xfrm>
            <a:off x="3403854" y="4744212"/>
            <a:ext cx="1167003" cy="1245108"/>
          </a:xfrm>
          <a:prstGeom prst="rect">
            <a:avLst/>
          </a:prstGeom>
          <a:noFill/>
          <a:ln/>
        </p:spPr>
        <p:txBody>
          <a:bodyPr wrap="square" lIns="0" tIns="0" rIns="0" bIns="0" rtlCol="0" anchor="t"/>
          <a:lstStyle/>
          <a:p>
            <a:pPr algn="ctr" indent="0" marL="0">
              <a:buNone/>
            </a:pPr>
            <a:r>
              <a:rPr lang="en-US" sz="1300" b="1" dirty="0">
                <a:solidFill>
                  <a:srgbClr val="1B2A4A"/>
                </a:solidFill>
                <a:latin typeface="Calibri" pitchFamily="34" charset="0"/>
                <a:ea typeface="Calibri" pitchFamily="34" charset="-122"/>
                <a:cs typeface="Calibri" pitchFamily="34" charset="-120"/>
              </a:rPr>
              <a:t>Decision Point</a:t>
            </a:r>
            <a:endParaRPr lang="en-US" sz="1300" dirty="0"/>
          </a:p>
          <a:p>
            <a:pPr algn="ctr" indent="0" marL="0">
              <a:buNone/>
            </a:pPr>
            <a:r>
              <a:rPr lang="en-US" sz="1300" dirty="0">
                <a:solidFill>
                  <a:srgbClr val="1E2E3A"/>
                </a:solidFill>
                <a:latin typeface="Calibri" pitchFamily="34" charset="0"/>
                <a:ea typeface="Calibri" pitchFamily="34" charset="-122"/>
                <a:cs typeface="Calibri" pitchFamily="34" charset="-120"/>
              </a:rPr>
              <a:t>Invoke BC/DR thresholds</a:t>
            </a:r>
            <a:endParaRPr lang="en-US" sz="1300" dirty="0"/>
          </a:p>
        </p:txBody>
      </p:sp>
      <p:sp>
        <p:nvSpPr>
          <p:cNvPr id="36" name="Shape 28"/>
          <p:cNvSpPr/>
          <p:nvPr/>
        </p:nvSpPr>
        <p:spPr>
          <a:xfrm>
            <a:off x="4762881" y="1325880"/>
            <a:ext cx="1258443" cy="2732532"/>
          </a:xfrm>
          <a:prstGeom prst="roundRect">
            <a:avLst>
              <a:gd name="adj" fmla="val 10173"/>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37" name="Shape 29"/>
          <p:cNvSpPr/>
          <p:nvPr/>
        </p:nvSpPr>
        <p:spPr>
          <a:xfrm>
            <a:off x="5163503" y="1463040"/>
            <a:ext cx="457200" cy="457200"/>
          </a:xfrm>
          <a:prstGeom prst="ellipse">
            <a:avLst/>
          </a:prstGeom>
          <a:solidFill>
            <a:srgbClr val="B38496"/>
          </a:solidFill>
          <a:ln w="12700">
            <a:solidFill>
              <a:srgbClr val="B38496"/>
            </a:solidFill>
            <a:prstDash val="solid"/>
          </a:ln>
        </p:spPr>
      </p:sp>
      <p:pic>
        <p:nvPicPr>
          <p:cNvPr id="38" name="Image 6" descr="preencoded.png">    </p:cNvPr>
          <p:cNvPicPr>
            <a:picLocks noChangeAspect="1"/>
          </p:cNvPicPr>
          <p:nvPr/>
        </p:nvPicPr>
        <p:blipFill>
          <a:blip r:embed="rId7"/>
          <a:stretch>
            <a:fillRect/>
          </a:stretch>
        </p:blipFill>
        <p:spPr>
          <a:xfrm>
            <a:off x="5282375" y="1581912"/>
            <a:ext cx="219456" cy="219456"/>
          </a:xfrm>
          <a:prstGeom prst="rect">
            <a:avLst/>
          </a:prstGeom>
        </p:spPr>
      </p:pic>
      <p:sp>
        <p:nvSpPr>
          <p:cNvPr id="39" name="Text 30"/>
          <p:cNvSpPr txBox="1"/>
          <p:nvPr/>
        </p:nvSpPr>
        <p:spPr>
          <a:xfrm>
            <a:off x="4808601" y="1929384"/>
            <a:ext cx="1167003" cy="948309"/>
          </a:xfrm>
          <a:prstGeom prst="rect">
            <a:avLst/>
          </a:prstGeom>
          <a:noFill/>
          <a:ln/>
        </p:spPr>
        <p:txBody>
          <a:bodyPr wrap="square" lIns="0" tIns="0" rIns="0" bIns="0" rtlCol="0" anchor="t"/>
          <a:lstStyle/>
          <a:p>
            <a:pPr algn="ctr" indent="0" marL="0">
              <a:buNone/>
            </a:pPr>
            <a:r>
              <a:rPr lang="en-US" sz="1500" b="1" dirty="0">
                <a:solidFill>
                  <a:srgbClr val="1B2A4A"/>
                </a:solidFill>
                <a:latin typeface="Calibri" pitchFamily="34" charset="0"/>
                <a:ea typeface="Calibri" pitchFamily="34" charset="-122"/>
                <a:cs typeface="Calibri" pitchFamily="34" charset="-120"/>
              </a:rPr>
              <a:t>T+6h</a:t>
            </a:r>
            <a:endParaRPr lang="en-US" sz="1500" dirty="0"/>
          </a:p>
          <a:p>
            <a:pPr algn="ctr" indent="0" marL="0">
              <a:buNone/>
            </a:pPr>
            <a:r>
              <a:rPr lang="en-US" sz="1300" b="1" dirty="0">
                <a:solidFill>
                  <a:srgbClr val="1B2A4A"/>
                </a:solidFill>
                <a:latin typeface="Calibri" pitchFamily="34" charset="0"/>
                <a:ea typeface="Calibri" pitchFamily="34" charset="-122"/>
                <a:cs typeface="Calibri" pitchFamily="34" charset="-120"/>
              </a:rPr>
              <a:t>Business Impact</a:t>
            </a:r>
            <a:endParaRPr lang="en-US" sz="1500" dirty="0"/>
          </a:p>
        </p:txBody>
      </p:sp>
      <p:sp>
        <p:nvSpPr>
          <p:cNvPr id="40" name="Text 31"/>
          <p:cNvSpPr txBox="1"/>
          <p:nvPr/>
        </p:nvSpPr>
        <p:spPr>
          <a:xfrm>
            <a:off x="4826889" y="2895981"/>
            <a:ext cx="1130427" cy="1116711"/>
          </a:xfrm>
          <a:prstGeom prst="rect">
            <a:avLst/>
          </a:prstGeom>
          <a:noFill/>
          <a:ln/>
        </p:spPr>
        <p:txBody>
          <a:bodyPr wrap="square" lIns="0" tIns="0" rIns="0" bIns="0" rtlCol="0" anchor="t"/>
          <a:lstStyle/>
          <a:p>
            <a:pPr algn="ctr" indent="0" marL="0">
              <a:buNone/>
            </a:pPr>
            <a:r>
              <a:rPr lang="en-US" sz="1300" dirty="0">
                <a:solidFill>
                  <a:srgbClr val="1E2E3A"/>
                </a:solidFill>
                <a:latin typeface="Calibri" pitchFamily="34" charset="0"/>
                <a:ea typeface="Calibri" pitchFamily="34" charset="-122"/>
                <a:cs typeface="Calibri" pitchFamily="34" charset="-120"/>
              </a:rPr>
              <a:t>Critical business processes are disrupted.</a:t>
            </a:r>
            <a:endParaRPr lang="en-US" sz="1300" dirty="0"/>
          </a:p>
        </p:txBody>
      </p:sp>
      <p:sp>
        <p:nvSpPr>
          <p:cNvPr id="41" name="Shape 32"/>
          <p:cNvSpPr/>
          <p:nvPr/>
        </p:nvSpPr>
        <p:spPr>
          <a:xfrm>
            <a:off x="6053328" y="2240280"/>
            <a:ext cx="82296" cy="182880"/>
          </a:xfrm>
          <a:prstGeom prst="chevron">
            <a:avLst/>
          </a:prstGeom>
          <a:solidFill>
            <a:srgbClr val="A9BDD0"/>
          </a:solidFill>
          <a:ln w="12700">
            <a:solidFill>
              <a:srgbClr val="A9BDD0"/>
            </a:solidFill>
            <a:prstDash val="solid"/>
          </a:ln>
        </p:spPr>
      </p:sp>
      <p:sp>
        <p:nvSpPr>
          <p:cNvPr id="42" name="Shape 33"/>
          <p:cNvSpPr/>
          <p:nvPr/>
        </p:nvSpPr>
        <p:spPr>
          <a:xfrm>
            <a:off x="4762881" y="4341876"/>
            <a:ext cx="1258443" cy="1665732"/>
          </a:xfrm>
          <a:prstGeom prst="roundRect">
            <a:avLst>
              <a:gd name="adj" fmla="val 10173"/>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43" name="Shape 34"/>
          <p:cNvSpPr/>
          <p:nvPr/>
        </p:nvSpPr>
        <p:spPr>
          <a:xfrm>
            <a:off x="5245799" y="4415028"/>
            <a:ext cx="292608" cy="292608"/>
          </a:xfrm>
          <a:prstGeom prst="ellipse">
            <a:avLst/>
          </a:prstGeom>
          <a:solidFill>
            <a:srgbClr val="B38496"/>
          </a:solidFill>
          <a:ln w="12700">
            <a:solidFill>
              <a:srgbClr val="B38496"/>
            </a:solidFill>
            <a:prstDash val="solid"/>
          </a:ln>
        </p:spPr>
      </p:sp>
      <p:pic>
        <p:nvPicPr>
          <p:cNvPr id="44" name="Image 7" descr="preencoded.png">    </p:cNvPr>
          <p:cNvPicPr>
            <a:picLocks noChangeAspect="1"/>
          </p:cNvPicPr>
          <p:nvPr/>
        </p:nvPicPr>
        <p:blipFill>
          <a:blip r:embed="rId8"/>
          <a:stretch>
            <a:fillRect/>
          </a:stretch>
        </p:blipFill>
        <p:spPr>
          <a:xfrm>
            <a:off x="5318951" y="4488180"/>
            <a:ext cx="146304" cy="146304"/>
          </a:xfrm>
          <a:prstGeom prst="rect">
            <a:avLst/>
          </a:prstGeom>
        </p:spPr>
      </p:pic>
      <p:sp>
        <p:nvSpPr>
          <p:cNvPr id="45" name="Text 35"/>
          <p:cNvSpPr txBox="1"/>
          <p:nvPr/>
        </p:nvSpPr>
        <p:spPr>
          <a:xfrm>
            <a:off x="4808601" y="4744212"/>
            <a:ext cx="1167003" cy="1245108"/>
          </a:xfrm>
          <a:prstGeom prst="rect">
            <a:avLst/>
          </a:prstGeom>
          <a:noFill/>
          <a:ln/>
        </p:spPr>
        <p:txBody>
          <a:bodyPr wrap="square" lIns="0" tIns="0" rIns="0" bIns="0" rtlCol="0" anchor="t"/>
          <a:lstStyle/>
          <a:p>
            <a:pPr algn="ctr" indent="0" marL="0">
              <a:buNone/>
            </a:pPr>
            <a:r>
              <a:rPr lang="en-US" sz="1300" b="1" dirty="0">
                <a:solidFill>
                  <a:srgbClr val="1B2A4A"/>
                </a:solidFill>
                <a:latin typeface="Calibri" pitchFamily="34" charset="0"/>
                <a:ea typeface="Calibri" pitchFamily="34" charset="-122"/>
                <a:cs typeface="Calibri" pitchFamily="34" charset="-120"/>
              </a:rPr>
              <a:t>Business Continuity</a:t>
            </a:r>
            <a:endParaRPr lang="en-US" sz="1300" dirty="0"/>
          </a:p>
          <a:p>
            <a:pPr algn="ctr" indent="0" marL="0">
              <a:buNone/>
            </a:pPr>
            <a:r>
              <a:rPr lang="en-US" sz="1300" dirty="0">
                <a:solidFill>
                  <a:srgbClr val="1E2E3A"/>
                </a:solidFill>
                <a:latin typeface="Calibri" pitchFamily="34" charset="0"/>
                <a:ea typeface="Calibri" pitchFamily="34" charset="-122"/>
                <a:cs typeface="Calibri" pitchFamily="34" charset="-120"/>
              </a:rPr>
              <a:t>Enable alternate ways of working</a:t>
            </a:r>
            <a:endParaRPr lang="en-US" sz="1300" dirty="0"/>
          </a:p>
        </p:txBody>
      </p:sp>
      <p:sp>
        <p:nvSpPr>
          <p:cNvPr id="46" name="Shape 36"/>
          <p:cNvSpPr/>
          <p:nvPr/>
        </p:nvSpPr>
        <p:spPr>
          <a:xfrm>
            <a:off x="6167628" y="1325880"/>
            <a:ext cx="1258443" cy="2732532"/>
          </a:xfrm>
          <a:prstGeom prst="roundRect">
            <a:avLst>
              <a:gd name="adj" fmla="val 10173"/>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47" name="Shape 37"/>
          <p:cNvSpPr/>
          <p:nvPr/>
        </p:nvSpPr>
        <p:spPr>
          <a:xfrm>
            <a:off x="6568250" y="1463040"/>
            <a:ext cx="457200" cy="457200"/>
          </a:xfrm>
          <a:prstGeom prst="ellipse">
            <a:avLst/>
          </a:prstGeom>
          <a:solidFill>
            <a:srgbClr val="8F86B8"/>
          </a:solidFill>
          <a:ln w="12700">
            <a:solidFill>
              <a:srgbClr val="8F86B8"/>
            </a:solidFill>
            <a:prstDash val="solid"/>
          </a:ln>
        </p:spPr>
      </p:sp>
      <p:pic>
        <p:nvPicPr>
          <p:cNvPr id="48" name="Image 8" descr="preencoded.png">    </p:cNvPr>
          <p:cNvPicPr>
            <a:picLocks noChangeAspect="1"/>
          </p:cNvPicPr>
          <p:nvPr/>
        </p:nvPicPr>
        <p:blipFill>
          <a:blip r:embed="rId9"/>
          <a:stretch>
            <a:fillRect/>
          </a:stretch>
        </p:blipFill>
        <p:spPr>
          <a:xfrm>
            <a:off x="6687122" y="1581912"/>
            <a:ext cx="219456" cy="219456"/>
          </a:xfrm>
          <a:prstGeom prst="rect">
            <a:avLst/>
          </a:prstGeom>
        </p:spPr>
      </p:pic>
      <p:sp>
        <p:nvSpPr>
          <p:cNvPr id="49" name="Text 38"/>
          <p:cNvSpPr txBox="1"/>
          <p:nvPr/>
        </p:nvSpPr>
        <p:spPr>
          <a:xfrm>
            <a:off x="6213348" y="1929384"/>
            <a:ext cx="1167003" cy="948309"/>
          </a:xfrm>
          <a:prstGeom prst="rect">
            <a:avLst/>
          </a:prstGeom>
          <a:noFill/>
          <a:ln/>
        </p:spPr>
        <p:txBody>
          <a:bodyPr wrap="square" lIns="0" tIns="0" rIns="0" bIns="0" rtlCol="0" anchor="t"/>
          <a:lstStyle/>
          <a:p>
            <a:pPr algn="ctr" indent="0" marL="0">
              <a:buNone/>
            </a:pPr>
            <a:r>
              <a:rPr lang="en-US" sz="1500" b="1" dirty="0">
                <a:solidFill>
                  <a:srgbClr val="1B2A4A"/>
                </a:solidFill>
                <a:latin typeface="Calibri" pitchFamily="34" charset="0"/>
                <a:ea typeface="Calibri" pitchFamily="34" charset="-122"/>
                <a:cs typeface="Calibri" pitchFamily="34" charset="-120"/>
              </a:rPr>
              <a:t>T+12h</a:t>
            </a:r>
            <a:endParaRPr lang="en-US" sz="1500" dirty="0"/>
          </a:p>
          <a:p>
            <a:pPr algn="ctr" indent="0" marL="0">
              <a:buNone/>
            </a:pPr>
            <a:r>
              <a:rPr lang="en-US" sz="1300" b="1" dirty="0">
                <a:solidFill>
                  <a:srgbClr val="1B2A4A"/>
                </a:solidFill>
                <a:latin typeface="Calibri" pitchFamily="34" charset="0"/>
                <a:ea typeface="Calibri" pitchFamily="34" charset="-122"/>
                <a:cs typeface="Calibri" pitchFamily="34" charset="-120"/>
              </a:rPr>
              <a:t>Extended Outage</a:t>
            </a:r>
            <a:endParaRPr lang="en-US" sz="1500" dirty="0"/>
          </a:p>
        </p:txBody>
      </p:sp>
      <p:sp>
        <p:nvSpPr>
          <p:cNvPr id="50" name="Text 39"/>
          <p:cNvSpPr txBox="1"/>
          <p:nvPr/>
        </p:nvSpPr>
        <p:spPr>
          <a:xfrm>
            <a:off x="6231636" y="2895981"/>
            <a:ext cx="1130427" cy="1116711"/>
          </a:xfrm>
          <a:prstGeom prst="rect">
            <a:avLst/>
          </a:prstGeom>
          <a:noFill/>
          <a:ln/>
        </p:spPr>
        <p:txBody>
          <a:bodyPr wrap="square" lIns="0" tIns="0" rIns="0" bIns="0" rtlCol="0" anchor="t"/>
          <a:lstStyle/>
          <a:p>
            <a:pPr algn="ctr" indent="0" marL="0">
              <a:buNone/>
            </a:pPr>
            <a:r>
              <a:rPr lang="en-US" sz="1300" dirty="0">
                <a:solidFill>
                  <a:srgbClr val="1E2E3A"/>
                </a:solidFill>
                <a:latin typeface="Calibri" pitchFamily="34" charset="0"/>
                <a:ea typeface="Calibri" pitchFamily="34" charset="-122"/>
                <a:cs typeface="Calibri" pitchFamily="34" charset="-120"/>
              </a:rPr>
              <a:t>Services remain unavailable. No clear ETA.</a:t>
            </a:r>
            <a:endParaRPr lang="en-US" sz="1300" dirty="0"/>
          </a:p>
        </p:txBody>
      </p:sp>
      <p:sp>
        <p:nvSpPr>
          <p:cNvPr id="51" name="Shape 40"/>
          <p:cNvSpPr/>
          <p:nvPr/>
        </p:nvSpPr>
        <p:spPr>
          <a:xfrm>
            <a:off x="7458075" y="2240280"/>
            <a:ext cx="82296" cy="182880"/>
          </a:xfrm>
          <a:prstGeom prst="chevron">
            <a:avLst/>
          </a:prstGeom>
          <a:solidFill>
            <a:srgbClr val="A9BDD0"/>
          </a:solidFill>
          <a:ln w="12700">
            <a:solidFill>
              <a:srgbClr val="A9BDD0"/>
            </a:solidFill>
            <a:prstDash val="solid"/>
          </a:ln>
        </p:spPr>
      </p:sp>
      <p:sp>
        <p:nvSpPr>
          <p:cNvPr id="52" name="Shape 41"/>
          <p:cNvSpPr/>
          <p:nvPr/>
        </p:nvSpPr>
        <p:spPr>
          <a:xfrm>
            <a:off x="6167628" y="4341876"/>
            <a:ext cx="1258443" cy="1665732"/>
          </a:xfrm>
          <a:prstGeom prst="roundRect">
            <a:avLst>
              <a:gd name="adj" fmla="val 10173"/>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53" name="Shape 42"/>
          <p:cNvSpPr/>
          <p:nvPr/>
        </p:nvSpPr>
        <p:spPr>
          <a:xfrm>
            <a:off x="6650546" y="4415028"/>
            <a:ext cx="292608" cy="292608"/>
          </a:xfrm>
          <a:prstGeom prst="ellipse">
            <a:avLst/>
          </a:prstGeom>
          <a:solidFill>
            <a:srgbClr val="8F86B8"/>
          </a:solidFill>
          <a:ln w="12700">
            <a:solidFill>
              <a:srgbClr val="8F86B8"/>
            </a:solidFill>
            <a:prstDash val="solid"/>
          </a:ln>
        </p:spPr>
      </p:sp>
      <p:pic>
        <p:nvPicPr>
          <p:cNvPr id="54" name="Image 9" descr="preencoded.png">    </p:cNvPr>
          <p:cNvPicPr>
            <a:picLocks noChangeAspect="1"/>
          </p:cNvPicPr>
          <p:nvPr/>
        </p:nvPicPr>
        <p:blipFill>
          <a:blip r:embed="rId10"/>
          <a:stretch>
            <a:fillRect/>
          </a:stretch>
        </p:blipFill>
        <p:spPr>
          <a:xfrm>
            <a:off x="6723698" y="4488180"/>
            <a:ext cx="146304" cy="146304"/>
          </a:xfrm>
          <a:prstGeom prst="rect">
            <a:avLst/>
          </a:prstGeom>
        </p:spPr>
      </p:pic>
      <p:sp>
        <p:nvSpPr>
          <p:cNvPr id="55" name="Text 43"/>
          <p:cNvSpPr txBox="1"/>
          <p:nvPr/>
        </p:nvSpPr>
        <p:spPr>
          <a:xfrm>
            <a:off x="6213348" y="4744212"/>
            <a:ext cx="1167003" cy="1245108"/>
          </a:xfrm>
          <a:prstGeom prst="rect">
            <a:avLst/>
          </a:prstGeom>
          <a:noFill/>
          <a:ln/>
        </p:spPr>
        <p:txBody>
          <a:bodyPr wrap="square" lIns="0" tIns="0" rIns="0" bIns="0" rtlCol="0" anchor="t"/>
          <a:lstStyle/>
          <a:p>
            <a:pPr algn="ctr" indent="0" marL="0">
              <a:buNone/>
            </a:pPr>
            <a:r>
              <a:rPr lang="en-US" sz="1300" b="1" dirty="0">
                <a:solidFill>
                  <a:srgbClr val="1B2A4A"/>
                </a:solidFill>
                <a:latin typeface="Calibri" pitchFamily="34" charset="0"/>
                <a:ea typeface="Calibri" pitchFamily="34" charset="-122"/>
                <a:cs typeface="Calibri" pitchFamily="34" charset="-120"/>
              </a:rPr>
              <a:t>Sustain Operations</a:t>
            </a:r>
            <a:endParaRPr lang="en-US" sz="1300" dirty="0"/>
          </a:p>
          <a:p>
            <a:pPr algn="ctr" indent="0" marL="0">
              <a:buNone/>
            </a:pPr>
            <a:r>
              <a:rPr lang="en-US" sz="1300" dirty="0">
                <a:solidFill>
                  <a:srgbClr val="1E2E3A"/>
                </a:solidFill>
                <a:latin typeface="Calibri" pitchFamily="34" charset="0"/>
                <a:ea typeface="Calibri" pitchFamily="34" charset="-122"/>
                <a:cs typeface="Calibri" pitchFamily="34" charset="-120"/>
              </a:rPr>
              <a:t>Monitor, adapt, and manage risks</a:t>
            </a:r>
            <a:endParaRPr lang="en-US" sz="1300" dirty="0"/>
          </a:p>
        </p:txBody>
      </p:sp>
      <p:sp>
        <p:nvSpPr>
          <p:cNvPr id="56" name="Shape 44"/>
          <p:cNvSpPr/>
          <p:nvPr/>
        </p:nvSpPr>
        <p:spPr>
          <a:xfrm>
            <a:off x="7572375" y="1325880"/>
            <a:ext cx="1258443" cy="2732532"/>
          </a:xfrm>
          <a:prstGeom prst="roundRect">
            <a:avLst>
              <a:gd name="adj" fmla="val 10173"/>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57" name="Shape 45"/>
          <p:cNvSpPr/>
          <p:nvPr/>
        </p:nvSpPr>
        <p:spPr>
          <a:xfrm>
            <a:off x="7972996" y="1463040"/>
            <a:ext cx="457200" cy="457200"/>
          </a:xfrm>
          <a:prstGeom prst="ellipse">
            <a:avLst/>
          </a:prstGeom>
          <a:solidFill>
            <a:srgbClr val="7BA689"/>
          </a:solidFill>
          <a:ln w="12700">
            <a:solidFill>
              <a:srgbClr val="7BA689"/>
            </a:solidFill>
            <a:prstDash val="solid"/>
          </a:ln>
        </p:spPr>
      </p:sp>
      <p:pic>
        <p:nvPicPr>
          <p:cNvPr id="58" name="Image 10" descr="preencoded.png">    </p:cNvPr>
          <p:cNvPicPr>
            <a:picLocks noChangeAspect="1"/>
          </p:cNvPicPr>
          <p:nvPr/>
        </p:nvPicPr>
        <p:blipFill>
          <a:blip r:embed="rId11"/>
          <a:stretch>
            <a:fillRect/>
          </a:stretch>
        </p:blipFill>
        <p:spPr>
          <a:xfrm>
            <a:off x="8091869" y="1581912"/>
            <a:ext cx="219456" cy="219456"/>
          </a:xfrm>
          <a:prstGeom prst="rect">
            <a:avLst/>
          </a:prstGeom>
        </p:spPr>
      </p:pic>
      <p:sp>
        <p:nvSpPr>
          <p:cNvPr id="59" name="Text 46"/>
          <p:cNvSpPr txBox="1"/>
          <p:nvPr/>
        </p:nvSpPr>
        <p:spPr>
          <a:xfrm>
            <a:off x="7618095" y="1929384"/>
            <a:ext cx="1167003" cy="948309"/>
          </a:xfrm>
          <a:prstGeom prst="rect">
            <a:avLst/>
          </a:prstGeom>
          <a:noFill/>
          <a:ln/>
        </p:spPr>
        <p:txBody>
          <a:bodyPr wrap="square" lIns="0" tIns="0" rIns="0" bIns="0" rtlCol="0" anchor="t"/>
          <a:lstStyle/>
          <a:p>
            <a:pPr algn="ctr" indent="0" marL="0">
              <a:buNone/>
            </a:pPr>
            <a:r>
              <a:rPr lang="en-US" sz="1500" b="1" dirty="0">
                <a:solidFill>
                  <a:srgbClr val="1B2A4A"/>
                </a:solidFill>
                <a:latin typeface="Calibri" pitchFamily="34" charset="0"/>
                <a:ea typeface="Calibri" pitchFamily="34" charset="-122"/>
                <a:cs typeface="Calibri" pitchFamily="34" charset="-120"/>
              </a:rPr>
              <a:t>T+24h</a:t>
            </a:r>
            <a:endParaRPr lang="en-US" sz="1500" dirty="0"/>
          </a:p>
          <a:p>
            <a:pPr algn="ctr" indent="0" marL="0">
              <a:buNone/>
            </a:pPr>
            <a:r>
              <a:rPr lang="en-US" sz="1300" b="1" dirty="0">
                <a:solidFill>
                  <a:srgbClr val="1B2A4A"/>
                </a:solidFill>
                <a:latin typeface="Calibri" pitchFamily="34" charset="0"/>
                <a:ea typeface="Calibri" pitchFamily="34" charset="-122"/>
                <a:cs typeface="Calibri" pitchFamily="34" charset="-120"/>
              </a:rPr>
              <a:t>Activate DR/BC</a:t>
            </a:r>
            <a:endParaRPr lang="en-US" sz="1500" dirty="0"/>
          </a:p>
        </p:txBody>
      </p:sp>
      <p:sp>
        <p:nvSpPr>
          <p:cNvPr id="60" name="Text 47"/>
          <p:cNvSpPr txBox="1"/>
          <p:nvPr/>
        </p:nvSpPr>
        <p:spPr>
          <a:xfrm>
            <a:off x="7636383" y="2895981"/>
            <a:ext cx="1130427" cy="1116711"/>
          </a:xfrm>
          <a:prstGeom prst="rect">
            <a:avLst/>
          </a:prstGeom>
          <a:noFill/>
          <a:ln/>
        </p:spPr>
        <p:txBody>
          <a:bodyPr wrap="square" lIns="0" tIns="0" rIns="0" bIns="0" rtlCol="0" anchor="t"/>
          <a:lstStyle/>
          <a:p>
            <a:pPr algn="ctr" indent="0" marL="0">
              <a:buNone/>
            </a:pPr>
            <a:r>
              <a:rPr lang="en-US" sz="1300" dirty="0">
                <a:solidFill>
                  <a:srgbClr val="1E2E3A"/>
                </a:solidFill>
                <a:latin typeface="Calibri" pitchFamily="34" charset="0"/>
                <a:ea typeface="Calibri" pitchFamily="34" charset="-122"/>
                <a:cs typeface="Calibri" pitchFamily="34" charset="-120"/>
              </a:rPr>
              <a:t>Organization activates DR/BC plans and alternate processes.</a:t>
            </a:r>
            <a:endParaRPr lang="en-US" sz="1300" dirty="0"/>
          </a:p>
        </p:txBody>
      </p:sp>
      <p:sp>
        <p:nvSpPr>
          <p:cNvPr id="61" name="Shape 48"/>
          <p:cNvSpPr/>
          <p:nvPr/>
        </p:nvSpPr>
        <p:spPr>
          <a:xfrm>
            <a:off x="8862822" y="2240280"/>
            <a:ext cx="82296" cy="182880"/>
          </a:xfrm>
          <a:prstGeom prst="chevron">
            <a:avLst/>
          </a:prstGeom>
          <a:solidFill>
            <a:srgbClr val="A9BDD0"/>
          </a:solidFill>
          <a:ln w="12700">
            <a:solidFill>
              <a:srgbClr val="A9BDD0"/>
            </a:solidFill>
            <a:prstDash val="solid"/>
          </a:ln>
        </p:spPr>
      </p:sp>
      <p:sp>
        <p:nvSpPr>
          <p:cNvPr id="62" name="Shape 49"/>
          <p:cNvSpPr/>
          <p:nvPr/>
        </p:nvSpPr>
        <p:spPr>
          <a:xfrm>
            <a:off x="7572375" y="4341876"/>
            <a:ext cx="1258443" cy="1665732"/>
          </a:xfrm>
          <a:prstGeom prst="roundRect">
            <a:avLst>
              <a:gd name="adj" fmla="val 10173"/>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63" name="Shape 50"/>
          <p:cNvSpPr/>
          <p:nvPr/>
        </p:nvSpPr>
        <p:spPr>
          <a:xfrm>
            <a:off x="8055292" y="4415028"/>
            <a:ext cx="292608" cy="292608"/>
          </a:xfrm>
          <a:prstGeom prst="ellipse">
            <a:avLst/>
          </a:prstGeom>
          <a:solidFill>
            <a:srgbClr val="7BA689"/>
          </a:solidFill>
          <a:ln w="12700">
            <a:solidFill>
              <a:srgbClr val="7BA689"/>
            </a:solidFill>
            <a:prstDash val="solid"/>
          </a:ln>
        </p:spPr>
      </p:sp>
      <p:pic>
        <p:nvPicPr>
          <p:cNvPr id="64" name="Image 11" descr="preencoded.png">    </p:cNvPr>
          <p:cNvPicPr>
            <a:picLocks noChangeAspect="1"/>
          </p:cNvPicPr>
          <p:nvPr/>
        </p:nvPicPr>
        <p:blipFill>
          <a:blip r:embed="rId12"/>
          <a:stretch>
            <a:fillRect/>
          </a:stretch>
        </p:blipFill>
        <p:spPr>
          <a:xfrm>
            <a:off x="8128444" y="4488180"/>
            <a:ext cx="146304" cy="146304"/>
          </a:xfrm>
          <a:prstGeom prst="rect">
            <a:avLst/>
          </a:prstGeom>
        </p:spPr>
      </p:pic>
      <p:sp>
        <p:nvSpPr>
          <p:cNvPr id="65" name="Text 51"/>
          <p:cNvSpPr txBox="1"/>
          <p:nvPr/>
        </p:nvSpPr>
        <p:spPr>
          <a:xfrm>
            <a:off x="7618095" y="4744212"/>
            <a:ext cx="1167003" cy="1245108"/>
          </a:xfrm>
          <a:prstGeom prst="rect">
            <a:avLst/>
          </a:prstGeom>
          <a:noFill/>
          <a:ln/>
        </p:spPr>
        <p:txBody>
          <a:bodyPr wrap="square" lIns="0" tIns="0" rIns="0" bIns="0" rtlCol="0" anchor="t"/>
          <a:lstStyle/>
          <a:p>
            <a:pPr algn="ctr" indent="0" marL="0">
              <a:buNone/>
            </a:pPr>
            <a:r>
              <a:rPr lang="en-US" sz="1300" b="1" dirty="0">
                <a:solidFill>
                  <a:srgbClr val="1B2A4A"/>
                </a:solidFill>
                <a:latin typeface="Calibri" pitchFamily="34" charset="0"/>
                <a:ea typeface="Calibri" pitchFamily="34" charset="-122"/>
                <a:cs typeface="Calibri" pitchFamily="34" charset="-120"/>
              </a:rPr>
              <a:t>DR/BC Execution</a:t>
            </a:r>
            <a:endParaRPr lang="en-US" sz="1300" dirty="0"/>
          </a:p>
          <a:p>
            <a:pPr algn="ctr" indent="0" marL="0">
              <a:buNone/>
            </a:pPr>
            <a:r>
              <a:rPr lang="en-US" sz="1300" dirty="0">
                <a:solidFill>
                  <a:srgbClr val="1E2E3A"/>
                </a:solidFill>
                <a:latin typeface="Calibri" pitchFamily="34" charset="0"/>
                <a:ea typeface="Calibri" pitchFamily="34" charset="-122"/>
                <a:cs typeface="Calibri" pitchFamily="34" charset="-120"/>
              </a:rPr>
              <a:t>Full activation of continuity measures</a:t>
            </a:r>
            <a:endParaRPr lang="en-US" sz="1300" dirty="0"/>
          </a:p>
        </p:txBody>
      </p:sp>
      <p:sp>
        <p:nvSpPr>
          <p:cNvPr id="66" name="Shape 52"/>
          <p:cNvSpPr/>
          <p:nvPr/>
        </p:nvSpPr>
        <p:spPr>
          <a:xfrm>
            <a:off x="8977122" y="1325880"/>
            <a:ext cx="1258443" cy="2732532"/>
          </a:xfrm>
          <a:prstGeom prst="roundRect">
            <a:avLst>
              <a:gd name="adj" fmla="val 10173"/>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67" name="Shape 53"/>
          <p:cNvSpPr/>
          <p:nvPr/>
        </p:nvSpPr>
        <p:spPr>
          <a:xfrm>
            <a:off x="9377744" y="1463040"/>
            <a:ext cx="457200" cy="457200"/>
          </a:xfrm>
          <a:prstGeom prst="ellipse">
            <a:avLst/>
          </a:prstGeom>
          <a:solidFill>
            <a:srgbClr val="7C9CC0"/>
          </a:solidFill>
          <a:ln w="12700">
            <a:solidFill>
              <a:srgbClr val="7C9CC0"/>
            </a:solidFill>
            <a:prstDash val="solid"/>
          </a:ln>
        </p:spPr>
      </p:sp>
      <p:pic>
        <p:nvPicPr>
          <p:cNvPr id="68" name="Image 12" descr="preencoded.png">    </p:cNvPr>
          <p:cNvPicPr>
            <a:picLocks noChangeAspect="1"/>
          </p:cNvPicPr>
          <p:nvPr/>
        </p:nvPicPr>
        <p:blipFill>
          <a:blip r:embed="rId13"/>
          <a:stretch>
            <a:fillRect/>
          </a:stretch>
        </p:blipFill>
        <p:spPr>
          <a:xfrm>
            <a:off x="9496616" y="1581912"/>
            <a:ext cx="219456" cy="219456"/>
          </a:xfrm>
          <a:prstGeom prst="rect">
            <a:avLst/>
          </a:prstGeom>
        </p:spPr>
      </p:pic>
      <p:sp>
        <p:nvSpPr>
          <p:cNvPr id="69" name="Text 54"/>
          <p:cNvSpPr txBox="1"/>
          <p:nvPr/>
        </p:nvSpPr>
        <p:spPr>
          <a:xfrm>
            <a:off x="9022842" y="1929384"/>
            <a:ext cx="1167003" cy="948309"/>
          </a:xfrm>
          <a:prstGeom prst="rect">
            <a:avLst/>
          </a:prstGeom>
          <a:noFill/>
          <a:ln/>
        </p:spPr>
        <p:txBody>
          <a:bodyPr wrap="square" lIns="0" tIns="0" rIns="0" bIns="0" rtlCol="0" anchor="t"/>
          <a:lstStyle/>
          <a:p>
            <a:pPr algn="ctr" indent="0" marL="0">
              <a:buNone/>
            </a:pPr>
            <a:r>
              <a:rPr lang="en-US" sz="1500" b="1" dirty="0">
                <a:solidFill>
                  <a:srgbClr val="1B2A4A"/>
                </a:solidFill>
                <a:latin typeface="Calibri" pitchFamily="34" charset="0"/>
                <a:ea typeface="Calibri" pitchFamily="34" charset="-122"/>
                <a:cs typeface="Calibri" pitchFamily="34" charset="-120"/>
              </a:rPr>
              <a:t>T+48 to 72h</a:t>
            </a:r>
            <a:endParaRPr lang="en-US" sz="1500" dirty="0"/>
          </a:p>
          <a:p>
            <a:pPr algn="ctr" indent="0" marL="0">
              <a:buNone/>
            </a:pPr>
            <a:r>
              <a:rPr lang="en-US" sz="1300" b="1" dirty="0">
                <a:solidFill>
                  <a:srgbClr val="1B2A4A"/>
                </a:solidFill>
                <a:latin typeface="Calibri" pitchFamily="34" charset="0"/>
                <a:ea typeface="Calibri" pitchFamily="34" charset="-122"/>
                <a:cs typeface="Calibri" pitchFamily="34" charset="-120"/>
              </a:rPr>
              <a:t>Continued Disruption</a:t>
            </a:r>
            <a:endParaRPr lang="en-US" sz="1500" dirty="0"/>
          </a:p>
        </p:txBody>
      </p:sp>
      <p:sp>
        <p:nvSpPr>
          <p:cNvPr id="70" name="Text 55"/>
          <p:cNvSpPr txBox="1"/>
          <p:nvPr/>
        </p:nvSpPr>
        <p:spPr>
          <a:xfrm>
            <a:off x="9041130" y="2895981"/>
            <a:ext cx="1130427" cy="1116711"/>
          </a:xfrm>
          <a:prstGeom prst="rect">
            <a:avLst/>
          </a:prstGeom>
          <a:noFill/>
          <a:ln/>
        </p:spPr>
        <p:txBody>
          <a:bodyPr wrap="square" lIns="0" tIns="0" rIns="0" bIns="0" rtlCol="0" anchor="t"/>
          <a:lstStyle/>
          <a:p>
            <a:pPr algn="ctr" indent="0" marL="0">
              <a:buNone/>
            </a:pPr>
            <a:r>
              <a:rPr lang="en-US" sz="1300" dirty="0">
                <a:solidFill>
                  <a:srgbClr val="1E2E3A"/>
                </a:solidFill>
                <a:latin typeface="Calibri" pitchFamily="34" charset="0"/>
                <a:ea typeface="Calibri" pitchFamily="34" charset="-122"/>
                <a:cs typeface="Calibri" pitchFamily="34" charset="-120"/>
              </a:rPr>
              <a:t>Outage persists beyond SLA. Business operating in degraded mode.</a:t>
            </a:r>
            <a:endParaRPr lang="en-US" sz="1300" dirty="0"/>
          </a:p>
        </p:txBody>
      </p:sp>
      <p:sp>
        <p:nvSpPr>
          <p:cNvPr id="71" name="Shape 56"/>
          <p:cNvSpPr/>
          <p:nvPr/>
        </p:nvSpPr>
        <p:spPr>
          <a:xfrm>
            <a:off x="10267569" y="2240280"/>
            <a:ext cx="82296" cy="182880"/>
          </a:xfrm>
          <a:prstGeom prst="chevron">
            <a:avLst/>
          </a:prstGeom>
          <a:solidFill>
            <a:srgbClr val="A9BDD0"/>
          </a:solidFill>
          <a:ln w="12700">
            <a:solidFill>
              <a:srgbClr val="A9BDD0"/>
            </a:solidFill>
            <a:prstDash val="solid"/>
          </a:ln>
        </p:spPr>
      </p:sp>
      <p:sp>
        <p:nvSpPr>
          <p:cNvPr id="72" name="Shape 57"/>
          <p:cNvSpPr/>
          <p:nvPr/>
        </p:nvSpPr>
        <p:spPr>
          <a:xfrm>
            <a:off x="8977122" y="4341876"/>
            <a:ext cx="1258443" cy="1665732"/>
          </a:xfrm>
          <a:prstGeom prst="roundRect">
            <a:avLst>
              <a:gd name="adj" fmla="val 10173"/>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73" name="Shape 58"/>
          <p:cNvSpPr/>
          <p:nvPr/>
        </p:nvSpPr>
        <p:spPr>
          <a:xfrm>
            <a:off x="9460040" y="4415028"/>
            <a:ext cx="292608" cy="292608"/>
          </a:xfrm>
          <a:prstGeom prst="ellipse">
            <a:avLst/>
          </a:prstGeom>
          <a:solidFill>
            <a:srgbClr val="7C9CC0"/>
          </a:solidFill>
          <a:ln w="12700">
            <a:solidFill>
              <a:srgbClr val="7C9CC0"/>
            </a:solidFill>
            <a:prstDash val="solid"/>
          </a:ln>
        </p:spPr>
      </p:sp>
      <p:pic>
        <p:nvPicPr>
          <p:cNvPr id="74" name="Image 13" descr="preencoded.png">    </p:cNvPr>
          <p:cNvPicPr>
            <a:picLocks noChangeAspect="1"/>
          </p:cNvPicPr>
          <p:nvPr/>
        </p:nvPicPr>
        <p:blipFill>
          <a:blip r:embed="rId14"/>
          <a:stretch>
            <a:fillRect/>
          </a:stretch>
        </p:blipFill>
        <p:spPr>
          <a:xfrm>
            <a:off x="9533192" y="4488180"/>
            <a:ext cx="146304" cy="146304"/>
          </a:xfrm>
          <a:prstGeom prst="rect">
            <a:avLst/>
          </a:prstGeom>
        </p:spPr>
      </p:pic>
      <p:sp>
        <p:nvSpPr>
          <p:cNvPr id="75" name="Text 59"/>
          <p:cNvSpPr txBox="1"/>
          <p:nvPr/>
        </p:nvSpPr>
        <p:spPr>
          <a:xfrm>
            <a:off x="9022842" y="4744212"/>
            <a:ext cx="1167003" cy="1245108"/>
          </a:xfrm>
          <a:prstGeom prst="rect">
            <a:avLst/>
          </a:prstGeom>
          <a:noFill/>
          <a:ln/>
        </p:spPr>
        <p:txBody>
          <a:bodyPr wrap="square" lIns="0" tIns="0" rIns="0" bIns="0" rtlCol="0" anchor="t"/>
          <a:lstStyle/>
          <a:p>
            <a:pPr algn="ctr" indent="0" marL="0">
              <a:buNone/>
            </a:pPr>
            <a:r>
              <a:rPr lang="en-US" sz="1300" b="1" dirty="0">
                <a:solidFill>
                  <a:srgbClr val="1B2A4A"/>
                </a:solidFill>
                <a:latin typeface="Calibri" pitchFamily="34" charset="0"/>
                <a:ea typeface="Calibri" pitchFamily="34" charset="-122"/>
                <a:cs typeface="Calibri" pitchFamily="34" charset="-120"/>
              </a:rPr>
              <a:t>Ongoing Management</a:t>
            </a:r>
            <a:endParaRPr lang="en-US" sz="1300" dirty="0"/>
          </a:p>
          <a:p>
            <a:pPr algn="ctr" indent="0" marL="0">
              <a:buNone/>
            </a:pPr>
            <a:r>
              <a:rPr lang="en-US" sz="1300" dirty="0">
                <a:solidFill>
                  <a:srgbClr val="1E2E3A"/>
                </a:solidFill>
                <a:latin typeface="Calibri" pitchFamily="34" charset="0"/>
                <a:ea typeface="Calibri" pitchFamily="34" charset="-122"/>
                <a:cs typeface="Calibri" pitchFamily="34" charset="-120"/>
              </a:rPr>
              <a:t>Support business functions and stakeholders</a:t>
            </a:r>
            <a:endParaRPr lang="en-US" sz="1300" dirty="0"/>
          </a:p>
        </p:txBody>
      </p:sp>
      <p:sp>
        <p:nvSpPr>
          <p:cNvPr id="76" name="Shape 60"/>
          <p:cNvSpPr/>
          <p:nvPr/>
        </p:nvSpPr>
        <p:spPr>
          <a:xfrm>
            <a:off x="10381869" y="1325880"/>
            <a:ext cx="1258443" cy="2732532"/>
          </a:xfrm>
          <a:prstGeom prst="roundRect">
            <a:avLst>
              <a:gd name="adj" fmla="val 10173"/>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77" name="Shape 61"/>
          <p:cNvSpPr/>
          <p:nvPr/>
        </p:nvSpPr>
        <p:spPr>
          <a:xfrm>
            <a:off x="10782491" y="1463040"/>
            <a:ext cx="457200" cy="457200"/>
          </a:xfrm>
          <a:prstGeom prst="ellipse">
            <a:avLst/>
          </a:prstGeom>
          <a:solidFill>
            <a:srgbClr val="BD8C7B"/>
          </a:solidFill>
          <a:ln w="12700">
            <a:solidFill>
              <a:srgbClr val="BD8C7B"/>
            </a:solidFill>
            <a:prstDash val="solid"/>
          </a:ln>
        </p:spPr>
      </p:sp>
      <p:pic>
        <p:nvPicPr>
          <p:cNvPr id="78" name="Image 14" descr="preencoded.png">    </p:cNvPr>
          <p:cNvPicPr>
            <a:picLocks noChangeAspect="1"/>
          </p:cNvPicPr>
          <p:nvPr/>
        </p:nvPicPr>
        <p:blipFill>
          <a:blip r:embed="rId15"/>
          <a:stretch>
            <a:fillRect/>
          </a:stretch>
        </p:blipFill>
        <p:spPr>
          <a:xfrm>
            <a:off x="10901363" y="1581912"/>
            <a:ext cx="219456" cy="219456"/>
          </a:xfrm>
          <a:prstGeom prst="rect">
            <a:avLst/>
          </a:prstGeom>
        </p:spPr>
      </p:pic>
      <p:sp>
        <p:nvSpPr>
          <p:cNvPr id="79" name="Text 62"/>
          <p:cNvSpPr txBox="1"/>
          <p:nvPr/>
        </p:nvSpPr>
        <p:spPr>
          <a:xfrm>
            <a:off x="10427589" y="1929384"/>
            <a:ext cx="1167003" cy="948309"/>
          </a:xfrm>
          <a:prstGeom prst="rect">
            <a:avLst/>
          </a:prstGeom>
          <a:noFill/>
          <a:ln/>
        </p:spPr>
        <p:txBody>
          <a:bodyPr wrap="square" lIns="0" tIns="0" rIns="0" bIns="0" rtlCol="0" anchor="t"/>
          <a:lstStyle/>
          <a:p>
            <a:pPr algn="ctr" indent="0" marL="0">
              <a:buNone/>
            </a:pPr>
            <a:r>
              <a:rPr lang="en-US" sz="1500" b="1" dirty="0">
                <a:solidFill>
                  <a:srgbClr val="1B2A4A"/>
                </a:solidFill>
                <a:latin typeface="Calibri" pitchFamily="34" charset="0"/>
                <a:ea typeface="Calibri" pitchFamily="34" charset="-122"/>
                <a:cs typeface="Calibri" pitchFamily="34" charset="-120"/>
              </a:rPr>
              <a:t>Recovery</a:t>
            </a:r>
            <a:endParaRPr lang="en-US" sz="1500" dirty="0"/>
          </a:p>
          <a:p>
            <a:pPr algn="ctr" indent="0" marL="0">
              <a:buNone/>
            </a:pPr>
            <a:r>
              <a:rPr lang="en-US" sz="1300" b="1" dirty="0">
                <a:solidFill>
                  <a:srgbClr val="1B2A4A"/>
                </a:solidFill>
                <a:latin typeface="Calibri" pitchFamily="34" charset="0"/>
                <a:ea typeface="Calibri" pitchFamily="34" charset="-122"/>
                <a:cs typeface="Calibri" pitchFamily="34" charset="-120"/>
              </a:rPr>
              <a:t>Recovery &amp; Return</a:t>
            </a:r>
            <a:endParaRPr lang="en-US" sz="1500" dirty="0"/>
          </a:p>
        </p:txBody>
      </p:sp>
      <p:sp>
        <p:nvSpPr>
          <p:cNvPr id="80" name="Text 63"/>
          <p:cNvSpPr txBox="1"/>
          <p:nvPr/>
        </p:nvSpPr>
        <p:spPr>
          <a:xfrm>
            <a:off x="10445877" y="2895981"/>
            <a:ext cx="1130427" cy="1116711"/>
          </a:xfrm>
          <a:prstGeom prst="rect">
            <a:avLst/>
          </a:prstGeom>
          <a:noFill/>
          <a:ln/>
        </p:spPr>
        <p:txBody>
          <a:bodyPr wrap="square" lIns="0" tIns="0" rIns="0" bIns="0" rtlCol="0" anchor="t"/>
          <a:lstStyle/>
          <a:p>
            <a:pPr algn="ctr" indent="0" marL="0">
              <a:buNone/>
            </a:pPr>
            <a:r>
              <a:rPr lang="en-US" sz="1300" dirty="0">
                <a:solidFill>
                  <a:srgbClr val="1E2E3A"/>
                </a:solidFill>
                <a:latin typeface="Calibri" pitchFamily="34" charset="0"/>
                <a:ea typeface="Calibri" pitchFamily="34" charset="-122"/>
                <a:cs typeface="Calibri" pitchFamily="34" charset="-120"/>
              </a:rPr>
              <a:t>Services restored in the region. Validate, transition back and capture lessons learned.</a:t>
            </a:r>
            <a:endParaRPr lang="en-US" sz="1300" dirty="0"/>
          </a:p>
        </p:txBody>
      </p:sp>
      <p:sp>
        <p:nvSpPr>
          <p:cNvPr id="81" name="Shape 64"/>
          <p:cNvSpPr/>
          <p:nvPr/>
        </p:nvSpPr>
        <p:spPr>
          <a:xfrm>
            <a:off x="10381869" y="4341876"/>
            <a:ext cx="1258443" cy="1665732"/>
          </a:xfrm>
          <a:prstGeom prst="roundRect">
            <a:avLst>
              <a:gd name="adj" fmla="val 10173"/>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82" name="Shape 65"/>
          <p:cNvSpPr/>
          <p:nvPr/>
        </p:nvSpPr>
        <p:spPr>
          <a:xfrm>
            <a:off x="10864787" y="4415028"/>
            <a:ext cx="292608" cy="292608"/>
          </a:xfrm>
          <a:prstGeom prst="ellipse">
            <a:avLst/>
          </a:prstGeom>
          <a:solidFill>
            <a:srgbClr val="BD8C7B"/>
          </a:solidFill>
          <a:ln w="12700">
            <a:solidFill>
              <a:srgbClr val="BD8C7B"/>
            </a:solidFill>
            <a:prstDash val="solid"/>
          </a:ln>
        </p:spPr>
      </p:sp>
      <p:pic>
        <p:nvPicPr>
          <p:cNvPr id="83" name="Image 15" descr="preencoded.png">    </p:cNvPr>
          <p:cNvPicPr>
            <a:picLocks noChangeAspect="1"/>
          </p:cNvPicPr>
          <p:nvPr/>
        </p:nvPicPr>
        <p:blipFill>
          <a:blip r:embed="rId16"/>
          <a:stretch>
            <a:fillRect/>
          </a:stretch>
        </p:blipFill>
        <p:spPr>
          <a:xfrm>
            <a:off x="10937939" y="4488180"/>
            <a:ext cx="146304" cy="146304"/>
          </a:xfrm>
          <a:prstGeom prst="rect">
            <a:avLst/>
          </a:prstGeom>
        </p:spPr>
      </p:pic>
      <p:sp>
        <p:nvSpPr>
          <p:cNvPr id="84" name="Text 66"/>
          <p:cNvSpPr txBox="1"/>
          <p:nvPr/>
        </p:nvSpPr>
        <p:spPr>
          <a:xfrm>
            <a:off x="10427589" y="4744212"/>
            <a:ext cx="1167003" cy="1245108"/>
          </a:xfrm>
          <a:prstGeom prst="rect">
            <a:avLst/>
          </a:prstGeom>
          <a:noFill/>
          <a:ln/>
        </p:spPr>
        <p:txBody>
          <a:bodyPr wrap="square" lIns="0" tIns="0" rIns="0" bIns="0" rtlCol="0" anchor="t"/>
          <a:lstStyle/>
          <a:p>
            <a:pPr algn="ctr" indent="0" marL="0">
              <a:buNone/>
            </a:pPr>
            <a:r>
              <a:rPr lang="en-US" sz="1300" b="1" dirty="0">
                <a:solidFill>
                  <a:srgbClr val="1B2A4A"/>
                </a:solidFill>
                <a:latin typeface="Calibri" pitchFamily="34" charset="0"/>
                <a:ea typeface="Calibri" pitchFamily="34" charset="-122"/>
                <a:cs typeface="Calibri" pitchFamily="34" charset="-120"/>
              </a:rPr>
              <a:t>Recovery &amp; Validation</a:t>
            </a:r>
            <a:endParaRPr lang="en-US" sz="1300" dirty="0"/>
          </a:p>
          <a:p>
            <a:pPr algn="ctr" indent="0" marL="0">
              <a:buNone/>
            </a:pPr>
            <a:r>
              <a:rPr lang="en-US" sz="1300" dirty="0">
                <a:solidFill>
                  <a:srgbClr val="1E2E3A"/>
                </a:solidFill>
                <a:latin typeface="Calibri" pitchFamily="34" charset="0"/>
                <a:ea typeface="Calibri" pitchFamily="34" charset="-122"/>
                <a:cs typeface="Calibri" pitchFamily="34" charset="-120"/>
              </a:rPr>
              <a:t>Return to normal operations safely</a:t>
            </a:r>
            <a:endParaRPr lang="en-US" sz="1300" dirty="0"/>
          </a:p>
        </p:txBody>
      </p:sp>
      <p:sp>
        <p:nvSpPr>
          <p:cNvPr id="85" name="Text 67"/>
          <p:cNvSpPr txBox="1"/>
          <p:nvPr/>
        </p:nvSpPr>
        <p:spPr>
          <a:xfrm>
            <a:off x="548640" y="6035040"/>
            <a:ext cx="11091672" cy="475488"/>
          </a:xfrm>
          <a:prstGeom prst="rect">
            <a:avLst/>
          </a:prstGeom>
          <a:noFill/>
          <a:ln/>
        </p:spPr>
        <p:txBody>
          <a:bodyPr wrap="square" lIns="0" tIns="0" rIns="0" bIns="0" rtlCol="0" anchor="ctr"/>
          <a:lstStyle/>
          <a:p>
            <a:pPr indent="0" marL="0">
              <a:buNone/>
            </a:pPr>
            <a:r>
              <a:rPr lang="en-US" sz="1200" b="1" dirty="0">
                <a:solidFill>
                  <a:srgbClr val="465A69"/>
                </a:solidFill>
                <a:latin typeface="Calibri" pitchFamily="34" charset="0"/>
                <a:ea typeface="Calibri" pitchFamily="34" charset="-122"/>
                <a:cs typeface="Calibri" pitchFamily="34" charset="-120"/>
              </a:rPr>
              <a:t>Acronyms:  </a:t>
            </a:r>
            <a:pPr indent="0" marL="0">
              <a:buNone/>
            </a:pPr>
            <a:r>
              <a:rPr lang="en-US" sz="1200" dirty="0">
                <a:solidFill>
                  <a:srgbClr val="465A69"/>
                </a:solidFill>
                <a:latin typeface="Calibri" pitchFamily="34" charset="0"/>
                <a:ea typeface="Calibri" pitchFamily="34" charset="-122"/>
                <a:cs typeface="Calibri" pitchFamily="34" charset="-120"/>
              </a:rPr>
              <a:t>T+: time since the first signal;  DR: Disaster Recovery;  BC: Business Continuity;  SaaS: software as a service;  SLA: service level agreement;  ETA: estimated time of arrival</a:t>
            </a:r>
            <a:endParaRPr lang="en-US" sz="1200" dirty="0"/>
          </a:p>
        </p:txBody>
      </p:sp>
      <p:sp>
        <p:nvSpPr>
          <p:cNvPr id="86" name="Shape 68"/>
          <p:cNvSpPr/>
          <p:nvPr/>
        </p:nvSpPr>
        <p:spPr>
          <a:xfrm>
            <a:off x="548640" y="6537960"/>
            <a:ext cx="763524" cy="274320"/>
          </a:xfrm>
          <a:prstGeom prst="roundRect">
            <a:avLst>
              <a:gd name="adj" fmla="val 50000"/>
            </a:avLst>
          </a:prstGeom>
          <a:solidFill>
            <a:srgbClr val="E4ECF2"/>
          </a:solidFill>
          <a:ln w="12700">
            <a:solidFill>
              <a:srgbClr val="E4ECF2"/>
            </a:solidFill>
            <a:prstDash val="solid"/>
          </a:ln>
        </p:spPr>
      </p:sp>
      <p:sp>
        <p:nvSpPr>
          <p:cNvPr id="87" name="Text 69"/>
          <p:cNvSpPr txBox="1"/>
          <p:nvPr/>
        </p:nvSpPr>
        <p:spPr>
          <a:xfrm>
            <a:off x="548640" y="6537960"/>
            <a:ext cx="763524" cy="274320"/>
          </a:xfrm>
          <a:prstGeom prst="rect">
            <a:avLst/>
          </a:prstGeom>
          <a:noFill/>
          <a:ln/>
        </p:spPr>
        <p:txBody>
          <a:bodyPr wrap="square" lIns="0" tIns="0" rIns="0" bIns="0" rtlCol="0" anchor="ctr"/>
          <a:lstStyle/>
          <a:p>
            <a:pPr algn="ctr" indent="0" marL="0">
              <a:buNone/>
            </a:pPr>
            <a:r>
              <a:rPr lang="en-US" sz="1200" b="1" dirty="0">
                <a:solidFill>
                  <a:srgbClr val="23405A"/>
                </a:solidFill>
                <a:latin typeface="Calibri" pitchFamily="34" charset="0"/>
                <a:ea typeface="Calibri" pitchFamily="34" charset="-122"/>
                <a:cs typeface="Calibri" pitchFamily="34" charset="-120"/>
              </a:rPr>
              <a:t>Start</a:t>
            </a:r>
            <a:endParaRPr lang="en-US" sz="1200" dirty="0"/>
          </a:p>
        </p:txBody>
      </p:sp>
      <p:pic>
        <p:nvPicPr>
          <p:cNvPr id="88" name="Image 16" descr="preencoded.png">
            <a:hlinkClick r:id="rId18" tooltip="Go to Start" action="ppaction://hlinksldjump"/>
          </p:cNvPr>
          <p:cNvPicPr>
            <a:picLocks noChangeAspect="1"/>
          </p:cNvPicPr>
          <p:nvPr/>
        </p:nvPicPr>
        <p:blipFill>
          <a:blip r:embed="rId17"/>
          <a:stretch>
            <a:fillRect/>
          </a:stretch>
        </p:blipFill>
        <p:spPr>
          <a:xfrm>
            <a:off x="548640" y="6537960"/>
            <a:ext cx="763524" cy="274320"/>
          </a:xfrm>
          <a:prstGeom prst="rect">
            <a:avLst/>
          </a:prstGeom>
        </p:spPr>
      </p:pic>
      <p:sp>
        <p:nvSpPr>
          <p:cNvPr id="89" name="Shape 70"/>
          <p:cNvSpPr/>
          <p:nvPr/>
        </p:nvSpPr>
        <p:spPr>
          <a:xfrm>
            <a:off x="1385316" y="6537960"/>
            <a:ext cx="1197864" cy="274320"/>
          </a:xfrm>
          <a:prstGeom prst="roundRect">
            <a:avLst>
              <a:gd name="adj" fmla="val 50000"/>
            </a:avLst>
          </a:prstGeom>
          <a:solidFill>
            <a:srgbClr val="F1F6FA"/>
          </a:solidFill>
          <a:ln w="12700">
            <a:solidFill>
              <a:srgbClr val="F1F6FA"/>
            </a:solidFill>
            <a:prstDash val="solid"/>
          </a:ln>
        </p:spPr>
      </p:sp>
      <p:sp>
        <p:nvSpPr>
          <p:cNvPr id="90" name="Text 71"/>
          <p:cNvSpPr txBox="1"/>
          <p:nvPr/>
        </p:nvSpPr>
        <p:spPr>
          <a:xfrm>
            <a:off x="1385316" y="6537960"/>
            <a:ext cx="1197864" cy="274320"/>
          </a:xfrm>
          <a:prstGeom prst="rect">
            <a:avLst/>
          </a:prstGeom>
          <a:noFill/>
          <a:ln/>
        </p:spPr>
        <p:txBody>
          <a:bodyPr wrap="square" lIns="0" tIns="0" rIns="0" bIns="0" rtlCol="0" anchor="ctr"/>
          <a:lstStyle/>
          <a:p>
            <a:pPr algn="ctr" indent="0" marL="0">
              <a:buNone/>
            </a:pPr>
            <a:r>
              <a:rPr lang="en-US" sz="1200" b="1" dirty="0">
                <a:solidFill>
                  <a:srgbClr val="3F6E8C"/>
                </a:solidFill>
                <a:latin typeface="Calibri" pitchFamily="34" charset="0"/>
                <a:ea typeface="Calibri" pitchFamily="34" charset="-122"/>
                <a:cs typeface="Calibri" pitchFamily="34" charset="-120"/>
              </a:rPr>
              <a:t>Scenario 1</a:t>
            </a:r>
            <a:endParaRPr lang="en-US" sz="1200" dirty="0"/>
          </a:p>
        </p:txBody>
      </p:sp>
      <p:pic>
        <p:nvPicPr>
          <p:cNvPr id="91" name="Image 17" descr="preencoded.png">
            <a:hlinkClick r:id="rId20" tooltip="Go to Scenario 1" action="ppaction://hlinksldjump"/>
          </p:cNvPr>
          <p:cNvPicPr>
            <a:picLocks noChangeAspect="1"/>
          </p:cNvPicPr>
          <p:nvPr/>
        </p:nvPicPr>
        <p:blipFill>
          <a:blip r:embed="rId19"/>
          <a:stretch>
            <a:fillRect/>
          </a:stretch>
        </p:blipFill>
        <p:spPr>
          <a:xfrm>
            <a:off x="1385316" y="6537960"/>
            <a:ext cx="1197864" cy="274320"/>
          </a:xfrm>
          <a:prstGeom prst="rect">
            <a:avLst/>
          </a:prstGeom>
        </p:spPr>
      </p:pic>
      <p:sp>
        <p:nvSpPr>
          <p:cNvPr id="92" name="Shape 72"/>
          <p:cNvSpPr/>
          <p:nvPr/>
        </p:nvSpPr>
        <p:spPr>
          <a:xfrm>
            <a:off x="2656332" y="6537960"/>
            <a:ext cx="1197864" cy="274320"/>
          </a:xfrm>
          <a:prstGeom prst="roundRect">
            <a:avLst>
              <a:gd name="adj" fmla="val 50000"/>
            </a:avLst>
          </a:prstGeom>
          <a:solidFill>
            <a:srgbClr val="4C8068"/>
          </a:solidFill>
          <a:ln w="12700">
            <a:solidFill>
              <a:srgbClr val="4C8068"/>
            </a:solidFill>
            <a:prstDash val="solid"/>
          </a:ln>
        </p:spPr>
      </p:sp>
      <p:sp>
        <p:nvSpPr>
          <p:cNvPr id="93" name="Text 73"/>
          <p:cNvSpPr txBox="1"/>
          <p:nvPr/>
        </p:nvSpPr>
        <p:spPr>
          <a:xfrm>
            <a:off x="2656332" y="6537960"/>
            <a:ext cx="1197864"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Scenario 2</a:t>
            </a:r>
            <a:endParaRPr lang="en-US" sz="1200" dirty="0"/>
          </a:p>
        </p:txBody>
      </p:sp>
      <p:pic>
        <p:nvPicPr>
          <p:cNvPr id="94" name="Image 18" descr="preencoded.png">
            <a:hlinkClick r:id="rId22" tooltip="Go to Scenario 2" action="ppaction://hlinksldjump"/>
          </p:cNvPr>
          <p:cNvPicPr>
            <a:picLocks noChangeAspect="1"/>
          </p:cNvPicPr>
          <p:nvPr/>
        </p:nvPicPr>
        <p:blipFill>
          <a:blip r:embed="rId21"/>
          <a:stretch>
            <a:fillRect/>
          </a:stretch>
        </p:blipFill>
        <p:spPr>
          <a:xfrm>
            <a:off x="2656332" y="6537960"/>
            <a:ext cx="1197864" cy="274320"/>
          </a:xfrm>
          <a:prstGeom prst="rect">
            <a:avLst/>
          </a:prstGeom>
        </p:spPr>
      </p:pic>
      <p:sp>
        <p:nvSpPr>
          <p:cNvPr id="95" name="Shape 74"/>
          <p:cNvSpPr/>
          <p:nvPr/>
        </p:nvSpPr>
        <p:spPr>
          <a:xfrm>
            <a:off x="3927348" y="6537960"/>
            <a:ext cx="1197864" cy="274320"/>
          </a:xfrm>
          <a:prstGeom prst="roundRect">
            <a:avLst>
              <a:gd name="adj" fmla="val 50000"/>
            </a:avLst>
          </a:prstGeom>
          <a:solidFill>
            <a:srgbClr val="F6F3FA"/>
          </a:solidFill>
          <a:ln w="12700">
            <a:solidFill>
              <a:srgbClr val="F6F3FA"/>
            </a:solidFill>
            <a:prstDash val="solid"/>
          </a:ln>
        </p:spPr>
      </p:sp>
      <p:sp>
        <p:nvSpPr>
          <p:cNvPr id="96" name="Text 75"/>
          <p:cNvSpPr txBox="1"/>
          <p:nvPr/>
        </p:nvSpPr>
        <p:spPr>
          <a:xfrm>
            <a:off x="3927348" y="6537960"/>
            <a:ext cx="1197864" cy="274320"/>
          </a:xfrm>
          <a:prstGeom prst="rect">
            <a:avLst/>
          </a:prstGeom>
          <a:noFill/>
          <a:ln/>
        </p:spPr>
        <p:txBody>
          <a:bodyPr wrap="square" lIns="0" tIns="0" rIns="0" bIns="0" rtlCol="0" anchor="ctr"/>
          <a:lstStyle/>
          <a:p>
            <a:pPr algn="ctr" indent="0" marL="0">
              <a:buNone/>
            </a:pPr>
            <a:r>
              <a:rPr lang="en-US" sz="1200" b="1" dirty="0">
                <a:solidFill>
                  <a:srgbClr val="6E5E94"/>
                </a:solidFill>
                <a:latin typeface="Calibri" pitchFamily="34" charset="0"/>
                <a:ea typeface="Calibri" pitchFamily="34" charset="-122"/>
                <a:cs typeface="Calibri" pitchFamily="34" charset="-120"/>
              </a:rPr>
              <a:t>Scenario 3</a:t>
            </a:r>
            <a:endParaRPr lang="en-US" sz="1200" dirty="0"/>
          </a:p>
        </p:txBody>
      </p:sp>
      <p:pic>
        <p:nvPicPr>
          <p:cNvPr id="97" name="Image 19" descr="preencoded.png">
            <a:hlinkClick r:id="rId24" tooltip="Go to Scenario 3" action="ppaction://hlinksldjump"/>
          </p:cNvPr>
          <p:cNvPicPr>
            <a:picLocks noChangeAspect="1"/>
          </p:cNvPicPr>
          <p:nvPr/>
        </p:nvPicPr>
        <p:blipFill>
          <a:blip r:embed="rId23"/>
          <a:stretch>
            <a:fillRect/>
          </a:stretch>
        </p:blipFill>
        <p:spPr>
          <a:xfrm>
            <a:off x="3927348" y="6537960"/>
            <a:ext cx="1197864" cy="274320"/>
          </a:xfrm>
          <a:prstGeom prst="rect">
            <a:avLst/>
          </a:prstGeom>
        </p:spPr>
      </p:pic>
      <p:sp>
        <p:nvSpPr>
          <p:cNvPr id="98" name="Shape 76"/>
          <p:cNvSpPr/>
          <p:nvPr/>
        </p:nvSpPr>
        <p:spPr>
          <a:xfrm>
            <a:off x="5198364" y="6537960"/>
            <a:ext cx="937260" cy="274320"/>
          </a:xfrm>
          <a:prstGeom prst="roundRect">
            <a:avLst>
              <a:gd name="adj" fmla="val 50000"/>
            </a:avLst>
          </a:prstGeom>
          <a:solidFill>
            <a:srgbClr val="E4ECF2"/>
          </a:solidFill>
          <a:ln w="12700">
            <a:solidFill>
              <a:srgbClr val="E4ECF2"/>
            </a:solidFill>
            <a:prstDash val="solid"/>
          </a:ln>
        </p:spPr>
      </p:sp>
      <p:sp>
        <p:nvSpPr>
          <p:cNvPr id="99" name="Text 77"/>
          <p:cNvSpPr txBox="1"/>
          <p:nvPr/>
        </p:nvSpPr>
        <p:spPr>
          <a:xfrm>
            <a:off x="5198364" y="6537960"/>
            <a:ext cx="937260" cy="274320"/>
          </a:xfrm>
          <a:prstGeom prst="rect">
            <a:avLst/>
          </a:prstGeom>
          <a:noFill/>
          <a:ln/>
        </p:spPr>
        <p:txBody>
          <a:bodyPr wrap="square" lIns="0" tIns="0" rIns="0" bIns="0" rtlCol="0" anchor="ctr"/>
          <a:lstStyle/>
          <a:p>
            <a:pPr algn="ctr" indent="0" marL="0">
              <a:buNone/>
            </a:pPr>
            <a:r>
              <a:rPr lang="en-US" sz="1200" b="1" dirty="0">
                <a:solidFill>
                  <a:srgbClr val="23405A"/>
                </a:solidFill>
                <a:latin typeface="Calibri" pitchFamily="34" charset="0"/>
                <a:ea typeface="Calibri" pitchFamily="34" charset="-122"/>
                <a:cs typeface="Calibri" pitchFamily="34" charset="-120"/>
              </a:rPr>
              <a:t>Closing</a:t>
            </a:r>
            <a:endParaRPr lang="en-US" sz="1200" dirty="0"/>
          </a:p>
        </p:txBody>
      </p:sp>
      <p:pic>
        <p:nvPicPr>
          <p:cNvPr id="100" name="Image 20" descr="preencoded.png">
            <a:hlinkClick r:id="rId26" tooltip="Go to Closing" action="ppaction://hlinksldjump"/>
          </p:cNvPr>
          <p:cNvPicPr>
            <a:picLocks noChangeAspect="1"/>
          </p:cNvPicPr>
          <p:nvPr/>
        </p:nvPicPr>
        <p:blipFill>
          <a:blip r:embed="rId25"/>
          <a:stretch>
            <a:fillRect/>
          </a:stretch>
        </p:blipFill>
        <p:spPr>
          <a:xfrm>
            <a:off x="5198364" y="6537960"/>
            <a:ext cx="937260" cy="274320"/>
          </a:xfrm>
          <a:prstGeom prst="rect">
            <a:avLst/>
          </a:prstGeom>
        </p:spPr>
      </p:pic>
      <p:sp>
        <p:nvSpPr>
          <p:cNvPr id="101" name="Text 78"/>
          <p:cNvSpPr txBox="1"/>
          <p:nvPr/>
        </p:nvSpPr>
        <p:spPr>
          <a:xfrm>
            <a:off x="11277295" y="6537960"/>
            <a:ext cx="365760" cy="274320"/>
          </a:xfrm>
          <a:prstGeom prst="rect">
            <a:avLst/>
          </a:prstGeom>
          <a:noFill/>
          <a:ln/>
        </p:spPr>
        <p:txBody>
          <a:bodyPr wrap="square" lIns="0" tIns="0" rIns="0" bIns="0" rtlCol="0" anchor="ctr"/>
          <a:lstStyle/>
          <a:p>
            <a:pPr algn="r" indent="0" marL="0">
              <a:buNone/>
            </a:pPr>
            <a:r>
              <a:rPr lang="en-US" sz="1200" dirty="0">
                <a:solidFill>
                  <a:srgbClr val="465A69"/>
                </a:solidFill>
                <a:latin typeface="Calibri" pitchFamily="34" charset="0"/>
                <a:ea typeface="Calibri" pitchFamily="34" charset="-122"/>
                <a:cs typeface="Calibri" pitchFamily="34" charset="-120"/>
              </a:rPr>
              <a:t>34</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E6F2E9"/>
        </a:solidFill>
      </p:bgPr>
    </p:bg>
    <p:spTree>
      <p:nvGrpSpPr>
        <p:cNvPr id="1" name=""/>
        <p:cNvGrpSpPr/>
        <p:nvPr/>
      </p:nvGrpSpPr>
      <p:grpSpPr>
        <a:xfrm>
          <a:off x="0" y="0"/>
          <a:ext cx="0" cy="0"/>
          <a:chOff x="0" y="0"/>
          <a:chExt cx="0" cy="0"/>
        </a:xfrm>
      </p:grpSpPr>
      <p:sp>
        <p:nvSpPr>
          <p:cNvPr id="2" name="Shape 0"/>
          <p:cNvSpPr/>
          <p:nvPr/>
        </p:nvSpPr>
        <p:spPr>
          <a:xfrm>
            <a:off x="548640" y="347472"/>
            <a:ext cx="2843784" cy="329184"/>
          </a:xfrm>
          <a:prstGeom prst="roundRect">
            <a:avLst>
              <a:gd name="adj" fmla="val 50000"/>
            </a:avLst>
          </a:prstGeom>
          <a:solidFill>
            <a:srgbClr val="F1F8F3"/>
          </a:solidFill>
          <a:ln w="12700">
            <a:solidFill>
              <a:srgbClr val="F1F8F3"/>
            </a:solidFill>
            <a:prstDash val="solid"/>
          </a:ln>
        </p:spPr>
      </p:sp>
      <p:sp>
        <p:nvSpPr>
          <p:cNvPr id="3" name="Text 1"/>
          <p:cNvSpPr txBox="1"/>
          <p:nvPr/>
        </p:nvSpPr>
        <p:spPr>
          <a:xfrm>
            <a:off x="548640" y="347472"/>
            <a:ext cx="2843784" cy="329184"/>
          </a:xfrm>
          <a:prstGeom prst="rect">
            <a:avLst/>
          </a:prstGeom>
          <a:noFill/>
          <a:ln/>
        </p:spPr>
        <p:txBody>
          <a:bodyPr wrap="square" lIns="0" tIns="0" rIns="0" bIns="0" rtlCol="0" anchor="ctr"/>
          <a:lstStyle/>
          <a:p>
            <a:pPr algn="ctr" indent="0" marL="0">
              <a:buNone/>
            </a:pPr>
            <a:r>
              <a:rPr lang="en-US" sz="1200" b="1" dirty="0">
                <a:solidFill>
                  <a:srgbClr val="4C8068"/>
                </a:solidFill>
                <a:latin typeface="Calibri" pitchFamily="34" charset="0"/>
                <a:ea typeface="Calibri" pitchFamily="34" charset="-122"/>
                <a:cs typeface="Calibri" pitchFamily="34" charset="-120"/>
              </a:rPr>
              <a:t>Scenario 2 recap, part 2 of 4</a:t>
            </a:r>
            <a:endParaRPr lang="en-US" sz="1200" dirty="0"/>
          </a:p>
        </p:txBody>
      </p:sp>
      <p:sp>
        <p:nvSpPr>
          <p:cNvPr id="4" name="Text 2"/>
          <p:cNvSpPr txBox="1"/>
          <p:nvPr/>
        </p:nvSpPr>
        <p:spPr>
          <a:xfrm>
            <a:off x="548640" y="749808"/>
            <a:ext cx="11064240" cy="548640"/>
          </a:xfrm>
          <a:prstGeom prst="rect">
            <a:avLst/>
          </a:prstGeom>
          <a:noFill/>
          <a:ln/>
        </p:spPr>
        <p:txBody>
          <a:bodyPr wrap="square" lIns="0" tIns="0" rIns="0" bIns="0" rtlCol="0" anchor="ctr"/>
          <a:lstStyle/>
          <a:p>
            <a:pPr indent="0" marL="0">
              <a:buNone/>
            </a:pPr>
            <a:r>
              <a:rPr lang="en-US" sz="2400" b="1" dirty="0">
                <a:solidFill>
                  <a:srgbClr val="1B2A4A"/>
                </a:solidFill>
                <a:latin typeface="Cambria" pitchFamily="34" charset="0"/>
                <a:ea typeface="Cambria" pitchFamily="34" charset="-122"/>
                <a:cs typeface="Cambria" pitchFamily="34" charset="-120"/>
              </a:rPr>
              <a:t>Key questions at each stage</a:t>
            </a:r>
            <a:endParaRPr lang="en-US" sz="2400" dirty="0"/>
          </a:p>
        </p:txBody>
      </p:sp>
      <p:sp>
        <p:nvSpPr>
          <p:cNvPr id="5" name="Shape 3"/>
          <p:cNvSpPr/>
          <p:nvPr/>
        </p:nvSpPr>
        <p:spPr>
          <a:xfrm>
            <a:off x="548640" y="1508760"/>
            <a:ext cx="2567178" cy="3931920"/>
          </a:xfrm>
          <a:prstGeom prst="roundRect">
            <a:avLst>
              <a:gd name="adj" fmla="val 4987"/>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6" name="Shape 4"/>
          <p:cNvSpPr/>
          <p:nvPr/>
        </p:nvSpPr>
        <p:spPr>
          <a:xfrm>
            <a:off x="548640" y="1508760"/>
            <a:ext cx="2567178" cy="914400"/>
          </a:xfrm>
          <a:prstGeom prst="roundRect">
            <a:avLst>
              <a:gd name="adj" fmla="val 14000"/>
            </a:avLst>
          </a:prstGeom>
          <a:solidFill>
            <a:srgbClr val="E3ECF5"/>
          </a:solidFill>
          <a:ln w="12700">
            <a:solidFill>
              <a:srgbClr val="E3ECF5"/>
            </a:solidFill>
            <a:prstDash val="solid"/>
          </a:ln>
        </p:spPr>
      </p:sp>
      <p:sp>
        <p:nvSpPr>
          <p:cNvPr id="7" name="Shape 5"/>
          <p:cNvSpPr/>
          <p:nvPr/>
        </p:nvSpPr>
        <p:spPr>
          <a:xfrm>
            <a:off x="731520" y="1737360"/>
            <a:ext cx="457200" cy="457200"/>
          </a:xfrm>
          <a:prstGeom prst="ellipse">
            <a:avLst/>
          </a:prstGeom>
          <a:solidFill>
            <a:srgbClr val="6F93B3"/>
          </a:solidFill>
          <a:ln w="12700">
            <a:solidFill>
              <a:srgbClr val="6F93B3"/>
            </a:solidFill>
            <a:prstDash val="solid"/>
          </a:ln>
        </p:spPr>
      </p:sp>
      <p:pic>
        <p:nvPicPr>
          <p:cNvPr id="8" name="Image 0" descr="preencoded.png">    </p:cNvPr>
          <p:cNvPicPr>
            <a:picLocks noChangeAspect="1"/>
          </p:cNvPicPr>
          <p:nvPr/>
        </p:nvPicPr>
        <p:blipFill>
          <a:blip r:embed="rId1"/>
          <a:stretch>
            <a:fillRect/>
          </a:stretch>
        </p:blipFill>
        <p:spPr>
          <a:xfrm>
            <a:off x="850392" y="1856232"/>
            <a:ext cx="219456" cy="219456"/>
          </a:xfrm>
          <a:prstGeom prst="rect">
            <a:avLst/>
          </a:prstGeom>
        </p:spPr>
      </p:pic>
      <p:sp>
        <p:nvSpPr>
          <p:cNvPr id="9" name="Text 6"/>
          <p:cNvSpPr txBox="1"/>
          <p:nvPr/>
        </p:nvSpPr>
        <p:spPr>
          <a:xfrm>
            <a:off x="1325880" y="1600200"/>
            <a:ext cx="1698498" cy="749808"/>
          </a:xfrm>
          <a:prstGeom prst="rect">
            <a:avLst/>
          </a:prstGeom>
          <a:noFill/>
          <a:ln/>
        </p:spPr>
        <p:txBody>
          <a:bodyPr wrap="square" lIns="0" tIns="0" rIns="0" bIns="0" rtlCol="0" anchor="ctr"/>
          <a:lstStyle/>
          <a:p>
            <a:pPr indent="0" marL="0">
              <a:buNone/>
            </a:pPr>
            <a:r>
              <a:rPr lang="en-US" sz="1500" b="1" dirty="0">
                <a:solidFill>
                  <a:srgbClr val="1B2A4A"/>
                </a:solidFill>
                <a:latin typeface="Calibri" pitchFamily="34" charset="0"/>
                <a:ea typeface="Calibri" pitchFamily="34" charset="-122"/>
                <a:cs typeface="Calibri" pitchFamily="34" charset="-120"/>
              </a:rPr>
              <a:t>T+0</a:t>
            </a:r>
            <a:endParaRPr lang="en-US" sz="1500" dirty="0"/>
          </a:p>
          <a:p>
            <a:pPr indent="0" marL="0">
              <a:buNone/>
            </a:pPr>
            <a:r>
              <a:rPr lang="en-US" sz="1250" b="1" dirty="0">
                <a:solidFill>
                  <a:srgbClr val="1B2A4A"/>
                </a:solidFill>
                <a:latin typeface="Calibri" pitchFamily="34" charset="0"/>
                <a:ea typeface="Calibri" pitchFamily="34" charset="-122"/>
                <a:cs typeface="Calibri" pitchFamily="34" charset="-120"/>
              </a:rPr>
              <a:t>Initial Alert</a:t>
            </a:r>
            <a:endParaRPr lang="en-US" sz="1500" dirty="0"/>
          </a:p>
        </p:txBody>
      </p:sp>
      <p:sp>
        <p:nvSpPr>
          <p:cNvPr id="10" name="Text 7"/>
          <p:cNvSpPr txBox="1"/>
          <p:nvPr/>
        </p:nvSpPr>
        <p:spPr>
          <a:xfrm>
            <a:off x="777240" y="2651760"/>
            <a:ext cx="2155698" cy="3154680"/>
          </a:xfrm>
          <a:prstGeom prst="rect">
            <a:avLst/>
          </a:prstGeom>
          <a:noFill/>
          <a:ln/>
        </p:spPr>
        <p:txBody>
          <a:bodyPr wrap="square" lIns="0" tIns="0" rIns="0" bIns="0" rtlCol="0" anchor="t"/>
          <a:lstStyle/>
          <a:p>
            <a:pPr marL="165100" indent="-165100">
              <a:spcAft>
                <a:spcPts val="1000"/>
              </a:spcAft>
              <a:buSzPct val="100000"/>
              <a:buChar char="•"/>
            </a:pPr>
            <a:r>
              <a:rPr lang="en-US" sz="1400" dirty="0">
                <a:solidFill>
                  <a:srgbClr val="1E2E3A"/>
                </a:solidFill>
                <a:latin typeface="Calibri" pitchFamily="34" charset="0"/>
                <a:ea typeface="Calibri" pitchFamily="34" charset="-122"/>
                <a:cs typeface="Calibri" pitchFamily="34" charset="-120"/>
              </a:rPr>
              <a:t>How do we validate this is a provider issue?</a:t>
            </a:r>
            <a:endParaRPr lang="en-US" sz="1400" dirty="0"/>
          </a:p>
          <a:p>
            <a:pPr marL="165100" indent="-165100">
              <a:spcAft>
                <a:spcPts val="1000"/>
              </a:spcAft>
              <a:buSzPct val="100000"/>
              <a:buChar char="•"/>
            </a:pPr>
            <a:r>
              <a:rPr lang="en-US" sz="1400" dirty="0">
                <a:solidFill>
                  <a:srgbClr val="1E2E3A"/>
                </a:solidFill>
                <a:latin typeface="Calibri" pitchFamily="34" charset="0"/>
                <a:ea typeface="Calibri" pitchFamily="34" charset="-122"/>
                <a:cs typeface="Calibri" pitchFamily="34" charset="-120"/>
              </a:rPr>
              <a:t>Which services are affected?</a:t>
            </a:r>
            <a:endParaRPr lang="en-US" sz="1400" dirty="0"/>
          </a:p>
          <a:p>
            <a:pPr marL="165100" indent="-165100">
              <a:spcAft>
                <a:spcPts val="1000"/>
              </a:spcAft>
              <a:buSzPct val="100000"/>
              <a:buChar char="•"/>
            </a:pPr>
            <a:r>
              <a:rPr lang="en-US" sz="1400" dirty="0">
                <a:solidFill>
                  <a:srgbClr val="1E2E3A"/>
                </a:solidFill>
                <a:latin typeface="Calibri" pitchFamily="34" charset="0"/>
                <a:ea typeface="Calibri" pitchFamily="34" charset="-122"/>
                <a:cs typeface="Calibri" pitchFamily="34" charset="-120"/>
              </a:rPr>
              <a:t>Who needs to be notified immediately?</a:t>
            </a:r>
            <a:endParaRPr lang="en-US" sz="1400" dirty="0"/>
          </a:p>
        </p:txBody>
      </p:sp>
      <p:sp>
        <p:nvSpPr>
          <p:cNvPr id="11" name="Shape 8"/>
          <p:cNvSpPr/>
          <p:nvPr/>
        </p:nvSpPr>
        <p:spPr>
          <a:xfrm>
            <a:off x="3390138" y="1508760"/>
            <a:ext cx="2567178" cy="3931920"/>
          </a:xfrm>
          <a:prstGeom prst="roundRect">
            <a:avLst>
              <a:gd name="adj" fmla="val 4987"/>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12" name="Shape 9"/>
          <p:cNvSpPr/>
          <p:nvPr/>
        </p:nvSpPr>
        <p:spPr>
          <a:xfrm>
            <a:off x="3390138" y="1508760"/>
            <a:ext cx="2567178" cy="914400"/>
          </a:xfrm>
          <a:prstGeom prst="roundRect">
            <a:avLst>
              <a:gd name="adj" fmla="val 14000"/>
            </a:avLst>
          </a:prstGeom>
          <a:solidFill>
            <a:srgbClr val="E2F0EA"/>
          </a:solidFill>
          <a:ln w="12700">
            <a:solidFill>
              <a:srgbClr val="E2F0EA"/>
            </a:solidFill>
            <a:prstDash val="solid"/>
          </a:ln>
        </p:spPr>
      </p:sp>
      <p:sp>
        <p:nvSpPr>
          <p:cNvPr id="13" name="Shape 10"/>
          <p:cNvSpPr/>
          <p:nvPr/>
        </p:nvSpPr>
        <p:spPr>
          <a:xfrm>
            <a:off x="3573018" y="1737360"/>
            <a:ext cx="457200" cy="457200"/>
          </a:xfrm>
          <a:prstGeom prst="ellipse">
            <a:avLst/>
          </a:prstGeom>
          <a:solidFill>
            <a:srgbClr val="6FA394"/>
          </a:solidFill>
          <a:ln w="12700">
            <a:solidFill>
              <a:srgbClr val="6FA394"/>
            </a:solidFill>
            <a:prstDash val="solid"/>
          </a:ln>
        </p:spPr>
      </p:sp>
      <p:pic>
        <p:nvPicPr>
          <p:cNvPr id="14" name="Image 1" descr="preencoded.png">    </p:cNvPr>
          <p:cNvPicPr>
            <a:picLocks noChangeAspect="1"/>
          </p:cNvPicPr>
          <p:nvPr/>
        </p:nvPicPr>
        <p:blipFill>
          <a:blip r:embed="rId2"/>
          <a:stretch>
            <a:fillRect/>
          </a:stretch>
        </p:blipFill>
        <p:spPr>
          <a:xfrm>
            <a:off x="3691890" y="1856232"/>
            <a:ext cx="219456" cy="219456"/>
          </a:xfrm>
          <a:prstGeom prst="rect">
            <a:avLst/>
          </a:prstGeom>
        </p:spPr>
      </p:pic>
      <p:sp>
        <p:nvSpPr>
          <p:cNvPr id="15" name="Text 11"/>
          <p:cNvSpPr txBox="1"/>
          <p:nvPr/>
        </p:nvSpPr>
        <p:spPr>
          <a:xfrm>
            <a:off x="4167378" y="1600200"/>
            <a:ext cx="1698498" cy="749808"/>
          </a:xfrm>
          <a:prstGeom prst="rect">
            <a:avLst/>
          </a:prstGeom>
          <a:noFill/>
          <a:ln/>
        </p:spPr>
        <p:txBody>
          <a:bodyPr wrap="square" lIns="0" tIns="0" rIns="0" bIns="0" rtlCol="0" anchor="ctr"/>
          <a:lstStyle/>
          <a:p>
            <a:pPr indent="0" marL="0">
              <a:buNone/>
            </a:pPr>
            <a:r>
              <a:rPr lang="en-US" sz="1500" b="1" dirty="0">
                <a:solidFill>
                  <a:srgbClr val="1B2A4A"/>
                </a:solidFill>
                <a:latin typeface="Calibri" pitchFamily="34" charset="0"/>
                <a:ea typeface="Calibri" pitchFamily="34" charset="-122"/>
                <a:cs typeface="Calibri" pitchFamily="34" charset="-120"/>
              </a:rPr>
              <a:t>T+30m</a:t>
            </a:r>
            <a:endParaRPr lang="en-US" sz="1500" dirty="0"/>
          </a:p>
          <a:p>
            <a:pPr indent="0" marL="0">
              <a:buNone/>
            </a:pPr>
            <a:r>
              <a:rPr lang="en-US" sz="1250" b="1" dirty="0">
                <a:solidFill>
                  <a:srgbClr val="1B2A4A"/>
                </a:solidFill>
                <a:latin typeface="Calibri" pitchFamily="34" charset="0"/>
                <a:ea typeface="Calibri" pitchFamily="34" charset="-122"/>
                <a:cs typeface="Calibri" pitchFamily="34" charset="-120"/>
              </a:rPr>
              <a:t>Scope Expands</a:t>
            </a:r>
            <a:endParaRPr lang="en-US" sz="1500" dirty="0"/>
          </a:p>
        </p:txBody>
      </p:sp>
      <p:sp>
        <p:nvSpPr>
          <p:cNvPr id="16" name="Text 12"/>
          <p:cNvSpPr txBox="1"/>
          <p:nvPr/>
        </p:nvSpPr>
        <p:spPr>
          <a:xfrm>
            <a:off x="3618738" y="2651760"/>
            <a:ext cx="2155698" cy="3154680"/>
          </a:xfrm>
          <a:prstGeom prst="rect">
            <a:avLst/>
          </a:prstGeom>
          <a:noFill/>
          <a:ln/>
        </p:spPr>
        <p:txBody>
          <a:bodyPr wrap="square" lIns="0" tIns="0" rIns="0" bIns="0" rtlCol="0" anchor="t"/>
          <a:lstStyle/>
          <a:p>
            <a:pPr marL="165100" indent="-165100">
              <a:spcAft>
                <a:spcPts val="1000"/>
              </a:spcAft>
              <a:buSzPct val="100000"/>
              <a:buChar char="•"/>
            </a:pPr>
            <a:r>
              <a:rPr lang="en-US" sz="1400" dirty="0">
                <a:solidFill>
                  <a:srgbClr val="1E2E3A"/>
                </a:solidFill>
                <a:latin typeface="Calibri" pitchFamily="34" charset="0"/>
                <a:ea typeface="Calibri" pitchFamily="34" charset="-122"/>
                <a:cs typeface="Calibri" pitchFamily="34" charset="-120"/>
              </a:rPr>
              <a:t>What is the full scope?</a:t>
            </a:r>
            <a:endParaRPr lang="en-US" sz="1400" dirty="0"/>
          </a:p>
          <a:p>
            <a:pPr marL="165100" indent="-165100">
              <a:spcAft>
                <a:spcPts val="1000"/>
              </a:spcAft>
              <a:buSzPct val="100000"/>
              <a:buChar char="•"/>
            </a:pPr>
            <a:r>
              <a:rPr lang="en-US" sz="1400" dirty="0">
                <a:solidFill>
                  <a:srgbClr val="1E2E3A"/>
                </a:solidFill>
                <a:latin typeface="Calibri" pitchFamily="34" charset="0"/>
                <a:ea typeface="Calibri" pitchFamily="34" charset="-122"/>
                <a:cs typeface="Calibri" pitchFamily="34" charset="-120"/>
              </a:rPr>
              <a:t>Which business units are impacted?</a:t>
            </a:r>
            <a:endParaRPr lang="en-US" sz="1400" dirty="0"/>
          </a:p>
          <a:p>
            <a:pPr marL="165100" indent="-165100">
              <a:spcAft>
                <a:spcPts val="1000"/>
              </a:spcAft>
              <a:buSzPct val="100000"/>
              <a:buChar char="•"/>
            </a:pPr>
            <a:r>
              <a:rPr lang="en-US" sz="1400" dirty="0">
                <a:solidFill>
                  <a:srgbClr val="1E2E3A"/>
                </a:solidFill>
                <a:latin typeface="Calibri" pitchFamily="34" charset="0"/>
                <a:ea typeface="Calibri" pitchFamily="34" charset="-122"/>
                <a:cs typeface="Calibri" pitchFamily="34" charset="-120"/>
              </a:rPr>
              <a:t>Is this isolated to one region?</a:t>
            </a:r>
            <a:endParaRPr lang="en-US" sz="1400" dirty="0"/>
          </a:p>
          <a:p>
            <a:pPr marL="165100" indent="-165100">
              <a:spcAft>
                <a:spcPts val="1000"/>
              </a:spcAft>
              <a:buSzPct val="100000"/>
              <a:buChar char="•"/>
            </a:pPr>
            <a:r>
              <a:rPr lang="en-US" sz="1400" dirty="0">
                <a:solidFill>
                  <a:srgbClr val="1E2E3A"/>
                </a:solidFill>
                <a:latin typeface="Calibri" pitchFamily="34" charset="0"/>
                <a:ea typeface="Calibri" pitchFamily="34" charset="-122"/>
                <a:cs typeface="Calibri" pitchFamily="34" charset="-120"/>
              </a:rPr>
              <a:t>What information do we trust (provider vs. internal)?</a:t>
            </a:r>
            <a:endParaRPr lang="en-US" sz="1400" dirty="0"/>
          </a:p>
        </p:txBody>
      </p:sp>
      <p:sp>
        <p:nvSpPr>
          <p:cNvPr id="17" name="Shape 13"/>
          <p:cNvSpPr/>
          <p:nvPr/>
        </p:nvSpPr>
        <p:spPr>
          <a:xfrm>
            <a:off x="6231636" y="1508760"/>
            <a:ext cx="2567178" cy="3931920"/>
          </a:xfrm>
          <a:prstGeom prst="roundRect">
            <a:avLst>
              <a:gd name="adj" fmla="val 4987"/>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18" name="Shape 14"/>
          <p:cNvSpPr/>
          <p:nvPr/>
        </p:nvSpPr>
        <p:spPr>
          <a:xfrm>
            <a:off x="6231636" y="1508760"/>
            <a:ext cx="2567178" cy="914400"/>
          </a:xfrm>
          <a:prstGeom prst="roundRect">
            <a:avLst>
              <a:gd name="adj" fmla="val 14000"/>
            </a:avLst>
          </a:prstGeom>
          <a:solidFill>
            <a:srgbClr val="F4EDDB"/>
          </a:solidFill>
          <a:ln w="12700">
            <a:solidFill>
              <a:srgbClr val="F4EDDB"/>
            </a:solidFill>
            <a:prstDash val="solid"/>
          </a:ln>
        </p:spPr>
      </p:sp>
      <p:sp>
        <p:nvSpPr>
          <p:cNvPr id="19" name="Shape 15"/>
          <p:cNvSpPr/>
          <p:nvPr/>
        </p:nvSpPr>
        <p:spPr>
          <a:xfrm>
            <a:off x="6414516" y="1737360"/>
            <a:ext cx="457200" cy="457200"/>
          </a:xfrm>
          <a:prstGeom prst="ellipse">
            <a:avLst/>
          </a:prstGeom>
          <a:solidFill>
            <a:srgbClr val="B89E68"/>
          </a:solidFill>
          <a:ln w="12700">
            <a:solidFill>
              <a:srgbClr val="B89E68"/>
            </a:solidFill>
            <a:prstDash val="solid"/>
          </a:ln>
        </p:spPr>
      </p:sp>
      <p:pic>
        <p:nvPicPr>
          <p:cNvPr id="20" name="Image 2" descr="preencoded.png">    </p:cNvPr>
          <p:cNvPicPr>
            <a:picLocks noChangeAspect="1"/>
          </p:cNvPicPr>
          <p:nvPr/>
        </p:nvPicPr>
        <p:blipFill>
          <a:blip r:embed="rId3"/>
          <a:stretch>
            <a:fillRect/>
          </a:stretch>
        </p:blipFill>
        <p:spPr>
          <a:xfrm>
            <a:off x="6533388" y="1856232"/>
            <a:ext cx="219456" cy="219456"/>
          </a:xfrm>
          <a:prstGeom prst="rect">
            <a:avLst/>
          </a:prstGeom>
        </p:spPr>
      </p:pic>
      <p:sp>
        <p:nvSpPr>
          <p:cNvPr id="21" name="Text 16"/>
          <p:cNvSpPr txBox="1"/>
          <p:nvPr/>
        </p:nvSpPr>
        <p:spPr>
          <a:xfrm>
            <a:off x="7008876" y="1600200"/>
            <a:ext cx="1698498" cy="749808"/>
          </a:xfrm>
          <a:prstGeom prst="rect">
            <a:avLst/>
          </a:prstGeom>
          <a:noFill/>
          <a:ln/>
        </p:spPr>
        <p:txBody>
          <a:bodyPr wrap="square" lIns="0" tIns="0" rIns="0" bIns="0" rtlCol="0" anchor="ctr"/>
          <a:lstStyle/>
          <a:p>
            <a:pPr indent="0" marL="0">
              <a:buNone/>
            </a:pPr>
            <a:r>
              <a:rPr lang="en-US" sz="1500" b="1" dirty="0">
                <a:solidFill>
                  <a:srgbClr val="1B2A4A"/>
                </a:solidFill>
                <a:latin typeface="Calibri" pitchFamily="34" charset="0"/>
                <a:ea typeface="Calibri" pitchFamily="34" charset="-122"/>
                <a:cs typeface="Calibri" pitchFamily="34" charset="-120"/>
              </a:rPr>
              <a:t>T+2h</a:t>
            </a:r>
            <a:endParaRPr lang="en-US" sz="1500" dirty="0"/>
          </a:p>
          <a:p>
            <a:pPr indent="0" marL="0">
              <a:buNone/>
            </a:pPr>
            <a:r>
              <a:rPr lang="en-US" sz="1250" b="1" dirty="0">
                <a:solidFill>
                  <a:srgbClr val="1B2A4A"/>
                </a:solidFill>
                <a:latin typeface="Calibri" pitchFamily="34" charset="0"/>
                <a:ea typeface="Calibri" pitchFamily="34" charset="-122"/>
                <a:cs typeface="Calibri" pitchFamily="34" charset="-120"/>
              </a:rPr>
              <a:t>Provider Incident Declared</a:t>
            </a:r>
            <a:endParaRPr lang="en-US" sz="1500" dirty="0"/>
          </a:p>
        </p:txBody>
      </p:sp>
      <p:sp>
        <p:nvSpPr>
          <p:cNvPr id="22" name="Text 17"/>
          <p:cNvSpPr txBox="1"/>
          <p:nvPr/>
        </p:nvSpPr>
        <p:spPr>
          <a:xfrm>
            <a:off x="6460236" y="2651760"/>
            <a:ext cx="2155698" cy="3154680"/>
          </a:xfrm>
          <a:prstGeom prst="rect">
            <a:avLst/>
          </a:prstGeom>
          <a:noFill/>
          <a:ln/>
        </p:spPr>
        <p:txBody>
          <a:bodyPr wrap="square" lIns="0" tIns="0" rIns="0" bIns="0" rtlCol="0" anchor="t"/>
          <a:lstStyle/>
          <a:p>
            <a:pPr marL="165100" indent="-165100">
              <a:spcAft>
                <a:spcPts val="1000"/>
              </a:spcAft>
              <a:buSzPct val="100000"/>
              <a:buChar char="•"/>
            </a:pPr>
            <a:r>
              <a:rPr lang="en-US" sz="1400" dirty="0">
                <a:solidFill>
                  <a:srgbClr val="1E2E3A"/>
                </a:solidFill>
                <a:latin typeface="Calibri" pitchFamily="34" charset="0"/>
                <a:ea typeface="Calibri" pitchFamily="34" charset="-122"/>
                <a:cs typeface="Calibri" pitchFamily="34" charset="-120"/>
              </a:rPr>
              <a:t>Do we wait or activate BC/DR now?</a:t>
            </a:r>
            <a:endParaRPr lang="en-US" sz="1400" dirty="0"/>
          </a:p>
          <a:p>
            <a:pPr marL="165100" indent="-165100">
              <a:spcAft>
                <a:spcPts val="1000"/>
              </a:spcAft>
              <a:buSzPct val="100000"/>
              <a:buChar char="•"/>
            </a:pPr>
            <a:r>
              <a:rPr lang="en-US" sz="1400" dirty="0">
                <a:solidFill>
                  <a:srgbClr val="1E2E3A"/>
                </a:solidFill>
                <a:latin typeface="Calibri" pitchFamily="34" charset="0"/>
                <a:ea typeface="Calibri" pitchFamily="34" charset="-122"/>
                <a:cs typeface="Calibri" pitchFamily="34" charset="-120"/>
              </a:rPr>
              <a:t>What are the risks to patient safety, regulatory commitments, and R&amp;D?</a:t>
            </a:r>
            <a:endParaRPr lang="en-US" sz="1400" dirty="0"/>
          </a:p>
          <a:p>
            <a:pPr marL="165100" indent="-165100">
              <a:spcAft>
                <a:spcPts val="1000"/>
              </a:spcAft>
              <a:buSzPct val="100000"/>
              <a:buChar char="•"/>
            </a:pPr>
            <a:r>
              <a:rPr lang="en-US" sz="1400" dirty="0">
                <a:solidFill>
                  <a:srgbClr val="1E2E3A"/>
                </a:solidFill>
                <a:latin typeface="Calibri" pitchFamily="34" charset="0"/>
                <a:ea typeface="Calibri" pitchFamily="34" charset="-122"/>
                <a:cs typeface="Calibri" pitchFamily="34" charset="-120"/>
              </a:rPr>
              <a:t>How do we communicate to executives and customers?</a:t>
            </a:r>
            <a:endParaRPr lang="en-US" sz="1400" dirty="0"/>
          </a:p>
        </p:txBody>
      </p:sp>
      <p:sp>
        <p:nvSpPr>
          <p:cNvPr id="23" name="Shape 18"/>
          <p:cNvSpPr/>
          <p:nvPr/>
        </p:nvSpPr>
        <p:spPr>
          <a:xfrm>
            <a:off x="9073134" y="1508760"/>
            <a:ext cx="2567178" cy="3931920"/>
          </a:xfrm>
          <a:prstGeom prst="roundRect">
            <a:avLst>
              <a:gd name="adj" fmla="val 4987"/>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24" name="Shape 19"/>
          <p:cNvSpPr/>
          <p:nvPr/>
        </p:nvSpPr>
        <p:spPr>
          <a:xfrm>
            <a:off x="9073134" y="1508760"/>
            <a:ext cx="2567178" cy="914400"/>
          </a:xfrm>
          <a:prstGeom prst="roundRect">
            <a:avLst>
              <a:gd name="adj" fmla="val 14000"/>
            </a:avLst>
          </a:prstGeom>
          <a:solidFill>
            <a:srgbClr val="F3E6EA"/>
          </a:solidFill>
          <a:ln w="12700">
            <a:solidFill>
              <a:srgbClr val="F3E6EA"/>
            </a:solidFill>
            <a:prstDash val="solid"/>
          </a:ln>
        </p:spPr>
      </p:sp>
      <p:sp>
        <p:nvSpPr>
          <p:cNvPr id="25" name="Shape 20"/>
          <p:cNvSpPr/>
          <p:nvPr/>
        </p:nvSpPr>
        <p:spPr>
          <a:xfrm>
            <a:off x="9256014" y="1737360"/>
            <a:ext cx="457200" cy="457200"/>
          </a:xfrm>
          <a:prstGeom prst="ellipse">
            <a:avLst/>
          </a:prstGeom>
          <a:solidFill>
            <a:srgbClr val="B38496"/>
          </a:solidFill>
          <a:ln w="12700">
            <a:solidFill>
              <a:srgbClr val="B38496"/>
            </a:solidFill>
            <a:prstDash val="solid"/>
          </a:ln>
        </p:spPr>
      </p:sp>
      <p:pic>
        <p:nvPicPr>
          <p:cNvPr id="26" name="Image 3" descr="preencoded.png">    </p:cNvPr>
          <p:cNvPicPr>
            <a:picLocks noChangeAspect="1"/>
          </p:cNvPicPr>
          <p:nvPr/>
        </p:nvPicPr>
        <p:blipFill>
          <a:blip r:embed="rId4"/>
          <a:stretch>
            <a:fillRect/>
          </a:stretch>
        </p:blipFill>
        <p:spPr>
          <a:xfrm>
            <a:off x="9374886" y="1856232"/>
            <a:ext cx="219456" cy="219456"/>
          </a:xfrm>
          <a:prstGeom prst="rect">
            <a:avLst/>
          </a:prstGeom>
        </p:spPr>
      </p:pic>
      <p:sp>
        <p:nvSpPr>
          <p:cNvPr id="27" name="Text 21"/>
          <p:cNvSpPr txBox="1"/>
          <p:nvPr/>
        </p:nvSpPr>
        <p:spPr>
          <a:xfrm>
            <a:off x="9850374" y="1600200"/>
            <a:ext cx="1698498" cy="749808"/>
          </a:xfrm>
          <a:prstGeom prst="rect">
            <a:avLst/>
          </a:prstGeom>
          <a:noFill/>
          <a:ln/>
        </p:spPr>
        <p:txBody>
          <a:bodyPr wrap="square" lIns="0" tIns="0" rIns="0" bIns="0" rtlCol="0" anchor="ctr"/>
          <a:lstStyle/>
          <a:p>
            <a:pPr indent="0" marL="0">
              <a:buNone/>
            </a:pPr>
            <a:r>
              <a:rPr lang="en-US" sz="1500" b="1" dirty="0">
                <a:solidFill>
                  <a:srgbClr val="1B2A4A"/>
                </a:solidFill>
                <a:latin typeface="Calibri" pitchFamily="34" charset="0"/>
                <a:ea typeface="Calibri" pitchFamily="34" charset="-122"/>
                <a:cs typeface="Calibri" pitchFamily="34" charset="-120"/>
              </a:rPr>
              <a:t>T+6h</a:t>
            </a:r>
            <a:endParaRPr lang="en-US" sz="1500" dirty="0"/>
          </a:p>
          <a:p>
            <a:pPr indent="0" marL="0">
              <a:buNone/>
            </a:pPr>
            <a:r>
              <a:rPr lang="en-US" sz="1250" b="1" dirty="0">
                <a:solidFill>
                  <a:srgbClr val="1B2A4A"/>
                </a:solidFill>
                <a:latin typeface="Calibri" pitchFamily="34" charset="0"/>
                <a:ea typeface="Calibri" pitchFamily="34" charset="-122"/>
                <a:cs typeface="Calibri" pitchFamily="34" charset="-120"/>
              </a:rPr>
              <a:t>Business Impact</a:t>
            </a:r>
            <a:endParaRPr lang="en-US" sz="1500" dirty="0"/>
          </a:p>
        </p:txBody>
      </p:sp>
      <p:sp>
        <p:nvSpPr>
          <p:cNvPr id="28" name="Text 22"/>
          <p:cNvSpPr txBox="1"/>
          <p:nvPr/>
        </p:nvSpPr>
        <p:spPr>
          <a:xfrm>
            <a:off x="9301734" y="2651760"/>
            <a:ext cx="2155698" cy="3154680"/>
          </a:xfrm>
          <a:prstGeom prst="rect">
            <a:avLst/>
          </a:prstGeom>
          <a:noFill/>
          <a:ln/>
        </p:spPr>
        <p:txBody>
          <a:bodyPr wrap="square" lIns="0" tIns="0" rIns="0" bIns="0" rtlCol="0" anchor="t"/>
          <a:lstStyle/>
          <a:p>
            <a:pPr marL="165100" indent="-165100">
              <a:spcAft>
                <a:spcPts val="1000"/>
              </a:spcAft>
              <a:buSzPct val="100000"/>
              <a:buChar char="•"/>
            </a:pPr>
            <a:r>
              <a:rPr lang="en-US" sz="1400" dirty="0">
                <a:solidFill>
                  <a:srgbClr val="1E2E3A"/>
                </a:solidFill>
                <a:latin typeface="Calibri" pitchFamily="34" charset="0"/>
                <a:ea typeface="Calibri" pitchFamily="34" charset="-122"/>
                <a:cs typeface="Calibri" pitchFamily="34" charset="-120"/>
              </a:rPr>
              <a:t>Which critical processes cannot operate?</a:t>
            </a:r>
            <a:endParaRPr lang="en-US" sz="1400" dirty="0"/>
          </a:p>
          <a:p>
            <a:pPr marL="165100" indent="-165100">
              <a:spcAft>
                <a:spcPts val="1000"/>
              </a:spcAft>
              <a:buSzPct val="100000"/>
              <a:buChar char="•"/>
            </a:pPr>
            <a:r>
              <a:rPr lang="en-US" sz="1400" dirty="0">
                <a:solidFill>
                  <a:srgbClr val="1E2E3A"/>
                </a:solidFill>
                <a:latin typeface="Calibri" pitchFamily="34" charset="0"/>
                <a:ea typeface="Calibri" pitchFamily="34" charset="-122"/>
                <a:cs typeface="Calibri" pitchFamily="34" charset="-120"/>
              </a:rPr>
              <a:t>What workarounds exist?</a:t>
            </a:r>
            <a:endParaRPr lang="en-US" sz="1400" dirty="0"/>
          </a:p>
          <a:p>
            <a:pPr marL="165100" indent="-165100">
              <a:spcAft>
                <a:spcPts val="1000"/>
              </a:spcAft>
              <a:buSzPct val="100000"/>
              <a:buChar char="•"/>
            </a:pPr>
            <a:r>
              <a:rPr lang="en-US" sz="1400" dirty="0">
                <a:solidFill>
                  <a:srgbClr val="1E2E3A"/>
                </a:solidFill>
                <a:latin typeface="Calibri" pitchFamily="34" charset="0"/>
                <a:ea typeface="Calibri" pitchFamily="34" charset="-122"/>
                <a:cs typeface="Calibri" pitchFamily="34" charset="-120"/>
              </a:rPr>
              <a:t>Do we need to relocate teams or shift to alternate systems?</a:t>
            </a:r>
            <a:endParaRPr lang="en-US" sz="1400" dirty="0"/>
          </a:p>
          <a:p>
            <a:pPr marL="165100" indent="-165100">
              <a:spcAft>
                <a:spcPts val="1000"/>
              </a:spcAft>
              <a:buSzPct val="100000"/>
              <a:buChar char="•"/>
            </a:pPr>
            <a:r>
              <a:rPr lang="en-US" sz="1400" dirty="0">
                <a:solidFill>
                  <a:srgbClr val="1E2E3A"/>
                </a:solidFill>
                <a:latin typeface="Calibri" pitchFamily="34" charset="0"/>
                <a:ea typeface="Calibri" pitchFamily="34" charset="-122"/>
                <a:cs typeface="Calibri" pitchFamily="34" charset="-120"/>
              </a:rPr>
              <a:t>How do we maintain secure communications?</a:t>
            </a:r>
            <a:endParaRPr lang="en-US" sz="1400" dirty="0"/>
          </a:p>
        </p:txBody>
      </p:sp>
      <p:sp>
        <p:nvSpPr>
          <p:cNvPr id="29" name="Text 23"/>
          <p:cNvSpPr txBox="1"/>
          <p:nvPr/>
        </p:nvSpPr>
        <p:spPr>
          <a:xfrm>
            <a:off x="548640" y="6254496"/>
            <a:ext cx="11091672" cy="256032"/>
          </a:xfrm>
          <a:prstGeom prst="rect">
            <a:avLst/>
          </a:prstGeom>
          <a:noFill/>
          <a:ln/>
        </p:spPr>
        <p:txBody>
          <a:bodyPr wrap="square" lIns="0" tIns="0" rIns="0" bIns="0" rtlCol="0" anchor="ctr"/>
          <a:lstStyle/>
          <a:p>
            <a:pPr indent="0" marL="0">
              <a:buNone/>
            </a:pPr>
            <a:r>
              <a:rPr lang="en-US" sz="1200" b="1" dirty="0">
                <a:solidFill>
                  <a:srgbClr val="465A69"/>
                </a:solidFill>
                <a:latin typeface="Calibri" pitchFamily="34" charset="0"/>
                <a:ea typeface="Calibri" pitchFamily="34" charset="-122"/>
                <a:cs typeface="Calibri" pitchFamily="34" charset="-120"/>
              </a:rPr>
              <a:t>Acronyms:  </a:t>
            </a:r>
            <a:pPr indent="0" marL="0">
              <a:buNone/>
            </a:pPr>
            <a:r>
              <a:rPr lang="en-US" sz="1200" dirty="0">
                <a:solidFill>
                  <a:srgbClr val="465A69"/>
                </a:solidFill>
                <a:latin typeface="Calibri" pitchFamily="34" charset="0"/>
                <a:ea typeface="Calibri" pitchFamily="34" charset="-122"/>
                <a:cs typeface="Calibri" pitchFamily="34" charset="-120"/>
              </a:rPr>
              <a:t>T+: time since the first signal;  DR: Disaster Recovery;  BC: Business Continuity;  R&amp;D: research and development</a:t>
            </a:r>
            <a:endParaRPr lang="en-US" sz="1200" dirty="0"/>
          </a:p>
        </p:txBody>
      </p:sp>
      <p:sp>
        <p:nvSpPr>
          <p:cNvPr id="30" name="Shape 24"/>
          <p:cNvSpPr/>
          <p:nvPr/>
        </p:nvSpPr>
        <p:spPr>
          <a:xfrm>
            <a:off x="548640" y="6537960"/>
            <a:ext cx="763524" cy="274320"/>
          </a:xfrm>
          <a:prstGeom prst="roundRect">
            <a:avLst>
              <a:gd name="adj" fmla="val 50000"/>
            </a:avLst>
          </a:prstGeom>
          <a:solidFill>
            <a:srgbClr val="E4ECF2"/>
          </a:solidFill>
          <a:ln w="12700">
            <a:solidFill>
              <a:srgbClr val="E4ECF2"/>
            </a:solidFill>
            <a:prstDash val="solid"/>
          </a:ln>
        </p:spPr>
      </p:sp>
      <p:sp>
        <p:nvSpPr>
          <p:cNvPr id="31" name="Text 25"/>
          <p:cNvSpPr txBox="1"/>
          <p:nvPr/>
        </p:nvSpPr>
        <p:spPr>
          <a:xfrm>
            <a:off x="548640" y="6537960"/>
            <a:ext cx="763524" cy="274320"/>
          </a:xfrm>
          <a:prstGeom prst="rect">
            <a:avLst/>
          </a:prstGeom>
          <a:noFill/>
          <a:ln/>
        </p:spPr>
        <p:txBody>
          <a:bodyPr wrap="square" lIns="0" tIns="0" rIns="0" bIns="0" rtlCol="0" anchor="ctr"/>
          <a:lstStyle/>
          <a:p>
            <a:pPr algn="ctr" indent="0" marL="0">
              <a:buNone/>
            </a:pPr>
            <a:r>
              <a:rPr lang="en-US" sz="1200" b="1" dirty="0">
                <a:solidFill>
                  <a:srgbClr val="23405A"/>
                </a:solidFill>
                <a:latin typeface="Calibri" pitchFamily="34" charset="0"/>
                <a:ea typeface="Calibri" pitchFamily="34" charset="-122"/>
                <a:cs typeface="Calibri" pitchFamily="34" charset="-120"/>
              </a:rPr>
              <a:t>Start</a:t>
            </a:r>
            <a:endParaRPr lang="en-US" sz="1200" dirty="0"/>
          </a:p>
        </p:txBody>
      </p:sp>
      <p:pic>
        <p:nvPicPr>
          <p:cNvPr id="32" name="Image 4" descr="preencoded.png">
            <a:hlinkClick r:id="rId6" tooltip="Go to Start" action="ppaction://hlinksldjump"/>
          </p:cNvPr>
          <p:cNvPicPr>
            <a:picLocks noChangeAspect="1"/>
          </p:cNvPicPr>
          <p:nvPr/>
        </p:nvPicPr>
        <p:blipFill>
          <a:blip r:embed="rId5"/>
          <a:stretch>
            <a:fillRect/>
          </a:stretch>
        </p:blipFill>
        <p:spPr>
          <a:xfrm>
            <a:off x="548640" y="6537960"/>
            <a:ext cx="763524" cy="274320"/>
          </a:xfrm>
          <a:prstGeom prst="rect">
            <a:avLst/>
          </a:prstGeom>
        </p:spPr>
      </p:pic>
      <p:sp>
        <p:nvSpPr>
          <p:cNvPr id="33" name="Shape 26"/>
          <p:cNvSpPr/>
          <p:nvPr/>
        </p:nvSpPr>
        <p:spPr>
          <a:xfrm>
            <a:off x="1385316" y="6537960"/>
            <a:ext cx="1197864" cy="274320"/>
          </a:xfrm>
          <a:prstGeom prst="roundRect">
            <a:avLst>
              <a:gd name="adj" fmla="val 50000"/>
            </a:avLst>
          </a:prstGeom>
          <a:solidFill>
            <a:srgbClr val="F1F6FA"/>
          </a:solidFill>
          <a:ln w="12700">
            <a:solidFill>
              <a:srgbClr val="F1F6FA"/>
            </a:solidFill>
            <a:prstDash val="solid"/>
          </a:ln>
        </p:spPr>
      </p:sp>
      <p:sp>
        <p:nvSpPr>
          <p:cNvPr id="34" name="Text 27"/>
          <p:cNvSpPr txBox="1"/>
          <p:nvPr/>
        </p:nvSpPr>
        <p:spPr>
          <a:xfrm>
            <a:off x="1385316" y="6537960"/>
            <a:ext cx="1197864" cy="274320"/>
          </a:xfrm>
          <a:prstGeom prst="rect">
            <a:avLst/>
          </a:prstGeom>
          <a:noFill/>
          <a:ln/>
        </p:spPr>
        <p:txBody>
          <a:bodyPr wrap="square" lIns="0" tIns="0" rIns="0" bIns="0" rtlCol="0" anchor="ctr"/>
          <a:lstStyle/>
          <a:p>
            <a:pPr algn="ctr" indent="0" marL="0">
              <a:buNone/>
            </a:pPr>
            <a:r>
              <a:rPr lang="en-US" sz="1200" b="1" dirty="0">
                <a:solidFill>
                  <a:srgbClr val="3F6E8C"/>
                </a:solidFill>
                <a:latin typeface="Calibri" pitchFamily="34" charset="0"/>
                <a:ea typeface="Calibri" pitchFamily="34" charset="-122"/>
                <a:cs typeface="Calibri" pitchFamily="34" charset="-120"/>
              </a:rPr>
              <a:t>Scenario 1</a:t>
            </a:r>
            <a:endParaRPr lang="en-US" sz="1200" dirty="0"/>
          </a:p>
        </p:txBody>
      </p:sp>
      <p:pic>
        <p:nvPicPr>
          <p:cNvPr id="35" name="Image 5" descr="preencoded.png">
            <a:hlinkClick r:id="rId8" tooltip="Go to Scenario 1" action="ppaction://hlinksldjump"/>
          </p:cNvPr>
          <p:cNvPicPr>
            <a:picLocks noChangeAspect="1"/>
          </p:cNvPicPr>
          <p:nvPr/>
        </p:nvPicPr>
        <p:blipFill>
          <a:blip r:embed="rId7"/>
          <a:stretch>
            <a:fillRect/>
          </a:stretch>
        </p:blipFill>
        <p:spPr>
          <a:xfrm>
            <a:off x="1385316" y="6537960"/>
            <a:ext cx="1197864" cy="274320"/>
          </a:xfrm>
          <a:prstGeom prst="rect">
            <a:avLst/>
          </a:prstGeom>
        </p:spPr>
      </p:pic>
      <p:sp>
        <p:nvSpPr>
          <p:cNvPr id="36" name="Shape 28"/>
          <p:cNvSpPr/>
          <p:nvPr/>
        </p:nvSpPr>
        <p:spPr>
          <a:xfrm>
            <a:off x="2656332" y="6537960"/>
            <a:ext cx="1197864" cy="274320"/>
          </a:xfrm>
          <a:prstGeom prst="roundRect">
            <a:avLst>
              <a:gd name="adj" fmla="val 50000"/>
            </a:avLst>
          </a:prstGeom>
          <a:solidFill>
            <a:srgbClr val="4C8068"/>
          </a:solidFill>
          <a:ln w="12700">
            <a:solidFill>
              <a:srgbClr val="4C8068"/>
            </a:solidFill>
            <a:prstDash val="solid"/>
          </a:ln>
        </p:spPr>
      </p:sp>
      <p:sp>
        <p:nvSpPr>
          <p:cNvPr id="37" name="Text 29"/>
          <p:cNvSpPr txBox="1"/>
          <p:nvPr/>
        </p:nvSpPr>
        <p:spPr>
          <a:xfrm>
            <a:off x="2656332" y="6537960"/>
            <a:ext cx="1197864"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Scenario 2</a:t>
            </a:r>
            <a:endParaRPr lang="en-US" sz="1200" dirty="0"/>
          </a:p>
        </p:txBody>
      </p:sp>
      <p:pic>
        <p:nvPicPr>
          <p:cNvPr id="38" name="Image 6" descr="preencoded.png">
            <a:hlinkClick r:id="rId10" tooltip="Go to Scenario 2" action="ppaction://hlinksldjump"/>
          </p:cNvPr>
          <p:cNvPicPr>
            <a:picLocks noChangeAspect="1"/>
          </p:cNvPicPr>
          <p:nvPr/>
        </p:nvPicPr>
        <p:blipFill>
          <a:blip r:embed="rId9"/>
          <a:stretch>
            <a:fillRect/>
          </a:stretch>
        </p:blipFill>
        <p:spPr>
          <a:xfrm>
            <a:off x="2656332" y="6537960"/>
            <a:ext cx="1197864" cy="274320"/>
          </a:xfrm>
          <a:prstGeom prst="rect">
            <a:avLst/>
          </a:prstGeom>
        </p:spPr>
      </p:pic>
      <p:sp>
        <p:nvSpPr>
          <p:cNvPr id="39" name="Shape 30"/>
          <p:cNvSpPr/>
          <p:nvPr/>
        </p:nvSpPr>
        <p:spPr>
          <a:xfrm>
            <a:off x="3927348" y="6537960"/>
            <a:ext cx="1197864" cy="274320"/>
          </a:xfrm>
          <a:prstGeom prst="roundRect">
            <a:avLst>
              <a:gd name="adj" fmla="val 50000"/>
            </a:avLst>
          </a:prstGeom>
          <a:solidFill>
            <a:srgbClr val="F6F3FA"/>
          </a:solidFill>
          <a:ln w="12700">
            <a:solidFill>
              <a:srgbClr val="F6F3FA"/>
            </a:solidFill>
            <a:prstDash val="solid"/>
          </a:ln>
        </p:spPr>
      </p:sp>
      <p:sp>
        <p:nvSpPr>
          <p:cNvPr id="40" name="Text 31"/>
          <p:cNvSpPr txBox="1"/>
          <p:nvPr/>
        </p:nvSpPr>
        <p:spPr>
          <a:xfrm>
            <a:off x="3927348" y="6537960"/>
            <a:ext cx="1197864" cy="274320"/>
          </a:xfrm>
          <a:prstGeom prst="rect">
            <a:avLst/>
          </a:prstGeom>
          <a:noFill/>
          <a:ln/>
        </p:spPr>
        <p:txBody>
          <a:bodyPr wrap="square" lIns="0" tIns="0" rIns="0" bIns="0" rtlCol="0" anchor="ctr"/>
          <a:lstStyle/>
          <a:p>
            <a:pPr algn="ctr" indent="0" marL="0">
              <a:buNone/>
            </a:pPr>
            <a:r>
              <a:rPr lang="en-US" sz="1200" b="1" dirty="0">
                <a:solidFill>
                  <a:srgbClr val="6E5E94"/>
                </a:solidFill>
                <a:latin typeface="Calibri" pitchFamily="34" charset="0"/>
                <a:ea typeface="Calibri" pitchFamily="34" charset="-122"/>
                <a:cs typeface="Calibri" pitchFamily="34" charset="-120"/>
              </a:rPr>
              <a:t>Scenario 3</a:t>
            </a:r>
            <a:endParaRPr lang="en-US" sz="1200" dirty="0"/>
          </a:p>
        </p:txBody>
      </p:sp>
      <p:pic>
        <p:nvPicPr>
          <p:cNvPr id="41" name="Image 7" descr="preencoded.png">
            <a:hlinkClick r:id="rId12" tooltip="Go to Scenario 3" action="ppaction://hlinksldjump"/>
          </p:cNvPr>
          <p:cNvPicPr>
            <a:picLocks noChangeAspect="1"/>
          </p:cNvPicPr>
          <p:nvPr/>
        </p:nvPicPr>
        <p:blipFill>
          <a:blip r:embed="rId11"/>
          <a:stretch>
            <a:fillRect/>
          </a:stretch>
        </p:blipFill>
        <p:spPr>
          <a:xfrm>
            <a:off x="3927348" y="6537960"/>
            <a:ext cx="1197864" cy="274320"/>
          </a:xfrm>
          <a:prstGeom prst="rect">
            <a:avLst/>
          </a:prstGeom>
        </p:spPr>
      </p:pic>
      <p:sp>
        <p:nvSpPr>
          <p:cNvPr id="42" name="Shape 32"/>
          <p:cNvSpPr/>
          <p:nvPr/>
        </p:nvSpPr>
        <p:spPr>
          <a:xfrm>
            <a:off x="5198364" y="6537960"/>
            <a:ext cx="937260" cy="274320"/>
          </a:xfrm>
          <a:prstGeom prst="roundRect">
            <a:avLst>
              <a:gd name="adj" fmla="val 50000"/>
            </a:avLst>
          </a:prstGeom>
          <a:solidFill>
            <a:srgbClr val="E4ECF2"/>
          </a:solidFill>
          <a:ln w="12700">
            <a:solidFill>
              <a:srgbClr val="E4ECF2"/>
            </a:solidFill>
            <a:prstDash val="solid"/>
          </a:ln>
        </p:spPr>
      </p:sp>
      <p:sp>
        <p:nvSpPr>
          <p:cNvPr id="43" name="Text 33"/>
          <p:cNvSpPr txBox="1"/>
          <p:nvPr/>
        </p:nvSpPr>
        <p:spPr>
          <a:xfrm>
            <a:off x="5198364" y="6537960"/>
            <a:ext cx="937260" cy="274320"/>
          </a:xfrm>
          <a:prstGeom prst="rect">
            <a:avLst/>
          </a:prstGeom>
          <a:noFill/>
          <a:ln/>
        </p:spPr>
        <p:txBody>
          <a:bodyPr wrap="square" lIns="0" tIns="0" rIns="0" bIns="0" rtlCol="0" anchor="ctr"/>
          <a:lstStyle/>
          <a:p>
            <a:pPr algn="ctr" indent="0" marL="0">
              <a:buNone/>
            </a:pPr>
            <a:r>
              <a:rPr lang="en-US" sz="1200" b="1" dirty="0">
                <a:solidFill>
                  <a:srgbClr val="23405A"/>
                </a:solidFill>
                <a:latin typeface="Calibri" pitchFamily="34" charset="0"/>
                <a:ea typeface="Calibri" pitchFamily="34" charset="-122"/>
                <a:cs typeface="Calibri" pitchFamily="34" charset="-120"/>
              </a:rPr>
              <a:t>Closing</a:t>
            </a:r>
            <a:endParaRPr lang="en-US" sz="1200" dirty="0"/>
          </a:p>
        </p:txBody>
      </p:sp>
      <p:pic>
        <p:nvPicPr>
          <p:cNvPr id="44" name="Image 8" descr="preencoded.png">
            <a:hlinkClick r:id="rId14" tooltip="Go to Closing" action="ppaction://hlinksldjump"/>
          </p:cNvPr>
          <p:cNvPicPr>
            <a:picLocks noChangeAspect="1"/>
          </p:cNvPicPr>
          <p:nvPr/>
        </p:nvPicPr>
        <p:blipFill>
          <a:blip r:embed="rId13"/>
          <a:stretch>
            <a:fillRect/>
          </a:stretch>
        </p:blipFill>
        <p:spPr>
          <a:xfrm>
            <a:off x="5198364" y="6537960"/>
            <a:ext cx="937260" cy="274320"/>
          </a:xfrm>
          <a:prstGeom prst="rect">
            <a:avLst/>
          </a:prstGeom>
        </p:spPr>
      </p:pic>
      <p:sp>
        <p:nvSpPr>
          <p:cNvPr id="45" name="Text 34"/>
          <p:cNvSpPr txBox="1"/>
          <p:nvPr/>
        </p:nvSpPr>
        <p:spPr>
          <a:xfrm>
            <a:off x="11277295" y="6537960"/>
            <a:ext cx="365760" cy="274320"/>
          </a:xfrm>
          <a:prstGeom prst="rect">
            <a:avLst/>
          </a:prstGeom>
          <a:noFill/>
          <a:ln/>
        </p:spPr>
        <p:txBody>
          <a:bodyPr wrap="square" lIns="0" tIns="0" rIns="0" bIns="0" rtlCol="0" anchor="ctr"/>
          <a:lstStyle/>
          <a:p>
            <a:pPr algn="r" indent="0" marL="0">
              <a:buNone/>
            </a:pPr>
            <a:r>
              <a:rPr lang="en-US" sz="1200" dirty="0">
                <a:solidFill>
                  <a:srgbClr val="465A69"/>
                </a:solidFill>
                <a:latin typeface="Calibri" pitchFamily="34" charset="0"/>
                <a:ea typeface="Calibri" pitchFamily="34" charset="-122"/>
                <a:cs typeface="Calibri" pitchFamily="34" charset="-120"/>
              </a:rPr>
              <a:t>35</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E6F2E9"/>
        </a:solidFill>
      </p:bgPr>
    </p:bg>
    <p:spTree>
      <p:nvGrpSpPr>
        <p:cNvPr id="1" name=""/>
        <p:cNvGrpSpPr/>
        <p:nvPr/>
      </p:nvGrpSpPr>
      <p:grpSpPr>
        <a:xfrm>
          <a:off x="0" y="0"/>
          <a:ext cx="0" cy="0"/>
          <a:chOff x="0" y="0"/>
          <a:chExt cx="0" cy="0"/>
        </a:xfrm>
      </p:grpSpPr>
      <p:sp>
        <p:nvSpPr>
          <p:cNvPr id="2" name="Shape 0"/>
          <p:cNvSpPr/>
          <p:nvPr/>
        </p:nvSpPr>
        <p:spPr>
          <a:xfrm>
            <a:off x="548640" y="347472"/>
            <a:ext cx="2843784" cy="329184"/>
          </a:xfrm>
          <a:prstGeom prst="roundRect">
            <a:avLst>
              <a:gd name="adj" fmla="val 50000"/>
            </a:avLst>
          </a:prstGeom>
          <a:solidFill>
            <a:srgbClr val="F1F8F3"/>
          </a:solidFill>
          <a:ln w="12700">
            <a:solidFill>
              <a:srgbClr val="F1F8F3"/>
            </a:solidFill>
            <a:prstDash val="solid"/>
          </a:ln>
        </p:spPr>
      </p:sp>
      <p:sp>
        <p:nvSpPr>
          <p:cNvPr id="3" name="Text 1"/>
          <p:cNvSpPr txBox="1"/>
          <p:nvPr/>
        </p:nvSpPr>
        <p:spPr>
          <a:xfrm>
            <a:off x="548640" y="347472"/>
            <a:ext cx="2843784" cy="329184"/>
          </a:xfrm>
          <a:prstGeom prst="rect">
            <a:avLst/>
          </a:prstGeom>
          <a:noFill/>
          <a:ln/>
        </p:spPr>
        <p:txBody>
          <a:bodyPr wrap="square" lIns="0" tIns="0" rIns="0" bIns="0" rtlCol="0" anchor="ctr"/>
          <a:lstStyle/>
          <a:p>
            <a:pPr algn="ctr" indent="0" marL="0">
              <a:buNone/>
            </a:pPr>
            <a:r>
              <a:rPr lang="en-US" sz="1200" b="1" dirty="0">
                <a:solidFill>
                  <a:srgbClr val="4C8068"/>
                </a:solidFill>
                <a:latin typeface="Calibri" pitchFamily="34" charset="0"/>
                <a:ea typeface="Calibri" pitchFamily="34" charset="-122"/>
                <a:cs typeface="Calibri" pitchFamily="34" charset="-120"/>
              </a:rPr>
              <a:t>Scenario 2 recap, part 3 of 4</a:t>
            </a:r>
            <a:endParaRPr lang="en-US" sz="1200" dirty="0"/>
          </a:p>
        </p:txBody>
      </p:sp>
      <p:sp>
        <p:nvSpPr>
          <p:cNvPr id="4" name="Text 2"/>
          <p:cNvSpPr txBox="1"/>
          <p:nvPr/>
        </p:nvSpPr>
        <p:spPr>
          <a:xfrm>
            <a:off x="548640" y="749808"/>
            <a:ext cx="11064240" cy="548640"/>
          </a:xfrm>
          <a:prstGeom prst="rect">
            <a:avLst/>
          </a:prstGeom>
          <a:noFill/>
          <a:ln/>
        </p:spPr>
        <p:txBody>
          <a:bodyPr wrap="square" lIns="0" tIns="0" rIns="0" bIns="0" rtlCol="0" anchor="ctr"/>
          <a:lstStyle/>
          <a:p>
            <a:pPr indent="0" marL="0">
              <a:buNone/>
            </a:pPr>
            <a:r>
              <a:rPr lang="en-US" sz="2400" b="1" dirty="0">
                <a:solidFill>
                  <a:srgbClr val="1B2A4A"/>
                </a:solidFill>
                <a:latin typeface="Cambria" pitchFamily="34" charset="0"/>
                <a:ea typeface="Cambria" pitchFamily="34" charset="-122"/>
                <a:cs typeface="Cambria" pitchFamily="34" charset="-120"/>
              </a:rPr>
              <a:t>Key questions at each stage</a:t>
            </a:r>
            <a:endParaRPr lang="en-US" sz="2400" dirty="0"/>
          </a:p>
        </p:txBody>
      </p:sp>
      <p:sp>
        <p:nvSpPr>
          <p:cNvPr id="5" name="Shape 3"/>
          <p:cNvSpPr/>
          <p:nvPr/>
        </p:nvSpPr>
        <p:spPr>
          <a:xfrm>
            <a:off x="548640" y="1508760"/>
            <a:ext cx="2567178" cy="3931920"/>
          </a:xfrm>
          <a:prstGeom prst="roundRect">
            <a:avLst>
              <a:gd name="adj" fmla="val 4987"/>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6" name="Shape 4"/>
          <p:cNvSpPr/>
          <p:nvPr/>
        </p:nvSpPr>
        <p:spPr>
          <a:xfrm>
            <a:off x="548640" y="1508760"/>
            <a:ext cx="2567178" cy="914400"/>
          </a:xfrm>
          <a:prstGeom prst="roundRect">
            <a:avLst>
              <a:gd name="adj" fmla="val 14000"/>
            </a:avLst>
          </a:prstGeom>
          <a:solidFill>
            <a:srgbClr val="ECE8F4"/>
          </a:solidFill>
          <a:ln w="12700">
            <a:solidFill>
              <a:srgbClr val="ECE8F4"/>
            </a:solidFill>
            <a:prstDash val="solid"/>
          </a:ln>
        </p:spPr>
      </p:sp>
      <p:sp>
        <p:nvSpPr>
          <p:cNvPr id="7" name="Shape 5"/>
          <p:cNvSpPr/>
          <p:nvPr/>
        </p:nvSpPr>
        <p:spPr>
          <a:xfrm>
            <a:off x="731520" y="1737360"/>
            <a:ext cx="457200" cy="457200"/>
          </a:xfrm>
          <a:prstGeom prst="ellipse">
            <a:avLst/>
          </a:prstGeom>
          <a:solidFill>
            <a:srgbClr val="8F86B8"/>
          </a:solidFill>
          <a:ln w="12700">
            <a:solidFill>
              <a:srgbClr val="8F86B8"/>
            </a:solidFill>
            <a:prstDash val="solid"/>
          </a:ln>
        </p:spPr>
      </p:sp>
      <p:pic>
        <p:nvPicPr>
          <p:cNvPr id="8" name="Image 0" descr="preencoded.png">    </p:cNvPr>
          <p:cNvPicPr>
            <a:picLocks noChangeAspect="1"/>
          </p:cNvPicPr>
          <p:nvPr/>
        </p:nvPicPr>
        <p:blipFill>
          <a:blip r:embed="rId1"/>
          <a:stretch>
            <a:fillRect/>
          </a:stretch>
        </p:blipFill>
        <p:spPr>
          <a:xfrm>
            <a:off x="850392" y="1856232"/>
            <a:ext cx="219456" cy="219456"/>
          </a:xfrm>
          <a:prstGeom prst="rect">
            <a:avLst/>
          </a:prstGeom>
        </p:spPr>
      </p:pic>
      <p:sp>
        <p:nvSpPr>
          <p:cNvPr id="9" name="Text 6"/>
          <p:cNvSpPr txBox="1"/>
          <p:nvPr/>
        </p:nvSpPr>
        <p:spPr>
          <a:xfrm>
            <a:off x="1325880" y="1600200"/>
            <a:ext cx="1698498" cy="749808"/>
          </a:xfrm>
          <a:prstGeom prst="rect">
            <a:avLst/>
          </a:prstGeom>
          <a:noFill/>
          <a:ln/>
        </p:spPr>
        <p:txBody>
          <a:bodyPr wrap="square" lIns="0" tIns="0" rIns="0" bIns="0" rtlCol="0" anchor="ctr"/>
          <a:lstStyle/>
          <a:p>
            <a:pPr indent="0" marL="0">
              <a:buNone/>
            </a:pPr>
            <a:r>
              <a:rPr lang="en-US" sz="1500" b="1" dirty="0">
                <a:solidFill>
                  <a:srgbClr val="1B2A4A"/>
                </a:solidFill>
                <a:latin typeface="Calibri" pitchFamily="34" charset="0"/>
                <a:ea typeface="Calibri" pitchFamily="34" charset="-122"/>
                <a:cs typeface="Calibri" pitchFamily="34" charset="-120"/>
              </a:rPr>
              <a:t>T+12h</a:t>
            </a:r>
            <a:endParaRPr lang="en-US" sz="1500" dirty="0"/>
          </a:p>
          <a:p>
            <a:pPr indent="0" marL="0">
              <a:buNone/>
            </a:pPr>
            <a:r>
              <a:rPr lang="en-US" sz="1250" b="1" dirty="0">
                <a:solidFill>
                  <a:srgbClr val="1B2A4A"/>
                </a:solidFill>
                <a:latin typeface="Calibri" pitchFamily="34" charset="0"/>
                <a:ea typeface="Calibri" pitchFamily="34" charset="-122"/>
                <a:cs typeface="Calibri" pitchFamily="34" charset="-120"/>
              </a:rPr>
              <a:t>Extended Outage</a:t>
            </a:r>
            <a:endParaRPr lang="en-US" sz="1500" dirty="0"/>
          </a:p>
        </p:txBody>
      </p:sp>
      <p:sp>
        <p:nvSpPr>
          <p:cNvPr id="10" name="Text 7"/>
          <p:cNvSpPr txBox="1"/>
          <p:nvPr/>
        </p:nvSpPr>
        <p:spPr>
          <a:xfrm>
            <a:off x="777240" y="2651760"/>
            <a:ext cx="2155698" cy="3154680"/>
          </a:xfrm>
          <a:prstGeom prst="rect">
            <a:avLst/>
          </a:prstGeom>
          <a:noFill/>
          <a:ln/>
        </p:spPr>
        <p:txBody>
          <a:bodyPr wrap="square" lIns="0" tIns="0" rIns="0" bIns="0" rtlCol="0" anchor="t"/>
          <a:lstStyle/>
          <a:p>
            <a:pPr marL="165100" indent="-165100">
              <a:spcAft>
                <a:spcPts val="1000"/>
              </a:spcAft>
              <a:buSzPct val="100000"/>
              <a:buChar char="•"/>
            </a:pPr>
            <a:r>
              <a:rPr lang="en-US" sz="1400" dirty="0">
                <a:solidFill>
                  <a:srgbClr val="1E2E3A"/>
                </a:solidFill>
                <a:latin typeface="Calibri" pitchFamily="34" charset="0"/>
                <a:ea typeface="Calibri" pitchFamily="34" charset="-122"/>
                <a:cs typeface="Calibri" pitchFamily="34" charset="-120"/>
              </a:rPr>
              <a:t>How long can we operate in degraded mode?</a:t>
            </a:r>
            <a:endParaRPr lang="en-US" sz="1400" dirty="0"/>
          </a:p>
          <a:p>
            <a:pPr marL="165100" indent="-165100">
              <a:spcAft>
                <a:spcPts val="1000"/>
              </a:spcAft>
              <a:buSzPct val="100000"/>
              <a:buChar char="•"/>
            </a:pPr>
            <a:r>
              <a:rPr lang="en-US" sz="1400" dirty="0">
                <a:solidFill>
                  <a:srgbClr val="1E2E3A"/>
                </a:solidFill>
                <a:latin typeface="Calibri" pitchFamily="34" charset="0"/>
                <a:ea typeface="Calibri" pitchFamily="34" charset="-122"/>
                <a:cs typeface="Calibri" pitchFamily="34" charset="-120"/>
              </a:rPr>
              <a:t>What additional workarounds are needed?</a:t>
            </a:r>
            <a:endParaRPr lang="en-US" sz="1400" dirty="0"/>
          </a:p>
          <a:p>
            <a:pPr marL="165100" indent="-165100">
              <a:spcAft>
                <a:spcPts val="1000"/>
              </a:spcAft>
              <a:buSzPct val="100000"/>
              <a:buChar char="•"/>
            </a:pPr>
            <a:r>
              <a:rPr lang="en-US" sz="1400" dirty="0">
                <a:solidFill>
                  <a:srgbClr val="1E2E3A"/>
                </a:solidFill>
                <a:latin typeface="Calibri" pitchFamily="34" charset="0"/>
                <a:ea typeface="Calibri" pitchFamily="34" charset="-122"/>
                <a:cs typeface="Calibri" pitchFamily="34" charset="-120"/>
              </a:rPr>
              <a:t>Do we need to invoke DR for dependent systems?</a:t>
            </a:r>
            <a:endParaRPr lang="en-US" sz="1400" dirty="0"/>
          </a:p>
        </p:txBody>
      </p:sp>
      <p:sp>
        <p:nvSpPr>
          <p:cNvPr id="11" name="Shape 8"/>
          <p:cNvSpPr/>
          <p:nvPr/>
        </p:nvSpPr>
        <p:spPr>
          <a:xfrm>
            <a:off x="3390138" y="1508760"/>
            <a:ext cx="2567178" cy="3931920"/>
          </a:xfrm>
          <a:prstGeom prst="roundRect">
            <a:avLst>
              <a:gd name="adj" fmla="val 4987"/>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12" name="Shape 9"/>
          <p:cNvSpPr/>
          <p:nvPr/>
        </p:nvSpPr>
        <p:spPr>
          <a:xfrm>
            <a:off x="3390138" y="1508760"/>
            <a:ext cx="2567178" cy="914400"/>
          </a:xfrm>
          <a:prstGeom prst="roundRect">
            <a:avLst>
              <a:gd name="adj" fmla="val 14000"/>
            </a:avLst>
          </a:prstGeom>
          <a:solidFill>
            <a:srgbClr val="E3F0E6"/>
          </a:solidFill>
          <a:ln w="12700">
            <a:solidFill>
              <a:srgbClr val="E3F0E6"/>
            </a:solidFill>
            <a:prstDash val="solid"/>
          </a:ln>
        </p:spPr>
      </p:sp>
      <p:sp>
        <p:nvSpPr>
          <p:cNvPr id="13" name="Shape 10"/>
          <p:cNvSpPr/>
          <p:nvPr/>
        </p:nvSpPr>
        <p:spPr>
          <a:xfrm>
            <a:off x="3573018" y="1737360"/>
            <a:ext cx="457200" cy="457200"/>
          </a:xfrm>
          <a:prstGeom prst="ellipse">
            <a:avLst/>
          </a:prstGeom>
          <a:solidFill>
            <a:srgbClr val="7BA689"/>
          </a:solidFill>
          <a:ln w="12700">
            <a:solidFill>
              <a:srgbClr val="7BA689"/>
            </a:solidFill>
            <a:prstDash val="solid"/>
          </a:ln>
        </p:spPr>
      </p:sp>
      <p:pic>
        <p:nvPicPr>
          <p:cNvPr id="14" name="Image 1" descr="preencoded.png">    </p:cNvPr>
          <p:cNvPicPr>
            <a:picLocks noChangeAspect="1"/>
          </p:cNvPicPr>
          <p:nvPr/>
        </p:nvPicPr>
        <p:blipFill>
          <a:blip r:embed="rId2"/>
          <a:stretch>
            <a:fillRect/>
          </a:stretch>
        </p:blipFill>
        <p:spPr>
          <a:xfrm>
            <a:off x="3691890" y="1856232"/>
            <a:ext cx="219456" cy="219456"/>
          </a:xfrm>
          <a:prstGeom prst="rect">
            <a:avLst/>
          </a:prstGeom>
        </p:spPr>
      </p:pic>
      <p:sp>
        <p:nvSpPr>
          <p:cNvPr id="15" name="Text 11"/>
          <p:cNvSpPr txBox="1"/>
          <p:nvPr/>
        </p:nvSpPr>
        <p:spPr>
          <a:xfrm>
            <a:off x="4167378" y="1600200"/>
            <a:ext cx="1698498" cy="749808"/>
          </a:xfrm>
          <a:prstGeom prst="rect">
            <a:avLst/>
          </a:prstGeom>
          <a:noFill/>
          <a:ln/>
        </p:spPr>
        <p:txBody>
          <a:bodyPr wrap="square" lIns="0" tIns="0" rIns="0" bIns="0" rtlCol="0" anchor="ctr"/>
          <a:lstStyle/>
          <a:p>
            <a:pPr indent="0" marL="0">
              <a:buNone/>
            </a:pPr>
            <a:r>
              <a:rPr lang="en-US" sz="1500" b="1" dirty="0">
                <a:solidFill>
                  <a:srgbClr val="1B2A4A"/>
                </a:solidFill>
                <a:latin typeface="Calibri" pitchFamily="34" charset="0"/>
                <a:ea typeface="Calibri" pitchFamily="34" charset="-122"/>
                <a:cs typeface="Calibri" pitchFamily="34" charset="-120"/>
              </a:rPr>
              <a:t>T+24h</a:t>
            </a:r>
            <a:endParaRPr lang="en-US" sz="1500" dirty="0"/>
          </a:p>
          <a:p>
            <a:pPr indent="0" marL="0">
              <a:buNone/>
            </a:pPr>
            <a:r>
              <a:rPr lang="en-US" sz="1250" b="1" dirty="0">
                <a:solidFill>
                  <a:srgbClr val="1B2A4A"/>
                </a:solidFill>
                <a:latin typeface="Calibri" pitchFamily="34" charset="0"/>
                <a:ea typeface="Calibri" pitchFamily="34" charset="-122"/>
                <a:cs typeface="Calibri" pitchFamily="34" charset="-120"/>
              </a:rPr>
              <a:t>Activate DR/BC</a:t>
            </a:r>
            <a:endParaRPr lang="en-US" sz="1500" dirty="0"/>
          </a:p>
        </p:txBody>
      </p:sp>
      <p:sp>
        <p:nvSpPr>
          <p:cNvPr id="16" name="Text 12"/>
          <p:cNvSpPr txBox="1"/>
          <p:nvPr/>
        </p:nvSpPr>
        <p:spPr>
          <a:xfrm>
            <a:off x="3618738" y="2651760"/>
            <a:ext cx="2155698" cy="3154680"/>
          </a:xfrm>
          <a:prstGeom prst="rect">
            <a:avLst/>
          </a:prstGeom>
          <a:noFill/>
          <a:ln/>
        </p:spPr>
        <p:txBody>
          <a:bodyPr wrap="square" lIns="0" tIns="0" rIns="0" bIns="0" rtlCol="0" anchor="t"/>
          <a:lstStyle/>
          <a:p>
            <a:pPr marL="165100" indent="-165100">
              <a:spcAft>
                <a:spcPts val="1000"/>
              </a:spcAft>
              <a:buSzPct val="100000"/>
              <a:buChar char="•"/>
            </a:pPr>
            <a:r>
              <a:rPr lang="en-US" sz="1400" dirty="0">
                <a:solidFill>
                  <a:srgbClr val="1E2E3A"/>
                </a:solidFill>
                <a:latin typeface="Calibri" pitchFamily="34" charset="0"/>
                <a:ea typeface="Calibri" pitchFamily="34" charset="-122"/>
                <a:cs typeface="Calibri" pitchFamily="34" charset="-120"/>
              </a:rPr>
              <a:t>Are alternate tools and processes effective?</a:t>
            </a:r>
            <a:endParaRPr lang="en-US" sz="1400" dirty="0"/>
          </a:p>
          <a:p>
            <a:pPr marL="165100" indent="-165100">
              <a:spcAft>
                <a:spcPts val="1000"/>
              </a:spcAft>
              <a:buSzPct val="100000"/>
              <a:buChar char="•"/>
            </a:pPr>
            <a:r>
              <a:rPr lang="en-US" sz="1400" dirty="0">
                <a:solidFill>
                  <a:srgbClr val="1E2E3A"/>
                </a:solidFill>
                <a:latin typeface="Calibri" pitchFamily="34" charset="0"/>
                <a:ea typeface="Calibri" pitchFamily="34" charset="-122"/>
                <a:cs typeface="Calibri" pitchFamily="34" charset="-120"/>
              </a:rPr>
              <a:t>What manual processes are required?</a:t>
            </a:r>
            <a:endParaRPr lang="en-US" sz="1400" dirty="0"/>
          </a:p>
          <a:p>
            <a:pPr marL="165100" indent="-165100">
              <a:spcAft>
                <a:spcPts val="1000"/>
              </a:spcAft>
              <a:buSzPct val="100000"/>
              <a:buChar char="•"/>
            </a:pPr>
            <a:r>
              <a:rPr lang="en-US" sz="1400" dirty="0">
                <a:solidFill>
                  <a:srgbClr val="1E2E3A"/>
                </a:solidFill>
                <a:latin typeface="Calibri" pitchFamily="34" charset="0"/>
                <a:ea typeface="Calibri" pitchFamily="34" charset="-122"/>
                <a:cs typeface="Calibri" pitchFamily="34" charset="-120"/>
              </a:rPr>
              <a:t>How do we support employees and partners?</a:t>
            </a:r>
            <a:endParaRPr lang="en-US" sz="1400" dirty="0"/>
          </a:p>
          <a:p>
            <a:pPr marL="165100" indent="-165100">
              <a:spcAft>
                <a:spcPts val="1000"/>
              </a:spcAft>
              <a:buSzPct val="100000"/>
              <a:buChar char="•"/>
            </a:pPr>
            <a:r>
              <a:rPr lang="en-US" sz="1400" dirty="0">
                <a:solidFill>
                  <a:srgbClr val="1E2E3A"/>
                </a:solidFill>
                <a:latin typeface="Calibri" pitchFamily="34" charset="0"/>
                <a:ea typeface="Calibri" pitchFamily="34" charset="-122"/>
                <a:cs typeface="Calibri" pitchFamily="34" charset="-120"/>
              </a:rPr>
              <a:t>What additional risks are emerging?</a:t>
            </a:r>
            <a:endParaRPr lang="en-US" sz="1400" dirty="0"/>
          </a:p>
        </p:txBody>
      </p:sp>
      <p:sp>
        <p:nvSpPr>
          <p:cNvPr id="17" name="Shape 13"/>
          <p:cNvSpPr/>
          <p:nvPr/>
        </p:nvSpPr>
        <p:spPr>
          <a:xfrm>
            <a:off x="6231636" y="1508760"/>
            <a:ext cx="2567178" cy="3931920"/>
          </a:xfrm>
          <a:prstGeom prst="roundRect">
            <a:avLst>
              <a:gd name="adj" fmla="val 4987"/>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18" name="Shape 14"/>
          <p:cNvSpPr/>
          <p:nvPr/>
        </p:nvSpPr>
        <p:spPr>
          <a:xfrm>
            <a:off x="6231636" y="1508760"/>
            <a:ext cx="2567178" cy="914400"/>
          </a:xfrm>
          <a:prstGeom prst="roundRect">
            <a:avLst>
              <a:gd name="adj" fmla="val 14000"/>
            </a:avLst>
          </a:prstGeom>
          <a:solidFill>
            <a:srgbClr val="E2EBF5"/>
          </a:solidFill>
          <a:ln w="12700">
            <a:solidFill>
              <a:srgbClr val="E2EBF5"/>
            </a:solidFill>
            <a:prstDash val="solid"/>
          </a:ln>
        </p:spPr>
      </p:sp>
      <p:sp>
        <p:nvSpPr>
          <p:cNvPr id="19" name="Shape 15"/>
          <p:cNvSpPr/>
          <p:nvPr/>
        </p:nvSpPr>
        <p:spPr>
          <a:xfrm>
            <a:off x="6414516" y="1737360"/>
            <a:ext cx="457200" cy="457200"/>
          </a:xfrm>
          <a:prstGeom prst="ellipse">
            <a:avLst/>
          </a:prstGeom>
          <a:solidFill>
            <a:srgbClr val="7C9CC0"/>
          </a:solidFill>
          <a:ln w="12700">
            <a:solidFill>
              <a:srgbClr val="7C9CC0"/>
            </a:solidFill>
            <a:prstDash val="solid"/>
          </a:ln>
        </p:spPr>
      </p:sp>
      <p:pic>
        <p:nvPicPr>
          <p:cNvPr id="20" name="Image 2" descr="preencoded.png">    </p:cNvPr>
          <p:cNvPicPr>
            <a:picLocks noChangeAspect="1"/>
          </p:cNvPicPr>
          <p:nvPr/>
        </p:nvPicPr>
        <p:blipFill>
          <a:blip r:embed="rId3"/>
          <a:stretch>
            <a:fillRect/>
          </a:stretch>
        </p:blipFill>
        <p:spPr>
          <a:xfrm>
            <a:off x="6533388" y="1856232"/>
            <a:ext cx="219456" cy="219456"/>
          </a:xfrm>
          <a:prstGeom prst="rect">
            <a:avLst/>
          </a:prstGeom>
        </p:spPr>
      </p:pic>
      <p:sp>
        <p:nvSpPr>
          <p:cNvPr id="21" name="Text 16"/>
          <p:cNvSpPr txBox="1"/>
          <p:nvPr/>
        </p:nvSpPr>
        <p:spPr>
          <a:xfrm>
            <a:off x="7008876" y="1600200"/>
            <a:ext cx="1698498" cy="749808"/>
          </a:xfrm>
          <a:prstGeom prst="rect">
            <a:avLst/>
          </a:prstGeom>
          <a:noFill/>
          <a:ln/>
        </p:spPr>
        <p:txBody>
          <a:bodyPr wrap="square" lIns="0" tIns="0" rIns="0" bIns="0" rtlCol="0" anchor="ctr"/>
          <a:lstStyle/>
          <a:p>
            <a:pPr indent="0" marL="0">
              <a:buNone/>
            </a:pPr>
            <a:r>
              <a:rPr lang="en-US" sz="1500" b="1" dirty="0">
                <a:solidFill>
                  <a:srgbClr val="1B2A4A"/>
                </a:solidFill>
                <a:latin typeface="Calibri" pitchFamily="34" charset="0"/>
                <a:ea typeface="Calibri" pitchFamily="34" charset="-122"/>
                <a:cs typeface="Calibri" pitchFamily="34" charset="-120"/>
              </a:rPr>
              <a:t>T+48 to 72h</a:t>
            </a:r>
            <a:endParaRPr lang="en-US" sz="1500" dirty="0"/>
          </a:p>
          <a:p>
            <a:pPr indent="0" marL="0">
              <a:buNone/>
            </a:pPr>
            <a:r>
              <a:rPr lang="en-US" sz="1250" b="1" dirty="0">
                <a:solidFill>
                  <a:srgbClr val="1B2A4A"/>
                </a:solidFill>
                <a:latin typeface="Calibri" pitchFamily="34" charset="0"/>
                <a:ea typeface="Calibri" pitchFamily="34" charset="-122"/>
                <a:cs typeface="Calibri" pitchFamily="34" charset="-120"/>
              </a:rPr>
              <a:t>Continued Disruption</a:t>
            </a:r>
            <a:endParaRPr lang="en-US" sz="1500" dirty="0"/>
          </a:p>
        </p:txBody>
      </p:sp>
      <p:sp>
        <p:nvSpPr>
          <p:cNvPr id="22" name="Text 17"/>
          <p:cNvSpPr txBox="1"/>
          <p:nvPr/>
        </p:nvSpPr>
        <p:spPr>
          <a:xfrm>
            <a:off x="6460236" y="2651760"/>
            <a:ext cx="2155698" cy="3154680"/>
          </a:xfrm>
          <a:prstGeom prst="rect">
            <a:avLst/>
          </a:prstGeom>
          <a:noFill/>
          <a:ln/>
        </p:spPr>
        <p:txBody>
          <a:bodyPr wrap="square" lIns="0" tIns="0" rIns="0" bIns="0" rtlCol="0" anchor="t"/>
          <a:lstStyle/>
          <a:p>
            <a:pPr marL="165100" indent="-165100">
              <a:spcAft>
                <a:spcPts val="1000"/>
              </a:spcAft>
              <a:buSzPct val="100000"/>
              <a:buChar char="•"/>
            </a:pPr>
            <a:r>
              <a:rPr lang="en-US" sz="1400" dirty="0">
                <a:solidFill>
                  <a:srgbClr val="1E2E3A"/>
                </a:solidFill>
                <a:latin typeface="Calibri" pitchFamily="34" charset="0"/>
                <a:ea typeface="Calibri" pitchFamily="34" charset="-122"/>
                <a:cs typeface="Calibri" pitchFamily="34" charset="-120"/>
              </a:rPr>
              <a:t>How do we manage sustained disruption?</a:t>
            </a:r>
            <a:endParaRPr lang="en-US" sz="1400" dirty="0"/>
          </a:p>
          <a:p>
            <a:pPr marL="165100" indent="-165100">
              <a:spcAft>
                <a:spcPts val="1000"/>
              </a:spcAft>
              <a:buSzPct val="100000"/>
              <a:buChar char="•"/>
            </a:pPr>
            <a:r>
              <a:rPr lang="en-US" sz="1400" dirty="0">
                <a:solidFill>
                  <a:srgbClr val="1E2E3A"/>
                </a:solidFill>
                <a:latin typeface="Calibri" pitchFamily="34" charset="0"/>
                <a:ea typeface="Calibri" pitchFamily="34" charset="-122"/>
                <a:cs typeface="Calibri" pitchFamily="34" charset="-120"/>
              </a:rPr>
              <a:t>What is the impact on customers and regulators?</a:t>
            </a:r>
            <a:endParaRPr lang="en-US" sz="1400" dirty="0"/>
          </a:p>
          <a:p>
            <a:pPr marL="165100" indent="-165100">
              <a:spcAft>
                <a:spcPts val="1000"/>
              </a:spcAft>
              <a:buSzPct val="100000"/>
              <a:buChar char="•"/>
            </a:pPr>
            <a:r>
              <a:rPr lang="en-US" sz="1400" dirty="0">
                <a:solidFill>
                  <a:srgbClr val="1E2E3A"/>
                </a:solidFill>
                <a:latin typeface="Calibri" pitchFamily="34" charset="0"/>
                <a:ea typeface="Calibri" pitchFamily="34" charset="-122"/>
                <a:cs typeface="Calibri" pitchFamily="34" charset="-120"/>
              </a:rPr>
              <a:t>Do we need to adjust priorities (e.g., delay non-critical activities)?</a:t>
            </a:r>
            <a:endParaRPr lang="en-US" sz="1400" dirty="0"/>
          </a:p>
        </p:txBody>
      </p:sp>
      <p:sp>
        <p:nvSpPr>
          <p:cNvPr id="23" name="Shape 18"/>
          <p:cNvSpPr/>
          <p:nvPr/>
        </p:nvSpPr>
        <p:spPr>
          <a:xfrm>
            <a:off x="9073134" y="1508760"/>
            <a:ext cx="2567178" cy="3931920"/>
          </a:xfrm>
          <a:prstGeom prst="roundRect">
            <a:avLst>
              <a:gd name="adj" fmla="val 4987"/>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24" name="Shape 19"/>
          <p:cNvSpPr/>
          <p:nvPr/>
        </p:nvSpPr>
        <p:spPr>
          <a:xfrm>
            <a:off x="9073134" y="1508760"/>
            <a:ext cx="2567178" cy="914400"/>
          </a:xfrm>
          <a:prstGeom prst="roundRect">
            <a:avLst>
              <a:gd name="adj" fmla="val 14000"/>
            </a:avLst>
          </a:prstGeom>
          <a:solidFill>
            <a:srgbClr val="F5E8E2"/>
          </a:solidFill>
          <a:ln w="12700">
            <a:solidFill>
              <a:srgbClr val="F5E8E2"/>
            </a:solidFill>
            <a:prstDash val="solid"/>
          </a:ln>
        </p:spPr>
      </p:sp>
      <p:sp>
        <p:nvSpPr>
          <p:cNvPr id="25" name="Shape 20"/>
          <p:cNvSpPr/>
          <p:nvPr/>
        </p:nvSpPr>
        <p:spPr>
          <a:xfrm>
            <a:off x="9256014" y="1737360"/>
            <a:ext cx="457200" cy="457200"/>
          </a:xfrm>
          <a:prstGeom prst="ellipse">
            <a:avLst/>
          </a:prstGeom>
          <a:solidFill>
            <a:srgbClr val="BD8C7B"/>
          </a:solidFill>
          <a:ln w="12700">
            <a:solidFill>
              <a:srgbClr val="BD8C7B"/>
            </a:solidFill>
            <a:prstDash val="solid"/>
          </a:ln>
        </p:spPr>
      </p:sp>
      <p:pic>
        <p:nvPicPr>
          <p:cNvPr id="26" name="Image 3" descr="preencoded.png">    </p:cNvPr>
          <p:cNvPicPr>
            <a:picLocks noChangeAspect="1"/>
          </p:cNvPicPr>
          <p:nvPr/>
        </p:nvPicPr>
        <p:blipFill>
          <a:blip r:embed="rId4"/>
          <a:stretch>
            <a:fillRect/>
          </a:stretch>
        </p:blipFill>
        <p:spPr>
          <a:xfrm>
            <a:off x="9374886" y="1856232"/>
            <a:ext cx="219456" cy="219456"/>
          </a:xfrm>
          <a:prstGeom prst="rect">
            <a:avLst/>
          </a:prstGeom>
        </p:spPr>
      </p:pic>
      <p:sp>
        <p:nvSpPr>
          <p:cNvPr id="27" name="Text 21"/>
          <p:cNvSpPr txBox="1"/>
          <p:nvPr/>
        </p:nvSpPr>
        <p:spPr>
          <a:xfrm>
            <a:off x="9850374" y="1600200"/>
            <a:ext cx="1698498" cy="749808"/>
          </a:xfrm>
          <a:prstGeom prst="rect">
            <a:avLst/>
          </a:prstGeom>
          <a:noFill/>
          <a:ln/>
        </p:spPr>
        <p:txBody>
          <a:bodyPr wrap="square" lIns="0" tIns="0" rIns="0" bIns="0" rtlCol="0" anchor="ctr"/>
          <a:lstStyle/>
          <a:p>
            <a:pPr indent="0" marL="0">
              <a:buNone/>
            </a:pPr>
            <a:r>
              <a:rPr lang="en-US" sz="1500" b="1" dirty="0">
                <a:solidFill>
                  <a:srgbClr val="1B2A4A"/>
                </a:solidFill>
                <a:latin typeface="Calibri" pitchFamily="34" charset="0"/>
                <a:ea typeface="Calibri" pitchFamily="34" charset="-122"/>
                <a:cs typeface="Calibri" pitchFamily="34" charset="-120"/>
              </a:rPr>
              <a:t>Recovery</a:t>
            </a:r>
            <a:endParaRPr lang="en-US" sz="1500" dirty="0"/>
          </a:p>
          <a:p>
            <a:pPr indent="0" marL="0">
              <a:buNone/>
            </a:pPr>
            <a:r>
              <a:rPr lang="en-US" sz="1250" b="1" dirty="0">
                <a:solidFill>
                  <a:srgbClr val="1B2A4A"/>
                </a:solidFill>
                <a:latin typeface="Calibri" pitchFamily="34" charset="0"/>
                <a:ea typeface="Calibri" pitchFamily="34" charset="-122"/>
                <a:cs typeface="Calibri" pitchFamily="34" charset="-120"/>
              </a:rPr>
              <a:t>Recovery &amp; Return</a:t>
            </a:r>
            <a:endParaRPr lang="en-US" sz="1500" dirty="0"/>
          </a:p>
        </p:txBody>
      </p:sp>
      <p:sp>
        <p:nvSpPr>
          <p:cNvPr id="28" name="Text 22"/>
          <p:cNvSpPr txBox="1"/>
          <p:nvPr/>
        </p:nvSpPr>
        <p:spPr>
          <a:xfrm>
            <a:off x="9301734" y="2651760"/>
            <a:ext cx="2155698" cy="3154680"/>
          </a:xfrm>
          <a:prstGeom prst="rect">
            <a:avLst/>
          </a:prstGeom>
          <a:noFill/>
          <a:ln/>
        </p:spPr>
        <p:txBody>
          <a:bodyPr wrap="square" lIns="0" tIns="0" rIns="0" bIns="0" rtlCol="0" anchor="t"/>
          <a:lstStyle/>
          <a:p>
            <a:pPr marL="165100" indent="-165100">
              <a:spcAft>
                <a:spcPts val="1000"/>
              </a:spcAft>
              <a:buSzPct val="100000"/>
              <a:buChar char="•"/>
            </a:pPr>
            <a:r>
              <a:rPr lang="en-US" sz="1400" dirty="0">
                <a:solidFill>
                  <a:srgbClr val="1E2E3A"/>
                </a:solidFill>
                <a:latin typeface="Calibri" pitchFamily="34" charset="0"/>
                <a:ea typeface="Calibri" pitchFamily="34" charset="-122"/>
                <a:cs typeface="Calibri" pitchFamily="34" charset="-120"/>
              </a:rPr>
              <a:t>How do we validate services are fully restored and trustworthy?</a:t>
            </a:r>
            <a:endParaRPr lang="en-US" sz="1400" dirty="0"/>
          </a:p>
          <a:p>
            <a:pPr marL="165100" indent="-165100">
              <a:spcAft>
                <a:spcPts val="1000"/>
              </a:spcAft>
              <a:buSzPct val="100000"/>
              <a:buChar char="•"/>
            </a:pPr>
            <a:r>
              <a:rPr lang="en-US" sz="1400" dirty="0">
                <a:solidFill>
                  <a:srgbClr val="1E2E3A"/>
                </a:solidFill>
                <a:latin typeface="Calibri" pitchFamily="34" charset="0"/>
                <a:ea typeface="Calibri" pitchFamily="34" charset="-122"/>
                <a:cs typeface="Calibri" pitchFamily="34" charset="-120"/>
              </a:rPr>
              <a:t>What is the phased return plan?</a:t>
            </a:r>
            <a:endParaRPr lang="en-US" sz="1400" dirty="0"/>
          </a:p>
          <a:p>
            <a:pPr marL="165100" indent="-165100">
              <a:spcAft>
                <a:spcPts val="1000"/>
              </a:spcAft>
              <a:buSzPct val="100000"/>
              <a:buChar char="•"/>
            </a:pPr>
            <a:r>
              <a:rPr lang="en-US" sz="1400" dirty="0">
                <a:solidFill>
                  <a:srgbClr val="1E2E3A"/>
                </a:solidFill>
                <a:latin typeface="Calibri" pitchFamily="34" charset="0"/>
                <a:ea typeface="Calibri" pitchFamily="34" charset="-122"/>
                <a:cs typeface="Calibri" pitchFamily="34" charset="-120"/>
              </a:rPr>
              <a:t>What lessons learned and improvements are needed?</a:t>
            </a:r>
            <a:endParaRPr lang="en-US" sz="1400" dirty="0"/>
          </a:p>
        </p:txBody>
      </p:sp>
      <p:sp>
        <p:nvSpPr>
          <p:cNvPr id="29" name="Text 23"/>
          <p:cNvSpPr txBox="1"/>
          <p:nvPr/>
        </p:nvSpPr>
        <p:spPr>
          <a:xfrm>
            <a:off x="548640" y="6254496"/>
            <a:ext cx="11091672" cy="256032"/>
          </a:xfrm>
          <a:prstGeom prst="rect">
            <a:avLst/>
          </a:prstGeom>
          <a:noFill/>
          <a:ln/>
        </p:spPr>
        <p:txBody>
          <a:bodyPr wrap="square" lIns="0" tIns="0" rIns="0" bIns="0" rtlCol="0" anchor="ctr"/>
          <a:lstStyle/>
          <a:p>
            <a:pPr indent="0" marL="0">
              <a:buNone/>
            </a:pPr>
            <a:r>
              <a:rPr lang="en-US" sz="1200" b="1" dirty="0">
                <a:solidFill>
                  <a:srgbClr val="465A69"/>
                </a:solidFill>
                <a:latin typeface="Calibri" pitchFamily="34" charset="0"/>
                <a:ea typeface="Calibri" pitchFamily="34" charset="-122"/>
                <a:cs typeface="Calibri" pitchFamily="34" charset="-120"/>
              </a:rPr>
              <a:t>Acronyms:  </a:t>
            </a:r>
            <a:pPr indent="0" marL="0">
              <a:buNone/>
            </a:pPr>
            <a:r>
              <a:rPr lang="en-US" sz="1200" dirty="0">
                <a:solidFill>
                  <a:srgbClr val="465A69"/>
                </a:solidFill>
                <a:latin typeface="Calibri" pitchFamily="34" charset="0"/>
                <a:ea typeface="Calibri" pitchFamily="34" charset="-122"/>
                <a:cs typeface="Calibri" pitchFamily="34" charset="-120"/>
              </a:rPr>
              <a:t>T+: time since the first signal;  DR: Disaster Recovery;  BC: Business Continuity</a:t>
            </a:r>
            <a:endParaRPr lang="en-US" sz="1200" dirty="0"/>
          </a:p>
        </p:txBody>
      </p:sp>
      <p:sp>
        <p:nvSpPr>
          <p:cNvPr id="30" name="Shape 24"/>
          <p:cNvSpPr/>
          <p:nvPr/>
        </p:nvSpPr>
        <p:spPr>
          <a:xfrm>
            <a:off x="548640" y="6537960"/>
            <a:ext cx="763524" cy="274320"/>
          </a:xfrm>
          <a:prstGeom prst="roundRect">
            <a:avLst>
              <a:gd name="adj" fmla="val 50000"/>
            </a:avLst>
          </a:prstGeom>
          <a:solidFill>
            <a:srgbClr val="E4ECF2"/>
          </a:solidFill>
          <a:ln w="12700">
            <a:solidFill>
              <a:srgbClr val="E4ECF2"/>
            </a:solidFill>
            <a:prstDash val="solid"/>
          </a:ln>
        </p:spPr>
      </p:sp>
      <p:sp>
        <p:nvSpPr>
          <p:cNvPr id="31" name="Text 25"/>
          <p:cNvSpPr txBox="1"/>
          <p:nvPr/>
        </p:nvSpPr>
        <p:spPr>
          <a:xfrm>
            <a:off x="548640" y="6537960"/>
            <a:ext cx="763524" cy="274320"/>
          </a:xfrm>
          <a:prstGeom prst="rect">
            <a:avLst/>
          </a:prstGeom>
          <a:noFill/>
          <a:ln/>
        </p:spPr>
        <p:txBody>
          <a:bodyPr wrap="square" lIns="0" tIns="0" rIns="0" bIns="0" rtlCol="0" anchor="ctr"/>
          <a:lstStyle/>
          <a:p>
            <a:pPr algn="ctr" indent="0" marL="0">
              <a:buNone/>
            </a:pPr>
            <a:r>
              <a:rPr lang="en-US" sz="1200" b="1" dirty="0">
                <a:solidFill>
                  <a:srgbClr val="23405A"/>
                </a:solidFill>
                <a:latin typeface="Calibri" pitchFamily="34" charset="0"/>
                <a:ea typeface="Calibri" pitchFamily="34" charset="-122"/>
                <a:cs typeface="Calibri" pitchFamily="34" charset="-120"/>
              </a:rPr>
              <a:t>Start</a:t>
            </a:r>
            <a:endParaRPr lang="en-US" sz="1200" dirty="0"/>
          </a:p>
        </p:txBody>
      </p:sp>
      <p:pic>
        <p:nvPicPr>
          <p:cNvPr id="32" name="Image 4" descr="preencoded.png">
            <a:hlinkClick r:id="rId6" tooltip="Go to Start" action="ppaction://hlinksldjump"/>
          </p:cNvPr>
          <p:cNvPicPr>
            <a:picLocks noChangeAspect="1"/>
          </p:cNvPicPr>
          <p:nvPr/>
        </p:nvPicPr>
        <p:blipFill>
          <a:blip r:embed="rId5"/>
          <a:stretch>
            <a:fillRect/>
          </a:stretch>
        </p:blipFill>
        <p:spPr>
          <a:xfrm>
            <a:off x="548640" y="6537960"/>
            <a:ext cx="763524" cy="274320"/>
          </a:xfrm>
          <a:prstGeom prst="rect">
            <a:avLst/>
          </a:prstGeom>
        </p:spPr>
      </p:pic>
      <p:sp>
        <p:nvSpPr>
          <p:cNvPr id="33" name="Shape 26"/>
          <p:cNvSpPr/>
          <p:nvPr/>
        </p:nvSpPr>
        <p:spPr>
          <a:xfrm>
            <a:off x="1385316" y="6537960"/>
            <a:ext cx="1197864" cy="274320"/>
          </a:xfrm>
          <a:prstGeom prst="roundRect">
            <a:avLst>
              <a:gd name="adj" fmla="val 50000"/>
            </a:avLst>
          </a:prstGeom>
          <a:solidFill>
            <a:srgbClr val="F1F6FA"/>
          </a:solidFill>
          <a:ln w="12700">
            <a:solidFill>
              <a:srgbClr val="F1F6FA"/>
            </a:solidFill>
            <a:prstDash val="solid"/>
          </a:ln>
        </p:spPr>
      </p:sp>
      <p:sp>
        <p:nvSpPr>
          <p:cNvPr id="34" name="Text 27"/>
          <p:cNvSpPr txBox="1"/>
          <p:nvPr/>
        </p:nvSpPr>
        <p:spPr>
          <a:xfrm>
            <a:off x="1385316" y="6537960"/>
            <a:ext cx="1197864" cy="274320"/>
          </a:xfrm>
          <a:prstGeom prst="rect">
            <a:avLst/>
          </a:prstGeom>
          <a:noFill/>
          <a:ln/>
        </p:spPr>
        <p:txBody>
          <a:bodyPr wrap="square" lIns="0" tIns="0" rIns="0" bIns="0" rtlCol="0" anchor="ctr"/>
          <a:lstStyle/>
          <a:p>
            <a:pPr algn="ctr" indent="0" marL="0">
              <a:buNone/>
            </a:pPr>
            <a:r>
              <a:rPr lang="en-US" sz="1200" b="1" dirty="0">
                <a:solidFill>
                  <a:srgbClr val="3F6E8C"/>
                </a:solidFill>
                <a:latin typeface="Calibri" pitchFamily="34" charset="0"/>
                <a:ea typeface="Calibri" pitchFamily="34" charset="-122"/>
                <a:cs typeface="Calibri" pitchFamily="34" charset="-120"/>
              </a:rPr>
              <a:t>Scenario 1</a:t>
            </a:r>
            <a:endParaRPr lang="en-US" sz="1200" dirty="0"/>
          </a:p>
        </p:txBody>
      </p:sp>
      <p:pic>
        <p:nvPicPr>
          <p:cNvPr id="35" name="Image 5" descr="preencoded.png">
            <a:hlinkClick r:id="rId8" tooltip="Go to Scenario 1" action="ppaction://hlinksldjump"/>
          </p:cNvPr>
          <p:cNvPicPr>
            <a:picLocks noChangeAspect="1"/>
          </p:cNvPicPr>
          <p:nvPr/>
        </p:nvPicPr>
        <p:blipFill>
          <a:blip r:embed="rId7"/>
          <a:stretch>
            <a:fillRect/>
          </a:stretch>
        </p:blipFill>
        <p:spPr>
          <a:xfrm>
            <a:off x="1385316" y="6537960"/>
            <a:ext cx="1197864" cy="274320"/>
          </a:xfrm>
          <a:prstGeom prst="rect">
            <a:avLst/>
          </a:prstGeom>
        </p:spPr>
      </p:pic>
      <p:sp>
        <p:nvSpPr>
          <p:cNvPr id="36" name="Shape 28"/>
          <p:cNvSpPr/>
          <p:nvPr/>
        </p:nvSpPr>
        <p:spPr>
          <a:xfrm>
            <a:off x="2656332" y="6537960"/>
            <a:ext cx="1197864" cy="274320"/>
          </a:xfrm>
          <a:prstGeom prst="roundRect">
            <a:avLst>
              <a:gd name="adj" fmla="val 50000"/>
            </a:avLst>
          </a:prstGeom>
          <a:solidFill>
            <a:srgbClr val="4C8068"/>
          </a:solidFill>
          <a:ln w="12700">
            <a:solidFill>
              <a:srgbClr val="4C8068"/>
            </a:solidFill>
            <a:prstDash val="solid"/>
          </a:ln>
        </p:spPr>
      </p:sp>
      <p:sp>
        <p:nvSpPr>
          <p:cNvPr id="37" name="Text 29"/>
          <p:cNvSpPr txBox="1"/>
          <p:nvPr/>
        </p:nvSpPr>
        <p:spPr>
          <a:xfrm>
            <a:off x="2656332" y="6537960"/>
            <a:ext cx="1197864"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Scenario 2</a:t>
            </a:r>
            <a:endParaRPr lang="en-US" sz="1200" dirty="0"/>
          </a:p>
        </p:txBody>
      </p:sp>
      <p:pic>
        <p:nvPicPr>
          <p:cNvPr id="38" name="Image 6" descr="preencoded.png">
            <a:hlinkClick r:id="rId10" tooltip="Go to Scenario 2" action="ppaction://hlinksldjump"/>
          </p:cNvPr>
          <p:cNvPicPr>
            <a:picLocks noChangeAspect="1"/>
          </p:cNvPicPr>
          <p:nvPr/>
        </p:nvPicPr>
        <p:blipFill>
          <a:blip r:embed="rId9"/>
          <a:stretch>
            <a:fillRect/>
          </a:stretch>
        </p:blipFill>
        <p:spPr>
          <a:xfrm>
            <a:off x="2656332" y="6537960"/>
            <a:ext cx="1197864" cy="274320"/>
          </a:xfrm>
          <a:prstGeom prst="rect">
            <a:avLst/>
          </a:prstGeom>
        </p:spPr>
      </p:pic>
      <p:sp>
        <p:nvSpPr>
          <p:cNvPr id="39" name="Shape 30"/>
          <p:cNvSpPr/>
          <p:nvPr/>
        </p:nvSpPr>
        <p:spPr>
          <a:xfrm>
            <a:off x="3927348" y="6537960"/>
            <a:ext cx="1197864" cy="274320"/>
          </a:xfrm>
          <a:prstGeom prst="roundRect">
            <a:avLst>
              <a:gd name="adj" fmla="val 50000"/>
            </a:avLst>
          </a:prstGeom>
          <a:solidFill>
            <a:srgbClr val="F6F3FA"/>
          </a:solidFill>
          <a:ln w="12700">
            <a:solidFill>
              <a:srgbClr val="F6F3FA"/>
            </a:solidFill>
            <a:prstDash val="solid"/>
          </a:ln>
        </p:spPr>
      </p:sp>
      <p:sp>
        <p:nvSpPr>
          <p:cNvPr id="40" name="Text 31"/>
          <p:cNvSpPr txBox="1"/>
          <p:nvPr/>
        </p:nvSpPr>
        <p:spPr>
          <a:xfrm>
            <a:off x="3927348" y="6537960"/>
            <a:ext cx="1197864" cy="274320"/>
          </a:xfrm>
          <a:prstGeom prst="rect">
            <a:avLst/>
          </a:prstGeom>
          <a:noFill/>
          <a:ln/>
        </p:spPr>
        <p:txBody>
          <a:bodyPr wrap="square" lIns="0" tIns="0" rIns="0" bIns="0" rtlCol="0" anchor="ctr"/>
          <a:lstStyle/>
          <a:p>
            <a:pPr algn="ctr" indent="0" marL="0">
              <a:buNone/>
            </a:pPr>
            <a:r>
              <a:rPr lang="en-US" sz="1200" b="1" dirty="0">
                <a:solidFill>
                  <a:srgbClr val="6E5E94"/>
                </a:solidFill>
                <a:latin typeface="Calibri" pitchFamily="34" charset="0"/>
                <a:ea typeface="Calibri" pitchFamily="34" charset="-122"/>
                <a:cs typeface="Calibri" pitchFamily="34" charset="-120"/>
              </a:rPr>
              <a:t>Scenario 3</a:t>
            </a:r>
            <a:endParaRPr lang="en-US" sz="1200" dirty="0"/>
          </a:p>
        </p:txBody>
      </p:sp>
      <p:pic>
        <p:nvPicPr>
          <p:cNvPr id="41" name="Image 7" descr="preencoded.png">
            <a:hlinkClick r:id="rId12" tooltip="Go to Scenario 3" action="ppaction://hlinksldjump"/>
          </p:cNvPr>
          <p:cNvPicPr>
            <a:picLocks noChangeAspect="1"/>
          </p:cNvPicPr>
          <p:nvPr/>
        </p:nvPicPr>
        <p:blipFill>
          <a:blip r:embed="rId11"/>
          <a:stretch>
            <a:fillRect/>
          </a:stretch>
        </p:blipFill>
        <p:spPr>
          <a:xfrm>
            <a:off x="3927348" y="6537960"/>
            <a:ext cx="1197864" cy="274320"/>
          </a:xfrm>
          <a:prstGeom prst="rect">
            <a:avLst/>
          </a:prstGeom>
        </p:spPr>
      </p:pic>
      <p:sp>
        <p:nvSpPr>
          <p:cNvPr id="42" name="Shape 32"/>
          <p:cNvSpPr/>
          <p:nvPr/>
        </p:nvSpPr>
        <p:spPr>
          <a:xfrm>
            <a:off x="5198364" y="6537960"/>
            <a:ext cx="937260" cy="274320"/>
          </a:xfrm>
          <a:prstGeom prst="roundRect">
            <a:avLst>
              <a:gd name="adj" fmla="val 50000"/>
            </a:avLst>
          </a:prstGeom>
          <a:solidFill>
            <a:srgbClr val="E4ECF2"/>
          </a:solidFill>
          <a:ln w="12700">
            <a:solidFill>
              <a:srgbClr val="E4ECF2"/>
            </a:solidFill>
            <a:prstDash val="solid"/>
          </a:ln>
        </p:spPr>
      </p:sp>
      <p:sp>
        <p:nvSpPr>
          <p:cNvPr id="43" name="Text 33"/>
          <p:cNvSpPr txBox="1"/>
          <p:nvPr/>
        </p:nvSpPr>
        <p:spPr>
          <a:xfrm>
            <a:off x="5198364" y="6537960"/>
            <a:ext cx="937260" cy="274320"/>
          </a:xfrm>
          <a:prstGeom prst="rect">
            <a:avLst/>
          </a:prstGeom>
          <a:noFill/>
          <a:ln/>
        </p:spPr>
        <p:txBody>
          <a:bodyPr wrap="square" lIns="0" tIns="0" rIns="0" bIns="0" rtlCol="0" anchor="ctr"/>
          <a:lstStyle/>
          <a:p>
            <a:pPr algn="ctr" indent="0" marL="0">
              <a:buNone/>
            </a:pPr>
            <a:r>
              <a:rPr lang="en-US" sz="1200" b="1" dirty="0">
                <a:solidFill>
                  <a:srgbClr val="23405A"/>
                </a:solidFill>
                <a:latin typeface="Calibri" pitchFamily="34" charset="0"/>
                <a:ea typeface="Calibri" pitchFamily="34" charset="-122"/>
                <a:cs typeface="Calibri" pitchFamily="34" charset="-120"/>
              </a:rPr>
              <a:t>Closing</a:t>
            </a:r>
            <a:endParaRPr lang="en-US" sz="1200" dirty="0"/>
          </a:p>
        </p:txBody>
      </p:sp>
      <p:pic>
        <p:nvPicPr>
          <p:cNvPr id="44" name="Image 8" descr="preencoded.png">
            <a:hlinkClick r:id="rId14" tooltip="Go to Closing" action="ppaction://hlinksldjump"/>
          </p:cNvPr>
          <p:cNvPicPr>
            <a:picLocks noChangeAspect="1"/>
          </p:cNvPicPr>
          <p:nvPr/>
        </p:nvPicPr>
        <p:blipFill>
          <a:blip r:embed="rId13"/>
          <a:stretch>
            <a:fillRect/>
          </a:stretch>
        </p:blipFill>
        <p:spPr>
          <a:xfrm>
            <a:off x="5198364" y="6537960"/>
            <a:ext cx="937260" cy="274320"/>
          </a:xfrm>
          <a:prstGeom prst="rect">
            <a:avLst/>
          </a:prstGeom>
        </p:spPr>
      </p:pic>
      <p:sp>
        <p:nvSpPr>
          <p:cNvPr id="45" name="Text 34"/>
          <p:cNvSpPr txBox="1"/>
          <p:nvPr/>
        </p:nvSpPr>
        <p:spPr>
          <a:xfrm>
            <a:off x="11277295" y="6537960"/>
            <a:ext cx="365760" cy="274320"/>
          </a:xfrm>
          <a:prstGeom prst="rect">
            <a:avLst/>
          </a:prstGeom>
          <a:noFill/>
          <a:ln/>
        </p:spPr>
        <p:txBody>
          <a:bodyPr wrap="square" lIns="0" tIns="0" rIns="0" bIns="0" rtlCol="0" anchor="ctr"/>
          <a:lstStyle/>
          <a:p>
            <a:pPr algn="r" indent="0" marL="0">
              <a:buNone/>
            </a:pPr>
            <a:r>
              <a:rPr lang="en-US" sz="1200" dirty="0">
                <a:solidFill>
                  <a:srgbClr val="465A69"/>
                </a:solidFill>
                <a:latin typeface="Calibri" pitchFamily="34" charset="0"/>
                <a:ea typeface="Calibri" pitchFamily="34" charset="-122"/>
                <a:cs typeface="Calibri" pitchFamily="34" charset="-120"/>
              </a:rPr>
              <a:t>36</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E6F2E9"/>
        </a:solidFill>
      </p:bgPr>
    </p:bg>
    <p:spTree>
      <p:nvGrpSpPr>
        <p:cNvPr id="1" name=""/>
        <p:cNvGrpSpPr/>
        <p:nvPr/>
      </p:nvGrpSpPr>
      <p:grpSpPr>
        <a:xfrm>
          <a:off x="0" y="0"/>
          <a:ext cx="0" cy="0"/>
          <a:chOff x="0" y="0"/>
          <a:chExt cx="0" cy="0"/>
        </a:xfrm>
      </p:grpSpPr>
      <p:sp>
        <p:nvSpPr>
          <p:cNvPr id="2" name="Shape 0"/>
          <p:cNvSpPr/>
          <p:nvPr/>
        </p:nvSpPr>
        <p:spPr>
          <a:xfrm>
            <a:off x="548640" y="347472"/>
            <a:ext cx="2843784" cy="329184"/>
          </a:xfrm>
          <a:prstGeom prst="roundRect">
            <a:avLst>
              <a:gd name="adj" fmla="val 50000"/>
            </a:avLst>
          </a:prstGeom>
          <a:solidFill>
            <a:srgbClr val="F1F8F3"/>
          </a:solidFill>
          <a:ln w="12700">
            <a:solidFill>
              <a:srgbClr val="F1F8F3"/>
            </a:solidFill>
            <a:prstDash val="solid"/>
          </a:ln>
        </p:spPr>
      </p:sp>
      <p:sp>
        <p:nvSpPr>
          <p:cNvPr id="3" name="Text 1"/>
          <p:cNvSpPr txBox="1"/>
          <p:nvPr/>
        </p:nvSpPr>
        <p:spPr>
          <a:xfrm>
            <a:off x="548640" y="347472"/>
            <a:ext cx="2843784" cy="329184"/>
          </a:xfrm>
          <a:prstGeom prst="rect">
            <a:avLst/>
          </a:prstGeom>
          <a:noFill/>
          <a:ln/>
        </p:spPr>
        <p:txBody>
          <a:bodyPr wrap="square" lIns="0" tIns="0" rIns="0" bIns="0" rtlCol="0" anchor="ctr"/>
          <a:lstStyle/>
          <a:p>
            <a:pPr algn="ctr" indent="0" marL="0">
              <a:buNone/>
            </a:pPr>
            <a:r>
              <a:rPr lang="en-US" sz="1200" b="1" dirty="0">
                <a:solidFill>
                  <a:srgbClr val="4C8068"/>
                </a:solidFill>
                <a:latin typeface="Calibri" pitchFamily="34" charset="0"/>
                <a:ea typeface="Calibri" pitchFamily="34" charset="-122"/>
                <a:cs typeface="Calibri" pitchFamily="34" charset="-120"/>
              </a:rPr>
              <a:t>Scenario 2 recap, part 4 of 4</a:t>
            </a:r>
            <a:endParaRPr lang="en-US" sz="1200" dirty="0"/>
          </a:p>
        </p:txBody>
      </p:sp>
      <p:sp>
        <p:nvSpPr>
          <p:cNvPr id="4" name="Text 2"/>
          <p:cNvSpPr txBox="1"/>
          <p:nvPr/>
        </p:nvSpPr>
        <p:spPr>
          <a:xfrm>
            <a:off x="548640" y="749808"/>
            <a:ext cx="11064240" cy="548640"/>
          </a:xfrm>
          <a:prstGeom prst="rect">
            <a:avLst/>
          </a:prstGeom>
          <a:noFill/>
          <a:ln/>
        </p:spPr>
        <p:txBody>
          <a:bodyPr wrap="square" lIns="0" tIns="0" rIns="0" bIns="0" rtlCol="0" anchor="ctr"/>
          <a:lstStyle/>
          <a:p>
            <a:pPr indent="0" marL="0">
              <a:buNone/>
            </a:pPr>
            <a:r>
              <a:rPr lang="en-US" sz="2400" b="1" dirty="0">
                <a:solidFill>
                  <a:srgbClr val="1B2A4A"/>
                </a:solidFill>
                <a:latin typeface="Cambria" pitchFamily="34" charset="0"/>
                <a:ea typeface="Cambria" pitchFamily="34" charset="-122"/>
                <a:cs typeface="Cambria" pitchFamily="34" charset="-120"/>
              </a:rPr>
              <a:t>Exercise: Major SaaS Provider Cloud Outage</a:t>
            </a:r>
            <a:endParaRPr lang="en-US" sz="2400" dirty="0"/>
          </a:p>
        </p:txBody>
      </p:sp>
      <p:sp>
        <p:nvSpPr>
          <p:cNvPr id="5" name="Text 3"/>
          <p:cNvSpPr txBox="1"/>
          <p:nvPr/>
        </p:nvSpPr>
        <p:spPr>
          <a:xfrm>
            <a:off x="548640" y="1298448"/>
            <a:ext cx="11064240" cy="502920"/>
          </a:xfrm>
          <a:prstGeom prst="rect">
            <a:avLst/>
          </a:prstGeom>
          <a:noFill/>
          <a:ln/>
        </p:spPr>
        <p:txBody>
          <a:bodyPr wrap="square" lIns="0" tIns="0" rIns="0" bIns="0" rtlCol="0" anchor="t"/>
          <a:lstStyle/>
          <a:p>
            <a:pPr indent="0" marL="0">
              <a:buNone/>
            </a:pPr>
            <a:r>
              <a:rPr lang="en-US" sz="1300" b="1" dirty="0">
                <a:solidFill>
                  <a:srgbClr val="2E4756"/>
                </a:solidFill>
                <a:latin typeface="Calibri" pitchFamily="34" charset="0"/>
                <a:ea typeface="Calibri" pitchFamily="34" charset="-122"/>
                <a:cs typeface="Calibri" pitchFamily="34" charset="-120"/>
              </a:rPr>
              <a:t>Scenario objective: </a:t>
            </a:r>
            <a:pPr indent="0" marL="0">
              <a:buNone/>
            </a:pPr>
            <a:r>
              <a:rPr lang="en-US" sz="1300" dirty="0">
                <a:solidFill>
                  <a:srgbClr val="2E4756"/>
                </a:solidFill>
                <a:latin typeface="Calibri" pitchFamily="34" charset="0"/>
                <a:ea typeface="Calibri" pitchFamily="34" charset="-122"/>
                <a:cs typeface="Calibri" pitchFamily="34" charset="-120"/>
              </a:rPr>
              <a:t>Test the organization's ability to maintain critical operations and recover from a prolonged regional outage of a major SaaS provider, impacting Microsoft 365, Teams, SharePoint, OneDrive and Entra ID.</a:t>
            </a:r>
            <a:endParaRPr lang="en-US" sz="1300" dirty="0"/>
          </a:p>
        </p:txBody>
      </p:sp>
      <p:sp>
        <p:nvSpPr>
          <p:cNvPr id="6" name="Shape 4"/>
          <p:cNvSpPr/>
          <p:nvPr/>
        </p:nvSpPr>
        <p:spPr>
          <a:xfrm>
            <a:off x="548640" y="1920240"/>
            <a:ext cx="2601468" cy="3383280"/>
          </a:xfrm>
          <a:prstGeom prst="roundRect">
            <a:avLst>
              <a:gd name="adj" fmla="val 4921"/>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pic>
        <p:nvPicPr>
          <p:cNvPr id="7" name="Image 0" descr="preencoded.png">    </p:cNvPr>
          <p:cNvPicPr>
            <a:picLocks noChangeAspect="1"/>
          </p:cNvPicPr>
          <p:nvPr/>
        </p:nvPicPr>
        <p:blipFill>
          <a:blip r:embed="rId1"/>
          <a:stretch>
            <a:fillRect/>
          </a:stretch>
        </p:blipFill>
        <p:spPr>
          <a:xfrm>
            <a:off x="749808" y="2121408"/>
            <a:ext cx="365760" cy="365760"/>
          </a:xfrm>
          <a:prstGeom prst="rect">
            <a:avLst/>
          </a:prstGeom>
        </p:spPr>
      </p:pic>
      <p:sp>
        <p:nvSpPr>
          <p:cNvPr id="8" name="Text 5"/>
          <p:cNvSpPr txBox="1"/>
          <p:nvPr/>
        </p:nvSpPr>
        <p:spPr>
          <a:xfrm>
            <a:off x="1207008" y="2075688"/>
            <a:ext cx="1824228" cy="475488"/>
          </a:xfrm>
          <a:prstGeom prst="rect">
            <a:avLst/>
          </a:prstGeom>
          <a:noFill/>
          <a:ln/>
        </p:spPr>
        <p:txBody>
          <a:bodyPr wrap="square" lIns="0" tIns="0" rIns="0" bIns="0" rtlCol="0" anchor="ctr"/>
          <a:lstStyle/>
          <a:p>
            <a:pPr indent="0" marL="0">
              <a:buNone/>
            </a:pPr>
            <a:r>
              <a:rPr lang="en-US" sz="1400" b="1" dirty="0">
                <a:solidFill>
                  <a:srgbClr val="23405A"/>
                </a:solidFill>
                <a:latin typeface="Calibri" pitchFamily="34" charset="0"/>
                <a:ea typeface="Calibri" pitchFamily="34" charset="-122"/>
                <a:cs typeface="Calibri" pitchFamily="34" charset="-120"/>
              </a:rPr>
              <a:t>Affected Services</a:t>
            </a:r>
            <a:endParaRPr lang="en-US" sz="1400" dirty="0"/>
          </a:p>
        </p:txBody>
      </p:sp>
      <p:sp>
        <p:nvSpPr>
          <p:cNvPr id="9" name="Shape 6"/>
          <p:cNvSpPr/>
          <p:nvPr/>
        </p:nvSpPr>
        <p:spPr>
          <a:xfrm>
            <a:off x="822960" y="2697480"/>
            <a:ext cx="402336" cy="402336"/>
          </a:xfrm>
          <a:prstGeom prst="roundRect">
            <a:avLst>
              <a:gd name="adj" fmla="val 18182"/>
            </a:avLst>
          </a:prstGeom>
          <a:solidFill>
            <a:srgbClr val="6F93B3"/>
          </a:solidFill>
          <a:ln w="12700">
            <a:solidFill>
              <a:srgbClr val="6F93B3"/>
            </a:solidFill>
            <a:prstDash val="solid"/>
          </a:ln>
        </p:spPr>
      </p:sp>
      <p:sp>
        <p:nvSpPr>
          <p:cNvPr id="10" name="Text 7"/>
          <p:cNvSpPr txBox="1"/>
          <p:nvPr/>
        </p:nvSpPr>
        <p:spPr>
          <a:xfrm>
            <a:off x="822960" y="26974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O</a:t>
            </a:r>
            <a:endParaRPr lang="en-US" sz="1400" dirty="0"/>
          </a:p>
        </p:txBody>
      </p:sp>
      <p:sp>
        <p:nvSpPr>
          <p:cNvPr id="11" name="Text 8"/>
          <p:cNvSpPr txBox="1"/>
          <p:nvPr/>
        </p:nvSpPr>
        <p:spPr>
          <a:xfrm>
            <a:off x="1325880" y="2697480"/>
            <a:ext cx="1687068" cy="402336"/>
          </a:xfrm>
          <a:prstGeom prst="rect">
            <a:avLst/>
          </a:prstGeom>
          <a:noFill/>
          <a:ln/>
        </p:spPr>
        <p:txBody>
          <a:bodyPr wrap="square" lIns="0" tIns="0" rIns="0" bIns="0" rtlCol="0" anchor="ctr"/>
          <a:lstStyle/>
          <a:p>
            <a:pPr indent="0" marL="0">
              <a:buNone/>
            </a:pPr>
            <a:r>
              <a:rPr lang="en-US" sz="1200" b="1" dirty="0">
                <a:solidFill>
                  <a:srgbClr val="1E2E3A"/>
                </a:solidFill>
                <a:latin typeface="Calibri" pitchFamily="34" charset="0"/>
                <a:ea typeface="Calibri" pitchFamily="34" charset="-122"/>
                <a:cs typeface="Calibri" pitchFamily="34" charset="-120"/>
              </a:rPr>
              <a:t>Outlook </a:t>
            </a:r>
            <a:pPr indent="0" marL="0">
              <a:buNone/>
            </a:pPr>
            <a:r>
              <a:rPr lang="en-US" sz="1200" dirty="0">
                <a:solidFill>
                  <a:srgbClr val="465A69"/>
                </a:solidFill>
                <a:latin typeface="Calibri" pitchFamily="34" charset="0"/>
                <a:ea typeface="Calibri" pitchFamily="34" charset="-122"/>
                <a:cs typeface="Calibri" pitchFamily="34" charset="-120"/>
              </a:rPr>
              <a:t>(email)</a:t>
            </a:r>
            <a:endParaRPr lang="en-US" sz="1200" dirty="0"/>
          </a:p>
        </p:txBody>
      </p:sp>
      <p:sp>
        <p:nvSpPr>
          <p:cNvPr id="12" name="Shape 9"/>
          <p:cNvSpPr/>
          <p:nvPr/>
        </p:nvSpPr>
        <p:spPr>
          <a:xfrm>
            <a:off x="822960" y="3227832"/>
            <a:ext cx="402336" cy="402336"/>
          </a:xfrm>
          <a:prstGeom prst="roundRect">
            <a:avLst>
              <a:gd name="adj" fmla="val 18182"/>
            </a:avLst>
          </a:prstGeom>
          <a:solidFill>
            <a:srgbClr val="6FA394"/>
          </a:solidFill>
          <a:ln w="12700">
            <a:solidFill>
              <a:srgbClr val="6FA394"/>
            </a:solidFill>
            <a:prstDash val="solid"/>
          </a:ln>
        </p:spPr>
      </p:sp>
      <p:sp>
        <p:nvSpPr>
          <p:cNvPr id="13" name="Text 10"/>
          <p:cNvSpPr txBox="1"/>
          <p:nvPr/>
        </p:nvSpPr>
        <p:spPr>
          <a:xfrm>
            <a:off x="822960" y="322783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a:t>
            </a:r>
            <a:endParaRPr lang="en-US" sz="1400" dirty="0"/>
          </a:p>
        </p:txBody>
      </p:sp>
      <p:sp>
        <p:nvSpPr>
          <p:cNvPr id="14" name="Text 11"/>
          <p:cNvSpPr txBox="1"/>
          <p:nvPr/>
        </p:nvSpPr>
        <p:spPr>
          <a:xfrm>
            <a:off x="1325880" y="3227832"/>
            <a:ext cx="1687068" cy="402336"/>
          </a:xfrm>
          <a:prstGeom prst="rect">
            <a:avLst/>
          </a:prstGeom>
          <a:noFill/>
          <a:ln/>
        </p:spPr>
        <p:txBody>
          <a:bodyPr wrap="square" lIns="0" tIns="0" rIns="0" bIns="0" rtlCol="0" anchor="ctr"/>
          <a:lstStyle/>
          <a:p>
            <a:pPr indent="0" marL="0">
              <a:buNone/>
            </a:pPr>
            <a:r>
              <a:rPr lang="en-US" sz="1200" b="1" dirty="0">
                <a:solidFill>
                  <a:srgbClr val="1E2E3A"/>
                </a:solidFill>
                <a:latin typeface="Calibri" pitchFamily="34" charset="0"/>
                <a:ea typeface="Calibri" pitchFamily="34" charset="-122"/>
                <a:cs typeface="Calibri" pitchFamily="34" charset="-120"/>
              </a:rPr>
              <a:t>Teams </a:t>
            </a:r>
            <a:pPr indent="0" marL="0">
              <a:buNone/>
            </a:pPr>
            <a:r>
              <a:rPr lang="en-US" sz="1200" dirty="0">
                <a:solidFill>
                  <a:srgbClr val="465A69"/>
                </a:solidFill>
                <a:latin typeface="Calibri" pitchFamily="34" charset="0"/>
                <a:ea typeface="Calibri" pitchFamily="34" charset="-122"/>
                <a:cs typeface="Calibri" pitchFamily="34" charset="-120"/>
              </a:rPr>
              <a:t>(collaboration)</a:t>
            </a:r>
            <a:endParaRPr lang="en-US" sz="1200" dirty="0"/>
          </a:p>
        </p:txBody>
      </p:sp>
      <p:sp>
        <p:nvSpPr>
          <p:cNvPr id="15" name="Shape 12"/>
          <p:cNvSpPr/>
          <p:nvPr/>
        </p:nvSpPr>
        <p:spPr>
          <a:xfrm>
            <a:off x="822960" y="3758184"/>
            <a:ext cx="402336" cy="402336"/>
          </a:xfrm>
          <a:prstGeom prst="roundRect">
            <a:avLst>
              <a:gd name="adj" fmla="val 18182"/>
            </a:avLst>
          </a:prstGeom>
          <a:solidFill>
            <a:srgbClr val="B89E68"/>
          </a:solidFill>
          <a:ln w="12700">
            <a:solidFill>
              <a:srgbClr val="B89E68"/>
            </a:solidFill>
            <a:prstDash val="solid"/>
          </a:ln>
        </p:spPr>
      </p:sp>
      <p:sp>
        <p:nvSpPr>
          <p:cNvPr id="16" name="Text 13"/>
          <p:cNvSpPr txBox="1"/>
          <p:nvPr/>
        </p:nvSpPr>
        <p:spPr>
          <a:xfrm>
            <a:off x="822960" y="375818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a:t>
            </a:r>
            <a:endParaRPr lang="en-US" sz="1400" dirty="0"/>
          </a:p>
        </p:txBody>
      </p:sp>
      <p:sp>
        <p:nvSpPr>
          <p:cNvPr id="17" name="Text 14"/>
          <p:cNvSpPr txBox="1"/>
          <p:nvPr/>
        </p:nvSpPr>
        <p:spPr>
          <a:xfrm>
            <a:off x="1325880" y="3758184"/>
            <a:ext cx="1687068" cy="402336"/>
          </a:xfrm>
          <a:prstGeom prst="rect">
            <a:avLst/>
          </a:prstGeom>
          <a:noFill/>
          <a:ln/>
        </p:spPr>
        <p:txBody>
          <a:bodyPr wrap="square" lIns="0" tIns="0" rIns="0" bIns="0" rtlCol="0" anchor="ctr"/>
          <a:lstStyle/>
          <a:p>
            <a:pPr indent="0" marL="0">
              <a:buNone/>
            </a:pPr>
            <a:r>
              <a:rPr lang="en-US" sz="1200" b="1" dirty="0">
                <a:solidFill>
                  <a:srgbClr val="1E2E3A"/>
                </a:solidFill>
                <a:latin typeface="Calibri" pitchFamily="34" charset="0"/>
                <a:ea typeface="Calibri" pitchFamily="34" charset="-122"/>
                <a:cs typeface="Calibri" pitchFamily="34" charset="-120"/>
              </a:rPr>
              <a:t>SharePoint </a:t>
            </a:r>
            <a:pPr indent="0" marL="0">
              <a:buNone/>
            </a:pPr>
            <a:r>
              <a:rPr lang="en-US" sz="1200" dirty="0">
                <a:solidFill>
                  <a:srgbClr val="465A69"/>
                </a:solidFill>
                <a:latin typeface="Calibri" pitchFamily="34" charset="0"/>
                <a:ea typeface="Calibri" pitchFamily="34" charset="-122"/>
                <a:cs typeface="Calibri" pitchFamily="34" charset="-120"/>
              </a:rPr>
              <a:t>(file sharing)</a:t>
            </a:r>
            <a:endParaRPr lang="en-US" sz="1200" dirty="0"/>
          </a:p>
        </p:txBody>
      </p:sp>
      <p:sp>
        <p:nvSpPr>
          <p:cNvPr id="18" name="Shape 15"/>
          <p:cNvSpPr/>
          <p:nvPr/>
        </p:nvSpPr>
        <p:spPr>
          <a:xfrm>
            <a:off x="822960" y="4288536"/>
            <a:ext cx="402336" cy="402336"/>
          </a:xfrm>
          <a:prstGeom prst="roundRect">
            <a:avLst>
              <a:gd name="adj" fmla="val 18182"/>
            </a:avLst>
          </a:prstGeom>
          <a:solidFill>
            <a:srgbClr val="B38496"/>
          </a:solidFill>
          <a:ln w="12700">
            <a:solidFill>
              <a:srgbClr val="B38496"/>
            </a:solidFill>
            <a:prstDash val="solid"/>
          </a:ln>
        </p:spPr>
      </p:sp>
      <p:sp>
        <p:nvSpPr>
          <p:cNvPr id="19" name="Text 16"/>
          <p:cNvSpPr txBox="1"/>
          <p:nvPr/>
        </p:nvSpPr>
        <p:spPr>
          <a:xfrm>
            <a:off x="822960" y="4288536"/>
            <a:ext cx="402336" cy="402336"/>
          </a:xfrm>
          <a:prstGeom prst="rect">
            <a:avLst/>
          </a:prstGeom>
          <a:noFill/>
          <a:ln/>
        </p:spPr>
        <p:txBody>
          <a:bodyPr wrap="square" lIns="0" tIns="0" rIns="0" bIns="0" rtlCol="0" anchor="ctr"/>
          <a:lstStyle/>
          <a:p>
            <a:pPr algn="ctr" indent="0" marL="0">
              <a:buNone/>
            </a:pPr>
            <a:endParaRPr lang="en-US" sz="1400" dirty="0"/>
          </a:p>
        </p:txBody>
      </p:sp>
      <p:pic>
        <p:nvPicPr>
          <p:cNvPr id="20" name="Image 1" descr="preencoded.png">    </p:cNvPr>
          <p:cNvPicPr>
            <a:picLocks noChangeAspect="1"/>
          </p:cNvPicPr>
          <p:nvPr/>
        </p:nvPicPr>
        <p:blipFill>
          <a:blip r:embed="rId2"/>
          <a:stretch>
            <a:fillRect/>
          </a:stretch>
        </p:blipFill>
        <p:spPr>
          <a:xfrm>
            <a:off x="923544" y="4389120"/>
            <a:ext cx="201168" cy="201168"/>
          </a:xfrm>
          <a:prstGeom prst="rect">
            <a:avLst/>
          </a:prstGeom>
        </p:spPr>
      </p:pic>
      <p:sp>
        <p:nvSpPr>
          <p:cNvPr id="21" name="Text 17"/>
          <p:cNvSpPr txBox="1"/>
          <p:nvPr/>
        </p:nvSpPr>
        <p:spPr>
          <a:xfrm>
            <a:off x="1325880" y="4288536"/>
            <a:ext cx="1687068" cy="402336"/>
          </a:xfrm>
          <a:prstGeom prst="rect">
            <a:avLst/>
          </a:prstGeom>
          <a:noFill/>
          <a:ln/>
        </p:spPr>
        <p:txBody>
          <a:bodyPr wrap="square" lIns="0" tIns="0" rIns="0" bIns="0" rtlCol="0" anchor="ctr"/>
          <a:lstStyle/>
          <a:p>
            <a:pPr indent="0" marL="0">
              <a:buNone/>
            </a:pPr>
            <a:r>
              <a:rPr lang="en-US" sz="1200" b="1" dirty="0">
                <a:solidFill>
                  <a:srgbClr val="1E2E3A"/>
                </a:solidFill>
                <a:latin typeface="Calibri" pitchFamily="34" charset="0"/>
                <a:ea typeface="Calibri" pitchFamily="34" charset="-122"/>
                <a:cs typeface="Calibri" pitchFamily="34" charset="-120"/>
              </a:rPr>
              <a:t>OneDrive </a:t>
            </a:r>
            <a:pPr indent="0" marL="0">
              <a:buNone/>
            </a:pPr>
            <a:r>
              <a:rPr lang="en-US" sz="1200" dirty="0">
                <a:solidFill>
                  <a:srgbClr val="465A69"/>
                </a:solidFill>
                <a:latin typeface="Calibri" pitchFamily="34" charset="0"/>
                <a:ea typeface="Calibri" pitchFamily="34" charset="-122"/>
                <a:cs typeface="Calibri" pitchFamily="34" charset="-120"/>
              </a:rPr>
              <a:t>(storage)</a:t>
            </a:r>
            <a:endParaRPr lang="en-US" sz="1200" dirty="0"/>
          </a:p>
        </p:txBody>
      </p:sp>
      <p:sp>
        <p:nvSpPr>
          <p:cNvPr id="22" name="Shape 18"/>
          <p:cNvSpPr/>
          <p:nvPr/>
        </p:nvSpPr>
        <p:spPr>
          <a:xfrm>
            <a:off x="822960" y="4818888"/>
            <a:ext cx="402336" cy="402336"/>
          </a:xfrm>
          <a:prstGeom prst="roundRect">
            <a:avLst>
              <a:gd name="adj" fmla="val 18182"/>
            </a:avLst>
          </a:prstGeom>
          <a:solidFill>
            <a:srgbClr val="8F86B8"/>
          </a:solidFill>
          <a:ln w="12700">
            <a:solidFill>
              <a:srgbClr val="8F86B8"/>
            </a:solidFill>
            <a:prstDash val="solid"/>
          </a:ln>
        </p:spPr>
      </p:sp>
      <p:sp>
        <p:nvSpPr>
          <p:cNvPr id="23" name="Text 19"/>
          <p:cNvSpPr txBox="1"/>
          <p:nvPr/>
        </p:nvSpPr>
        <p:spPr>
          <a:xfrm>
            <a:off x="822960" y="481888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a:t>
            </a:r>
            <a:endParaRPr lang="en-US" sz="1400" dirty="0"/>
          </a:p>
        </p:txBody>
      </p:sp>
      <p:sp>
        <p:nvSpPr>
          <p:cNvPr id="24" name="Text 20"/>
          <p:cNvSpPr txBox="1"/>
          <p:nvPr/>
        </p:nvSpPr>
        <p:spPr>
          <a:xfrm>
            <a:off x="1325880" y="4818888"/>
            <a:ext cx="1687068" cy="402336"/>
          </a:xfrm>
          <a:prstGeom prst="rect">
            <a:avLst/>
          </a:prstGeom>
          <a:noFill/>
          <a:ln/>
        </p:spPr>
        <p:txBody>
          <a:bodyPr wrap="square" lIns="0" tIns="0" rIns="0" bIns="0" rtlCol="0" anchor="ctr"/>
          <a:lstStyle/>
          <a:p>
            <a:pPr indent="0" marL="0">
              <a:buNone/>
            </a:pPr>
            <a:r>
              <a:rPr lang="en-US" sz="1200" b="1" dirty="0">
                <a:solidFill>
                  <a:srgbClr val="1E2E3A"/>
                </a:solidFill>
                <a:latin typeface="Calibri" pitchFamily="34" charset="0"/>
                <a:ea typeface="Calibri" pitchFamily="34" charset="-122"/>
                <a:cs typeface="Calibri" pitchFamily="34" charset="-120"/>
              </a:rPr>
              <a:t>Entra ID </a:t>
            </a:r>
            <a:pPr indent="0" marL="0">
              <a:buNone/>
            </a:pPr>
            <a:r>
              <a:rPr lang="en-US" sz="1200" dirty="0">
                <a:solidFill>
                  <a:srgbClr val="465A69"/>
                </a:solidFill>
                <a:latin typeface="Calibri" pitchFamily="34" charset="0"/>
                <a:ea typeface="Calibri" pitchFamily="34" charset="-122"/>
                <a:cs typeface="Calibri" pitchFamily="34" charset="-120"/>
              </a:rPr>
              <a:t>(authentication)</a:t>
            </a:r>
            <a:endParaRPr lang="en-US" sz="1200" dirty="0"/>
          </a:p>
        </p:txBody>
      </p:sp>
      <p:sp>
        <p:nvSpPr>
          <p:cNvPr id="25" name="Shape 21"/>
          <p:cNvSpPr/>
          <p:nvPr/>
        </p:nvSpPr>
        <p:spPr>
          <a:xfrm>
            <a:off x="3378708" y="1920240"/>
            <a:ext cx="2601468" cy="3383280"/>
          </a:xfrm>
          <a:prstGeom prst="roundRect">
            <a:avLst>
              <a:gd name="adj" fmla="val 4921"/>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pic>
        <p:nvPicPr>
          <p:cNvPr id="26" name="Image 2" descr="preencoded.png">    </p:cNvPr>
          <p:cNvPicPr>
            <a:picLocks noChangeAspect="1"/>
          </p:cNvPicPr>
          <p:nvPr/>
        </p:nvPicPr>
        <p:blipFill>
          <a:blip r:embed="rId3"/>
          <a:stretch>
            <a:fillRect/>
          </a:stretch>
        </p:blipFill>
        <p:spPr>
          <a:xfrm>
            <a:off x="3579876" y="2121408"/>
            <a:ext cx="365760" cy="365760"/>
          </a:xfrm>
          <a:prstGeom prst="rect">
            <a:avLst/>
          </a:prstGeom>
        </p:spPr>
      </p:pic>
      <p:sp>
        <p:nvSpPr>
          <p:cNvPr id="27" name="Text 22"/>
          <p:cNvSpPr txBox="1"/>
          <p:nvPr/>
        </p:nvSpPr>
        <p:spPr>
          <a:xfrm>
            <a:off x="4037076" y="2075688"/>
            <a:ext cx="1824228" cy="475488"/>
          </a:xfrm>
          <a:prstGeom prst="rect">
            <a:avLst/>
          </a:prstGeom>
          <a:noFill/>
          <a:ln/>
        </p:spPr>
        <p:txBody>
          <a:bodyPr wrap="square" lIns="0" tIns="0" rIns="0" bIns="0" rtlCol="0" anchor="ctr"/>
          <a:lstStyle/>
          <a:p>
            <a:pPr indent="0" marL="0">
              <a:buNone/>
            </a:pPr>
            <a:r>
              <a:rPr lang="en-US" sz="1400" b="1" dirty="0">
                <a:solidFill>
                  <a:srgbClr val="23405A"/>
                </a:solidFill>
                <a:latin typeface="Calibri" pitchFamily="34" charset="0"/>
                <a:ea typeface="Calibri" pitchFamily="34" charset="-122"/>
                <a:cs typeface="Calibri" pitchFamily="34" charset="-120"/>
              </a:rPr>
              <a:t>Potential Business Impacts</a:t>
            </a:r>
            <a:endParaRPr lang="en-US" sz="1400" dirty="0"/>
          </a:p>
        </p:txBody>
      </p:sp>
      <p:sp>
        <p:nvSpPr>
          <p:cNvPr id="28" name="Text 23"/>
          <p:cNvSpPr txBox="1"/>
          <p:nvPr/>
        </p:nvSpPr>
        <p:spPr>
          <a:xfrm>
            <a:off x="3607308" y="2697480"/>
            <a:ext cx="2189988" cy="2514600"/>
          </a:xfrm>
          <a:prstGeom prst="rect">
            <a:avLst/>
          </a:prstGeom>
          <a:noFill/>
          <a:ln/>
        </p:spPr>
        <p:txBody>
          <a:bodyPr wrap="square" lIns="0" tIns="0" rIns="0" bIns="0" rtlCol="0" anchor="t"/>
          <a:lstStyle/>
          <a:p>
            <a:pPr marL="165100" indent="-165100">
              <a:spcAft>
                <a:spcPts val="600"/>
              </a:spcAft>
              <a:buSzPct val="100000"/>
              <a:buChar char="•"/>
            </a:pPr>
            <a:r>
              <a:rPr lang="en-US" sz="1200" dirty="0">
                <a:solidFill>
                  <a:srgbClr val="1E2E3A"/>
                </a:solidFill>
                <a:latin typeface="Calibri" pitchFamily="34" charset="0"/>
                <a:ea typeface="Calibri" pitchFamily="34" charset="-122"/>
                <a:cs typeface="Calibri" pitchFamily="34" charset="-120"/>
              </a:rPr>
              <a:t>Loss of internal and external communications</a:t>
            </a:r>
            <a:endParaRPr lang="en-US" sz="1200" dirty="0"/>
          </a:p>
          <a:p>
            <a:pPr marL="165100" indent="-165100">
              <a:spcAft>
                <a:spcPts val="600"/>
              </a:spcAft>
              <a:buSzPct val="100000"/>
              <a:buChar char="•"/>
            </a:pPr>
            <a:r>
              <a:rPr lang="en-US" sz="1200" dirty="0">
                <a:solidFill>
                  <a:srgbClr val="1E2E3A"/>
                </a:solidFill>
                <a:latin typeface="Calibri" pitchFamily="34" charset="0"/>
                <a:ea typeface="Calibri" pitchFamily="34" charset="-122"/>
                <a:cs typeface="Calibri" pitchFamily="34" charset="-120"/>
              </a:rPr>
              <a:t>Inability to access critical documents and systems</a:t>
            </a:r>
            <a:endParaRPr lang="en-US" sz="1200" dirty="0"/>
          </a:p>
          <a:p>
            <a:pPr marL="165100" indent="-165100">
              <a:spcAft>
                <a:spcPts val="600"/>
              </a:spcAft>
              <a:buSzPct val="100000"/>
              <a:buChar char="•"/>
            </a:pPr>
            <a:r>
              <a:rPr lang="en-US" sz="1200" dirty="0">
                <a:solidFill>
                  <a:srgbClr val="1E2E3A"/>
                </a:solidFill>
                <a:latin typeface="Calibri" pitchFamily="34" charset="0"/>
                <a:ea typeface="Calibri" pitchFamily="34" charset="-122"/>
                <a:cs typeface="Calibri" pitchFamily="34" charset="-120"/>
              </a:rPr>
              <a:t>Delays in clinical, R&amp;D and commercial operations</a:t>
            </a:r>
            <a:endParaRPr lang="en-US" sz="1200" dirty="0"/>
          </a:p>
          <a:p>
            <a:pPr marL="165100" indent="-165100">
              <a:spcAft>
                <a:spcPts val="600"/>
              </a:spcAft>
              <a:buSzPct val="100000"/>
              <a:buChar char="•"/>
            </a:pPr>
            <a:r>
              <a:rPr lang="en-US" sz="1200" dirty="0">
                <a:solidFill>
                  <a:srgbClr val="1E2E3A"/>
                </a:solidFill>
                <a:latin typeface="Calibri" pitchFamily="34" charset="0"/>
                <a:ea typeface="Calibri" pitchFamily="34" charset="-122"/>
                <a:cs typeface="Calibri" pitchFamily="34" charset="-120"/>
              </a:rPr>
              <a:t>Missed commitments to customers and partners</a:t>
            </a:r>
            <a:endParaRPr lang="en-US" sz="1200" dirty="0"/>
          </a:p>
          <a:p>
            <a:pPr marL="165100" indent="-165100">
              <a:spcAft>
                <a:spcPts val="600"/>
              </a:spcAft>
              <a:buSzPct val="100000"/>
              <a:buChar char="•"/>
            </a:pPr>
            <a:r>
              <a:rPr lang="en-US" sz="1200" dirty="0">
                <a:solidFill>
                  <a:srgbClr val="1E2E3A"/>
                </a:solidFill>
                <a:latin typeface="Calibri" pitchFamily="34" charset="0"/>
                <a:ea typeface="Calibri" pitchFamily="34" charset="-122"/>
                <a:cs typeface="Calibri" pitchFamily="34" charset="-120"/>
              </a:rPr>
              <a:t>Regulatory and compliance risks</a:t>
            </a:r>
            <a:endParaRPr lang="en-US" sz="1200" dirty="0"/>
          </a:p>
          <a:p>
            <a:pPr marL="165100" indent="-165100">
              <a:spcAft>
                <a:spcPts val="600"/>
              </a:spcAft>
              <a:buSzPct val="100000"/>
              <a:buChar char="•"/>
            </a:pPr>
            <a:r>
              <a:rPr lang="en-US" sz="1200" dirty="0">
                <a:solidFill>
                  <a:srgbClr val="1E2E3A"/>
                </a:solidFill>
                <a:latin typeface="Calibri" pitchFamily="34" charset="0"/>
                <a:ea typeface="Calibri" pitchFamily="34" charset="-122"/>
                <a:cs typeface="Calibri" pitchFamily="34" charset="-120"/>
              </a:rPr>
              <a:t>Degraded employee productivity and morale</a:t>
            </a:r>
            <a:endParaRPr lang="en-US" sz="1200" dirty="0"/>
          </a:p>
        </p:txBody>
      </p:sp>
      <p:sp>
        <p:nvSpPr>
          <p:cNvPr id="29" name="Shape 24"/>
          <p:cNvSpPr/>
          <p:nvPr/>
        </p:nvSpPr>
        <p:spPr>
          <a:xfrm>
            <a:off x="6208776" y="1920240"/>
            <a:ext cx="2601468" cy="3383280"/>
          </a:xfrm>
          <a:prstGeom prst="roundRect">
            <a:avLst>
              <a:gd name="adj" fmla="val 4921"/>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pic>
        <p:nvPicPr>
          <p:cNvPr id="30" name="Image 3" descr="preencoded.png">    </p:cNvPr>
          <p:cNvPicPr>
            <a:picLocks noChangeAspect="1"/>
          </p:cNvPicPr>
          <p:nvPr/>
        </p:nvPicPr>
        <p:blipFill>
          <a:blip r:embed="rId4"/>
          <a:stretch>
            <a:fillRect/>
          </a:stretch>
        </p:blipFill>
        <p:spPr>
          <a:xfrm>
            <a:off x="6409944" y="2121408"/>
            <a:ext cx="365760" cy="365760"/>
          </a:xfrm>
          <a:prstGeom prst="rect">
            <a:avLst/>
          </a:prstGeom>
        </p:spPr>
      </p:pic>
      <p:sp>
        <p:nvSpPr>
          <p:cNvPr id="31" name="Text 25"/>
          <p:cNvSpPr txBox="1"/>
          <p:nvPr/>
        </p:nvSpPr>
        <p:spPr>
          <a:xfrm>
            <a:off x="6867144" y="2075688"/>
            <a:ext cx="1824228" cy="475488"/>
          </a:xfrm>
          <a:prstGeom prst="rect">
            <a:avLst/>
          </a:prstGeom>
          <a:noFill/>
          <a:ln/>
        </p:spPr>
        <p:txBody>
          <a:bodyPr wrap="square" lIns="0" tIns="0" rIns="0" bIns="0" rtlCol="0" anchor="ctr"/>
          <a:lstStyle/>
          <a:p>
            <a:pPr indent="0" marL="0">
              <a:buNone/>
            </a:pPr>
            <a:r>
              <a:rPr lang="en-US" sz="1400" b="1" dirty="0">
                <a:solidFill>
                  <a:srgbClr val="23405A"/>
                </a:solidFill>
                <a:latin typeface="Calibri" pitchFamily="34" charset="0"/>
                <a:ea typeface="Calibri" pitchFamily="34" charset="-122"/>
                <a:cs typeface="Calibri" pitchFamily="34" charset="-120"/>
              </a:rPr>
              <a:t>Key DR/BC Decisions to Test</a:t>
            </a:r>
            <a:endParaRPr lang="en-US" sz="1400" dirty="0"/>
          </a:p>
        </p:txBody>
      </p:sp>
      <p:sp>
        <p:nvSpPr>
          <p:cNvPr id="32" name="Shape 26"/>
          <p:cNvSpPr/>
          <p:nvPr/>
        </p:nvSpPr>
        <p:spPr>
          <a:xfrm>
            <a:off x="6391656" y="2697480"/>
            <a:ext cx="274320" cy="274320"/>
          </a:xfrm>
          <a:prstGeom prst="ellipse">
            <a:avLst/>
          </a:prstGeom>
          <a:solidFill>
            <a:srgbClr val="7FA0BD"/>
          </a:solidFill>
          <a:ln w="12700">
            <a:solidFill>
              <a:srgbClr val="7FA0BD"/>
            </a:solidFill>
            <a:prstDash val="solid"/>
          </a:ln>
        </p:spPr>
      </p:sp>
      <p:sp>
        <p:nvSpPr>
          <p:cNvPr id="33" name="Text 27"/>
          <p:cNvSpPr txBox="1"/>
          <p:nvPr/>
        </p:nvSpPr>
        <p:spPr>
          <a:xfrm>
            <a:off x="6391656" y="269748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34" name="Text 28"/>
          <p:cNvSpPr txBox="1"/>
          <p:nvPr/>
        </p:nvSpPr>
        <p:spPr>
          <a:xfrm>
            <a:off x="6739128" y="2697480"/>
            <a:ext cx="1943100" cy="502920"/>
          </a:xfrm>
          <a:prstGeom prst="rect">
            <a:avLst/>
          </a:prstGeom>
          <a:noFill/>
          <a:ln/>
        </p:spPr>
        <p:txBody>
          <a:bodyPr wrap="square" lIns="0" tIns="0" rIns="0" bIns="0" rtlCol="0" anchor="t"/>
          <a:lstStyle/>
          <a:p>
            <a:pPr indent="0" marL="0">
              <a:buNone/>
            </a:pPr>
            <a:r>
              <a:rPr lang="en-US" sz="1200" dirty="0">
                <a:solidFill>
                  <a:srgbClr val="1E2E3A"/>
                </a:solidFill>
                <a:latin typeface="Calibri" pitchFamily="34" charset="0"/>
                <a:ea typeface="Calibri" pitchFamily="34" charset="-122"/>
                <a:cs typeface="Calibri" pitchFamily="34" charset="-120"/>
              </a:rPr>
              <a:t>When to activate BC vs. DR?</a:t>
            </a:r>
            <a:endParaRPr lang="en-US" sz="1200" dirty="0"/>
          </a:p>
        </p:txBody>
      </p:sp>
      <p:sp>
        <p:nvSpPr>
          <p:cNvPr id="35" name="Shape 29"/>
          <p:cNvSpPr/>
          <p:nvPr/>
        </p:nvSpPr>
        <p:spPr>
          <a:xfrm>
            <a:off x="6391656" y="3200400"/>
            <a:ext cx="274320" cy="274320"/>
          </a:xfrm>
          <a:prstGeom prst="ellipse">
            <a:avLst/>
          </a:prstGeom>
          <a:solidFill>
            <a:srgbClr val="7FA0BD"/>
          </a:solidFill>
          <a:ln w="12700">
            <a:solidFill>
              <a:srgbClr val="7FA0BD"/>
            </a:solidFill>
            <a:prstDash val="solid"/>
          </a:ln>
        </p:spPr>
      </p:sp>
      <p:sp>
        <p:nvSpPr>
          <p:cNvPr id="36" name="Text 30"/>
          <p:cNvSpPr txBox="1"/>
          <p:nvPr/>
        </p:nvSpPr>
        <p:spPr>
          <a:xfrm>
            <a:off x="6391656" y="320040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37" name="Text 31"/>
          <p:cNvSpPr txBox="1"/>
          <p:nvPr/>
        </p:nvSpPr>
        <p:spPr>
          <a:xfrm>
            <a:off x="6739128" y="3200400"/>
            <a:ext cx="1943100" cy="502920"/>
          </a:xfrm>
          <a:prstGeom prst="rect">
            <a:avLst/>
          </a:prstGeom>
          <a:noFill/>
          <a:ln/>
        </p:spPr>
        <p:txBody>
          <a:bodyPr wrap="square" lIns="0" tIns="0" rIns="0" bIns="0" rtlCol="0" anchor="t"/>
          <a:lstStyle/>
          <a:p>
            <a:pPr indent="0" marL="0">
              <a:buNone/>
            </a:pPr>
            <a:r>
              <a:rPr lang="en-US" sz="1200" dirty="0">
                <a:solidFill>
                  <a:srgbClr val="1E2E3A"/>
                </a:solidFill>
                <a:latin typeface="Calibri" pitchFamily="34" charset="0"/>
                <a:ea typeface="Calibri" pitchFamily="34" charset="-122"/>
                <a:cs typeface="Calibri" pitchFamily="34" charset="-120"/>
              </a:rPr>
              <a:t>What are the approved alternate tools and processes?</a:t>
            </a:r>
            <a:endParaRPr lang="en-US" sz="1200" dirty="0"/>
          </a:p>
        </p:txBody>
      </p:sp>
      <p:sp>
        <p:nvSpPr>
          <p:cNvPr id="38" name="Shape 32"/>
          <p:cNvSpPr/>
          <p:nvPr/>
        </p:nvSpPr>
        <p:spPr>
          <a:xfrm>
            <a:off x="6391656" y="3703320"/>
            <a:ext cx="274320" cy="274320"/>
          </a:xfrm>
          <a:prstGeom prst="ellipse">
            <a:avLst/>
          </a:prstGeom>
          <a:solidFill>
            <a:srgbClr val="7FA0BD"/>
          </a:solidFill>
          <a:ln w="12700">
            <a:solidFill>
              <a:srgbClr val="7FA0BD"/>
            </a:solidFill>
            <a:prstDash val="solid"/>
          </a:ln>
        </p:spPr>
      </p:sp>
      <p:sp>
        <p:nvSpPr>
          <p:cNvPr id="39" name="Text 33"/>
          <p:cNvSpPr txBox="1"/>
          <p:nvPr/>
        </p:nvSpPr>
        <p:spPr>
          <a:xfrm>
            <a:off x="6391656" y="370332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0" name="Text 34"/>
          <p:cNvSpPr txBox="1"/>
          <p:nvPr/>
        </p:nvSpPr>
        <p:spPr>
          <a:xfrm>
            <a:off x="6739128" y="3703320"/>
            <a:ext cx="1943100" cy="502920"/>
          </a:xfrm>
          <a:prstGeom prst="rect">
            <a:avLst/>
          </a:prstGeom>
          <a:noFill/>
          <a:ln/>
        </p:spPr>
        <p:txBody>
          <a:bodyPr wrap="square" lIns="0" tIns="0" rIns="0" bIns="0" rtlCol="0" anchor="t"/>
          <a:lstStyle/>
          <a:p>
            <a:pPr indent="0" marL="0">
              <a:buNone/>
            </a:pPr>
            <a:r>
              <a:rPr lang="en-US" sz="1200" dirty="0">
                <a:solidFill>
                  <a:srgbClr val="1E2E3A"/>
                </a:solidFill>
                <a:latin typeface="Calibri" pitchFamily="34" charset="0"/>
                <a:ea typeface="Calibri" pitchFamily="34" charset="-122"/>
                <a:cs typeface="Calibri" pitchFamily="34" charset="-120"/>
              </a:rPr>
              <a:t>How to maintain secure communications?</a:t>
            </a:r>
            <a:endParaRPr lang="en-US" sz="1200" dirty="0"/>
          </a:p>
        </p:txBody>
      </p:sp>
      <p:sp>
        <p:nvSpPr>
          <p:cNvPr id="41" name="Shape 35"/>
          <p:cNvSpPr/>
          <p:nvPr/>
        </p:nvSpPr>
        <p:spPr>
          <a:xfrm>
            <a:off x="6391656" y="4206240"/>
            <a:ext cx="274320" cy="274320"/>
          </a:xfrm>
          <a:prstGeom prst="ellipse">
            <a:avLst/>
          </a:prstGeom>
          <a:solidFill>
            <a:srgbClr val="7FA0BD"/>
          </a:solidFill>
          <a:ln w="12700">
            <a:solidFill>
              <a:srgbClr val="7FA0BD"/>
            </a:solidFill>
            <a:prstDash val="solid"/>
          </a:ln>
        </p:spPr>
      </p:sp>
      <p:sp>
        <p:nvSpPr>
          <p:cNvPr id="42" name="Text 36"/>
          <p:cNvSpPr txBox="1"/>
          <p:nvPr/>
        </p:nvSpPr>
        <p:spPr>
          <a:xfrm>
            <a:off x="6391656" y="420624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43" name="Text 37"/>
          <p:cNvSpPr txBox="1"/>
          <p:nvPr/>
        </p:nvSpPr>
        <p:spPr>
          <a:xfrm>
            <a:off x="6739128" y="4206240"/>
            <a:ext cx="1943100" cy="502920"/>
          </a:xfrm>
          <a:prstGeom prst="rect">
            <a:avLst/>
          </a:prstGeom>
          <a:noFill/>
          <a:ln/>
        </p:spPr>
        <p:txBody>
          <a:bodyPr wrap="square" lIns="0" tIns="0" rIns="0" bIns="0" rtlCol="0" anchor="t"/>
          <a:lstStyle/>
          <a:p>
            <a:pPr indent="0" marL="0">
              <a:buNone/>
            </a:pPr>
            <a:r>
              <a:rPr lang="en-US" sz="1200" dirty="0">
                <a:solidFill>
                  <a:srgbClr val="1E2E3A"/>
                </a:solidFill>
                <a:latin typeface="Calibri" pitchFamily="34" charset="0"/>
                <a:ea typeface="Calibri" pitchFamily="34" charset="-122"/>
                <a:cs typeface="Calibri" pitchFamily="34" charset="-120"/>
              </a:rPr>
              <a:t>What business functions take priority?</a:t>
            </a:r>
            <a:endParaRPr lang="en-US" sz="1200" dirty="0"/>
          </a:p>
        </p:txBody>
      </p:sp>
      <p:sp>
        <p:nvSpPr>
          <p:cNvPr id="44" name="Shape 38"/>
          <p:cNvSpPr/>
          <p:nvPr/>
        </p:nvSpPr>
        <p:spPr>
          <a:xfrm>
            <a:off x="6391656" y="4709160"/>
            <a:ext cx="274320" cy="274320"/>
          </a:xfrm>
          <a:prstGeom prst="ellipse">
            <a:avLst/>
          </a:prstGeom>
          <a:solidFill>
            <a:srgbClr val="7FA0BD"/>
          </a:solidFill>
          <a:ln w="12700">
            <a:solidFill>
              <a:srgbClr val="7FA0BD"/>
            </a:solidFill>
            <a:prstDash val="solid"/>
          </a:ln>
        </p:spPr>
      </p:sp>
      <p:sp>
        <p:nvSpPr>
          <p:cNvPr id="45" name="Text 39"/>
          <p:cNvSpPr txBox="1"/>
          <p:nvPr/>
        </p:nvSpPr>
        <p:spPr>
          <a:xfrm>
            <a:off x="6391656" y="470916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46" name="Text 40"/>
          <p:cNvSpPr txBox="1"/>
          <p:nvPr/>
        </p:nvSpPr>
        <p:spPr>
          <a:xfrm>
            <a:off x="6739128" y="4709160"/>
            <a:ext cx="1943100" cy="502920"/>
          </a:xfrm>
          <a:prstGeom prst="rect">
            <a:avLst/>
          </a:prstGeom>
          <a:noFill/>
          <a:ln/>
        </p:spPr>
        <p:txBody>
          <a:bodyPr wrap="square" lIns="0" tIns="0" rIns="0" bIns="0" rtlCol="0" anchor="t"/>
          <a:lstStyle/>
          <a:p>
            <a:pPr indent="0" marL="0">
              <a:buNone/>
            </a:pPr>
            <a:r>
              <a:rPr lang="en-US" sz="1200" dirty="0">
                <a:solidFill>
                  <a:srgbClr val="1E2E3A"/>
                </a:solidFill>
                <a:latin typeface="Calibri" pitchFamily="34" charset="0"/>
                <a:ea typeface="Calibri" pitchFamily="34" charset="-122"/>
                <a:cs typeface="Calibri" pitchFamily="34" charset="-120"/>
              </a:rPr>
              <a:t>When and how to transition back to normal operations?</a:t>
            </a:r>
            <a:endParaRPr lang="en-US" sz="1200" dirty="0"/>
          </a:p>
        </p:txBody>
      </p:sp>
      <p:sp>
        <p:nvSpPr>
          <p:cNvPr id="47" name="Shape 41"/>
          <p:cNvSpPr/>
          <p:nvPr/>
        </p:nvSpPr>
        <p:spPr>
          <a:xfrm>
            <a:off x="9038844" y="1920240"/>
            <a:ext cx="2601468" cy="3383280"/>
          </a:xfrm>
          <a:prstGeom prst="roundRect">
            <a:avLst>
              <a:gd name="adj" fmla="val 4921"/>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pic>
        <p:nvPicPr>
          <p:cNvPr id="48" name="Image 4" descr="preencoded.png">    </p:cNvPr>
          <p:cNvPicPr>
            <a:picLocks noChangeAspect="1"/>
          </p:cNvPicPr>
          <p:nvPr/>
        </p:nvPicPr>
        <p:blipFill>
          <a:blip r:embed="rId5"/>
          <a:stretch>
            <a:fillRect/>
          </a:stretch>
        </p:blipFill>
        <p:spPr>
          <a:xfrm>
            <a:off x="9240012" y="2121408"/>
            <a:ext cx="365760" cy="365760"/>
          </a:xfrm>
          <a:prstGeom prst="rect">
            <a:avLst/>
          </a:prstGeom>
        </p:spPr>
      </p:pic>
      <p:sp>
        <p:nvSpPr>
          <p:cNvPr id="49" name="Text 42"/>
          <p:cNvSpPr txBox="1"/>
          <p:nvPr/>
        </p:nvSpPr>
        <p:spPr>
          <a:xfrm>
            <a:off x="9697212" y="2075688"/>
            <a:ext cx="1824228" cy="475488"/>
          </a:xfrm>
          <a:prstGeom prst="rect">
            <a:avLst/>
          </a:prstGeom>
          <a:noFill/>
          <a:ln/>
        </p:spPr>
        <p:txBody>
          <a:bodyPr wrap="square" lIns="0" tIns="0" rIns="0" bIns="0" rtlCol="0" anchor="ctr"/>
          <a:lstStyle/>
          <a:p>
            <a:pPr indent="0" marL="0">
              <a:buNone/>
            </a:pPr>
            <a:r>
              <a:rPr lang="en-US" sz="1400" b="1" dirty="0">
                <a:solidFill>
                  <a:srgbClr val="23405A"/>
                </a:solidFill>
                <a:latin typeface="Calibri" pitchFamily="34" charset="0"/>
                <a:ea typeface="Calibri" pitchFamily="34" charset="-122"/>
                <a:cs typeface="Calibri" pitchFamily="34" charset="-120"/>
              </a:rPr>
              <a:t>Success Criteria</a:t>
            </a:r>
            <a:endParaRPr lang="en-US" sz="1400" dirty="0"/>
          </a:p>
        </p:txBody>
      </p:sp>
      <p:pic>
        <p:nvPicPr>
          <p:cNvPr id="50" name="Image 5" descr="preencoded.png">    </p:cNvPr>
          <p:cNvPicPr>
            <a:picLocks noChangeAspect="1"/>
          </p:cNvPicPr>
          <p:nvPr/>
        </p:nvPicPr>
        <p:blipFill>
          <a:blip r:embed="rId6"/>
          <a:stretch>
            <a:fillRect/>
          </a:stretch>
        </p:blipFill>
        <p:spPr>
          <a:xfrm>
            <a:off x="9267444" y="2724912"/>
            <a:ext cx="201168" cy="201168"/>
          </a:xfrm>
          <a:prstGeom prst="rect">
            <a:avLst/>
          </a:prstGeom>
        </p:spPr>
      </p:pic>
      <p:sp>
        <p:nvSpPr>
          <p:cNvPr id="51" name="Text 43"/>
          <p:cNvSpPr txBox="1"/>
          <p:nvPr/>
        </p:nvSpPr>
        <p:spPr>
          <a:xfrm>
            <a:off x="9541764" y="2697480"/>
            <a:ext cx="1915668" cy="419100"/>
          </a:xfrm>
          <a:prstGeom prst="rect">
            <a:avLst/>
          </a:prstGeom>
          <a:noFill/>
          <a:ln/>
        </p:spPr>
        <p:txBody>
          <a:bodyPr wrap="square" lIns="0" tIns="0" rIns="0" bIns="0" rtlCol="0" anchor="t"/>
          <a:lstStyle/>
          <a:p>
            <a:pPr indent="0" marL="0">
              <a:buNone/>
            </a:pPr>
            <a:r>
              <a:rPr lang="en-US" sz="1200" dirty="0">
                <a:solidFill>
                  <a:srgbClr val="1E2E3A"/>
                </a:solidFill>
                <a:latin typeface="Calibri" pitchFamily="34" charset="0"/>
                <a:ea typeface="Calibri" pitchFamily="34" charset="-122"/>
                <a:cs typeface="Calibri" pitchFamily="34" charset="-120"/>
              </a:rPr>
              <a:t>Clear decision-making and escalation</a:t>
            </a:r>
            <a:endParaRPr lang="en-US" sz="1200" dirty="0"/>
          </a:p>
        </p:txBody>
      </p:sp>
      <p:pic>
        <p:nvPicPr>
          <p:cNvPr id="52" name="Image 6" descr="preencoded.png">    </p:cNvPr>
          <p:cNvPicPr>
            <a:picLocks noChangeAspect="1"/>
          </p:cNvPicPr>
          <p:nvPr/>
        </p:nvPicPr>
        <p:blipFill>
          <a:blip r:embed="rId7"/>
          <a:stretch>
            <a:fillRect/>
          </a:stretch>
        </p:blipFill>
        <p:spPr>
          <a:xfrm>
            <a:off x="9267444" y="3144012"/>
            <a:ext cx="201168" cy="201168"/>
          </a:xfrm>
          <a:prstGeom prst="rect">
            <a:avLst/>
          </a:prstGeom>
        </p:spPr>
      </p:pic>
      <p:sp>
        <p:nvSpPr>
          <p:cNvPr id="53" name="Text 44"/>
          <p:cNvSpPr txBox="1"/>
          <p:nvPr/>
        </p:nvSpPr>
        <p:spPr>
          <a:xfrm>
            <a:off x="9541764" y="3116580"/>
            <a:ext cx="1915668" cy="419100"/>
          </a:xfrm>
          <a:prstGeom prst="rect">
            <a:avLst/>
          </a:prstGeom>
          <a:noFill/>
          <a:ln/>
        </p:spPr>
        <p:txBody>
          <a:bodyPr wrap="square" lIns="0" tIns="0" rIns="0" bIns="0" rtlCol="0" anchor="t"/>
          <a:lstStyle/>
          <a:p>
            <a:pPr indent="0" marL="0">
              <a:buNone/>
            </a:pPr>
            <a:r>
              <a:rPr lang="en-US" sz="1200" dirty="0">
                <a:solidFill>
                  <a:srgbClr val="1E2E3A"/>
                </a:solidFill>
                <a:latin typeface="Calibri" pitchFamily="34" charset="0"/>
                <a:ea typeface="Calibri" pitchFamily="34" charset="-122"/>
                <a:cs typeface="Calibri" pitchFamily="34" charset="-120"/>
              </a:rPr>
              <a:t>Effective communication with all stakeholders</a:t>
            </a:r>
            <a:endParaRPr lang="en-US" sz="1200" dirty="0"/>
          </a:p>
        </p:txBody>
      </p:sp>
      <p:pic>
        <p:nvPicPr>
          <p:cNvPr id="54" name="Image 7" descr="preencoded.png">    </p:cNvPr>
          <p:cNvPicPr>
            <a:picLocks noChangeAspect="1"/>
          </p:cNvPicPr>
          <p:nvPr/>
        </p:nvPicPr>
        <p:blipFill>
          <a:blip r:embed="rId8"/>
          <a:stretch>
            <a:fillRect/>
          </a:stretch>
        </p:blipFill>
        <p:spPr>
          <a:xfrm>
            <a:off x="9267444" y="3563112"/>
            <a:ext cx="201168" cy="201168"/>
          </a:xfrm>
          <a:prstGeom prst="rect">
            <a:avLst/>
          </a:prstGeom>
        </p:spPr>
      </p:pic>
      <p:sp>
        <p:nvSpPr>
          <p:cNvPr id="55" name="Text 45"/>
          <p:cNvSpPr txBox="1"/>
          <p:nvPr/>
        </p:nvSpPr>
        <p:spPr>
          <a:xfrm>
            <a:off x="9541764" y="3535680"/>
            <a:ext cx="1915668" cy="419100"/>
          </a:xfrm>
          <a:prstGeom prst="rect">
            <a:avLst/>
          </a:prstGeom>
          <a:noFill/>
          <a:ln/>
        </p:spPr>
        <p:txBody>
          <a:bodyPr wrap="square" lIns="0" tIns="0" rIns="0" bIns="0" rtlCol="0" anchor="t"/>
          <a:lstStyle/>
          <a:p>
            <a:pPr indent="0" marL="0">
              <a:buNone/>
            </a:pPr>
            <a:r>
              <a:rPr lang="en-US" sz="1200" dirty="0">
                <a:solidFill>
                  <a:srgbClr val="1E2E3A"/>
                </a:solidFill>
                <a:latin typeface="Calibri" pitchFamily="34" charset="0"/>
                <a:ea typeface="Calibri" pitchFamily="34" charset="-122"/>
                <a:cs typeface="Calibri" pitchFamily="34" charset="-120"/>
              </a:rPr>
              <a:t>Business can operate using alternate processes</a:t>
            </a:r>
            <a:endParaRPr lang="en-US" sz="1200" dirty="0"/>
          </a:p>
        </p:txBody>
      </p:sp>
      <p:pic>
        <p:nvPicPr>
          <p:cNvPr id="56" name="Image 8" descr="preencoded.png">    </p:cNvPr>
          <p:cNvPicPr>
            <a:picLocks noChangeAspect="1"/>
          </p:cNvPicPr>
          <p:nvPr/>
        </p:nvPicPr>
        <p:blipFill>
          <a:blip r:embed="rId9"/>
          <a:stretch>
            <a:fillRect/>
          </a:stretch>
        </p:blipFill>
        <p:spPr>
          <a:xfrm>
            <a:off x="9267444" y="3982212"/>
            <a:ext cx="201168" cy="201168"/>
          </a:xfrm>
          <a:prstGeom prst="rect">
            <a:avLst/>
          </a:prstGeom>
        </p:spPr>
      </p:pic>
      <p:sp>
        <p:nvSpPr>
          <p:cNvPr id="57" name="Text 46"/>
          <p:cNvSpPr txBox="1"/>
          <p:nvPr/>
        </p:nvSpPr>
        <p:spPr>
          <a:xfrm>
            <a:off x="9541764" y="3954780"/>
            <a:ext cx="1915668" cy="419100"/>
          </a:xfrm>
          <a:prstGeom prst="rect">
            <a:avLst/>
          </a:prstGeom>
          <a:noFill/>
          <a:ln/>
        </p:spPr>
        <p:txBody>
          <a:bodyPr wrap="square" lIns="0" tIns="0" rIns="0" bIns="0" rtlCol="0" anchor="t"/>
          <a:lstStyle/>
          <a:p>
            <a:pPr indent="0" marL="0">
              <a:buNone/>
            </a:pPr>
            <a:r>
              <a:rPr lang="en-US" sz="1200" dirty="0">
                <a:solidFill>
                  <a:srgbClr val="1E2E3A"/>
                </a:solidFill>
                <a:latin typeface="Calibri" pitchFamily="34" charset="0"/>
                <a:ea typeface="Calibri" pitchFamily="34" charset="-122"/>
                <a:cs typeface="Calibri" pitchFamily="34" charset="-120"/>
              </a:rPr>
              <a:t>DR/BC plans are practical and executable</a:t>
            </a:r>
            <a:endParaRPr lang="en-US" sz="1200" dirty="0"/>
          </a:p>
        </p:txBody>
      </p:sp>
      <p:pic>
        <p:nvPicPr>
          <p:cNvPr id="58" name="Image 9" descr="preencoded.png">    </p:cNvPr>
          <p:cNvPicPr>
            <a:picLocks noChangeAspect="1"/>
          </p:cNvPicPr>
          <p:nvPr/>
        </p:nvPicPr>
        <p:blipFill>
          <a:blip r:embed="rId10"/>
          <a:stretch>
            <a:fillRect/>
          </a:stretch>
        </p:blipFill>
        <p:spPr>
          <a:xfrm>
            <a:off x="9267444" y="4401312"/>
            <a:ext cx="201168" cy="201168"/>
          </a:xfrm>
          <a:prstGeom prst="rect">
            <a:avLst/>
          </a:prstGeom>
        </p:spPr>
      </p:pic>
      <p:sp>
        <p:nvSpPr>
          <p:cNvPr id="59" name="Text 47"/>
          <p:cNvSpPr txBox="1"/>
          <p:nvPr/>
        </p:nvSpPr>
        <p:spPr>
          <a:xfrm>
            <a:off x="9541764" y="4373880"/>
            <a:ext cx="1915668" cy="419100"/>
          </a:xfrm>
          <a:prstGeom prst="rect">
            <a:avLst/>
          </a:prstGeom>
          <a:noFill/>
          <a:ln/>
        </p:spPr>
        <p:txBody>
          <a:bodyPr wrap="square" lIns="0" tIns="0" rIns="0" bIns="0" rtlCol="0" anchor="t"/>
          <a:lstStyle/>
          <a:p>
            <a:pPr indent="0" marL="0">
              <a:buNone/>
            </a:pPr>
            <a:r>
              <a:rPr lang="en-US" sz="1200" dirty="0">
                <a:solidFill>
                  <a:srgbClr val="1E2E3A"/>
                </a:solidFill>
                <a:latin typeface="Calibri" pitchFamily="34" charset="0"/>
                <a:ea typeface="Calibri" pitchFamily="34" charset="-122"/>
                <a:cs typeface="Calibri" pitchFamily="34" charset="-120"/>
              </a:rPr>
              <a:t>Validated return to normal operations</a:t>
            </a:r>
            <a:endParaRPr lang="en-US" sz="1200" dirty="0"/>
          </a:p>
        </p:txBody>
      </p:sp>
      <p:pic>
        <p:nvPicPr>
          <p:cNvPr id="60" name="Image 10" descr="preencoded.png">    </p:cNvPr>
          <p:cNvPicPr>
            <a:picLocks noChangeAspect="1"/>
          </p:cNvPicPr>
          <p:nvPr/>
        </p:nvPicPr>
        <p:blipFill>
          <a:blip r:embed="rId11"/>
          <a:stretch>
            <a:fillRect/>
          </a:stretch>
        </p:blipFill>
        <p:spPr>
          <a:xfrm>
            <a:off x="9267444" y="4820412"/>
            <a:ext cx="201168" cy="201168"/>
          </a:xfrm>
          <a:prstGeom prst="rect">
            <a:avLst/>
          </a:prstGeom>
        </p:spPr>
      </p:pic>
      <p:sp>
        <p:nvSpPr>
          <p:cNvPr id="61" name="Text 48"/>
          <p:cNvSpPr txBox="1"/>
          <p:nvPr/>
        </p:nvSpPr>
        <p:spPr>
          <a:xfrm>
            <a:off x="9541764" y="4792980"/>
            <a:ext cx="1915668" cy="419100"/>
          </a:xfrm>
          <a:prstGeom prst="rect">
            <a:avLst/>
          </a:prstGeom>
          <a:noFill/>
          <a:ln/>
        </p:spPr>
        <p:txBody>
          <a:bodyPr wrap="square" lIns="0" tIns="0" rIns="0" bIns="0" rtlCol="0" anchor="t"/>
          <a:lstStyle/>
          <a:p>
            <a:pPr indent="0" marL="0">
              <a:buNone/>
            </a:pPr>
            <a:r>
              <a:rPr lang="en-US" sz="1200" dirty="0">
                <a:solidFill>
                  <a:srgbClr val="1E2E3A"/>
                </a:solidFill>
                <a:latin typeface="Calibri" pitchFamily="34" charset="0"/>
                <a:ea typeface="Calibri" pitchFamily="34" charset="-122"/>
                <a:cs typeface="Calibri" pitchFamily="34" charset="-120"/>
              </a:rPr>
              <a:t>Documented lessons learned and action items</a:t>
            </a:r>
            <a:endParaRPr lang="en-US" sz="1200" dirty="0"/>
          </a:p>
        </p:txBody>
      </p:sp>
      <p:sp>
        <p:nvSpPr>
          <p:cNvPr id="62" name="Shape 49"/>
          <p:cNvSpPr/>
          <p:nvPr/>
        </p:nvSpPr>
        <p:spPr>
          <a:xfrm>
            <a:off x="548640" y="5413248"/>
            <a:ext cx="11091672" cy="502920"/>
          </a:xfrm>
          <a:prstGeom prst="roundRect">
            <a:avLst>
              <a:gd name="adj" fmla="val 25455"/>
            </a:avLst>
          </a:prstGeom>
          <a:solidFill>
            <a:srgbClr val="DCEAF8"/>
          </a:solidFill>
          <a:ln w="12700">
            <a:solidFill>
              <a:srgbClr val="DCEAF8"/>
            </a:solidFill>
            <a:prstDash val="solid"/>
          </a:ln>
          <a:effectLst>
            <a:outerShdw sx="100000" sy="100000" kx="0" ky="0" algn="bl" rotWithShape="0" blurRad="177800" dist="50800" dir="5400000">
              <a:srgbClr val="1B4965">
                <a:alpha val="16000"/>
              </a:srgbClr>
            </a:outerShdw>
          </a:effectLst>
        </p:spPr>
      </p:sp>
      <p:sp>
        <p:nvSpPr>
          <p:cNvPr id="63" name="Text 50"/>
          <p:cNvSpPr txBox="1"/>
          <p:nvPr/>
        </p:nvSpPr>
        <p:spPr>
          <a:xfrm>
            <a:off x="777240" y="5413248"/>
            <a:ext cx="8412480" cy="502920"/>
          </a:xfrm>
          <a:prstGeom prst="rect">
            <a:avLst/>
          </a:prstGeom>
          <a:noFill/>
          <a:ln/>
        </p:spPr>
        <p:txBody>
          <a:bodyPr wrap="square" lIns="0" tIns="0" rIns="0" bIns="0" rtlCol="0" anchor="ctr"/>
          <a:lstStyle/>
          <a:p>
            <a:pPr indent="0" marL="0">
              <a:buNone/>
            </a:pPr>
            <a:r>
              <a:rPr lang="en-US" sz="1400" i="1" dirty="0">
                <a:solidFill>
                  <a:srgbClr val="1B2A4A"/>
                </a:solidFill>
                <a:latin typeface="Cambria" pitchFamily="34" charset="0"/>
                <a:ea typeface="Cambria" pitchFamily="34" charset="-122"/>
                <a:cs typeface="Cambria" pitchFamily="34" charset="-120"/>
              </a:rPr>
              <a:t>“Resilience isn’t the absence of disruption, it’s the ability to keep the business moving through it.”</a:t>
            </a:r>
            <a:endParaRPr lang="en-US" sz="1400" dirty="0"/>
          </a:p>
        </p:txBody>
      </p:sp>
      <p:sp>
        <p:nvSpPr>
          <p:cNvPr id="64" name="Text 51"/>
          <p:cNvSpPr txBox="1"/>
          <p:nvPr/>
        </p:nvSpPr>
        <p:spPr>
          <a:xfrm>
            <a:off x="9052560" y="5413248"/>
            <a:ext cx="2377440" cy="502920"/>
          </a:xfrm>
          <a:prstGeom prst="rect">
            <a:avLst/>
          </a:prstGeom>
          <a:noFill/>
          <a:ln/>
        </p:spPr>
        <p:txBody>
          <a:bodyPr wrap="square" lIns="0" tIns="0" rIns="0" bIns="0" rtlCol="0" anchor="ctr"/>
          <a:lstStyle/>
          <a:p>
            <a:pPr algn="r" indent="0" marL="0">
              <a:buNone/>
            </a:pPr>
            <a:r>
              <a:rPr lang="en-US" sz="1200" dirty="0">
                <a:solidFill>
                  <a:srgbClr val="3E5575"/>
                </a:solidFill>
                <a:latin typeface="Calibri" pitchFamily="34" charset="0"/>
                <a:ea typeface="Calibri" pitchFamily="34" charset="-122"/>
                <a:cs typeface="Calibri" pitchFamily="34" charset="-120"/>
              </a:rPr>
              <a:t>EXERCISE PRINCIPLE</a:t>
            </a:r>
            <a:endParaRPr lang="en-US" sz="1200" dirty="0"/>
          </a:p>
        </p:txBody>
      </p:sp>
      <p:sp>
        <p:nvSpPr>
          <p:cNvPr id="65" name="Text 52"/>
          <p:cNvSpPr txBox="1"/>
          <p:nvPr/>
        </p:nvSpPr>
        <p:spPr>
          <a:xfrm>
            <a:off x="548640" y="6254496"/>
            <a:ext cx="11091672" cy="256032"/>
          </a:xfrm>
          <a:prstGeom prst="rect">
            <a:avLst/>
          </a:prstGeom>
          <a:noFill/>
          <a:ln/>
        </p:spPr>
        <p:txBody>
          <a:bodyPr wrap="square" lIns="0" tIns="0" rIns="0" bIns="0" rtlCol="0" anchor="ctr"/>
          <a:lstStyle/>
          <a:p>
            <a:pPr indent="0" marL="0">
              <a:buNone/>
            </a:pPr>
            <a:r>
              <a:rPr lang="en-US" sz="1200" b="1" dirty="0">
                <a:solidFill>
                  <a:srgbClr val="465A69"/>
                </a:solidFill>
                <a:latin typeface="Calibri" pitchFamily="34" charset="0"/>
                <a:ea typeface="Calibri" pitchFamily="34" charset="-122"/>
                <a:cs typeface="Calibri" pitchFamily="34" charset="-120"/>
              </a:rPr>
              <a:t>Acronyms:  </a:t>
            </a:r>
            <a:pPr indent="0" marL="0">
              <a:buNone/>
            </a:pPr>
            <a:r>
              <a:rPr lang="en-US" sz="1200" dirty="0">
                <a:solidFill>
                  <a:srgbClr val="465A69"/>
                </a:solidFill>
                <a:latin typeface="Calibri" pitchFamily="34" charset="0"/>
                <a:ea typeface="Calibri" pitchFamily="34" charset="-122"/>
                <a:cs typeface="Calibri" pitchFamily="34" charset="-120"/>
              </a:rPr>
              <a:t>DR: Disaster Recovery;  BC: Business Continuity;  SaaS: software as a service;  R&amp;D: research and development</a:t>
            </a:r>
            <a:endParaRPr lang="en-US" sz="1200" dirty="0"/>
          </a:p>
        </p:txBody>
      </p:sp>
      <p:sp>
        <p:nvSpPr>
          <p:cNvPr id="66" name="Shape 53"/>
          <p:cNvSpPr/>
          <p:nvPr/>
        </p:nvSpPr>
        <p:spPr>
          <a:xfrm>
            <a:off x="548640" y="6537960"/>
            <a:ext cx="763524" cy="274320"/>
          </a:xfrm>
          <a:prstGeom prst="roundRect">
            <a:avLst>
              <a:gd name="adj" fmla="val 50000"/>
            </a:avLst>
          </a:prstGeom>
          <a:solidFill>
            <a:srgbClr val="E4ECF2"/>
          </a:solidFill>
          <a:ln w="12700">
            <a:solidFill>
              <a:srgbClr val="E4ECF2"/>
            </a:solidFill>
            <a:prstDash val="solid"/>
          </a:ln>
        </p:spPr>
      </p:sp>
      <p:sp>
        <p:nvSpPr>
          <p:cNvPr id="67" name="Text 54"/>
          <p:cNvSpPr txBox="1"/>
          <p:nvPr/>
        </p:nvSpPr>
        <p:spPr>
          <a:xfrm>
            <a:off x="548640" y="6537960"/>
            <a:ext cx="763524" cy="274320"/>
          </a:xfrm>
          <a:prstGeom prst="rect">
            <a:avLst/>
          </a:prstGeom>
          <a:noFill/>
          <a:ln/>
        </p:spPr>
        <p:txBody>
          <a:bodyPr wrap="square" lIns="0" tIns="0" rIns="0" bIns="0" rtlCol="0" anchor="ctr"/>
          <a:lstStyle/>
          <a:p>
            <a:pPr algn="ctr" indent="0" marL="0">
              <a:buNone/>
            </a:pPr>
            <a:r>
              <a:rPr lang="en-US" sz="1200" b="1" dirty="0">
                <a:solidFill>
                  <a:srgbClr val="23405A"/>
                </a:solidFill>
                <a:latin typeface="Calibri" pitchFamily="34" charset="0"/>
                <a:ea typeface="Calibri" pitchFamily="34" charset="-122"/>
                <a:cs typeface="Calibri" pitchFamily="34" charset="-120"/>
              </a:rPr>
              <a:t>Start</a:t>
            </a:r>
            <a:endParaRPr lang="en-US" sz="1200" dirty="0"/>
          </a:p>
        </p:txBody>
      </p:sp>
      <p:pic>
        <p:nvPicPr>
          <p:cNvPr id="68" name="Image 11" descr="preencoded.png">
            <a:hlinkClick r:id="rId13" tooltip="Go to Start" action="ppaction://hlinksldjump"/>
          </p:cNvPr>
          <p:cNvPicPr>
            <a:picLocks noChangeAspect="1"/>
          </p:cNvPicPr>
          <p:nvPr/>
        </p:nvPicPr>
        <p:blipFill>
          <a:blip r:embed="rId12"/>
          <a:stretch>
            <a:fillRect/>
          </a:stretch>
        </p:blipFill>
        <p:spPr>
          <a:xfrm>
            <a:off x="548640" y="6537960"/>
            <a:ext cx="763524" cy="274320"/>
          </a:xfrm>
          <a:prstGeom prst="rect">
            <a:avLst/>
          </a:prstGeom>
        </p:spPr>
      </p:pic>
      <p:sp>
        <p:nvSpPr>
          <p:cNvPr id="69" name="Shape 55"/>
          <p:cNvSpPr/>
          <p:nvPr/>
        </p:nvSpPr>
        <p:spPr>
          <a:xfrm>
            <a:off x="1385316" y="6537960"/>
            <a:ext cx="1197864" cy="274320"/>
          </a:xfrm>
          <a:prstGeom prst="roundRect">
            <a:avLst>
              <a:gd name="adj" fmla="val 50000"/>
            </a:avLst>
          </a:prstGeom>
          <a:solidFill>
            <a:srgbClr val="F1F6FA"/>
          </a:solidFill>
          <a:ln w="12700">
            <a:solidFill>
              <a:srgbClr val="F1F6FA"/>
            </a:solidFill>
            <a:prstDash val="solid"/>
          </a:ln>
        </p:spPr>
      </p:sp>
      <p:sp>
        <p:nvSpPr>
          <p:cNvPr id="70" name="Text 56"/>
          <p:cNvSpPr txBox="1"/>
          <p:nvPr/>
        </p:nvSpPr>
        <p:spPr>
          <a:xfrm>
            <a:off x="1385316" y="6537960"/>
            <a:ext cx="1197864" cy="274320"/>
          </a:xfrm>
          <a:prstGeom prst="rect">
            <a:avLst/>
          </a:prstGeom>
          <a:noFill/>
          <a:ln/>
        </p:spPr>
        <p:txBody>
          <a:bodyPr wrap="square" lIns="0" tIns="0" rIns="0" bIns="0" rtlCol="0" anchor="ctr"/>
          <a:lstStyle/>
          <a:p>
            <a:pPr algn="ctr" indent="0" marL="0">
              <a:buNone/>
            </a:pPr>
            <a:r>
              <a:rPr lang="en-US" sz="1200" b="1" dirty="0">
                <a:solidFill>
                  <a:srgbClr val="3F6E8C"/>
                </a:solidFill>
                <a:latin typeface="Calibri" pitchFamily="34" charset="0"/>
                <a:ea typeface="Calibri" pitchFamily="34" charset="-122"/>
                <a:cs typeface="Calibri" pitchFamily="34" charset="-120"/>
              </a:rPr>
              <a:t>Scenario 1</a:t>
            </a:r>
            <a:endParaRPr lang="en-US" sz="1200" dirty="0"/>
          </a:p>
        </p:txBody>
      </p:sp>
      <p:pic>
        <p:nvPicPr>
          <p:cNvPr id="71" name="Image 12" descr="preencoded.png">
            <a:hlinkClick r:id="rId15" tooltip="Go to Scenario 1" action="ppaction://hlinksldjump"/>
          </p:cNvPr>
          <p:cNvPicPr>
            <a:picLocks noChangeAspect="1"/>
          </p:cNvPicPr>
          <p:nvPr/>
        </p:nvPicPr>
        <p:blipFill>
          <a:blip r:embed="rId14"/>
          <a:stretch>
            <a:fillRect/>
          </a:stretch>
        </p:blipFill>
        <p:spPr>
          <a:xfrm>
            <a:off x="1385316" y="6537960"/>
            <a:ext cx="1197864" cy="274320"/>
          </a:xfrm>
          <a:prstGeom prst="rect">
            <a:avLst/>
          </a:prstGeom>
        </p:spPr>
      </p:pic>
      <p:sp>
        <p:nvSpPr>
          <p:cNvPr id="72" name="Shape 57"/>
          <p:cNvSpPr/>
          <p:nvPr/>
        </p:nvSpPr>
        <p:spPr>
          <a:xfrm>
            <a:off x="2656332" y="6537960"/>
            <a:ext cx="1197864" cy="274320"/>
          </a:xfrm>
          <a:prstGeom prst="roundRect">
            <a:avLst>
              <a:gd name="adj" fmla="val 50000"/>
            </a:avLst>
          </a:prstGeom>
          <a:solidFill>
            <a:srgbClr val="4C8068"/>
          </a:solidFill>
          <a:ln w="12700">
            <a:solidFill>
              <a:srgbClr val="4C8068"/>
            </a:solidFill>
            <a:prstDash val="solid"/>
          </a:ln>
        </p:spPr>
      </p:sp>
      <p:sp>
        <p:nvSpPr>
          <p:cNvPr id="73" name="Text 58"/>
          <p:cNvSpPr txBox="1"/>
          <p:nvPr/>
        </p:nvSpPr>
        <p:spPr>
          <a:xfrm>
            <a:off x="2656332" y="6537960"/>
            <a:ext cx="1197864"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Scenario 2</a:t>
            </a:r>
            <a:endParaRPr lang="en-US" sz="1200" dirty="0"/>
          </a:p>
        </p:txBody>
      </p:sp>
      <p:pic>
        <p:nvPicPr>
          <p:cNvPr id="74" name="Image 13" descr="preencoded.png">
            <a:hlinkClick r:id="rId17" tooltip="Go to Scenario 2" action="ppaction://hlinksldjump"/>
          </p:cNvPr>
          <p:cNvPicPr>
            <a:picLocks noChangeAspect="1"/>
          </p:cNvPicPr>
          <p:nvPr/>
        </p:nvPicPr>
        <p:blipFill>
          <a:blip r:embed="rId16"/>
          <a:stretch>
            <a:fillRect/>
          </a:stretch>
        </p:blipFill>
        <p:spPr>
          <a:xfrm>
            <a:off x="2656332" y="6537960"/>
            <a:ext cx="1197864" cy="274320"/>
          </a:xfrm>
          <a:prstGeom prst="rect">
            <a:avLst/>
          </a:prstGeom>
        </p:spPr>
      </p:pic>
      <p:sp>
        <p:nvSpPr>
          <p:cNvPr id="75" name="Shape 59"/>
          <p:cNvSpPr/>
          <p:nvPr/>
        </p:nvSpPr>
        <p:spPr>
          <a:xfrm>
            <a:off x="3927348" y="6537960"/>
            <a:ext cx="1197864" cy="274320"/>
          </a:xfrm>
          <a:prstGeom prst="roundRect">
            <a:avLst>
              <a:gd name="adj" fmla="val 50000"/>
            </a:avLst>
          </a:prstGeom>
          <a:solidFill>
            <a:srgbClr val="F6F3FA"/>
          </a:solidFill>
          <a:ln w="12700">
            <a:solidFill>
              <a:srgbClr val="F6F3FA"/>
            </a:solidFill>
            <a:prstDash val="solid"/>
          </a:ln>
        </p:spPr>
      </p:sp>
      <p:sp>
        <p:nvSpPr>
          <p:cNvPr id="76" name="Text 60"/>
          <p:cNvSpPr txBox="1"/>
          <p:nvPr/>
        </p:nvSpPr>
        <p:spPr>
          <a:xfrm>
            <a:off x="3927348" y="6537960"/>
            <a:ext cx="1197864" cy="274320"/>
          </a:xfrm>
          <a:prstGeom prst="rect">
            <a:avLst/>
          </a:prstGeom>
          <a:noFill/>
          <a:ln/>
        </p:spPr>
        <p:txBody>
          <a:bodyPr wrap="square" lIns="0" tIns="0" rIns="0" bIns="0" rtlCol="0" anchor="ctr"/>
          <a:lstStyle/>
          <a:p>
            <a:pPr algn="ctr" indent="0" marL="0">
              <a:buNone/>
            </a:pPr>
            <a:r>
              <a:rPr lang="en-US" sz="1200" b="1" dirty="0">
                <a:solidFill>
                  <a:srgbClr val="6E5E94"/>
                </a:solidFill>
                <a:latin typeface="Calibri" pitchFamily="34" charset="0"/>
                <a:ea typeface="Calibri" pitchFamily="34" charset="-122"/>
                <a:cs typeface="Calibri" pitchFamily="34" charset="-120"/>
              </a:rPr>
              <a:t>Scenario 3</a:t>
            </a:r>
            <a:endParaRPr lang="en-US" sz="1200" dirty="0"/>
          </a:p>
        </p:txBody>
      </p:sp>
      <p:pic>
        <p:nvPicPr>
          <p:cNvPr id="77" name="Image 14" descr="preencoded.png">
            <a:hlinkClick r:id="rId19" tooltip="Go to Scenario 3" action="ppaction://hlinksldjump"/>
          </p:cNvPr>
          <p:cNvPicPr>
            <a:picLocks noChangeAspect="1"/>
          </p:cNvPicPr>
          <p:nvPr/>
        </p:nvPicPr>
        <p:blipFill>
          <a:blip r:embed="rId18"/>
          <a:stretch>
            <a:fillRect/>
          </a:stretch>
        </p:blipFill>
        <p:spPr>
          <a:xfrm>
            <a:off x="3927348" y="6537960"/>
            <a:ext cx="1197864" cy="274320"/>
          </a:xfrm>
          <a:prstGeom prst="rect">
            <a:avLst/>
          </a:prstGeom>
        </p:spPr>
      </p:pic>
      <p:sp>
        <p:nvSpPr>
          <p:cNvPr id="78" name="Shape 61"/>
          <p:cNvSpPr/>
          <p:nvPr/>
        </p:nvSpPr>
        <p:spPr>
          <a:xfrm>
            <a:off x="5198364" y="6537960"/>
            <a:ext cx="937260" cy="274320"/>
          </a:xfrm>
          <a:prstGeom prst="roundRect">
            <a:avLst>
              <a:gd name="adj" fmla="val 50000"/>
            </a:avLst>
          </a:prstGeom>
          <a:solidFill>
            <a:srgbClr val="E4ECF2"/>
          </a:solidFill>
          <a:ln w="12700">
            <a:solidFill>
              <a:srgbClr val="E4ECF2"/>
            </a:solidFill>
            <a:prstDash val="solid"/>
          </a:ln>
        </p:spPr>
      </p:sp>
      <p:sp>
        <p:nvSpPr>
          <p:cNvPr id="79" name="Text 62"/>
          <p:cNvSpPr txBox="1"/>
          <p:nvPr/>
        </p:nvSpPr>
        <p:spPr>
          <a:xfrm>
            <a:off x="5198364" y="6537960"/>
            <a:ext cx="937260" cy="274320"/>
          </a:xfrm>
          <a:prstGeom prst="rect">
            <a:avLst/>
          </a:prstGeom>
          <a:noFill/>
          <a:ln/>
        </p:spPr>
        <p:txBody>
          <a:bodyPr wrap="square" lIns="0" tIns="0" rIns="0" bIns="0" rtlCol="0" anchor="ctr"/>
          <a:lstStyle/>
          <a:p>
            <a:pPr algn="ctr" indent="0" marL="0">
              <a:buNone/>
            </a:pPr>
            <a:r>
              <a:rPr lang="en-US" sz="1200" b="1" dirty="0">
                <a:solidFill>
                  <a:srgbClr val="23405A"/>
                </a:solidFill>
                <a:latin typeface="Calibri" pitchFamily="34" charset="0"/>
                <a:ea typeface="Calibri" pitchFamily="34" charset="-122"/>
                <a:cs typeface="Calibri" pitchFamily="34" charset="-120"/>
              </a:rPr>
              <a:t>Closing</a:t>
            </a:r>
            <a:endParaRPr lang="en-US" sz="1200" dirty="0"/>
          </a:p>
        </p:txBody>
      </p:sp>
      <p:pic>
        <p:nvPicPr>
          <p:cNvPr id="80" name="Image 15" descr="preencoded.png">
            <a:hlinkClick r:id="rId21" tooltip="Go to Closing" action="ppaction://hlinksldjump"/>
          </p:cNvPr>
          <p:cNvPicPr>
            <a:picLocks noChangeAspect="1"/>
          </p:cNvPicPr>
          <p:nvPr/>
        </p:nvPicPr>
        <p:blipFill>
          <a:blip r:embed="rId20"/>
          <a:stretch>
            <a:fillRect/>
          </a:stretch>
        </p:blipFill>
        <p:spPr>
          <a:xfrm>
            <a:off x="5198364" y="6537960"/>
            <a:ext cx="937260" cy="274320"/>
          </a:xfrm>
          <a:prstGeom prst="rect">
            <a:avLst/>
          </a:prstGeom>
        </p:spPr>
      </p:pic>
      <p:sp>
        <p:nvSpPr>
          <p:cNvPr id="81" name="Text 63"/>
          <p:cNvSpPr txBox="1"/>
          <p:nvPr/>
        </p:nvSpPr>
        <p:spPr>
          <a:xfrm>
            <a:off x="11277295" y="6537960"/>
            <a:ext cx="365760" cy="274320"/>
          </a:xfrm>
          <a:prstGeom prst="rect">
            <a:avLst/>
          </a:prstGeom>
          <a:noFill/>
          <a:ln/>
        </p:spPr>
        <p:txBody>
          <a:bodyPr wrap="square" lIns="0" tIns="0" rIns="0" bIns="0" rtlCol="0" anchor="ctr"/>
          <a:lstStyle/>
          <a:p>
            <a:pPr algn="r" indent="0" marL="0">
              <a:buNone/>
            </a:pPr>
            <a:r>
              <a:rPr lang="en-US" sz="1200" dirty="0">
                <a:solidFill>
                  <a:srgbClr val="465A69"/>
                </a:solidFill>
                <a:latin typeface="Calibri" pitchFamily="34" charset="0"/>
                <a:ea typeface="Calibri" pitchFamily="34" charset="-122"/>
                <a:cs typeface="Calibri" pitchFamily="34" charset="-120"/>
              </a:rPr>
              <a:t>37</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E6F2E9"/>
        </a:solidFill>
      </p:bgPr>
    </p:bg>
    <p:spTree>
      <p:nvGrpSpPr>
        <p:cNvPr id="1" name=""/>
        <p:cNvGrpSpPr/>
        <p:nvPr/>
      </p:nvGrpSpPr>
      <p:grpSpPr>
        <a:xfrm>
          <a:off x="0" y="0"/>
          <a:ext cx="0" cy="0"/>
          <a:chOff x="0" y="0"/>
          <a:chExt cx="0" cy="0"/>
        </a:xfrm>
      </p:grpSpPr>
      <p:sp>
        <p:nvSpPr>
          <p:cNvPr id="2" name="Shape 0"/>
          <p:cNvSpPr/>
          <p:nvPr/>
        </p:nvSpPr>
        <p:spPr>
          <a:xfrm>
            <a:off x="548640" y="347472"/>
            <a:ext cx="2843784" cy="329184"/>
          </a:xfrm>
          <a:prstGeom prst="roundRect">
            <a:avLst>
              <a:gd name="adj" fmla="val 50000"/>
            </a:avLst>
          </a:prstGeom>
          <a:solidFill>
            <a:srgbClr val="F1F8F3"/>
          </a:solidFill>
          <a:ln w="12700">
            <a:solidFill>
              <a:srgbClr val="F1F8F3"/>
            </a:solidFill>
            <a:prstDash val="solid"/>
          </a:ln>
        </p:spPr>
      </p:sp>
      <p:sp>
        <p:nvSpPr>
          <p:cNvPr id="3" name="Text 1"/>
          <p:cNvSpPr txBox="1"/>
          <p:nvPr/>
        </p:nvSpPr>
        <p:spPr>
          <a:xfrm>
            <a:off x="548640" y="347472"/>
            <a:ext cx="2843784" cy="329184"/>
          </a:xfrm>
          <a:prstGeom prst="rect">
            <a:avLst/>
          </a:prstGeom>
          <a:noFill/>
          <a:ln/>
        </p:spPr>
        <p:txBody>
          <a:bodyPr wrap="square" lIns="0" tIns="0" rIns="0" bIns="0" rtlCol="0" anchor="ctr"/>
          <a:lstStyle/>
          <a:p>
            <a:pPr algn="ctr" indent="0" marL="0">
              <a:buNone/>
            </a:pPr>
            <a:r>
              <a:rPr lang="en-US" sz="1200" b="1" dirty="0">
                <a:solidFill>
                  <a:srgbClr val="4C8068"/>
                </a:solidFill>
                <a:latin typeface="Calibri" pitchFamily="34" charset="0"/>
                <a:ea typeface="Calibri" pitchFamily="34" charset="-122"/>
                <a:cs typeface="Calibri" pitchFamily="34" charset="-120"/>
              </a:rPr>
              <a:t>Scenario 2: Disaster Recovery</a:t>
            </a:r>
            <a:endParaRPr lang="en-US" sz="1200" dirty="0"/>
          </a:p>
        </p:txBody>
      </p:sp>
      <p:sp>
        <p:nvSpPr>
          <p:cNvPr id="4" name="Text 2"/>
          <p:cNvSpPr txBox="1"/>
          <p:nvPr/>
        </p:nvSpPr>
        <p:spPr>
          <a:xfrm>
            <a:off x="548640" y="749808"/>
            <a:ext cx="11064240" cy="640080"/>
          </a:xfrm>
          <a:prstGeom prst="rect">
            <a:avLst/>
          </a:prstGeom>
          <a:noFill/>
          <a:ln/>
        </p:spPr>
        <p:txBody>
          <a:bodyPr wrap="square" lIns="0" tIns="0" rIns="0" bIns="0" rtlCol="0" anchor="ctr"/>
          <a:lstStyle/>
          <a:p>
            <a:pPr indent="0" marL="0">
              <a:buNone/>
            </a:pPr>
            <a:r>
              <a:rPr lang="en-US" sz="2800" b="1" dirty="0">
                <a:solidFill>
                  <a:srgbClr val="23405A"/>
                </a:solidFill>
                <a:latin typeface="Calibri" pitchFamily="34" charset="0"/>
                <a:ea typeface="Calibri" pitchFamily="34" charset="-122"/>
                <a:cs typeface="Calibri" pitchFamily="34" charset="-120"/>
              </a:rPr>
              <a:t>Hotwash</a:t>
            </a:r>
            <a:endParaRPr lang="en-US" sz="2800" dirty="0"/>
          </a:p>
        </p:txBody>
      </p:sp>
      <p:sp>
        <p:nvSpPr>
          <p:cNvPr id="5" name="Shape 3"/>
          <p:cNvSpPr/>
          <p:nvPr/>
        </p:nvSpPr>
        <p:spPr>
          <a:xfrm>
            <a:off x="10705795" y="347472"/>
            <a:ext cx="937260" cy="329184"/>
          </a:xfrm>
          <a:prstGeom prst="roundRect">
            <a:avLst>
              <a:gd name="adj" fmla="val 50000"/>
            </a:avLst>
          </a:prstGeom>
          <a:solidFill>
            <a:srgbClr val="4C8068"/>
          </a:solidFill>
          <a:ln w="12700">
            <a:solidFill>
              <a:srgbClr val="4C8068"/>
            </a:solidFill>
            <a:prstDash val="solid"/>
          </a:ln>
        </p:spPr>
      </p:sp>
      <p:sp>
        <p:nvSpPr>
          <p:cNvPr id="6" name="Text 4"/>
          <p:cNvSpPr txBox="1"/>
          <p:nvPr/>
        </p:nvSpPr>
        <p:spPr>
          <a:xfrm>
            <a:off x="10705795" y="347472"/>
            <a:ext cx="93726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Hotwash</a:t>
            </a:r>
            <a:endParaRPr lang="en-US" sz="1200" dirty="0"/>
          </a:p>
        </p:txBody>
      </p:sp>
      <p:sp>
        <p:nvSpPr>
          <p:cNvPr id="7" name="Shape 5"/>
          <p:cNvSpPr/>
          <p:nvPr/>
        </p:nvSpPr>
        <p:spPr>
          <a:xfrm>
            <a:off x="9608515" y="347472"/>
            <a:ext cx="1024128" cy="329184"/>
          </a:xfrm>
          <a:prstGeom prst="roundRect">
            <a:avLst>
              <a:gd name="adj" fmla="val 50000"/>
            </a:avLst>
          </a:prstGeom>
          <a:solidFill>
            <a:srgbClr val="F1F8F3"/>
          </a:solidFill>
          <a:ln w="12700">
            <a:solidFill>
              <a:srgbClr val="F1F8F3"/>
            </a:solidFill>
            <a:prstDash val="solid"/>
          </a:ln>
        </p:spPr>
      </p:sp>
      <p:sp>
        <p:nvSpPr>
          <p:cNvPr id="8" name="Text 6"/>
          <p:cNvSpPr txBox="1"/>
          <p:nvPr/>
        </p:nvSpPr>
        <p:spPr>
          <a:xfrm>
            <a:off x="9608515" y="347472"/>
            <a:ext cx="1024128" cy="329184"/>
          </a:xfrm>
          <a:prstGeom prst="rect">
            <a:avLst/>
          </a:prstGeom>
          <a:noFill/>
          <a:ln/>
        </p:spPr>
        <p:txBody>
          <a:bodyPr wrap="square" lIns="0" tIns="0" rIns="0" bIns="0" rtlCol="0" anchor="ctr"/>
          <a:lstStyle/>
          <a:p>
            <a:pPr algn="ctr" indent="0" marL="0">
              <a:buNone/>
            </a:pPr>
            <a:r>
              <a:rPr lang="en-US" sz="1200" dirty="0">
                <a:solidFill>
                  <a:srgbClr val="4C8068"/>
                </a:solidFill>
                <a:latin typeface="Calibri" pitchFamily="34" charset="0"/>
                <a:ea typeface="Calibri" pitchFamily="34" charset="-122"/>
                <a:cs typeface="Calibri" pitchFamily="34" charset="-120"/>
              </a:rPr>
              <a:t>Recovery</a:t>
            </a:r>
            <a:endParaRPr lang="en-US" sz="1200" dirty="0"/>
          </a:p>
        </p:txBody>
      </p:sp>
      <p:sp>
        <p:nvSpPr>
          <p:cNvPr id="9" name="Shape 7"/>
          <p:cNvSpPr/>
          <p:nvPr/>
        </p:nvSpPr>
        <p:spPr>
          <a:xfrm>
            <a:off x="8598103" y="347472"/>
            <a:ext cx="937260" cy="329184"/>
          </a:xfrm>
          <a:prstGeom prst="roundRect">
            <a:avLst>
              <a:gd name="adj" fmla="val 50000"/>
            </a:avLst>
          </a:prstGeom>
          <a:solidFill>
            <a:srgbClr val="F1F8F3"/>
          </a:solidFill>
          <a:ln w="12700">
            <a:solidFill>
              <a:srgbClr val="F1F8F3"/>
            </a:solidFill>
            <a:prstDash val="solid"/>
          </a:ln>
        </p:spPr>
      </p:sp>
      <p:sp>
        <p:nvSpPr>
          <p:cNvPr id="10" name="Text 8"/>
          <p:cNvSpPr txBox="1"/>
          <p:nvPr/>
        </p:nvSpPr>
        <p:spPr>
          <a:xfrm>
            <a:off x="8598103" y="347472"/>
            <a:ext cx="937260" cy="329184"/>
          </a:xfrm>
          <a:prstGeom prst="rect">
            <a:avLst/>
          </a:prstGeom>
          <a:noFill/>
          <a:ln/>
        </p:spPr>
        <p:txBody>
          <a:bodyPr wrap="square" lIns="0" tIns="0" rIns="0" bIns="0" rtlCol="0" anchor="ctr"/>
          <a:lstStyle/>
          <a:p>
            <a:pPr algn="ctr" indent="0" marL="0">
              <a:buNone/>
            </a:pPr>
            <a:r>
              <a:rPr lang="en-US" sz="1200" dirty="0">
                <a:solidFill>
                  <a:srgbClr val="4C8068"/>
                </a:solidFill>
                <a:latin typeface="Calibri" pitchFamily="34" charset="0"/>
                <a:ea typeface="Calibri" pitchFamily="34" charset="-122"/>
                <a:cs typeface="Calibri" pitchFamily="34" charset="-120"/>
              </a:rPr>
              <a:t>Injects</a:t>
            </a:r>
            <a:endParaRPr lang="en-US" sz="1200" dirty="0"/>
          </a:p>
        </p:txBody>
      </p:sp>
      <p:sp>
        <p:nvSpPr>
          <p:cNvPr id="11" name="Shape 9"/>
          <p:cNvSpPr/>
          <p:nvPr/>
        </p:nvSpPr>
        <p:spPr>
          <a:xfrm>
            <a:off x="7674559" y="347472"/>
            <a:ext cx="850392" cy="329184"/>
          </a:xfrm>
          <a:prstGeom prst="roundRect">
            <a:avLst>
              <a:gd name="adj" fmla="val 50000"/>
            </a:avLst>
          </a:prstGeom>
          <a:solidFill>
            <a:srgbClr val="F1F8F3"/>
          </a:solidFill>
          <a:ln w="12700">
            <a:solidFill>
              <a:srgbClr val="F1F8F3"/>
            </a:solidFill>
            <a:prstDash val="solid"/>
          </a:ln>
        </p:spPr>
      </p:sp>
      <p:sp>
        <p:nvSpPr>
          <p:cNvPr id="12" name="Text 10"/>
          <p:cNvSpPr txBox="1"/>
          <p:nvPr/>
        </p:nvSpPr>
        <p:spPr>
          <a:xfrm>
            <a:off x="7674559" y="347472"/>
            <a:ext cx="850392" cy="329184"/>
          </a:xfrm>
          <a:prstGeom prst="rect">
            <a:avLst/>
          </a:prstGeom>
          <a:noFill/>
          <a:ln/>
        </p:spPr>
        <p:txBody>
          <a:bodyPr wrap="square" lIns="0" tIns="0" rIns="0" bIns="0" rtlCol="0" anchor="ctr"/>
          <a:lstStyle/>
          <a:p>
            <a:pPr algn="ctr" indent="0" marL="0">
              <a:buNone/>
            </a:pPr>
            <a:r>
              <a:rPr lang="en-US" sz="1200" dirty="0">
                <a:solidFill>
                  <a:srgbClr val="4C8068"/>
                </a:solidFill>
                <a:latin typeface="Calibri" pitchFamily="34" charset="0"/>
                <a:ea typeface="Calibri" pitchFamily="34" charset="-122"/>
                <a:cs typeface="Calibri" pitchFamily="34" charset="-120"/>
              </a:rPr>
              <a:t>Decide</a:t>
            </a:r>
            <a:endParaRPr lang="en-US" sz="1200" dirty="0"/>
          </a:p>
        </p:txBody>
      </p:sp>
      <p:sp>
        <p:nvSpPr>
          <p:cNvPr id="13" name="Shape 11"/>
          <p:cNvSpPr/>
          <p:nvPr/>
        </p:nvSpPr>
        <p:spPr>
          <a:xfrm>
            <a:off x="7011619" y="347472"/>
            <a:ext cx="589788" cy="329184"/>
          </a:xfrm>
          <a:prstGeom prst="roundRect">
            <a:avLst>
              <a:gd name="adj" fmla="val 50000"/>
            </a:avLst>
          </a:prstGeom>
          <a:solidFill>
            <a:srgbClr val="F1F8F3"/>
          </a:solidFill>
          <a:ln w="12700">
            <a:solidFill>
              <a:srgbClr val="F1F8F3"/>
            </a:solidFill>
            <a:prstDash val="solid"/>
          </a:ln>
        </p:spPr>
      </p:sp>
      <p:sp>
        <p:nvSpPr>
          <p:cNvPr id="14" name="Text 12"/>
          <p:cNvSpPr txBox="1"/>
          <p:nvPr/>
        </p:nvSpPr>
        <p:spPr>
          <a:xfrm>
            <a:off x="7011619" y="347472"/>
            <a:ext cx="589788" cy="329184"/>
          </a:xfrm>
          <a:prstGeom prst="rect">
            <a:avLst/>
          </a:prstGeom>
          <a:noFill/>
          <a:ln/>
        </p:spPr>
        <p:txBody>
          <a:bodyPr wrap="square" lIns="0" tIns="0" rIns="0" bIns="0" rtlCol="0" anchor="ctr"/>
          <a:lstStyle/>
          <a:p>
            <a:pPr algn="ctr" indent="0" marL="0">
              <a:buNone/>
            </a:pPr>
            <a:r>
              <a:rPr lang="en-US" sz="1200" dirty="0">
                <a:solidFill>
                  <a:srgbClr val="4C8068"/>
                </a:solidFill>
                <a:latin typeface="Calibri" pitchFamily="34" charset="0"/>
                <a:ea typeface="Calibri" pitchFamily="34" charset="-122"/>
                <a:cs typeface="Calibri" pitchFamily="34" charset="-120"/>
              </a:rPr>
              <a:t>T+0</a:t>
            </a:r>
            <a:endParaRPr lang="en-US" sz="1200" dirty="0"/>
          </a:p>
        </p:txBody>
      </p:sp>
      <p:sp>
        <p:nvSpPr>
          <p:cNvPr id="15" name="Shape 13"/>
          <p:cNvSpPr/>
          <p:nvPr/>
        </p:nvSpPr>
        <p:spPr>
          <a:xfrm>
            <a:off x="5740603" y="347472"/>
            <a:ext cx="1197864" cy="329184"/>
          </a:xfrm>
          <a:prstGeom prst="roundRect">
            <a:avLst>
              <a:gd name="adj" fmla="val 50000"/>
            </a:avLst>
          </a:prstGeom>
          <a:solidFill>
            <a:srgbClr val="F1F8F3"/>
          </a:solidFill>
          <a:ln w="12700">
            <a:solidFill>
              <a:srgbClr val="F1F8F3"/>
            </a:solidFill>
            <a:prstDash val="solid"/>
          </a:ln>
        </p:spPr>
      </p:sp>
      <p:sp>
        <p:nvSpPr>
          <p:cNvPr id="16" name="Text 14"/>
          <p:cNvSpPr txBox="1"/>
          <p:nvPr/>
        </p:nvSpPr>
        <p:spPr>
          <a:xfrm>
            <a:off x="5740603" y="347472"/>
            <a:ext cx="1197864" cy="329184"/>
          </a:xfrm>
          <a:prstGeom prst="rect">
            <a:avLst/>
          </a:prstGeom>
          <a:noFill/>
          <a:ln/>
        </p:spPr>
        <p:txBody>
          <a:bodyPr wrap="square" lIns="0" tIns="0" rIns="0" bIns="0" rtlCol="0" anchor="ctr"/>
          <a:lstStyle/>
          <a:p>
            <a:pPr algn="ctr" indent="0" marL="0">
              <a:buNone/>
            </a:pPr>
            <a:r>
              <a:rPr lang="en-US" sz="1200" dirty="0">
                <a:solidFill>
                  <a:srgbClr val="4C8068"/>
                </a:solidFill>
                <a:latin typeface="Calibri" pitchFamily="34" charset="0"/>
                <a:ea typeface="Calibri" pitchFamily="34" charset="-122"/>
                <a:cs typeface="Calibri" pitchFamily="34" charset="-120"/>
              </a:rPr>
              <a:t>Background</a:t>
            </a:r>
            <a:endParaRPr lang="en-US" sz="1200" dirty="0"/>
          </a:p>
        </p:txBody>
      </p:sp>
      <p:sp>
        <p:nvSpPr>
          <p:cNvPr id="17" name="Shape 15"/>
          <p:cNvSpPr/>
          <p:nvPr/>
        </p:nvSpPr>
        <p:spPr>
          <a:xfrm>
            <a:off x="548640" y="1600200"/>
            <a:ext cx="2596896" cy="2103120"/>
          </a:xfrm>
          <a:prstGeom prst="roundRect">
            <a:avLst>
              <a:gd name="adj" fmla="val 6087"/>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18" name="Shape 16"/>
          <p:cNvSpPr/>
          <p:nvPr/>
        </p:nvSpPr>
        <p:spPr>
          <a:xfrm>
            <a:off x="777240" y="1828800"/>
            <a:ext cx="384048" cy="384048"/>
          </a:xfrm>
          <a:prstGeom prst="ellipse">
            <a:avLst/>
          </a:prstGeom>
          <a:solidFill>
            <a:srgbClr val="F1F8F3"/>
          </a:solidFill>
          <a:ln w="12700">
            <a:solidFill>
              <a:srgbClr val="F1F8F3"/>
            </a:solidFill>
            <a:prstDash val="solid"/>
          </a:ln>
        </p:spPr>
      </p:sp>
      <p:sp>
        <p:nvSpPr>
          <p:cNvPr id="19" name="Text 17"/>
          <p:cNvSpPr txBox="1"/>
          <p:nvPr/>
        </p:nvSpPr>
        <p:spPr>
          <a:xfrm>
            <a:off x="777240" y="1828800"/>
            <a:ext cx="384048" cy="384048"/>
          </a:xfrm>
          <a:prstGeom prst="rect">
            <a:avLst/>
          </a:prstGeom>
          <a:noFill/>
          <a:ln/>
        </p:spPr>
        <p:txBody>
          <a:bodyPr wrap="square" lIns="0" tIns="0" rIns="0" bIns="0" rtlCol="0" anchor="ctr"/>
          <a:lstStyle/>
          <a:p>
            <a:pPr algn="ctr" indent="0" marL="0">
              <a:buNone/>
            </a:pPr>
            <a:r>
              <a:rPr lang="en-US" sz="1200" b="1" dirty="0">
                <a:solidFill>
                  <a:srgbClr val="4C8068"/>
                </a:solidFill>
                <a:latin typeface="Calibri" pitchFamily="34" charset="0"/>
                <a:ea typeface="Calibri" pitchFamily="34" charset="-122"/>
                <a:cs typeface="Calibri" pitchFamily="34" charset="-120"/>
              </a:rPr>
              <a:t>1</a:t>
            </a:r>
            <a:endParaRPr lang="en-US" sz="1200" dirty="0"/>
          </a:p>
        </p:txBody>
      </p:sp>
      <p:sp>
        <p:nvSpPr>
          <p:cNvPr id="20" name="Text 18"/>
          <p:cNvSpPr txBox="1"/>
          <p:nvPr/>
        </p:nvSpPr>
        <p:spPr>
          <a:xfrm>
            <a:off x="777240" y="2331720"/>
            <a:ext cx="2139696" cy="457200"/>
          </a:xfrm>
          <a:prstGeom prst="rect">
            <a:avLst/>
          </a:prstGeom>
          <a:noFill/>
          <a:ln/>
        </p:spPr>
        <p:txBody>
          <a:bodyPr wrap="square" lIns="0" tIns="0" rIns="0" bIns="0" rtlCol="0" anchor="t"/>
          <a:lstStyle/>
          <a:p>
            <a:pPr indent="0" marL="0">
              <a:buNone/>
            </a:pPr>
            <a:r>
              <a:rPr lang="en-US" sz="1500" b="1" dirty="0">
                <a:solidFill>
                  <a:srgbClr val="1E2E3A"/>
                </a:solidFill>
                <a:latin typeface="Calibri" pitchFamily="34" charset="0"/>
                <a:ea typeface="Calibri" pitchFamily="34" charset="-122"/>
                <a:cs typeface="Calibri" pitchFamily="34" charset="-120"/>
              </a:rPr>
              <a:t>What worked?</a:t>
            </a:r>
            <a:endParaRPr lang="en-US" sz="1500" dirty="0"/>
          </a:p>
        </p:txBody>
      </p:sp>
      <p:sp>
        <p:nvSpPr>
          <p:cNvPr id="21" name="Text 19"/>
          <p:cNvSpPr txBox="1"/>
          <p:nvPr/>
        </p:nvSpPr>
        <p:spPr>
          <a:xfrm>
            <a:off x="777240" y="2807208"/>
            <a:ext cx="2139696" cy="777240"/>
          </a:xfrm>
          <a:prstGeom prst="rect">
            <a:avLst/>
          </a:prstGeom>
          <a:noFill/>
          <a:ln/>
        </p:spPr>
        <p:txBody>
          <a:bodyPr wrap="square" lIns="0" tIns="0" rIns="0" bIns="0" rtlCol="0" anchor="t"/>
          <a:lstStyle/>
          <a:p>
            <a:pPr indent="0" marL="0">
              <a:buNone/>
            </a:pPr>
            <a:r>
              <a:rPr lang="en-US" sz="1200" dirty="0">
                <a:solidFill>
                  <a:srgbClr val="465A69"/>
                </a:solidFill>
                <a:latin typeface="Calibri" pitchFamily="34" charset="0"/>
                <a:ea typeface="Calibri" pitchFamily="34" charset="-122"/>
                <a:cs typeface="Calibri" pitchFamily="34" charset="-120"/>
              </a:rPr>
              <a:t>Decisions, plans, and people that performed as intended.</a:t>
            </a:r>
            <a:endParaRPr lang="en-US" sz="1200" dirty="0"/>
          </a:p>
        </p:txBody>
      </p:sp>
      <p:sp>
        <p:nvSpPr>
          <p:cNvPr id="22" name="Shape 20"/>
          <p:cNvSpPr/>
          <p:nvPr/>
        </p:nvSpPr>
        <p:spPr>
          <a:xfrm>
            <a:off x="3383280" y="1600200"/>
            <a:ext cx="2596896" cy="2103120"/>
          </a:xfrm>
          <a:prstGeom prst="roundRect">
            <a:avLst>
              <a:gd name="adj" fmla="val 6087"/>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23" name="Shape 21"/>
          <p:cNvSpPr/>
          <p:nvPr/>
        </p:nvSpPr>
        <p:spPr>
          <a:xfrm>
            <a:off x="3611880" y="1828800"/>
            <a:ext cx="384048" cy="384048"/>
          </a:xfrm>
          <a:prstGeom prst="ellipse">
            <a:avLst/>
          </a:prstGeom>
          <a:solidFill>
            <a:srgbClr val="F1F8F3"/>
          </a:solidFill>
          <a:ln w="12700">
            <a:solidFill>
              <a:srgbClr val="F1F8F3"/>
            </a:solidFill>
            <a:prstDash val="solid"/>
          </a:ln>
        </p:spPr>
      </p:sp>
      <p:sp>
        <p:nvSpPr>
          <p:cNvPr id="24" name="Text 22"/>
          <p:cNvSpPr txBox="1"/>
          <p:nvPr/>
        </p:nvSpPr>
        <p:spPr>
          <a:xfrm>
            <a:off x="3611880" y="1828800"/>
            <a:ext cx="384048" cy="384048"/>
          </a:xfrm>
          <a:prstGeom prst="rect">
            <a:avLst/>
          </a:prstGeom>
          <a:noFill/>
          <a:ln/>
        </p:spPr>
        <p:txBody>
          <a:bodyPr wrap="square" lIns="0" tIns="0" rIns="0" bIns="0" rtlCol="0" anchor="ctr"/>
          <a:lstStyle/>
          <a:p>
            <a:pPr algn="ctr" indent="0" marL="0">
              <a:buNone/>
            </a:pPr>
            <a:r>
              <a:rPr lang="en-US" sz="1200" b="1" dirty="0">
                <a:solidFill>
                  <a:srgbClr val="4C8068"/>
                </a:solidFill>
                <a:latin typeface="Calibri" pitchFamily="34" charset="0"/>
                <a:ea typeface="Calibri" pitchFamily="34" charset="-122"/>
                <a:cs typeface="Calibri" pitchFamily="34" charset="-120"/>
              </a:rPr>
              <a:t>2</a:t>
            </a:r>
            <a:endParaRPr lang="en-US" sz="1200" dirty="0"/>
          </a:p>
        </p:txBody>
      </p:sp>
      <p:sp>
        <p:nvSpPr>
          <p:cNvPr id="25" name="Text 23"/>
          <p:cNvSpPr txBox="1"/>
          <p:nvPr/>
        </p:nvSpPr>
        <p:spPr>
          <a:xfrm>
            <a:off x="3611880" y="2331720"/>
            <a:ext cx="2139696" cy="457200"/>
          </a:xfrm>
          <a:prstGeom prst="rect">
            <a:avLst/>
          </a:prstGeom>
          <a:noFill/>
          <a:ln/>
        </p:spPr>
        <p:txBody>
          <a:bodyPr wrap="square" lIns="0" tIns="0" rIns="0" bIns="0" rtlCol="0" anchor="t"/>
          <a:lstStyle/>
          <a:p>
            <a:pPr indent="0" marL="0">
              <a:buNone/>
            </a:pPr>
            <a:r>
              <a:rPr lang="en-US" sz="1500" b="1" dirty="0">
                <a:solidFill>
                  <a:srgbClr val="1E2E3A"/>
                </a:solidFill>
                <a:latin typeface="Calibri" pitchFamily="34" charset="0"/>
                <a:ea typeface="Calibri" pitchFamily="34" charset="-122"/>
                <a:cs typeface="Calibri" pitchFamily="34" charset="-120"/>
              </a:rPr>
              <a:t>What did not?</a:t>
            </a:r>
            <a:endParaRPr lang="en-US" sz="1500" dirty="0"/>
          </a:p>
        </p:txBody>
      </p:sp>
      <p:sp>
        <p:nvSpPr>
          <p:cNvPr id="26" name="Text 24"/>
          <p:cNvSpPr txBox="1"/>
          <p:nvPr/>
        </p:nvSpPr>
        <p:spPr>
          <a:xfrm>
            <a:off x="3611880" y="2807208"/>
            <a:ext cx="2139696" cy="777240"/>
          </a:xfrm>
          <a:prstGeom prst="rect">
            <a:avLst/>
          </a:prstGeom>
          <a:noFill/>
          <a:ln/>
        </p:spPr>
        <p:txBody>
          <a:bodyPr wrap="square" lIns="0" tIns="0" rIns="0" bIns="0" rtlCol="0" anchor="t"/>
          <a:lstStyle/>
          <a:p>
            <a:pPr indent="0" marL="0">
              <a:buNone/>
            </a:pPr>
            <a:r>
              <a:rPr lang="en-US" sz="1200" dirty="0">
                <a:solidFill>
                  <a:srgbClr val="465A69"/>
                </a:solidFill>
                <a:latin typeface="Calibri" pitchFamily="34" charset="0"/>
                <a:ea typeface="Calibri" pitchFamily="34" charset="-122"/>
                <a:cs typeface="Calibri" pitchFamily="34" charset="-120"/>
              </a:rPr>
              <a:t>Where the team stalled, duplicated effort, or lost time.</a:t>
            </a:r>
            <a:endParaRPr lang="en-US" sz="1200" dirty="0"/>
          </a:p>
        </p:txBody>
      </p:sp>
      <p:sp>
        <p:nvSpPr>
          <p:cNvPr id="27" name="Shape 25"/>
          <p:cNvSpPr/>
          <p:nvPr/>
        </p:nvSpPr>
        <p:spPr>
          <a:xfrm>
            <a:off x="6217920" y="1600200"/>
            <a:ext cx="2596896" cy="2103120"/>
          </a:xfrm>
          <a:prstGeom prst="roundRect">
            <a:avLst>
              <a:gd name="adj" fmla="val 6087"/>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28" name="Shape 26"/>
          <p:cNvSpPr/>
          <p:nvPr/>
        </p:nvSpPr>
        <p:spPr>
          <a:xfrm>
            <a:off x="6446520" y="1828800"/>
            <a:ext cx="384048" cy="384048"/>
          </a:xfrm>
          <a:prstGeom prst="ellipse">
            <a:avLst/>
          </a:prstGeom>
          <a:solidFill>
            <a:srgbClr val="F1F8F3"/>
          </a:solidFill>
          <a:ln w="12700">
            <a:solidFill>
              <a:srgbClr val="F1F8F3"/>
            </a:solidFill>
            <a:prstDash val="solid"/>
          </a:ln>
        </p:spPr>
      </p:sp>
      <p:sp>
        <p:nvSpPr>
          <p:cNvPr id="29" name="Text 27"/>
          <p:cNvSpPr txBox="1"/>
          <p:nvPr/>
        </p:nvSpPr>
        <p:spPr>
          <a:xfrm>
            <a:off x="6446520" y="1828800"/>
            <a:ext cx="384048" cy="384048"/>
          </a:xfrm>
          <a:prstGeom prst="rect">
            <a:avLst/>
          </a:prstGeom>
          <a:noFill/>
          <a:ln/>
        </p:spPr>
        <p:txBody>
          <a:bodyPr wrap="square" lIns="0" tIns="0" rIns="0" bIns="0" rtlCol="0" anchor="ctr"/>
          <a:lstStyle/>
          <a:p>
            <a:pPr algn="ctr" indent="0" marL="0">
              <a:buNone/>
            </a:pPr>
            <a:r>
              <a:rPr lang="en-US" sz="1200" b="1" dirty="0">
                <a:solidFill>
                  <a:srgbClr val="4C8068"/>
                </a:solidFill>
                <a:latin typeface="Calibri" pitchFamily="34" charset="0"/>
                <a:ea typeface="Calibri" pitchFamily="34" charset="-122"/>
                <a:cs typeface="Calibri" pitchFamily="34" charset="-120"/>
              </a:rPr>
              <a:t>3</a:t>
            </a:r>
            <a:endParaRPr lang="en-US" sz="1200" dirty="0"/>
          </a:p>
        </p:txBody>
      </p:sp>
      <p:sp>
        <p:nvSpPr>
          <p:cNvPr id="30" name="Text 28"/>
          <p:cNvSpPr txBox="1"/>
          <p:nvPr/>
        </p:nvSpPr>
        <p:spPr>
          <a:xfrm>
            <a:off x="6446520" y="2331720"/>
            <a:ext cx="2139696" cy="457200"/>
          </a:xfrm>
          <a:prstGeom prst="rect">
            <a:avLst/>
          </a:prstGeom>
          <a:noFill/>
          <a:ln/>
        </p:spPr>
        <p:txBody>
          <a:bodyPr wrap="square" lIns="0" tIns="0" rIns="0" bIns="0" rtlCol="0" anchor="t"/>
          <a:lstStyle/>
          <a:p>
            <a:pPr indent="0" marL="0">
              <a:buNone/>
            </a:pPr>
            <a:r>
              <a:rPr lang="en-US" sz="1500" b="1" dirty="0">
                <a:solidFill>
                  <a:srgbClr val="1E2E3A"/>
                </a:solidFill>
                <a:latin typeface="Calibri" pitchFamily="34" charset="0"/>
                <a:ea typeface="Calibri" pitchFamily="34" charset="-122"/>
                <a:cs typeface="Calibri" pitchFamily="34" charset="-120"/>
              </a:rPr>
              <a:t>Which assumptions proved wrong?</a:t>
            </a:r>
            <a:endParaRPr lang="en-US" sz="1500" dirty="0"/>
          </a:p>
        </p:txBody>
      </p:sp>
      <p:sp>
        <p:nvSpPr>
          <p:cNvPr id="31" name="Text 29"/>
          <p:cNvSpPr txBox="1"/>
          <p:nvPr/>
        </p:nvSpPr>
        <p:spPr>
          <a:xfrm>
            <a:off x="6446520" y="2807208"/>
            <a:ext cx="2139696" cy="777240"/>
          </a:xfrm>
          <a:prstGeom prst="rect">
            <a:avLst/>
          </a:prstGeom>
          <a:noFill/>
          <a:ln/>
        </p:spPr>
        <p:txBody>
          <a:bodyPr wrap="square" lIns="0" tIns="0" rIns="0" bIns="0" rtlCol="0" anchor="t"/>
          <a:lstStyle/>
          <a:p>
            <a:pPr indent="0" marL="0">
              <a:buNone/>
            </a:pPr>
            <a:r>
              <a:rPr lang="en-US" sz="1200" dirty="0">
                <a:solidFill>
                  <a:srgbClr val="465A69"/>
                </a:solidFill>
                <a:latin typeface="Calibri" pitchFamily="34" charset="0"/>
                <a:ea typeface="Calibri" pitchFamily="34" charset="-122"/>
                <a:cs typeface="Calibri" pitchFamily="34" charset="-120"/>
              </a:rPr>
              <a:t>About providers, SLAs, access, tools, or people.</a:t>
            </a:r>
            <a:endParaRPr lang="en-US" sz="1200" dirty="0"/>
          </a:p>
        </p:txBody>
      </p:sp>
      <p:sp>
        <p:nvSpPr>
          <p:cNvPr id="32" name="Shape 30"/>
          <p:cNvSpPr/>
          <p:nvPr/>
        </p:nvSpPr>
        <p:spPr>
          <a:xfrm>
            <a:off x="9052560" y="1600200"/>
            <a:ext cx="2596896" cy="2103120"/>
          </a:xfrm>
          <a:prstGeom prst="roundRect">
            <a:avLst>
              <a:gd name="adj" fmla="val 6087"/>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33" name="Shape 31"/>
          <p:cNvSpPr/>
          <p:nvPr/>
        </p:nvSpPr>
        <p:spPr>
          <a:xfrm>
            <a:off x="9281160" y="1828800"/>
            <a:ext cx="384048" cy="384048"/>
          </a:xfrm>
          <a:prstGeom prst="ellipse">
            <a:avLst/>
          </a:prstGeom>
          <a:solidFill>
            <a:srgbClr val="F1F8F3"/>
          </a:solidFill>
          <a:ln w="12700">
            <a:solidFill>
              <a:srgbClr val="F1F8F3"/>
            </a:solidFill>
            <a:prstDash val="solid"/>
          </a:ln>
        </p:spPr>
      </p:sp>
      <p:sp>
        <p:nvSpPr>
          <p:cNvPr id="34" name="Text 32"/>
          <p:cNvSpPr txBox="1"/>
          <p:nvPr/>
        </p:nvSpPr>
        <p:spPr>
          <a:xfrm>
            <a:off x="9281160" y="1828800"/>
            <a:ext cx="384048" cy="384048"/>
          </a:xfrm>
          <a:prstGeom prst="rect">
            <a:avLst/>
          </a:prstGeom>
          <a:noFill/>
          <a:ln/>
        </p:spPr>
        <p:txBody>
          <a:bodyPr wrap="square" lIns="0" tIns="0" rIns="0" bIns="0" rtlCol="0" anchor="ctr"/>
          <a:lstStyle/>
          <a:p>
            <a:pPr algn="ctr" indent="0" marL="0">
              <a:buNone/>
            </a:pPr>
            <a:r>
              <a:rPr lang="en-US" sz="1200" b="1" dirty="0">
                <a:solidFill>
                  <a:srgbClr val="4C8068"/>
                </a:solidFill>
                <a:latin typeface="Calibri" pitchFamily="34" charset="0"/>
                <a:ea typeface="Calibri" pitchFamily="34" charset="-122"/>
                <a:cs typeface="Calibri" pitchFamily="34" charset="-120"/>
              </a:rPr>
              <a:t>4</a:t>
            </a:r>
            <a:endParaRPr lang="en-US" sz="1200" dirty="0"/>
          </a:p>
        </p:txBody>
      </p:sp>
      <p:sp>
        <p:nvSpPr>
          <p:cNvPr id="35" name="Text 33"/>
          <p:cNvSpPr txBox="1"/>
          <p:nvPr/>
        </p:nvSpPr>
        <p:spPr>
          <a:xfrm>
            <a:off x="9281160" y="2331720"/>
            <a:ext cx="2139696" cy="457200"/>
          </a:xfrm>
          <a:prstGeom prst="rect">
            <a:avLst/>
          </a:prstGeom>
          <a:noFill/>
          <a:ln/>
        </p:spPr>
        <p:txBody>
          <a:bodyPr wrap="square" lIns="0" tIns="0" rIns="0" bIns="0" rtlCol="0" anchor="t"/>
          <a:lstStyle/>
          <a:p>
            <a:pPr indent="0" marL="0">
              <a:buNone/>
            </a:pPr>
            <a:r>
              <a:rPr lang="en-US" sz="1500" b="1" dirty="0">
                <a:solidFill>
                  <a:srgbClr val="1E2E3A"/>
                </a:solidFill>
                <a:latin typeface="Calibri" pitchFamily="34" charset="0"/>
                <a:ea typeface="Calibri" pitchFamily="34" charset="-122"/>
                <a:cs typeface="Calibri" pitchFamily="34" charset="-120"/>
              </a:rPr>
              <a:t>Missing dependencies</a:t>
            </a:r>
            <a:endParaRPr lang="en-US" sz="1500" dirty="0"/>
          </a:p>
        </p:txBody>
      </p:sp>
      <p:sp>
        <p:nvSpPr>
          <p:cNvPr id="36" name="Text 34"/>
          <p:cNvSpPr txBox="1"/>
          <p:nvPr/>
        </p:nvSpPr>
        <p:spPr>
          <a:xfrm>
            <a:off x="9281160" y="2807208"/>
            <a:ext cx="2139696" cy="777240"/>
          </a:xfrm>
          <a:prstGeom prst="rect">
            <a:avLst/>
          </a:prstGeom>
          <a:noFill/>
          <a:ln/>
        </p:spPr>
        <p:txBody>
          <a:bodyPr wrap="square" lIns="0" tIns="0" rIns="0" bIns="0" rtlCol="0" anchor="t"/>
          <a:lstStyle/>
          <a:p>
            <a:pPr indent="0" marL="0">
              <a:buNone/>
            </a:pPr>
            <a:r>
              <a:rPr lang="en-US" sz="1200" dirty="0">
                <a:solidFill>
                  <a:srgbClr val="465A69"/>
                </a:solidFill>
                <a:latin typeface="Calibri" pitchFamily="34" charset="0"/>
                <a:ea typeface="Calibri" pitchFamily="34" charset="-122"/>
                <a:cs typeface="Calibri" pitchFamily="34" charset="-120"/>
              </a:rPr>
              <a:t>Systems, vendors, or contacts nobody had mapped.</a:t>
            </a:r>
            <a:endParaRPr lang="en-US" sz="1200" dirty="0"/>
          </a:p>
        </p:txBody>
      </p:sp>
      <p:sp>
        <p:nvSpPr>
          <p:cNvPr id="37" name="Shape 35"/>
          <p:cNvSpPr/>
          <p:nvPr/>
        </p:nvSpPr>
        <p:spPr>
          <a:xfrm>
            <a:off x="548640" y="3977640"/>
            <a:ext cx="3511296" cy="2103120"/>
          </a:xfrm>
          <a:prstGeom prst="roundRect">
            <a:avLst>
              <a:gd name="adj" fmla="val 6087"/>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38" name="Shape 36"/>
          <p:cNvSpPr/>
          <p:nvPr/>
        </p:nvSpPr>
        <p:spPr>
          <a:xfrm>
            <a:off x="777240" y="4206240"/>
            <a:ext cx="384048" cy="384048"/>
          </a:xfrm>
          <a:prstGeom prst="ellipse">
            <a:avLst/>
          </a:prstGeom>
          <a:solidFill>
            <a:srgbClr val="F1F8F3"/>
          </a:solidFill>
          <a:ln w="12700">
            <a:solidFill>
              <a:srgbClr val="F1F8F3"/>
            </a:solidFill>
            <a:prstDash val="solid"/>
          </a:ln>
        </p:spPr>
      </p:sp>
      <p:sp>
        <p:nvSpPr>
          <p:cNvPr id="39" name="Text 37"/>
          <p:cNvSpPr txBox="1"/>
          <p:nvPr/>
        </p:nvSpPr>
        <p:spPr>
          <a:xfrm>
            <a:off x="777240" y="4206240"/>
            <a:ext cx="384048" cy="384048"/>
          </a:xfrm>
          <a:prstGeom prst="rect">
            <a:avLst/>
          </a:prstGeom>
          <a:noFill/>
          <a:ln/>
        </p:spPr>
        <p:txBody>
          <a:bodyPr wrap="square" lIns="0" tIns="0" rIns="0" bIns="0" rtlCol="0" anchor="ctr"/>
          <a:lstStyle/>
          <a:p>
            <a:pPr algn="ctr" indent="0" marL="0">
              <a:buNone/>
            </a:pPr>
            <a:r>
              <a:rPr lang="en-US" sz="1200" b="1" dirty="0">
                <a:solidFill>
                  <a:srgbClr val="4C8068"/>
                </a:solidFill>
                <a:latin typeface="Calibri" pitchFamily="34" charset="0"/>
                <a:ea typeface="Calibri" pitchFamily="34" charset="-122"/>
                <a:cs typeface="Calibri" pitchFamily="34" charset="-120"/>
              </a:rPr>
              <a:t>5</a:t>
            </a:r>
            <a:endParaRPr lang="en-US" sz="1200" dirty="0"/>
          </a:p>
        </p:txBody>
      </p:sp>
      <p:sp>
        <p:nvSpPr>
          <p:cNvPr id="40" name="Text 38"/>
          <p:cNvSpPr txBox="1"/>
          <p:nvPr/>
        </p:nvSpPr>
        <p:spPr>
          <a:xfrm>
            <a:off x="777240" y="4709160"/>
            <a:ext cx="3054096" cy="457200"/>
          </a:xfrm>
          <a:prstGeom prst="rect">
            <a:avLst/>
          </a:prstGeom>
          <a:noFill/>
          <a:ln/>
        </p:spPr>
        <p:txBody>
          <a:bodyPr wrap="square" lIns="0" tIns="0" rIns="0" bIns="0" rtlCol="0" anchor="t"/>
          <a:lstStyle/>
          <a:p>
            <a:pPr indent="0" marL="0">
              <a:buNone/>
            </a:pPr>
            <a:r>
              <a:rPr lang="en-US" sz="1500" b="1" dirty="0">
                <a:solidFill>
                  <a:srgbClr val="1E2E3A"/>
                </a:solidFill>
                <a:latin typeface="Calibri" pitchFamily="34" charset="0"/>
                <a:ea typeface="Calibri" pitchFamily="34" charset="-122"/>
                <a:cs typeface="Calibri" pitchFamily="34" charset="-120"/>
              </a:rPr>
              <a:t>Unclear decision authority</a:t>
            </a:r>
            <a:endParaRPr lang="en-US" sz="1500" dirty="0"/>
          </a:p>
        </p:txBody>
      </p:sp>
      <p:sp>
        <p:nvSpPr>
          <p:cNvPr id="41" name="Text 39"/>
          <p:cNvSpPr txBox="1"/>
          <p:nvPr/>
        </p:nvSpPr>
        <p:spPr>
          <a:xfrm>
            <a:off x="777240" y="5184648"/>
            <a:ext cx="3054096" cy="777240"/>
          </a:xfrm>
          <a:prstGeom prst="rect">
            <a:avLst/>
          </a:prstGeom>
          <a:noFill/>
          <a:ln/>
        </p:spPr>
        <p:txBody>
          <a:bodyPr wrap="square" lIns="0" tIns="0" rIns="0" bIns="0" rtlCol="0" anchor="t"/>
          <a:lstStyle/>
          <a:p>
            <a:pPr indent="0" marL="0">
              <a:buNone/>
            </a:pPr>
            <a:r>
              <a:rPr lang="en-US" sz="1200" dirty="0">
                <a:solidFill>
                  <a:srgbClr val="465A69"/>
                </a:solidFill>
                <a:latin typeface="Calibri" pitchFamily="34" charset="0"/>
                <a:ea typeface="Calibri" pitchFamily="34" charset="-122"/>
                <a:cs typeface="Calibri" pitchFamily="34" charset="-120"/>
              </a:rPr>
              <a:t>Moments when nobody was sure who could decide.</a:t>
            </a:r>
            <a:endParaRPr lang="en-US" sz="1200" dirty="0"/>
          </a:p>
        </p:txBody>
      </p:sp>
      <p:sp>
        <p:nvSpPr>
          <p:cNvPr id="42" name="Shape 40"/>
          <p:cNvSpPr/>
          <p:nvPr/>
        </p:nvSpPr>
        <p:spPr>
          <a:xfrm>
            <a:off x="4297680" y="3977640"/>
            <a:ext cx="3511296" cy="2103120"/>
          </a:xfrm>
          <a:prstGeom prst="roundRect">
            <a:avLst>
              <a:gd name="adj" fmla="val 6087"/>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43" name="Shape 41"/>
          <p:cNvSpPr/>
          <p:nvPr/>
        </p:nvSpPr>
        <p:spPr>
          <a:xfrm>
            <a:off x="4526280" y="4206240"/>
            <a:ext cx="384048" cy="384048"/>
          </a:xfrm>
          <a:prstGeom prst="ellipse">
            <a:avLst/>
          </a:prstGeom>
          <a:solidFill>
            <a:srgbClr val="F1F8F3"/>
          </a:solidFill>
          <a:ln w="12700">
            <a:solidFill>
              <a:srgbClr val="F1F8F3"/>
            </a:solidFill>
            <a:prstDash val="solid"/>
          </a:ln>
        </p:spPr>
      </p:sp>
      <p:sp>
        <p:nvSpPr>
          <p:cNvPr id="44" name="Text 42"/>
          <p:cNvSpPr txBox="1"/>
          <p:nvPr/>
        </p:nvSpPr>
        <p:spPr>
          <a:xfrm>
            <a:off x="4526280" y="4206240"/>
            <a:ext cx="384048" cy="384048"/>
          </a:xfrm>
          <a:prstGeom prst="rect">
            <a:avLst/>
          </a:prstGeom>
          <a:noFill/>
          <a:ln/>
        </p:spPr>
        <p:txBody>
          <a:bodyPr wrap="square" lIns="0" tIns="0" rIns="0" bIns="0" rtlCol="0" anchor="ctr"/>
          <a:lstStyle/>
          <a:p>
            <a:pPr algn="ctr" indent="0" marL="0">
              <a:buNone/>
            </a:pPr>
            <a:r>
              <a:rPr lang="en-US" sz="1200" b="1" dirty="0">
                <a:solidFill>
                  <a:srgbClr val="4C8068"/>
                </a:solidFill>
                <a:latin typeface="Calibri" pitchFamily="34" charset="0"/>
                <a:ea typeface="Calibri" pitchFamily="34" charset="-122"/>
                <a:cs typeface="Calibri" pitchFamily="34" charset="-120"/>
              </a:rPr>
              <a:t>6</a:t>
            </a:r>
            <a:endParaRPr lang="en-US" sz="1200" dirty="0"/>
          </a:p>
        </p:txBody>
      </p:sp>
      <p:sp>
        <p:nvSpPr>
          <p:cNvPr id="45" name="Text 43"/>
          <p:cNvSpPr txBox="1"/>
          <p:nvPr/>
        </p:nvSpPr>
        <p:spPr>
          <a:xfrm>
            <a:off x="4526280" y="4709160"/>
            <a:ext cx="3054096" cy="457200"/>
          </a:xfrm>
          <a:prstGeom prst="rect">
            <a:avLst/>
          </a:prstGeom>
          <a:noFill/>
          <a:ln/>
        </p:spPr>
        <p:txBody>
          <a:bodyPr wrap="square" lIns="0" tIns="0" rIns="0" bIns="0" rtlCol="0" anchor="t"/>
          <a:lstStyle/>
          <a:p>
            <a:pPr indent="0" marL="0">
              <a:buNone/>
            </a:pPr>
            <a:r>
              <a:rPr lang="en-US" sz="1500" b="1" dirty="0">
                <a:solidFill>
                  <a:srgbClr val="1E2E3A"/>
                </a:solidFill>
                <a:latin typeface="Calibri" pitchFamily="34" charset="0"/>
                <a:ea typeface="Calibri" pitchFamily="34" charset="-122"/>
                <a:cs typeface="Calibri" pitchFamily="34" charset="-120"/>
              </a:rPr>
              <a:t>BC/DR gaps</a:t>
            </a:r>
            <a:endParaRPr lang="en-US" sz="1500" dirty="0"/>
          </a:p>
        </p:txBody>
      </p:sp>
      <p:sp>
        <p:nvSpPr>
          <p:cNvPr id="46" name="Text 44"/>
          <p:cNvSpPr txBox="1"/>
          <p:nvPr/>
        </p:nvSpPr>
        <p:spPr>
          <a:xfrm>
            <a:off x="4526280" y="5184648"/>
            <a:ext cx="3054096" cy="777240"/>
          </a:xfrm>
          <a:prstGeom prst="rect">
            <a:avLst/>
          </a:prstGeom>
          <a:noFill/>
          <a:ln/>
        </p:spPr>
        <p:txBody>
          <a:bodyPr wrap="square" lIns="0" tIns="0" rIns="0" bIns="0" rtlCol="0" anchor="t"/>
          <a:lstStyle/>
          <a:p>
            <a:pPr indent="0" marL="0">
              <a:buNone/>
            </a:pPr>
            <a:r>
              <a:rPr lang="en-US" sz="1200" dirty="0">
                <a:solidFill>
                  <a:srgbClr val="465A69"/>
                </a:solidFill>
                <a:latin typeface="Calibri" pitchFamily="34" charset="0"/>
                <a:ea typeface="Calibri" pitchFamily="34" charset="-122"/>
                <a:cs typeface="Calibri" pitchFamily="34" charset="-120"/>
              </a:rPr>
              <a:t>Plan steps that were missing, outdated, or unusable.</a:t>
            </a:r>
            <a:endParaRPr lang="en-US" sz="1200" dirty="0"/>
          </a:p>
        </p:txBody>
      </p:sp>
      <p:sp>
        <p:nvSpPr>
          <p:cNvPr id="47" name="Shape 45"/>
          <p:cNvSpPr/>
          <p:nvPr/>
        </p:nvSpPr>
        <p:spPr>
          <a:xfrm>
            <a:off x="8046720" y="3977640"/>
            <a:ext cx="3511296" cy="2103120"/>
          </a:xfrm>
          <a:prstGeom prst="roundRect">
            <a:avLst>
              <a:gd name="adj" fmla="val 6087"/>
            </a:avLst>
          </a:prstGeom>
          <a:solidFill>
            <a:srgbClr val="F1F8F3"/>
          </a:solidFill>
          <a:ln w="12700">
            <a:solidFill>
              <a:srgbClr val="F1F8F3"/>
            </a:solidFill>
            <a:prstDash val="solid"/>
          </a:ln>
          <a:effectLst>
            <a:outerShdw sx="100000" sy="100000" kx="0" ky="0" algn="bl" rotWithShape="0" blurRad="177800" dist="50800" dir="5400000">
              <a:srgbClr val="1B4965">
                <a:alpha val="16000"/>
              </a:srgbClr>
            </a:outerShdw>
          </a:effectLst>
        </p:spPr>
      </p:sp>
      <p:sp>
        <p:nvSpPr>
          <p:cNvPr id="48" name="Shape 46"/>
          <p:cNvSpPr/>
          <p:nvPr/>
        </p:nvSpPr>
        <p:spPr>
          <a:xfrm>
            <a:off x="8275320" y="4206240"/>
            <a:ext cx="384048" cy="384048"/>
          </a:xfrm>
          <a:prstGeom prst="ellipse">
            <a:avLst/>
          </a:prstGeom>
          <a:solidFill>
            <a:srgbClr val="FFFFFF"/>
          </a:solidFill>
          <a:ln w="12700">
            <a:solidFill>
              <a:srgbClr val="FFFFFF"/>
            </a:solidFill>
            <a:prstDash val="solid"/>
          </a:ln>
        </p:spPr>
      </p:sp>
      <p:sp>
        <p:nvSpPr>
          <p:cNvPr id="49" name="Text 47"/>
          <p:cNvSpPr txBox="1"/>
          <p:nvPr/>
        </p:nvSpPr>
        <p:spPr>
          <a:xfrm>
            <a:off x="8275320" y="4206240"/>
            <a:ext cx="384048" cy="384048"/>
          </a:xfrm>
          <a:prstGeom prst="rect">
            <a:avLst/>
          </a:prstGeom>
          <a:noFill/>
          <a:ln/>
        </p:spPr>
        <p:txBody>
          <a:bodyPr wrap="square" lIns="0" tIns="0" rIns="0" bIns="0" rtlCol="0" anchor="ctr"/>
          <a:lstStyle/>
          <a:p>
            <a:pPr algn="ctr" indent="0" marL="0">
              <a:buNone/>
            </a:pPr>
            <a:r>
              <a:rPr lang="en-US" sz="1200" b="1" dirty="0">
                <a:solidFill>
                  <a:srgbClr val="4C8068"/>
                </a:solidFill>
                <a:latin typeface="Calibri" pitchFamily="34" charset="0"/>
                <a:ea typeface="Calibri" pitchFamily="34" charset="-122"/>
                <a:cs typeface="Calibri" pitchFamily="34" charset="-120"/>
              </a:rPr>
              <a:t>7</a:t>
            </a:r>
            <a:endParaRPr lang="en-US" sz="1200" dirty="0"/>
          </a:p>
        </p:txBody>
      </p:sp>
      <p:sp>
        <p:nvSpPr>
          <p:cNvPr id="50" name="Text 48"/>
          <p:cNvSpPr txBox="1"/>
          <p:nvPr/>
        </p:nvSpPr>
        <p:spPr>
          <a:xfrm>
            <a:off x="8275320" y="4709160"/>
            <a:ext cx="3054096" cy="457200"/>
          </a:xfrm>
          <a:prstGeom prst="rect">
            <a:avLst/>
          </a:prstGeom>
          <a:noFill/>
          <a:ln/>
        </p:spPr>
        <p:txBody>
          <a:bodyPr wrap="square" lIns="0" tIns="0" rIns="0" bIns="0" rtlCol="0" anchor="t"/>
          <a:lstStyle/>
          <a:p>
            <a:pPr indent="0" marL="0">
              <a:buNone/>
            </a:pPr>
            <a:r>
              <a:rPr lang="en-US" sz="1500" b="1" dirty="0">
                <a:solidFill>
                  <a:srgbClr val="4C8068"/>
                </a:solidFill>
                <a:latin typeface="Calibri" pitchFamily="34" charset="0"/>
                <a:ea typeface="Calibri" pitchFamily="34" charset="-122"/>
                <a:cs typeface="Calibri" pitchFamily="34" charset="-120"/>
              </a:rPr>
              <a:t>Corrective actions</a:t>
            </a:r>
            <a:endParaRPr lang="en-US" sz="1500" dirty="0"/>
          </a:p>
        </p:txBody>
      </p:sp>
      <p:sp>
        <p:nvSpPr>
          <p:cNvPr id="51" name="Text 49"/>
          <p:cNvSpPr txBox="1"/>
          <p:nvPr/>
        </p:nvSpPr>
        <p:spPr>
          <a:xfrm>
            <a:off x="8275320" y="5184648"/>
            <a:ext cx="3054096" cy="777240"/>
          </a:xfrm>
          <a:prstGeom prst="rect">
            <a:avLst/>
          </a:prstGeom>
          <a:noFill/>
          <a:ln/>
        </p:spPr>
        <p:txBody>
          <a:bodyPr wrap="square" lIns="0" tIns="0" rIns="0" bIns="0" rtlCol="0" anchor="t"/>
          <a:lstStyle/>
          <a:p>
            <a:pPr indent="0" marL="0">
              <a:buNone/>
            </a:pPr>
            <a:r>
              <a:rPr lang="en-US" sz="1200" dirty="0">
                <a:solidFill>
                  <a:srgbClr val="465A69"/>
                </a:solidFill>
                <a:latin typeface="Calibri" pitchFamily="34" charset="0"/>
                <a:ea typeface="Calibri" pitchFamily="34" charset="-122"/>
                <a:cs typeface="Calibri" pitchFamily="34" charset="-120"/>
              </a:rPr>
              <a:t>Each gap gets an owner and a target date.</a:t>
            </a:r>
            <a:endParaRPr lang="en-US" sz="1200" dirty="0"/>
          </a:p>
        </p:txBody>
      </p:sp>
      <p:sp>
        <p:nvSpPr>
          <p:cNvPr id="52" name="Text 50"/>
          <p:cNvSpPr txBox="1"/>
          <p:nvPr/>
        </p:nvSpPr>
        <p:spPr>
          <a:xfrm>
            <a:off x="548640" y="6254496"/>
            <a:ext cx="11091672" cy="256032"/>
          </a:xfrm>
          <a:prstGeom prst="rect">
            <a:avLst/>
          </a:prstGeom>
          <a:noFill/>
          <a:ln/>
        </p:spPr>
        <p:txBody>
          <a:bodyPr wrap="square" lIns="0" tIns="0" rIns="0" bIns="0" rtlCol="0" anchor="ctr"/>
          <a:lstStyle/>
          <a:p>
            <a:pPr indent="0" marL="0">
              <a:buNone/>
            </a:pPr>
            <a:r>
              <a:rPr lang="en-US" sz="1200" b="1" dirty="0">
                <a:solidFill>
                  <a:srgbClr val="465A69"/>
                </a:solidFill>
                <a:latin typeface="Calibri" pitchFamily="34" charset="0"/>
                <a:ea typeface="Calibri" pitchFamily="34" charset="-122"/>
                <a:cs typeface="Calibri" pitchFamily="34" charset="-120"/>
              </a:rPr>
              <a:t>Acronyms:  </a:t>
            </a:r>
            <a:pPr indent="0" marL="0">
              <a:buNone/>
            </a:pPr>
            <a:r>
              <a:rPr lang="en-US" sz="1200" dirty="0">
                <a:solidFill>
                  <a:srgbClr val="465A69"/>
                </a:solidFill>
                <a:latin typeface="Calibri" pitchFamily="34" charset="0"/>
                <a:ea typeface="Calibri" pitchFamily="34" charset="-122"/>
                <a:cs typeface="Calibri" pitchFamily="34" charset="-120"/>
              </a:rPr>
              <a:t>T+: time since the first signal;  DR: Disaster Recovery;  BC: Business Continuity</a:t>
            </a:r>
            <a:endParaRPr lang="en-US" sz="1200" dirty="0"/>
          </a:p>
        </p:txBody>
      </p:sp>
      <p:sp>
        <p:nvSpPr>
          <p:cNvPr id="53" name="Shape 51"/>
          <p:cNvSpPr/>
          <p:nvPr/>
        </p:nvSpPr>
        <p:spPr>
          <a:xfrm>
            <a:off x="548640" y="6537960"/>
            <a:ext cx="763524" cy="274320"/>
          </a:xfrm>
          <a:prstGeom prst="roundRect">
            <a:avLst>
              <a:gd name="adj" fmla="val 50000"/>
            </a:avLst>
          </a:prstGeom>
          <a:solidFill>
            <a:srgbClr val="E4ECF2"/>
          </a:solidFill>
          <a:ln w="12700">
            <a:solidFill>
              <a:srgbClr val="E4ECF2"/>
            </a:solidFill>
            <a:prstDash val="solid"/>
          </a:ln>
        </p:spPr>
      </p:sp>
      <p:sp>
        <p:nvSpPr>
          <p:cNvPr id="54" name="Text 52"/>
          <p:cNvSpPr txBox="1"/>
          <p:nvPr/>
        </p:nvSpPr>
        <p:spPr>
          <a:xfrm>
            <a:off x="548640" y="6537960"/>
            <a:ext cx="763524" cy="274320"/>
          </a:xfrm>
          <a:prstGeom prst="rect">
            <a:avLst/>
          </a:prstGeom>
          <a:noFill/>
          <a:ln/>
        </p:spPr>
        <p:txBody>
          <a:bodyPr wrap="square" lIns="0" tIns="0" rIns="0" bIns="0" rtlCol="0" anchor="ctr"/>
          <a:lstStyle/>
          <a:p>
            <a:pPr algn="ctr" indent="0" marL="0">
              <a:buNone/>
            </a:pPr>
            <a:r>
              <a:rPr lang="en-US" sz="1200" b="1" dirty="0">
                <a:solidFill>
                  <a:srgbClr val="23405A"/>
                </a:solidFill>
                <a:latin typeface="Calibri" pitchFamily="34" charset="0"/>
                <a:ea typeface="Calibri" pitchFamily="34" charset="-122"/>
                <a:cs typeface="Calibri" pitchFamily="34" charset="-120"/>
              </a:rPr>
              <a:t>Start</a:t>
            </a:r>
            <a:endParaRPr lang="en-US" sz="1200" dirty="0"/>
          </a:p>
        </p:txBody>
      </p:sp>
      <p:pic>
        <p:nvPicPr>
          <p:cNvPr id="55" name="Image 0" descr="preencoded.png">
            <a:hlinkClick r:id="rId2" tooltip="Go to Start" action="ppaction://hlinksldjump"/>
          </p:cNvPr>
          <p:cNvPicPr>
            <a:picLocks noChangeAspect="1"/>
          </p:cNvPicPr>
          <p:nvPr/>
        </p:nvPicPr>
        <p:blipFill>
          <a:blip r:embed="rId1"/>
          <a:stretch>
            <a:fillRect/>
          </a:stretch>
        </p:blipFill>
        <p:spPr>
          <a:xfrm>
            <a:off x="548640" y="6537960"/>
            <a:ext cx="763524" cy="274320"/>
          </a:xfrm>
          <a:prstGeom prst="rect">
            <a:avLst/>
          </a:prstGeom>
        </p:spPr>
      </p:pic>
      <p:sp>
        <p:nvSpPr>
          <p:cNvPr id="56" name="Shape 53"/>
          <p:cNvSpPr/>
          <p:nvPr/>
        </p:nvSpPr>
        <p:spPr>
          <a:xfrm>
            <a:off x="1385316" y="6537960"/>
            <a:ext cx="1197864" cy="274320"/>
          </a:xfrm>
          <a:prstGeom prst="roundRect">
            <a:avLst>
              <a:gd name="adj" fmla="val 50000"/>
            </a:avLst>
          </a:prstGeom>
          <a:solidFill>
            <a:srgbClr val="F1F6FA"/>
          </a:solidFill>
          <a:ln w="12700">
            <a:solidFill>
              <a:srgbClr val="F1F6FA"/>
            </a:solidFill>
            <a:prstDash val="solid"/>
          </a:ln>
        </p:spPr>
      </p:sp>
      <p:sp>
        <p:nvSpPr>
          <p:cNvPr id="57" name="Text 54"/>
          <p:cNvSpPr txBox="1"/>
          <p:nvPr/>
        </p:nvSpPr>
        <p:spPr>
          <a:xfrm>
            <a:off x="1385316" y="6537960"/>
            <a:ext cx="1197864" cy="274320"/>
          </a:xfrm>
          <a:prstGeom prst="rect">
            <a:avLst/>
          </a:prstGeom>
          <a:noFill/>
          <a:ln/>
        </p:spPr>
        <p:txBody>
          <a:bodyPr wrap="square" lIns="0" tIns="0" rIns="0" bIns="0" rtlCol="0" anchor="ctr"/>
          <a:lstStyle/>
          <a:p>
            <a:pPr algn="ctr" indent="0" marL="0">
              <a:buNone/>
            </a:pPr>
            <a:r>
              <a:rPr lang="en-US" sz="1200" b="1" dirty="0">
                <a:solidFill>
                  <a:srgbClr val="3F6E8C"/>
                </a:solidFill>
                <a:latin typeface="Calibri" pitchFamily="34" charset="0"/>
                <a:ea typeface="Calibri" pitchFamily="34" charset="-122"/>
                <a:cs typeface="Calibri" pitchFamily="34" charset="-120"/>
              </a:rPr>
              <a:t>Scenario 1</a:t>
            </a:r>
            <a:endParaRPr lang="en-US" sz="1200" dirty="0"/>
          </a:p>
        </p:txBody>
      </p:sp>
      <p:pic>
        <p:nvPicPr>
          <p:cNvPr id="58" name="Image 1" descr="preencoded.png">
            <a:hlinkClick r:id="rId4" tooltip="Go to Scenario 1" action="ppaction://hlinksldjump"/>
          </p:cNvPr>
          <p:cNvPicPr>
            <a:picLocks noChangeAspect="1"/>
          </p:cNvPicPr>
          <p:nvPr/>
        </p:nvPicPr>
        <p:blipFill>
          <a:blip r:embed="rId3"/>
          <a:stretch>
            <a:fillRect/>
          </a:stretch>
        </p:blipFill>
        <p:spPr>
          <a:xfrm>
            <a:off x="1385316" y="6537960"/>
            <a:ext cx="1197864" cy="274320"/>
          </a:xfrm>
          <a:prstGeom prst="rect">
            <a:avLst/>
          </a:prstGeom>
        </p:spPr>
      </p:pic>
      <p:sp>
        <p:nvSpPr>
          <p:cNvPr id="59" name="Shape 55"/>
          <p:cNvSpPr/>
          <p:nvPr/>
        </p:nvSpPr>
        <p:spPr>
          <a:xfrm>
            <a:off x="2656332" y="6537960"/>
            <a:ext cx="1197864" cy="274320"/>
          </a:xfrm>
          <a:prstGeom prst="roundRect">
            <a:avLst>
              <a:gd name="adj" fmla="val 50000"/>
            </a:avLst>
          </a:prstGeom>
          <a:solidFill>
            <a:srgbClr val="4C8068"/>
          </a:solidFill>
          <a:ln w="12700">
            <a:solidFill>
              <a:srgbClr val="4C8068"/>
            </a:solidFill>
            <a:prstDash val="solid"/>
          </a:ln>
        </p:spPr>
      </p:sp>
      <p:sp>
        <p:nvSpPr>
          <p:cNvPr id="60" name="Text 56"/>
          <p:cNvSpPr txBox="1"/>
          <p:nvPr/>
        </p:nvSpPr>
        <p:spPr>
          <a:xfrm>
            <a:off x="2656332" y="6537960"/>
            <a:ext cx="1197864"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Scenario 2</a:t>
            </a:r>
            <a:endParaRPr lang="en-US" sz="1200" dirty="0"/>
          </a:p>
        </p:txBody>
      </p:sp>
      <p:pic>
        <p:nvPicPr>
          <p:cNvPr id="61" name="Image 2" descr="preencoded.png">
            <a:hlinkClick r:id="rId6" tooltip="Go to Scenario 2" action="ppaction://hlinksldjump"/>
          </p:cNvPr>
          <p:cNvPicPr>
            <a:picLocks noChangeAspect="1"/>
          </p:cNvPicPr>
          <p:nvPr/>
        </p:nvPicPr>
        <p:blipFill>
          <a:blip r:embed="rId5"/>
          <a:stretch>
            <a:fillRect/>
          </a:stretch>
        </p:blipFill>
        <p:spPr>
          <a:xfrm>
            <a:off x="2656332" y="6537960"/>
            <a:ext cx="1197864" cy="274320"/>
          </a:xfrm>
          <a:prstGeom prst="rect">
            <a:avLst/>
          </a:prstGeom>
        </p:spPr>
      </p:pic>
      <p:sp>
        <p:nvSpPr>
          <p:cNvPr id="62" name="Shape 57"/>
          <p:cNvSpPr/>
          <p:nvPr/>
        </p:nvSpPr>
        <p:spPr>
          <a:xfrm>
            <a:off x="3927348" y="6537960"/>
            <a:ext cx="1197864" cy="274320"/>
          </a:xfrm>
          <a:prstGeom prst="roundRect">
            <a:avLst>
              <a:gd name="adj" fmla="val 50000"/>
            </a:avLst>
          </a:prstGeom>
          <a:solidFill>
            <a:srgbClr val="F6F3FA"/>
          </a:solidFill>
          <a:ln w="12700">
            <a:solidFill>
              <a:srgbClr val="F6F3FA"/>
            </a:solidFill>
            <a:prstDash val="solid"/>
          </a:ln>
        </p:spPr>
      </p:sp>
      <p:sp>
        <p:nvSpPr>
          <p:cNvPr id="63" name="Text 58"/>
          <p:cNvSpPr txBox="1"/>
          <p:nvPr/>
        </p:nvSpPr>
        <p:spPr>
          <a:xfrm>
            <a:off x="3927348" y="6537960"/>
            <a:ext cx="1197864" cy="274320"/>
          </a:xfrm>
          <a:prstGeom prst="rect">
            <a:avLst/>
          </a:prstGeom>
          <a:noFill/>
          <a:ln/>
        </p:spPr>
        <p:txBody>
          <a:bodyPr wrap="square" lIns="0" tIns="0" rIns="0" bIns="0" rtlCol="0" anchor="ctr"/>
          <a:lstStyle/>
          <a:p>
            <a:pPr algn="ctr" indent="0" marL="0">
              <a:buNone/>
            </a:pPr>
            <a:r>
              <a:rPr lang="en-US" sz="1200" b="1" dirty="0">
                <a:solidFill>
                  <a:srgbClr val="6E5E94"/>
                </a:solidFill>
                <a:latin typeface="Calibri" pitchFamily="34" charset="0"/>
                <a:ea typeface="Calibri" pitchFamily="34" charset="-122"/>
                <a:cs typeface="Calibri" pitchFamily="34" charset="-120"/>
              </a:rPr>
              <a:t>Scenario 3</a:t>
            </a:r>
            <a:endParaRPr lang="en-US" sz="1200" dirty="0"/>
          </a:p>
        </p:txBody>
      </p:sp>
      <p:pic>
        <p:nvPicPr>
          <p:cNvPr id="64" name="Image 3" descr="preencoded.png">
            <a:hlinkClick r:id="rId8" tooltip="Go to Scenario 3" action="ppaction://hlinksldjump"/>
          </p:cNvPr>
          <p:cNvPicPr>
            <a:picLocks noChangeAspect="1"/>
          </p:cNvPicPr>
          <p:nvPr/>
        </p:nvPicPr>
        <p:blipFill>
          <a:blip r:embed="rId7"/>
          <a:stretch>
            <a:fillRect/>
          </a:stretch>
        </p:blipFill>
        <p:spPr>
          <a:xfrm>
            <a:off x="3927348" y="6537960"/>
            <a:ext cx="1197864" cy="274320"/>
          </a:xfrm>
          <a:prstGeom prst="rect">
            <a:avLst/>
          </a:prstGeom>
        </p:spPr>
      </p:pic>
      <p:sp>
        <p:nvSpPr>
          <p:cNvPr id="65" name="Shape 59"/>
          <p:cNvSpPr/>
          <p:nvPr/>
        </p:nvSpPr>
        <p:spPr>
          <a:xfrm>
            <a:off x="5198364" y="6537960"/>
            <a:ext cx="937260" cy="274320"/>
          </a:xfrm>
          <a:prstGeom prst="roundRect">
            <a:avLst>
              <a:gd name="adj" fmla="val 50000"/>
            </a:avLst>
          </a:prstGeom>
          <a:solidFill>
            <a:srgbClr val="E4ECF2"/>
          </a:solidFill>
          <a:ln w="12700">
            <a:solidFill>
              <a:srgbClr val="E4ECF2"/>
            </a:solidFill>
            <a:prstDash val="solid"/>
          </a:ln>
        </p:spPr>
      </p:sp>
      <p:sp>
        <p:nvSpPr>
          <p:cNvPr id="66" name="Text 60"/>
          <p:cNvSpPr txBox="1"/>
          <p:nvPr/>
        </p:nvSpPr>
        <p:spPr>
          <a:xfrm>
            <a:off x="5198364" y="6537960"/>
            <a:ext cx="937260" cy="274320"/>
          </a:xfrm>
          <a:prstGeom prst="rect">
            <a:avLst/>
          </a:prstGeom>
          <a:noFill/>
          <a:ln/>
        </p:spPr>
        <p:txBody>
          <a:bodyPr wrap="square" lIns="0" tIns="0" rIns="0" bIns="0" rtlCol="0" anchor="ctr"/>
          <a:lstStyle/>
          <a:p>
            <a:pPr algn="ctr" indent="0" marL="0">
              <a:buNone/>
            </a:pPr>
            <a:r>
              <a:rPr lang="en-US" sz="1200" b="1" dirty="0">
                <a:solidFill>
                  <a:srgbClr val="23405A"/>
                </a:solidFill>
                <a:latin typeface="Calibri" pitchFamily="34" charset="0"/>
                <a:ea typeface="Calibri" pitchFamily="34" charset="-122"/>
                <a:cs typeface="Calibri" pitchFamily="34" charset="-120"/>
              </a:rPr>
              <a:t>Closing</a:t>
            </a:r>
            <a:endParaRPr lang="en-US" sz="1200" dirty="0"/>
          </a:p>
        </p:txBody>
      </p:sp>
      <p:pic>
        <p:nvPicPr>
          <p:cNvPr id="67" name="Image 4" descr="preencoded.png">
            <a:hlinkClick r:id="rId10" tooltip="Go to Closing" action="ppaction://hlinksldjump"/>
          </p:cNvPr>
          <p:cNvPicPr>
            <a:picLocks noChangeAspect="1"/>
          </p:cNvPicPr>
          <p:nvPr/>
        </p:nvPicPr>
        <p:blipFill>
          <a:blip r:embed="rId9"/>
          <a:stretch>
            <a:fillRect/>
          </a:stretch>
        </p:blipFill>
        <p:spPr>
          <a:xfrm>
            <a:off x="5198364" y="6537960"/>
            <a:ext cx="937260" cy="274320"/>
          </a:xfrm>
          <a:prstGeom prst="rect">
            <a:avLst/>
          </a:prstGeom>
        </p:spPr>
      </p:pic>
      <p:sp>
        <p:nvSpPr>
          <p:cNvPr id="68" name="Text 61"/>
          <p:cNvSpPr txBox="1"/>
          <p:nvPr/>
        </p:nvSpPr>
        <p:spPr>
          <a:xfrm>
            <a:off x="11277295" y="6537960"/>
            <a:ext cx="365760" cy="274320"/>
          </a:xfrm>
          <a:prstGeom prst="rect">
            <a:avLst/>
          </a:prstGeom>
          <a:noFill/>
          <a:ln/>
        </p:spPr>
        <p:txBody>
          <a:bodyPr wrap="square" lIns="0" tIns="0" rIns="0" bIns="0" rtlCol="0" anchor="ctr"/>
          <a:lstStyle/>
          <a:p>
            <a:pPr algn="r" indent="0" marL="0">
              <a:buNone/>
            </a:pPr>
            <a:r>
              <a:rPr lang="en-US" sz="1200" dirty="0">
                <a:solidFill>
                  <a:srgbClr val="465A69"/>
                </a:solidFill>
                <a:latin typeface="Calibri" pitchFamily="34" charset="0"/>
                <a:ea typeface="Calibri" pitchFamily="34" charset="-122"/>
                <a:cs typeface="Calibri" pitchFamily="34" charset="-120"/>
              </a:rPr>
              <a:t>38</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E6F2E9"/>
        </a:solidFill>
      </p:bgPr>
    </p:bg>
    <p:spTree>
      <p:nvGrpSpPr>
        <p:cNvPr id="1" name=""/>
        <p:cNvGrpSpPr/>
        <p:nvPr/>
      </p:nvGrpSpPr>
      <p:grpSpPr>
        <a:xfrm>
          <a:off x="0" y="0"/>
          <a:ext cx="0" cy="0"/>
          <a:chOff x="0" y="0"/>
          <a:chExt cx="0" cy="0"/>
        </a:xfrm>
      </p:grpSpPr>
      <p:sp>
        <p:nvSpPr>
          <p:cNvPr id="2" name="Shape 0"/>
          <p:cNvSpPr/>
          <p:nvPr/>
        </p:nvSpPr>
        <p:spPr>
          <a:xfrm>
            <a:off x="548640" y="347472"/>
            <a:ext cx="2843784" cy="329184"/>
          </a:xfrm>
          <a:prstGeom prst="roundRect">
            <a:avLst>
              <a:gd name="adj" fmla="val 50000"/>
            </a:avLst>
          </a:prstGeom>
          <a:solidFill>
            <a:srgbClr val="F1F8F3"/>
          </a:solidFill>
          <a:ln w="12700">
            <a:solidFill>
              <a:srgbClr val="F1F8F3"/>
            </a:solidFill>
            <a:prstDash val="solid"/>
          </a:ln>
        </p:spPr>
      </p:sp>
      <p:sp>
        <p:nvSpPr>
          <p:cNvPr id="3" name="Text 1"/>
          <p:cNvSpPr txBox="1"/>
          <p:nvPr/>
        </p:nvSpPr>
        <p:spPr>
          <a:xfrm>
            <a:off x="548640" y="347472"/>
            <a:ext cx="2843784" cy="329184"/>
          </a:xfrm>
          <a:prstGeom prst="rect">
            <a:avLst/>
          </a:prstGeom>
          <a:noFill/>
          <a:ln/>
        </p:spPr>
        <p:txBody>
          <a:bodyPr wrap="square" lIns="0" tIns="0" rIns="0" bIns="0" rtlCol="0" anchor="ctr"/>
          <a:lstStyle/>
          <a:p>
            <a:pPr algn="ctr" indent="0" marL="0">
              <a:buNone/>
            </a:pPr>
            <a:r>
              <a:rPr lang="en-US" sz="1200" b="1" dirty="0">
                <a:solidFill>
                  <a:srgbClr val="4C8068"/>
                </a:solidFill>
                <a:latin typeface="Calibri" pitchFamily="34" charset="0"/>
                <a:ea typeface="Calibri" pitchFamily="34" charset="-122"/>
                <a:cs typeface="Calibri" pitchFamily="34" charset="-120"/>
              </a:rPr>
              <a:t>Scenario 2: Disaster Recovery</a:t>
            </a:r>
            <a:endParaRPr lang="en-US" sz="1200" dirty="0"/>
          </a:p>
        </p:txBody>
      </p:sp>
      <p:sp>
        <p:nvSpPr>
          <p:cNvPr id="4" name="Text 2"/>
          <p:cNvSpPr txBox="1"/>
          <p:nvPr/>
        </p:nvSpPr>
        <p:spPr>
          <a:xfrm>
            <a:off x="548640" y="749808"/>
            <a:ext cx="11064240" cy="640080"/>
          </a:xfrm>
          <a:prstGeom prst="rect">
            <a:avLst/>
          </a:prstGeom>
          <a:noFill/>
          <a:ln/>
        </p:spPr>
        <p:txBody>
          <a:bodyPr wrap="square" lIns="0" tIns="0" rIns="0" bIns="0" rtlCol="0" anchor="ctr"/>
          <a:lstStyle/>
          <a:p>
            <a:pPr indent="0" marL="0">
              <a:buNone/>
            </a:pPr>
            <a:r>
              <a:rPr lang="en-US" sz="2800" b="1" dirty="0">
                <a:solidFill>
                  <a:srgbClr val="23405A"/>
                </a:solidFill>
                <a:latin typeface="Calibri" pitchFamily="34" charset="0"/>
                <a:ea typeface="Calibri" pitchFamily="34" charset="-122"/>
                <a:cs typeface="Calibri" pitchFamily="34" charset="-120"/>
              </a:rPr>
              <a:t>Key questions and success criteria</a:t>
            </a:r>
            <a:endParaRPr lang="en-US" sz="2800" dirty="0"/>
          </a:p>
        </p:txBody>
      </p:sp>
      <p:sp>
        <p:nvSpPr>
          <p:cNvPr id="5" name="Shape 3"/>
          <p:cNvSpPr/>
          <p:nvPr/>
        </p:nvSpPr>
        <p:spPr>
          <a:xfrm>
            <a:off x="548640" y="1600200"/>
            <a:ext cx="5029200" cy="3977640"/>
          </a:xfrm>
          <a:prstGeom prst="roundRect">
            <a:avLst>
              <a:gd name="adj" fmla="val 3218"/>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6" name="Text 4"/>
          <p:cNvSpPr txBox="1"/>
          <p:nvPr/>
        </p:nvSpPr>
        <p:spPr>
          <a:xfrm>
            <a:off x="822960" y="1828800"/>
            <a:ext cx="4480560" cy="320040"/>
          </a:xfrm>
          <a:prstGeom prst="rect">
            <a:avLst/>
          </a:prstGeom>
          <a:noFill/>
          <a:ln/>
        </p:spPr>
        <p:txBody>
          <a:bodyPr wrap="square" lIns="0" tIns="0" rIns="0" bIns="0" rtlCol="0" anchor="t"/>
          <a:lstStyle/>
          <a:p>
            <a:pPr indent="0" marL="0">
              <a:buNone/>
            </a:pPr>
            <a:r>
              <a:rPr lang="en-US" sz="1400" b="1" dirty="0">
                <a:solidFill>
                  <a:srgbClr val="4C8068"/>
                </a:solidFill>
                <a:latin typeface="Calibri" pitchFamily="34" charset="0"/>
                <a:ea typeface="Calibri" pitchFamily="34" charset="-122"/>
                <a:cs typeface="Calibri" pitchFamily="34" charset="-120"/>
              </a:rPr>
              <a:t>Key questions</a:t>
            </a:r>
            <a:endParaRPr lang="en-US" sz="1400" dirty="0"/>
          </a:p>
        </p:txBody>
      </p:sp>
      <p:sp>
        <p:nvSpPr>
          <p:cNvPr id="7" name="Shape 5"/>
          <p:cNvSpPr/>
          <p:nvPr/>
        </p:nvSpPr>
        <p:spPr>
          <a:xfrm>
            <a:off x="822960" y="2304288"/>
            <a:ext cx="292608" cy="292608"/>
          </a:xfrm>
          <a:prstGeom prst="ellipse">
            <a:avLst/>
          </a:prstGeom>
          <a:solidFill>
            <a:srgbClr val="F1F8F3"/>
          </a:solidFill>
          <a:ln w="12700">
            <a:solidFill>
              <a:srgbClr val="F1F8F3"/>
            </a:solidFill>
            <a:prstDash val="solid"/>
          </a:ln>
        </p:spPr>
      </p:sp>
      <p:sp>
        <p:nvSpPr>
          <p:cNvPr id="8" name="Text 6"/>
          <p:cNvSpPr txBox="1"/>
          <p:nvPr/>
        </p:nvSpPr>
        <p:spPr>
          <a:xfrm>
            <a:off x="822960" y="2304288"/>
            <a:ext cx="292608" cy="292608"/>
          </a:xfrm>
          <a:prstGeom prst="rect">
            <a:avLst/>
          </a:prstGeom>
          <a:noFill/>
          <a:ln/>
        </p:spPr>
        <p:txBody>
          <a:bodyPr wrap="square" lIns="0" tIns="0" rIns="0" bIns="0" rtlCol="0" anchor="ctr"/>
          <a:lstStyle/>
          <a:p>
            <a:pPr algn="ctr" indent="0" marL="0">
              <a:buNone/>
            </a:pPr>
            <a:r>
              <a:rPr lang="en-US" sz="1200" b="1" dirty="0">
                <a:solidFill>
                  <a:srgbClr val="4C8068"/>
                </a:solidFill>
                <a:latin typeface="Calibri" pitchFamily="34" charset="0"/>
                <a:ea typeface="Calibri" pitchFamily="34" charset="-122"/>
                <a:cs typeface="Calibri" pitchFamily="34" charset="-120"/>
              </a:rPr>
              <a:t>1</a:t>
            </a:r>
            <a:endParaRPr lang="en-US" sz="1200" dirty="0"/>
          </a:p>
        </p:txBody>
      </p:sp>
      <p:sp>
        <p:nvSpPr>
          <p:cNvPr id="9" name="Text 7"/>
          <p:cNvSpPr txBox="1"/>
          <p:nvPr/>
        </p:nvSpPr>
        <p:spPr>
          <a:xfrm>
            <a:off x="1234440" y="2286000"/>
            <a:ext cx="4114800" cy="533400"/>
          </a:xfrm>
          <a:prstGeom prst="rect">
            <a:avLst/>
          </a:prstGeom>
          <a:noFill/>
          <a:ln/>
        </p:spPr>
        <p:txBody>
          <a:bodyPr wrap="square" lIns="0" tIns="0" rIns="0" bIns="0" rtlCol="0" anchor="t"/>
          <a:lstStyle/>
          <a:p>
            <a:pPr indent="0" marL="0">
              <a:buNone/>
            </a:pPr>
            <a:r>
              <a:rPr lang="en-US" sz="1250" dirty="0">
                <a:solidFill>
                  <a:srgbClr val="1E2E3A"/>
                </a:solidFill>
                <a:latin typeface="Calibri" pitchFamily="34" charset="0"/>
                <a:ea typeface="Calibri" pitchFamily="34" charset="-122"/>
                <a:cs typeface="Calibri" pitchFamily="34" charset="-120"/>
              </a:rPr>
              <a:t>When is a disaster declared?</a:t>
            </a:r>
            <a:endParaRPr lang="en-US" sz="1250" dirty="0"/>
          </a:p>
        </p:txBody>
      </p:sp>
      <p:sp>
        <p:nvSpPr>
          <p:cNvPr id="10" name="Shape 8"/>
          <p:cNvSpPr/>
          <p:nvPr/>
        </p:nvSpPr>
        <p:spPr>
          <a:xfrm>
            <a:off x="822960" y="2837688"/>
            <a:ext cx="292608" cy="292608"/>
          </a:xfrm>
          <a:prstGeom prst="ellipse">
            <a:avLst/>
          </a:prstGeom>
          <a:solidFill>
            <a:srgbClr val="F1F8F3"/>
          </a:solidFill>
          <a:ln w="12700">
            <a:solidFill>
              <a:srgbClr val="F1F8F3"/>
            </a:solidFill>
            <a:prstDash val="solid"/>
          </a:ln>
        </p:spPr>
      </p:sp>
      <p:sp>
        <p:nvSpPr>
          <p:cNvPr id="11" name="Text 9"/>
          <p:cNvSpPr txBox="1"/>
          <p:nvPr/>
        </p:nvSpPr>
        <p:spPr>
          <a:xfrm>
            <a:off x="822960" y="2837688"/>
            <a:ext cx="292608" cy="292608"/>
          </a:xfrm>
          <a:prstGeom prst="rect">
            <a:avLst/>
          </a:prstGeom>
          <a:noFill/>
          <a:ln/>
        </p:spPr>
        <p:txBody>
          <a:bodyPr wrap="square" lIns="0" tIns="0" rIns="0" bIns="0" rtlCol="0" anchor="ctr"/>
          <a:lstStyle/>
          <a:p>
            <a:pPr algn="ctr" indent="0" marL="0">
              <a:buNone/>
            </a:pPr>
            <a:r>
              <a:rPr lang="en-US" sz="1200" b="1" dirty="0">
                <a:solidFill>
                  <a:srgbClr val="4C8068"/>
                </a:solidFill>
                <a:latin typeface="Calibri" pitchFamily="34" charset="0"/>
                <a:ea typeface="Calibri" pitchFamily="34" charset="-122"/>
                <a:cs typeface="Calibri" pitchFamily="34" charset="-120"/>
              </a:rPr>
              <a:t>2</a:t>
            </a:r>
            <a:endParaRPr lang="en-US" sz="1200" dirty="0"/>
          </a:p>
        </p:txBody>
      </p:sp>
      <p:sp>
        <p:nvSpPr>
          <p:cNvPr id="12" name="Text 10"/>
          <p:cNvSpPr txBox="1"/>
          <p:nvPr/>
        </p:nvSpPr>
        <p:spPr>
          <a:xfrm>
            <a:off x="1234440" y="2819400"/>
            <a:ext cx="4114800" cy="533400"/>
          </a:xfrm>
          <a:prstGeom prst="rect">
            <a:avLst/>
          </a:prstGeom>
          <a:noFill/>
          <a:ln/>
        </p:spPr>
        <p:txBody>
          <a:bodyPr wrap="square" lIns="0" tIns="0" rIns="0" bIns="0" rtlCol="0" anchor="t"/>
          <a:lstStyle/>
          <a:p>
            <a:pPr indent="0" marL="0">
              <a:buNone/>
            </a:pPr>
            <a:r>
              <a:rPr lang="en-US" sz="1250" dirty="0">
                <a:solidFill>
                  <a:srgbClr val="1E2E3A"/>
                </a:solidFill>
                <a:latin typeface="Calibri" pitchFamily="34" charset="0"/>
                <a:ea typeface="Calibri" pitchFamily="34" charset="-122"/>
                <a:cs typeface="Calibri" pitchFamily="34" charset="-120"/>
              </a:rPr>
              <a:t>What alternative communication channels are used?</a:t>
            </a:r>
            <a:endParaRPr lang="en-US" sz="1250" dirty="0"/>
          </a:p>
        </p:txBody>
      </p:sp>
      <p:sp>
        <p:nvSpPr>
          <p:cNvPr id="13" name="Shape 11"/>
          <p:cNvSpPr/>
          <p:nvPr/>
        </p:nvSpPr>
        <p:spPr>
          <a:xfrm>
            <a:off x="822960" y="3371088"/>
            <a:ext cx="292608" cy="292608"/>
          </a:xfrm>
          <a:prstGeom prst="ellipse">
            <a:avLst/>
          </a:prstGeom>
          <a:solidFill>
            <a:srgbClr val="F1F8F3"/>
          </a:solidFill>
          <a:ln w="12700">
            <a:solidFill>
              <a:srgbClr val="F1F8F3"/>
            </a:solidFill>
            <a:prstDash val="solid"/>
          </a:ln>
        </p:spPr>
      </p:sp>
      <p:sp>
        <p:nvSpPr>
          <p:cNvPr id="14" name="Text 12"/>
          <p:cNvSpPr txBox="1"/>
          <p:nvPr/>
        </p:nvSpPr>
        <p:spPr>
          <a:xfrm>
            <a:off x="822960" y="3371088"/>
            <a:ext cx="292608" cy="292608"/>
          </a:xfrm>
          <a:prstGeom prst="rect">
            <a:avLst/>
          </a:prstGeom>
          <a:noFill/>
          <a:ln/>
        </p:spPr>
        <p:txBody>
          <a:bodyPr wrap="square" lIns="0" tIns="0" rIns="0" bIns="0" rtlCol="0" anchor="ctr"/>
          <a:lstStyle/>
          <a:p>
            <a:pPr algn="ctr" indent="0" marL="0">
              <a:buNone/>
            </a:pPr>
            <a:r>
              <a:rPr lang="en-US" sz="1200" b="1" dirty="0">
                <a:solidFill>
                  <a:srgbClr val="4C8068"/>
                </a:solidFill>
                <a:latin typeface="Calibri" pitchFamily="34" charset="0"/>
                <a:ea typeface="Calibri" pitchFamily="34" charset="-122"/>
                <a:cs typeface="Calibri" pitchFamily="34" charset="-120"/>
              </a:rPr>
              <a:t>3</a:t>
            </a:r>
            <a:endParaRPr lang="en-US" sz="1200" dirty="0"/>
          </a:p>
        </p:txBody>
      </p:sp>
      <p:sp>
        <p:nvSpPr>
          <p:cNvPr id="15" name="Text 13"/>
          <p:cNvSpPr txBox="1"/>
          <p:nvPr/>
        </p:nvSpPr>
        <p:spPr>
          <a:xfrm>
            <a:off x="1234440" y="3352800"/>
            <a:ext cx="4114800" cy="533400"/>
          </a:xfrm>
          <a:prstGeom prst="rect">
            <a:avLst/>
          </a:prstGeom>
          <a:noFill/>
          <a:ln/>
        </p:spPr>
        <p:txBody>
          <a:bodyPr wrap="square" lIns="0" tIns="0" rIns="0" bIns="0" rtlCol="0" anchor="t"/>
          <a:lstStyle/>
          <a:p>
            <a:pPr indent="0" marL="0">
              <a:buNone/>
            </a:pPr>
            <a:r>
              <a:rPr lang="en-US" sz="1250" dirty="0">
                <a:solidFill>
                  <a:srgbClr val="1E2E3A"/>
                </a:solidFill>
                <a:latin typeface="Calibri" pitchFamily="34" charset="0"/>
                <a:ea typeface="Calibri" pitchFamily="34" charset="-122"/>
                <a:cs typeface="Calibri" pitchFamily="34" charset="-120"/>
              </a:rPr>
              <a:t>What reliance exists on SaaS vendor recovery?</a:t>
            </a:r>
            <a:endParaRPr lang="en-US" sz="1250" dirty="0"/>
          </a:p>
        </p:txBody>
      </p:sp>
      <p:sp>
        <p:nvSpPr>
          <p:cNvPr id="16" name="Shape 14"/>
          <p:cNvSpPr/>
          <p:nvPr/>
        </p:nvSpPr>
        <p:spPr>
          <a:xfrm>
            <a:off x="822960" y="3904488"/>
            <a:ext cx="292608" cy="292608"/>
          </a:xfrm>
          <a:prstGeom prst="ellipse">
            <a:avLst/>
          </a:prstGeom>
          <a:solidFill>
            <a:srgbClr val="F1F8F3"/>
          </a:solidFill>
          <a:ln w="12700">
            <a:solidFill>
              <a:srgbClr val="F1F8F3"/>
            </a:solidFill>
            <a:prstDash val="solid"/>
          </a:ln>
        </p:spPr>
      </p:sp>
      <p:sp>
        <p:nvSpPr>
          <p:cNvPr id="17" name="Text 15"/>
          <p:cNvSpPr txBox="1"/>
          <p:nvPr/>
        </p:nvSpPr>
        <p:spPr>
          <a:xfrm>
            <a:off x="822960" y="3904488"/>
            <a:ext cx="292608" cy="292608"/>
          </a:xfrm>
          <a:prstGeom prst="rect">
            <a:avLst/>
          </a:prstGeom>
          <a:noFill/>
          <a:ln/>
        </p:spPr>
        <p:txBody>
          <a:bodyPr wrap="square" lIns="0" tIns="0" rIns="0" bIns="0" rtlCol="0" anchor="ctr"/>
          <a:lstStyle/>
          <a:p>
            <a:pPr algn="ctr" indent="0" marL="0">
              <a:buNone/>
            </a:pPr>
            <a:r>
              <a:rPr lang="en-US" sz="1200" b="1" dirty="0">
                <a:solidFill>
                  <a:srgbClr val="4C8068"/>
                </a:solidFill>
                <a:latin typeface="Calibri" pitchFamily="34" charset="0"/>
                <a:ea typeface="Calibri" pitchFamily="34" charset="-122"/>
                <a:cs typeface="Calibri" pitchFamily="34" charset="-120"/>
              </a:rPr>
              <a:t>4</a:t>
            </a:r>
            <a:endParaRPr lang="en-US" sz="1200" dirty="0"/>
          </a:p>
        </p:txBody>
      </p:sp>
      <p:sp>
        <p:nvSpPr>
          <p:cNvPr id="18" name="Text 16"/>
          <p:cNvSpPr txBox="1"/>
          <p:nvPr/>
        </p:nvSpPr>
        <p:spPr>
          <a:xfrm>
            <a:off x="1234440" y="3886200"/>
            <a:ext cx="4114800" cy="533400"/>
          </a:xfrm>
          <a:prstGeom prst="rect">
            <a:avLst/>
          </a:prstGeom>
          <a:noFill/>
          <a:ln/>
        </p:spPr>
        <p:txBody>
          <a:bodyPr wrap="square" lIns="0" tIns="0" rIns="0" bIns="0" rtlCol="0" anchor="t"/>
          <a:lstStyle/>
          <a:p>
            <a:pPr indent="0" marL="0">
              <a:buNone/>
            </a:pPr>
            <a:r>
              <a:rPr lang="en-US" sz="1250" dirty="0">
                <a:solidFill>
                  <a:srgbClr val="1E2E3A"/>
                </a:solidFill>
                <a:latin typeface="Calibri" pitchFamily="34" charset="0"/>
                <a:ea typeface="Calibri" pitchFamily="34" charset="-122"/>
                <a:cs typeface="Calibri" pitchFamily="34" charset="-120"/>
              </a:rPr>
              <a:t>Which business functions receive priority?</a:t>
            </a:r>
            <a:endParaRPr lang="en-US" sz="1250" dirty="0"/>
          </a:p>
        </p:txBody>
      </p:sp>
      <p:sp>
        <p:nvSpPr>
          <p:cNvPr id="19" name="Shape 17"/>
          <p:cNvSpPr/>
          <p:nvPr/>
        </p:nvSpPr>
        <p:spPr>
          <a:xfrm>
            <a:off x="822960" y="4437888"/>
            <a:ext cx="292608" cy="292608"/>
          </a:xfrm>
          <a:prstGeom prst="ellipse">
            <a:avLst/>
          </a:prstGeom>
          <a:solidFill>
            <a:srgbClr val="F1F8F3"/>
          </a:solidFill>
          <a:ln w="12700">
            <a:solidFill>
              <a:srgbClr val="F1F8F3"/>
            </a:solidFill>
            <a:prstDash val="solid"/>
          </a:ln>
        </p:spPr>
      </p:sp>
      <p:sp>
        <p:nvSpPr>
          <p:cNvPr id="20" name="Text 18"/>
          <p:cNvSpPr txBox="1"/>
          <p:nvPr/>
        </p:nvSpPr>
        <p:spPr>
          <a:xfrm>
            <a:off x="822960" y="4437888"/>
            <a:ext cx="292608" cy="292608"/>
          </a:xfrm>
          <a:prstGeom prst="rect">
            <a:avLst/>
          </a:prstGeom>
          <a:noFill/>
          <a:ln/>
        </p:spPr>
        <p:txBody>
          <a:bodyPr wrap="square" lIns="0" tIns="0" rIns="0" bIns="0" rtlCol="0" anchor="ctr"/>
          <a:lstStyle/>
          <a:p>
            <a:pPr algn="ctr" indent="0" marL="0">
              <a:buNone/>
            </a:pPr>
            <a:r>
              <a:rPr lang="en-US" sz="1200" b="1" dirty="0">
                <a:solidFill>
                  <a:srgbClr val="4C8068"/>
                </a:solidFill>
                <a:latin typeface="Calibri" pitchFamily="34" charset="0"/>
                <a:ea typeface="Calibri" pitchFamily="34" charset="-122"/>
                <a:cs typeface="Calibri" pitchFamily="34" charset="-120"/>
              </a:rPr>
              <a:t>5</a:t>
            </a:r>
            <a:endParaRPr lang="en-US" sz="1200" dirty="0"/>
          </a:p>
        </p:txBody>
      </p:sp>
      <p:sp>
        <p:nvSpPr>
          <p:cNvPr id="21" name="Text 19"/>
          <p:cNvSpPr txBox="1"/>
          <p:nvPr/>
        </p:nvSpPr>
        <p:spPr>
          <a:xfrm>
            <a:off x="1234440" y="4419600"/>
            <a:ext cx="4114800" cy="533400"/>
          </a:xfrm>
          <a:prstGeom prst="rect">
            <a:avLst/>
          </a:prstGeom>
          <a:noFill/>
          <a:ln/>
        </p:spPr>
        <p:txBody>
          <a:bodyPr wrap="square" lIns="0" tIns="0" rIns="0" bIns="0" rtlCol="0" anchor="t"/>
          <a:lstStyle/>
          <a:p>
            <a:pPr indent="0" marL="0">
              <a:buNone/>
            </a:pPr>
            <a:r>
              <a:rPr lang="en-US" sz="1250" dirty="0">
                <a:solidFill>
                  <a:srgbClr val="1E2E3A"/>
                </a:solidFill>
                <a:latin typeface="Calibri" pitchFamily="34" charset="0"/>
                <a:ea typeface="Calibri" pitchFamily="34" charset="-122"/>
                <a:cs typeface="Calibri" pitchFamily="34" charset="-120"/>
              </a:rPr>
              <a:t>What manual procedures exist?</a:t>
            </a:r>
            <a:endParaRPr lang="en-US" sz="1250" dirty="0"/>
          </a:p>
        </p:txBody>
      </p:sp>
      <p:sp>
        <p:nvSpPr>
          <p:cNvPr id="22" name="Shape 20"/>
          <p:cNvSpPr/>
          <p:nvPr/>
        </p:nvSpPr>
        <p:spPr>
          <a:xfrm>
            <a:off x="822960" y="4971288"/>
            <a:ext cx="292608" cy="292608"/>
          </a:xfrm>
          <a:prstGeom prst="ellipse">
            <a:avLst/>
          </a:prstGeom>
          <a:solidFill>
            <a:srgbClr val="F1F8F3"/>
          </a:solidFill>
          <a:ln w="12700">
            <a:solidFill>
              <a:srgbClr val="F1F8F3"/>
            </a:solidFill>
            <a:prstDash val="solid"/>
          </a:ln>
        </p:spPr>
      </p:sp>
      <p:sp>
        <p:nvSpPr>
          <p:cNvPr id="23" name="Text 21"/>
          <p:cNvSpPr txBox="1"/>
          <p:nvPr/>
        </p:nvSpPr>
        <p:spPr>
          <a:xfrm>
            <a:off x="822960" y="4971288"/>
            <a:ext cx="292608" cy="292608"/>
          </a:xfrm>
          <a:prstGeom prst="rect">
            <a:avLst/>
          </a:prstGeom>
          <a:noFill/>
          <a:ln/>
        </p:spPr>
        <p:txBody>
          <a:bodyPr wrap="square" lIns="0" tIns="0" rIns="0" bIns="0" rtlCol="0" anchor="ctr"/>
          <a:lstStyle/>
          <a:p>
            <a:pPr algn="ctr" indent="0" marL="0">
              <a:buNone/>
            </a:pPr>
            <a:r>
              <a:rPr lang="en-US" sz="1200" b="1" dirty="0">
                <a:solidFill>
                  <a:srgbClr val="4C8068"/>
                </a:solidFill>
                <a:latin typeface="Calibri" pitchFamily="34" charset="0"/>
                <a:ea typeface="Calibri" pitchFamily="34" charset="-122"/>
                <a:cs typeface="Calibri" pitchFamily="34" charset="-120"/>
              </a:rPr>
              <a:t>6</a:t>
            </a:r>
            <a:endParaRPr lang="en-US" sz="1200" dirty="0"/>
          </a:p>
        </p:txBody>
      </p:sp>
      <p:sp>
        <p:nvSpPr>
          <p:cNvPr id="24" name="Text 22"/>
          <p:cNvSpPr txBox="1"/>
          <p:nvPr/>
        </p:nvSpPr>
        <p:spPr>
          <a:xfrm>
            <a:off x="1234440" y="4953000"/>
            <a:ext cx="4114800" cy="533400"/>
          </a:xfrm>
          <a:prstGeom prst="rect">
            <a:avLst/>
          </a:prstGeom>
          <a:noFill/>
          <a:ln/>
        </p:spPr>
        <p:txBody>
          <a:bodyPr wrap="square" lIns="0" tIns="0" rIns="0" bIns="0" rtlCol="0" anchor="t"/>
          <a:lstStyle/>
          <a:p>
            <a:pPr indent="0" marL="0">
              <a:buNone/>
            </a:pPr>
            <a:r>
              <a:rPr lang="en-US" sz="1250" dirty="0">
                <a:solidFill>
                  <a:srgbClr val="1E2E3A"/>
                </a:solidFill>
                <a:latin typeface="Calibri" pitchFamily="34" charset="0"/>
                <a:ea typeface="Calibri" pitchFamily="34" charset="-122"/>
                <a:cs typeface="Calibri" pitchFamily="34" charset="-120"/>
              </a:rPr>
              <a:t>What recovery objectives can actually be met?</a:t>
            </a:r>
            <a:endParaRPr lang="en-US" sz="1250" dirty="0"/>
          </a:p>
        </p:txBody>
      </p:sp>
      <p:sp>
        <p:nvSpPr>
          <p:cNvPr id="25" name="Shape 23"/>
          <p:cNvSpPr/>
          <p:nvPr/>
        </p:nvSpPr>
        <p:spPr>
          <a:xfrm>
            <a:off x="5852160" y="1600200"/>
            <a:ext cx="5788152" cy="3977640"/>
          </a:xfrm>
          <a:prstGeom prst="roundRect">
            <a:avLst>
              <a:gd name="adj" fmla="val 3218"/>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26" name="Text 24"/>
          <p:cNvSpPr txBox="1"/>
          <p:nvPr/>
        </p:nvSpPr>
        <p:spPr>
          <a:xfrm>
            <a:off x="6126480" y="1828800"/>
            <a:ext cx="3200400" cy="320040"/>
          </a:xfrm>
          <a:prstGeom prst="rect">
            <a:avLst/>
          </a:prstGeom>
          <a:noFill/>
          <a:ln/>
        </p:spPr>
        <p:txBody>
          <a:bodyPr wrap="square" lIns="0" tIns="0" rIns="0" bIns="0" rtlCol="0" anchor="t"/>
          <a:lstStyle/>
          <a:p>
            <a:pPr indent="0" marL="0">
              <a:buNone/>
            </a:pPr>
            <a:r>
              <a:rPr lang="en-US" sz="1400" b="1" dirty="0">
                <a:solidFill>
                  <a:srgbClr val="4C8068"/>
                </a:solidFill>
                <a:latin typeface="Calibri" pitchFamily="34" charset="0"/>
                <a:ea typeface="Calibri" pitchFamily="34" charset="-122"/>
                <a:cs typeface="Calibri" pitchFamily="34" charset="-120"/>
              </a:rPr>
              <a:t>Success criteria</a:t>
            </a:r>
            <a:endParaRPr lang="en-US" sz="1400" dirty="0"/>
          </a:p>
        </p:txBody>
      </p:sp>
      <p:sp>
        <p:nvSpPr>
          <p:cNvPr id="27" name="Text 25"/>
          <p:cNvSpPr txBox="1"/>
          <p:nvPr/>
        </p:nvSpPr>
        <p:spPr>
          <a:xfrm>
            <a:off x="9601200" y="1828800"/>
            <a:ext cx="603504" cy="320040"/>
          </a:xfrm>
          <a:prstGeom prst="rect">
            <a:avLst/>
          </a:prstGeom>
          <a:noFill/>
          <a:ln/>
        </p:spPr>
        <p:txBody>
          <a:bodyPr wrap="square" lIns="0" tIns="0" rIns="0" bIns="0" rtlCol="0" anchor="t"/>
          <a:lstStyle/>
          <a:p>
            <a:pPr algn="ctr" indent="0" marL="0">
              <a:buNone/>
            </a:pPr>
            <a:r>
              <a:rPr lang="en-US" sz="1200" b="1" dirty="0">
                <a:solidFill>
                  <a:srgbClr val="465A69"/>
                </a:solidFill>
                <a:latin typeface="Calibri" pitchFamily="34" charset="0"/>
                <a:ea typeface="Calibri" pitchFamily="34" charset="-122"/>
                <a:cs typeface="Calibri" pitchFamily="34" charset="-120"/>
              </a:rPr>
              <a:t>Met</a:t>
            </a:r>
            <a:endParaRPr lang="en-US" sz="1200" dirty="0"/>
          </a:p>
        </p:txBody>
      </p:sp>
      <p:sp>
        <p:nvSpPr>
          <p:cNvPr id="28" name="Text 26"/>
          <p:cNvSpPr txBox="1"/>
          <p:nvPr/>
        </p:nvSpPr>
        <p:spPr>
          <a:xfrm>
            <a:off x="10241280" y="1828800"/>
            <a:ext cx="603504" cy="320040"/>
          </a:xfrm>
          <a:prstGeom prst="rect">
            <a:avLst/>
          </a:prstGeom>
          <a:noFill/>
          <a:ln/>
        </p:spPr>
        <p:txBody>
          <a:bodyPr wrap="square" lIns="0" tIns="0" rIns="0" bIns="0" rtlCol="0" anchor="t"/>
          <a:lstStyle/>
          <a:p>
            <a:pPr algn="ctr" indent="0" marL="0">
              <a:buNone/>
            </a:pPr>
            <a:r>
              <a:rPr lang="en-US" sz="1200" b="1" dirty="0">
                <a:solidFill>
                  <a:srgbClr val="465A69"/>
                </a:solidFill>
                <a:latin typeface="Calibri" pitchFamily="34" charset="0"/>
                <a:ea typeface="Calibri" pitchFamily="34" charset="-122"/>
                <a:cs typeface="Calibri" pitchFamily="34" charset="-120"/>
              </a:rPr>
              <a:t>Partial</a:t>
            </a:r>
            <a:endParaRPr lang="en-US" sz="1200" dirty="0"/>
          </a:p>
        </p:txBody>
      </p:sp>
      <p:sp>
        <p:nvSpPr>
          <p:cNvPr id="29" name="Text 27"/>
          <p:cNvSpPr txBox="1"/>
          <p:nvPr/>
        </p:nvSpPr>
        <p:spPr>
          <a:xfrm>
            <a:off x="10881360" y="1828800"/>
            <a:ext cx="603504" cy="320040"/>
          </a:xfrm>
          <a:prstGeom prst="rect">
            <a:avLst/>
          </a:prstGeom>
          <a:noFill/>
          <a:ln/>
        </p:spPr>
        <p:txBody>
          <a:bodyPr wrap="square" lIns="0" tIns="0" rIns="0" bIns="0" rtlCol="0" anchor="t"/>
          <a:lstStyle/>
          <a:p>
            <a:pPr algn="ctr" indent="0" marL="0">
              <a:buNone/>
            </a:pPr>
            <a:r>
              <a:rPr lang="en-US" sz="1200" b="1" dirty="0">
                <a:solidFill>
                  <a:srgbClr val="465A69"/>
                </a:solidFill>
                <a:latin typeface="Calibri" pitchFamily="34" charset="0"/>
                <a:ea typeface="Calibri" pitchFamily="34" charset="-122"/>
                <a:cs typeface="Calibri" pitchFamily="34" charset="-120"/>
              </a:rPr>
              <a:t>Gap</a:t>
            </a:r>
            <a:endParaRPr lang="en-US" sz="1200" dirty="0"/>
          </a:p>
        </p:txBody>
      </p:sp>
      <p:sp>
        <p:nvSpPr>
          <p:cNvPr id="30" name="Text 28"/>
          <p:cNvSpPr txBox="1"/>
          <p:nvPr/>
        </p:nvSpPr>
        <p:spPr>
          <a:xfrm>
            <a:off x="6126480" y="2286000"/>
            <a:ext cx="3429000" cy="640080"/>
          </a:xfrm>
          <a:prstGeom prst="rect">
            <a:avLst/>
          </a:prstGeom>
          <a:noFill/>
          <a:ln/>
        </p:spPr>
        <p:txBody>
          <a:bodyPr wrap="square" lIns="0" tIns="0" rIns="0" bIns="0" rtlCol="0" anchor="t"/>
          <a:lstStyle/>
          <a:p>
            <a:pPr indent="0" marL="0">
              <a:buNone/>
            </a:pPr>
            <a:r>
              <a:rPr lang="en-US" sz="1250" dirty="0">
                <a:solidFill>
                  <a:srgbClr val="1E2E3A"/>
                </a:solidFill>
                <a:latin typeface="Calibri" pitchFamily="34" charset="0"/>
                <a:ea typeface="Calibri" pitchFamily="34" charset="-122"/>
                <a:cs typeface="Calibri" pitchFamily="34" charset="-120"/>
              </a:rPr>
              <a:t>DR declaration decision made</a:t>
            </a:r>
            <a:endParaRPr lang="en-US" sz="1250" dirty="0"/>
          </a:p>
        </p:txBody>
      </p:sp>
      <p:sp>
        <p:nvSpPr>
          <p:cNvPr id="31" name="Shape 29"/>
          <p:cNvSpPr/>
          <p:nvPr/>
        </p:nvSpPr>
        <p:spPr>
          <a:xfrm>
            <a:off x="9784080" y="2313432"/>
            <a:ext cx="237744" cy="237744"/>
          </a:xfrm>
          <a:prstGeom prst="roundRect">
            <a:avLst>
              <a:gd name="adj" fmla="val 19231"/>
            </a:avLst>
          </a:prstGeom>
          <a:solidFill>
            <a:srgbClr val="FFFFFF"/>
          </a:solidFill>
          <a:ln w="15875">
            <a:solidFill>
              <a:srgbClr val="C9D5D2"/>
            </a:solidFill>
            <a:prstDash val="solid"/>
          </a:ln>
        </p:spPr>
      </p:sp>
      <p:sp>
        <p:nvSpPr>
          <p:cNvPr id="32" name="Shape 30"/>
          <p:cNvSpPr/>
          <p:nvPr/>
        </p:nvSpPr>
        <p:spPr>
          <a:xfrm>
            <a:off x="10424160" y="2313432"/>
            <a:ext cx="237744" cy="237744"/>
          </a:xfrm>
          <a:prstGeom prst="roundRect">
            <a:avLst>
              <a:gd name="adj" fmla="val 19231"/>
            </a:avLst>
          </a:prstGeom>
          <a:solidFill>
            <a:srgbClr val="FFFFFF"/>
          </a:solidFill>
          <a:ln w="15875">
            <a:solidFill>
              <a:srgbClr val="C9D5D2"/>
            </a:solidFill>
            <a:prstDash val="solid"/>
          </a:ln>
        </p:spPr>
      </p:sp>
      <p:sp>
        <p:nvSpPr>
          <p:cNvPr id="33" name="Shape 31"/>
          <p:cNvSpPr/>
          <p:nvPr/>
        </p:nvSpPr>
        <p:spPr>
          <a:xfrm>
            <a:off x="11064240" y="2313432"/>
            <a:ext cx="237744" cy="237744"/>
          </a:xfrm>
          <a:prstGeom prst="roundRect">
            <a:avLst>
              <a:gd name="adj" fmla="val 19231"/>
            </a:avLst>
          </a:prstGeom>
          <a:solidFill>
            <a:srgbClr val="FFFFFF"/>
          </a:solidFill>
          <a:ln w="15875">
            <a:solidFill>
              <a:srgbClr val="C9D5D2"/>
            </a:solidFill>
            <a:prstDash val="solid"/>
          </a:ln>
        </p:spPr>
      </p:sp>
      <p:sp>
        <p:nvSpPr>
          <p:cNvPr id="34" name="Text 32"/>
          <p:cNvSpPr txBox="1"/>
          <p:nvPr/>
        </p:nvSpPr>
        <p:spPr>
          <a:xfrm>
            <a:off x="6126480" y="2926080"/>
            <a:ext cx="3429000" cy="640080"/>
          </a:xfrm>
          <a:prstGeom prst="rect">
            <a:avLst/>
          </a:prstGeom>
          <a:noFill/>
          <a:ln/>
        </p:spPr>
        <p:txBody>
          <a:bodyPr wrap="square" lIns="0" tIns="0" rIns="0" bIns="0" rtlCol="0" anchor="t"/>
          <a:lstStyle/>
          <a:p>
            <a:pPr indent="0" marL="0">
              <a:buNone/>
            </a:pPr>
            <a:r>
              <a:rPr lang="en-US" sz="1250" dirty="0">
                <a:solidFill>
                  <a:srgbClr val="1E2E3A"/>
                </a:solidFill>
                <a:latin typeface="Calibri" pitchFamily="34" charset="0"/>
                <a:ea typeface="Calibri" pitchFamily="34" charset="-122"/>
                <a:cs typeface="Calibri" pitchFamily="34" charset="-120"/>
              </a:rPr>
              <a:t>Alternate communications activated</a:t>
            </a:r>
            <a:endParaRPr lang="en-US" sz="1250" dirty="0"/>
          </a:p>
        </p:txBody>
      </p:sp>
      <p:sp>
        <p:nvSpPr>
          <p:cNvPr id="35" name="Shape 33"/>
          <p:cNvSpPr/>
          <p:nvPr/>
        </p:nvSpPr>
        <p:spPr>
          <a:xfrm>
            <a:off x="9784080" y="2953512"/>
            <a:ext cx="237744" cy="237744"/>
          </a:xfrm>
          <a:prstGeom prst="roundRect">
            <a:avLst>
              <a:gd name="adj" fmla="val 19231"/>
            </a:avLst>
          </a:prstGeom>
          <a:solidFill>
            <a:srgbClr val="FFFFFF"/>
          </a:solidFill>
          <a:ln w="15875">
            <a:solidFill>
              <a:srgbClr val="C9D5D2"/>
            </a:solidFill>
            <a:prstDash val="solid"/>
          </a:ln>
        </p:spPr>
      </p:sp>
      <p:sp>
        <p:nvSpPr>
          <p:cNvPr id="36" name="Shape 34"/>
          <p:cNvSpPr/>
          <p:nvPr/>
        </p:nvSpPr>
        <p:spPr>
          <a:xfrm>
            <a:off x="10424160" y="2953512"/>
            <a:ext cx="237744" cy="237744"/>
          </a:xfrm>
          <a:prstGeom prst="roundRect">
            <a:avLst>
              <a:gd name="adj" fmla="val 19231"/>
            </a:avLst>
          </a:prstGeom>
          <a:solidFill>
            <a:srgbClr val="FFFFFF"/>
          </a:solidFill>
          <a:ln w="15875">
            <a:solidFill>
              <a:srgbClr val="C9D5D2"/>
            </a:solidFill>
            <a:prstDash val="solid"/>
          </a:ln>
        </p:spPr>
      </p:sp>
      <p:sp>
        <p:nvSpPr>
          <p:cNvPr id="37" name="Shape 35"/>
          <p:cNvSpPr/>
          <p:nvPr/>
        </p:nvSpPr>
        <p:spPr>
          <a:xfrm>
            <a:off x="11064240" y="2953512"/>
            <a:ext cx="237744" cy="237744"/>
          </a:xfrm>
          <a:prstGeom prst="roundRect">
            <a:avLst>
              <a:gd name="adj" fmla="val 19231"/>
            </a:avLst>
          </a:prstGeom>
          <a:solidFill>
            <a:srgbClr val="FFFFFF"/>
          </a:solidFill>
          <a:ln w="15875">
            <a:solidFill>
              <a:srgbClr val="C9D5D2"/>
            </a:solidFill>
            <a:prstDash val="solid"/>
          </a:ln>
        </p:spPr>
      </p:sp>
      <p:sp>
        <p:nvSpPr>
          <p:cNvPr id="38" name="Text 36"/>
          <p:cNvSpPr txBox="1"/>
          <p:nvPr/>
        </p:nvSpPr>
        <p:spPr>
          <a:xfrm>
            <a:off x="6126480" y="3566160"/>
            <a:ext cx="3429000" cy="640080"/>
          </a:xfrm>
          <a:prstGeom prst="rect">
            <a:avLst/>
          </a:prstGeom>
          <a:noFill/>
          <a:ln/>
        </p:spPr>
        <p:txBody>
          <a:bodyPr wrap="square" lIns="0" tIns="0" rIns="0" bIns="0" rtlCol="0" anchor="t"/>
          <a:lstStyle/>
          <a:p>
            <a:pPr indent="0" marL="0">
              <a:buNone/>
            </a:pPr>
            <a:r>
              <a:rPr lang="en-US" sz="1250" dirty="0">
                <a:solidFill>
                  <a:srgbClr val="1E2E3A"/>
                </a:solidFill>
                <a:latin typeface="Calibri" pitchFamily="34" charset="0"/>
                <a:ea typeface="Calibri" pitchFamily="34" charset="-122"/>
                <a:cs typeface="Calibri" pitchFamily="34" charset="-120"/>
              </a:rPr>
              <a:t>Critical business process prioritization completed</a:t>
            </a:r>
            <a:endParaRPr lang="en-US" sz="1250" dirty="0"/>
          </a:p>
        </p:txBody>
      </p:sp>
      <p:sp>
        <p:nvSpPr>
          <p:cNvPr id="39" name="Shape 37"/>
          <p:cNvSpPr/>
          <p:nvPr/>
        </p:nvSpPr>
        <p:spPr>
          <a:xfrm>
            <a:off x="9784080" y="3593592"/>
            <a:ext cx="237744" cy="237744"/>
          </a:xfrm>
          <a:prstGeom prst="roundRect">
            <a:avLst>
              <a:gd name="adj" fmla="val 19231"/>
            </a:avLst>
          </a:prstGeom>
          <a:solidFill>
            <a:srgbClr val="FFFFFF"/>
          </a:solidFill>
          <a:ln w="15875">
            <a:solidFill>
              <a:srgbClr val="C9D5D2"/>
            </a:solidFill>
            <a:prstDash val="solid"/>
          </a:ln>
        </p:spPr>
      </p:sp>
      <p:sp>
        <p:nvSpPr>
          <p:cNvPr id="40" name="Shape 38"/>
          <p:cNvSpPr/>
          <p:nvPr/>
        </p:nvSpPr>
        <p:spPr>
          <a:xfrm>
            <a:off x="10424160" y="3593592"/>
            <a:ext cx="237744" cy="237744"/>
          </a:xfrm>
          <a:prstGeom prst="roundRect">
            <a:avLst>
              <a:gd name="adj" fmla="val 19231"/>
            </a:avLst>
          </a:prstGeom>
          <a:solidFill>
            <a:srgbClr val="FFFFFF"/>
          </a:solidFill>
          <a:ln w="15875">
            <a:solidFill>
              <a:srgbClr val="C9D5D2"/>
            </a:solidFill>
            <a:prstDash val="solid"/>
          </a:ln>
        </p:spPr>
      </p:sp>
      <p:sp>
        <p:nvSpPr>
          <p:cNvPr id="41" name="Shape 39"/>
          <p:cNvSpPr/>
          <p:nvPr/>
        </p:nvSpPr>
        <p:spPr>
          <a:xfrm>
            <a:off x="11064240" y="3593592"/>
            <a:ext cx="237744" cy="237744"/>
          </a:xfrm>
          <a:prstGeom prst="roundRect">
            <a:avLst>
              <a:gd name="adj" fmla="val 19231"/>
            </a:avLst>
          </a:prstGeom>
          <a:solidFill>
            <a:srgbClr val="FFFFFF"/>
          </a:solidFill>
          <a:ln w="15875">
            <a:solidFill>
              <a:srgbClr val="C9D5D2"/>
            </a:solidFill>
            <a:prstDash val="solid"/>
          </a:ln>
        </p:spPr>
      </p:sp>
      <p:sp>
        <p:nvSpPr>
          <p:cNvPr id="42" name="Text 40"/>
          <p:cNvSpPr txBox="1"/>
          <p:nvPr/>
        </p:nvSpPr>
        <p:spPr>
          <a:xfrm>
            <a:off x="6126480" y="4206240"/>
            <a:ext cx="3429000" cy="640080"/>
          </a:xfrm>
          <a:prstGeom prst="rect">
            <a:avLst/>
          </a:prstGeom>
          <a:noFill/>
          <a:ln/>
        </p:spPr>
        <p:txBody>
          <a:bodyPr wrap="square" lIns="0" tIns="0" rIns="0" bIns="0" rtlCol="0" anchor="t"/>
          <a:lstStyle/>
          <a:p>
            <a:pPr indent="0" marL="0">
              <a:buNone/>
            </a:pPr>
            <a:r>
              <a:rPr lang="en-US" sz="1250" dirty="0">
                <a:solidFill>
                  <a:srgbClr val="1E2E3A"/>
                </a:solidFill>
                <a:latin typeface="Calibri" pitchFamily="34" charset="0"/>
                <a:ea typeface="Calibri" pitchFamily="34" charset="-122"/>
                <a:cs typeface="Calibri" pitchFamily="34" charset="-120"/>
              </a:rPr>
              <a:t>Recovery assumptions validated</a:t>
            </a:r>
            <a:endParaRPr lang="en-US" sz="1250" dirty="0"/>
          </a:p>
        </p:txBody>
      </p:sp>
      <p:sp>
        <p:nvSpPr>
          <p:cNvPr id="43" name="Shape 41"/>
          <p:cNvSpPr/>
          <p:nvPr/>
        </p:nvSpPr>
        <p:spPr>
          <a:xfrm>
            <a:off x="9784080" y="4233672"/>
            <a:ext cx="237744" cy="237744"/>
          </a:xfrm>
          <a:prstGeom prst="roundRect">
            <a:avLst>
              <a:gd name="adj" fmla="val 19231"/>
            </a:avLst>
          </a:prstGeom>
          <a:solidFill>
            <a:srgbClr val="FFFFFF"/>
          </a:solidFill>
          <a:ln w="15875">
            <a:solidFill>
              <a:srgbClr val="C9D5D2"/>
            </a:solidFill>
            <a:prstDash val="solid"/>
          </a:ln>
        </p:spPr>
      </p:sp>
      <p:sp>
        <p:nvSpPr>
          <p:cNvPr id="44" name="Shape 42"/>
          <p:cNvSpPr/>
          <p:nvPr/>
        </p:nvSpPr>
        <p:spPr>
          <a:xfrm>
            <a:off x="10424160" y="4233672"/>
            <a:ext cx="237744" cy="237744"/>
          </a:xfrm>
          <a:prstGeom prst="roundRect">
            <a:avLst>
              <a:gd name="adj" fmla="val 19231"/>
            </a:avLst>
          </a:prstGeom>
          <a:solidFill>
            <a:srgbClr val="FFFFFF"/>
          </a:solidFill>
          <a:ln w="15875">
            <a:solidFill>
              <a:srgbClr val="C9D5D2"/>
            </a:solidFill>
            <a:prstDash val="solid"/>
          </a:ln>
        </p:spPr>
      </p:sp>
      <p:sp>
        <p:nvSpPr>
          <p:cNvPr id="45" name="Shape 43"/>
          <p:cNvSpPr/>
          <p:nvPr/>
        </p:nvSpPr>
        <p:spPr>
          <a:xfrm>
            <a:off x="11064240" y="4233672"/>
            <a:ext cx="237744" cy="237744"/>
          </a:xfrm>
          <a:prstGeom prst="roundRect">
            <a:avLst>
              <a:gd name="adj" fmla="val 19231"/>
            </a:avLst>
          </a:prstGeom>
          <a:solidFill>
            <a:srgbClr val="FFFFFF"/>
          </a:solidFill>
          <a:ln w="15875">
            <a:solidFill>
              <a:srgbClr val="C9D5D2"/>
            </a:solidFill>
            <a:prstDash val="solid"/>
          </a:ln>
        </p:spPr>
      </p:sp>
      <p:sp>
        <p:nvSpPr>
          <p:cNvPr id="46" name="Text 44"/>
          <p:cNvSpPr txBox="1"/>
          <p:nvPr/>
        </p:nvSpPr>
        <p:spPr>
          <a:xfrm>
            <a:off x="6126480" y="4846320"/>
            <a:ext cx="3429000" cy="640080"/>
          </a:xfrm>
          <a:prstGeom prst="rect">
            <a:avLst/>
          </a:prstGeom>
          <a:noFill/>
          <a:ln/>
        </p:spPr>
        <p:txBody>
          <a:bodyPr wrap="square" lIns="0" tIns="0" rIns="0" bIns="0" rtlCol="0" anchor="t"/>
          <a:lstStyle/>
          <a:p>
            <a:pPr indent="0" marL="0">
              <a:buNone/>
            </a:pPr>
            <a:r>
              <a:rPr lang="en-US" sz="1250" dirty="0">
                <a:solidFill>
                  <a:srgbClr val="1E2E3A"/>
                </a:solidFill>
                <a:latin typeface="Calibri" pitchFamily="34" charset="0"/>
                <a:ea typeface="Calibri" pitchFamily="34" charset="-122"/>
                <a:cs typeface="Calibri" pitchFamily="34" charset="-120"/>
              </a:rPr>
              <a:t>SaaS dependency gaps identified</a:t>
            </a:r>
            <a:endParaRPr lang="en-US" sz="1250" dirty="0"/>
          </a:p>
        </p:txBody>
      </p:sp>
      <p:sp>
        <p:nvSpPr>
          <p:cNvPr id="47" name="Shape 45"/>
          <p:cNvSpPr/>
          <p:nvPr/>
        </p:nvSpPr>
        <p:spPr>
          <a:xfrm>
            <a:off x="9784080" y="4873752"/>
            <a:ext cx="237744" cy="237744"/>
          </a:xfrm>
          <a:prstGeom prst="roundRect">
            <a:avLst>
              <a:gd name="adj" fmla="val 19231"/>
            </a:avLst>
          </a:prstGeom>
          <a:solidFill>
            <a:srgbClr val="FFFFFF"/>
          </a:solidFill>
          <a:ln w="15875">
            <a:solidFill>
              <a:srgbClr val="C9D5D2"/>
            </a:solidFill>
            <a:prstDash val="solid"/>
          </a:ln>
        </p:spPr>
      </p:sp>
      <p:sp>
        <p:nvSpPr>
          <p:cNvPr id="48" name="Shape 46"/>
          <p:cNvSpPr/>
          <p:nvPr/>
        </p:nvSpPr>
        <p:spPr>
          <a:xfrm>
            <a:off x="10424160" y="4873752"/>
            <a:ext cx="237744" cy="237744"/>
          </a:xfrm>
          <a:prstGeom prst="roundRect">
            <a:avLst>
              <a:gd name="adj" fmla="val 19231"/>
            </a:avLst>
          </a:prstGeom>
          <a:solidFill>
            <a:srgbClr val="FFFFFF"/>
          </a:solidFill>
          <a:ln w="15875">
            <a:solidFill>
              <a:srgbClr val="C9D5D2"/>
            </a:solidFill>
            <a:prstDash val="solid"/>
          </a:ln>
        </p:spPr>
      </p:sp>
      <p:sp>
        <p:nvSpPr>
          <p:cNvPr id="49" name="Shape 47"/>
          <p:cNvSpPr/>
          <p:nvPr/>
        </p:nvSpPr>
        <p:spPr>
          <a:xfrm>
            <a:off x="11064240" y="4873752"/>
            <a:ext cx="237744" cy="237744"/>
          </a:xfrm>
          <a:prstGeom prst="roundRect">
            <a:avLst>
              <a:gd name="adj" fmla="val 19231"/>
            </a:avLst>
          </a:prstGeom>
          <a:solidFill>
            <a:srgbClr val="FFFFFF"/>
          </a:solidFill>
          <a:ln w="15875">
            <a:solidFill>
              <a:srgbClr val="C9D5D2"/>
            </a:solidFill>
            <a:prstDash val="solid"/>
          </a:ln>
        </p:spPr>
      </p:sp>
      <p:sp>
        <p:nvSpPr>
          <p:cNvPr id="50" name="Shape 48"/>
          <p:cNvSpPr/>
          <p:nvPr/>
        </p:nvSpPr>
        <p:spPr>
          <a:xfrm>
            <a:off x="548640" y="5760720"/>
            <a:ext cx="11091672" cy="457200"/>
          </a:xfrm>
          <a:prstGeom prst="roundRect">
            <a:avLst>
              <a:gd name="adj" fmla="val 24000"/>
            </a:avLst>
          </a:prstGeom>
          <a:solidFill>
            <a:srgbClr val="F1F8F3"/>
          </a:solidFill>
          <a:ln w="12700">
            <a:solidFill>
              <a:srgbClr val="F1F8F3"/>
            </a:solidFill>
            <a:prstDash val="solid"/>
          </a:ln>
        </p:spPr>
      </p:sp>
      <p:sp>
        <p:nvSpPr>
          <p:cNvPr id="51" name="Text 49"/>
          <p:cNvSpPr txBox="1"/>
          <p:nvPr/>
        </p:nvSpPr>
        <p:spPr>
          <a:xfrm>
            <a:off x="822960" y="5760720"/>
            <a:ext cx="8412480" cy="457200"/>
          </a:xfrm>
          <a:prstGeom prst="rect">
            <a:avLst/>
          </a:prstGeom>
          <a:noFill/>
          <a:ln/>
        </p:spPr>
        <p:txBody>
          <a:bodyPr wrap="square" lIns="0" tIns="0" rIns="0" bIns="0" rtlCol="0" anchor="ctr"/>
          <a:lstStyle/>
          <a:p>
            <a:pPr indent="0" marL="0">
              <a:buNone/>
            </a:pPr>
            <a:r>
              <a:rPr lang="en-US" sz="1300" i="1" dirty="0">
                <a:solidFill>
                  <a:srgbClr val="4C8068"/>
                </a:solidFill>
                <a:latin typeface="Calibri" pitchFamily="34" charset="0"/>
                <a:ea typeface="Calibri" pitchFamily="34" charset="-122"/>
                <a:cs typeface="Calibri" pitchFamily="34" charset="-120"/>
              </a:rPr>
              <a:t>Next: Service partially returns. But the wider ecosystem of external providers stays down.</a:t>
            </a:r>
            <a:endParaRPr lang="en-US" sz="1300" dirty="0"/>
          </a:p>
        </p:txBody>
      </p:sp>
      <p:sp>
        <p:nvSpPr>
          <p:cNvPr id="52" name="Shape 50"/>
          <p:cNvSpPr/>
          <p:nvPr/>
        </p:nvSpPr>
        <p:spPr>
          <a:xfrm>
            <a:off x="9464040" y="5815584"/>
            <a:ext cx="2011680" cy="347472"/>
          </a:xfrm>
          <a:prstGeom prst="roundRect">
            <a:avLst>
              <a:gd name="adj" fmla="val 50000"/>
            </a:avLst>
          </a:prstGeom>
          <a:solidFill>
            <a:srgbClr val="6E5E94"/>
          </a:solidFill>
          <a:ln w="12700">
            <a:solidFill>
              <a:srgbClr val="6E5E94"/>
            </a:solidFill>
            <a:prstDash val="solid"/>
          </a:ln>
        </p:spPr>
      </p:sp>
      <p:sp>
        <p:nvSpPr>
          <p:cNvPr id="53" name="Text 51"/>
          <p:cNvSpPr txBox="1"/>
          <p:nvPr/>
        </p:nvSpPr>
        <p:spPr>
          <a:xfrm>
            <a:off x="9464040" y="5815584"/>
            <a:ext cx="201168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Go to Scenario 3</a:t>
            </a:r>
            <a:endParaRPr lang="en-US" sz="1200" dirty="0"/>
          </a:p>
        </p:txBody>
      </p:sp>
      <p:pic>
        <p:nvPicPr>
          <p:cNvPr id="54" name="Image 0" descr="preencoded.png">
            <a:hlinkClick r:id="rId2" tooltip="Go to Scenario 3" action="ppaction://hlinksldjump"/>
          </p:cNvPr>
          <p:cNvPicPr>
            <a:picLocks noChangeAspect="1"/>
          </p:cNvPicPr>
          <p:nvPr/>
        </p:nvPicPr>
        <p:blipFill>
          <a:blip r:embed="rId1"/>
          <a:stretch>
            <a:fillRect/>
          </a:stretch>
        </p:blipFill>
        <p:spPr>
          <a:xfrm>
            <a:off x="9464040" y="5815584"/>
            <a:ext cx="2011680" cy="347472"/>
          </a:xfrm>
          <a:prstGeom prst="rect">
            <a:avLst/>
          </a:prstGeom>
        </p:spPr>
      </p:pic>
      <p:sp>
        <p:nvSpPr>
          <p:cNvPr id="55" name="Text 52"/>
          <p:cNvSpPr txBox="1"/>
          <p:nvPr/>
        </p:nvSpPr>
        <p:spPr>
          <a:xfrm>
            <a:off x="548640" y="6254496"/>
            <a:ext cx="11091672" cy="256032"/>
          </a:xfrm>
          <a:prstGeom prst="rect">
            <a:avLst/>
          </a:prstGeom>
          <a:noFill/>
          <a:ln/>
        </p:spPr>
        <p:txBody>
          <a:bodyPr wrap="square" lIns="0" tIns="0" rIns="0" bIns="0" rtlCol="0" anchor="ctr"/>
          <a:lstStyle/>
          <a:p>
            <a:pPr indent="0" marL="0">
              <a:buNone/>
            </a:pPr>
            <a:r>
              <a:rPr lang="en-US" sz="1200" b="1" dirty="0">
                <a:solidFill>
                  <a:srgbClr val="465A69"/>
                </a:solidFill>
                <a:latin typeface="Calibri" pitchFamily="34" charset="0"/>
                <a:ea typeface="Calibri" pitchFamily="34" charset="-122"/>
                <a:cs typeface="Calibri" pitchFamily="34" charset="-120"/>
              </a:rPr>
              <a:t>Acronyms:  </a:t>
            </a:r>
            <a:pPr indent="0" marL="0">
              <a:buNone/>
            </a:pPr>
            <a:r>
              <a:rPr lang="en-US" sz="1200" dirty="0">
                <a:solidFill>
                  <a:srgbClr val="465A69"/>
                </a:solidFill>
                <a:latin typeface="Calibri" pitchFamily="34" charset="0"/>
                <a:ea typeface="Calibri" pitchFamily="34" charset="-122"/>
                <a:cs typeface="Calibri" pitchFamily="34" charset="-120"/>
              </a:rPr>
              <a:t>DR: Disaster Recovery;  SaaS: software as a service</a:t>
            </a:r>
            <a:endParaRPr lang="en-US" sz="1200" dirty="0"/>
          </a:p>
        </p:txBody>
      </p:sp>
      <p:sp>
        <p:nvSpPr>
          <p:cNvPr id="56" name="Shape 53"/>
          <p:cNvSpPr/>
          <p:nvPr/>
        </p:nvSpPr>
        <p:spPr>
          <a:xfrm>
            <a:off x="548640" y="6537960"/>
            <a:ext cx="763524" cy="274320"/>
          </a:xfrm>
          <a:prstGeom prst="roundRect">
            <a:avLst>
              <a:gd name="adj" fmla="val 50000"/>
            </a:avLst>
          </a:prstGeom>
          <a:solidFill>
            <a:srgbClr val="E4ECF2"/>
          </a:solidFill>
          <a:ln w="12700">
            <a:solidFill>
              <a:srgbClr val="E4ECF2"/>
            </a:solidFill>
            <a:prstDash val="solid"/>
          </a:ln>
        </p:spPr>
      </p:sp>
      <p:sp>
        <p:nvSpPr>
          <p:cNvPr id="57" name="Text 54"/>
          <p:cNvSpPr txBox="1"/>
          <p:nvPr/>
        </p:nvSpPr>
        <p:spPr>
          <a:xfrm>
            <a:off x="548640" y="6537960"/>
            <a:ext cx="763524" cy="274320"/>
          </a:xfrm>
          <a:prstGeom prst="rect">
            <a:avLst/>
          </a:prstGeom>
          <a:noFill/>
          <a:ln/>
        </p:spPr>
        <p:txBody>
          <a:bodyPr wrap="square" lIns="0" tIns="0" rIns="0" bIns="0" rtlCol="0" anchor="ctr"/>
          <a:lstStyle/>
          <a:p>
            <a:pPr algn="ctr" indent="0" marL="0">
              <a:buNone/>
            </a:pPr>
            <a:r>
              <a:rPr lang="en-US" sz="1200" b="1" dirty="0">
                <a:solidFill>
                  <a:srgbClr val="23405A"/>
                </a:solidFill>
                <a:latin typeface="Calibri" pitchFamily="34" charset="0"/>
                <a:ea typeface="Calibri" pitchFamily="34" charset="-122"/>
                <a:cs typeface="Calibri" pitchFamily="34" charset="-120"/>
              </a:rPr>
              <a:t>Start</a:t>
            </a:r>
            <a:endParaRPr lang="en-US" sz="1200" dirty="0"/>
          </a:p>
        </p:txBody>
      </p:sp>
      <p:pic>
        <p:nvPicPr>
          <p:cNvPr id="58" name="Image 1" descr="preencoded.png">
            <a:hlinkClick r:id="rId4" tooltip="Go to Start" action="ppaction://hlinksldjump"/>
          </p:cNvPr>
          <p:cNvPicPr>
            <a:picLocks noChangeAspect="1"/>
          </p:cNvPicPr>
          <p:nvPr/>
        </p:nvPicPr>
        <p:blipFill>
          <a:blip r:embed="rId3"/>
          <a:stretch>
            <a:fillRect/>
          </a:stretch>
        </p:blipFill>
        <p:spPr>
          <a:xfrm>
            <a:off x="548640" y="6537960"/>
            <a:ext cx="763524" cy="274320"/>
          </a:xfrm>
          <a:prstGeom prst="rect">
            <a:avLst/>
          </a:prstGeom>
        </p:spPr>
      </p:pic>
      <p:sp>
        <p:nvSpPr>
          <p:cNvPr id="59" name="Shape 55"/>
          <p:cNvSpPr/>
          <p:nvPr/>
        </p:nvSpPr>
        <p:spPr>
          <a:xfrm>
            <a:off x="1385316" y="6537960"/>
            <a:ext cx="1197864" cy="274320"/>
          </a:xfrm>
          <a:prstGeom prst="roundRect">
            <a:avLst>
              <a:gd name="adj" fmla="val 50000"/>
            </a:avLst>
          </a:prstGeom>
          <a:solidFill>
            <a:srgbClr val="F1F6FA"/>
          </a:solidFill>
          <a:ln w="12700">
            <a:solidFill>
              <a:srgbClr val="F1F6FA"/>
            </a:solidFill>
            <a:prstDash val="solid"/>
          </a:ln>
        </p:spPr>
      </p:sp>
      <p:sp>
        <p:nvSpPr>
          <p:cNvPr id="60" name="Text 56"/>
          <p:cNvSpPr txBox="1"/>
          <p:nvPr/>
        </p:nvSpPr>
        <p:spPr>
          <a:xfrm>
            <a:off x="1385316" y="6537960"/>
            <a:ext cx="1197864" cy="274320"/>
          </a:xfrm>
          <a:prstGeom prst="rect">
            <a:avLst/>
          </a:prstGeom>
          <a:noFill/>
          <a:ln/>
        </p:spPr>
        <p:txBody>
          <a:bodyPr wrap="square" lIns="0" tIns="0" rIns="0" bIns="0" rtlCol="0" anchor="ctr"/>
          <a:lstStyle/>
          <a:p>
            <a:pPr algn="ctr" indent="0" marL="0">
              <a:buNone/>
            </a:pPr>
            <a:r>
              <a:rPr lang="en-US" sz="1200" b="1" dirty="0">
                <a:solidFill>
                  <a:srgbClr val="3F6E8C"/>
                </a:solidFill>
                <a:latin typeface="Calibri" pitchFamily="34" charset="0"/>
                <a:ea typeface="Calibri" pitchFamily="34" charset="-122"/>
                <a:cs typeface="Calibri" pitchFamily="34" charset="-120"/>
              </a:rPr>
              <a:t>Scenario 1</a:t>
            </a:r>
            <a:endParaRPr lang="en-US" sz="1200" dirty="0"/>
          </a:p>
        </p:txBody>
      </p:sp>
      <p:pic>
        <p:nvPicPr>
          <p:cNvPr id="61" name="Image 2" descr="preencoded.png">
            <a:hlinkClick r:id="rId6" tooltip="Go to Scenario 1" action="ppaction://hlinksldjump"/>
          </p:cNvPr>
          <p:cNvPicPr>
            <a:picLocks noChangeAspect="1"/>
          </p:cNvPicPr>
          <p:nvPr/>
        </p:nvPicPr>
        <p:blipFill>
          <a:blip r:embed="rId5"/>
          <a:stretch>
            <a:fillRect/>
          </a:stretch>
        </p:blipFill>
        <p:spPr>
          <a:xfrm>
            <a:off x="1385316" y="6537960"/>
            <a:ext cx="1197864" cy="274320"/>
          </a:xfrm>
          <a:prstGeom prst="rect">
            <a:avLst/>
          </a:prstGeom>
        </p:spPr>
      </p:pic>
      <p:sp>
        <p:nvSpPr>
          <p:cNvPr id="62" name="Shape 57"/>
          <p:cNvSpPr/>
          <p:nvPr/>
        </p:nvSpPr>
        <p:spPr>
          <a:xfrm>
            <a:off x="2656332" y="6537960"/>
            <a:ext cx="1197864" cy="274320"/>
          </a:xfrm>
          <a:prstGeom prst="roundRect">
            <a:avLst>
              <a:gd name="adj" fmla="val 50000"/>
            </a:avLst>
          </a:prstGeom>
          <a:solidFill>
            <a:srgbClr val="4C8068"/>
          </a:solidFill>
          <a:ln w="12700">
            <a:solidFill>
              <a:srgbClr val="4C8068"/>
            </a:solidFill>
            <a:prstDash val="solid"/>
          </a:ln>
        </p:spPr>
      </p:sp>
      <p:sp>
        <p:nvSpPr>
          <p:cNvPr id="63" name="Text 58"/>
          <p:cNvSpPr txBox="1"/>
          <p:nvPr/>
        </p:nvSpPr>
        <p:spPr>
          <a:xfrm>
            <a:off x="2656332" y="6537960"/>
            <a:ext cx="1197864"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Scenario 2</a:t>
            </a:r>
            <a:endParaRPr lang="en-US" sz="1200" dirty="0"/>
          </a:p>
        </p:txBody>
      </p:sp>
      <p:pic>
        <p:nvPicPr>
          <p:cNvPr id="64" name="Image 3" descr="preencoded.png">
            <a:hlinkClick r:id="rId8" tooltip="Go to Scenario 2" action="ppaction://hlinksldjump"/>
          </p:cNvPr>
          <p:cNvPicPr>
            <a:picLocks noChangeAspect="1"/>
          </p:cNvPicPr>
          <p:nvPr/>
        </p:nvPicPr>
        <p:blipFill>
          <a:blip r:embed="rId7"/>
          <a:stretch>
            <a:fillRect/>
          </a:stretch>
        </p:blipFill>
        <p:spPr>
          <a:xfrm>
            <a:off x="2656332" y="6537960"/>
            <a:ext cx="1197864" cy="274320"/>
          </a:xfrm>
          <a:prstGeom prst="rect">
            <a:avLst/>
          </a:prstGeom>
        </p:spPr>
      </p:pic>
      <p:sp>
        <p:nvSpPr>
          <p:cNvPr id="65" name="Shape 59"/>
          <p:cNvSpPr/>
          <p:nvPr/>
        </p:nvSpPr>
        <p:spPr>
          <a:xfrm>
            <a:off x="3927348" y="6537960"/>
            <a:ext cx="1197864" cy="274320"/>
          </a:xfrm>
          <a:prstGeom prst="roundRect">
            <a:avLst>
              <a:gd name="adj" fmla="val 50000"/>
            </a:avLst>
          </a:prstGeom>
          <a:solidFill>
            <a:srgbClr val="F6F3FA"/>
          </a:solidFill>
          <a:ln w="12700">
            <a:solidFill>
              <a:srgbClr val="F6F3FA"/>
            </a:solidFill>
            <a:prstDash val="solid"/>
          </a:ln>
        </p:spPr>
      </p:sp>
      <p:sp>
        <p:nvSpPr>
          <p:cNvPr id="66" name="Text 60"/>
          <p:cNvSpPr txBox="1"/>
          <p:nvPr/>
        </p:nvSpPr>
        <p:spPr>
          <a:xfrm>
            <a:off x="3927348" y="6537960"/>
            <a:ext cx="1197864" cy="274320"/>
          </a:xfrm>
          <a:prstGeom prst="rect">
            <a:avLst/>
          </a:prstGeom>
          <a:noFill/>
          <a:ln/>
        </p:spPr>
        <p:txBody>
          <a:bodyPr wrap="square" lIns="0" tIns="0" rIns="0" bIns="0" rtlCol="0" anchor="ctr"/>
          <a:lstStyle/>
          <a:p>
            <a:pPr algn="ctr" indent="0" marL="0">
              <a:buNone/>
            </a:pPr>
            <a:r>
              <a:rPr lang="en-US" sz="1200" b="1" dirty="0">
                <a:solidFill>
                  <a:srgbClr val="6E5E94"/>
                </a:solidFill>
                <a:latin typeface="Calibri" pitchFamily="34" charset="0"/>
                <a:ea typeface="Calibri" pitchFamily="34" charset="-122"/>
                <a:cs typeface="Calibri" pitchFamily="34" charset="-120"/>
              </a:rPr>
              <a:t>Scenario 3</a:t>
            </a:r>
            <a:endParaRPr lang="en-US" sz="1200" dirty="0"/>
          </a:p>
        </p:txBody>
      </p:sp>
      <p:pic>
        <p:nvPicPr>
          <p:cNvPr id="67" name="Image 4" descr="preencoded.png">
            <a:hlinkClick r:id="rId10" tooltip="Go to Scenario 3" action="ppaction://hlinksldjump"/>
          </p:cNvPr>
          <p:cNvPicPr>
            <a:picLocks noChangeAspect="1"/>
          </p:cNvPicPr>
          <p:nvPr/>
        </p:nvPicPr>
        <p:blipFill>
          <a:blip r:embed="rId9"/>
          <a:stretch>
            <a:fillRect/>
          </a:stretch>
        </p:blipFill>
        <p:spPr>
          <a:xfrm>
            <a:off x="3927348" y="6537960"/>
            <a:ext cx="1197864" cy="274320"/>
          </a:xfrm>
          <a:prstGeom prst="rect">
            <a:avLst/>
          </a:prstGeom>
        </p:spPr>
      </p:pic>
      <p:sp>
        <p:nvSpPr>
          <p:cNvPr id="68" name="Shape 61"/>
          <p:cNvSpPr/>
          <p:nvPr/>
        </p:nvSpPr>
        <p:spPr>
          <a:xfrm>
            <a:off x="5198364" y="6537960"/>
            <a:ext cx="937260" cy="274320"/>
          </a:xfrm>
          <a:prstGeom prst="roundRect">
            <a:avLst>
              <a:gd name="adj" fmla="val 50000"/>
            </a:avLst>
          </a:prstGeom>
          <a:solidFill>
            <a:srgbClr val="E4ECF2"/>
          </a:solidFill>
          <a:ln w="12700">
            <a:solidFill>
              <a:srgbClr val="E4ECF2"/>
            </a:solidFill>
            <a:prstDash val="solid"/>
          </a:ln>
        </p:spPr>
      </p:sp>
      <p:sp>
        <p:nvSpPr>
          <p:cNvPr id="69" name="Text 62"/>
          <p:cNvSpPr txBox="1"/>
          <p:nvPr/>
        </p:nvSpPr>
        <p:spPr>
          <a:xfrm>
            <a:off x="5198364" y="6537960"/>
            <a:ext cx="937260" cy="274320"/>
          </a:xfrm>
          <a:prstGeom prst="rect">
            <a:avLst/>
          </a:prstGeom>
          <a:noFill/>
          <a:ln/>
        </p:spPr>
        <p:txBody>
          <a:bodyPr wrap="square" lIns="0" tIns="0" rIns="0" bIns="0" rtlCol="0" anchor="ctr"/>
          <a:lstStyle/>
          <a:p>
            <a:pPr algn="ctr" indent="0" marL="0">
              <a:buNone/>
            </a:pPr>
            <a:r>
              <a:rPr lang="en-US" sz="1200" b="1" dirty="0">
                <a:solidFill>
                  <a:srgbClr val="23405A"/>
                </a:solidFill>
                <a:latin typeface="Calibri" pitchFamily="34" charset="0"/>
                <a:ea typeface="Calibri" pitchFamily="34" charset="-122"/>
                <a:cs typeface="Calibri" pitchFamily="34" charset="-120"/>
              </a:rPr>
              <a:t>Closing</a:t>
            </a:r>
            <a:endParaRPr lang="en-US" sz="1200" dirty="0"/>
          </a:p>
        </p:txBody>
      </p:sp>
      <p:pic>
        <p:nvPicPr>
          <p:cNvPr id="70" name="Image 5" descr="preencoded.png">
            <a:hlinkClick r:id="rId12" tooltip="Go to Closing" action="ppaction://hlinksldjump"/>
          </p:cNvPr>
          <p:cNvPicPr>
            <a:picLocks noChangeAspect="1"/>
          </p:cNvPicPr>
          <p:nvPr/>
        </p:nvPicPr>
        <p:blipFill>
          <a:blip r:embed="rId11"/>
          <a:stretch>
            <a:fillRect/>
          </a:stretch>
        </p:blipFill>
        <p:spPr>
          <a:xfrm>
            <a:off x="5198364" y="6537960"/>
            <a:ext cx="937260" cy="274320"/>
          </a:xfrm>
          <a:prstGeom prst="rect">
            <a:avLst/>
          </a:prstGeom>
        </p:spPr>
      </p:pic>
      <p:sp>
        <p:nvSpPr>
          <p:cNvPr id="71" name="Text 63"/>
          <p:cNvSpPr txBox="1"/>
          <p:nvPr/>
        </p:nvSpPr>
        <p:spPr>
          <a:xfrm>
            <a:off x="11277295" y="6537960"/>
            <a:ext cx="365760" cy="274320"/>
          </a:xfrm>
          <a:prstGeom prst="rect">
            <a:avLst/>
          </a:prstGeom>
          <a:noFill/>
          <a:ln/>
        </p:spPr>
        <p:txBody>
          <a:bodyPr wrap="square" lIns="0" tIns="0" rIns="0" bIns="0" rtlCol="0" anchor="ctr"/>
          <a:lstStyle/>
          <a:p>
            <a:pPr algn="r" indent="0" marL="0">
              <a:buNone/>
            </a:pPr>
            <a:r>
              <a:rPr lang="en-US" sz="1200" dirty="0">
                <a:solidFill>
                  <a:srgbClr val="465A69"/>
                </a:solidFill>
                <a:latin typeface="Calibri" pitchFamily="34" charset="0"/>
                <a:ea typeface="Calibri" pitchFamily="34" charset="-122"/>
                <a:cs typeface="Calibri" pitchFamily="34" charset="-120"/>
              </a:rPr>
              <a:t>39</a:t>
            </a:r>
            <a:endParaRPr lang="en-US" sz="1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EEEAF5"/>
        </a:solidFill>
      </p:bgPr>
    </p:bg>
    <p:spTree>
      <p:nvGrpSpPr>
        <p:cNvPr id="1" name=""/>
        <p:cNvGrpSpPr/>
        <p:nvPr/>
      </p:nvGrpSpPr>
      <p:grpSpPr>
        <a:xfrm>
          <a:off x="0" y="0"/>
          <a:ext cx="0" cy="0"/>
          <a:chOff x="0" y="0"/>
          <a:chExt cx="0" cy="0"/>
        </a:xfrm>
      </p:grpSpPr>
      <p:sp>
        <p:nvSpPr>
          <p:cNvPr id="2" name="Shape 0"/>
          <p:cNvSpPr/>
          <p:nvPr/>
        </p:nvSpPr>
        <p:spPr>
          <a:xfrm>
            <a:off x="548640" y="731520"/>
            <a:ext cx="7040880" cy="5394960"/>
          </a:xfrm>
          <a:prstGeom prst="roundRect">
            <a:avLst>
              <a:gd name="adj" fmla="val 2373"/>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3" name="Shape 1"/>
          <p:cNvSpPr/>
          <p:nvPr/>
        </p:nvSpPr>
        <p:spPr>
          <a:xfrm>
            <a:off x="1005840" y="1188720"/>
            <a:ext cx="914400" cy="914400"/>
          </a:xfrm>
          <a:prstGeom prst="roundRect">
            <a:avLst>
              <a:gd name="adj" fmla="val 50000"/>
            </a:avLst>
          </a:prstGeom>
          <a:solidFill>
            <a:srgbClr val="F6F3FA"/>
          </a:solidFill>
          <a:ln w="12700">
            <a:solidFill>
              <a:srgbClr val="F6F3FA"/>
            </a:solidFill>
            <a:prstDash val="solid"/>
          </a:ln>
        </p:spPr>
      </p:sp>
      <p:pic>
        <p:nvPicPr>
          <p:cNvPr id="4" name="Image 0" descr="preencoded.png">    </p:cNvPr>
          <p:cNvPicPr>
            <a:picLocks noChangeAspect="1"/>
          </p:cNvPicPr>
          <p:nvPr/>
        </p:nvPicPr>
        <p:blipFill>
          <a:blip r:embed="rId1"/>
          <a:stretch>
            <a:fillRect/>
          </a:stretch>
        </p:blipFill>
        <p:spPr>
          <a:xfrm>
            <a:off x="1234440" y="1417320"/>
            <a:ext cx="457200" cy="457200"/>
          </a:xfrm>
          <a:prstGeom prst="rect">
            <a:avLst/>
          </a:prstGeom>
        </p:spPr>
      </p:pic>
      <p:sp>
        <p:nvSpPr>
          <p:cNvPr id="5" name="Text 2"/>
          <p:cNvSpPr txBox="1"/>
          <p:nvPr/>
        </p:nvSpPr>
        <p:spPr>
          <a:xfrm>
            <a:off x="2148840" y="1234440"/>
            <a:ext cx="4572000" cy="365760"/>
          </a:xfrm>
          <a:prstGeom prst="rect">
            <a:avLst/>
          </a:prstGeom>
          <a:noFill/>
          <a:ln/>
        </p:spPr>
        <p:txBody>
          <a:bodyPr wrap="square" lIns="0" tIns="0" rIns="0" bIns="0" rtlCol="0" anchor="t"/>
          <a:lstStyle/>
          <a:p>
            <a:pPr indent="0" marL="0">
              <a:buNone/>
            </a:pPr>
            <a:r>
              <a:rPr lang="en-US" sz="1600" b="1" dirty="0">
                <a:solidFill>
                  <a:srgbClr val="6E5E94"/>
                </a:solidFill>
                <a:latin typeface="Calibri" pitchFamily="34" charset="0"/>
                <a:ea typeface="Calibri" pitchFamily="34" charset="-122"/>
                <a:cs typeface="Calibri" pitchFamily="34" charset="-120"/>
              </a:rPr>
              <a:t>Scenario 3</a:t>
            </a:r>
            <a:endParaRPr lang="en-US" sz="1600" dirty="0"/>
          </a:p>
        </p:txBody>
      </p:sp>
      <p:sp>
        <p:nvSpPr>
          <p:cNvPr id="6" name="Text 3"/>
          <p:cNvSpPr txBox="1"/>
          <p:nvPr/>
        </p:nvSpPr>
        <p:spPr>
          <a:xfrm>
            <a:off x="2148840" y="1572768"/>
            <a:ext cx="5120640" cy="594360"/>
          </a:xfrm>
          <a:prstGeom prst="rect">
            <a:avLst/>
          </a:prstGeom>
          <a:noFill/>
          <a:ln/>
        </p:spPr>
        <p:txBody>
          <a:bodyPr wrap="square" lIns="0" tIns="0" rIns="0" bIns="0" rtlCol="0" anchor="t"/>
          <a:lstStyle/>
          <a:p>
            <a:pPr indent="0" marL="0">
              <a:buNone/>
            </a:pPr>
            <a:r>
              <a:rPr lang="en-US" sz="3200" b="1" dirty="0">
                <a:solidFill>
                  <a:srgbClr val="23405A"/>
                </a:solidFill>
                <a:latin typeface="Calibri" pitchFamily="34" charset="0"/>
                <a:ea typeface="Calibri" pitchFamily="34" charset="-122"/>
                <a:cs typeface="Calibri" pitchFamily="34" charset="-120"/>
              </a:rPr>
              <a:t>Business Continuity</a:t>
            </a:r>
            <a:endParaRPr lang="en-US" sz="3200" dirty="0"/>
          </a:p>
        </p:txBody>
      </p:sp>
      <p:sp>
        <p:nvSpPr>
          <p:cNvPr id="7" name="Text 4"/>
          <p:cNvSpPr txBox="1"/>
          <p:nvPr/>
        </p:nvSpPr>
        <p:spPr>
          <a:xfrm>
            <a:off x="1005840" y="2834640"/>
            <a:ext cx="6126480" cy="1463040"/>
          </a:xfrm>
          <a:prstGeom prst="rect">
            <a:avLst/>
          </a:prstGeom>
          <a:noFill/>
          <a:ln/>
        </p:spPr>
        <p:txBody>
          <a:bodyPr wrap="square" lIns="0" tIns="0" rIns="0" bIns="0" rtlCol="0" anchor="t"/>
          <a:lstStyle/>
          <a:p>
            <a:pPr indent="0" marL="0">
              <a:buNone/>
            </a:pPr>
            <a:r>
              <a:rPr lang="en-US" sz="2400" i="1" dirty="0">
                <a:solidFill>
                  <a:srgbClr val="6E5E94"/>
                </a:solidFill>
                <a:latin typeface="Calibri" pitchFamily="34" charset="0"/>
                <a:ea typeface="Calibri" pitchFamily="34" charset="-122"/>
                <a:cs typeface="Calibri" pitchFamily="34" charset="-120"/>
              </a:rPr>
              <a:t>Can the business continue operating when technology recovery alone is not enough?</a:t>
            </a:r>
            <a:endParaRPr lang="en-US" sz="2400" dirty="0"/>
          </a:p>
        </p:txBody>
      </p:sp>
      <p:sp>
        <p:nvSpPr>
          <p:cNvPr id="8" name="Shape 5"/>
          <p:cNvSpPr/>
          <p:nvPr/>
        </p:nvSpPr>
        <p:spPr>
          <a:xfrm>
            <a:off x="7955280" y="731520"/>
            <a:ext cx="3685032" cy="1600200"/>
          </a:xfrm>
          <a:prstGeom prst="roundRect">
            <a:avLst>
              <a:gd name="adj" fmla="val 8000"/>
            </a:avLst>
          </a:prstGeom>
          <a:solidFill>
            <a:srgbClr val="F1F6FA"/>
          </a:solidFill>
          <a:ln w="12700">
            <a:solidFill>
              <a:srgbClr val="F1F6FA"/>
            </a:solidFill>
            <a:prstDash val="solid"/>
          </a:ln>
        </p:spPr>
      </p:sp>
      <p:sp>
        <p:nvSpPr>
          <p:cNvPr id="9" name="Shape 6"/>
          <p:cNvSpPr/>
          <p:nvPr/>
        </p:nvSpPr>
        <p:spPr>
          <a:xfrm>
            <a:off x="8229600" y="1234440"/>
            <a:ext cx="548640" cy="548640"/>
          </a:xfrm>
          <a:prstGeom prst="ellipse">
            <a:avLst/>
          </a:prstGeom>
          <a:solidFill>
            <a:srgbClr val="F1F6FA"/>
          </a:solidFill>
          <a:ln w="12700">
            <a:solidFill>
              <a:srgbClr val="F1F6FA"/>
            </a:solidFill>
            <a:prstDash val="solid"/>
          </a:ln>
        </p:spPr>
      </p:sp>
      <p:sp>
        <p:nvSpPr>
          <p:cNvPr id="10" name="Text 7"/>
          <p:cNvSpPr txBox="1"/>
          <p:nvPr/>
        </p:nvSpPr>
        <p:spPr>
          <a:xfrm>
            <a:off x="8229600" y="1234440"/>
            <a:ext cx="548640" cy="548640"/>
          </a:xfrm>
          <a:prstGeom prst="rect">
            <a:avLst/>
          </a:prstGeom>
          <a:noFill/>
          <a:ln/>
        </p:spPr>
        <p:txBody>
          <a:bodyPr wrap="square" lIns="0" tIns="0" rIns="0" bIns="0" rtlCol="0" anchor="ctr"/>
          <a:lstStyle/>
          <a:p>
            <a:pPr algn="ctr" indent="0" marL="0">
              <a:buNone/>
            </a:pPr>
            <a:r>
              <a:rPr lang="en-US" sz="1600" b="1" dirty="0">
                <a:solidFill>
                  <a:srgbClr val="3F6E8C"/>
                </a:solidFill>
                <a:latin typeface="Calibri" pitchFamily="34" charset="0"/>
                <a:ea typeface="Calibri" pitchFamily="34" charset="-122"/>
                <a:cs typeface="Calibri" pitchFamily="34" charset="-120"/>
              </a:rPr>
              <a:t>1</a:t>
            </a:r>
            <a:endParaRPr lang="en-US" sz="1600" dirty="0"/>
          </a:p>
        </p:txBody>
      </p:sp>
      <p:sp>
        <p:nvSpPr>
          <p:cNvPr id="11" name="Text 8"/>
          <p:cNvSpPr txBox="1"/>
          <p:nvPr/>
        </p:nvSpPr>
        <p:spPr>
          <a:xfrm>
            <a:off x="8961120" y="1115568"/>
            <a:ext cx="2560320" cy="411480"/>
          </a:xfrm>
          <a:prstGeom prst="rect">
            <a:avLst/>
          </a:prstGeom>
          <a:noFill/>
          <a:ln/>
        </p:spPr>
        <p:txBody>
          <a:bodyPr wrap="square" lIns="0" tIns="0" rIns="0" bIns="0" rtlCol="0" anchor="t"/>
          <a:lstStyle/>
          <a:p>
            <a:pPr indent="0" marL="0">
              <a:buNone/>
            </a:pPr>
            <a:r>
              <a:rPr lang="en-US" sz="1700" b="1" dirty="0">
                <a:solidFill>
                  <a:srgbClr val="748793"/>
                </a:solidFill>
                <a:latin typeface="Calibri" pitchFamily="34" charset="0"/>
                <a:ea typeface="Calibri" pitchFamily="34" charset="-122"/>
                <a:cs typeface="Calibri" pitchFamily="34" charset="-120"/>
              </a:rPr>
              <a:t>Incident Response</a:t>
            </a:r>
            <a:endParaRPr lang="en-US" sz="1700" dirty="0"/>
          </a:p>
        </p:txBody>
      </p:sp>
      <p:sp>
        <p:nvSpPr>
          <p:cNvPr id="12" name="Text 9"/>
          <p:cNvSpPr txBox="1"/>
          <p:nvPr/>
        </p:nvSpPr>
        <p:spPr>
          <a:xfrm>
            <a:off x="8961120" y="1536192"/>
            <a:ext cx="2560320" cy="320040"/>
          </a:xfrm>
          <a:prstGeom prst="rect">
            <a:avLst/>
          </a:prstGeom>
          <a:noFill/>
          <a:ln/>
        </p:spPr>
        <p:txBody>
          <a:bodyPr wrap="square" lIns="0" tIns="0" rIns="0" bIns="0" rtlCol="0" anchor="t"/>
          <a:lstStyle/>
          <a:p>
            <a:pPr indent="0" marL="0">
              <a:buNone/>
            </a:pPr>
            <a:r>
              <a:rPr lang="en-US" sz="1200" dirty="0">
                <a:solidFill>
                  <a:srgbClr val="748793"/>
                </a:solidFill>
                <a:latin typeface="Calibri" pitchFamily="34" charset="0"/>
                <a:ea typeface="Calibri" pitchFamily="34" charset="-122"/>
                <a:cs typeface="Calibri" pitchFamily="34" charset="-120"/>
              </a:rPr>
              <a:t>Completed</a:t>
            </a:r>
            <a:endParaRPr lang="en-US" sz="1200" dirty="0"/>
          </a:p>
        </p:txBody>
      </p:sp>
      <p:sp>
        <p:nvSpPr>
          <p:cNvPr id="13" name="Shape 10"/>
          <p:cNvSpPr/>
          <p:nvPr/>
        </p:nvSpPr>
        <p:spPr>
          <a:xfrm>
            <a:off x="7955280" y="2587752"/>
            <a:ext cx="3685032" cy="1600200"/>
          </a:xfrm>
          <a:prstGeom prst="roundRect">
            <a:avLst>
              <a:gd name="adj" fmla="val 8000"/>
            </a:avLst>
          </a:prstGeom>
          <a:solidFill>
            <a:srgbClr val="F1F8F3"/>
          </a:solidFill>
          <a:ln w="12700">
            <a:solidFill>
              <a:srgbClr val="F1F8F3"/>
            </a:solidFill>
            <a:prstDash val="solid"/>
          </a:ln>
        </p:spPr>
      </p:sp>
      <p:sp>
        <p:nvSpPr>
          <p:cNvPr id="14" name="Shape 11"/>
          <p:cNvSpPr/>
          <p:nvPr/>
        </p:nvSpPr>
        <p:spPr>
          <a:xfrm>
            <a:off x="8229600" y="3090672"/>
            <a:ext cx="548640" cy="548640"/>
          </a:xfrm>
          <a:prstGeom prst="ellipse">
            <a:avLst/>
          </a:prstGeom>
          <a:solidFill>
            <a:srgbClr val="F1F8F3"/>
          </a:solidFill>
          <a:ln w="12700">
            <a:solidFill>
              <a:srgbClr val="F1F8F3"/>
            </a:solidFill>
            <a:prstDash val="solid"/>
          </a:ln>
        </p:spPr>
      </p:sp>
      <p:sp>
        <p:nvSpPr>
          <p:cNvPr id="15" name="Text 12"/>
          <p:cNvSpPr txBox="1"/>
          <p:nvPr/>
        </p:nvSpPr>
        <p:spPr>
          <a:xfrm>
            <a:off x="8229600" y="3090672"/>
            <a:ext cx="548640" cy="548640"/>
          </a:xfrm>
          <a:prstGeom prst="rect">
            <a:avLst/>
          </a:prstGeom>
          <a:noFill/>
          <a:ln/>
        </p:spPr>
        <p:txBody>
          <a:bodyPr wrap="square" lIns="0" tIns="0" rIns="0" bIns="0" rtlCol="0" anchor="ctr"/>
          <a:lstStyle/>
          <a:p>
            <a:pPr algn="ctr" indent="0" marL="0">
              <a:buNone/>
            </a:pPr>
            <a:r>
              <a:rPr lang="en-US" sz="1600" b="1" dirty="0">
                <a:solidFill>
                  <a:srgbClr val="4C8068"/>
                </a:solidFill>
                <a:latin typeface="Calibri" pitchFamily="34" charset="0"/>
                <a:ea typeface="Calibri" pitchFamily="34" charset="-122"/>
                <a:cs typeface="Calibri" pitchFamily="34" charset="-120"/>
              </a:rPr>
              <a:t>2</a:t>
            </a:r>
            <a:endParaRPr lang="en-US" sz="1600" dirty="0"/>
          </a:p>
        </p:txBody>
      </p:sp>
      <p:sp>
        <p:nvSpPr>
          <p:cNvPr id="16" name="Text 13"/>
          <p:cNvSpPr txBox="1"/>
          <p:nvPr/>
        </p:nvSpPr>
        <p:spPr>
          <a:xfrm>
            <a:off x="8961120" y="2971800"/>
            <a:ext cx="2560320" cy="411480"/>
          </a:xfrm>
          <a:prstGeom prst="rect">
            <a:avLst/>
          </a:prstGeom>
          <a:noFill/>
          <a:ln/>
        </p:spPr>
        <p:txBody>
          <a:bodyPr wrap="square" lIns="0" tIns="0" rIns="0" bIns="0" rtlCol="0" anchor="t"/>
          <a:lstStyle/>
          <a:p>
            <a:pPr indent="0" marL="0">
              <a:buNone/>
            </a:pPr>
            <a:r>
              <a:rPr lang="en-US" sz="1700" b="1" dirty="0">
                <a:solidFill>
                  <a:srgbClr val="748793"/>
                </a:solidFill>
                <a:latin typeface="Calibri" pitchFamily="34" charset="0"/>
                <a:ea typeface="Calibri" pitchFamily="34" charset="-122"/>
                <a:cs typeface="Calibri" pitchFamily="34" charset="-120"/>
              </a:rPr>
              <a:t>Disaster Recovery</a:t>
            </a:r>
            <a:endParaRPr lang="en-US" sz="1700" dirty="0"/>
          </a:p>
        </p:txBody>
      </p:sp>
      <p:sp>
        <p:nvSpPr>
          <p:cNvPr id="17" name="Text 14"/>
          <p:cNvSpPr txBox="1"/>
          <p:nvPr/>
        </p:nvSpPr>
        <p:spPr>
          <a:xfrm>
            <a:off x="8961120" y="3392424"/>
            <a:ext cx="2560320" cy="320040"/>
          </a:xfrm>
          <a:prstGeom prst="rect">
            <a:avLst/>
          </a:prstGeom>
          <a:noFill/>
          <a:ln/>
        </p:spPr>
        <p:txBody>
          <a:bodyPr wrap="square" lIns="0" tIns="0" rIns="0" bIns="0" rtlCol="0" anchor="t"/>
          <a:lstStyle/>
          <a:p>
            <a:pPr indent="0" marL="0">
              <a:buNone/>
            </a:pPr>
            <a:r>
              <a:rPr lang="en-US" sz="1200" dirty="0">
                <a:solidFill>
                  <a:srgbClr val="748793"/>
                </a:solidFill>
                <a:latin typeface="Calibri" pitchFamily="34" charset="0"/>
                <a:ea typeface="Calibri" pitchFamily="34" charset="-122"/>
                <a:cs typeface="Calibri" pitchFamily="34" charset="-120"/>
              </a:rPr>
              <a:t>Completed</a:t>
            </a:r>
            <a:endParaRPr lang="en-US" sz="1200" dirty="0"/>
          </a:p>
        </p:txBody>
      </p:sp>
      <p:sp>
        <p:nvSpPr>
          <p:cNvPr id="18" name="Shape 15"/>
          <p:cNvSpPr/>
          <p:nvPr/>
        </p:nvSpPr>
        <p:spPr>
          <a:xfrm>
            <a:off x="7955280" y="4443984"/>
            <a:ext cx="3685032" cy="1600200"/>
          </a:xfrm>
          <a:prstGeom prst="roundRect">
            <a:avLst>
              <a:gd name="adj" fmla="val 8000"/>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19" name="Shape 16"/>
          <p:cNvSpPr/>
          <p:nvPr/>
        </p:nvSpPr>
        <p:spPr>
          <a:xfrm>
            <a:off x="8229600" y="4946904"/>
            <a:ext cx="548640" cy="548640"/>
          </a:xfrm>
          <a:prstGeom prst="ellipse">
            <a:avLst/>
          </a:prstGeom>
          <a:solidFill>
            <a:srgbClr val="6E5E94"/>
          </a:solidFill>
          <a:ln w="12700">
            <a:solidFill>
              <a:srgbClr val="6E5E94"/>
            </a:solidFill>
            <a:prstDash val="solid"/>
          </a:ln>
        </p:spPr>
      </p:sp>
      <p:sp>
        <p:nvSpPr>
          <p:cNvPr id="20" name="Text 17"/>
          <p:cNvSpPr txBox="1"/>
          <p:nvPr/>
        </p:nvSpPr>
        <p:spPr>
          <a:xfrm>
            <a:off x="8229600" y="4946904"/>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1" name="Text 18"/>
          <p:cNvSpPr txBox="1"/>
          <p:nvPr/>
        </p:nvSpPr>
        <p:spPr>
          <a:xfrm>
            <a:off x="8961120" y="4828032"/>
            <a:ext cx="2560320" cy="411480"/>
          </a:xfrm>
          <a:prstGeom prst="rect">
            <a:avLst/>
          </a:prstGeom>
          <a:noFill/>
          <a:ln/>
        </p:spPr>
        <p:txBody>
          <a:bodyPr wrap="square" lIns="0" tIns="0" rIns="0" bIns="0" rtlCol="0" anchor="t"/>
          <a:lstStyle/>
          <a:p>
            <a:pPr indent="0" marL="0">
              <a:buNone/>
            </a:pPr>
            <a:r>
              <a:rPr lang="en-US" sz="1700" b="1" dirty="0">
                <a:solidFill>
                  <a:srgbClr val="1E2E3A"/>
                </a:solidFill>
                <a:latin typeface="Calibri" pitchFamily="34" charset="0"/>
                <a:ea typeface="Calibri" pitchFamily="34" charset="-122"/>
                <a:cs typeface="Calibri" pitchFamily="34" charset="-120"/>
              </a:rPr>
              <a:t>Business Continuity</a:t>
            </a:r>
            <a:endParaRPr lang="en-US" sz="1700" dirty="0"/>
          </a:p>
        </p:txBody>
      </p:sp>
      <p:sp>
        <p:nvSpPr>
          <p:cNvPr id="22" name="Text 19"/>
          <p:cNvSpPr txBox="1"/>
          <p:nvPr/>
        </p:nvSpPr>
        <p:spPr>
          <a:xfrm>
            <a:off x="8961120" y="5248656"/>
            <a:ext cx="2560320" cy="320040"/>
          </a:xfrm>
          <a:prstGeom prst="rect">
            <a:avLst/>
          </a:prstGeom>
          <a:noFill/>
          <a:ln/>
        </p:spPr>
        <p:txBody>
          <a:bodyPr wrap="square" lIns="0" tIns="0" rIns="0" bIns="0" rtlCol="0" anchor="t"/>
          <a:lstStyle/>
          <a:p>
            <a:pPr indent="0" marL="0">
              <a:buNone/>
            </a:pPr>
            <a:r>
              <a:rPr lang="en-US" sz="1200" b="1" dirty="0">
                <a:solidFill>
                  <a:srgbClr val="6E5E94"/>
                </a:solidFill>
                <a:latin typeface="Calibri" pitchFamily="34" charset="0"/>
                <a:ea typeface="Calibri" pitchFamily="34" charset="-122"/>
                <a:cs typeface="Calibri" pitchFamily="34" charset="-120"/>
              </a:rPr>
              <a:t>Now</a:t>
            </a:r>
            <a:endParaRPr lang="en-US" sz="1200" dirty="0"/>
          </a:p>
        </p:txBody>
      </p:sp>
      <p:sp>
        <p:nvSpPr>
          <p:cNvPr id="23" name="Shape 20"/>
          <p:cNvSpPr/>
          <p:nvPr/>
        </p:nvSpPr>
        <p:spPr>
          <a:xfrm>
            <a:off x="548640" y="6537960"/>
            <a:ext cx="763524" cy="274320"/>
          </a:xfrm>
          <a:prstGeom prst="roundRect">
            <a:avLst>
              <a:gd name="adj" fmla="val 50000"/>
            </a:avLst>
          </a:prstGeom>
          <a:solidFill>
            <a:srgbClr val="E4ECF2"/>
          </a:solidFill>
          <a:ln w="12700">
            <a:solidFill>
              <a:srgbClr val="E4ECF2"/>
            </a:solidFill>
            <a:prstDash val="solid"/>
          </a:ln>
        </p:spPr>
      </p:sp>
      <p:sp>
        <p:nvSpPr>
          <p:cNvPr id="24" name="Text 21"/>
          <p:cNvSpPr txBox="1"/>
          <p:nvPr/>
        </p:nvSpPr>
        <p:spPr>
          <a:xfrm>
            <a:off x="548640" y="6537960"/>
            <a:ext cx="763524" cy="274320"/>
          </a:xfrm>
          <a:prstGeom prst="rect">
            <a:avLst/>
          </a:prstGeom>
          <a:noFill/>
          <a:ln/>
        </p:spPr>
        <p:txBody>
          <a:bodyPr wrap="square" lIns="0" tIns="0" rIns="0" bIns="0" rtlCol="0" anchor="ctr"/>
          <a:lstStyle/>
          <a:p>
            <a:pPr algn="ctr" indent="0" marL="0">
              <a:buNone/>
            </a:pPr>
            <a:r>
              <a:rPr lang="en-US" sz="1200" b="1" dirty="0">
                <a:solidFill>
                  <a:srgbClr val="23405A"/>
                </a:solidFill>
                <a:latin typeface="Calibri" pitchFamily="34" charset="0"/>
                <a:ea typeface="Calibri" pitchFamily="34" charset="-122"/>
                <a:cs typeface="Calibri" pitchFamily="34" charset="-120"/>
              </a:rPr>
              <a:t>Start</a:t>
            </a:r>
            <a:endParaRPr lang="en-US" sz="1200" dirty="0"/>
          </a:p>
        </p:txBody>
      </p:sp>
      <p:pic>
        <p:nvPicPr>
          <p:cNvPr id="25" name="Image 1" descr="preencoded.png">
            <a:hlinkClick r:id="rId3" tooltip="Go to Start" action="ppaction://hlinksldjump"/>
          </p:cNvPr>
          <p:cNvPicPr>
            <a:picLocks noChangeAspect="1"/>
          </p:cNvPicPr>
          <p:nvPr/>
        </p:nvPicPr>
        <p:blipFill>
          <a:blip r:embed="rId2"/>
          <a:stretch>
            <a:fillRect/>
          </a:stretch>
        </p:blipFill>
        <p:spPr>
          <a:xfrm>
            <a:off x="548640" y="6537960"/>
            <a:ext cx="763524" cy="274320"/>
          </a:xfrm>
          <a:prstGeom prst="rect">
            <a:avLst/>
          </a:prstGeom>
        </p:spPr>
      </p:pic>
      <p:sp>
        <p:nvSpPr>
          <p:cNvPr id="26" name="Shape 22"/>
          <p:cNvSpPr/>
          <p:nvPr/>
        </p:nvSpPr>
        <p:spPr>
          <a:xfrm>
            <a:off x="1385316" y="6537960"/>
            <a:ext cx="1197864" cy="274320"/>
          </a:xfrm>
          <a:prstGeom prst="roundRect">
            <a:avLst>
              <a:gd name="adj" fmla="val 50000"/>
            </a:avLst>
          </a:prstGeom>
          <a:solidFill>
            <a:srgbClr val="F1F6FA"/>
          </a:solidFill>
          <a:ln w="12700">
            <a:solidFill>
              <a:srgbClr val="F1F6FA"/>
            </a:solidFill>
            <a:prstDash val="solid"/>
          </a:ln>
        </p:spPr>
      </p:sp>
      <p:sp>
        <p:nvSpPr>
          <p:cNvPr id="27" name="Text 23"/>
          <p:cNvSpPr txBox="1"/>
          <p:nvPr/>
        </p:nvSpPr>
        <p:spPr>
          <a:xfrm>
            <a:off x="1385316" y="6537960"/>
            <a:ext cx="1197864" cy="274320"/>
          </a:xfrm>
          <a:prstGeom prst="rect">
            <a:avLst/>
          </a:prstGeom>
          <a:noFill/>
          <a:ln/>
        </p:spPr>
        <p:txBody>
          <a:bodyPr wrap="square" lIns="0" tIns="0" rIns="0" bIns="0" rtlCol="0" anchor="ctr"/>
          <a:lstStyle/>
          <a:p>
            <a:pPr algn="ctr" indent="0" marL="0">
              <a:buNone/>
            </a:pPr>
            <a:r>
              <a:rPr lang="en-US" sz="1200" b="1" dirty="0">
                <a:solidFill>
                  <a:srgbClr val="3F6E8C"/>
                </a:solidFill>
                <a:latin typeface="Calibri" pitchFamily="34" charset="0"/>
                <a:ea typeface="Calibri" pitchFamily="34" charset="-122"/>
                <a:cs typeface="Calibri" pitchFamily="34" charset="-120"/>
              </a:rPr>
              <a:t>Scenario 1</a:t>
            </a:r>
            <a:endParaRPr lang="en-US" sz="1200" dirty="0"/>
          </a:p>
        </p:txBody>
      </p:sp>
      <p:pic>
        <p:nvPicPr>
          <p:cNvPr id="28" name="Image 2" descr="preencoded.png">
            <a:hlinkClick r:id="rId5" tooltip="Go to Scenario 1" action="ppaction://hlinksldjump"/>
          </p:cNvPr>
          <p:cNvPicPr>
            <a:picLocks noChangeAspect="1"/>
          </p:cNvPicPr>
          <p:nvPr/>
        </p:nvPicPr>
        <p:blipFill>
          <a:blip r:embed="rId4"/>
          <a:stretch>
            <a:fillRect/>
          </a:stretch>
        </p:blipFill>
        <p:spPr>
          <a:xfrm>
            <a:off x="1385316" y="6537960"/>
            <a:ext cx="1197864" cy="274320"/>
          </a:xfrm>
          <a:prstGeom prst="rect">
            <a:avLst/>
          </a:prstGeom>
        </p:spPr>
      </p:pic>
      <p:sp>
        <p:nvSpPr>
          <p:cNvPr id="29" name="Shape 24"/>
          <p:cNvSpPr/>
          <p:nvPr/>
        </p:nvSpPr>
        <p:spPr>
          <a:xfrm>
            <a:off x="2656332" y="6537960"/>
            <a:ext cx="1197864" cy="274320"/>
          </a:xfrm>
          <a:prstGeom prst="roundRect">
            <a:avLst>
              <a:gd name="adj" fmla="val 50000"/>
            </a:avLst>
          </a:prstGeom>
          <a:solidFill>
            <a:srgbClr val="F1F8F3"/>
          </a:solidFill>
          <a:ln w="12700">
            <a:solidFill>
              <a:srgbClr val="F1F8F3"/>
            </a:solidFill>
            <a:prstDash val="solid"/>
          </a:ln>
        </p:spPr>
      </p:sp>
      <p:sp>
        <p:nvSpPr>
          <p:cNvPr id="30" name="Text 25"/>
          <p:cNvSpPr txBox="1"/>
          <p:nvPr/>
        </p:nvSpPr>
        <p:spPr>
          <a:xfrm>
            <a:off x="2656332" y="6537960"/>
            <a:ext cx="1197864" cy="274320"/>
          </a:xfrm>
          <a:prstGeom prst="rect">
            <a:avLst/>
          </a:prstGeom>
          <a:noFill/>
          <a:ln/>
        </p:spPr>
        <p:txBody>
          <a:bodyPr wrap="square" lIns="0" tIns="0" rIns="0" bIns="0" rtlCol="0" anchor="ctr"/>
          <a:lstStyle/>
          <a:p>
            <a:pPr algn="ctr" indent="0" marL="0">
              <a:buNone/>
            </a:pPr>
            <a:r>
              <a:rPr lang="en-US" sz="1200" b="1" dirty="0">
                <a:solidFill>
                  <a:srgbClr val="4C8068"/>
                </a:solidFill>
                <a:latin typeface="Calibri" pitchFamily="34" charset="0"/>
                <a:ea typeface="Calibri" pitchFamily="34" charset="-122"/>
                <a:cs typeface="Calibri" pitchFamily="34" charset="-120"/>
              </a:rPr>
              <a:t>Scenario 2</a:t>
            </a:r>
            <a:endParaRPr lang="en-US" sz="1200" dirty="0"/>
          </a:p>
        </p:txBody>
      </p:sp>
      <p:pic>
        <p:nvPicPr>
          <p:cNvPr id="31" name="Image 3" descr="preencoded.png">
            <a:hlinkClick r:id="rId7" tooltip="Go to Scenario 2" action="ppaction://hlinksldjump"/>
          </p:cNvPr>
          <p:cNvPicPr>
            <a:picLocks noChangeAspect="1"/>
          </p:cNvPicPr>
          <p:nvPr/>
        </p:nvPicPr>
        <p:blipFill>
          <a:blip r:embed="rId6"/>
          <a:stretch>
            <a:fillRect/>
          </a:stretch>
        </p:blipFill>
        <p:spPr>
          <a:xfrm>
            <a:off x="2656332" y="6537960"/>
            <a:ext cx="1197864" cy="274320"/>
          </a:xfrm>
          <a:prstGeom prst="rect">
            <a:avLst/>
          </a:prstGeom>
        </p:spPr>
      </p:pic>
      <p:sp>
        <p:nvSpPr>
          <p:cNvPr id="32" name="Shape 26"/>
          <p:cNvSpPr/>
          <p:nvPr/>
        </p:nvSpPr>
        <p:spPr>
          <a:xfrm>
            <a:off x="3927348" y="6537960"/>
            <a:ext cx="1197864" cy="274320"/>
          </a:xfrm>
          <a:prstGeom prst="roundRect">
            <a:avLst>
              <a:gd name="adj" fmla="val 50000"/>
            </a:avLst>
          </a:prstGeom>
          <a:solidFill>
            <a:srgbClr val="6E5E94"/>
          </a:solidFill>
          <a:ln w="12700">
            <a:solidFill>
              <a:srgbClr val="6E5E94"/>
            </a:solidFill>
            <a:prstDash val="solid"/>
          </a:ln>
        </p:spPr>
      </p:sp>
      <p:sp>
        <p:nvSpPr>
          <p:cNvPr id="33" name="Text 27"/>
          <p:cNvSpPr txBox="1"/>
          <p:nvPr/>
        </p:nvSpPr>
        <p:spPr>
          <a:xfrm>
            <a:off x="3927348" y="6537960"/>
            <a:ext cx="1197864"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Scenario 3</a:t>
            </a:r>
            <a:endParaRPr lang="en-US" sz="1200" dirty="0"/>
          </a:p>
        </p:txBody>
      </p:sp>
      <p:pic>
        <p:nvPicPr>
          <p:cNvPr id="34" name="Image 4" descr="preencoded.png">
            <a:hlinkClick r:id="rId9" tooltip="Go to Scenario 3" action="ppaction://hlinksldjump"/>
          </p:cNvPr>
          <p:cNvPicPr>
            <a:picLocks noChangeAspect="1"/>
          </p:cNvPicPr>
          <p:nvPr/>
        </p:nvPicPr>
        <p:blipFill>
          <a:blip r:embed="rId8"/>
          <a:stretch>
            <a:fillRect/>
          </a:stretch>
        </p:blipFill>
        <p:spPr>
          <a:xfrm>
            <a:off x="3927348" y="6537960"/>
            <a:ext cx="1197864" cy="274320"/>
          </a:xfrm>
          <a:prstGeom prst="rect">
            <a:avLst/>
          </a:prstGeom>
        </p:spPr>
      </p:pic>
      <p:sp>
        <p:nvSpPr>
          <p:cNvPr id="35" name="Shape 28"/>
          <p:cNvSpPr/>
          <p:nvPr/>
        </p:nvSpPr>
        <p:spPr>
          <a:xfrm>
            <a:off x="5198364" y="6537960"/>
            <a:ext cx="937260" cy="274320"/>
          </a:xfrm>
          <a:prstGeom prst="roundRect">
            <a:avLst>
              <a:gd name="adj" fmla="val 50000"/>
            </a:avLst>
          </a:prstGeom>
          <a:solidFill>
            <a:srgbClr val="E4ECF2"/>
          </a:solidFill>
          <a:ln w="12700">
            <a:solidFill>
              <a:srgbClr val="E4ECF2"/>
            </a:solidFill>
            <a:prstDash val="solid"/>
          </a:ln>
        </p:spPr>
      </p:sp>
      <p:sp>
        <p:nvSpPr>
          <p:cNvPr id="36" name="Text 29"/>
          <p:cNvSpPr txBox="1"/>
          <p:nvPr/>
        </p:nvSpPr>
        <p:spPr>
          <a:xfrm>
            <a:off x="5198364" y="6537960"/>
            <a:ext cx="937260" cy="274320"/>
          </a:xfrm>
          <a:prstGeom prst="rect">
            <a:avLst/>
          </a:prstGeom>
          <a:noFill/>
          <a:ln/>
        </p:spPr>
        <p:txBody>
          <a:bodyPr wrap="square" lIns="0" tIns="0" rIns="0" bIns="0" rtlCol="0" anchor="ctr"/>
          <a:lstStyle/>
          <a:p>
            <a:pPr algn="ctr" indent="0" marL="0">
              <a:buNone/>
            </a:pPr>
            <a:r>
              <a:rPr lang="en-US" sz="1200" b="1" dirty="0">
                <a:solidFill>
                  <a:srgbClr val="23405A"/>
                </a:solidFill>
                <a:latin typeface="Calibri" pitchFamily="34" charset="0"/>
                <a:ea typeface="Calibri" pitchFamily="34" charset="-122"/>
                <a:cs typeface="Calibri" pitchFamily="34" charset="-120"/>
              </a:rPr>
              <a:t>Closing</a:t>
            </a:r>
            <a:endParaRPr lang="en-US" sz="1200" dirty="0"/>
          </a:p>
        </p:txBody>
      </p:sp>
      <p:pic>
        <p:nvPicPr>
          <p:cNvPr id="37" name="Image 5" descr="preencoded.png">
            <a:hlinkClick r:id="rId11" tooltip="Go to Closing" action="ppaction://hlinksldjump"/>
          </p:cNvPr>
          <p:cNvPicPr>
            <a:picLocks noChangeAspect="1"/>
          </p:cNvPicPr>
          <p:nvPr/>
        </p:nvPicPr>
        <p:blipFill>
          <a:blip r:embed="rId10"/>
          <a:stretch>
            <a:fillRect/>
          </a:stretch>
        </p:blipFill>
        <p:spPr>
          <a:xfrm>
            <a:off x="5198364" y="6537960"/>
            <a:ext cx="937260" cy="274320"/>
          </a:xfrm>
          <a:prstGeom prst="rect">
            <a:avLst/>
          </a:prstGeom>
        </p:spPr>
      </p:pic>
      <p:sp>
        <p:nvSpPr>
          <p:cNvPr id="38" name="Text 30"/>
          <p:cNvSpPr txBox="1"/>
          <p:nvPr/>
        </p:nvSpPr>
        <p:spPr>
          <a:xfrm>
            <a:off x="11277295" y="6537960"/>
            <a:ext cx="365760" cy="274320"/>
          </a:xfrm>
          <a:prstGeom prst="rect">
            <a:avLst/>
          </a:prstGeom>
          <a:noFill/>
          <a:ln/>
        </p:spPr>
        <p:txBody>
          <a:bodyPr wrap="square" lIns="0" tIns="0" rIns="0" bIns="0" rtlCol="0" anchor="ctr"/>
          <a:lstStyle/>
          <a:p>
            <a:pPr algn="r" indent="0" marL="0">
              <a:buNone/>
            </a:pPr>
            <a:r>
              <a:rPr lang="en-US" sz="1200" dirty="0">
                <a:solidFill>
                  <a:srgbClr val="465A69"/>
                </a:solidFill>
                <a:latin typeface="Calibri" pitchFamily="34" charset="0"/>
                <a:ea typeface="Calibri" pitchFamily="34" charset="-122"/>
                <a:cs typeface="Calibri" pitchFamily="34" charset="-120"/>
              </a:rPr>
              <a:t>40</a:t>
            </a:r>
            <a:endParaRPr lang="en-US" sz="12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EEEAF5"/>
        </a:solidFill>
      </p:bgPr>
    </p:bg>
    <p:spTree>
      <p:nvGrpSpPr>
        <p:cNvPr id="1" name=""/>
        <p:cNvGrpSpPr/>
        <p:nvPr/>
      </p:nvGrpSpPr>
      <p:grpSpPr>
        <a:xfrm>
          <a:off x="0" y="0"/>
          <a:ext cx="0" cy="0"/>
          <a:chOff x="0" y="0"/>
          <a:chExt cx="0" cy="0"/>
        </a:xfrm>
      </p:grpSpPr>
      <p:sp>
        <p:nvSpPr>
          <p:cNvPr id="2" name="Shape 0"/>
          <p:cNvSpPr/>
          <p:nvPr/>
        </p:nvSpPr>
        <p:spPr>
          <a:xfrm>
            <a:off x="548640" y="347472"/>
            <a:ext cx="3008376" cy="329184"/>
          </a:xfrm>
          <a:prstGeom prst="roundRect">
            <a:avLst>
              <a:gd name="adj" fmla="val 50000"/>
            </a:avLst>
          </a:prstGeom>
          <a:solidFill>
            <a:srgbClr val="F6F3FA"/>
          </a:solidFill>
          <a:ln w="12700">
            <a:solidFill>
              <a:srgbClr val="F6F3FA"/>
            </a:solidFill>
            <a:prstDash val="solid"/>
          </a:ln>
        </p:spPr>
      </p:sp>
      <p:sp>
        <p:nvSpPr>
          <p:cNvPr id="3" name="Text 1"/>
          <p:cNvSpPr txBox="1"/>
          <p:nvPr/>
        </p:nvSpPr>
        <p:spPr>
          <a:xfrm>
            <a:off x="548640" y="347472"/>
            <a:ext cx="3008376" cy="329184"/>
          </a:xfrm>
          <a:prstGeom prst="rect">
            <a:avLst/>
          </a:prstGeom>
          <a:noFill/>
          <a:ln/>
        </p:spPr>
        <p:txBody>
          <a:bodyPr wrap="square" lIns="0" tIns="0" rIns="0" bIns="0" rtlCol="0" anchor="ctr"/>
          <a:lstStyle/>
          <a:p>
            <a:pPr algn="ctr" indent="0" marL="0">
              <a:buNone/>
            </a:pPr>
            <a:r>
              <a:rPr lang="en-US" sz="1200" b="1" dirty="0">
                <a:solidFill>
                  <a:srgbClr val="6E5E94"/>
                </a:solidFill>
                <a:latin typeface="Calibri" pitchFamily="34" charset="0"/>
                <a:ea typeface="Calibri" pitchFamily="34" charset="-122"/>
                <a:cs typeface="Calibri" pitchFamily="34" charset="-120"/>
              </a:rPr>
              <a:t>Scenario 3: Business Continuity</a:t>
            </a:r>
            <a:endParaRPr lang="en-US" sz="1200" dirty="0"/>
          </a:p>
        </p:txBody>
      </p:sp>
      <p:sp>
        <p:nvSpPr>
          <p:cNvPr id="4" name="Text 2"/>
          <p:cNvSpPr txBox="1"/>
          <p:nvPr/>
        </p:nvSpPr>
        <p:spPr>
          <a:xfrm>
            <a:off x="548640" y="749808"/>
            <a:ext cx="11064240" cy="640080"/>
          </a:xfrm>
          <a:prstGeom prst="rect">
            <a:avLst/>
          </a:prstGeom>
          <a:noFill/>
          <a:ln/>
        </p:spPr>
        <p:txBody>
          <a:bodyPr wrap="square" lIns="0" tIns="0" rIns="0" bIns="0" rtlCol="0" anchor="ctr"/>
          <a:lstStyle/>
          <a:p>
            <a:pPr indent="0" marL="0">
              <a:buNone/>
            </a:pPr>
            <a:r>
              <a:rPr lang="en-US" sz="2800" b="1" dirty="0">
                <a:solidFill>
                  <a:srgbClr val="23405A"/>
                </a:solidFill>
                <a:latin typeface="Calibri" pitchFamily="34" charset="0"/>
                <a:ea typeface="Calibri" pitchFamily="34" charset="-122"/>
                <a:cs typeface="Calibri" pitchFamily="34" charset="-120"/>
              </a:rPr>
              <a:t>Background: objectives, scope, and assumptions</a:t>
            </a:r>
            <a:endParaRPr lang="en-US" sz="2800" dirty="0"/>
          </a:p>
        </p:txBody>
      </p:sp>
      <p:sp>
        <p:nvSpPr>
          <p:cNvPr id="5" name="Shape 3"/>
          <p:cNvSpPr/>
          <p:nvPr/>
        </p:nvSpPr>
        <p:spPr>
          <a:xfrm>
            <a:off x="10705795" y="347472"/>
            <a:ext cx="937260" cy="329184"/>
          </a:xfrm>
          <a:prstGeom prst="roundRect">
            <a:avLst>
              <a:gd name="adj" fmla="val 50000"/>
            </a:avLst>
          </a:prstGeom>
          <a:solidFill>
            <a:srgbClr val="FFFFFF"/>
          </a:solidFill>
          <a:ln w="12700">
            <a:solidFill>
              <a:srgbClr val="FFFFFF"/>
            </a:solidFill>
            <a:prstDash val="solid"/>
          </a:ln>
        </p:spPr>
      </p:sp>
      <p:sp>
        <p:nvSpPr>
          <p:cNvPr id="6" name="Text 4"/>
          <p:cNvSpPr txBox="1"/>
          <p:nvPr/>
        </p:nvSpPr>
        <p:spPr>
          <a:xfrm>
            <a:off x="10705795" y="347472"/>
            <a:ext cx="937260" cy="329184"/>
          </a:xfrm>
          <a:prstGeom prst="rect">
            <a:avLst/>
          </a:prstGeom>
          <a:noFill/>
          <a:ln/>
        </p:spPr>
        <p:txBody>
          <a:bodyPr wrap="square" lIns="0" tIns="0" rIns="0" bIns="0" rtlCol="0" anchor="ctr"/>
          <a:lstStyle/>
          <a:p>
            <a:pPr algn="ctr" indent="0" marL="0">
              <a:buNone/>
            </a:pPr>
            <a:r>
              <a:rPr lang="en-US" sz="1200" dirty="0">
                <a:solidFill>
                  <a:srgbClr val="465A69"/>
                </a:solidFill>
                <a:latin typeface="Calibri" pitchFamily="34" charset="0"/>
                <a:ea typeface="Calibri" pitchFamily="34" charset="-122"/>
                <a:cs typeface="Calibri" pitchFamily="34" charset="-120"/>
              </a:rPr>
              <a:t>Hotwash</a:t>
            </a:r>
            <a:endParaRPr lang="en-US" sz="1200" dirty="0"/>
          </a:p>
        </p:txBody>
      </p:sp>
      <p:sp>
        <p:nvSpPr>
          <p:cNvPr id="7" name="Shape 5"/>
          <p:cNvSpPr/>
          <p:nvPr/>
        </p:nvSpPr>
        <p:spPr>
          <a:xfrm>
            <a:off x="9608515" y="347472"/>
            <a:ext cx="1024128" cy="329184"/>
          </a:xfrm>
          <a:prstGeom prst="roundRect">
            <a:avLst>
              <a:gd name="adj" fmla="val 50000"/>
            </a:avLst>
          </a:prstGeom>
          <a:solidFill>
            <a:srgbClr val="FFFFFF"/>
          </a:solidFill>
          <a:ln w="12700">
            <a:solidFill>
              <a:srgbClr val="FFFFFF"/>
            </a:solidFill>
            <a:prstDash val="solid"/>
          </a:ln>
        </p:spPr>
      </p:sp>
      <p:sp>
        <p:nvSpPr>
          <p:cNvPr id="8" name="Text 6"/>
          <p:cNvSpPr txBox="1"/>
          <p:nvPr/>
        </p:nvSpPr>
        <p:spPr>
          <a:xfrm>
            <a:off x="9608515" y="347472"/>
            <a:ext cx="1024128" cy="329184"/>
          </a:xfrm>
          <a:prstGeom prst="rect">
            <a:avLst/>
          </a:prstGeom>
          <a:noFill/>
          <a:ln/>
        </p:spPr>
        <p:txBody>
          <a:bodyPr wrap="square" lIns="0" tIns="0" rIns="0" bIns="0" rtlCol="0" anchor="ctr"/>
          <a:lstStyle/>
          <a:p>
            <a:pPr algn="ctr" indent="0" marL="0">
              <a:buNone/>
            </a:pPr>
            <a:r>
              <a:rPr lang="en-US" sz="1200" dirty="0">
                <a:solidFill>
                  <a:srgbClr val="465A69"/>
                </a:solidFill>
                <a:latin typeface="Calibri" pitchFamily="34" charset="0"/>
                <a:ea typeface="Calibri" pitchFamily="34" charset="-122"/>
                <a:cs typeface="Calibri" pitchFamily="34" charset="-120"/>
              </a:rPr>
              <a:t>Recovery</a:t>
            </a:r>
            <a:endParaRPr lang="en-US" sz="1200" dirty="0"/>
          </a:p>
        </p:txBody>
      </p:sp>
      <p:sp>
        <p:nvSpPr>
          <p:cNvPr id="9" name="Shape 7"/>
          <p:cNvSpPr/>
          <p:nvPr/>
        </p:nvSpPr>
        <p:spPr>
          <a:xfrm>
            <a:off x="8598103" y="347472"/>
            <a:ext cx="937260" cy="329184"/>
          </a:xfrm>
          <a:prstGeom prst="roundRect">
            <a:avLst>
              <a:gd name="adj" fmla="val 50000"/>
            </a:avLst>
          </a:prstGeom>
          <a:solidFill>
            <a:srgbClr val="FFFFFF"/>
          </a:solidFill>
          <a:ln w="12700">
            <a:solidFill>
              <a:srgbClr val="FFFFFF"/>
            </a:solidFill>
            <a:prstDash val="solid"/>
          </a:ln>
        </p:spPr>
      </p:sp>
      <p:sp>
        <p:nvSpPr>
          <p:cNvPr id="10" name="Text 8"/>
          <p:cNvSpPr txBox="1"/>
          <p:nvPr/>
        </p:nvSpPr>
        <p:spPr>
          <a:xfrm>
            <a:off x="8598103" y="347472"/>
            <a:ext cx="937260" cy="329184"/>
          </a:xfrm>
          <a:prstGeom prst="rect">
            <a:avLst/>
          </a:prstGeom>
          <a:noFill/>
          <a:ln/>
        </p:spPr>
        <p:txBody>
          <a:bodyPr wrap="square" lIns="0" tIns="0" rIns="0" bIns="0" rtlCol="0" anchor="ctr"/>
          <a:lstStyle/>
          <a:p>
            <a:pPr algn="ctr" indent="0" marL="0">
              <a:buNone/>
            </a:pPr>
            <a:r>
              <a:rPr lang="en-US" sz="1200" dirty="0">
                <a:solidFill>
                  <a:srgbClr val="465A69"/>
                </a:solidFill>
                <a:latin typeface="Calibri" pitchFamily="34" charset="0"/>
                <a:ea typeface="Calibri" pitchFamily="34" charset="-122"/>
                <a:cs typeface="Calibri" pitchFamily="34" charset="-120"/>
              </a:rPr>
              <a:t>Injects</a:t>
            </a:r>
            <a:endParaRPr lang="en-US" sz="1200" dirty="0"/>
          </a:p>
        </p:txBody>
      </p:sp>
      <p:sp>
        <p:nvSpPr>
          <p:cNvPr id="11" name="Shape 9"/>
          <p:cNvSpPr/>
          <p:nvPr/>
        </p:nvSpPr>
        <p:spPr>
          <a:xfrm>
            <a:off x="7674559" y="347472"/>
            <a:ext cx="850392" cy="329184"/>
          </a:xfrm>
          <a:prstGeom prst="roundRect">
            <a:avLst>
              <a:gd name="adj" fmla="val 50000"/>
            </a:avLst>
          </a:prstGeom>
          <a:solidFill>
            <a:srgbClr val="FFFFFF"/>
          </a:solidFill>
          <a:ln w="12700">
            <a:solidFill>
              <a:srgbClr val="FFFFFF"/>
            </a:solidFill>
            <a:prstDash val="solid"/>
          </a:ln>
        </p:spPr>
      </p:sp>
      <p:sp>
        <p:nvSpPr>
          <p:cNvPr id="12" name="Text 10"/>
          <p:cNvSpPr txBox="1"/>
          <p:nvPr/>
        </p:nvSpPr>
        <p:spPr>
          <a:xfrm>
            <a:off x="7674559" y="347472"/>
            <a:ext cx="850392" cy="329184"/>
          </a:xfrm>
          <a:prstGeom prst="rect">
            <a:avLst/>
          </a:prstGeom>
          <a:noFill/>
          <a:ln/>
        </p:spPr>
        <p:txBody>
          <a:bodyPr wrap="square" lIns="0" tIns="0" rIns="0" bIns="0" rtlCol="0" anchor="ctr"/>
          <a:lstStyle/>
          <a:p>
            <a:pPr algn="ctr" indent="0" marL="0">
              <a:buNone/>
            </a:pPr>
            <a:r>
              <a:rPr lang="en-US" sz="1200" dirty="0">
                <a:solidFill>
                  <a:srgbClr val="465A69"/>
                </a:solidFill>
                <a:latin typeface="Calibri" pitchFamily="34" charset="0"/>
                <a:ea typeface="Calibri" pitchFamily="34" charset="-122"/>
                <a:cs typeface="Calibri" pitchFamily="34" charset="-120"/>
              </a:rPr>
              <a:t>Decide</a:t>
            </a:r>
            <a:endParaRPr lang="en-US" sz="1200" dirty="0"/>
          </a:p>
        </p:txBody>
      </p:sp>
      <p:sp>
        <p:nvSpPr>
          <p:cNvPr id="13" name="Shape 11"/>
          <p:cNvSpPr/>
          <p:nvPr/>
        </p:nvSpPr>
        <p:spPr>
          <a:xfrm>
            <a:off x="7011619" y="347472"/>
            <a:ext cx="589788" cy="329184"/>
          </a:xfrm>
          <a:prstGeom prst="roundRect">
            <a:avLst>
              <a:gd name="adj" fmla="val 50000"/>
            </a:avLst>
          </a:prstGeom>
          <a:solidFill>
            <a:srgbClr val="FFFFFF"/>
          </a:solidFill>
          <a:ln w="12700">
            <a:solidFill>
              <a:srgbClr val="FFFFFF"/>
            </a:solidFill>
            <a:prstDash val="solid"/>
          </a:ln>
        </p:spPr>
      </p:sp>
      <p:sp>
        <p:nvSpPr>
          <p:cNvPr id="14" name="Text 12"/>
          <p:cNvSpPr txBox="1"/>
          <p:nvPr/>
        </p:nvSpPr>
        <p:spPr>
          <a:xfrm>
            <a:off x="7011619" y="347472"/>
            <a:ext cx="589788" cy="329184"/>
          </a:xfrm>
          <a:prstGeom prst="rect">
            <a:avLst/>
          </a:prstGeom>
          <a:noFill/>
          <a:ln/>
        </p:spPr>
        <p:txBody>
          <a:bodyPr wrap="square" lIns="0" tIns="0" rIns="0" bIns="0" rtlCol="0" anchor="ctr"/>
          <a:lstStyle/>
          <a:p>
            <a:pPr algn="ctr" indent="0" marL="0">
              <a:buNone/>
            </a:pPr>
            <a:r>
              <a:rPr lang="en-US" sz="1200" dirty="0">
                <a:solidFill>
                  <a:srgbClr val="465A69"/>
                </a:solidFill>
                <a:latin typeface="Calibri" pitchFamily="34" charset="0"/>
                <a:ea typeface="Calibri" pitchFamily="34" charset="-122"/>
                <a:cs typeface="Calibri" pitchFamily="34" charset="-120"/>
              </a:rPr>
              <a:t>T+0</a:t>
            </a:r>
            <a:endParaRPr lang="en-US" sz="1200" dirty="0"/>
          </a:p>
        </p:txBody>
      </p:sp>
      <p:sp>
        <p:nvSpPr>
          <p:cNvPr id="15" name="Shape 13"/>
          <p:cNvSpPr/>
          <p:nvPr/>
        </p:nvSpPr>
        <p:spPr>
          <a:xfrm>
            <a:off x="5740603" y="347472"/>
            <a:ext cx="1197864" cy="329184"/>
          </a:xfrm>
          <a:prstGeom prst="roundRect">
            <a:avLst>
              <a:gd name="adj" fmla="val 50000"/>
            </a:avLst>
          </a:prstGeom>
          <a:solidFill>
            <a:srgbClr val="6E5E94"/>
          </a:solidFill>
          <a:ln w="12700">
            <a:solidFill>
              <a:srgbClr val="6E5E94"/>
            </a:solidFill>
            <a:prstDash val="solid"/>
          </a:ln>
        </p:spPr>
      </p:sp>
      <p:sp>
        <p:nvSpPr>
          <p:cNvPr id="16" name="Text 14"/>
          <p:cNvSpPr txBox="1"/>
          <p:nvPr/>
        </p:nvSpPr>
        <p:spPr>
          <a:xfrm>
            <a:off x="5740603" y="347472"/>
            <a:ext cx="119786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Background</a:t>
            </a:r>
            <a:endParaRPr lang="en-US" sz="1200" dirty="0"/>
          </a:p>
        </p:txBody>
      </p:sp>
      <p:sp>
        <p:nvSpPr>
          <p:cNvPr id="17" name="Shape 15"/>
          <p:cNvSpPr/>
          <p:nvPr/>
        </p:nvSpPr>
        <p:spPr>
          <a:xfrm>
            <a:off x="548640" y="1600200"/>
            <a:ext cx="5413248" cy="2697480"/>
          </a:xfrm>
          <a:prstGeom prst="roundRect">
            <a:avLst>
              <a:gd name="adj" fmla="val 4746"/>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18" name="Text 16"/>
          <p:cNvSpPr txBox="1"/>
          <p:nvPr/>
        </p:nvSpPr>
        <p:spPr>
          <a:xfrm>
            <a:off x="822960" y="1764792"/>
            <a:ext cx="4864608" cy="320040"/>
          </a:xfrm>
          <a:prstGeom prst="rect">
            <a:avLst/>
          </a:prstGeom>
          <a:noFill/>
          <a:ln/>
        </p:spPr>
        <p:txBody>
          <a:bodyPr wrap="square" lIns="0" tIns="0" rIns="0" bIns="0" rtlCol="0" anchor="t"/>
          <a:lstStyle/>
          <a:p>
            <a:pPr indent="0" marL="0">
              <a:buNone/>
            </a:pPr>
            <a:r>
              <a:rPr lang="en-US" sz="1500" b="1" dirty="0">
                <a:solidFill>
                  <a:srgbClr val="6E5E94"/>
                </a:solidFill>
                <a:latin typeface="Calibri" pitchFamily="34" charset="0"/>
                <a:ea typeface="Calibri" pitchFamily="34" charset="-122"/>
                <a:cs typeface="Calibri" pitchFamily="34" charset="-120"/>
              </a:rPr>
              <a:t>Objectives</a:t>
            </a:r>
            <a:endParaRPr lang="en-US" sz="1500" dirty="0"/>
          </a:p>
        </p:txBody>
      </p:sp>
      <p:sp>
        <p:nvSpPr>
          <p:cNvPr id="19" name="Text 17"/>
          <p:cNvSpPr txBox="1"/>
          <p:nvPr/>
        </p:nvSpPr>
        <p:spPr>
          <a:xfrm>
            <a:off x="822960" y="2130552"/>
            <a:ext cx="4864608" cy="2075688"/>
          </a:xfrm>
          <a:prstGeom prst="rect">
            <a:avLst/>
          </a:prstGeom>
          <a:noFill/>
          <a:ln/>
        </p:spPr>
        <p:txBody>
          <a:bodyPr wrap="square" lIns="0" tIns="0" rIns="0" bIns="0" rtlCol="0" anchor="t"/>
          <a:lstStyle/>
          <a:p>
            <a:pPr marL="165100" indent="-165100">
              <a:spcAft>
                <a:spcPts val="800"/>
              </a:spcAft>
              <a:buSzPct val="100000"/>
              <a:buChar char="•"/>
            </a:pPr>
            <a:r>
              <a:rPr lang="en-US" sz="1500" dirty="0">
                <a:solidFill>
                  <a:srgbClr val="1E2E3A"/>
                </a:solidFill>
                <a:latin typeface="Calibri" pitchFamily="34" charset="0"/>
                <a:ea typeface="Calibri" pitchFamily="34" charset="-122"/>
                <a:cs typeface="Calibri" pitchFamily="34" charset="-120"/>
              </a:rPr>
              <a:t>Test whether the business keeps operating when core technology is back but critical providers are not.</a:t>
            </a:r>
            <a:endParaRPr lang="en-US" sz="1500" dirty="0"/>
          </a:p>
          <a:p>
            <a:pPr marL="165100" indent="-165100">
              <a:spcAft>
                <a:spcPts val="800"/>
              </a:spcAft>
              <a:buSzPct val="100000"/>
              <a:buChar char="•"/>
            </a:pPr>
            <a:r>
              <a:rPr lang="en-US" sz="1500" dirty="0">
                <a:solidFill>
                  <a:srgbClr val="1E2E3A"/>
                </a:solidFill>
                <a:latin typeface="Calibri" pitchFamily="34" charset="0"/>
                <a:ea typeface="Calibri" pitchFamily="34" charset="-122"/>
                <a:cs typeface="Calibri" pitchFamily="34" charset="-120"/>
              </a:rPr>
              <a:t>Test decision authority for workarounds and risk acceptance, and executive governance under sustained disruption.</a:t>
            </a:r>
            <a:endParaRPr lang="en-US" sz="1500" dirty="0"/>
          </a:p>
        </p:txBody>
      </p:sp>
      <p:sp>
        <p:nvSpPr>
          <p:cNvPr id="20" name="Shape 18"/>
          <p:cNvSpPr/>
          <p:nvPr/>
        </p:nvSpPr>
        <p:spPr>
          <a:xfrm>
            <a:off x="6227064" y="1600200"/>
            <a:ext cx="5413248" cy="2697480"/>
          </a:xfrm>
          <a:prstGeom prst="roundRect">
            <a:avLst>
              <a:gd name="adj" fmla="val 4746"/>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21" name="Text 19"/>
          <p:cNvSpPr txBox="1"/>
          <p:nvPr/>
        </p:nvSpPr>
        <p:spPr>
          <a:xfrm>
            <a:off x="6501384" y="1764792"/>
            <a:ext cx="4864608" cy="320040"/>
          </a:xfrm>
          <a:prstGeom prst="rect">
            <a:avLst/>
          </a:prstGeom>
          <a:noFill/>
          <a:ln/>
        </p:spPr>
        <p:txBody>
          <a:bodyPr wrap="square" lIns="0" tIns="0" rIns="0" bIns="0" rtlCol="0" anchor="t"/>
          <a:lstStyle/>
          <a:p>
            <a:pPr indent="0" marL="0">
              <a:buNone/>
            </a:pPr>
            <a:r>
              <a:rPr lang="en-US" sz="1500" b="1" dirty="0">
                <a:solidFill>
                  <a:srgbClr val="6E5E94"/>
                </a:solidFill>
                <a:latin typeface="Calibri" pitchFamily="34" charset="0"/>
                <a:ea typeface="Calibri" pitchFamily="34" charset="-122"/>
                <a:cs typeface="Calibri" pitchFamily="34" charset="-120"/>
              </a:rPr>
              <a:t>In scope</a:t>
            </a:r>
            <a:endParaRPr lang="en-US" sz="1500" dirty="0"/>
          </a:p>
        </p:txBody>
      </p:sp>
      <p:sp>
        <p:nvSpPr>
          <p:cNvPr id="22" name="Text 20"/>
          <p:cNvSpPr txBox="1"/>
          <p:nvPr/>
        </p:nvSpPr>
        <p:spPr>
          <a:xfrm>
            <a:off x="6501384" y="2130552"/>
            <a:ext cx="4864608" cy="2075688"/>
          </a:xfrm>
          <a:prstGeom prst="rect">
            <a:avLst/>
          </a:prstGeom>
          <a:noFill/>
          <a:ln/>
        </p:spPr>
        <p:txBody>
          <a:bodyPr wrap="square" lIns="0" tIns="0" rIns="0" bIns="0" rtlCol="0" anchor="t"/>
          <a:lstStyle/>
          <a:p>
            <a:pPr marL="165100" indent="-165100">
              <a:spcAft>
                <a:spcPts val="800"/>
              </a:spcAft>
              <a:buSzPct val="100000"/>
              <a:buChar char="•"/>
            </a:pPr>
            <a:r>
              <a:rPr lang="en-US" sz="1400" dirty="0">
                <a:solidFill>
                  <a:srgbClr val="1E2E3A"/>
                </a:solidFill>
                <a:latin typeface="Calibri" pitchFamily="34" charset="0"/>
                <a:ea typeface="Calibri" pitchFamily="34" charset="-122"/>
                <a:cs typeface="Calibri" pitchFamily="34" charset="-120"/>
              </a:rPr>
              <a:t>Critical external providers supporting clinical, regulatory, finance, and HR processes</a:t>
            </a:r>
            <a:endParaRPr lang="en-US" sz="1400" dirty="0"/>
          </a:p>
          <a:p>
            <a:pPr marL="165100" indent="-165100">
              <a:spcAft>
                <a:spcPts val="800"/>
              </a:spcAft>
              <a:buSzPct val="100000"/>
              <a:buChar char="•"/>
            </a:pPr>
            <a:r>
              <a:rPr lang="en-US" sz="1400" dirty="0">
                <a:solidFill>
                  <a:srgbClr val="1E2E3A"/>
                </a:solidFill>
                <a:latin typeface="Calibri" pitchFamily="34" charset="0"/>
                <a:ea typeface="Calibri" pitchFamily="34" charset="-122"/>
                <a:cs typeface="Calibri" pitchFamily="34" charset="-120"/>
              </a:rPr>
              <a:t>Clinical operations, regulatory submissions, vendor payments, and onboarding</a:t>
            </a:r>
            <a:endParaRPr lang="en-US" sz="1400" dirty="0"/>
          </a:p>
          <a:p>
            <a:pPr marL="165100" indent="-165100">
              <a:spcAft>
                <a:spcPts val="800"/>
              </a:spcAft>
              <a:buSzPct val="100000"/>
              <a:buChar char="•"/>
            </a:pPr>
            <a:r>
              <a:rPr lang="en-US" sz="1400" dirty="0">
                <a:solidFill>
                  <a:srgbClr val="1E2E3A"/>
                </a:solidFill>
                <a:latin typeface="Calibri" pitchFamily="34" charset="0"/>
                <a:ea typeface="Calibri" pitchFamily="34" charset="-122"/>
                <a:cs typeface="Calibri" pitchFamily="34" charset="-120"/>
              </a:rPr>
              <a:t>Investor relations and executive status reporting</a:t>
            </a:r>
            <a:endParaRPr lang="en-US" sz="1400" dirty="0"/>
          </a:p>
        </p:txBody>
      </p:sp>
      <p:sp>
        <p:nvSpPr>
          <p:cNvPr id="23" name="Shape 21"/>
          <p:cNvSpPr/>
          <p:nvPr/>
        </p:nvSpPr>
        <p:spPr>
          <a:xfrm>
            <a:off x="548640" y="4526280"/>
            <a:ext cx="11091672" cy="1417320"/>
          </a:xfrm>
          <a:prstGeom prst="roundRect">
            <a:avLst>
              <a:gd name="adj" fmla="val 9032"/>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24" name="Text 22"/>
          <p:cNvSpPr txBox="1"/>
          <p:nvPr/>
        </p:nvSpPr>
        <p:spPr>
          <a:xfrm>
            <a:off x="822960" y="4690872"/>
            <a:ext cx="4572000" cy="320040"/>
          </a:xfrm>
          <a:prstGeom prst="rect">
            <a:avLst/>
          </a:prstGeom>
          <a:noFill/>
          <a:ln/>
        </p:spPr>
        <p:txBody>
          <a:bodyPr wrap="square" lIns="0" tIns="0" rIns="0" bIns="0" rtlCol="0" anchor="t"/>
          <a:lstStyle/>
          <a:p>
            <a:pPr indent="0" marL="0">
              <a:buNone/>
            </a:pPr>
            <a:r>
              <a:rPr lang="en-US" sz="1500" b="1" dirty="0">
                <a:solidFill>
                  <a:srgbClr val="6E5E94"/>
                </a:solidFill>
                <a:latin typeface="Calibri" pitchFamily="34" charset="0"/>
                <a:ea typeface="Calibri" pitchFamily="34" charset="-122"/>
                <a:cs typeface="Calibri" pitchFamily="34" charset="-120"/>
              </a:rPr>
              <a:t>Assumptions</a:t>
            </a:r>
            <a:endParaRPr lang="en-US" sz="1500" dirty="0"/>
          </a:p>
        </p:txBody>
      </p:sp>
      <p:sp>
        <p:nvSpPr>
          <p:cNvPr id="25" name="Text 23"/>
          <p:cNvSpPr txBox="1"/>
          <p:nvPr/>
        </p:nvSpPr>
        <p:spPr>
          <a:xfrm>
            <a:off x="822960" y="5056632"/>
            <a:ext cx="10543032" cy="813816"/>
          </a:xfrm>
          <a:prstGeom prst="rect">
            <a:avLst/>
          </a:prstGeom>
          <a:noFill/>
          <a:ln/>
        </p:spPr>
        <p:txBody>
          <a:bodyPr wrap="square" lIns="0" tIns="0" rIns="0" bIns="0" rtlCol="0" anchor="t"/>
          <a:lstStyle/>
          <a:p>
            <a:pPr marL="165100" indent="-165100">
              <a:spcAft>
                <a:spcPts val="300"/>
              </a:spcAft>
              <a:buSzPct val="100000"/>
              <a:buChar char="•"/>
            </a:pPr>
            <a:r>
              <a:rPr lang="en-US" sz="1300" dirty="0">
                <a:solidFill>
                  <a:srgbClr val="1E2E3A"/>
                </a:solidFill>
                <a:latin typeface="Calibri" pitchFamily="34" charset="0"/>
                <a:ea typeface="Calibri" pitchFamily="34" charset="-122"/>
                <a:cs typeface="Calibri" pitchFamily="34" charset="-120"/>
              </a:rPr>
              <a:t>The cyber incident and the SaaS outage occurred. Microsoft 365 has largely returned.</a:t>
            </a:r>
            <a:endParaRPr lang="en-US" sz="1300" dirty="0"/>
          </a:p>
          <a:p>
            <a:pPr marL="165100" indent="-165100">
              <a:spcAft>
                <a:spcPts val="300"/>
              </a:spcAft>
              <a:buSzPct val="100000"/>
              <a:buChar char="•"/>
            </a:pPr>
            <a:r>
              <a:rPr lang="en-US" sz="1300" dirty="0">
                <a:solidFill>
                  <a:srgbClr val="1E2E3A"/>
                </a:solidFill>
                <a:latin typeface="Calibri" pitchFamily="34" charset="0"/>
                <a:ea typeface="Calibri" pitchFamily="34" charset="-122"/>
                <a:cs typeface="Calibri" pitchFamily="34" charset="-120"/>
              </a:rPr>
              <a:t>A key development milestone is approaching.</a:t>
            </a:r>
            <a:endParaRPr lang="en-US" sz="1300" dirty="0"/>
          </a:p>
          <a:p>
            <a:pPr marL="165100" indent="-165100">
              <a:spcAft>
                <a:spcPts val="300"/>
              </a:spcAft>
              <a:buSzPct val="100000"/>
              <a:buChar char="•"/>
            </a:pPr>
            <a:r>
              <a:rPr lang="en-US" sz="1300" dirty="0">
                <a:solidFill>
                  <a:srgbClr val="1E2E3A"/>
                </a:solidFill>
                <a:latin typeface="Calibri" pitchFamily="34" charset="0"/>
                <a:ea typeface="Calibri" pitchFamily="34" charset="-122"/>
                <a:cs typeface="Calibri" pitchFamily="34" charset="-120"/>
              </a:rPr>
              <a:t>Business continuity plans and workarounds are available as documented today.</a:t>
            </a:r>
            <a:endParaRPr lang="en-US" sz="1300" dirty="0"/>
          </a:p>
        </p:txBody>
      </p:sp>
      <p:sp>
        <p:nvSpPr>
          <p:cNvPr id="26" name="Text 24"/>
          <p:cNvSpPr txBox="1"/>
          <p:nvPr/>
        </p:nvSpPr>
        <p:spPr>
          <a:xfrm>
            <a:off x="548640" y="6254496"/>
            <a:ext cx="11091672" cy="256032"/>
          </a:xfrm>
          <a:prstGeom prst="rect">
            <a:avLst/>
          </a:prstGeom>
          <a:noFill/>
          <a:ln/>
        </p:spPr>
        <p:txBody>
          <a:bodyPr wrap="square" lIns="0" tIns="0" rIns="0" bIns="0" rtlCol="0" anchor="ctr"/>
          <a:lstStyle/>
          <a:p>
            <a:pPr indent="0" marL="0">
              <a:buNone/>
            </a:pPr>
            <a:r>
              <a:rPr lang="en-US" sz="1200" b="1" dirty="0">
                <a:solidFill>
                  <a:srgbClr val="465A69"/>
                </a:solidFill>
                <a:latin typeface="Calibri" pitchFamily="34" charset="0"/>
                <a:ea typeface="Calibri" pitchFamily="34" charset="-122"/>
                <a:cs typeface="Calibri" pitchFamily="34" charset="-120"/>
              </a:rPr>
              <a:t>Acronyms:  </a:t>
            </a:r>
            <a:pPr indent="0" marL="0">
              <a:buNone/>
            </a:pPr>
            <a:r>
              <a:rPr lang="en-US" sz="1200" dirty="0">
                <a:solidFill>
                  <a:srgbClr val="465A69"/>
                </a:solidFill>
                <a:latin typeface="Calibri" pitchFamily="34" charset="0"/>
                <a:ea typeface="Calibri" pitchFamily="34" charset="-122"/>
                <a:cs typeface="Calibri" pitchFamily="34" charset="-120"/>
              </a:rPr>
              <a:t>T+: time since the first signal;  SaaS: software as a service;  HR: human resources</a:t>
            </a:r>
            <a:endParaRPr lang="en-US" sz="1200" dirty="0"/>
          </a:p>
        </p:txBody>
      </p:sp>
      <p:sp>
        <p:nvSpPr>
          <p:cNvPr id="27" name="Shape 25"/>
          <p:cNvSpPr/>
          <p:nvPr/>
        </p:nvSpPr>
        <p:spPr>
          <a:xfrm>
            <a:off x="548640" y="6537960"/>
            <a:ext cx="763524" cy="274320"/>
          </a:xfrm>
          <a:prstGeom prst="roundRect">
            <a:avLst>
              <a:gd name="adj" fmla="val 50000"/>
            </a:avLst>
          </a:prstGeom>
          <a:solidFill>
            <a:srgbClr val="E4ECF2"/>
          </a:solidFill>
          <a:ln w="12700">
            <a:solidFill>
              <a:srgbClr val="E4ECF2"/>
            </a:solidFill>
            <a:prstDash val="solid"/>
          </a:ln>
        </p:spPr>
      </p:sp>
      <p:sp>
        <p:nvSpPr>
          <p:cNvPr id="28" name="Text 26"/>
          <p:cNvSpPr txBox="1"/>
          <p:nvPr/>
        </p:nvSpPr>
        <p:spPr>
          <a:xfrm>
            <a:off x="548640" y="6537960"/>
            <a:ext cx="763524" cy="274320"/>
          </a:xfrm>
          <a:prstGeom prst="rect">
            <a:avLst/>
          </a:prstGeom>
          <a:noFill/>
          <a:ln/>
        </p:spPr>
        <p:txBody>
          <a:bodyPr wrap="square" lIns="0" tIns="0" rIns="0" bIns="0" rtlCol="0" anchor="ctr"/>
          <a:lstStyle/>
          <a:p>
            <a:pPr algn="ctr" indent="0" marL="0">
              <a:buNone/>
            </a:pPr>
            <a:r>
              <a:rPr lang="en-US" sz="1200" b="1" dirty="0">
                <a:solidFill>
                  <a:srgbClr val="23405A"/>
                </a:solidFill>
                <a:latin typeface="Calibri" pitchFamily="34" charset="0"/>
                <a:ea typeface="Calibri" pitchFamily="34" charset="-122"/>
                <a:cs typeface="Calibri" pitchFamily="34" charset="-120"/>
              </a:rPr>
              <a:t>Start</a:t>
            </a:r>
            <a:endParaRPr lang="en-US" sz="1200" dirty="0"/>
          </a:p>
        </p:txBody>
      </p:sp>
      <p:pic>
        <p:nvPicPr>
          <p:cNvPr id="29" name="Image 0" descr="preencoded.png">
            <a:hlinkClick r:id="rId2" tooltip="Go to Start" action="ppaction://hlinksldjump"/>
          </p:cNvPr>
          <p:cNvPicPr>
            <a:picLocks noChangeAspect="1"/>
          </p:cNvPicPr>
          <p:nvPr/>
        </p:nvPicPr>
        <p:blipFill>
          <a:blip r:embed="rId1"/>
          <a:stretch>
            <a:fillRect/>
          </a:stretch>
        </p:blipFill>
        <p:spPr>
          <a:xfrm>
            <a:off x="548640" y="6537960"/>
            <a:ext cx="763524" cy="274320"/>
          </a:xfrm>
          <a:prstGeom prst="rect">
            <a:avLst/>
          </a:prstGeom>
        </p:spPr>
      </p:pic>
      <p:sp>
        <p:nvSpPr>
          <p:cNvPr id="30" name="Shape 27"/>
          <p:cNvSpPr/>
          <p:nvPr/>
        </p:nvSpPr>
        <p:spPr>
          <a:xfrm>
            <a:off x="1385316" y="6537960"/>
            <a:ext cx="1197864" cy="274320"/>
          </a:xfrm>
          <a:prstGeom prst="roundRect">
            <a:avLst>
              <a:gd name="adj" fmla="val 50000"/>
            </a:avLst>
          </a:prstGeom>
          <a:solidFill>
            <a:srgbClr val="F1F6FA"/>
          </a:solidFill>
          <a:ln w="12700">
            <a:solidFill>
              <a:srgbClr val="F1F6FA"/>
            </a:solidFill>
            <a:prstDash val="solid"/>
          </a:ln>
        </p:spPr>
      </p:sp>
      <p:sp>
        <p:nvSpPr>
          <p:cNvPr id="31" name="Text 28"/>
          <p:cNvSpPr txBox="1"/>
          <p:nvPr/>
        </p:nvSpPr>
        <p:spPr>
          <a:xfrm>
            <a:off x="1385316" y="6537960"/>
            <a:ext cx="1197864" cy="274320"/>
          </a:xfrm>
          <a:prstGeom prst="rect">
            <a:avLst/>
          </a:prstGeom>
          <a:noFill/>
          <a:ln/>
        </p:spPr>
        <p:txBody>
          <a:bodyPr wrap="square" lIns="0" tIns="0" rIns="0" bIns="0" rtlCol="0" anchor="ctr"/>
          <a:lstStyle/>
          <a:p>
            <a:pPr algn="ctr" indent="0" marL="0">
              <a:buNone/>
            </a:pPr>
            <a:r>
              <a:rPr lang="en-US" sz="1200" b="1" dirty="0">
                <a:solidFill>
                  <a:srgbClr val="3F6E8C"/>
                </a:solidFill>
                <a:latin typeface="Calibri" pitchFamily="34" charset="0"/>
                <a:ea typeface="Calibri" pitchFamily="34" charset="-122"/>
                <a:cs typeface="Calibri" pitchFamily="34" charset="-120"/>
              </a:rPr>
              <a:t>Scenario 1</a:t>
            </a:r>
            <a:endParaRPr lang="en-US" sz="1200" dirty="0"/>
          </a:p>
        </p:txBody>
      </p:sp>
      <p:pic>
        <p:nvPicPr>
          <p:cNvPr id="32" name="Image 1" descr="preencoded.png">
            <a:hlinkClick r:id="rId4" tooltip="Go to Scenario 1" action="ppaction://hlinksldjump"/>
          </p:cNvPr>
          <p:cNvPicPr>
            <a:picLocks noChangeAspect="1"/>
          </p:cNvPicPr>
          <p:nvPr/>
        </p:nvPicPr>
        <p:blipFill>
          <a:blip r:embed="rId3"/>
          <a:stretch>
            <a:fillRect/>
          </a:stretch>
        </p:blipFill>
        <p:spPr>
          <a:xfrm>
            <a:off x="1385316" y="6537960"/>
            <a:ext cx="1197864" cy="274320"/>
          </a:xfrm>
          <a:prstGeom prst="rect">
            <a:avLst/>
          </a:prstGeom>
        </p:spPr>
      </p:pic>
      <p:sp>
        <p:nvSpPr>
          <p:cNvPr id="33" name="Shape 29"/>
          <p:cNvSpPr/>
          <p:nvPr/>
        </p:nvSpPr>
        <p:spPr>
          <a:xfrm>
            <a:off x="2656332" y="6537960"/>
            <a:ext cx="1197864" cy="274320"/>
          </a:xfrm>
          <a:prstGeom prst="roundRect">
            <a:avLst>
              <a:gd name="adj" fmla="val 50000"/>
            </a:avLst>
          </a:prstGeom>
          <a:solidFill>
            <a:srgbClr val="F1F8F3"/>
          </a:solidFill>
          <a:ln w="12700">
            <a:solidFill>
              <a:srgbClr val="F1F8F3"/>
            </a:solidFill>
            <a:prstDash val="solid"/>
          </a:ln>
        </p:spPr>
      </p:sp>
      <p:sp>
        <p:nvSpPr>
          <p:cNvPr id="34" name="Text 30"/>
          <p:cNvSpPr txBox="1"/>
          <p:nvPr/>
        </p:nvSpPr>
        <p:spPr>
          <a:xfrm>
            <a:off x="2656332" y="6537960"/>
            <a:ext cx="1197864" cy="274320"/>
          </a:xfrm>
          <a:prstGeom prst="rect">
            <a:avLst/>
          </a:prstGeom>
          <a:noFill/>
          <a:ln/>
        </p:spPr>
        <p:txBody>
          <a:bodyPr wrap="square" lIns="0" tIns="0" rIns="0" bIns="0" rtlCol="0" anchor="ctr"/>
          <a:lstStyle/>
          <a:p>
            <a:pPr algn="ctr" indent="0" marL="0">
              <a:buNone/>
            </a:pPr>
            <a:r>
              <a:rPr lang="en-US" sz="1200" b="1" dirty="0">
                <a:solidFill>
                  <a:srgbClr val="4C8068"/>
                </a:solidFill>
                <a:latin typeface="Calibri" pitchFamily="34" charset="0"/>
                <a:ea typeface="Calibri" pitchFamily="34" charset="-122"/>
                <a:cs typeface="Calibri" pitchFamily="34" charset="-120"/>
              </a:rPr>
              <a:t>Scenario 2</a:t>
            </a:r>
            <a:endParaRPr lang="en-US" sz="1200" dirty="0"/>
          </a:p>
        </p:txBody>
      </p:sp>
      <p:pic>
        <p:nvPicPr>
          <p:cNvPr id="35" name="Image 2" descr="preencoded.png">
            <a:hlinkClick r:id="rId6" tooltip="Go to Scenario 2" action="ppaction://hlinksldjump"/>
          </p:cNvPr>
          <p:cNvPicPr>
            <a:picLocks noChangeAspect="1"/>
          </p:cNvPicPr>
          <p:nvPr/>
        </p:nvPicPr>
        <p:blipFill>
          <a:blip r:embed="rId5"/>
          <a:stretch>
            <a:fillRect/>
          </a:stretch>
        </p:blipFill>
        <p:spPr>
          <a:xfrm>
            <a:off x="2656332" y="6537960"/>
            <a:ext cx="1197864" cy="274320"/>
          </a:xfrm>
          <a:prstGeom prst="rect">
            <a:avLst/>
          </a:prstGeom>
        </p:spPr>
      </p:pic>
      <p:sp>
        <p:nvSpPr>
          <p:cNvPr id="36" name="Shape 31"/>
          <p:cNvSpPr/>
          <p:nvPr/>
        </p:nvSpPr>
        <p:spPr>
          <a:xfrm>
            <a:off x="3927348" y="6537960"/>
            <a:ext cx="1197864" cy="274320"/>
          </a:xfrm>
          <a:prstGeom prst="roundRect">
            <a:avLst>
              <a:gd name="adj" fmla="val 50000"/>
            </a:avLst>
          </a:prstGeom>
          <a:solidFill>
            <a:srgbClr val="6E5E94"/>
          </a:solidFill>
          <a:ln w="12700">
            <a:solidFill>
              <a:srgbClr val="6E5E94"/>
            </a:solidFill>
            <a:prstDash val="solid"/>
          </a:ln>
        </p:spPr>
      </p:sp>
      <p:sp>
        <p:nvSpPr>
          <p:cNvPr id="37" name="Text 32"/>
          <p:cNvSpPr txBox="1"/>
          <p:nvPr/>
        </p:nvSpPr>
        <p:spPr>
          <a:xfrm>
            <a:off x="3927348" y="6537960"/>
            <a:ext cx="1197864"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Scenario 3</a:t>
            </a:r>
            <a:endParaRPr lang="en-US" sz="1200" dirty="0"/>
          </a:p>
        </p:txBody>
      </p:sp>
      <p:pic>
        <p:nvPicPr>
          <p:cNvPr id="38" name="Image 3" descr="preencoded.png">
            <a:hlinkClick r:id="rId8" tooltip="Go to Scenario 3" action="ppaction://hlinksldjump"/>
          </p:cNvPr>
          <p:cNvPicPr>
            <a:picLocks noChangeAspect="1"/>
          </p:cNvPicPr>
          <p:nvPr/>
        </p:nvPicPr>
        <p:blipFill>
          <a:blip r:embed="rId7"/>
          <a:stretch>
            <a:fillRect/>
          </a:stretch>
        </p:blipFill>
        <p:spPr>
          <a:xfrm>
            <a:off x="3927348" y="6537960"/>
            <a:ext cx="1197864" cy="274320"/>
          </a:xfrm>
          <a:prstGeom prst="rect">
            <a:avLst/>
          </a:prstGeom>
        </p:spPr>
      </p:pic>
      <p:sp>
        <p:nvSpPr>
          <p:cNvPr id="39" name="Shape 33"/>
          <p:cNvSpPr/>
          <p:nvPr/>
        </p:nvSpPr>
        <p:spPr>
          <a:xfrm>
            <a:off x="5198364" y="6537960"/>
            <a:ext cx="937260" cy="274320"/>
          </a:xfrm>
          <a:prstGeom prst="roundRect">
            <a:avLst>
              <a:gd name="adj" fmla="val 50000"/>
            </a:avLst>
          </a:prstGeom>
          <a:solidFill>
            <a:srgbClr val="E4ECF2"/>
          </a:solidFill>
          <a:ln w="12700">
            <a:solidFill>
              <a:srgbClr val="E4ECF2"/>
            </a:solidFill>
            <a:prstDash val="solid"/>
          </a:ln>
        </p:spPr>
      </p:sp>
      <p:sp>
        <p:nvSpPr>
          <p:cNvPr id="40" name="Text 34"/>
          <p:cNvSpPr txBox="1"/>
          <p:nvPr/>
        </p:nvSpPr>
        <p:spPr>
          <a:xfrm>
            <a:off x="5198364" y="6537960"/>
            <a:ext cx="937260" cy="274320"/>
          </a:xfrm>
          <a:prstGeom prst="rect">
            <a:avLst/>
          </a:prstGeom>
          <a:noFill/>
          <a:ln/>
        </p:spPr>
        <p:txBody>
          <a:bodyPr wrap="square" lIns="0" tIns="0" rIns="0" bIns="0" rtlCol="0" anchor="ctr"/>
          <a:lstStyle/>
          <a:p>
            <a:pPr algn="ctr" indent="0" marL="0">
              <a:buNone/>
            </a:pPr>
            <a:r>
              <a:rPr lang="en-US" sz="1200" b="1" dirty="0">
                <a:solidFill>
                  <a:srgbClr val="23405A"/>
                </a:solidFill>
                <a:latin typeface="Calibri" pitchFamily="34" charset="0"/>
                <a:ea typeface="Calibri" pitchFamily="34" charset="-122"/>
                <a:cs typeface="Calibri" pitchFamily="34" charset="-120"/>
              </a:rPr>
              <a:t>Closing</a:t>
            </a:r>
            <a:endParaRPr lang="en-US" sz="1200" dirty="0"/>
          </a:p>
        </p:txBody>
      </p:sp>
      <p:pic>
        <p:nvPicPr>
          <p:cNvPr id="41" name="Image 4" descr="preencoded.png">
            <a:hlinkClick r:id="rId10" tooltip="Go to Closing" action="ppaction://hlinksldjump"/>
          </p:cNvPr>
          <p:cNvPicPr>
            <a:picLocks noChangeAspect="1"/>
          </p:cNvPicPr>
          <p:nvPr/>
        </p:nvPicPr>
        <p:blipFill>
          <a:blip r:embed="rId9"/>
          <a:stretch>
            <a:fillRect/>
          </a:stretch>
        </p:blipFill>
        <p:spPr>
          <a:xfrm>
            <a:off x="5198364" y="6537960"/>
            <a:ext cx="937260" cy="274320"/>
          </a:xfrm>
          <a:prstGeom prst="rect">
            <a:avLst/>
          </a:prstGeom>
        </p:spPr>
      </p:pic>
      <p:sp>
        <p:nvSpPr>
          <p:cNvPr id="42" name="Text 35"/>
          <p:cNvSpPr txBox="1"/>
          <p:nvPr/>
        </p:nvSpPr>
        <p:spPr>
          <a:xfrm>
            <a:off x="11277295" y="6537960"/>
            <a:ext cx="365760" cy="274320"/>
          </a:xfrm>
          <a:prstGeom prst="rect">
            <a:avLst/>
          </a:prstGeom>
          <a:noFill/>
          <a:ln/>
        </p:spPr>
        <p:txBody>
          <a:bodyPr wrap="square" lIns="0" tIns="0" rIns="0" bIns="0" rtlCol="0" anchor="ctr"/>
          <a:lstStyle/>
          <a:p>
            <a:pPr algn="r" indent="0" marL="0">
              <a:buNone/>
            </a:pPr>
            <a:r>
              <a:rPr lang="en-US" sz="1200" dirty="0">
                <a:solidFill>
                  <a:srgbClr val="465A69"/>
                </a:solidFill>
                <a:latin typeface="Calibri" pitchFamily="34" charset="0"/>
                <a:ea typeface="Calibri" pitchFamily="34" charset="-122"/>
                <a:cs typeface="Calibri" pitchFamily="34" charset="-120"/>
              </a:rPr>
              <a:t>41</a:t>
            </a:r>
            <a:endParaRPr lang="en-US" sz="1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EEEAF5"/>
        </a:solidFill>
      </p:bgPr>
    </p:bg>
    <p:spTree>
      <p:nvGrpSpPr>
        <p:cNvPr id="1" name=""/>
        <p:cNvGrpSpPr/>
        <p:nvPr/>
      </p:nvGrpSpPr>
      <p:grpSpPr>
        <a:xfrm>
          <a:off x="0" y="0"/>
          <a:ext cx="0" cy="0"/>
          <a:chOff x="0" y="0"/>
          <a:chExt cx="0" cy="0"/>
        </a:xfrm>
      </p:grpSpPr>
      <p:sp>
        <p:nvSpPr>
          <p:cNvPr id="2" name="Shape 0"/>
          <p:cNvSpPr/>
          <p:nvPr/>
        </p:nvSpPr>
        <p:spPr>
          <a:xfrm>
            <a:off x="548640" y="347472"/>
            <a:ext cx="3008376" cy="329184"/>
          </a:xfrm>
          <a:prstGeom prst="roundRect">
            <a:avLst>
              <a:gd name="adj" fmla="val 50000"/>
            </a:avLst>
          </a:prstGeom>
          <a:solidFill>
            <a:srgbClr val="F6F3FA"/>
          </a:solidFill>
          <a:ln w="12700">
            <a:solidFill>
              <a:srgbClr val="F6F3FA"/>
            </a:solidFill>
            <a:prstDash val="solid"/>
          </a:ln>
        </p:spPr>
      </p:sp>
      <p:sp>
        <p:nvSpPr>
          <p:cNvPr id="3" name="Text 1"/>
          <p:cNvSpPr txBox="1"/>
          <p:nvPr/>
        </p:nvSpPr>
        <p:spPr>
          <a:xfrm>
            <a:off x="548640" y="347472"/>
            <a:ext cx="3008376" cy="329184"/>
          </a:xfrm>
          <a:prstGeom prst="rect">
            <a:avLst/>
          </a:prstGeom>
          <a:noFill/>
          <a:ln/>
        </p:spPr>
        <p:txBody>
          <a:bodyPr wrap="square" lIns="0" tIns="0" rIns="0" bIns="0" rtlCol="0" anchor="ctr"/>
          <a:lstStyle/>
          <a:p>
            <a:pPr algn="ctr" indent="0" marL="0">
              <a:buNone/>
            </a:pPr>
            <a:r>
              <a:rPr lang="en-US" sz="1200" b="1" dirty="0">
                <a:solidFill>
                  <a:srgbClr val="6E5E94"/>
                </a:solidFill>
                <a:latin typeface="Calibri" pitchFamily="34" charset="0"/>
                <a:ea typeface="Calibri" pitchFamily="34" charset="-122"/>
                <a:cs typeface="Calibri" pitchFamily="34" charset="-120"/>
              </a:rPr>
              <a:t>Scenario 3: Business Continuity</a:t>
            </a:r>
            <a:endParaRPr lang="en-US" sz="1200" dirty="0"/>
          </a:p>
        </p:txBody>
      </p:sp>
      <p:sp>
        <p:nvSpPr>
          <p:cNvPr id="4" name="Text 2"/>
          <p:cNvSpPr txBox="1"/>
          <p:nvPr/>
        </p:nvSpPr>
        <p:spPr>
          <a:xfrm>
            <a:off x="548640" y="749808"/>
            <a:ext cx="11064240" cy="640080"/>
          </a:xfrm>
          <a:prstGeom prst="rect">
            <a:avLst/>
          </a:prstGeom>
          <a:noFill/>
          <a:ln/>
        </p:spPr>
        <p:txBody>
          <a:bodyPr wrap="square" lIns="0" tIns="0" rIns="0" bIns="0" rtlCol="0" anchor="ctr"/>
          <a:lstStyle/>
          <a:p>
            <a:pPr indent="0" marL="0">
              <a:buNone/>
            </a:pPr>
            <a:r>
              <a:rPr lang="en-US" sz="2800" b="1" dirty="0">
                <a:solidFill>
                  <a:srgbClr val="23405A"/>
                </a:solidFill>
                <a:latin typeface="Calibri" pitchFamily="34" charset="0"/>
                <a:ea typeface="Calibri" pitchFamily="34" charset="-122"/>
                <a:cs typeface="Calibri" pitchFamily="34" charset="-120"/>
              </a:rPr>
              <a:t>T+0: CRO Exchange Blocked</a:t>
            </a:r>
            <a:endParaRPr lang="en-US" sz="2800" dirty="0"/>
          </a:p>
        </p:txBody>
      </p:sp>
      <p:sp>
        <p:nvSpPr>
          <p:cNvPr id="5" name="Shape 3"/>
          <p:cNvSpPr/>
          <p:nvPr/>
        </p:nvSpPr>
        <p:spPr>
          <a:xfrm>
            <a:off x="10705795" y="347472"/>
            <a:ext cx="937260" cy="329184"/>
          </a:xfrm>
          <a:prstGeom prst="roundRect">
            <a:avLst>
              <a:gd name="adj" fmla="val 50000"/>
            </a:avLst>
          </a:prstGeom>
          <a:solidFill>
            <a:srgbClr val="FFFFFF"/>
          </a:solidFill>
          <a:ln w="12700">
            <a:solidFill>
              <a:srgbClr val="FFFFFF"/>
            </a:solidFill>
            <a:prstDash val="solid"/>
          </a:ln>
        </p:spPr>
      </p:sp>
      <p:sp>
        <p:nvSpPr>
          <p:cNvPr id="6" name="Text 4"/>
          <p:cNvSpPr txBox="1"/>
          <p:nvPr/>
        </p:nvSpPr>
        <p:spPr>
          <a:xfrm>
            <a:off x="10705795" y="347472"/>
            <a:ext cx="937260" cy="329184"/>
          </a:xfrm>
          <a:prstGeom prst="rect">
            <a:avLst/>
          </a:prstGeom>
          <a:noFill/>
          <a:ln/>
        </p:spPr>
        <p:txBody>
          <a:bodyPr wrap="square" lIns="0" tIns="0" rIns="0" bIns="0" rtlCol="0" anchor="ctr"/>
          <a:lstStyle/>
          <a:p>
            <a:pPr algn="ctr" indent="0" marL="0">
              <a:buNone/>
            </a:pPr>
            <a:r>
              <a:rPr lang="en-US" sz="1200" dirty="0">
                <a:solidFill>
                  <a:srgbClr val="465A69"/>
                </a:solidFill>
                <a:latin typeface="Calibri" pitchFamily="34" charset="0"/>
                <a:ea typeface="Calibri" pitchFamily="34" charset="-122"/>
                <a:cs typeface="Calibri" pitchFamily="34" charset="-120"/>
              </a:rPr>
              <a:t>Hotwash</a:t>
            </a:r>
            <a:endParaRPr lang="en-US" sz="1200" dirty="0"/>
          </a:p>
        </p:txBody>
      </p:sp>
      <p:sp>
        <p:nvSpPr>
          <p:cNvPr id="7" name="Shape 5"/>
          <p:cNvSpPr/>
          <p:nvPr/>
        </p:nvSpPr>
        <p:spPr>
          <a:xfrm>
            <a:off x="9608515" y="347472"/>
            <a:ext cx="1024128" cy="329184"/>
          </a:xfrm>
          <a:prstGeom prst="roundRect">
            <a:avLst>
              <a:gd name="adj" fmla="val 50000"/>
            </a:avLst>
          </a:prstGeom>
          <a:solidFill>
            <a:srgbClr val="FFFFFF"/>
          </a:solidFill>
          <a:ln w="12700">
            <a:solidFill>
              <a:srgbClr val="FFFFFF"/>
            </a:solidFill>
            <a:prstDash val="solid"/>
          </a:ln>
        </p:spPr>
      </p:sp>
      <p:sp>
        <p:nvSpPr>
          <p:cNvPr id="8" name="Text 6"/>
          <p:cNvSpPr txBox="1"/>
          <p:nvPr/>
        </p:nvSpPr>
        <p:spPr>
          <a:xfrm>
            <a:off x="9608515" y="347472"/>
            <a:ext cx="1024128" cy="329184"/>
          </a:xfrm>
          <a:prstGeom prst="rect">
            <a:avLst/>
          </a:prstGeom>
          <a:noFill/>
          <a:ln/>
        </p:spPr>
        <p:txBody>
          <a:bodyPr wrap="square" lIns="0" tIns="0" rIns="0" bIns="0" rtlCol="0" anchor="ctr"/>
          <a:lstStyle/>
          <a:p>
            <a:pPr algn="ctr" indent="0" marL="0">
              <a:buNone/>
            </a:pPr>
            <a:r>
              <a:rPr lang="en-US" sz="1200" dirty="0">
                <a:solidFill>
                  <a:srgbClr val="465A69"/>
                </a:solidFill>
                <a:latin typeface="Calibri" pitchFamily="34" charset="0"/>
                <a:ea typeface="Calibri" pitchFamily="34" charset="-122"/>
                <a:cs typeface="Calibri" pitchFamily="34" charset="-120"/>
              </a:rPr>
              <a:t>Recovery</a:t>
            </a:r>
            <a:endParaRPr lang="en-US" sz="1200" dirty="0"/>
          </a:p>
        </p:txBody>
      </p:sp>
      <p:sp>
        <p:nvSpPr>
          <p:cNvPr id="9" name="Shape 7"/>
          <p:cNvSpPr/>
          <p:nvPr/>
        </p:nvSpPr>
        <p:spPr>
          <a:xfrm>
            <a:off x="8598103" y="347472"/>
            <a:ext cx="937260" cy="329184"/>
          </a:xfrm>
          <a:prstGeom prst="roundRect">
            <a:avLst>
              <a:gd name="adj" fmla="val 50000"/>
            </a:avLst>
          </a:prstGeom>
          <a:solidFill>
            <a:srgbClr val="FFFFFF"/>
          </a:solidFill>
          <a:ln w="12700">
            <a:solidFill>
              <a:srgbClr val="FFFFFF"/>
            </a:solidFill>
            <a:prstDash val="solid"/>
          </a:ln>
        </p:spPr>
      </p:sp>
      <p:sp>
        <p:nvSpPr>
          <p:cNvPr id="10" name="Text 8"/>
          <p:cNvSpPr txBox="1"/>
          <p:nvPr/>
        </p:nvSpPr>
        <p:spPr>
          <a:xfrm>
            <a:off x="8598103" y="347472"/>
            <a:ext cx="937260" cy="329184"/>
          </a:xfrm>
          <a:prstGeom prst="rect">
            <a:avLst/>
          </a:prstGeom>
          <a:noFill/>
          <a:ln/>
        </p:spPr>
        <p:txBody>
          <a:bodyPr wrap="square" lIns="0" tIns="0" rIns="0" bIns="0" rtlCol="0" anchor="ctr"/>
          <a:lstStyle/>
          <a:p>
            <a:pPr algn="ctr" indent="0" marL="0">
              <a:buNone/>
            </a:pPr>
            <a:r>
              <a:rPr lang="en-US" sz="1200" dirty="0">
                <a:solidFill>
                  <a:srgbClr val="465A69"/>
                </a:solidFill>
                <a:latin typeface="Calibri" pitchFamily="34" charset="0"/>
                <a:ea typeface="Calibri" pitchFamily="34" charset="-122"/>
                <a:cs typeface="Calibri" pitchFamily="34" charset="-120"/>
              </a:rPr>
              <a:t>Injects</a:t>
            </a:r>
            <a:endParaRPr lang="en-US" sz="1200" dirty="0"/>
          </a:p>
        </p:txBody>
      </p:sp>
      <p:sp>
        <p:nvSpPr>
          <p:cNvPr id="11" name="Shape 9"/>
          <p:cNvSpPr/>
          <p:nvPr/>
        </p:nvSpPr>
        <p:spPr>
          <a:xfrm>
            <a:off x="7674559" y="347472"/>
            <a:ext cx="850392" cy="329184"/>
          </a:xfrm>
          <a:prstGeom prst="roundRect">
            <a:avLst>
              <a:gd name="adj" fmla="val 50000"/>
            </a:avLst>
          </a:prstGeom>
          <a:solidFill>
            <a:srgbClr val="FFFFFF"/>
          </a:solidFill>
          <a:ln w="12700">
            <a:solidFill>
              <a:srgbClr val="FFFFFF"/>
            </a:solidFill>
            <a:prstDash val="solid"/>
          </a:ln>
        </p:spPr>
      </p:sp>
      <p:sp>
        <p:nvSpPr>
          <p:cNvPr id="12" name="Text 10"/>
          <p:cNvSpPr txBox="1"/>
          <p:nvPr/>
        </p:nvSpPr>
        <p:spPr>
          <a:xfrm>
            <a:off x="7674559" y="347472"/>
            <a:ext cx="850392" cy="329184"/>
          </a:xfrm>
          <a:prstGeom prst="rect">
            <a:avLst/>
          </a:prstGeom>
          <a:noFill/>
          <a:ln/>
        </p:spPr>
        <p:txBody>
          <a:bodyPr wrap="square" lIns="0" tIns="0" rIns="0" bIns="0" rtlCol="0" anchor="ctr"/>
          <a:lstStyle/>
          <a:p>
            <a:pPr algn="ctr" indent="0" marL="0">
              <a:buNone/>
            </a:pPr>
            <a:r>
              <a:rPr lang="en-US" sz="1200" dirty="0">
                <a:solidFill>
                  <a:srgbClr val="465A69"/>
                </a:solidFill>
                <a:latin typeface="Calibri" pitchFamily="34" charset="0"/>
                <a:ea typeface="Calibri" pitchFamily="34" charset="-122"/>
                <a:cs typeface="Calibri" pitchFamily="34" charset="-120"/>
              </a:rPr>
              <a:t>Decide</a:t>
            </a:r>
            <a:endParaRPr lang="en-US" sz="1200" dirty="0"/>
          </a:p>
        </p:txBody>
      </p:sp>
      <p:sp>
        <p:nvSpPr>
          <p:cNvPr id="13" name="Shape 11"/>
          <p:cNvSpPr/>
          <p:nvPr/>
        </p:nvSpPr>
        <p:spPr>
          <a:xfrm>
            <a:off x="7011619" y="347472"/>
            <a:ext cx="589788" cy="329184"/>
          </a:xfrm>
          <a:prstGeom prst="roundRect">
            <a:avLst>
              <a:gd name="adj" fmla="val 50000"/>
            </a:avLst>
          </a:prstGeom>
          <a:solidFill>
            <a:srgbClr val="6E5E94"/>
          </a:solidFill>
          <a:ln w="12700">
            <a:solidFill>
              <a:srgbClr val="6E5E94"/>
            </a:solidFill>
            <a:prstDash val="solid"/>
          </a:ln>
        </p:spPr>
      </p:sp>
      <p:sp>
        <p:nvSpPr>
          <p:cNvPr id="14" name="Text 12"/>
          <p:cNvSpPr txBox="1"/>
          <p:nvPr/>
        </p:nvSpPr>
        <p:spPr>
          <a:xfrm>
            <a:off x="7011619" y="347472"/>
            <a:ext cx="589788"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T+0</a:t>
            </a:r>
            <a:endParaRPr lang="en-US" sz="1200" dirty="0"/>
          </a:p>
        </p:txBody>
      </p:sp>
      <p:sp>
        <p:nvSpPr>
          <p:cNvPr id="15" name="Shape 13"/>
          <p:cNvSpPr/>
          <p:nvPr/>
        </p:nvSpPr>
        <p:spPr>
          <a:xfrm>
            <a:off x="5740603" y="347472"/>
            <a:ext cx="1197864" cy="329184"/>
          </a:xfrm>
          <a:prstGeom prst="roundRect">
            <a:avLst>
              <a:gd name="adj" fmla="val 50000"/>
            </a:avLst>
          </a:prstGeom>
          <a:solidFill>
            <a:srgbClr val="F6F3FA"/>
          </a:solidFill>
          <a:ln w="12700">
            <a:solidFill>
              <a:srgbClr val="F6F3FA"/>
            </a:solidFill>
            <a:prstDash val="solid"/>
          </a:ln>
        </p:spPr>
      </p:sp>
      <p:sp>
        <p:nvSpPr>
          <p:cNvPr id="16" name="Text 14"/>
          <p:cNvSpPr txBox="1"/>
          <p:nvPr/>
        </p:nvSpPr>
        <p:spPr>
          <a:xfrm>
            <a:off x="5740603" y="347472"/>
            <a:ext cx="1197864" cy="329184"/>
          </a:xfrm>
          <a:prstGeom prst="rect">
            <a:avLst/>
          </a:prstGeom>
          <a:noFill/>
          <a:ln/>
        </p:spPr>
        <p:txBody>
          <a:bodyPr wrap="square" lIns="0" tIns="0" rIns="0" bIns="0" rtlCol="0" anchor="ctr"/>
          <a:lstStyle/>
          <a:p>
            <a:pPr algn="ctr" indent="0" marL="0">
              <a:buNone/>
            </a:pPr>
            <a:r>
              <a:rPr lang="en-US" sz="1200" dirty="0">
                <a:solidFill>
                  <a:srgbClr val="6E5E94"/>
                </a:solidFill>
                <a:latin typeface="Calibri" pitchFamily="34" charset="0"/>
                <a:ea typeface="Calibri" pitchFamily="34" charset="-122"/>
                <a:cs typeface="Calibri" pitchFamily="34" charset="-120"/>
              </a:rPr>
              <a:t>Background</a:t>
            </a:r>
            <a:endParaRPr lang="en-US" sz="1200" dirty="0"/>
          </a:p>
        </p:txBody>
      </p:sp>
      <p:sp>
        <p:nvSpPr>
          <p:cNvPr id="17" name="Shape 15"/>
          <p:cNvSpPr/>
          <p:nvPr/>
        </p:nvSpPr>
        <p:spPr>
          <a:xfrm>
            <a:off x="548640" y="1600200"/>
            <a:ext cx="2377440" cy="4572000"/>
          </a:xfrm>
          <a:prstGeom prst="roundRect">
            <a:avLst>
              <a:gd name="adj" fmla="val 5385"/>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18" name="Text 16"/>
          <p:cNvSpPr txBox="1"/>
          <p:nvPr/>
        </p:nvSpPr>
        <p:spPr>
          <a:xfrm>
            <a:off x="822960" y="1783080"/>
            <a:ext cx="1874520" cy="320040"/>
          </a:xfrm>
          <a:prstGeom prst="rect">
            <a:avLst/>
          </a:prstGeom>
          <a:noFill/>
          <a:ln/>
        </p:spPr>
        <p:txBody>
          <a:bodyPr wrap="square" lIns="0" tIns="0" rIns="0" bIns="0" rtlCol="0" anchor="t"/>
          <a:lstStyle/>
          <a:p>
            <a:pPr indent="0" marL="0">
              <a:buNone/>
            </a:pPr>
            <a:r>
              <a:rPr lang="en-US" sz="1400" b="1" dirty="0">
                <a:solidFill>
                  <a:srgbClr val="465A69"/>
                </a:solidFill>
                <a:latin typeface="Calibri" pitchFamily="34" charset="0"/>
                <a:ea typeface="Calibri" pitchFamily="34" charset="-122"/>
                <a:cs typeface="Calibri" pitchFamily="34" charset="-120"/>
              </a:rPr>
              <a:t>Timeline</a:t>
            </a:r>
            <a:endParaRPr lang="en-US" sz="1400" dirty="0"/>
          </a:p>
        </p:txBody>
      </p:sp>
      <p:sp>
        <p:nvSpPr>
          <p:cNvPr id="19" name="Shape 17"/>
          <p:cNvSpPr/>
          <p:nvPr/>
        </p:nvSpPr>
        <p:spPr>
          <a:xfrm>
            <a:off x="905256" y="2551176"/>
            <a:ext cx="0" cy="257338"/>
          </a:xfrm>
          <a:prstGeom prst="line">
            <a:avLst/>
          </a:prstGeom>
          <a:noFill/>
          <a:ln w="19050">
            <a:solidFill>
              <a:srgbClr val="C9D5D2"/>
            </a:solidFill>
            <a:prstDash val="solid"/>
          </a:ln>
        </p:spPr>
      </p:sp>
      <p:sp>
        <p:nvSpPr>
          <p:cNvPr id="20" name="Shape 18"/>
          <p:cNvSpPr/>
          <p:nvPr/>
        </p:nvSpPr>
        <p:spPr>
          <a:xfrm>
            <a:off x="777240" y="2267712"/>
            <a:ext cx="256032" cy="256032"/>
          </a:xfrm>
          <a:prstGeom prst="ellipse">
            <a:avLst/>
          </a:prstGeom>
          <a:solidFill>
            <a:srgbClr val="6E5E94"/>
          </a:solidFill>
          <a:ln w="12700">
            <a:solidFill>
              <a:srgbClr val="6E5E94"/>
            </a:solidFill>
            <a:prstDash val="solid"/>
          </a:ln>
        </p:spPr>
      </p:sp>
      <p:sp>
        <p:nvSpPr>
          <p:cNvPr id="21" name="Text 19"/>
          <p:cNvSpPr txBox="1"/>
          <p:nvPr/>
        </p:nvSpPr>
        <p:spPr>
          <a:xfrm>
            <a:off x="1188720" y="2203704"/>
            <a:ext cx="1645920" cy="568234"/>
          </a:xfrm>
          <a:prstGeom prst="rect">
            <a:avLst/>
          </a:prstGeom>
          <a:noFill/>
          <a:ln/>
        </p:spPr>
        <p:txBody>
          <a:bodyPr wrap="square" lIns="0" tIns="0" rIns="0" bIns="0" rtlCol="0" anchor="t"/>
          <a:lstStyle/>
          <a:p>
            <a:pPr indent="0" marL="0">
              <a:buNone/>
            </a:pPr>
            <a:r>
              <a:rPr lang="en-US" sz="1200" b="1" dirty="0">
                <a:solidFill>
                  <a:srgbClr val="6E5E94"/>
                </a:solidFill>
                <a:latin typeface="Calibri" pitchFamily="34" charset="0"/>
                <a:ea typeface="Calibri" pitchFamily="34" charset="-122"/>
                <a:cs typeface="Calibri" pitchFamily="34" charset="-120"/>
              </a:rPr>
              <a:t>Day 1</a:t>
            </a:r>
            <a:endParaRPr lang="en-US" sz="1200" dirty="0"/>
          </a:p>
          <a:p>
            <a:pPr indent="0" marL="0">
              <a:buNone/>
            </a:pPr>
            <a:r>
              <a:rPr lang="en-US" sz="1200" b="1" dirty="0">
                <a:solidFill>
                  <a:srgbClr val="6E5E94"/>
                </a:solidFill>
                <a:latin typeface="Calibri" pitchFamily="34" charset="0"/>
                <a:ea typeface="Calibri" pitchFamily="34" charset="-122"/>
                <a:cs typeface="Calibri" pitchFamily="34" charset="-120"/>
              </a:rPr>
              <a:t>CRO exchange blocked</a:t>
            </a:r>
            <a:endParaRPr lang="en-US" sz="1200" dirty="0"/>
          </a:p>
        </p:txBody>
      </p:sp>
      <p:sp>
        <p:nvSpPr>
          <p:cNvPr id="22" name="Shape 20"/>
          <p:cNvSpPr/>
          <p:nvPr/>
        </p:nvSpPr>
        <p:spPr>
          <a:xfrm>
            <a:off x="905256" y="3119410"/>
            <a:ext cx="0" cy="257338"/>
          </a:xfrm>
          <a:prstGeom prst="line">
            <a:avLst/>
          </a:prstGeom>
          <a:noFill/>
          <a:ln w="19050">
            <a:solidFill>
              <a:srgbClr val="C9D5D2"/>
            </a:solidFill>
            <a:prstDash val="solid"/>
          </a:ln>
        </p:spPr>
      </p:sp>
      <p:sp>
        <p:nvSpPr>
          <p:cNvPr id="23" name="Shape 21"/>
          <p:cNvSpPr/>
          <p:nvPr/>
        </p:nvSpPr>
        <p:spPr>
          <a:xfrm>
            <a:off x="777240" y="2835946"/>
            <a:ext cx="256032" cy="256032"/>
          </a:xfrm>
          <a:prstGeom prst="ellipse">
            <a:avLst/>
          </a:prstGeom>
          <a:solidFill>
            <a:srgbClr val="FFFFFF"/>
          </a:solidFill>
          <a:ln w="15875">
            <a:solidFill>
              <a:srgbClr val="C9D5D2"/>
            </a:solidFill>
            <a:prstDash val="solid"/>
          </a:ln>
        </p:spPr>
      </p:sp>
      <p:sp>
        <p:nvSpPr>
          <p:cNvPr id="24" name="Shape 22"/>
          <p:cNvSpPr/>
          <p:nvPr/>
        </p:nvSpPr>
        <p:spPr>
          <a:xfrm>
            <a:off x="905256" y="3687645"/>
            <a:ext cx="0" cy="257338"/>
          </a:xfrm>
          <a:prstGeom prst="line">
            <a:avLst/>
          </a:prstGeom>
          <a:noFill/>
          <a:ln w="19050">
            <a:solidFill>
              <a:srgbClr val="C9D5D2"/>
            </a:solidFill>
            <a:prstDash val="solid"/>
          </a:ln>
        </p:spPr>
      </p:sp>
      <p:sp>
        <p:nvSpPr>
          <p:cNvPr id="25" name="Shape 23"/>
          <p:cNvSpPr/>
          <p:nvPr/>
        </p:nvSpPr>
        <p:spPr>
          <a:xfrm>
            <a:off x="777240" y="3404181"/>
            <a:ext cx="256032" cy="256032"/>
          </a:xfrm>
          <a:prstGeom prst="ellipse">
            <a:avLst/>
          </a:prstGeom>
          <a:solidFill>
            <a:srgbClr val="FFFFFF"/>
          </a:solidFill>
          <a:ln w="15875">
            <a:solidFill>
              <a:srgbClr val="C9D5D2"/>
            </a:solidFill>
            <a:prstDash val="solid"/>
          </a:ln>
        </p:spPr>
      </p:sp>
      <p:sp>
        <p:nvSpPr>
          <p:cNvPr id="26" name="Shape 24"/>
          <p:cNvSpPr/>
          <p:nvPr/>
        </p:nvSpPr>
        <p:spPr>
          <a:xfrm>
            <a:off x="905256" y="4255879"/>
            <a:ext cx="0" cy="257338"/>
          </a:xfrm>
          <a:prstGeom prst="line">
            <a:avLst/>
          </a:prstGeom>
          <a:noFill/>
          <a:ln w="19050">
            <a:solidFill>
              <a:srgbClr val="C9D5D2"/>
            </a:solidFill>
            <a:prstDash val="solid"/>
          </a:ln>
        </p:spPr>
      </p:sp>
      <p:sp>
        <p:nvSpPr>
          <p:cNvPr id="27" name="Shape 25"/>
          <p:cNvSpPr/>
          <p:nvPr/>
        </p:nvSpPr>
        <p:spPr>
          <a:xfrm>
            <a:off x="777240" y="3972415"/>
            <a:ext cx="256032" cy="256032"/>
          </a:xfrm>
          <a:prstGeom prst="ellipse">
            <a:avLst/>
          </a:prstGeom>
          <a:solidFill>
            <a:srgbClr val="FFFFFF"/>
          </a:solidFill>
          <a:ln w="15875">
            <a:solidFill>
              <a:srgbClr val="C9D5D2"/>
            </a:solidFill>
            <a:prstDash val="solid"/>
          </a:ln>
        </p:spPr>
      </p:sp>
      <p:sp>
        <p:nvSpPr>
          <p:cNvPr id="28" name="Shape 26"/>
          <p:cNvSpPr/>
          <p:nvPr/>
        </p:nvSpPr>
        <p:spPr>
          <a:xfrm>
            <a:off x="905256" y="4824113"/>
            <a:ext cx="0" cy="257338"/>
          </a:xfrm>
          <a:prstGeom prst="line">
            <a:avLst/>
          </a:prstGeom>
          <a:noFill/>
          <a:ln w="19050">
            <a:solidFill>
              <a:srgbClr val="C9D5D2"/>
            </a:solidFill>
            <a:prstDash val="solid"/>
          </a:ln>
        </p:spPr>
      </p:sp>
      <p:sp>
        <p:nvSpPr>
          <p:cNvPr id="29" name="Shape 27"/>
          <p:cNvSpPr/>
          <p:nvPr/>
        </p:nvSpPr>
        <p:spPr>
          <a:xfrm>
            <a:off x="777240" y="4540649"/>
            <a:ext cx="256032" cy="256032"/>
          </a:xfrm>
          <a:prstGeom prst="ellipse">
            <a:avLst/>
          </a:prstGeom>
          <a:solidFill>
            <a:srgbClr val="FFFFFF"/>
          </a:solidFill>
          <a:ln w="15875">
            <a:solidFill>
              <a:srgbClr val="C9D5D2"/>
            </a:solidFill>
            <a:prstDash val="solid"/>
          </a:ln>
        </p:spPr>
      </p:sp>
      <p:sp>
        <p:nvSpPr>
          <p:cNvPr id="30" name="Shape 28"/>
          <p:cNvSpPr/>
          <p:nvPr/>
        </p:nvSpPr>
        <p:spPr>
          <a:xfrm>
            <a:off x="905256" y="5392347"/>
            <a:ext cx="0" cy="257338"/>
          </a:xfrm>
          <a:prstGeom prst="line">
            <a:avLst/>
          </a:prstGeom>
          <a:noFill/>
          <a:ln w="19050">
            <a:solidFill>
              <a:srgbClr val="C9D5D2"/>
            </a:solidFill>
            <a:prstDash val="solid"/>
          </a:ln>
        </p:spPr>
      </p:sp>
      <p:sp>
        <p:nvSpPr>
          <p:cNvPr id="31" name="Shape 29"/>
          <p:cNvSpPr/>
          <p:nvPr/>
        </p:nvSpPr>
        <p:spPr>
          <a:xfrm>
            <a:off x="777240" y="5108883"/>
            <a:ext cx="256032" cy="256032"/>
          </a:xfrm>
          <a:prstGeom prst="ellipse">
            <a:avLst/>
          </a:prstGeom>
          <a:solidFill>
            <a:srgbClr val="FFFFFF"/>
          </a:solidFill>
          <a:ln w="15875">
            <a:solidFill>
              <a:srgbClr val="C9D5D2"/>
            </a:solidFill>
            <a:prstDash val="solid"/>
          </a:ln>
        </p:spPr>
      </p:sp>
      <p:sp>
        <p:nvSpPr>
          <p:cNvPr id="32" name="Shape 30"/>
          <p:cNvSpPr/>
          <p:nvPr/>
        </p:nvSpPr>
        <p:spPr>
          <a:xfrm>
            <a:off x="777240" y="5677118"/>
            <a:ext cx="256032" cy="256032"/>
          </a:xfrm>
          <a:prstGeom prst="ellipse">
            <a:avLst/>
          </a:prstGeom>
          <a:solidFill>
            <a:srgbClr val="FFFFFF"/>
          </a:solidFill>
          <a:ln w="15875">
            <a:solidFill>
              <a:srgbClr val="C9D5D2"/>
            </a:solidFill>
            <a:prstDash val="solid"/>
          </a:ln>
        </p:spPr>
      </p:sp>
      <p:sp>
        <p:nvSpPr>
          <p:cNvPr id="33" name="Shape 31"/>
          <p:cNvSpPr/>
          <p:nvPr/>
        </p:nvSpPr>
        <p:spPr>
          <a:xfrm>
            <a:off x="3154680" y="1600200"/>
            <a:ext cx="5696712" cy="4572000"/>
          </a:xfrm>
          <a:prstGeom prst="roundRect">
            <a:avLst>
              <a:gd name="adj" fmla="val 2800"/>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34" name="Shape 32"/>
          <p:cNvSpPr/>
          <p:nvPr/>
        </p:nvSpPr>
        <p:spPr>
          <a:xfrm>
            <a:off x="3429000" y="1874520"/>
            <a:ext cx="2322576" cy="420624"/>
          </a:xfrm>
          <a:prstGeom prst="roundRect">
            <a:avLst>
              <a:gd name="adj" fmla="val 50000"/>
            </a:avLst>
          </a:prstGeom>
          <a:solidFill>
            <a:srgbClr val="6E5E94"/>
          </a:solidFill>
          <a:ln w="12700">
            <a:solidFill>
              <a:srgbClr val="6E5E94"/>
            </a:solidFill>
            <a:prstDash val="solid"/>
          </a:ln>
        </p:spPr>
      </p:sp>
      <p:pic>
        <p:nvPicPr>
          <p:cNvPr id="35" name="Image 0" descr="preencoded.png">    </p:cNvPr>
          <p:cNvPicPr>
            <a:picLocks noChangeAspect="1"/>
          </p:cNvPicPr>
          <p:nvPr/>
        </p:nvPicPr>
        <p:blipFill>
          <a:blip r:embed="rId1"/>
          <a:stretch>
            <a:fillRect/>
          </a:stretch>
        </p:blipFill>
        <p:spPr>
          <a:xfrm>
            <a:off x="3566160" y="1947672"/>
            <a:ext cx="256032" cy="256032"/>
          </a:xfrm>
          <a:prstGeom prst="rect">
            <a:avLst/>
          </a:prstGeom>
        </p:spPr>
      </p:pic>
      <p:sp>
        <p:nvSpPr>
          <p:cNvPr id="36" name="Text 33"/>
          <p:cNvSpPr txBox="1"/>
          <p:nvPr/>
        </p:nvSpPr>
        <p:spPr>
          <a:xfrm>
            <a:off x="3886200" y="1874520"/>
            <a:ext cx="1865376" cy="42062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T+0, Day 1, 9:00 AM</a:t>
            </a:r>
            <a:endParaRPr lang="en-US" sz="1400" dirty="0"/>
          </a:p>
        </p:txBody>
      </p:sp>
      <p:sp>
        <p:nvSpPr>
          <p:cNvPr id="37" name="Text 34"/>
          <p:cNvSpPr txBox="1"/>
          <p:nvPr/>
        </p:nvSpPr>
        <p:spPr>
          <a:xfrm>
            <a:off x="3429000" y="2514600"/>
            <a:ext cx="5166360" cy="3108960"/>
          </a:xfrm>
          <a:prstGeom prst="rect">
            <a:avLst/>
          </a:prstGeom>
          <a:noFill/>
          <a:ln/>
        </p:spPr>
        <p:txBody>
          <a:bodyPr wrap="square" lIns="0" tIns="0" rIns="0" bIns="0" rtlCol="0" anchor="t"/>
          <a:lstStyle/>
          <a:p>
            <a:pPr indent="0" marL="0">
              <a:buNone/>
            </a:pPr>
            <a:r>
              <a:rPr lang="en-US" sz="2000" dirty="0">
                <a:solidFill>
                  <a:srgbClr val="1E2E3A"/>
                </a:solidFill>
                <a:latin typeface="Calibri" pitchFamily="34" charset="0"/>
                <a:ea typeface="Calibri" pitchFamily="34" charset="-122"/>
                <a:cs typeface="Calibri" pitchFamily="34" charset="-120"/>
              </a:rPr>
              <a:t>Microsoft 365 is mostly back. Clinical Operations reports that the CRO cannot exchange study documents with the company through its portal. The cause and expected duration are unknown.</a:t>
            </a:r>
            <a:endParaRPr lang="en-US" sz="2000" dirty="0"/>
          </a:p>
        </p:txBody>
      </p:sp>
      <p:sp>
        <p:nvSpPr>
          <p:cNvPr id="38" name="Shape 35"/>
          <p:cNvSpPr/>
          <p:nvPr/>
        </p:nvSpPr>
        <p:spPr>
          <a:xfrm>
            <a:off x="9079992" y="1600200"/>
            <a:ext cx="2560320" cy="4572000"/>
          </a:xfrm>
          <a:prstGeom prst="roundRect">
            <a:avLst>
              <a:gd name="adj" fmla="val 5000"/>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39" name="Text 36"/>
          <p:cNvSpPr txBox="1"/>
          <p:nvPr/>
        </p:nvSpPr>
        <p:spPr>
          <a:xfrm>
            <a:off x="9262872" y="1728216"/>
            <a:ext cx="2194560" cy="457200"/>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CRO message (simulated)</a:t>
            </a:r>
            <a:endParaRPr lang="en-US" sz="1300" dirty="0"/>
          </a:p>
        </p:txBody>
      </p:sp>
      <p:sp>
        <p:nvSpPr>
          <p:cNvPr id="40" name="Shape 37"/>
          <p:cNvSpPr/>
          <p:nvPr/>
        </p:nvSpPr>
        <p:spPr>
          <a:xfrm>
            <a:off x="9262872" y="2221992"/>
            <a:ext cx="2194560" cy="3767328"/>
          </a:xfrm>
          <a:prstGeom prst="roundRect">
            <a:avLst>
              <a:gd name="adj" fmla="val 3333"/>
            </a:avLst>
          </a:prstGeom>
          <a:solidFill>
            <a:srgbClr val="FFFFFF"/>
          </a:solidFill>
          <a:ln w="9525">
            <a:solidFill>
              <a:srgbClr val="C9D3DE"/>
            </a:solidFill>
            <a:prstDash val="solid"/>
          </a:ln>
        </p:spPr>
      </p:sp>
      <p:sp>
        <p:nvSpPr>
          <p:cNvPr id="41" name="Text 38"/>
          <p:cNvSpPr txBox="1"/>
          <p:nvPr/>
        </p:nvSpPr>
        <p:spPr>
          <a:xfrm>
            <a:off x="9381744" y="2386584"/>
            <a:ext cx="1956816" cy="452120"/>
          </a:xfrm>
          <a:prstGeom prst="rect">
            <a:avLst/>
          </a:prstGeom>
          <a:noFill/>
          <a:ln/>
        </p:spPr>
        <p:txBody>
          <a:bodyPr wrap="square" lIns="0" tIns="0" rIns="0" bIns="0" rtlCol="0" anchor="t"/>
          <a:lstStyle/>
          <a:p>
            <a:pPr indent="0" marL="0">
              <a:buNone/>
            </a:pPr>
            <a:r>
              <a:rPr lang="en-US" sz="1400" b="1" dirty="0">
                <a:solidFill>
                  <a:srgbClr val="1E2E3A"/>
                </a:solidFill>
                <a:latin typeface="Calibri" pitchFamily="34" charset="0"/>
                <a:ea typeface="Calibri" pitchFamily="34" charset="-122"/>
                <a:cs typeface="Calibri" pitchFamily="34" charset="-120"/>
              </a:rPr>
              <a:t>From: </a:t>
            </a:r>
            <a:pPr indent="0" marL="0">
              <a:buNone/>
            </a:pPr>
            <a:r>
              <a:rPr lang="en-US" sz="1400" dirty="0">
                <a:solidFill>
                  <a:srgbClr val="1E2E3A"/>
                </a:solidFill>
                <a:latin typeface="Calibri" pitchFamily="34" charset="0"/>
                <a:ea typeface="Calibri" pitchFamily="34" charset="-122"/>
                <a:cs typeface="Calibri" pitchFamily="34" charset="-120"/>
              </a:rPr>
              <a:t>CRO Project Manager</a:t>
            </a:r>
            <a:endParaRPr lang="en-US" sz="1400" dirty="0"/>
          </a:p>
        </p:txBody>
      </p:sp>
      <p:sp>
        <p:nvSpPr>
          <p:cNvPr id="42" name="Text 39"/>
          <p:cNvSpPr txBox="1"/>
          <p:nvPr/>
        </p:nvSpPr>
        <p:spPr>
          <a:xfrm>
            <a:off x="9381744" y="2838704"/>
            <a:ext cx="1956816" cy="669036"/>
          </a:xfrm>
          <a:prstGeom prst="rect">
            <a:avLst/>
          </a:prstGeom>
          <a:noFill/>
          <a:ln/>
        </p:spPr>
        <p:txBody>
          <a:bodyPr wrap="square" lIns="0" tIns="0" rIns="0" bIns="0" rtlCol="0" anchor="t"/>
          <a:lstStyle/>
          <a:p>
            <a:pPr indent="0" marL="0">
              <a:buNone/>
            </a:pPr>
            <a:r>
              <a:rPr lang="en-US" sz="1400" b="1" dirty="0">
                <a:solidFill>
                  <a:srgbClr val="1E2E3A"/>
                </a:solidFill>
                <a:latin typeface="Calibri" pitchFamily="34" charset="0"/>
                <a:ea typeface="Calibri" pitchFamily="34" charset="-122"/>
                <a:cs typeface="Calibri" pitchFamily="34" charset="-120"/>
              </a:rPr>
              <a:t>Subject: </a:t>
            </a:r>
            <a:pPr indent="0" marL="0">
              <a:buNone/>
            </a:pPr>
            <a:r>
              <a:rPr lang="en-US" sz="1400" dirty="0">
                <a:solidFill>
                  <a:srgbClr val="1E2E3A"/>
                </a:solidFill>
                <a:latin typeface="Calibri" pitchFamily="34" charset="0"/>
                <a:ea typeface="Calibri" pitchFamily="34" charset="-122"/>
                <a:cs typeface="Calibri" pitchFamily="34" charset="-120"/>
              </a:rPr>
              <a:t>Unable to exchange study documents</a:t>
            </a:r>
            <a:endParaRPr lang="en-US" sz="1400" dirty="0"/>
          </a:p>
        </p:txBody>
      </p:sp>
      <p:sp>
        <p:nvSpPr>
          <p:cNvPr id="43" name="Text 40"/>
          <p:cNvSpPr txBox="1"/>
          <p:nvPr/>
        </p:nvSpPr>
        <p:spPr>
          <a:xfrm>
            <a:off x="9381744" y="3580892"/>
            <a:ext cx="1956816" cy="1771904"/>
          </a:xfrm>
          <a:prstGeom prst="rect">
            <a:avLst/>
          </a:prstGeom>
          <a:noFill/>
          <a:ln/>
        </p:spPr>
        <p:txBody>
          <a:bodyPr wrap="square" lIns="0" tIns="0" rIns="0" bIns="0" rtlCol="0" anchor="t"/>
          <a:lstStyle/>
          <a:p>
            <a:pPr indent="0" marL="0">
              <a:buNone/>
            </a:pPr>
            <a:r>
              <a:rPr lang="en-US" sz="1400" dirty="0">
                <a:solidFill>
                  <a:srgbClr val="1E2E3A"/>
                </a:solidFill>
                <a:latin typeface="Calibri" pitchFamily="34" charset="0"/>
                <a:ea typeface="Calibri" pitchFamily="34" charset="-122"/>
                <a:cs typeface="Calibri" pitchFamily="34" charset="-120"/>
              </a:rPr>
              <a:t>Our portal connection to your organization is failing. We cannot upload or download study documents. Do you have an alternate method?</a:t>
            </a:r>
            <a:endParaRPr lang="en-US" sz="1400" dirty="0"/>
          </a:p>
        </p:txBody>
      </p:sp>
      <p:sp>
        <p:nvSpPr>
          <p:cNvPr id="44" name="Text 41"/>
          <p:cNvSpPr txBox="1"/>
          <p:nvPr/>
        </p:nvSpPr>
        <p:spPr>
          <a:xfrm>
            <a:off x="9381744" y="5435092"/>
            <a:ext cx="1956816" cy="228600"/>
          </a:xfrm>
          <a:prstGeom prst="rect">
            <a:avLst/>
          </a:prstGeom>
          <a:noFill/>
          <a:ln/>
        </p:spPr>
        <p:txBody>
          <a:bodyPr wrap="square" lIns="0" tIns="0" rIns="0" bIns="0" rtlCol="0" anchor="t"/>
          <a:lstStyle/>
          <a:p>
            <a:pPr indent="0" marL="0">
              <a:buNone/>
            </a:pPr>
            <a:r>
              <a:rPr lang="en-US" sz="1200" dirty="0">
                <a:solidFill>
                  <a:srgbClr val="465A69"/>
                </a:solidFill>
                <a:latin typeface="Calibri" pitchFamily="34" charset="0"/>
                <a:ea typeface="Calibri" pitchFamily="34" charset="-122"/>
                <a:cs typeface="Calibri" pitchFamily="34" charset="-120"/>
              </a:rPr>
              <a:t>Day 1, 9:00 AM</a:t>
            </a:r>
            <a:endParaRPr lang="en-US" sz="1200" dirty="0"/>
          </a:p>
        </p:txBody>
      </p:sp>
      <p:sp>
        <p:nvSpPr>
          <p:cNvPr id="45" name="Text 42"/>
          <p:cNvSpPr txBox="1"/>
          <p:nvPr/>
        </p:nvSpPr>
        <p:spPr>
          <a:xfrm>
            <a:off x="548640" y="6254496"/>
            <a:ext cx="11091672" cy="256032"/>
          </a:xfrm>
          <a:prstGeom prst="rect">
            <a:avLst/>
          </a:prstGeom>
          <a:noFill/>
          <a:ln/>
        </p:spPr>
        <p:txBody>
          <a:bodyPr wrap="square" lIns="0" tIns="0" rIns="0" bIns="0" rtlCol="0" anchor="ctr"/>
          <a:lstStyle/>
          <a:p>
            <a:pPr indent="0" marL="0">
              <a:buNone/>
            </a:pPr>
            <a:r>
              <a:rPr lang="en-US" sz="1200" b="1" dirty="0">
                <a:solidFill>
                  <a:srgbClr val="465A69"/>
                </a:solidFill>
                <a:latin typeface="Calibri" pitchFamily="34" charset="0"/>
                <a:ea typeface="Calibri" pitchFamily="34" charset="-122"/>
                <a:cs typeface="Calibri" pitchFamily="34" charset="-120"/>
              </a:rPr>
              <a:t>Acronyms:  </a:t>
            </a:r>
            <a:pPr indent="0" marL="0">
              <a:buNone/>
            </a:pPr>
            <a:r>
              <a:rPr lang="en-US" sz="1200" dirty="0">
                <a:solidFill>
                  <a:srgbClr val="465A69"/>
                </a:solidFill>
                <a:latin typeface="Calibri" pitchFamily="34" charset="0"/>
                <a:ea typeface="Calibri" pitchFamily="34" charset="-122"/>
                <a:cs typeface="Calibri" pitchFamily="34" charset="-120"/>
              </a:rPr>
              <a:t>T+: time since the first signal;  CRO: contract research organization</a:t>
            </a:r>
            <a:endParaRPr lang="en-US" sz="1200" dirty="0"/>
          </a:p>
        </p:txBody>
      </p:sp>
      <p:sp>
        <p:nvSpPr>
          <p:cNvPr id="46" name="Shape 43"/>
          <p:cNvSpPr/>
          <p:nvPr/>
        </p:nvSpPr>
        <p:spPr>
          <a:xfrm>
            <a:off x="548640" y="6537960"/>
            <a:ext cx="763524" cy="274320"/>
          </a:xfrm>
          <a:prstGeom prst="roundRect">
            <a:avLst>
              <a:gd name="adj" fmla="val 50000"/>
            </a:avLst>
          </a:prstGeom>
          <a:solidFill>
            <a:srgbClr val="E4ECF2"/>
          </a:solidFill>
          <a:ln w="12700">
            <a:solidFill>
              <a:srgbClr val="E4ECF2"/>
            </a:solidFill>
            <a:prstDash val="solid"/>
          </a:ln>
        </p:spPr>
      </p:sp>
      <p:sp>
        <p:nvSpPr>
          <p:cNvPr id="47" name="Text 44"/>
          <p:cNvSpPr txBox="1"/>
          <p:nvPr/>
        </p:nvSpPr>
        <p:spPr>
          <a:xfrm>
            <a:off x="548640" y="6537960"/>
            <a:ext cx="763524" cy="274320"/>
          </a:xfrm>
          <a:prstGeom prst="rect">
            <a:avLst/>
          </a:prstGeom>
          <a:noFill/>
          <a:ln/>
        </p:spPr>
        <p:txBody>
          <a:bodyPr wrap="square" lIns="0" tIns="0" rIns="0" bIns="0" rtlCol="0" anchor="ctr"/>
          <a:lstStyle/>
          <a:p>
            <a:pPr algn="ctr" indent="0" marL="0">
              <a:buNone/>
            </a:pPr>
            <a:r>
              <a:rPr lang="en-US" sz="1200" b="1" dirty="0">
                <a:solidFill>
                  <a:srgbClr val="23405A"/>
                </a:solidFill>
                <a:latin typeface="Calibri" pitchFamily="34" charset="0"/>
                <a:ea typeface="Calibri" pitchFamily="34" charset="-122"/>
                <a:cs typeface="Calibri" pitchFamily="34" charset="-120"/>
              </a:rPr>
              <a:t>Start</a:t>
            </a:r>
            <a:endParaRPr lang="en-US" sz="1200" dirty="0"/>
          </a:p>
        </p:txBody>
      </p:sp>
      <p:pic>
        <p:nvPicPr>
          <p:cNvPr id="48" name="Image 1" descr="preencoded.png">
            <a:hlinkClick r:id="rId3" tooltip="Go to Start" action="ppaction://hlinksldjump"/>
          </p:cNvPr>
          <p:cNvPicPr>
            <a:picLocks noChangeAspect="1"/>
          </p:cNvPicPr>
          <p:nvPr/>
        </p:nvPicPr>
        <p:blipFill>
          <a:blip r:embed="rId2"/>
          <a:stretch>
            <a:fillRect/>
          </a:stretch>
        </p:blipFill>
        <p:spPr>
          <a:xfrm>
            <a:off x="548640" y="6537960"/>
            <a:ext cx="763524" cy="274320"/>
          </a:xfrm>
          <a:prstGeom prst="rect">
            <a:avLst/>
          </a:prstGeom>
        </p:spPr>
      </p:pic>
      <p:sp>
        <p:nvSpPr>
          <p:cNvPr id="49" name="Shape 45"/>
          <p:cNvSpPr/>
          <p:nvPr/>
        </p:nvSpPr>
        <p:spPr>
          <a:xfrm>
            <a:off x="1385316" y="6537960"/>
            <a:ext cx="1197864" cy="274320"/>
          </a:xfrm>
          <a:prstGeom prst="roundRect">
            <a:avLst>
              <a:gd name="adj" fmla="val 50000"/>
            </a:avLst>
          </a:prstGeom>
          <a:solidFill>
            <a:srgbClr val="F1F6FA"/>
          </a:solidFill>
          <a:ln w="12700">
            <a:solidFill>
              <a:srgbClr val="F1F6FA"/>
            </a:solidFill>
            <a:prstDash val="solid"/>
          </a:ln>
        </p:spPr>
      </p:sp>
      <p:sp>
        <p:nvSpPr>
          <p:cNvPr id="50" name="Text 46"/>
          <p:cNvSpPr txBox="1"/>
          <p:nvPr/>
        </p:nvSpPr>
        <p:spPr>
          <a:xfrm>
            <a:off x="1385316" y="6537960"/>
            <a:ext cx="1197864" cy="274320"/>
          </a:xfrm>
          <a:prstGeom prst="rect">
            <a:avLst/>
          </a:prstGeom>
          <a:noFill/>
          <a:ln/>
        </p:spPr>
        <p:txBody>
          <a:bodyPr wrap="square" lIns="0" tIns="0" rIns="0" bIns="0" rtlCol="0" anchor="ctr"/>
          <a:lstStyle/>
          <a:p>
            <a:pPr algn="ctr" indent="0" marL="0">
              <a:buNone/>
            </a:pPr>
            <a:r>
              <a:rPr lang="en-US" sz="1200" b="1" dirty="0">
                <a:solidFill>
                  <a:srgbClr val="3F6E8C"/>
                </a:solidFill>
                <a:latin typeface="Calibri" pitchFamily="34" charset="0"/>
                <a:ea typeface="Calibri" pitchFamily="34" charset="-122"/>
                <a:cs typeface="Calibri" pitchFamily="34" charset="-120"/>
              </a:rPr>
              <a:t>Scenario 1</a:t>
            </a:r>
            <a:endParaRPr lang="en-US" sz="1200" dirty="0"/>
          </a:p>
        </p:txBody>
      </p:sp>
      <p:pic>
        <p:nvPicPr>
          <p:cNvPr id="51" name="Image 2" descr="preencoded.png">
            <a:hlinkClick r:id="rId5" tooltip="Go to Scenario 1" action="ppaction://hlinksldjump"/>
          </p:cNvPr>
          <p:cNvPicPr>
            <a:picLocks noChangeAspect="1"/>
          </p:cNvPicPr>
          <p:nvPr/>
        </p:nvPicPr>
        <p:blipFill>
          <a:blip r:embed="rId4"/>
          <a:stretch>
            <a:fillRect/>
          </a:stretch>
        </p:blipFill>
        <p:spPr>
          <a:xfrm>
            <a:off x="1385316" y="6537960"/>
            <a:ext cx="1197864" cy="274320"/>
          </a:xfrm>
          <a:prstGeom prst="rect">
            <a:avLst/>
          </a:prstGeom>
        </p:spPr>
      </p:pic>
      <p:sp>
        <p:nvSpPr>
          <p:cNvPr id="52" name="Shape 47"/>
          <p:cNvSpPr/>
          <p:nvPr/>
        </p:nvSpPr>
        <p:spPr>
          <a:xfrm>
            <a:off x="2656332" y="6537960"/>
            <a:ext cx="1197864" cy="274320"/>
          </a:xfrm>
          <a:prstGeom prst="roundRect">
            <a:avLst>
              <a:gd name="adj" fmla="val 50000"/>
            </a:avLst>
          </a:prstGeom>
          <a:solidFill>
            <a:srgbClr val="F1F8F3"/>
          </a:solidFill>
          <a:ln w="12700">
            <a:solidFill>
              <a:srgbClr val="F1F8F3"/>
            </a:solidFill>
            <a:prstDash val="solid"/>
          </a:ln>
        </p:spPr>
      </p:sp>
      <p:sp>
        <p:nvSpPr>
          <p:cNvPr id="53" name="Text 48"/>
          <p:cNvSpPr txBox="1"/>
          <p:nvPr/>
        </p:nvSpPr>
        <p:spPr>
          <a:xfrm>
            <a:off x="2656332" y="6537960"/>
            <a:ext cx="1197864" cy="274320"/>
          </a:xfrm>
          <a:prstGeom prst="rect">
            <a:avLst/>
          </a:prstGeom>
          <a:noFill/>
          <a:ln/>
        </p:spPr>
        <p:txBody>
          <a:bodyPr wrap="square" lIns="0" tIns="0" rIns="0" bIns="0" rtlCol="0" anchor="ctr"/>
          <a:lstStyle/>
          <a:p>
            <a:pPr algn="ctr" indent="0" marL="0">
              <a:buNone/>
            </a:pPr>
            <a:r>
              <a:rPr lang="en-US" sz="1200" b="1" dirty="0">
                <a:solidFill>
                  <a:srgbClr val="4C8068"/>
                </a:solidFill>
                <a:latin typeface="Calibri" pitchFamily="34" charset="0"/>
                <a:ea typeface="Calibri" pitchFamily="34" charset="-122"/>
                <a:cs typeface="Calibri" pitchFamily="34" charset="-120"/>
              </a:rPr>
              <a:t>Scenario 2</a:t>
            </a:r>
            <a:endParaRPr lang="en-US" sz="1200" dirty="0"/>
          </a:p>
        </p:txBody>
      </p:sp>
      <p:pic>
        <p:nvPicPr>
          <p:cNvPr id="54" name="Image 3" descr="preencoded.png">
            <a:hlinkClick r:id="rId7" tooltip="Go to Scenario 2" action="ppaction://hlinksldjump"/>
          </p:cNvPr>
          <p:cNvPicPr>
            <a:picLocks noChangeAspect="1"/>
          </p:cNvPicPr>
          <p:nvPr/>
        </p:nvPicPr>
        <p:blipFill>
          <a:blip r:embed="rId6"/>
          <a:stretch>
            <a:fillRect/>
          </a:stretch>
        </p:blipFill>
        <p:spPr>
          <a:xfrm>
            <a:off x="2656332" y="6537960"/>
            <a:ext cx="1197864" cy="274320"/>
          </a:xfrm>
          <a:prstGeom prst="rect">
            <a:avLst/>
          </a:prstGeom>
        </p:spPr>
      </p:pic>
      <p:sp>
        <p:nvSpPr>
          <p:cNvPr id="55" name="Shape 49"/>
          <p:cNvSpPr/>
          <p:nvPr/>
        </p:nvSpPr>
        <p:spPr>
          <a:xfrm>
            <a:off x="3927348" y="6537960"/>
            <a:ext cx="1197864" cy="274320"/>
          </a:xfrm>
          <a:prstGeom prst="roundRect">
            <a:avLst>
              <a:gd name="adj" fmla="val 50000"/>
            </a:avLst>
          </a:prstGeom>
          <a:solidFill>
            <a:srgbClr val="6E5E94"/>
          </a:solidFill>
          <a:ln w="12700">
            <a:solidFill>
              <a:srgbClr val="6E5E94"/>
            </a:solidFill>
            <a:prstDash val="solid"/>
          </a:ln>
        </p:spPr>
      </p:sp>
      <p:sp>
        <p:nvSpPr>
          <p:cNvPr id="56" name="Text 50"/>
          <p:cNvSpPr txBox="1"/>
          <p:nvPr/>
        </p:nvSpPr>
        <p:spPr>
          <a:xfrm>
            <a:off x="3927348" y="6537960"/>
            <a:ext cx="1197864"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Scenario 3</a:t>
            </a:r>
            <a:endParaRPr lang="en-US" sz="1200" dirty="0"/>
          </a:p>
        </p:txBody>
      </p:sp>
      <p:pic>
        <p:nvPicPr>
          <p:cNvPr id="57" name="Image 4" descr="preencoded.png">
            <a:hlinkClick r:id="rId9" tooltip="Go to Scenario 3" action="ppaction://hlinksldjump"/>
          </p:cNvPr>
          <p:cNvPicPr>
            <a:picLocks noChangeAspect="1"/>
          </p:cNvPicPr>
          <p:nvPr/>
        </p:nvPicPr>
        <p:blipFill>
          <a:blip r:embed="rId8"/>
          <a:stretch>
            <a:fillRect/>
          </a:stretch>
        </p:blipFill>
        <p:spPr>
          <a:xfrm>
            <a:off x="3927348" y="6537960"/>
            <a:ext cx="1197864" cy="274320"/>
          </a:xfrm>
          <a:prstGeom prst="rect">
            <a:avLst/>
          </a:prstGeom>
        </p:spPr>
      </p:pic>
      <p:sp>
        <p:nvSpPr>
          <p:cNvPr id="58" name="Shape 51"/>
          <p:cNvSpPr/>
          <p:nvPr/>
        </p:nvSpPr>
        <p:spPr>
          <a:xfrm>
            <a:off x="5198364" y="6537960"/>
            <a:ext cx="937260" cy="274320"/>
          </a:xfrm>
          <a:prstGeom prst="roundRect">
            <a:avLst>
              <a:gd name="adj" fmla="val 50000"/>
            </a:avLst>
          </a:prstGeom>
          <a:solidFill>
            <a:srgbClr val="E4ECF2"/>
          </a:solidFill>
          <a:ln w="12700">
            <a:solidFill>
              <a:srgbClr val="E4ECF2"/>
            </a:solidFill>
            <a:prstDash val="solid"/>
          </a:ln>
        </p:spPr>
      </p:sp>
      <p:sp>
        <p:nvSpPr>
          <p:cNvPr id="59" name="Text 52"/>
          <p:cNvSpPr txBox="1"/>
          <p:nvPr/>
        </p:nvSpPr>
        <p:spPr>
          <a:xfrm>
            <a:off x="5198364" y="6537960"/>
            <a:ext cx="937260" cy="274320"/>
          </a:xfrm>
          <a:prstGeom prst="rect">
            <a:avLst/>
          </a:prstGeom>
          <a:noFill/>
          <a:ln/>
        </p:spPr>
        <p:txBody>
          <a:bodyPr wrap="square" lIns="0" tIns="0" rIns="0" bIns="0" rtlCol="0" anchor="ctr"/>
          <a:lstStyle/>
          <a:p>
            <a:pPr algn="ctr" indent="0" marL="0">
              <a:buNone/>
            </a:pPr>
            <a:r>
              <a:rPr lang="en-US" sz="1200" b="1" dirty="0">
                <a:solidFill>
                  <a:srgbClr val="23405A"/>
                </a:solidFill>
                <a:latin typeface="Calibri" pitchFamily="34" charset="0"/>
                <a:ea typeface="Calibri" pitchFamily="34" charset="-122"/>
                <a:cs typeface="Calibri" pitchFamily="34" charset="-120"/>
              </a:rPr>
              <a:t>Closing</a:t>
            </a:r>
            <a:endParaRPr lang="en-US" sz="1200" dirty="0"/>
          </a:p>
        </p:txBody>
      </p:sp>
      <p:pic>
        <p:nvPicPr>
          <p:cNvPr id="60" name="Image 5" descr="preencoded.png">
            <a:hlinkClick r:id="rId11" tooltip="Go to Closing" action="ppaction://hlinksldjump"/>
          </p:cNvPr>
          <p:cNvPicPr>
            <a:picLocks noChangeAspect="1"/>
          </p:cNvPicPr>
          <p:nvPr/>
        </p:nvPicPr>
        <p:blipFill>
          <a:blip r:embed="rId10"/>
          <a:stretch>
            <a:fillRect/>
          </a:stretch>
        </p:blipFill>
        <p:spPr>
          <a:xfrm>
            <a:off x="5198364" y="6537960"/>
            <a:ext cx="937260" cy="274320"/>
          </a:xfrm>
          <a:prstGeom prst="rect">
            <a:avLst/>
          </a:prstGeom>
        </p:spPr>
      </p:pic>
      <p:sp>
        <p:nvSpPr>
          <p:cNvPr id="61" name="Text 53"/>
          <p:cNvSpPr txBox="1"/>
          <p:nvPr/>
        </p:nvSpPr>
        <p:spPr>
          <a:xfrm>
            <a:off x="11277295" y="6537960"/>
            <a:ext cx="365760" cy="274320"/>
          </a:xfrm>
          <a:prstGeom prst="rect">
            <a:avLst/>
          </a:prstGeom>
          <a:noFill/>
          <a:ln/>
        </p:spPr>
        <p:txBody>
          <a:bodyPr wrap="square" lIns="0" tIns="0" rIns="0" bIns="0" rtlCol="0" anchor="ctr"/>
          <a:lstStyle/>
          <a:p>
            <a:pPr algn="r" indent="0" marL="0">
              <a:buNone/>
            </a:pPr>
            <a:r>
              <a:rPr lang="en-US" sz="1200" dirty="0">
                <a:solidFill>
                  <a:srgbClr val="465A69"/>
                </a:solidFill>
                <a:latin typeface="Calibri" pitchFamily="34" charset="0"/>
                <a:ea typeface="Calibri" pitchFamily="34" charset="-122"/>
                <a:cs typeface="Calibri" pitchFamily="34" charset="-120"/>
              </a:rPr>
              <a:t>42</a:t>
            </a:r>
            <a:endParaRPr lang="en-US" sz="12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EEEAF5"/>
        </a:solidFill>
      </p:bgPr>
    </p:bg>
    <p:spTree>
      <p:nvGrpSpPr>
        <p:cNvPr id="1" name=""/>
        <p:cNvGrpSpPr/>
        <p:nvPr/>
      </p:nvGrpSpPr>
      <p:grpSpPr>
        <a:xfrm>
          <a:off x="0" y="0"/>
          <a:ext cx="0" cy="0"/>
          <a:chOff x="0" y="0"/>
          <a:chExt cx="0" cy="0"/>
        </a:xfrm>
      </p:grpSpPr>
      <p:sp>
        <p:nvSpPr>
          <p:cNvPr id="2" name="Shape 0"/>
          <p:cNvSpPr/>
          <p:nvPr/>
        </p:nvSpPr>
        <p:spPr>
          <a:xfrm>
            <a:off x="548640" y="347472"/>
            <a:ext cx="3008376" cy="329184"/>
          </a:xfrm>
          <a:prstGeom prst="roundRect">
            <a:avLst>
              <a:gd name="adj" fmla="val 50000"/>
            </a:avLst>
          </a:prstGeom>
          <a:solidFill>
            <a:srgbClr val="F6F3FA"/>
          </a:solidFill>
          <a:ln w="12700">
            <a:solidFill>
              <a:srgbClr val="F6F3FA"/>
            </a:solidFill>
            <a:prstDash val="solid"/>
          </a:ln>
        </p:spPr>
      </p:sp>
      <p:sp>
        <p:nvSpPr>
          <p:cNvPr id="3" name="Text 1"/>
          <p:cNvSpPr txBox="1"/>
          <p:nvPr/>
        </p:nvSpPr>
        <p:spPr>
          <a:xfrm>
            <a:off x="548640" y="347472"/>
            <a:ext cx="3008376" cy="329184"/>
          </a:xfrm>
          <a:prstGeom prst="rect">
            <a:avLst/>
          </a:prstGeom>
          <a:noFill/>
          <a:ln/>
        </p:spPr>
        <p:txBody>
          <a:bodyPr wrap="square" lIns="0" tIns="0" rIns="0" bIns="0" rtlCol="0" anchor="ctr"/>
          <a:lstStyle/>
          <a:p>
            <a:pPr algn="ctr" indent="0" marL="0">
              <a:buNone/>
            </a:pPr>
            <a:r>
              <a:rPr lang="en-US" sz="1200" b="1" dirty="0">
                <a:solidFill>
                  <a:srgbClr val="6E5E94"/>
                </a:solidFill>
                <a:latin typeface="Calibri" pitchFamily="34" charset="0"/>
                <a:ea typeface="Calibri" pitchFamily="34" charset="-122"/>
                <a:cs typeface="Calibri" pitchFamily="34" charset="-120"/>
              </a:rPr>
              <a:t>Scenario 3: Business Continuity</a:t>
            </a:r>
            <a:endParaRPr lang="en-US" sz="1200" dirty="0"/>
          </a:p>
        </p:txBody>
      </p:sp>
      <p:sp>
        <p:nvSpPr>
          <p:cNvPr id="4" name="Text 2"/>
          <p:cNvSpPr txBox="1"/>
          <p:nvPr/>
        </p:nvSpPr>
        <p:spPr>
          <a:xfrm>
            <a:off x="548640" y="749808"/>
            <a:ext cx="11064240" cy="640080"/>
          </a:xfrm>
          <a:prstGeom prst="rect">
            <a:avLst/>
          </a:prstGeom>
          <a:noFill/>
          <a:ln/>
        </p:spPr>
        <p:txBody>
          <a:bodyPr wrap="square" lIns="0" tIns="0" rIns="0" bIns="0" rtlCol="0" anchor="ctr"/>
          <a:lstStyle/>
          <a:p>
            <a:pPr indent="0" marL="0">
              <a:buNone/>
            </a:pPr>
            <a:r>
              <a:rPr lang="en-US" sz="2800" b="1" dirty="0">
                <a:solidFill>
                  <a:srgbClr val="23405A"/>
                </a:solidFill>
                <a:latin typeface="Calibri" pitchFamily="34" charset="0"/>
                <a:ea typeface="Calibri" pitchFamily="34" charset="-122"/>
                <a:cs typeface="Calibri" pitchFamily="34" charset="-120"/>
              </a:rPr>
              <a:t>Decide: what would you actually do?</a:t>
            </a:r>
            <a:endParaRPr lang="en-US" sz="2800" dirty="0"/>
          </a:p>
        </p:txBody>
      </p:sp>
      <p:sp>
        <p:nvSpPr>
          <p:cNvPr id="5" name="Shape 3"/>
          <p:cNvSpPr/>
          <p:nvPr/>
        </p:nvSpPr>
        <p:spPr>
          <a:xfrm>
            <a:off x="10705795" y="347472"/>
            <a:ext cx="937260" cy="329184"/>
          </a:xfrm>
          <a:prstGeom prst="roundRect">
            <a:avLst>
              <a:gd name="adj" fmla="val 50000"/>
            </a:avLst>
          </a:prstGeom>
          <a:solidFill>
            <a:srgbClr val="FFFFFF"/>
          </a:solidFill>
          <a:ln w="12700">
            <a:solidFill>
              <a:srgbClr val="FFFFFF"/>
            </a:solidFill>
            <a:prstDash val="solid"/>
          </a:ln>
        </p:spPr>
      </p:sp>
      <p:sp>
        <p:nvSpPr>
          <p:cNvPr id="6" name="Text 4"/>
          <p:cNvSpPr txBox="1"/>
          <p:nvPr/>
        </p:nvSpPr>
        <p:spPr>
          <a:xfrm>
            <a:off x="10705795" y="347472"/>
            <a:ext cx="937260" cy="329184"/>
          </a:xfrm>
          <a:prstGeom prst="rect">
            <a:avLst/>
          </a:prstGeom>
          <a:noFill/>
          <a:ln/>
        </p:spPr>
        <p:txBody>
          <a:bodyPr wrap="square" lIns="0" tIns="0" rIns="0" bIns="0" rtlCol="0" anchor="ctr"/>
          <a:lstStyle/>
          <a:p>
            <a:pPr algn="ctr" indent="0" marL="0">
              <a:buNone/>
            </a:pPr>
            <a:r>
              <a:rPr lang="en-US" sz="1200" dirty="0">
                <a:solidFill>
                  <a:srgbClr val="465A69"/>
                </a:solidFill>
                <a:latin typeface="Calibri" pitchFamily="34" charset="0"/>
                <a:ea typeface="Calibri" pitchFamily="34" charset="-122"/>
                <a:cs typeface="Calibri" pitchFamily="34" charset="-120"/>
              </a:rPr>
              <a:t>Hotwash</a:t>
            </a:r>
            <a:endParaRPr lang="en-US" sz="1200" dirty="0"/>
          </a:p>
        </p:txBody>
      </p:sp>
      <p:sp>
        <p:nvSpPr>
          <p:cNvPr id="7" name="Shape 5"/>
          <p:cNvSpPr/>
          <p:nvPr/>
        </p:nvSpPr>
        <p:spPr>
          <a:xfrm>
            <a:off x="9608515" y="347472"/>
            <a:ext cx="1024128" cy="329184"/>
          </a:xfrm>
          <a:prstGeom prst="roundRect">
            <a:avLst>
              <a:gd name="adj" fmla="val 50000"/>
            </a:avLst>
          </a:prstGeom>
          <a:solidFill>
            <a:srgbClr val="FFFFFF"/>
          </a:solidFill>
          <a:ln w="12700">
            <a:solidFill>
              <a:srgbClr val="FFFFFF"/>
            </a:solidFill>
            <a:prstDash val="solid"/>
          </a:ln>
        </p:spPr>
      </p:sp>
      <p:sp>
        <p:nvSpPr>
          <p:cNvPr id="8" name="Text 6"/>
          <p:cNvSpPr txBox="1"/>
          <p:nvPr/>
        </p:nvSpPr>
        <p:spPr>
          <a:xfrm>
            <a:off x="9608515" y="347472"/>
            <a:ext cx="1024128" cy="329184"/>
          </a:xfrm>
          <a:prstGeom prst="rect">
            <a:avLst/>
          </a:prstGeom>
          <a:noFill/>
          <a:ln/>
        </p:spPr>
        <p:txBody>
          <a:bodyPr wrap="square" lIns="0" tIns="0" rIns="0" bIns="0" rtlCol="0" anchor="ctr"/>
          <a:lstStyle/>
          <a:p>
            <a:pPr algn="ctr" indent="0" marL="0">
              <a:buNone/>
            </a:pPr>
            <a:r>
              <a:rPr lang="en-US" sz="1200" dirty="0">
                <a:solidFill>
                  <a:srgbClr val="465A69"/>
                </a:solidFill>
                <a:latin typeface="Calibri" pitchFamily="34" charset="0"/>
                <a:ea typeface="Calibri" pitchFamily="34" charset="-122"/>
                <a:cs typeface="Calibri" pitchFamily="34" charset="-120"/>
              </a:rPr>
              <a:t>Recovery</a:t>
            </a:r>
            <a:endParaRPr lang="en-US" sz="1200" dirty="0"/>
          </a:p>
        </p:txBody>
      </p:sp>
      <p:sp>
        <p:nvSpPr>
          <p:cNvPr id="9" name="Shape 7"/>
          <p:cNvSpPr/>
          <p:nvPr/>
        </p:nvSpPr>
        <p:spPr>
          <a:xfrm>
            <a:off x="8598103" y="347472"/>
            <a:ext cx="937260" cy="329184"/>
          </a:xfrm>
          <a:prstGeom prst="roundRect">
            <a:avLst>
              <a:gd name="adj" fmla="val 50000"/>
            </a:avLst>
          </a:prstGeom>
          <a:solidFill>
            <a:srgbClr val="FFFFFF"/>
          </a:solidFill>
          <a:ln w="12700">
            <a:solidFill>
              <a:srgbClr val="FFFFFF"/>
            </a:solidFill>
            <a:prstDash val="solid"/>
          </a:ln>
        </p:spPr>
      </p:sp>
      <p:sp>
        <p:nvSpPr>
          <p:cNvPr id="10" name="Text 8"/>
          <p:cNvSpPr txBox="1"/>
          <p:nvPr/>
        </p:nvSpPr>
        <p:spPr>
          <a:xfrm>
            <a:off x="8598103" y="347472"/>
            <a:ext cx="937260" cy="329184"/>
          </a:xfrm>
          <a:prstGeom prst="rect">
            <a:avLst/>
          </a:prstGeom>
          <a:noFill/>
          <a:ln/>
        </p:spPr>
        <p:txBody>
          <a:bodyPr wrap="square" lIns="0" tIns="0" rIns="0" bIns="0" rtlCol="0" anchor="ctr"/>
          <a:lstStyle/>
          <a:p>
            <a:pPr algn="ctr" indent="0" marL="0">
              <a:buNone/>
            </a:pPr>
            <a:r>
              <a:rPr lang="en-US" sz="1200" dirty="0">
                <a:solidFill>
                  <a:srgbClr val="465A69"/>
                </a:solidFill>
                <a:latin typeface="Calibri" pitchFamily="34" charset="0"/>
                <a:ea typeface="Calibri" pitchFamily="34" charset="-122"/>
                <a:cs typeface="Calibri" pitchFamily="34" charset="-120"/>
              </a:rPr>
              <a:t>Injects</a:t>
            </a:r>
            <a:endParaRPr lang="en-US" sz="1200" dirty="0"/>
          </a:p>
        </p:txBody>
      </p:sp>
      <p:sp>
        <p:nvSpPr>
          <p:cNvPr id="11" name="Shape 9"/>
          <p:cNvSpPr/>
          <p:nvPr/>
        </p:nvSpPr>
        <p:spPr>
          <a:xfrm>
            <a:off x="7674559" y="347472"/>
            <a:ext cx="850392" cy="329184"/>
          </a:xfrm>
          <a:prstGeom prst="roundRect">
            <a:avLst>
              <a:gd name="adj" fmla="val 50000"/>
            </a:avLst>
          </a:prstGeom>
          <a:solidFill>
            <a:srgbClr val="6E5E94"/>
          </a:solidFill>
          <a:ln w="12700">
            <a:solidFill>
              <a:srgbClr val="6E5E94"/>
            </a:solidFill>
            <a:prstDash val="solid"/>
          </a:ln>
        </p:spPr>
      </p:sp>
      <p:sp>
        <p:nvSpPr>
          <p:cNvPr id="12" name="Text 10"/>
          <p:cNvSpPr txBox="1"/>
          <p:nvPr/>
        </p:nvSpPr>
        <p:spPr>
          <a:xfrm>
            <a:off x="7674559" y="347472"/>
            <a:ext cx="850392"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Decide</a:t>
            </a:r>
            <a:endParaRPr lang="en-US" sz="1200" dirty="0"/>
          </a:p>
        </p:txBody>
      </p:sp>
      <p:sp>
        <p:nvSpPr>
          <p:cNvPr id="13" name="Shape 11"/>
          <p:cNvSpPr/>
          <p:nvPr/>
        </p:nvSpPr>
        <p:spPr>
          <a:xfrm>
            <a:off x="7011619" y="347472"/>
            <a:ext cx="589788" cy="329184"/>
          </a:xfrm>
          <a:prstGeom prst="roundRect">
            <a:avLst>
              <a:gd name="adj" fmla="val 50000"/>
            </a:avLst>
          </a:prstGeom>
          <a:solidFill>
            <a:srgbClr val="F6F3FA"/>
          </a:solidFill>
          <a:ln w="12700">
            <a:solidFill>
              <a:srgbClr val="F6F3FA"/>
            </a:solidFill>
            <a:prstDash val="solid"/>
          </a:ln>
        </p:spPr>
      </p:sp>
      <p:sp>
        <p:nvSpPr>
          <p:cNvPr id="14" name="Text 12"/>
          <p:cNvSpPr txBox="1"/>
          <p:nvPr/>
        </p:nvSpPr>
        <p:spPr>
          <a:xfrm>
            <a:off x="7011619" y="347472"/>
            <a:ext cx="589788" cy="329184"/>
          </a:xfrm>
          <a:prstGeom prst="rect">
            <a:avLst/>
          </a:prstGeom>
          <a:noFill/>
          <a:ln/>
        </p:spPr>
        <p:txBody>
          <a:bodyPr wrap="square" lIns="0" tIns="0" rIns="0" bIns="0" rtlCol="0" anchor="ctr"/>
          <a:lstStyle/>
          <a:p>
            <a:pPr algn="ctr" indent="0" marL="0">
              <a:buNone/>
            </a:pPr>
            <a:r>
              <a:rPr lang="en-US" sz="1200" dirty="0">
                <a:solidFill>
                  <a:srgbClr val="6E5E94"/>
                </a:solidFill>
                <a:latin typeface="Calibri" pitchFamily="34" charset="0"/>
                <a:ea typeface="Calibri" pitchFamily="34" charset="-122"/>
                <a:cs typeface="Calibri" pitchFamily="34" charset="-120"/>
              </a:rPr>
              <a:t>T+0</a:t>
            </a:r>
            <a:endParaRPr lang="en-US" sz="1200" dirty="0"/>
          </a:p>
        </p:txBody>
      </p:sp>
      <p:sp>
        <p:nvSpPr>
          <p:cNvPr id="15" name="Shape 13"/>
          <p:cNvSpPr/>
          <p:nvPr/>
        </p:nvSpPr>
        <p:spPr>
          <a:xfrm>
            <a:off x="5740603" y="347472"/>
            <a:ext cx="1197864" cy="329184"/>
          </a:xfrm>
          <a:prstGeom prst="roundRect">
            <a:avLst>
              <a:gd name="adj" fmla="val 50000"/>
            </a:avLst>
          </a:prstGeom>
          <a:solidFill>
            <a:srgbClr val="F6F3FA"/>
          </a:solidFill>
          <a:ln w="12700">
            <a:solidFill>
              <a:srgbClr val="F6F3FA"/>
            </a:solidFill>
            <a:prstDash val="solid"/>
          </a:ln>
        </p:spPr>
      </p:sp>
      <p:sp>
        <p:nvSpPr>
          <p:cNvPr id="16" name="Text 14"/>
          <p:cNvSpPr txBox="1"/>
          <p:nvPr/>
        </p:nvSpPr>
        <p:spPr>
          <a:xfrm>
            <a:off x="5740603" y="347472"/>
            <a:ext cx="1197864" cy="329184"/>
          </a:xfrm>
          <a:prstGeom prst="rect">
            <a:avLst/>
          </a:prstGeom>
          <a:noFill/>
          <a:ln/>
        </p:spPr>
        <p:txBody>
          <a:bodyPr wrap="square" lIns="0" tIns="0" rIns="0" bIns="0" rtlCol="0" anchor="ctr"/>
          <a:lstStyle/>
          <a:p>
            <a:pPr algn="ctr" indent="0" marL="0">
              <a:buNone/>
            </a:pPr>
            <a:r>
              <a:rPr lang="en-US" sz="1200" dirty="0">
                <a:solidFill>
                  <a:srgbClr val="6E5E94"/>
                </a:solidFill>
                <a:latin typeface="Calibri" pitchFamily="34" charset="0"/>
                <a:ea typeface="Calibri" pitchFamily="34" charset="-122"/>
                <a:cs typeface="Calibri" pitchFamily="34" charset="-120"/>
              </a:rPr>
              <a:t>Background</a:t>
            </a:r>
            <a:endParaRPr lang="en-US" sz="1200" dirty="0"/>
          </a:p>
        </p:txBody>
      </p:sp>
      <p:sp>
        <p:nvSpPr>
          <p:cNvPr id="17" name="Shape 15"/>
          <p:cNvSpPr/>
          <p:nvPr/>
        </p:nvSpPr>
        <p:spPr>
          <a:xfrm>
            <a:off x="548640" y="1600200"/>
            <a:ext cx="2377440" cy="4572000"/>
          </a:xfrm>
          <a:prstGeom prst="roundRect">
            <a:avLst>
              <a:gd name="adj" fmla="val 5385"/>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18" name="Text 16"/>
          <p:cNvSpPr txBox="1"/>
          <p:nvPr/>
        </p:nvSpPr>
        <p:spPr>
          <a:xfrm>
            <a:off x="822960" y="1783080"/>
            <a:ext cx="1874520" cy="320040"/>
          </a:xfrm>
          <a:prstGeom prst="rect">
            <a:avLst/>
          </a:prstGeom>
          <a:noFill/>
          <a:ln/>
        </p:spPr>
        <p:txBody>
          <a:bodyPr wrap="square" lIns="0" tIns="0" rIns="0" bIns="0" rtlCol="0" anchor="t"/>
          <a:lstStyle/>
          <a:p>
            <a:pPr indent="0" marL="0">
              <a:buNone/>
            </a:pPr>
            <a:r>
              <a:rPr lang="en-US" sz="1400" b="1" dirty="0">
                <a:solidFill>
                  <a:srgbClr val="465A69"/>
                </a:solidFill>
                <a:latin typeface="Calibri" pitchFamily="34" charset="0"/>
                <a:ea typeface="Calibri" pitchFamily="34" charset="-122"/>
                <a:cs typeface="Calibri" pitchFamily="34" charset="-120"/>
              </a:rPr>
              <a:t>Timeline</a:t>
            </a:r>
            <a:endParaRPr lang="en-US" sz="1400" dirty="0"/>
          </a:p>
        </p:txBody>
      </p:sp>
      <p:sp>
        <p:nvSpPr>
          <p:cNvPr id="19" name="Shape 17"/>
          <p:cNvSpPr/>
          <p:nvPr/>
        </p:nvSpPr>
        <p:spPr>
          <a:xfrm>
            <a:off x="905256" y="2551176"/>
            <a:ext cx="0" cy="257338"/>
          </a:xfrm>
          <a:prstGeom prst="line">
            <a:avLst/>
          </a:prstGeom>
          <a:noFill/>
          <a:ln w="19050">
            <a:solidFill>
              <a:srgbClr val="C9D5D2"/>
            </a:solidFill>
            <a:prstDash val="solid"/>
          </a:ln>
        </p:spPr>
      </p:sp>
      <p:sp>
        <p:nvSpPr>
          <p:cNvPr id="20" name="Shape 18"/>
          <p:cNvSpPr/>
          <p:nvPr/>
        </p:nvSpPr>
        <p:spPr>
          <a:xfrm>
            <a:off x="777240" y="2267712"/>
            <a:ext cx="256032" cy="256032"/>
          </a:xfrm>
          <a:prstGeom prst="ellipse">
            <a:avLst/>
          </a:prstGeom>
          <a:solidFill>
            <a:srgbClr val="6E5E94"/>
          </a:solidFill>
          <a:ln w="12700">
            <a:solidFill>
              <a:srgbClr val="6E5E94"/>
            </a:solidFill>
            <a:prstDash val="solid"/>
          </a:ln>
        </p:spPr>
      </p:sp>
      <p:sp>
        <p:nvSpPr>
          <p:cNvPr id="21" name="Text 19"/>
          <p:cNvSpPr txBox="1"/>
          <p:nvPr/>
        </p:nvSpPr>
        <p:spPr>
          <a:xfrm>
            <a:off x="1188720" y="2203704"/>
            <a:ext cx="1645920" cy="568234"/>
          </a:xfrm>
          <a:prstGeom prst="rect">
            <a:avLst/>
          </a:prstGeom>
          <a:noFill/>
          <a:ln/>
        </p:spPr>
        <p:txBody>
          <a:bodyPr wrap="square" lIns="0" tIns="0" rIns="0" bIns="0" rtlCol="0" anchor="t"/>
          <a:lstStyle/>
          <a:p>
            <a:pPr indent="0" marL="0">
              <a:buNone/>
            </a:pPr>
            <a:r>
              <a:rPr lang="en-US" sz="1200" b="1" dirty="0">
                <a:solidFill>
                  <a:srgbClr val="6E5E94"/>
                </a:solidFill>
                <a:latin typeface="Calibri" pitchFamily="34" charset="0"/>
                <a:ea typeface="Calibri" pitchFamily="34" charset="-122"/>
                <a:cs typeface="Calibri" pitchFamily="34" charset="-120"/>
              </a:rPr>
              <a:t>Day 1</a:t>
            </a:r>
            <a:endParaRPr lang="en-US" sz="1200" dirty="0"/>
          </a:p>
          <a:p>
            <a:pPr indent="0" marL="0">
              <a:buNone/>
            </a:pPr>
            <a:r>
              <a:rPr lang="en-US" sz="1200" b="1" dirty="0">
                <a:solidFill>
                  <a:srgbClr val="6E5E94"/>
                </a:solidFill>
                <a:latin typeface="Calibri" pitchFamily="34" charset="0"/>
                <a:ea typeface="Calibri" pitchFamily="34" charset="-122"/>
                <a:cs typeface="Calibri" pitchFamily="34" charset="-120"/>
              </a:rPr>
              <a:t>CRO exchange blocked</a:t>
            </a:r>
            <a:endParaRPr lang="en-US" sz="1200" dirty="0"/>
          </a:p>
        </p:txBody>
      </p:sp>
      <p:sp>
        <p:nvSpPr>
          <p:cNvPr id="22" name="Shape 20"/>
          <p:cNvSpPr/>
          <p:nvPr/>
        </p:nvSpPr>
        <p:spPr>
          <a:xfrm>
            <a:off x="905256" y="3119410"/>
            <a:ext cx="0" cy="257338"/>
          </a:xfrm>
          <a:prstGeom prst="line">
            <a:avLst/>
          </a:prstGeom>
          <a:noFill/>
          <a:ln w="19050">
            <a:solidFill>
              <a:srgbClr val="C9D5D2"/>
            </a:solidFill>
            <a:prstDash val="solid"/>
          </a:ln>
        </p:spPr>
      </p:sp>
      <p:sp>
        <p:nvSpPr>
          <p:cNvPr id="23" name="Shape 21"/>
          <p:cNvSpPr/>
          <p:nvPr/>
        </p:nvSpPr>
        <p:spPr>
          <a:xfrm>
            <a:off x="777240" y="2835946"/>
            <a:ext cx="256032" cy="256032"/>
          </a:xfrm>
          <a:prstGeom prst="ellipse">
            <a:avLst/>
          </a:prstGeom>
          <a:solidFill>
            <a:srgbClr val="FFFFFF"/>
          </a:solidFill>
          <a:ln w="15875">
            <a:solidFill>
              <a:srgbClr val="C9D5D2"/>
            </a:solidFill>
            <a:prstDash val="solid"/>
          </a:ln>
        </p:spPr>
      </p:sp>
      <p:sp>
        <p:nvSpPr>
          <p:cNvPr id="24" name="Shape 22"/>
          <p:cNvSpPr/>
          <p:nvPr/>
        </p:nvSpPr>
        <p:spPr>
          <a:xfrm>
            <a:off x="905256" y="3687645"/>
            <a:ext cx="0" cy="257338"/>
          </a:xfrm>
          <a:prstGeom prst="line">
            <a:avLst/>
          </a:prstGeom>
          <a:noFill/>
          <a:ln w="19050">
            <a:solidFill>
              <a:srgbClr val="C9D5D2"/>
            </a:solidFill>
            <a:prstDash val="solid"/>
          </a:ln>
        </p:spPr>
      </p:sp>
      <p:sp>
        <p:nvSpPr>
          <p:cNvPr id="25" name="Shape 23"/>
          <p:cNvSpPr/>
          <p:nvPr/>
        </p:nvSpPr>
        <p:spPr>
          <a:xfrm>
            <a:off x="777240" y="3404181"/>
            <a:ext cx="256032" cy="256032"/>
          </a:xfrm>
          <a:prstGeom prst="ellipse">
            <a:avLst/>
          </a:prstGeom>
          <a:solidFill>
            <a:srgbClr val="FFFFFF"/>
          </a:solidFill>
          <a:ln w="15875">
            <a:solidFill>
              <a:srgbClr val="C9D5D2"/>
            </a:solidFill>
            <a:prstDash val="solid"/>
          </a:ln>
        </p:spPr>
      </p:sp>
      <p:sp>
        <p:nvSpPr>
          <p:cNvPr id="26" name="Shape 24"/>
          <p:cNvSpPr/>
          <p:nvPr/>
        </p:nvSpPr>
        <p:spPr>
          <a:xfrm>
            <a:off x="905256" y="4255879"/>
            <a:ext cx="0" cy="257338"/>
          </a:xfrm>
          <a:prstGeom prst="line">
            <a:avLst/>
          </a:prstGeom>
          <a:noFill/>
          <a:ln w="19050">
            <a:solidFill>
              <a:srgbClr val="C9D5D2"/>
            </a:solidFill>
            <a:prstDash val="solid"/>
          </a:ln>
        </p:spPr>
      </p:sp>
      <p:sp>
        <p:nvSpPr>
          <p:cNvPr id="27" name="Shape 25"/>
          <p:cNvSpPr/>
          <p:nvPr/>
        </p:nvSpPr>
        <p:spPr>
          <a:xfrm>
            <a:off x="777240" y="3972415"/>
            <a:ext cx="256032" cy="256032"/>
          </a:xfrm>
          <a:prstGeom prst="ellipse">
            <a:avLst/>
          </a:prstGeom>
          <a:solidFill>
            <a:srgbClr val="FFFFFF"/>
          </a:solidFill>
          <a:ln w="15875">
            <a:solidFill>
              <a:srgbClr val="C9D5D2"/>
            </a:solidFill>
            <a:prstDash val="solid"/>
          </a:ln>
        </p:spPr>
      </p:sp>
      <p:sp>
        <p:nvSpPr>
          <p:cNvPr id="28" name="Shape 26"/>
          <p:cNvSpPr/>
          <p:nvPr/>
        </p:nvSpPr>
        <p:spPr>
          <a:xfrm>
            <a:off x="905256" y="4824113"/>
            <a:ext cx="0" cy="257338"/>
          </a:xfrm>
          <a:prstGeom prst="line">
            <a:avLst/>
          </a:prstGeom>
          <a:noFill/>
          <a:ln w="19050">
            <a:solidFill>
              <a:srgbClr val="C9D5D2"/>
            </a:solidFill>
            <a:prstDash val="solid"/>
          </a:ln>
        </p:spPr>
      </p:sp>
      <p:sp>
        <p:nvSpPr>
          <p:cNvPr id="29" name="Shape 27"/>
          <p:cNvSpPr/>
          <p:nvPr/>
        </p:nvSpPr>
        <p:spPr>
          <a:xfrm>
            <a:off x="777240" y="4540649"/>
            <a:ext cx="256032" cy="256032"/>
          </a:xfrm>
          <a:prstGeom prst="ellipse">
            <a:avLst/>
          </a:prstGeom>
          <a:solidFill>
            <a:srgbClr val="FFFFFF"/>
          </a:solidFill>
          <a:ln w="15875">
            <a:solidFill>
              <a:srgbClr val="C9D5D2"/>
            </a:solidFill>
            <a:prstDash val="solid"/>
          </a:ln>
        </p:spPr>
      </p:sp>
      <p:sp>
        <p:nvSpPr>
          <p:cNvPr id="30" name="Shape 28"/>
          <p:cNvSpPr/>
          <p:nvPr/>
        </p:nvSpPr>
        <p:spPr>
          <a:xfrm>
            <a:off x="905256" y="5392347"/>
            <a:ext cx="0" cy="257338"/>
          </a:xfrm>
          <a:prstGeom prst="line">
            <a:avLst/>
          </a:prstGeom>
          <a:noFill/>
          <a:ln w="19050">
            <a:solidFill>
              <a:srgbClr val="C9D5D2"/>
            </a:solidFill>
            <a:prstDash val="solid"/>
          </a:ln>
        </p:spPr>
      </p:sp>
      <p:sp>
        <p:nvSpPr>
          <p:cNvPr id="31" name="Shape 29"/>
          <p:cNvSpPr/>
          <p:nvPr/>
        </p:nvSpPr>
        <p:spPr>
          <a:xfrm>
            <a:off x="777240" y="5108883"/>
            <a:ext cx="256032" cy="256032"/>
          </a:xfrm>
          <a:prstGeom prst="ellipse">
            <a:avLst/>
          </a:prstGeom>
          <a:solidFill>
            <a:srgbClr val="FFFFFF"/>
          </a:solidFill>
          <a:ln w="15875">
            <a:solidFill>
              <a:srgbClr val="C9D5D2"/>
            </a:solidFill>
            <a:prstDash val="solid"/>
          </a:ln>
        </p:spPr>
      </p:sp>
      <p:sp>
        <p:nvSpPr>
          <p:cNvPr id="32" name="Shape 30"/>
          <p:cNvSpPr/>
          <p:nvPr/>
        </p:nvSpPr>
        <p:spPr>
          <a:xfrm>
            <a:off x="777240" y="5677118"/>
            <a:ext cx="256032" cy="256032"/>
          </a:xfrm>
          <a:prstGeom prst="ellipse">
            <a:avLst/>
          </a:prstGeom>
          <a:solidFill>
            <a:srgbClr val="FFFFFF"/>
          </a:solidFill>
          <a:ln w="15875">
            <a:solidFill>
              <a:srgbClr val="C9D5D2"/>
            </a:solidFill>
            <a:prstDash val="solid"/>
          </a:ln>
        </p:spPr>
      </p:sp>
      <p:sp>
        <p:nvSpPr>
          <p:cNvPr id="33" name="Shape 31"/>
          <p:cNvSpPr/>
          <p:nvPr/>
        </p:nvSpPr>
        <p:spPr>
          <a:xfrm>
            <a:off x="3154680" y="1600200"/>
            <a:ext cx="8485632" cy="2971800"/>
          </a:xfrm>
          <a:prstGeom prst="roundRect">
            <a:avLst>
              <a:gd name="adj" fmla="val 4308"/>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pic>
        <p:nvPicPr>
          <p:cNvPr id="34" name="Image 0" descr="preencoded.png">    </p:cNvPr>
          <p:cNvPicPr>
            <a:picLocks noChangeAspect="1"/>
          </p:cNvPicPr>
          <p:nvPr/>
        </p:nvPicPr>
        <p:blipFill>
          <a:blip r:embed="rId1"/>
          <a:stretch>
            <a:fillRect/>
          </a:stretch>
        </p:blipFill>
        <p:spPr>
          <a:xfrm>
            <a:off x="3474720" y="1828800"/>
            <a:ext cx="274320" cy="274320"/>
          </a:xfrm>
          <a:prstGeom prst="rect">
            <a:avLst/>
          </a:prstGeom>
        </p:spPr>
      </p:pic>
      <p:sp>
        <p:nvSpPr>
          <p:cNvPr id="35" name="Text 32"/>
          <p:cNvSpPr txBox="1"/>
          <p:nvPr/>
        </p:nvSpPr>
        <p:spPr>
          <a:xfrm>
            <a:off x="3867912" y="1810512"/>
            <a:ext cx="5486400" cy="320040"/>
          </a:xfrm>
          <a:prstGeom prst="rect">
            <a:avLst/>
          </a:prstGeom>
          <a:noFill/>
          <a:ln/>
        </p:spPr>
        <p:txBody>
          <a:bodyPr wrap="square" lIns="0" tIns="0" rIns="0" bIns="0" rtlCol="0" anchor="t"/>
          <a:lstStyle/>
          <a:p>
            <a:pPr indent="0" marL="0">
              <a:buNone/>
            </a:pPr>
            <a:r>
              <a:rPr lang="en-US" sz="1400" b="1" dirty="0">
                <a:solidFill>
                  <a:srgbClr val="6E5E94"/>
                </a:solidFill>
                <a:latin typeface="Calibri" pitchFamily="34" charset="0"/>
                <a:ea typeface="Calibri" pitchFamily="34" charset="-122"/>
                <a:cs typeface="Calibri" pitchFamily="34" charset="-120"/>
              </a:rPr>
              <a:t>Work through these as a team</a:t>
            </a:r>
            <a:endParaRPr lang="en-US" sz="1400" dirty="0"/>
          </a:p>
        </p:txBody>
      </p:sp>
      <p:sp>
        <p:nvSpPr>
          <p:cNvPr id="36" name="Shape 33"/>
          <p:cNvSpPr/>
          <p:nvPr/>
        </p:nvSpPr>
        <p:spPr>
          <a:xfrm>
            <a:off x="3474720" y="2286000"/>
            <a:ext cx="347472" cy="347472"/>
          </a:xfrm>
          <a:prstGeom prst="ellipse">
            <a:avLst/>
          </a:prstGeom>
          <a:solidFill>
            <a:srgbClr val="F6F3FA"/>
          </a:solidFill>
          <a:ln w="12700">
            <a:solidFill>
              <a:srgbClr val="F6F3FA"/>
            </a:solidFill>
            <a:prstDash val="solid"/>
          </a:ln>
        </p:spPr>
      </p:sp>
      <p:sp>
        <p:nvSpPr>
          <p:cNvPr id="37" name="Text 34"/>
          <p:cNvSpPr txBox="1"/>
          <p:nvPr/>
        </p:nvSpPr>
        <p:spPr>
          <a:xfrm>
            <a:off x="3474720" y="2286000"/>
            <a:ext cx="347472" cy="347472"/>
          </a:xfrm>
          <a:prstGeom prst="rect">
            <a:avLst/>
          </a:prstGeom>
          <a:noFill/>
          <a:ln/>
        </p:spPr>
        <p:txBody>
          <a:bodyPr wrap="square" lIns="0" tIns="0" rIns="0" bIns="0" rtlCol="0" anchor="ctr"/>
          <a:lstStyle/>
          <a:p>
            <a:pPr algn="ctr" indent="0" marL="0">
              <a:buNone/>
            </a:pPr>
            <a:r>
              <a:rPr lang="en-US" sz="1200" b="1" dirty="0">
                <a:solidFill>
                  <a:srgbClr val="6E5E94"/>
                </a:solidFill>
                <a:latin typeface="Calibri" pitchFamily="34" charset="0"/>
                <a:ea typeface="Calibri" pitchFamily="34" charset="-122"/>
                <a:cs typeface="Calibri" pitchFamily="34" charset="-120"/>
              </a:rPr>
              <a:t>1</a:t>
            </a:r>
            <a:endParaRPr lang="en-US" sz="1200" dirty="0"/>
          </a:p>
        </p:txBody>
      </p:sp>
      <p:sp>
        <p:nvSpPr>
          <p:cNvPr id="38" name="Text 35"/>
          <p:cNvSpPr txBox="1"/>
          <p:nvPr/>
        </p:nvSpPr>
        <p:spPr>
          <a:xfrm>
            <a:off x="3950208" y="2286000"/>
            <a:ext cx="3566160" cy="347472"/>
          </a:xfrm>
          <a:prstGeom prst="rect">
            <a:avLst/>
          </a:prstGeom>
          <a:noFill/>
          <a:ln/>
        </p:spPr>
        <p:txBody>
          <a:bodyPr wrap="square" lIns="0" tIns="0" rIns="0" bIns="0" rtlCol="0" anchor="ctr"/>
          <a:lstStyle/>
          <a:p>
            <a:pPr indent="0" marL="0">
              <a:buNone/>
            </a:pPr>
            <a:r>
              <a:rPr lang="en-US" sz="1500" dirty="0">
                <a:solidFill>
                  <a:srgbClr val="1E2E3A"/>
                </a:solidFill>
                <a:latin typeface="Calibri" pitchFamily="34" charset="0"/>
                <a:ea typeface="Calibri" pitchFamily="34" charset="-122"/>
                <a:cs typeface="Calibri" pitchFamily="34" charset="-120"/>
              </a:rPr>
              <a:t>What do you know?</a:t>
            </a:r>
            <a:endParaRPr lang="en-US" sz="1500" dirty="0"/>
          </a:p>
        </p:txBody>
      </p:sp>
      <p:sp>
        <p:nvSpPr>
          <p:cNvPr id="39" name="Shape 36"/>
          <p:cNvSpPr/>
          <p:nvPr/>
        </p:nvSpPr>
        <p:spPr>
          <a:xfrm>
            <a:off x="3474720" y="2834640"/>
            <a:ext cx="347472" cy="347472"/>
          </a:xfrm>
          <a:prstGeom prst="ellipse">
            <a:avLst/>
          </a:prstGeom>
          <a:solidFill>
            <a:srgbClr val="F6F3FA"/>
          </a:solidFill>
          <a:ln w="12700">
            <a:solidFill>
              <a:srgbClr val="F6F3FA"/>
            </a:solidFill>
            <a:prstDash val="solid"/>
          </a:ln>
        </p:spPr>
      </p:sp>
      <p:sp>
        <p:nvSpPr>
          <p:cNvPr id="40" name="Text 37"/>
          <p:cNvSpPr txBox="1"/>
          <p:nvPr/>
        </p:nvSpPr>
        <p:spPr>
          <a:xfrm>
            <a:off x="3474720" y="2834640"/>
            <a:ext cx="347472" cy="347472"/>
          </a:xfrm>
          <a:prstGeom prst="rect">
            <a:avLst/>
          </a:prstGeom>
          <a:noFill/>
          <a:ln/>
        </p:spPr>
        <p:txBody>
          <a:bodyPr wrap="square" lIns="0" tIns="0" rIns="0" bIns="0" rtlCol="0" anchor="ctr"/>
          <a:lstStyle/>
          <a:p>
            <a:pPr algn="ctr" indent="0" marL="0">
              <a:buNone/>
            </a:pPr>
            <a:r>
              <a:rPr lang="en-US" sz="1200" b="1" dirty="0">
                <a:solidFill>
                  <a:srgbClr val="6E5E94"/>
                </a:solidFill>
                <a:latin typeface="Calibri" pitchFamily="34" charset="0"/>
                <a:ea typeface="Calibri" pitchFamily="34" charset="-122"/>
                <a:cs typeface="Calibri" pitchFamily="34" charset="-120"/>
              </a:rPr>
              <a:t>2</a:t>
            </a:r>
            <a:endParaRPr lang="en-US" sz="1200" dirty="0"/>
          </a:p>
        </p:txBody>
      </p:sp>
      <p:sp>
        <p:nvSpPr>
          <p:cNvPr id="41" name="Text 38"/>
          <p:cNvSpPr txBox="1"/>
          <p:nvPr/>
        </p:nvSpPr>
        <p:spPr>
          <a:xfrm>
            <a:off x="3950208" y="2834640"/>
            <a:ext cx="3566160" cy="347472"/>
          </a:xfrm>
          <a:prstGeom prst="rect">
            <a:avLst/>
          </a:prstGeom>
          <a:noFill/>
          <a:ln/>
        </p:spPr>
        <p:txBody>
          <a:bodyPr wrap="square" lIns="0" tIns="0" rIns="0" bIns="0" rtlCol="0" anchor="ctr"/>
          <a:lstStyle/>
          <a:p>
            <a:pPr indent="0" marL="0">
              <a:buNone/>
            </a:pPr>
            <a:r>
              <a:rPr lang="en-US" sz="1500" dirty="0">
                <a:solidFill>
                  <a:srgbClr val="1E2E3A"/>
                </a:solidFill>
                <a:latin typeface="Calibri" pitchFamily="34" charset="0"/>
                <a:ea typeface="Calibri" pitchFamily="34" charset="-122"/>
                <a:cs typeface="Calibri" pitchFamily="34" charset="-120"/>
              </a:rPr>
              <a:t>What don't you know?</a:t>
            </a:r>
            <a:endParaRPr lang="en-US" sz="1500" dirty="0"/>
          </a:p>
        </p:txBody>
      </p:sp>
      <p:sp>
        <p:nvSpPr>
          <p:cNvPr id="42" name="Shape 39"/>
          <p:cNvSpPr/>
          <p:nvPr/>
        </p:nvSpPr>
        <p:spPr>
          <a:xfrm>
            <a:off x="3474720" y="3383280"/>
            <a:ext cx="347472" cy="347472"/>
          </a:xfrm>
          <a:prstGeom prst="ellipse">
            <a:avLst/>
          </a:prstGeom>
          <a:solidFill>
            <a:srgbClr val="F6F3FA"/>
          </a:solidFill>
          <a:ln w="12700">
            <a:solidFill>
              <a:srgbClr val="F6F3FA"/>
            </a:solidFill>
            <a:prstDash val="solid"/>
          </a:ln>
        </p:spPr>
      </p:sp>
      <p:sp>
        <p:nvSpPr>
          <p:cNvPr id="43" name="Text 40"/>
          <p:cNvSpPr txBox="1"/>
          <p:nvPr/>
        </p:nvSpPr>
        <p:spPr>
          <a:xfrm>
            <a:off x="3474720" y="3383280"/>
            <a:ext cx="347472" cy="347472"/>
          </a:xfrm>
          <a:prstGeom prst="rect">
            <a:avLst/>
          </a:prstGeom>
          <a:noFill/>
          <a:ln/>
        </p:spPr>
        <p:txBody>
          <a:bodyPr wrap="square" lIns="0" tIns="0" rIns="0" bIns="0" rtlCol="0" anchor="ctr"/>
          <a:lstStyle/>
          <a:p>
            <a:pPr algn="ctr" indent="0" marL="0">
              <a:buNone/>
            </a:pPr>
            <a:r>
              <a:rPr lang="en-US" sz="1200" b="1" dirty="0">
                <a:solidFill>
                  <a:srgbClr val="6E5E94"/>
                </a:solidFill>
                <a:latin typeface="Calibri" pitchFamily="34" charset="0"/>
                <a:ea typeface="Calibri" pitchFamily="34" charset="-122"/>
                <a:cs typeface="Calibri" pitchFamily="34" charset="-120"/>
              </a:rPr>
              <a:t>3</a:t>
            </a:r>
            <a:endParaRPr lang="en-US" sz="1200" dirty="0"/>
          </a:p>
        </p:txBody>
      </p:sp>
      <p:sp>
        <p:nvSpPr>
          <p:cNvPr id="44" name="Text 41"/>
          <p:cNvSpPr txBox="1"/>
          <p:nvPr/>
        </p:nvSpPr>
        <p:spPr>
          <a:xfrm>
            <a:off x="3950208" y="3383280"/>
            <a:ext cx="3566160" cy="347472"/>
          </a:xfrm>
          <a:prstGeom prst="rect">
            <a:avLst/>
          </a:prstGeom>
          <a:noFill/>
          <a:ln/>
        </p:spPr>
        <p:txBody>
          <a:bodyPr wrap="square" lIns="0" tIns="0" rIns="0" bIns="0" rtlCol="0" anchor="ctr"/>
          <a:lstStyle/>
          <a:p>
            <a:pPr indent="0" marL="0">
              <a:buNone/>
            </a:pPr>
            <a:r>
              <a:rPr lang="en-US" sz="1500" dirty="0">
                <a:solidFill>
                  <a:srgbClr val="1E2E3A"/>
                </a:solidFill>
                <a:latin typeface="Calibri" pitchFamily="34" charset="0"/>
                <a:ea typeface="Calibri" pitchFamily="34" charset="-122"/>
                <a:cs typeface="Calibri" pitchFamily="34" charset="-120"/>
              </a:rPr>
              <a:t>Who owns this?</a:t>
            </a:r>
            <a:endParaRPr lang="en-US" sz="1500" dirty="0"/>
          </a:p>
        </p:txBody>
      </p:sp>
      <p:sp>
        <p:nvSpPr>
          <p:cNvPr id="45" name="Shape 42"/>
          <p:cNvSpPr/>
          <p:nvPr/>
        </p:nvSpPr>
        <p:spPr>
          <a:xfrm>
            <a:off x="3474720" y="3931920"/>
            <a:ext cx="347472" cy="347472"/>
          </a:xfrm>
          <a:prstGeom prst="ellipse">
            <a:avLst/>
          </a:prstGeom>
          <a:solidFill>
            <a:srgbClr val="F6F3FA"/>
          </a:solidFill>
          <a:ln w="12700">
            <a:solidFill>
              <a:srgbClr val="F6F3FA"/>
            </a:solidFill>
            <a:prstDash val="solid"/>
          </a:ln>
        </p:spPr>
      </p:sp>
      <p:sp>
        <p:nvSpPr>
          <p:cNvPr id="46" name="Text 43"/>
          <p:cNvSpPr txBox="1"/>
          <p:nvPr/>
        </p:nvSpPr>
        <p:spPr>
          <a:xfrm>
            <a:off x="3474720" y="3931920"/>
            <a:ext cx="347472" cy="347472"/>
          </a:xfrm>
          <a:prstGeom prst="rect">
            <a:avLst/>
          </a:prstGeom>
          <a:noFill/>
          <a:ln/>
        </p:spPr>
        <p:txBody>
          <a:bodyPr wrap="square" lIns="0" tIns="0" rIns="0" bIns="0" rtlCol="0" anchor="ctr"/>
          <a:lstStyle/>
          <a:p>
            <a:pPr algn="ctr" indent="0" marL="0">
              <a:buNone/>
            </a:pPr>
            <a:r>
              <a:rPr lang="en-US" sz="1200" b="1" dirty="0">
                <a:solidFill>
                  <a:srgbClr val="6E5E94"/>
                </a:solidFill>
                <a:latin typeface="Calibri" pitchFamily="34" charset="0"/>
                <a:ea typeface="Calibri" pitchFamily="34" charset="-122"/>
                <a:cs typeface="Calibri" pitchFamily="34" charset="-120"/>
              </a:rPr>
              <a:t>4</a:t>
            </a:r>
            <a:endParaRPr lang="en-US" sz="1200" dirty="0"/>
          </a:p>
        </p:txBody>
      </p:sp>
      <p:sp>
        <p:nvSpPr>
          <p:cNvPr id="47" name="Text 44"/>
          <p:cNvSpPr txBox="1"/>
          <p:nvPr/>
        </p:nvSpPr>
        <p:spPr>
          <a:xfrm>
            <a:off x="3950208" y="3931920"/>
            <a:ext cx="3566160" cy="347472"/>
          </a:xfrm>
          <a:prstGeom prst="rect">
            <a:avLst/>
          </a:prstGeom>
          <a:noFill/>
          <a:ln/>
        </p:spPr>
        <p:txBody>
          <a:bodyPr wrap="square" lIns="0" tIns="0" rIns="0" bIns="0" rtlCol="0" anchor="ctr"/>
          <a:lstStyle/>
          <a:p>
            <a:pPr indent="0" marL="0">
              <a:buNone/>
            </a:pPr>
            <a:r>
              <a:rPr lang="en-US" sz="1500" dirty="0">
                <a:solidFill>
                  <a:srgbClr val="1E2E3A"/>
                </a:solidFill>
                <a:latin typeface="Calibri" pitchFamily="34" charset="0"/>
                <a:ea typeface="Calibri" pitchFamily="34" charset="-122"/>
                <a:cs typeface="Calibri" pitchFamily="34" charset="-120"/>
              </a:rPr>
              <a:t>How do you validate the problem?</a:t>
            </a:r>
            <a:endParaRPr lang="en-US" sz="1500" dirty="0"/>
          </a:p>
        </p:txBody>
      </p:sp>
      <p:sp>
        <p:nvSpPr>
          <p:cNvPr id="48" name="Shape 45"/>
          <p:cNvSpPr/>
          <p:nvPr/>
        </p:nvSpPr>
        <p:spPr>
          <a:xfrm>
            <a:off x="7589520" y="2286000"/>
            <a:ext cx="347472" cy="347472"/>
          </a:xfrm>
          <a:prstGeom prst="ellipse">
            <a:avLst/>
          </a:prstGeom>
          <a:solidFill>
            <a:srgbClr val="F6F3FA"/>
          </a:solidFill>
          <a:ln w="12700">
            <a:solidFill>
              <a:srgbClr val="F6F3FA"/>
            </a:solidFill>
            <a:prstDash val="solid"/>
          </a:ln>
        </p:spPr>
      </p:sp>
      <p:sp>
        <p:nvSpPr>
          <p:cNvPr id="49" name="Text 46"/>
          <p:cNvSpPr txBox="1"/>
          <p:nvPr/>
        </p:nvSpPr>
        <p:spPr>
          <a:xfrm>
            <a:off x="7589520" y="2286000"/>
            <a:ext cx="347472" cy="347472"/>
          </a:xfrm>
          <a:prstGeom prst="rect">
            <a:avLst/>
          </a:prstGeom>
          <a:noFill/>
          <a:ln/>
        </p:spPr>
        <p:txBody>
          <a:bodyPr wrap="square" lIns="0" tIns="0" rIns="0" bIns="0" rtlCol="0" anchor="ctr"/>
          <a:lstStyle/>
          <a:p>
            <a:pPr algn="ctr" indent="0" marL="0">
              <a:buNone/>
            </a:pPr>
            <a:r>
              <a:rPr lang="en-US" sz="1200" b="1" dirty="0">
                <a:solidFill>
                  <a:srgbClr val="6E5E94"/>
                </a:solidFill>
                <a:latin typeface="Calibri" pitchFamily="34" charset="0"/>
                <a:ea typeface="Calibri" pitchFamily="34" charset="-122"/>
                <a:cs typeface="Calibri" pitchFamily="34" charset="-120"/>
              </a:rPr>
              <a:t>5</a:t>
            </a:r>
            <a:endParaRPr lang="en-US" sz="1200" dirty="0"/>
          </a:p>
        </p:txBody>
      </p:sp>
      <p:sp>
        <p:nvSpPr>
          <p:cNvPr id="50" name="Text 47"/>
          <p:cNvSpPr txBox="1"/>
          <p:nvPr/>
        </p:nvSpPr>
        <p:spPr>
          <a:xfrm>
            <a:off x="8065008" y="2286000"/>
            <a:ext cx="3566160" cy="347472"/>
          </a:xfrm>
          <a:prstGeom prst="rect">
            <a:avLst/>
          </a:prstGeom>
          <a:noFill/>
          <a:ln/>
        </p:spPr>
        <p:txBody>
          <a:bodyPr wrap="square" lIns="0" tIns="0" rIns="0" bIns="0" rtlCol="0" anchor="ctr"/>
          <a:lstStyle/>
          <a:p>
            <a:pPr indent="0" marL="0">
              <a:buNone/>
            </a:pPr>
            <a:r>
              <a:rPr lang="en-US" sz="1500" dirty="0">
                <a:solidFill>
                  <a:srgbClr val="1E2E3A"/>
                </a:solidFill>
                <a:latin typeface="Calibri" pitchFamily="34" charset="0"/>
                <a:ea typeface="Calibri" pitchFamily="34" charset="-122"/>
                <a:cs typeface="Calibri" pitchFamily="34" charset="-120"/>
              </a:rPr>
              <a:t>Who gets notified?</a:t>
            </a:r>
            <a:endParaRPr lang="en-US" sz="1500" dirty="0"/>
          </a:p>
        </p:txBody>
      </p:sp>
      <p:sp>
        <p:nvSpPr>
          <p:cNvPr id="51" name="Shape 48"/>
          <p:cNvSpPr/>
          <p:nvPr/>
        </p:nvSpPr>
        <p:spPr>
          <a:xfrm>
            <a:off x="7589520" y="2834640"/>
            <a:ext cx="347472" cy="347472"/>
          </a:xfrm>
          <a:prstGeom prst="ellipse">
            <a:avLst/>
          </a:prstGeom>
          <a:solidFill>
            <a:srgbClr val="F6F3FA"/>
          </a:solidFill>
          <a:ln w="12700">
            <a:solidFill>
              <a:srgbClr val="F6F3FA"/>
            </a:solidFill>
            <a:prstDash val="solid"/>
          </a:ln>
        </p:spPr>
      </p:sp>
      <p:sp>
        <p:nvSpPr>
          <p:cNvPr id="52" name="Text 49"/>
          <p:cNvSpPr txBox="1"/>
          <p:nvPr/>
        </p:nvSpPr>
        <p:spPr>
          <a:xfrm>
            <a:off x="7589520" y="2834640"/>
            <a:ext cx="347472" cy="347472"/>
          </a:xfrm>
          <a:prstGeom prst="rect">
            <a:avLst/>
          </a:prstGeom>
          <a:noFill/>
          <a:ln/>
        </p:spPr>
        <p:txBody>
          <a:bodyPr wrap="square" lIns="0" tIns="0" rIns="0" bIns="0" rtlCol="0" anchor="ctr"/>
          <a:lstStyle/>
          <a:p>
            <a:pPr algn="ctr" indent="0" marL="0">
              <a:buNone/>
            </a:pPr>
            <a:r>
              <a:rPr lang="en-US" sz="1200" b="1" dirty="0">
                <a:solidFill>
                  <a:srgbClr val="6E5E94"/>
                </a:solidFill>
                <a:latin typeface="Calibri" pitchFamily="34" charset="0"/>
                <a:ea typeface="Calibri" pitchFamily="34" charset="-122"/>
                <a:cs typeface="Calibri" pitchFamily="34" charset="-120"/>
              </a:rPr>
              <a:t>6</a:t>
            </a:r>
            <a:endParaRPr lang="en-US" sz="1200" dirty="0"/>
          </a:p>
        </p:txBody>
      </p:sp>
      <p:sp>
        <p:nvSpPr>
          <p:cNvPr id="53" name="Text 50"/>
          <p:cNvSpPr txBox="1"/>
          <p:nvPr/>
        </p:nvSpPr>
        <p:spPr>
          <a:xfrm>
            <a:off x="8065008" y="2834640"/>
            <a:ext cx="3566160" cy="347472"/>
          </a:xfrm>
          <a:prstGeom prst="rect">
            <a:avLst/>
          </a:prstGeom>
          <a:noFill/>
          <a:ln/>
        </p:spPr>
        <p:txBody>
          <a:bodyPr wrap="square" lIns="0" tIns="0" rIns="0" bIns="0" rtlCol="0" anchor="ctr"/>
          <a:lstStyle/>
          <a:p>
            <a:pPr indent="0" marL="0">
              <a:buNone/>
            </a:pPr>
            <a:r>
              <a:rPr lang="en-US" sz="1500" dirty="0">
                <a:solidFill>
                  <a:srgbClr val="1E2E3A"/>
                </a:solidFill>
                <a:latin typeface="Calibri" pitchFamily="34" charset="0"/>
                <a:ea typeface="Calibri" pitchFamily="34" charset="-122"/>
                <a:cs typeface="Calibri" pitchFamily="34" charset="-120"/>
              </a:rPr>
              <a:t>What systems do you check?</a:t>
            </a:r>
            <a:endParaRPr lang="en-US" sz="1500" dirty="0"/>
          </a:p>
        </p:txBody>
      </p:sp>
      <p:sp>
        <p:nvSpPr>
          <p:cNvPr id="54" name="Shape 51"/>
          <p:cNvSpPr/>
          <p:nvPr/>
        </p:nvSpPr>
        <p:spPr>
          <a:xfrm>
            <a:off x="7589520" y="3383280"/>
            <a:ext cx="347472" cy="347472"/>
          </a:xfrm>
          <a:prstGeom prst="ellipse">
            <a:avLst/>
          </a:prstGeom>
          <a:solidFill>
            <a:srgbClr val="F6F3FA"/>
          </a:solidFill>
          <a:ln w="12700">
            <a:solidFill>
              <a:srgbClr val="F6F3FA"/>
            </a:solidFill>
            <a:prstDash val="solid"/>
          </a:ln>
        </p:spPr>
      </p:sp>
      <p:sp>
        <p:nvSpPr>
          <p:cNvPr id="55" name="Text 52"/>
          <p:cNvSpPr txBox="1"/>
          <p:nvPr/>
        </p:nvSpPr>
        <p:spPr>
          <a:xfrm>
            <a:off x="7589520" y="3383280"/>
            <a:ext cx="347472" cy="347472"/>
          </a:xfrm>
          <a:prstGeom prst="rect">
            <a:avLst/>
          </a:prstGeom>
          <a:noFill/>
          <a:ln/>
        </p:spPr>
        <p:txBody>
          <a:bodyPr wrap="square" lIns="0" tIns="0" rIns="0" bIns="0" rtlCol="0" anchor="ctr"/>
          <a:lstStyle/>
          <a:p>
            <a:pPr algn="ctr" indent="0" marL="0">
              <a:buNone/>
            </a:pPr>
            <a:r>
              <a:rPr lang="en-US" sz="1200" b="1" dirty="0">
                <a:solidFill>
                  <a:srgbClr val="6E5E94"/>
                </a:solidFill>
                <a:latin typeface="Calibri" pitchFamily="34" charset="0"/>
                <a:ea typeface="Calibri" pitchFamily="34" charset="-122"/>
                <a:cs typeface="Calibri" pitchFamily="34" charset="-120"/>
              </a:rPr>
              <a:t>7</a:t>
            </a:r>
            <a:endParaRPr lang="en-US" sz="1200" dirty="0"/>
          </a:p>
        </p:txBody>
      </p:sp>
      <p:sp>
        <p:nvSpPr>
          <p:cNvPr id="56" name="Text 53"/>
          <p:cNvSpPr txBox="1"/>
          <p:nvPr/>
        </p:nvSpPr>
        <p:spPr>
          <a:xfrm>
            <a:off x="8065008" y="3383280"/>
            <a:ext cx="3566160" cy="347472"/>
          </a:xfrm>
          <a:prstGeom prst="rect">
            <a:avLst/>
          </a:prstGeom>
          <a:noFill/>
          <a:ln/>
        </p:spPr>
        <p:txBody>
          <a:bodyPr wrap="square" lIns="0" tIns="0" rIns="0" bIns="0" rtlCol="0" anchor="ctr"/>
          <a:lstStyle/>
          <a:p>
            <a:pPr indent="0" marL="0">
              <a:buNone/>
            </a:pPr>
            <a:r>
              <a:rPr lang="en-US" sz="1500" dirty="0">
                <a:solidFill>
                  <a:srgbClr val="1E2E3A"/>
                </a:solidFill>
                <a:latin typeface="Calibri" pitchFamily="34" charset="0"/>
                <a:ea typeface="Calibri" pitchFamily="34" charset="-122"/>
                <a:cs typeface="Calibri" pitchFamily="34" charset="-120"/>
              </a:rPr>
              <a:t>At what point would you escalate?</a:t>
            </a:r>
            <a:endParaRPr lang="en-US" sz="1500" dirty="0"/>
          </a:p>
        </p:txBody>
      </p:sp>
      <p:sp>
        <p:nvSpPr>
          <p:cNvPr id="57" name="Shape 54"/>
          <p:cNvSpPr/>
          <p:nvPr/>
        </p:nvSpPr>
        <p:spPr>
          <a:xfrm>
            <a:off x="3154680" y="4800600"/>
            <a:ext cx="8485632" cy="1371600"/>
          </a:xfrm>
          <a:prstGeom prst="roundRect">
            <a:avLst>
              <a:gd name="adj" fmla="val 9333"/>
            </a:avLst>
          </a:prstGeom>
          <a:solidFill>
            <a:srgbClr val="F6F3FA"/>
          </a:solidFill>
          <a:ln w="12700">
            <a:solidFill>
              <a:srgbClr val="F6F3FA"/>
            </a:solidFill>
            <a:prstDash val="solid"/>
          </a:ln>
          <a:effectLst>
            <a:outerShdw sx="100000" sy="100000" kx="0" ky="0" algn="bl" rotWithShape="0" blurRad="177800" dist="50800" dir="5400000">
              <a:srgbClr val="1B4965">
                <a:alpha val="16000"/>
              </a:srgbClr>
            </a:outerShdw>
          </a:effectLst>
        </p:spPr>
      </p:sp>
      <p:sp>
        <p:nvSpPr>
          <p:cNvPr id="58" name="Text 55"/>
          <p:cNvSpPr txBox="1"/>
          <p:nvPr/>
        </p:nvSpPr>
        <p:spPr>
          <a:xfrm>
            <a:off x="3474720" y="4937760"/>
            <a:ext cx="2743200" cy="274320"/>
          </a:xfrm>
          <a:prstGeom prst="rect">
            <a:avLst/>
          </a:prstGeom>
          <a:noFill/>
          <a:ln/>
        </p:spPr>
        <p:txBody>
          <a:bodyPr wrap="square" lIns="0" tIns="0" rIns="0" bIns="0" rtlCol="0" anchor="t"/>
          <a:lstStyle/>
          <a:p>
            <a:pPr indent="0" marL="0">
              <a:buNone/>
            </a:pPr>
            <a:r>
              <a:rPr lang="en-US" sz="1400" b="1" dirty="0">
                <a:solidFill>
                  <a:srgbClr val="6E5E94"/>
                </a:solidFill>
                <a:latin typeface="Calibri" pitchFamily="34" charset="0"/>
                <a:ea typeface="Calibri" pitchFamily="34" charset="-122"/>
                <a:cs typeface="Calibri" pitchFamily="34" charset="-120"/>
              </a:rPr>
              <a:t>Record</a:t>
            </a:r>
            <a:endParaRPr lang="en-US" sz="1400" dirty="0"/>
          </a:p>
        </p:txBody>
      </p:sp>
      <p:sp>
        <p:nvSpPr>
          <p:cNvPr id="59" name="Shape 56"/>
          <p:cNvSpPr/>
          <p:nvPr/>
        </p:nvSpPr>
        <p:spPr>
          <a:xfrm>
            <a:off x="3474720" y="5303520"/>
            <a:ext cx="1874520" cy="658368"/>
          </a:xfrm>
          <a:prstGeom prst="roundRect">
            <a:avLst>
              <a:gd name="adj" fmla="val 11111"/>
            </a:avLst>
          </a:prstGeom>
          <a:solidFill>
            <a:srgbClr val="FFFFFF"/>
          </a:solidFill>
          <a:ln w="12700">
            <a:solidFill>
              <a:srgbClr val="FFFFFF"/>
            </a:solidFill>
            <a:prstDash val="solid"/>
          </a:ln>
        </p:spPr>
      </p:sp>
      <p:sp>
        <p:nvSpPr>
          <p:cNvPr id="60" name="Text 57"/>
          <p:cNvSpPr txBox="1"/>
          <p:nvPr/>
        </p:nvSpPr>
        <p:spPr>
          <a:xfrm>
            <a:off x="3584448" y="5349240"/>
            <a:ext cx="1463040" cy="256032"/>
          </a:xfrm>
          <a:prstGeom prst="rect">
            <a:avLst/>
          </a:prstGeom>
          <a:noFill/>
          <a:ln/>
        </p:spPr>
        <p:txBody>
          <a:bodyPr wrap="square" lIns="0" tIns="0" rIns="0" bIns="0" rtlCol="0" anchor="t"/>
          <a:lstStyle/>
          <a:p>
            <a:pPr indent="0" marL="0">
              <a:buNone/>
            </a:pPr>
            <a:r>
              <a:rPr lang="en-US" sz="1200" b="1" dirty="0">
                <a:solidFill>
                  <a:srgbClr val="465A69"/>
                </a:solidFill>
                <a:latin typeface="Calibri" pitchFamily="34" charset="0"/>
                <a:ea typeface="Calibri" pitchFamily="34" charset="-122"/>
                <a:cs typeface="Calibri" pitchFamily="34" charset="-120"/>
              </a:rPr>
              <a:t>Decision</a:t>
            </a:r>
            <a:endParaRPr lang="en-US" sz="1200" dirty="0"/>
          </a:p>
        </p:txBody>
      </p:sp>
      <p:sp>
        <p:nvSpPr>
          <p:cNvPr id="61" name="Shape 58"/>
          <p:cNvSpPr/>
          <p:nvPr/>
        </p:nvSpPr>
        <p:spPr>
          <a:xfrm>
            <a:off x="5486400" y="5303520"/>
            <a:ext cx="1874520" cy="658368"/>
          </a:xfrm>
          <a:prstGeom prst="roundRect">
            <a:avLst>
              <a:gd name="adj" fmla="val 11111"/>
            </a:avLst>
          </a:prstGeom>
          <a:solidFill>
            <a:srgbClr val="FFFFFF"/>
          </a:solidFill>
          <a:ln w="12700">
            <a:solidFill>
              <a:srgbClr val="FFFFFF"/>
            </a:solidFill>
            <a:prstDash val="solid"/>
          </a:ln>
        </p:spPr>
      </p:sp>
      <p:sp>
        <p:nvSpPr>
          <p:cNvPr id="62" name="Text 59"/>
          <p:cNvSpPr txBox="1"/>
          <p:nvPr/>
        </p:nvSpPr>
        <p:spPr>
          <a:xfrm>
            <a:off x="5596128" y="5349240"/>
            <a:ext cx="1463040" cy="256032"/>
          </a:xfrm>
          <a:prstGeom prst="rect">
            <a:avLst/>
          </a:prstGeom>
          <a:noFill/>
          <a:ln/>
        </p:spPr>
        <p:txBody>
          <a:bodyPr wrap="square" lIns="0" tIns="0" rIns="0" bIns="0" rtlCol="0" anchor="t"/>
          <a:lstStyle/>
          <a:p>
            <a:pPr indent="0" marL="0">
              <a:buNone/>
            </a:pPr>
            <a:r>
              <a:rPr lang="en-US" sz="1200" b="1" dirty="0">
                <a:solidFill>
                  <a:srgbClr val="465A69"/>
                </a:solidFill>
                <a:latin typeface="Calibri" pitchFamily="34" charset="0"/>
                <a:ea typeface="Calibri" pitchFamily="34" charset="-122"/>
                <a:cs typeface="Calibri" pitchFamily="34" charset="-120"/>
              </a:rPr>
              <a:t>Owner</a:t>
            </a:r>
            <a:endParaRPr lang="en-US" sz="1200" dirty="0"/>
          </a:p>
        </p:txBody>
      </p:sp>
      <p:sp>
        <p:nvSpPr>
          <p:cNvPr id="63" name="Shape 60"/>
          <p:cNvSpPr/>
          <p:nvPr/>
        </p:nvSpPr>
        <p:spPr>
          <a:xfrm>
            <a:off x="7498080" y="5303520"/>
            <a:ext cx="1874520" cy="658368"/>
          </a:xfrm>
          <a:prstGeom prst="roundRect">
            <a:avLst>
              <a:gd name="adj" fmla="val 11111"/>
            </a:avLst>
          </a:prstGeom>
          <a:solidFill>
            <a:srgbClr val="FFFFFF"/>
          </a:solidFill>
          <a:ln w="12700">
            <a:solidFill>
              <a:srgbClr val="FFFFFF"/>
            </a:solidFill>
            <a:prstDash val="solid"/>
          </a:ln>
        </p:spPr>
      </p:sp>
      <p:sp>
        <p:nvSpPr>
          <p:cNvPr id="64" name="Text 61"/>
          <p:cNvSpPr txBox="1"/>
          <p:nvPr/>
        </p:nvSpPr>
        <p:spPr>
          <a:xfrm>
            <a:off x="7607808" y="5349240"/>
            <a:ext cx="1463040" cy="256032"/>
          </a:xfrm>
          <a:prstGeom prst="rect">
            <a:avLst/>
          </a:prstGeom>
          <a:noFill/>
          <a:ln/>
        </p:spPr>
        <p:txBody>
          <a:bodyPr wrap="square" lIns="0" tIns="0" rIns="0" bIns="0" rtlCol="0" anchor="t"/>
          <a:lstStyle/>
          <a:p>
            <a:pPr indent="0" marL="0">
              <a:buNone/>
            </a:pPr>
            <a:r>
              <a:rPr lang="en-US" sz="1200" b="1" dirty="0">
                <a:solidFill>
                  <a:srgbClr val="465A69"/>
                </a:solidFill>
                <a:latin typeface="Calibri" pitchFamily="34" charset="0"/>
                <a:ea typeface="Calibri" pitchFamily="34" charset="-122"/>
                <a:cs typeface="Calibri" pitchFamily="34" charset="-120"/>
              </a:rPr>
              <a:t>Rationale</a:t>
            </a:r>
            <a:endParaRPr lang="en-US" sz="1200" dirty="0"/>
          </a:p>
        </p:txBody>
      </p:sp>
      <p:sp>
        <p:nvSpPr>
          <p:cNvPr id="65" name="Shape 62"/>
          <p:cNvSpPr/>
          <p:nvPr/>
        </p:nvSpPr>
        <p:spPr>
          <a:xfrm>
            <a:off x="9509760" y="5303520"/>
            <a:ext cx="1874520" cy="658368"/>
          </a:xfrm>
          <a:prstGeom prst="roundRect">
            <a:avLst>
              <a:gd name="adj" fmla="val 11111"/>
            </a:avLst>
          </a:prstGeom>
          <a:solidFill>
            <a:srgbClr val="FFFFFF"/>
          </a:solidFill>
          <a:ln w="12700">
            <a:solidFill>
              <a:srgbClr val="FFFFFF"/>
            </a:solidFill>
            <a:prstDash val="solid"/>
          </a:ln>
        </p:spPr>
      </p:sp>
      <p:sp>
        <p:nvSpPr>
          <p:cNvPr id="66" name="Text 63"/>
          <p:cNvSpPr txBox="1"/>
          <p:nvPr/>
        </p:nvSpPr>
        <p:spPr>
          <a:xfrm>
            <a:off x="9619488" y="5349240"/>
            <a:ext cx="1463040" cy="256032"/>
          </a:xfrm>
          <a:prstGeom prst="rect">
            <a:avLst/>
          </a:prstGeom>
          <a:noFill/>
          <a:ln/>
        </p:spPr>
        <p:txBody>
          <a:bodyPr wrap="square" lIns="0" tIns="0" rIns="0" bIns="0" rtlCol="0" anchor="t"/>
          <a:lstStyle/>
          <a:p>
            <a:pPr indent="0" marL="0">
              <a:buNone/>
            </a:pPr>
            <a:r>
              <a:rPr lang="en-US" sz="1200" b="1" dirty="0">
                <a:solidFill>
                  <a:srgbClr val="465A69"/>
                </a:solidFill>
                <a:latin typeface="Calibri" pitchFamily="34" charset="0"/>
                <a:ea typeface="Calibri" pitchFamily="34" charset="-122"/>
                <a:cs typeface="Calibri" pitchFamily="34" charset="-120"/>
              </a:rPr>
              <a:t>Time</a:t>
            </a:r>
            <a:endParaRPr lang="en-US" sz="1200" dirty="0"/>
          </a:p>
        </p:txBody>
      </p:sp>
      <p:sp>
        <p:nvSpPr>
          <p:cNvPr id="67" name="Text 64"/>
          <p:cNvSpPr txBox="1"/>
          <p:nvPr/>
        </p:nvSpPr>
        <p:spPr>
          <a:xfrm>
            <a:off x="548640" y="6254496"/>
            <a:ext cx="11091672" cy="256032"/>
          </a:xfrm>
          <a:prstGeom prst="rect">
            <a:avLst/>
          </a:prstGeom>
          <a:noFill/>
          <a:ln/>
        </p:spPr>
        <p:txBody>
          <a:bodyPr wrap="square" lIns="0" tIns="0" rIns="0" bIns="0" rtlCol="0" anchor="ctr"/>
          <a:lstStyle/>
          <a:p>
            <a:pPr indent="0" marL="0">
              <a:buNone/>
            </a:pPr>
            <a:r>
              <a:rPr lang="en-US" sz="1200" b="1" dirty="0">
                <a:solidFill>
                  <a:srgbClr val="465A69"/>
                </a:solidFill>
                <a:latin typeface="Calibri" pitchFamily="34" charset="0"/>
                <a:ea typeface="Calibri" pitchFamily="34" charset="-122"/>
                <a:cs typeface="Calibri" pitchFamily="34" charset="-120"/>
              </a:rPr>
              <a:t>Acronyms:  </a:t>
            </a:r>
            <a:pPr indent="0" marL="0">
              <a:buNone/>
            </a:pPr>
            <a:r>
              <a:rPr lang="en-US" sz="1200" dirty="0">
                <a:solidFill>
                  <a:srgbClr val="465A69"/>
                </a:solidFill>
                <a:latin typeface="Calibri" pitchFamily="34" charset="0"/>
                <a:ea typeface="Calibri" pitchFamily="34" charset="-122"/>
                <a:cs typeface="Calibri" pitchFamily="34" charset="-120"/>
              </a:rPr>
              <a:t>T+: time since the first signal;  CRO: contract research organization</a:t>
            </a:r>
            <a:endParaRPr lang="en-US" sz="1200" dirty="0"/>
          </a:p>
        </p:txBody>
      </p:sp>
      <p:sp>
        <p:nvSpPr>
          <p:cNvPr id="68" name="Shape 65"/>
          <p:cNvSpPr/>
          <p:nvPr/>
        </p:nvSpPr>
        <p:spPr>
          <a:xfrm>
            <a:off x="548640" y="6537960"/>
            <a:ext cx="763524" cy="274320"/>
          </a:xfrm>
          <a:prstGeom prst="roundRect">
            <a:avLst>
              <a:gd name="adj" fmla="val 50000"/>
            </a:avLst>
          </a:prstGeom>
          <a:solidFill>
            <a:srgbClr val="E4ECF2"/>
          </a:solidFill>
          <a:ln w="12700">
            <a:solidFill>
              <a:srgbClr val="E4ECF2"/>
            </a:solidFill>
            <a:prstDash val="solid"/>
          </a:ln>
        </p:spPr>
      </p:sp>
      <p:sp>
        <p:nvSpPr>
          <p:cNvPr id="69" name="Text 66"/>
          <p:cNvSpPr txBox="1"/>
          <p:nvPr/>
        </p:nvSpPr>
        <p:spPr>
          <a:xfrm>
            <a:off x="548640" y="6537960"/>
            <a:ext cx="763524" cy="274320"/>
          </a:xfrm>
          <a:prstGeom prst="rect">
            <a:avLst/>
          </a:prstGeom>
          <a:noFill/>
          <a:ln/>
        </p:spPr>
        <p:txBody>
          <a:bodyPr wrap="square" lIns="0" tIns="0" rIns="0" bIns="0" rtlCol="0" anchor="ctr"/>
          <a:lstStyle/>
          <a:p>
            <a:pPr algn="ctr" indent="0" marL="0">
              <a:buNone/>
            </a:pPr>
            <a:r>
              <a:rPr lang="en-US" sz="1200" b="1" dirty="0">
                <a:solidFill>
                  <a:srgbClr val="23405A"/>
                </a:solidFill>
                <a:latin typeface="Calibri" pitchFamily="34" charset="0"/>
                <a:ea typeface="Calibri" pitchFamily="34" charset="-122"/>
                <a:cs typeface="Calibri" pitchFamily="34" charset="-120"/>
              </a:rPr>
              <a:t>Start</a:t>
            </a:r>
            <a:endParaRPr lang="en-US" sz="1200" dirty="0"/>
          </a:p>
        </p:txBody>
      </p:sp>
      <p:pic>
        <p:nvPicPr>
          <p:cNvPr id="70" name="Image 1" descr="preencoded.png">
            <a:hlinkClick r:id="rId3" tooltip="Go to Start" action="ppaction://hlinksldjump"/>
          </p:cNvPr>
          <p:cNvPicPr>
            <a:picLocks noChangeAspect="1"/>
          </p:cNvPicPr>
          <p:nvPr/>
        </p:nvPicPr>
        <p:blipFill>
          <a:blip r:embed="rId2"/>
          <a:stretch>
            <a:fillRect/>
          </a:stretch>
        </p:blipFill>
        <p:spPr>
          <a:xfrm>
            <a:off x="548640" y="6537960"/>
            <a:ext cx="763524" cy="274320"/>
          </a:xfrm>
          <a:prstGeom prst="rect">
            <a:avLst/>
          </a:prstGeom>
        </p:spPr>
      </p:pic>
      <p:sp>
        <p:nvSpPr>
          <p:cNvPr id="71" name="Shape 67"/>
          <p:cNvSpPr/>
          <p:nvPr/>
        </p:nvSpPr>
        <p:spPr>
          <a:xfrm>
            <a:off x="1385316" y="6537960"/>
            <a:ext cx="1197864" cy="274320"/>
          </a:xfrm>
          <a:prstGeom prst="roundRect">
            <a:avLst>
              <a:gd name="adj" fmla="val 50000"/>
            </a:avLst>
          </a:prstGeom>
          <a:solidFill>
            <a:srgbClr val="F1F6FA"/>
          </a:solidFill>
          <a:ln w="12700">
            <a:solidFill>
              <a:srgbClr val="F1F6FA"/>
            </a:solidFill>
            <a:prstDash val="solid"/>
          </a:ln>
        </p:spPr>
      </p:sp>
      <p:sp>
        <p:nvSpPr>
          <p:cNvPr id="72" name="Text 68"/>
          <p:cNvSpPr txBox="1"/>
          <p:nvPr/>
        </p:nvSpPr>
        <p:spPr>
          <a:xfrm>
            <a:off x="1385316" y="6537960"/>
            <a:ext cx="1197864" cy="274320"/>
          </a:xfrm>
          <a:prstGeom prst="rect">
            <a:avLst/>
          </a:prstGeom>
          <a:noFill/>
          <a:ln/>
        </p:spPr>
        <p:txBody>
          <a:bodyPr wrap="square" lIns="0" tIns="0" rIns="0" bIns="0" rtlCol="0" anchor="ctr"/>
          <a:lstStyle/>
          <a:p>
            <a:pPr algn="ctr" indent="0" marL="0">
              <a:buNone/>
            </a:pPr>
            <a:r>
              <a:rPr lang="en-US" sz="1200" b="1" dirty="0">
                <a:solidFill>
                  <a:srgbClr val="3F6E8C"/>
                </a:solidFill>
                <a:latin typeface="Calibri" pitchFamily="34" charset="0"/>
                <a:ea typeface="Calibri" pitchFamily="34" charset="-122"/>
                <a:cs typeface="Calibri" pitchFamily="34" charset="-120"/>
              </a:rPr>
              <a:t>Scenario 1</a:t>
            </a:r>
            <a:endParaRPr lang="en-US" sz="1200" dirty="0"/>
          </a:p>
        </p:txBody>
      </p:sp>
      <p:pic>
        <p:nvPicPr>
          <p:cNvPr id="73" name="Image 2" descr="preencoded.png">
            <a:hlinkClick r:id="rId5" tooltip="Go to Scenario 1" action="ppaction://hlinksldjump"/>
          </p:cNvPr>
          <p:cNvPicPr>
            <a:picLocks noChangeAspect="1"/>
          </p:cNvPicPr>
          <p:nvPr/>
        </p:nvPicPr>
        <p:blipFill>
          <a:blip r:embed="rId4"/>
          <a:stretch>
            <a:fillRect/>
          </a:stretch>
        </p:blipFill>
        <p:spPr>
          <a:xfrm>
            <a:off x="1385316" y="6537960"/>
            <a:ext cx="1197864" cy="274320"/>
          </a:xfrm>
          <a:prstGeom prst="rect">
            <a:avLst/>
          </a:prstGeom>
        </p:spPr>
      </p:pic>
      <p:sp>
        <p:nvSpPr>
          <p:cNvPr id="74" name="Shape 69"/>
          <p:cNvSpPr/>
          <p:nvPr/>
        </p:nvSpPr>
        <p:spPr>
          <a:xfrm>
            <a:off x="2656332" y="6537960"/>
            <a:ext cx="1197864" cy="274320"/>
          </a:xfrm>
          <a:prstGeom prst="roundRect">
            <a:avLst>
              <a:gd name="adj" fmla="val 50000"/>
            </a:avLst>
          </a:prstGeom>
          <a:solidFill>
            <a:srgbClr val="F1F8F3"/>
          </a:solidFill>
          <a:ln w="12700">
            <a:solidFill>
              <a:srgbClr val="F1F8F3"/>
            </a:solidFill>
            <a:prstDash val="solid"/>
          </a:ln>
        </p:spPr>
      </p:sp>
      <p:sp>
        <p:nvSpPr>
          <p:cNvPr id="75" name="Text 70"/>
          <p:cNvSpPr txBox="1"/>
          <p:nvPr/>
        </p:nvSpPr>
        <p:spPr>
          <a:xfrm>
            <a:off x="2656332" y="6537960"/>
            <a:ext cx="1197864" cy="274320"/>
          </a:xfrm>
          <a:prstGeom prst="rect">
            <a:avLst/>
          </a:prstGeom>
          <a:noFill/>
          <a:ln/>
        </p:spPr>
        <p:txBody>
          <a:bodyPr wrap="square" lIns="0" tIns="0" rIns="0" bIns="0" rtlCol="0" anchor="ctr"/>
          <a:lstStyle/>
          <a:p>
            <a:pPr algn="ctr" indent="0" marL="0">
              <a:buNone/>
            </a:pPr>
            <a:r>
              <a:rPr lang="en-US" sz="1200" b="1" dirty="0">
                <a:solidFill>
                  <a:srgbClr val="4C8068"/>
                </a:solidFill>
                <a:latin typeface="Calibri" pitchFamily="34" charset="0"/>
                <a:ea typeface="Calibri" pitchFamily="34" charset="-122"/>
                <a:cs typeface="Calibri" pitchFamily="34" charset="-120"/>
              </a:rPr>
              <a:t>Scenario 2</a:t>
            </a:r>
            <a:endParaRPr lang="en-US" sz="1200" dirty="0"/>
          </a:p>
        </p:txBody>
      </p:sp>
      <p:pic>
        <p:nvPicPr>
          <p:cNvPr id="76" name="Image 3" descr="preencoded.png">
            <a:hlinkClick r:id="rId7" tooltip="Go to Scenario 2" action="ppaction://hlinksldjump"/>
          </p:cNvPr>
          <p:cNvPicPr>
            <a:picLocks noChangeAspect="1"/>
          </p:cNvPicPr>
          <p:nvPr/>
        </p:nvPicPr>
        <p:blipFill>
          <a:blip r:embed="rId6"/>
          <a:stretch>
            <a:fillRect/>
          </a:stretch>
        </p:blipFill>
        <p:spPr>
          <a:xfrm>
            <a:off x="2656332" y="6537960"/>
            <a:ext cx="1197864" cy="274320"/>
          </a:xfrm>
          <a:prstGeom prst="rect">
            <a:avLst/>
          </a:prstGeom>
        </p:spPr>
      </p:pic>
      <p:sp>
        <p:nvSpPr>
          <p:cNvPr id="77" name="Shape 71"/>
          <p:cNvSpPr/>
          <p:nvPr/>
        </p:nvSpPr>
        <p:spPr>
          <a:xfrm>
            <a:off x="3927348" y="6537960"/>
            <a:ext cx="1197864" cy="274320"/>
          </a:xfrm>
          <a:prstGeom prst="roundRect">
            <a:avLst>
              <a:gd name="adj" fmla="val 50000"/>
            </a:avLst>
          </a:prstGeom>
          <a:solidFill>
            <a:srgbClr val="6E5E94"/>
          </a:solidFill>
          <a:ln w="12700">
            <a:solidFill>
              <a:srgbClr val="6E5E94"/>
            </a:solidFill>
            <a:prstDash val="solid"/>
          </a:ln>
        </p:spPr>
      </p:sp>
      <p:sp>
        <p:nvSpPr>
          <p:cNvPr id="78" name="Text 72"/>
          <p:cNvSpPr txBox="1"/>
          <p:nvPr/>
        </p:nvSpPr>
        <p:spPr>
          <a:xfrm>
            <a:off x="3927348" y="6537960"/>
            <a:ext cx="1197864"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Scenario 3</a:t>
            </a:r>
            <a:endParaRPr lang="en-US" sz="1200" dirty="0"/>
          </a:p>
        </p:txBody>
      </p:sp>
      <p:pic>
        <p:nvPicPr>
          <p:cNvPr id="79" name="Image 4" descr="preencoded.png">
            <a:hlinkClick r:id="rId9" tooltip="Go to Scenario 3" action="ppaction://hlinksldjump"/>
          </p:cNvPr>
          <p:cNvPicPr>
            <a:picLocks noChangeAspect="1"/>
          </p:cNvPicPr>
          <p:nvPr/>
        </p:nvPicPr>
        <p:blipFill>
          <a:blip r:embed="rId8"/>
          <a:stretch>
            <a:fillRect/>
          </a:stretch>
        </p:blipFill>
        <p:spPr>
          <a:xfrm>
            <a:off x="3927348" y="6537960"/>
            <a:ext cx="1197864" cy="274320"/>
          </a:xfrm>
          <a:prstGeom prst="rect">
            <a:avLst/>
          </a:prstGeom>
        </p:spPr>
      </p:pic>
      <p:sp>
        <p:nvSpPr>
          <p:cNvPr id="80" name="Shape 73"/>
          <p:cNvSpPr/>
          <p:nvPr/>
        </p:nvSpPr>
        <p:spPr>
          <a:xfrm>
            <a:off x="5198364" y="6537960"/>
            <a:ext cx="937260" cy="274320"/>
          </a:xfrm>
          <a:prstGeom prst="roundRect">
            <a:avLst>
              <a:gd name="adj" fmla="val 50000"/>
            </a:avLst>
          </a:prstGeom>
          <a:solidFill>
            <a:srgbClr val="E4ECF2"/>
          </a:solidFill>
          <a:ln w="12700">
            <a:solidFill>
              <a:srgbClr val="E4ECF2"/>
            </a:solidFill>
            <a:prstDash val="solid"/>
          </a:ln>
        </p:spPr>
      </p:sp>
      <p:sp>
        <p:nvSpPr>
          <p:cNvPr id="81" name="Text 74"/>
          <p:cNvSpPr txBox="1"/>
          <p:nvPr/>
        </p:nvSpPr>
        <p:spPr>
          <a:xfrm>
            <a:off x="5198364" y="6537960"/>
            <a:ext cx="937260" cy="274320"/>
          </a:xfrm>
          <a:prstGeom prst="rect">
            <a:avLst/>
          </a:prstGeom>
          <a:noFill/>
          <a:ln/>
        </p:spPr>
        <p:txBody>
          <a:bodyPr wrap="square" lIns="0" tIns="0" rIns="0" bIns="0" rtlCol="0" anchor="ctr"/>
          <a:lstStyle/>
          <a:p>
            <a:pPr algn="ctr" indent="0" marL="0">
              <a:buNone/>
            </a:pPr>
            <a:r>
              <a:rPr lang="en-US" sz="1200" b="1" dirty="0">
                <a:solidFill>
                  <a:srgbClr val="23405A"/>
                </a:solidFill>
                <a:latin typeface="Calibri" pitchFamily="34" charset="0"/>
                <a:ea typeface="Calibri" pitchFamily="34" charset="-122"/>
                <a:cs typeface="Calibri" pitchFamily="34" charset="-120"/>
              </a:rPr>
              <a:t>Closing</a:t>
            </a:r>
            <a:endParaRPr lang="en-US" sz="1200" dirty="0"/>
          </a:p>
        </p:txBody>
      </p:sp>
      <p:pic>
        <p:nvPicPr>
          <p:cNvPr id="82" name="Image 5" descr="preencoded.png">
            <a:hlinkClick r:id="rId11" tooltip="Go to Closing" action="ppaction://hlinksldjump"/>
          </p:cNvPr>
          <p:cNvPicPr>
            <a:picLocks noChangeAspect="1"/>
          </p:cNvPicPr>
          <p:nvPr/>
        </p:nvPicPr>
        <p:blipFill>
          <a:blip r:embed="rId10"/>
          <a:stretch>
            <a:fillRect/>
          </a:stretch>
        </p:blipFill>
        <p:spPr>
          <a:xfrm>
            <a:off x="5198364" y="6537960"/>
            <a:ext cx="937260" cy="274320"/>
          </a:xfrm>
          <a:prstGeom prst="rect">
            <a:avLst/>
          </a:prstGeom>
        </p:spPr>
      </p:pic>
      <p:sp>
        <p:nvSpPr>
          <p:cNvPr id="83" name="Text 75"/>
          <p:cNvSpPr txBox="1"/>
          <p:nvPr/>
        </p:nvSpPr>
        <p:spPr>
          <a:xfrm>
            <a:off x="11277295" y="6537960"/>
            <a:ext cx="365760" cy="274320"/>
          </a:xfrm>
          <a:prstGeom prst="rect">
            <a:avLst/>
          </a:prstGeom>
          <a:noFill/>
          <a:ln/>
        </p:spPr>
        <p:txBody>
          <a:bodyPr wrap="square" lIns="0" tIns="0" rIns="0" bIns="0" rtlCol="0" anchor="ctr"/>
          <a:lstStyle/>
          <a:p>
            <a:pPr algn="r" indent="0" marL="0">
              <a:buNone/>
            </a:pPr>
            <a:r>
              <a:rPr lang="en-US" sz="1200" dirty="0">
                <a:solidFill>
                  <a:srgbClr val="465A69"/>
                </a:solidFill>
                <a:latin typeface="Calibri" pitchFamily="34" charset="0"/>
                <a:ea typeface="Calibri" pitchFamily="34" charset="-122"/>
                <a:cs typeface="Calibri" pitchFamily="34" charset="-120"/>
              </a:rPr>
              <a:t>43</a:t>
            </a:r>
            <a:endParaRPr lang="en-US" sz="12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EEEAF5"/>
        </a:solidFill>
      </p:bgPr>
    </p:bg>
    <p:spTree>
      <p:nvGrpSpPr>
        <p:cNvPr id="1" name=""/>
        <p:cNvGrpSpPr/>
        <p:nvPr/>
      </p:nvGrpSpPr>
      <p:grpSpPr>
        <a:xfrm>
          <a:off x="0" y="0"/>
          <a:ext cx="0" cy="0"/>
          <a:chOff x="0" y="0"/>
          <a:chExt cx="0" cy="0"/>
        </a:xfrm>
      </p:grpSpPr>
      <p:sp>
        <p:nvSpPr>
          <p:cNvPr id="2" name="Shape 0"/>
          <p:cNvSpPr/>
          <p:nvPr/>
        </p:nvSpPr>
        <p:spPr>
          <a:xfrm>
            <a:off x="548640" y="347472"/>
            <a:ext cx="3008376" cy="329184"/>
          </a:xfrm>
          <a:prstGeom prst="roundRect">
            <a:avLst>
              <a:gd name="adj" fmla="val 50000"/>
            </a:avLst>
          </a:prstGeom>
          <a:solidFill>
            <a:srgbClr val="F6F3FA"/>
          </a:solidFill>
          <a:ln w="12700">
            <a:solidFill>
              <a:srgbClr val="F6F3FA"/>
            </a:solidFill>
            <a:prstDash val="solid"/>
          </a:ln>
        </p:spPr>
      </p:sp>
      <p:sp>
        <p:nvSpPr>
          <p:cNvPr id="3" name="Text 1"/>
          <p:cNvSpPr txBox="1"/>
          <p:nvPr/>
        </p:nvSpPr>
        <p:spPr>
          <a:xfrm>
            <a:off x="548640" y="347472"/>
            <a:ext cx="3008376" cy="329184"/>
          </a:xfrm>
          <a:prstGeom prst="rect">
            <a:avLst/>
          </a:prstGeom>
          <a:noFill/>
          <a:ln/>
        </p:spPr>
        <p:txBody>
          <a:bodyPr wrap="square" lIns="0" tIns="0" rIns="0" bIns="0" rtlCol="0" anchor="ctr"/>
          <a:lstStyle/>
          <a:p>
            <a:pPr algn="ctr" indent="0" marL="0">
              <a:buNone/>
            </a:pPr>
            <a:r>
              <a:rPr lang="en-US" sz="1200" b="1" dirty="0">
                <a:solidFill>
                  <a:srgbClr val="6E5E94"/>
                </a:solidFill>
                <a:latin typeface="Calibri" pitchFamily="34" charset="0"/>
                <a:ea typeface="Calibri" pitchFamily="34" charset="-122"/>
                <a:cs typeface="Calibri" pitchFamily="34" charset="-120"/>
              </a:rPr>
              <a:t>Scenario 3: Business Continuity</a:t>
            </a:r>
            <a:endParaRPr lang="en-US" sz="1200" dirty="0"/>
          </a:p>
        </p:txBody>
      </p:sp>
      <p:sp>
        <p:nvSpPr>
          <p:cNvPr id="4" name="Text 2"/>
          <p:cNvSpPr txBox="1"/>
          <p:nvPr/>
        </p:nvSpPr>
        <p:spPr>
          <a:xfrm>
            <a:off x="548640" y="749808"/>
            <a:ext cx="11064240" cy="640080"/>
          </a:xfrm>
          <a:prstGeom prst="rect">
            <a:avLst/>
          </a:prstGeom>
          <a:noFill/>
          <a:ln/>
        </p:spPr>
        <p:txBody>
          <a:bodyPr wrap="square" lIns="0" tIns="0" rIns="0" bIns="0" rtlCol="0" anchor="ctr"/>
          <a:lstStyle/>
          <a:p>
            <a:pPr indent="0" marL="0">
              <a:buNone/>
            </a:pPr>
            <a:r>
              <a:rPr lang="en-US" sz="2800" b="1" dirty="0">
                <a:solidFill>
                  <a:srgbClr val="23405A"/>
                </a:solidFill>
                <a:latin typeface="Calibri" pitchFamily="34" charset="0"/>
                <a:ea typeface="Calibri" pitchFamily="34" charset="-122"/>
                <a:cs typeface="Calibri" pitchFamily="34" charset="-120"/>
              </a:rPr>
              <a:t>Day 2: Submission Artifacts</a:t>
            </a:r>
            <a:endParaRPr lang="en-US" sz="2800" dirty="0"/>
          </a:p>
        </p:txBody>
      </p:sp>
      <p:sp>
        <p:nvSpPr>
          <p:cNvPr id="5" name="Shape 3"/>
          <p:cNvSpPr/>
          <p:nvPr/>
        </p:nvSpPr>
        <p:spPr>
          <a:xfrm>
            <a:off x="10705795" y="347472"/>
            <a:ext cx="937260" cy="329184"/>
          </a:xfrm>
          <a:prstGeom prst="roundRect">
            <a:avLst>
              <a:gd name="adj" fmla="val 50000"/>
            </a:avLst>
          </a:prstGeom>
          <a:solidFill>
            <a:srgbClr val="FFFFFF"/>
          </a:solidFill>
          <a:ln w="12700">
            <a:solidFill>
              <a:srgbClr val="FFFFFF"/>
            </a:solidFill>
            <a:prstDash val="solid"/>
          </a:ln>
        </p:spPr>
      </p:sp>
      <p:sp>
        <p:nvSpPr>
          <p:cNvPr id="6" name="Text 4"/>
          <p:cNvSpPr txBox="1"/>
          <p:nvPr/>
        </p:nvSpPr>
        <p:spPr>
          <a:xfrm>
            <a:off x="10705795" y="347472"/>
            <a:ext cx="937260" cy="329184"/>
          </a:xfrm>
          <a:prstGeom prst="rect">
            <a:avLst/>
          </a:prstGeom>
          <a:noFill/>
          <a:ln/>
        </p:spPr>
        <p:txBody>
          <a:bodyPr wrap="square" lIns="0" tIns="0" rIns="0" bIns="0" rtlCol="0" anchor="ctr"/>
          <a:lstStyle/>
          <a:p>
            <a:pPr algn="ctr" indent="0" marL="0">
              <a:buNone/>
            </a:pPr>
            <a:r>
              <a:rPr lang="en-US" sz="1200" dirty="0">
                <a:solidFill>
                  <a:srgbClr val="465A69"/>
                </a:solidFill>
                <a:latin typeface="Calibri" pitchFamily="34" charset="0"/>
                <a:ea typeface="Calibri" pitchFamily="34" charset="-122"/>
                <a:cs typeface="Calibri" pitchFamily="34" charset="-120"/>
              </a:rPr>
              <a:t>Hotwash</a:t>
            </a:r>
            <a:endParaRPr lang="en-US" sz="1200" dirty="0"/>
          </a:p>
        </p:txBody>
      </p:sp>
      <p:sp>
        <p:nvSpPr>
          <p:cNvPr id="7" name="Shape 5"/>
          <p:cNvSpPr/>
          <p:nvPr/>
        </p:nvSpPr>
        <p:spPr>
          <a:xfrm>
            <a:off x="9608515" y="347472"/>
            <a:ext cx="1024128" cy="329184"/>
          </a:xfrm>
          <a:prstGeom prst="roundRect">
            <a:avLst>
              <a:gd name="adj" fmla="val 50000"/>
            </a:avLst>
          </a:prstGeom>
          <a:solidFill>
            <a:srgbClr val="FFFFFF"/>
          </a:solidFill>
          <a:ln w="12700">
            <a:solidFill>
              <a:srgbClr val="FFFFFF"/>
            </a:solidFill>
            <a:prstDash val="solid"/>
          </a:ln>
        </p:spPr>
      </p:sp>
      <p:sp>
        <p:nvSpPr>
          <p:cNvPr id="8" name="Text 6"/>
          <p:cNvSpPr txBox="1"/>
          <p:nvPr/>
        </p:nvSpPr>
        <p:spPr>
          <a:xfrm>
            <a:off x="9608515" y="347472"/>
            <a:ext cx="1024128" cy="329184"/>
          </a:xfrm>
          <a:prstGeom prst="rect">
            <a:avLst/>
          </a:prstGeom>
          <a:noFill/>
          <a:ln/>
        </p:spPr>
        <p:txBody>
          <a:bodyPr wrap="square" lIns="0" tIns="0" rIns="0" bIns="0" rtlCol="0" anchor="ctr"/>
          <a:lstStyle/>
          <a:p>
            <a:pPr algn="ctr" indent="0" marL="0">
              <a:buNone/>
            </a:pPr>
            <a:r>
              <a:rPr lang="en-US" sz="1200" dirty="0">
                <a:solidFill>
                  <a:srgbClr val="465A69"/>
                </a:solidFill>
                <a:latin typeface="Calibri" pitchFamily="34" charset="0"/>
                <a:ea typeface="Calibri" pitchFamily="34" charset="-122"/>
                <a:cs typeface="Calibri" pitchFamily="34" charset="-120"/>
              </a:rPr>
              <a:t>Recovery</a:t>
            </a:r>
            <a:endParaRPr lang="en-US" sz="1200" dirty="0"/>
          </a:p>
        </p:txBody>
      </p:sp>
      <p:sp>
        <p:nvSpPr>
          <p:cNvPr id="9" name="Shape 7"/>
          <p:cNvSpPr/>
          <p:nvPr/>
        </p:nvSpPr>
        <p:spPr>
          <a:xfrm>
            <a:off x="8598103" y="347472"/>
            <a:ext cx="937260" cy="329184"/>
          </a:xfrm>
          <a:prstGeom prst="roundRect">
            <a:avLst>
              <a:gd name="adj" fmla="val 50000"/>
            </a:avLst>
          </a:prstGeom>
          <a:solidFill>
            <a:srgbClr val="6E5E94"/>
          </a:solidFill>
          <a:ln w="12700">
            <a:solidFill>
              <a:srgbClr val="6E5E94"/>
            </a:solidFill>
            <a:prstDash val="solid"/>
          </a:ln>
        </p:spPr>
      </p:sp>
      <p:sp>
        <p:nvSpPr>
          <p:cNvPr id="10" name="Text 8"/>
          <p:cNvSpPr txBox="1"/>
          <p:nvPr/>
        </p:nvSpPr>
        <p:spPr>
          <a:xfrm>
            <a:off x="8598103" y="347472"/>
            <a:ext cx="93726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Injects</a:t>
            </a:r>
            <a:endParaRPr lang="en-US" sz="1200" dirty="0"/>
          </a:p>
        </p:txBody>
      </p:sp>
      <p:sp>
        <p:nvSpPr>
          <p:cNvPr id="11" name="Shape 9"/>
          <p:cNvSpPr/>
          <p:nvPr/>
        </p:nvSpPr>
        <p:spPr>
          <a:xfrm>
            <a:off x="7674559" y="347472"/>
            <a:ext cx="850392" cy="329184"/>
          </a:xfrm>
          <a:prstGeom prst="roundRect">
            <a:avLst>
              <a:gd name="adj" fmla="val 50000"/>
            </a:avLst>
          </a:prstGeom>
          <a:solidFill>
            <a:srgbClr val="F6F3FA"/>
          </a:solidFill>
          <a:ln w="12700">
            <a:solidFill>
              <a:srgbClr val="F6F3FA"/>
            </a:solidFill>
            <a:prstDash val="solid"/>
          </a:ln>
        </p:spPr>
      </p:sp>
      <p:sp>
        <p:nvSpPr>
          <p:cNvPr id="12" name="Text 10"/>
          <p:cNvSpPr txBox="1"/>
          <p:nvPr/>
        </p:nvSpPr>
        <p:spPr>
          <a:xfrm>
            <a:off x="7674559" y="347472"/>
            <a:ext cx="850392" cy="329184"/>
          </a:xfrm>
          <a:prstGeom prst="rect">
            <a:avLst/>
          </a:prstGeom>
          <a:noFill/>
          <a:ln/>
        </p:spPr>
        <p:txBody>
          <a:bodyPr wrap="square" lIns="0" tIns="0" rIns="0" bIns="0" rtlCol="0" anchor="ctr"/>
          <a:lstStyle/>
          <a:p>
            <a:pPr algn="ctr" indent="0" marL="0">
              <a:buNone/>
            </a:pPr>
            <a:r>
              <a:rPr lang="en-US" sz="1200" dirty="0">
                <a:solidFill>
                  <a:srgbClr val="6E5E94"/>
                </a:solidFill>
                <a:latin typeface="Calibri" pitchFamily="34" charset="0"/>
                <a:ea typeface="Calibri" pitchFamily="34" charset="-122"/>
                <a:cs typeface="Calibri" pitchFamily="34" charset="-120"/>
              </a:rPr>
              <a:t>Decide</a:t>
            </a:r>
            <a:endParaRPr lang="en-US" sz="1200" dirty="0"/>
          </a:p>
        </p:txBody>
      </p:sp>
      <p:sp>
        <p:nvSpPr>
          <p:cNvPr id="13" name="Shape 11"/>
          <p:cNvSpPr/>
          <p:nvPr/>
        </p:nvSpPr>
        <p:spPr>
          <a:xfrm>
            <a:off x="7011619" y="347472"/>
            <a:ext cx="589788" cy="329184"/>
          </a:xfrm>
          <a:prstGeom prst="roundRect">
            <a:avLst>
              <a:gd name="adj" fmla="val 50000"/>
            </a:avLst>
          </a:prstGeom>
          <a:solidFill>
            <a:srgbClr val="F6F3FA"/>
          </a:solidFill>
          <a:ln w="12700">
            <a:solidFill>
              <a:srgbClr val="F6F3FA"/>
            </a:solidFill>
            <a:prstDash val="solid"/>
          </a:ln>
        </p:spPr>
      </p:sp>
      <p:sp>
        <p:nvSpPr>
          <p:cNvPr id="14" name="Text 12"/>
          <p:cNvSpPr txBox="1"/>
          <p:nvPr/>
        </p:nvSpPr>
        <p:spPr>
          <a:xfrm>
            <a:off x="7011619" y="347472"/>
            <a:ext cx="589788" cy="329184"/>
          </a:xfrm>
          <a:prstGeom prst="rect">
            <a:avLst/>
          </a:prstGeom>
          <a:noFill/>
          <a:ln/>
        </p:spPr>
        <p:txBody>
          <a:bodyPr wrap="square" lIns="0" tIns="0" rIns="0" bIns="0" rtlCol="0" anchor="ctr"/>
          <a:lstStyle/>
          <a:p>
            <a:pPr algn="ctr" indent="0" marL="0">
              <a:buNone/>
            </a:pPr>
            <a:r>
              <a:rPr lang="en-US" sz="1200" dirty="0">
                <a:solidFill>
                  <a:srgbClr val="6E5E94"/>
                </a:solidFill>
                <a:latin typeface="Calibri" pitchFamily="34" charset="0"/>
                <a:ea typeface="Calibri" pitchFamily="34" charset="-122"/>
                <a:cs typeface="Calibri" pitchFamily="34" charset="-120"/>
              </a:rPr>
              <a:t>T+0</a:t>
            </a:r>
            <a:endParaRPr lang="en-US" sz="1200" dirty="0"/>
          </a:p>
        </p:txBody>
      </p:sp>
      <p:sp>
        <p:nvSpPr>
          <p:cNvPr id="15" name="Shape 13"/>
          <p:cNvSpPr/>
          <p:nvPr/>
        </p:nvSpPr>
        <p:spPr>
          <a:xfrm>
            <a:off x="5740603" y="347472"/>
            <a:ext cx="1197864" cy="329184"/>
          </a:xfrm>
          <a:prstGeom prst="roundRect">
            <a:avLst>
              <a:gd name="adj" fmla="val 50000"/>
            </a:avLst>
          </a:prstGeom>
          <a:solidFill>
            <a:srgbClr val="F6F3FA"/>
          </a:solidFill>
          <a:ln w="12700">
            <a:solidFill>
              <a:srgbClr val="F6F3FA"/>
            </a:solidFill>
            <a:prstDash val="solid"/>
          </a:ln>
        </p:spPr>
      </p:sp>
      <p:sp>
        <p:nvSpPr>
          <p:cNvPr id="16" name="Text 14"/>
          <p:cNvSpPr txBox="1"/>
          <p:nvPr/>
        </p:nvSpPr>
        <p:spPr>
          <a:xfrm>
            <a:off x="5740603" y="347472"/>
            <a:ext cx="1197864" cy="329184"/>
          </a:xfrm>
          <a:prstGeom prst="rect">
            <a:avLst/>
          </a:prstGeom>
          <a:noFill/>
          <a:ln/>
        </p:spPr>
        <p:txBody>
          <a:bodyPr wrap="square" lIns="0" tIns="0" rIns="0" bIns="0" rtlCol="0" anchor="ctr"/>
          <a:lstStyle/>
          <a:p>
            <a:pPr algn="ctr" indent="0" marL="0">
              <a:buNone/>
            </a:pPr>
            <a:r>
              <a:rPr lang="en-US" sz="1200" dirty="0">
                <a:solidFill>
                  <a:srgbClr val="6E5E94"/>
                </a:solidFill>
                <a:latin typeface="Calibri" pitchFamily="34" charset="0"/>
                <a:ea typeface="Calibri" pitchFamily="34" charset="-122"/>
                <a:cs typeface="Calibri" pitchFamily="34" charset="-120"/>
              </a:rPr>
              <a:t>Background</a:t>
            </a:r>
            <a:endParaRPr lang="en-US" sz="1200" dirty="0"/>
          </a:p>
        </p:txBody>
      </p:sp>
      <p:sp>
        <p:nvSpPr>
          <p:cNvPr id="17" name="Shape 15"/>
          <p:cNvSpPr/>
          <p:nvPr/>
        </p:nvSpPr>
        <p:spPr>
          <a:xfrm>
            <a:off x="548640" y="1600200"/>
            <a:ext cx="2377440" cy="4572000"/>
          </a:xfrm>
          <a:prstGeom prst="roundRect">
            <a:avLst>
              <a:gd name="adj" fmla="val 5385"/>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18" name="Text 16"/>
          <p:cNvSpPr txBox="1"/>
          <p:nvPr/>
        </p:nvSpPr>
        <p:spPr>
          <a:xfrm>
            <a:off x="822960" y="1783080"/>
            <a:ext cx="1874520" cy="320040"/>
          </a:xfrm>
          <a:prstGeom prst="rect">
            <a:avLst/>
          </a:prstGeom>
          <a:noFill/>
          <a:ln/>
        </p:spPr>
        <p:txBody>
          <a:bodyPr wrap="square" lIns="0" tIns="0" rIns="0" bIns="0" rtlCol="0" anchor="t"/>
          <a:lstStyle/>
          <a:p>
            <a:pPr indent="0" marL="0">
              <a:buNone/>
            </a:pPr>
            <a:r>
              <a:rPr lang="en-US" sz="1400" b="1" dirty="0">
                <a:solidFill>
                  <a:srgbClr val="465A69"/>
                </a:solidFill>
                <a:latin typeface="Calibri" pitchFamily="34" charset="0"/>
                <a:ea typeface="Calibri" pitchFamily="34" charset="-122"/>
                <a:cs typeface="Calibri" pitchFamily="34" charset="-120"/>
              </a:rPr>
              <a:t>Timeline</a:t>
            </a:r>
            <a:endParaRPr lang="en-US" sz="1400" dirty="0"/>
          </a:p>
        </p:txBody>
      </p:sp>
      <p:sp>
        <p:nvSpPr>
          <p:cNvPr id="19" name="Shape 17"/>
          <p:cNvSpPr/>
          <p:nvPr/>
        </p:nvSpPr>
        <p:spPr>
          <a:xfrm>
            <a:off x="905256" y="2551176"/>
            <a:ext cx="0" cy="257338"/>
          </a:xfrm>
          <a:prstGeom prst="line">
            <a:avLst/>
          </a:prstGeom>
          <a:noFill/>
          <a:ln w="19050">
            <a:solidFill>
              <a:srgbClr val="6E5E94"/>
            </a:solidFill>
            <a:prstDash val="solid"/>
          </a:ln>
        </p:spPr>
      </p:sp>
      <p:sp>
        <p:nvSpPr>
          <p:cNvPr id="20" name="Shape 18"/>
          <p:cNvSpPr/>
          <p:nvPr/>
        </p:nvSpPr>
        <p:spPr>
          <a:xfrm>
            <a:off x="777240" y="2267712"/>
            <a:ext cx="256032" cy="256032"/>
          </a:xfrm>
          <a:prstGeom prst="ellipse">
            <a:avLst/>
          </a:prstGeom>
          <a:solidFill>
            <a:srgbClr val="F6F3FA"/>
          </a:solidFill>
          <a:ln w="12700">
            <a:solidFill>
              <a:srgbClr val="F6F3FA"/>
            </a:solidFill>
            <a:prstDash val="solid"/>
          </a:ln>
        </p:spPr>
      </p:sp>
      <p:sp>
        <p:nvSpPr>
          <p:cNvPr id="21" name="Text 19"/>
          <p:cNvSpPr txBox="1"/>
          <p:nvPr/>
        </p:nvSpPr>
        <p:spPr>
          <a:xfrm>
            <a:off x="1188720" y="2203704"/>
            <a:ext cx="1645920" cy="568234"/>
          </a:xfrm>
          <a:prstGeom prst="rect">
            <a:avLst/>
          </a:prstGeom>
          <a:noFill/>
          <a:ln/>
        </p:spPr>
        <p:txBody>
          <a:bodyPr wrap="square" lIns="0" tIns="0" rIns="0" bIns="0" rtlCol="0" anchor="t"/>
          <a:lstStyle/>
          <a:p>
            <a:pPr indent="0" marL="0">
              <a:buNone/>
            </a:pPr>
            <a:r>
              <a:rPr lang="en-US" sz="1200" b="1" dirty="0">
                <a:solidFill>
                  <a:srgbClr val="465A69"/>
                </a:solidFill>
                <a:latin typeface="Calibri" pitchFamily="34" charset="0"/>
                <a:ea typeface="Calibri" pitchFamily="34" charset="-122"/>
                <a:cs typeface="Calibri" pitchFamily="34" charset="-120"/>
              </a:rPr>
              <a:t>Day 1</a:t>
            </a:r>
            <a:endParaRPr lang="en-US" sz="1200" dirty="0"/>
          </a:p>
          <a:p>
            <a:pPr indent="0" marL="0">
              <a:buNone/>
            </a:pPr>
            <a:r>
              <a:rPr lang="en-US" sz="1200" dirty="0">
                <a:solidFill>
                  <a:srgbClr val="1E2E3A"/>
                </a:solidFill>
                <a:latin typeface="Calibri" pitchFamily="34" charset="0"/>
                <a:ea typeface="Calibri" pitchFamily="34" charset="-122"/>
                <a:cs typeface="Calibri" pitchFamily="34" charset="-120"/>
              </a:rPr>
              <a:t>CRO exchange blocked</a:t>
            </a:r>
            <a:endParaRPr lang="en-US" sz="1200" dirty="0"/>
          </a:p>
        </p:txBody>
      </p:sp>
      <p:sp>
        <p:nvSpPr>
          <p:cNvPr id="22" name="Shape 20"/>
          <p:cNvSpPr/>
          <p:nvPr/>
        </p:nvSpPr>
        <p:spPr>
          <a:xfrm>
            <a:off x="905256" y="3119410"/>
            <a:ext cx="0" cy="257338"/>
          </a:xfrm>
          <a:prstGeom prst="line">
            <a:avLst/>
          </a:prstGeom>
          <a:noFill/>
          <a:ln w="19050">
            <a:solidFill>
              <a:srgbClr val="C9D5D2"/>
            </a:solidFill>
            <a:prstDash val="solid"/>
          </a:ln>
        </p:spPr>
      </p:sp>
      <p:sp>
        <p:nvSpPr>
          <p:cNvPr id="23" name="Shape 21"/>
          <p:cNvSpPr/>
          <p:nvPr/>
        </p:nvSpPr>
        <p:spPr>
          <a:xfrm>
            <a:off x="777240" y="2835946"/>
            <a:ext cx="256032" cy="256032"/>
          </a:xfrm>
          <a:prstGeom prst="ellipse">
            <a:avLst/>
          </a:prstGeom>
          <a:solidFill>
            <a:srgbClr val="6E5E94"/>
          </a:solidFill>
          <a:ln w="12700">
            <a:solidFill>
              <a:srgbClr val="6E5E94"/>
            </a:solidFill>
            <a:prstDash val="solid"/>
          </a:ln>
        </p:spPr>
      </p:sp>
      <p:sp>
        <p:nvSpPr>
          <p:cNvPr id="24" name="Text 22"/>
          <p:cNvSpPr txBox="1"/>
          <p:nvPr/>
        </p:nvSpPr>
        <p:spPr>
          <a:xfrm>
            <a:off x="1188720" y="2771938"/>
            <a:ext cx="1645920" cy="568234"/>
          </a:xfrm>
          <a:prstGeom prst="rect">
            <a:avLst/>
          </a:prstGeom>
          <a:noFill/>
          <a:ln/>
        </p:spPr>
        <p:txBody>
          <a:bodyPr wrap="square" lIns="0" tIns="0" rIns="0" bIns="0" rtlCol="0" anchor="t"/>
          <a:lstStyle/>
          <a:p>
            <a:pPr indent="0" marL="0">
              <a:buNone/>
            </a:pPr>
            <a:r>
              <a:rPr lang="en-US" sz="1200" b="1" dirty="0">
                <a:solidFill>
                  <a:srgbClr val="6E5E94"/>
                </a:solidFill>
                <a:latin typeface="Calibri" pitchFamily="34" charset="0"/>
                <a:ea typeface="Calibri" pitchFamily="34" charset="-122"/>
                <a:cs typeface="Calibri" pitchFamily="34" charset="-120"/>
              </a:rPr>
              <a:t>Day 2</a:t>
            </a:r>
            <a:endParaRPr lang="en-US" sz="1200" dirty="0"/>
          </a:p>
          <a:p>
            <a:pPr indent="0" marL="0">
              <a:buNone/>
            </a:pPr>
            <a:r>
              <a:rPr lang="en-US" sz="1200" b="1" dirty="0">
                <a:solidFill>
                  <a:srgbClr val="6E5E94"/>
                </a:solidFill>
                <a:latin typeface="Calibri" pitchFamily="34" charset="0"/>
                <a:ea typeface="Calibri" pitchFamily="34" charset="-122"/>
                <a:cs typeface="Calibri" pitchFamily="34" charset="-120"/>
              </a:rPr>
              <a:t>Submission artifacts unreachable</a:t>
            </a:r>
            <a:endParaRPr lang="en-US" sz="1200" dirty="0"/>
          </a:p>
        </p:txBody>
      </p:sp>
      <p:sp>
        <p:nvSpPr>
          <p:cNvPr id="25" name="Shape 23"/>
          <p:cNvSpPr/>
          <p:nvPr/>
        </p:nvSpPr>
        <p:spPr>
          <a:xfrm>
            <a:off x="905256" y="3687645"/>
            <a:ext cx="0" cy="257338"/>
          </a:xfrm>
          <a:prstGeom prst="line">
            <a:avLst/>
          </a:prstGeom>
          <a:noFill/>
          <a:ln w="19050">
            <a:solidFill>
              <a:srgbClr val="C9D5D2"/>
            </a:solidFill>
            <a:prstDash val="solid"/>
          </a:ln>
        </p:spPr>
      </p:sp>
      <p:sp>
        <p:nvSpPr>
          <p:cNvPr id="26" name="Shape 24"/>
          <p:cNvSpPr/>
          <p:nvPr/>
        </p:nvSpPr>
        <p:spPr>
          <a:xfrm>
            <a:off x="777240" y="3404181"/>
            <a:ext cx="256032" cy="256032"/>
          </a:xfrm>
          <a:prstGeom prst="ellipse">
            <a:avLst/>
          </a:prstGeom>
          <a:solidFill>
            <a:srgbClr val="FFFFFF"/>
          </a:solidFill>
          <a:ln w="15875">
            <a:solidFill>
              <a:srgbClr val="C9D5D2"/>
            </a:solidFill>
            <a:prstDash val="solid"/>
          </a:ln>
        </p:spPr>
      </p:sp>
      <p:sp>
        <p:nvSpPr>
          <p:cNvPr id="27" name="Shape 25"/>
          <p:cNvSpPr/>
          <p:nvPr/>
        </p:nvSpPr>
        <p:spPr>
          <a:xfrm>
            <a:off x="905256" y="4255879"/>
            <a:ext cx="0" cy="257338"/>
          </a:xfrm>
          <a:prstGeom prst="line">
            <a:avLst/>
          </a:prstGeom>
          <a:noFill/>
          <a:ln w="19050">
            <a:solidFill>
              <a:srgbClr val="C9D5D2"/>
            </a:solidFill>
            <a:prstDash val="solid"/>
          </a:ln>
        </p:spPr>
      </p:sp>
      <p:sp>
        <p:nvSpPr>
          <p:cNvPr id="28" name="Shape 26"/>
          <p:cNvSpPr/>
          <p:nvPr/>
        </p:nvSpPr>
        <p:spPr>
          <a:xfrm>
            <a:off x="777240" y="3972415"/>
            <a:ext cx="256032" cy="256032"/>
          </a:xfrm>
          <a:prstGeom prst="ellipse">
            <a:avLst/>
          </a:prstGeom>
          <a:solidFill>
            <a:srgbClr val="FFFFFF"/>
          </a:solidFill>
          <a:ln w="15875">
            <a:solidFill>
              <a:srgbClr val="C9D5D2"/>
            </a:solidFill>
            <a:prstDash val="solid"/>
          </a:ln>
        </p:spPr>
      </p:sp>
      <p:sp>
        <p:nvSpPr>
          <p:cNvPr id="29" name="Shape 27"/>
          <p:cNvSpPr/>
          <p:nvPr/>
        </p:nvSpPr>
        <p:spPr>
          <a:xfrm>
            <a:off x="905256" y="4824113"/>
            <a:ext cx="0" cy="257338"/>
          </a:xfrm>
          <a:prstGeom prst="line">
            <a:avLst/>
          </a:prstGeom>
          <a:noFill/>
          <a:ln w="19050">
            <a:solidFill>
              <a:srgbClr val="C9D5D2"/>
            </a:solidFill>
            <a:prstDash val="solid"/>
          </a:ln>
        </p:spPr>
      </p:sp>
      <p:sp>
        <p:nvSpPr>
          <p:cNvPr id="30" name="Shape 28"/>
          <p:cNvSpPr/>
          <p:nvPr/>
        </p:nvSpPr>
        <p:spPr>
          <a:xfrm>
            <a:off x="777240" y="4540649"/>
            <a:ext cx="256032" cy="256032"/>
          </a:xfrm>
          <a:prstGeom prst="ellipse">
            <a:avLst/>
          </a:prstGeom>
          <a:solidFill>
            <a:srgbClr val="FFFFFF"/>
          </a:solidFill>
          <a:ln w="15875">
            <a:solidFill>
              <a:srgbClr val="C9D5D2"/>
            </a:solidFill>
            <a:prstDash val="solid"/>
          </a:ln>
        </p:spPr>
      </p:sp>
      <p:sp>
        <p:nvSpPr>
          <p:cNvPr id="31" name="Shape 29"/>
          <p:cNvSpPr/>
          <p:nvPr/>
        </p:nvSpPr>
        <p:spPr>
          <a:xfrm>
            <a:off x="905256" y="5392347"/>
            <a:ext cx="0" cy="257338"/>
          </a:xfrm>
          <a:prstGeom prst="line">
            <a:avLst/>
          </a:prstGeom>
          <a:noFill/>
          <a:ln w="19050">
            <a:solidFill>
              <a:srgbClr val="C9D5D2"/>
            </a:solidFill>
            <a:prstDash val="solid"/>
          </a:ln>
        </p:spPr>
      </p:sp>
      <p:sp>
        <p:nvSpPr>
          <p:cNvPr id="32" name="Shape 30"/>
          <p:cNvSpPr/>
          <p:nvPr/>
        </p:nvSpPr>
        <p:spPr>
          <a:xfrm>
            <a:off x="777240" y="5108883"/>
            <a:ext cx="256032" cy="256032"/>
          </a:xfrm>
          <a:prstGeom prst="ellipse">
            <a:avLst/>
          </a:prstGeom>
          <a:solidFill>
            <a:srgbClr val="FFFFFF"/>
          </a:solidFill>
          <a:ln w="15875">
            <a:solidFill>
              <a:srgbClr val="C9D5D2"/>
            </a:solidFill>
            <a:prstDash val="solid"/>
          </a:ln>
        </p:spPr>
      </p:sp>
      <p:sp>
        <p:nvSpPr>
          <p:cNvPr id="33" name="Shape 31"/>
          <p:cNvSpPr/>
          <p:nvPr/>
        </p:nvSpPr>
        <p:spPr>
          <a:xfrm>
            <a:off x="777240" y="5677118"/>
            <a:ext cx="256032" cy="256032"/>
          </a:xfrm>
          <a:prstGeom prst="ellipse">
            <a:avLst/>
          </a:prstGeom>
          <a:solidFill>
            <a:srgbClr val="FFFFFF"/>
          </a:solidFill>
          <a:ln w="15875">
            <a:solidFill>
              <a:srgbClr val="C9D5D2"/>
            </a:solidFill>
            <a:prstDash val="solid"/>
          </a:ln>
        </p:spPr>
      </p:sp>
      <p:sp>
        <p:nvSpPr>
          <p:cNvPr id="34" name="Shape 32"/>
          <p:cNvSpPr/>
          <p:nvPr/>
        </p:nvSpPr>
        <p:spPr>
          <a:xfrm>
            <a:off x="3154680" y="1600200"/>
            <a:ext cx="5696712" cy="3017520"/>
          </a:xfrm>
          <a:prstGeom prst="roundRect">
            <a:avLst>
              <a:gd name="adj" fmla="val 4242"/>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35" name="Shape 33"/>
          <p:cNvSpPr/>
          <p:nvPr/>
        </p:nvSpPr>
        <p:spPr>
          <a:xfrm>
            <a:off x="3429000" y="1810512"/>
            <a:ext cx="2331720" cy="384048"/>
          </a:xfrm>
          <a:prstGeom prst="roundRect">
            <a:avLst>
              <a:gd name="adj" fmla="val 50000"/>
            </a:avLst>
          </a:prstGeom>
          <a:solidFill>
            <a:srgbClr val="6E5E94"/>
          </a:solidFill>
          <a:ln w="12700">
            <a:solidFill>
              <a:srgbClr val="6E5E94"/>
            </a:solidFill>
            <a:prstDash val="solid"/>
          </a:ln>
        </p:spPr>
      </p:sp>
      <p:pic>
        <p:nvPicPr>
          <p:cNvPr id="36" name="Image 0" descr="preencoded.png">    </p:cNvPr>
          <p:cNvPicPr>
            <a:picLocks noChangeAspect="1"/>
          </p:cNvPicPr>
          <p:nvPr/>
        </p:nvPicPr>
        <p:blipFill>
          <a:blip r:embed="rId1"/>
          <a:stretch>
            <a:fillRect/>
          </a:stretch>
        </p:blipFill>
        <p:spPr>
          <a:xfrm>
            <a:off x="3547872" y="1874520"/>
            <a:ext cx="246888" cy="246888"/>
          </a:xfrm>
          <a:prstGeom prst="rect">
            <a:avLst/>
          </a:prstGeom>
        </p:spPr>
      </p:pic>
      <p:sp>
        <p:nvSpPr>
          <p:cNvPr id="37" name="Text 34"/>
          <p:cNvSpPr txBox="1"/>
          <p:nvPr/>
        </p:nvSpPr>
        <p:spPr>
          <a:xfrm>
            <a:off x="3867912" y="1810512"/>
            <a:ext cx="1874520" cy="38404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Day 2  |  10:30 AM</a:t>
            </a:r>
            <a:endParaRPr lang="en-US" sz="1300" dirty="0"/>
          </a:p>
        </p:txBody>
      </p:sp>
      <p:sp>
        <p:nvSpPr>
          <p:cNvPr id="38" name="Text 35"/>
          <p:cNvSpPr txBox="1"/>
          <p:nvPr/>
        </p:nvSpPr>
        <p:spPr>
          <a:xfrm>
            <a:off x="3429000" y="2286000"/>
            <a:ext cx="2743200" cy="256032"/>
          </a:xfrm>
          <a:prstGeom prst="rect">
            <a:avLst/>
          </a:prstGeom>
          <a:noFill/>
          <a:ln/>
        </p:spPr>
        <p:txBody>
          <a:bodyPr wrap="square" lIns="0" tIns="0" rIns="0" bIns="0" rtlCol="0" anchor="t"/>
          <a:lstStyle/>
          <a:p>
            <a:pPr indent="0" marL="0">
              <a:buNone/>
            </a:pPr>
            <a:r>
              <a:rPr lang="en-US" sz="1200" b="1" dirty="0">
                <a:solidFill>
                  <a:srgbClr val="465A69"/>
                </a:solidFill>
                <a:latin typeface="Calibri" pitchFamily="34" charset="0"/>
                <a:ea typeface="Calibri" pitchFamily="34" charset="-122"/>
                <a:cs typeface="Calibri" pitchFamily="34" charset="-120"/>
              </a:rPr>
              <a:t>New information</a:t>
            </a:r>
            <a:endParaRPr lang="en-US" sz="1200" dirty="0"/>
          </a:p>
        </p:txBody>
      </p:sp>
      <p:sp>
        <p:nvSpPr>
          <p:cNvPr id="39" name="Text 36"/>
          <p:cNvSpPr txBox="1"/>
          <p:nvPr/>
        </p:nvSpPr>
        <p:spPr>
          <a:xfrm>
            <a:off x="3429000" y="2560320"/>
            <a:ext cx="5166360" cy="1965960"/>
          </a:xfrm>
          <a:prstGeom prst="rect">
            <a:avLst/>
          </a:prstGeom>
          <a:noFill/>
          <a:ln/>
        </p:spPr>
        <p:txBody>
          <a:bodyPr wrap="square" lIns="0" tIns="0" rIns="0" bIns="0" rtlCol="0" anchor="t"/>
          <a:lstStyle/>
          <a:p>
            <a:pPr indent="0" marL="0">
              <a:buNone/>
            </a:pPr>
            <a:r>
              <a:rPr lang="en-US" sz="1800" dirty="0">
                <a:solidFill>
                  <a:srgbClr val="1E2E3A"/>
                </a:solidFill>
                <a:latin typeface="Calibri" pitchFamily="34" charset="0"/>
                <a:ea typeface="Calibri" pitchFamily="34" charset="-122"/>
                <a:cs typeface="Calibri" pitchFamily="34" charset="-120"/>
              </a:rPr>
              <a:t>Regulatory Affairs cannot access required submission artifacts. A regulatory submission is due.</a:t>
            </a:r>
            <a:endParaRPr lang="en-US" sz="1800" dirty="0"/>
          </a:p>
        </p:txBody>
      </p:sp>
      <p:sp>
        <p:nvSpPr>
          <p:cNvPr id="40" name="Shape 37"/>
          <p:cNvSpPr/>
          <p:nvPr/>
        </p:nvSpPr>
        <p:spPr>
          <a:xfrm>
            <a:off x="3154680" y="4800600"/>
            <a:ext cx="5696712" cy="1371600"/>
          </a:xfrm>
          <a:prstGeom prst="roundRect">
            <a:avLst>
              <a:gd name="adj" fmla="val 9333"/>
            </a:avLst>
          </a:prstGeom>
          <a:solidFill>
            <a:srgbClr val="F6F3FA"/>
          </a:solidFill>
          <a:ln w="12700">
            <a:solidFill>
              <a:srgbClr val="F6F3FA"/>
            </a:solidFill>
            <a:prstDash val="solid"/>
          </a:ln>
          <a:effectLst>
            <a:outerShdw sx="100000" sy="100000" kx="0" ky="0" algn="bl" rotWithShape="0" blurRad="177800" dist="50800" dir="5400000">
              <a:srgbClr val="1B4965">
                <a:alpha val="16000"/>
              </a:srgbClr>
            </a:outerShdw>
          </a:effectLst>
        </p:spPr>
      </p:sp>
      <p:sp>
        <p:nvSpPr>
          <p:cNvPr id="41" name="Text 38"/>
          <p:cNvSpPr txBox="1"/>
          <p:nvPr/>
        </p:nvSpPr>
        <p:spPr>
          <a:xfrm>
            <a:off x="3429000" y="4901184"/>
            <a:ext cx="2743200" cy="256032"/>
          </a:xfrm>
          <a:prstGeom prst="rect">
            <a:avLst/>
          </a:prstGeom>
          <a:noFill/>
          <a:ln/>
        </p:spPr>
        <p:txBody>
          <a:bodyPr wrap="square" lIns="0" tIns="0" rIns="0" bIns="0" rtlCol="0" anchor="t"/>
          <a:lstStyle/>
          <a:p>
            <a:pPr indent="0" marL="0">
              <a:buNone/>
            </a:pPr>
            <a:r>
              <a:rPr lang="en-US" sz="1300" b="1" dirty="0">
                <a:solidFill>
                  <a:srgbClr val="6E5E94"/>
                </a:solidFill>
                <a:latin typeface="Calibri" pitchFamily="34" charset="0"/>
                <a:ea typeface="Calibri" pitchFamily="34" charset="-122"/>
                <a:cs typeface="Calibri" pitchFamily="34" charset="-120"/>
              </a:rPr>
              <a:t>Decide</a:t>
            </a:r>
            <a:endParaRPr lang="en-US" sz="1300" dirty="0"/>
          </a:p>
        </p:txBody>
      </p:sp>
      <p:sp>
        <p:nvSpPr>
          <p:cNvPr id="42" name="Text 39"/>
          <p:cNvSpPr txBox="1"/>
          <p:nvPr/>
        </p:nvSpPr>
        <p:spPr>
          <a:xfrm>
            <a:off x="3429000" y="5175504"/>
            <a:ext cx="5166360" cy="914400"/>
          </a:xfrm>
          <a:prstGeom prst="rect">
            <a:avLst/>
          </a:prstGeom>
          <a:noFill/>
          <a:ln/>
        </p:spPr>
        <p:txBody>
          <a:bodyPr wrap="square" lIns="0" tIns="0" rIns="0" bIns="0" rtlCol="0" anchor="t"/>
          <a:lstStyle/>
          <a:p>
            <a:pPr indent="0" marL="0">
              <a:buNone/>
            </a:pPr>
            <a:r>
              <a:rPr lang="en-US" sz="1600" b="1" dirty="0">
                <a:solidFill>
                  <a:srgbClr val="1E2E3A"/>
                </a:solidFill>
                <a:latin typeface="Calibri" pitchFamily="34" charset="0"/>
                <a:ea typeface="Calibri" pitchFamily="34" charset="-122"/>
                <a:cs typeface="Calibri" pitchFamily="34" charset="-120"/>
              </a:rPr>
              <a:t>Which functions can operate manually? What workarounds are approved, and who approved them?</a:t>
            </a:r>
            <a:endParaRPr lang="en-US" sz="1600" dirty="0"/>
          </a:p>
        </p:txBody>
      </p:sp>
      <p:sp>
        <p:nvSpPr>
          <p:cNvPr id="43" name="Shape 40"/>
          <p:cNvSpPr/>
          <p:nvPr/>
        </p:nvSpPr>
        <p:spPr>
          <a:xfrm>
            <a:off x="9079992" y="1600200"/>
            <a:ext cx="2560320" cy="4572000"/>
          </a:xfrm>
          <a:prstGeom prst="roundRect">
            <a:avLst>
              <a:gd name="adj" fmla="val 5000"/>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44" name="Text 41"/>
          <p:cNvSpPr txBox="1"/>
          <p:nvPr/>
        </p:nvSpPr>
        <p:spPr>
          <a:xfrm>
            <a:off x="9262872" y="1728216"/>
            <a:ext cx="2194560" cy="457200"/>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Regulatory Affairs (simulated)</a:t>
            </a:r>
            <a:endParaRPr lang="en-US" sz="1300" dirty="0"/>
          </a:p>
        </p:txBody>
      </p:sp>
      <p:sp>
        <p:nvSpPr>
          <p:cNvPr id="45" name="Shape 42"/>
          <p:cNvSpPr/>
          <p:nvPr/>
        </p:nvSpPr>
        <p:spPr>
          <a:xfrm>
            <a:off x="9262872" y="2221992"/>
            <a:ext cx="2194560" cy="3767328"/>
          </a:xfrm>
          <a:prstGeom prst="roundRect">
            <a:avLst>
              <a:gd name="adj" fmla="val 3333"/>
            </a:avLst>
          </a:prstGeom>
          <a:solidFill>
            <a:srgbClr val="FFFFFF"/>
          </a:solidFill>
          <a:ln w="9525">
            <a:solidFill>
              <a:srgbClr val="C9D3DE"/>
            </a:solidFill>
            <a:prstDash val="solid"/>
          </a:ln>
        </p:spPr>
      </p:sp>
      <p:sp>
        <p:nvSpPr>
          <p:cNvPr id="46" name="Text 43"/>
          <p:cNvSpPr txBox="1"/>
          <p:nvPr/>
        </p:nvSpPr>
        <p:spPr>
          <a:xfrm>
            <a:off x="9381744" y="2386584"/>
            <a:ext cx="1956816" cy="452120"/>
          </a:xfrm>
          <a:prstGeom prst="rect">
            <a:avLst/>
          </a:prstGeom>
          <a:noFill/>
          <a:ln/>
        </p:spPr>
        <p:txBody>
          <a:bodyPr wrap="square" lIns="0" tIns="0" rIns="0" bIns="0" rtlCol="0" anchor="t"/>
          <a:lstStyle/>
          <a:p>
            <a:pPr indent="0" marL="0">
              <a:buNone/>
            </a:pPr>
            <a:r>
              <a:rPr lang="en-US" sz="1400" b="1" dirty="0">
                <a:solidFill>
                  <a:srgbClr val="1E2E3A"/>
                </a:solidFill>
                <a:latin typeface="Calibri" pitchFamily="34" charset="0"/>
                <a:ea typeface="Calibri" pitchFamily="34" charset="-122"/>
                <a:cs typeface="Calibri" pitchFamily="34" charset="-120"/>
              </a:rPr>
              <a:t>From: </a:t>
            </a:r>
            <a:pPr indent="0" marL="0">
              <a:buNone/>
            </a:pPr>
            <a:r>
              <a:rPr lang="en-US" sz="1400" dirty="0">
                <a:solidFill>
                  <a:srgbClr val="1E2E3A"/>
                </a:solidFill>
                <a:latin typeface="Calibri" pitchFamily="34" charset="0"/>
                <a:ea typeface="Calibri" pitchFamily="34" charset="-122"/>
                <a:cs typeface="Calibri" pitchFamily="34" charset="-120"/>
              </a:rPr>
              <a:t>Regulatory Affairs lead</a:t>
            </a:r>
            <a:endParaRPr lang="en-US" sz="1400" dirty="0"/>
          </a:p>
        </p:txBody>
      </p:sp>
      <p:sp>
        <p:nvSpPr>
          <p:cNvPr id="47" name="Text 44"/>
          <p:cNvSpPr txBox="1"/>
          <p:nvPr/>
        </p:nvSpPr>
        <p:spPr>
          <a:xfrm>
            <a:off x="9381744" y="2838704"/>
            <a:ext cx="1956816" cy="669036"/>
          </a:xfrm>
          <a:prstGeom prst="rect">
            <a:avLst/>
          </a:prstGeom>
          <a:noFill/>
          <a:ln/>
        </p:spPr>
        <p:txBody>
          <a:bodyPr wrap="square" lIns="0" tIns="0" rIns="0" bIns="0" rtlCol="0" anchor="t"/>
          <a:lstStyle/>
          <a:p>
            <a:pPr indent="0" marL="0">
              <a:buNone/>
            </a:pPr>
            <a:r>
              <a:rPr lang="en-US" sz="1400" b="1" dirty="0">
                <a:solidFill>
                  <a:srgbClr val="1E2E3A"/>
                </a:solidFill>
                <a:latin typeface="Calibri" pitchFamily="34" charset="0"/>
                <a:ea typeface="Calibri" pitchFamily="34" charset="-122"/>
                <a:cs typeface="Calibri" pitchFamily="34" charset="-120"/>
              </a:rPr>
              <a:t>Subject: </a:t>
            </a:r>
            <a:pPr indent="0" marL="0">
              <a:buNone/>
            </a:pPr>
            <a:r>
              <a:rPr lang="en-US" sz="1400" dirty="0">
                <a:solidFill>
                  <a:srgbClr val="1E2E3A"/>
                </a:solidFill>
                <a:latin typeface="Calibri" pitchFamily="34" charset="0"/>
                <a:ea typeface="Calibri" pitchFamily="34" charset="-122"/>
                <a:cs typeface="Calibri" pitchFamily="34" charset="-120"/>
              </a:rPr>
              <a:t>Submission artifacts unavailable</a:t>
            </a:r>
            <a:endParaRPr lang="en-US" sz="1400" dirty="0"/>
          </a:p>
        </p:txBody>
      </p:sp>
      <p:sp>
        <p:nvSpPr>
          <p:cNvPr id="48" name="Text 45"/>
          <p:cNvSpPr txBox="1"/>
          <p:nvPr/>
        </p:nvSpPr>
        <p:spPr>
          <a:xfrm>
            <a:off x="9381744" y="3580892"/>
            <a:ext cx="1956816" cy="1338072"/>
          </a:xfrm>
          <a:prstGeom prst="rect">
            <a:avLst/>
          </a:prstGeom>
          <a:noFill/>
          <a:ln/>
        </p:spPr>
        <p:txBody>
          <a:bodyPr wrap="square" lIns="0" tIns="0" rIns="0" bIns="0" rtlCol="0" anchor="t"/>
          <a:lstStyle/>
          <a:p>
            <a:pPr indent="0" marL="0">
              <a:buNone/>
            </a:pPr>
            <a:r>
              <a:rPr lang="en-US" sz="1400" dirty="0">
                <a:solidFill>
                  <a:srgbClr val="1E2E3A"/>
                </a:solidFill>
                <a:latin typeface="Calibri" pitchFamily="34" charset="0"/>
                <a:ea typeface="Calibri" pitchFamily="34" charset="-122"/>
                <a:cs typeface="Calibri" pitchFamily="34" charset="-120"/>
              </a:rPr>
              <a:t>We cannot open the submission artifacts in the regulatory submission platform. The submission is due this week.</a:t>
            </a:r>
            <a:endParaRPr lang="en-US" sz="1400" dirty="0"/>
          </a:p>
        </p:txBody>
      </p:sp>
      <p:sp>
        <p:nvSpPr>
          <p:cNvPr id="49" name="Text 46"/>
          <p:cNvSpPr txBox="1"/>
          <p:nvPr/>
        </p:nvSpPr>
        <p:spPr>
          <a:xfrm>
            <a:off x="9381744" y="5001260"/>
            <a:ext cx="1956816" cy="228600"/>
          </a:xfrm>
          <a:prstGeom prst="rect">
            <a:avLst/>
          </a:prstGeom>
          <a:noFill/>
          <a:ln/>
        </p:spPr>
        <p:txBody>
          <a:bodyPr wrap="square" lIns="0" tIns="0" rIns="0" bIns="0" rtlCol="0" anchor="t"/>
          <a:lstStyle/>
          <a:p>
            <a:pPr indent="0" marL="0">
              <a:buNone/>
            </a:pPr>
            <a:r>
              <a:rPr lang="en-US" sz="1200" dirty="0">
                <a:solidFill>
                  <a:srgbClr val="465A69"/>
                </a:solidFill>
                <a:latin typeface="Calibri" pitchFamily="34" charset="0"/>
                <a:ea typeface="Calibri" pitchFamily="34" charset="-122"/>
                <a:cs typeface="Calibri" pitchFamily="34" charset="-120"/>
              </a:rPr>
              <a:t>Day 2, 10:30 AM</a:t>
            </a:r>
            <a:endParaRPr lang="en-US" sz="1200" dirty="0"/>
          </a:p>
        </p:txBody>
      </p:sp>
      <p:sp>
        <p:nvSpPr>
          <p:cNvPr id="50" name="Text 47"/>
          <p:cNvSpPr txBox="1"/>
          <p:nvPr/>
        </p:nvSpPr>
        <p:spPr>
          <a:xfrm>
            <a:off x="548640" y="6254496"/>
            <a:ext cx="11091672" cy="256032"/>
          </a:xfrm>
          <a:prstGeom prst="rect">
            <a:avLst/>
          </a:prstGeom>
          <a:noFill/>
          <a:ln/>
        </p:spPr>
        <p:txBody>
          <a:bodyPr wrap="square" lIns="0" tIns="0" rIns="0" bIns="0" rtlCol="0" anchor="ctr"/>
          <a:lstStyle/>
          <a:p>
            <a:pPr indent="0" marL="0">
              <a:buNone/>
            </a:pPr>
            <a:r>
              <a:rPr lang="en-US" sz="1200" b="1" dirty="0">
                <a:solidFill>
                  <a:srgbClr val="465A69"/>
                </a:solidFill>
                <a:latin typeface="Calibri" pitchFamily="34" charset="0"/>
                <a:ea typeface="Calibri" pitchFamily="34" charset="-122"/>
                <a:cs typeface="Calibri" pitchFamily="34" charset="-120"/>
              </a:rPr>
              <a:t>Acronyms:  </a:t>
            </a:r>
            <a:pPr indent="0" marL="0">
              <a:buNone/>
            </a:pPr>
            <a:r>
              <a:rPr lang="en-US" sz="1200" dirty="0">
                <a:solidFill>
                  <a:srgbClr val="465A69"/>
                </a:solidFill>
                <a:latin typeface="Calibri" pitchFamily="34" charset="0"/>
                <a:ea typeface="Calibri" pitchFamily="34" charset="-122"/>
                <a:cs typeface="Calibri" pitchFamily="34" charset="-120"/>
              </a:rPr>
              <a:t>T+: time since the first signal;  CRO: contract research organization</a:t>
            </a:r>
            <a:endParaRPr lang="en-US" sz="1200" dirty="0"/>
          </a:p>
        </p:txBody>
      </p:sp>
      <p:sp>
        <p:nvSpPr>
          <p:cNvPr id="51" name="Shape 48"/>
          <p:cNvSpPr/>
          <p:nvPr/>
        </p:nvSpPr>
        <p:spPr>
          <a:xfrm>
            <a:off x="548640" y="6537960"/>
            <a:ext cx="763524" cy="274320"/>
          </a:xfrm>
          <a:prstGeom prst="roundRect">
            <a:avLst>
              <a:gd name="adj" fmla="val 50000"/>
            </a:avLst>
          </a:prstGeom>
          <a:solidFill>
            <a:srgbClr val="E4ECF2"/>
          </a:solidFill>
          <a:ln w="12700">
            <a:solidFill>
              <a:srgbClr val="E4ECF2"/>
            </a:solidFill>
            <a:prstDash val="solid"/>
          </a:ln>
        </p:spPr>
      </p:sp>
      <p:sp>
        <p:nvSpPr>
          <p:cNvPr id="52" name="Text 49"/>
          <p:cNvSpPr txBox="1"/>
          <p:nvPr/>
        </p:nvSpPr>
        <p:spPr>
          <a:xfrm>
            <a:off x="548640" y="6537960"/>
            <a:ext cx="763524" cy="274320"/>
          </a:xfrm>
          <a:prstGeom prst="rect">
            <a:avLst/>
          </a:prstGeom>
          <a:noFill/>
          <a:ln/>
        </p:spPr>
        <p:txBody>
          <a:bodyPr wrap="square" lIns="0" tIns="0" rIns="0" bIns="0" rtlCol="0" anchor="ctr"/>
          <a:lstStyle/>
          <a:p>
            <a:pPr algn="ctr" indent="0" marL="0">
              <a:buNone/>
            </a:pPr>
            <a:r>
              <a:rPr lang="en-US" sz="1200" b="1" dirty="0">
                <a:solidFill>
                  <a:srgbClr val="23405A"/>
                </a:solidFill>
                <a:latin typeface="Calibri" pitchFamily="34" charset="0"/>
                <a:ea typeface="Calibri" pitchFamily="34" charset="-122"/>
                <a:cs typeface="Calibri" pitchFamily="34" charset="-120"/>
              </a:rPr>
              <a:t>Start</a:t>
            </a:r>
            <a:endParaRPr lang="en-US" sz="1200" dirty="0"/>
          </a:p>
        </p:txBody>
      </p:sp>
      <p:pic>
        <p:nvPicPr>
          <p:cNvPr id="53" name="Image 1" descr="preencoded.png">
            <a:hlinkClick r:id="rId3" tooltip="Go to Start" action="ppaction://hlinksldjump"/>
          </p:cNvPr>
          <p:cNvPicPr>
            <a:picLocks noChangeAspect="1"/>
          </p:cNvPicPr>
          <p:nvPr/>
        </p:nvPicPr>
        <p:blipFill>
          <a:blip r:embed="rId2"/>
          <a:stretch>
            <a:fillRect/>
          </a:stretch>
        </p:blipFill>
        <p:spPr>
          <a:xfrm>
            <a:off x="548640" y="6537960"/>
            <a:ext cx="763524" cy="274320"/>
          </a:xfrm>
          <a:prstGeom prst="rect">
            <a:avLst/>
          </a:prstGeom>
        </p:spPr>
      </p:pic>
      <p:sp>
        <p:nvSpPr>
          <p:cNvPr id="54" name="Shape 50"/>
          <p:cNvSpPr/>
          <p:nvPr/>
        </p:nvSpPr>
        <p:spPr>
          <a:xfrm>
            <a:off x="1385316" y="6537960"/>
            <a:ext cx="1197864" cy="274320"/>
          </a:xfrm>
          <a:prstGeom prst="roundRect">
            <a:avLst>
              <a:gd name="adj" fmla="val 50000"/>
            </a:avLst>
          </a:prstGeom>
          <a:solidFill>
            <a:srgbClr val="F1F6FA"/>
          </a:solidFill>
          <a:ln w="12700">
            <a:solidFill>
              <a:srgbClr val="F1F6FA"/>
            </a:solidFill>
            <a:prstDash val="solid"/>
          </a:ln>
        </p:spPr>
      </p:sp>
      <p:sp>
        <p:nvSpPr>
          <p:cNvPr id="55" name="Text 51"/>
          <p:cNvSpPr txBox="1"/>
          <p:nvPr/>
        </p:nvSpPr>
        <p:spPr>
          <a:xfrm>
            <a:off x="1385316" y="6537960"/>
            <a:ext cx="1197864" cy="274320"/>
          </a:xfrm>
          <a:prstGeom prst="rect">
            <a:avLst/>
          </a:prstGeom>
          <a:noFill/>
          <a:ln/>
        </p:spPr>
        <p:txBody>
          <a:bodyPr wrap="square" lIns="0" tIns="0" rIns="0" bIns="0" rtlCol="0" anchor="ctr"/>
          <a:lstStyle/>
          <a:p>
            <a:pPr algn="ctr" indent="0" marL="0">
              <a:buNone/>
            </a:pPr>
            <a:r>
              <a:rPr lang="en-US" sz="1200" b="1" dirty="0">
                <a:solidFill>
                  <a:srgbClr val="3F6E8C"/>
                </a:solidFill>
                <a:latin typeface="Calibri" pitchFamily="34" charset="0"/>
                <a:ea typeface="Calibri" pitchFamily="34" charset="-122"/>
                <a:cs typeface="Calibri" pitchFamily="34" charset="-120"/>
              </a:rPr>
              <a:t>Scenario 1</a:t>
            </a:r>
            <a:endParaRPr lang="en-US" sz="1200" dirty="0"/>
          </a:p>
        </p:txBody>
      </p:sp>
      <p:pic>
        <p:nvPicPr>
          <p:cNvPr id="56" name="Image 2" descr="preencoded.png">
            <a:hlinkClick r:id="rId5" tooltip="Go to Scenario 1" action="ppaction://hlinksldjump"/>
          </p:cNvPr>
          <p:cNvPicPr>
            <a:picLocks noChangeAspect="1"/>
          </p:cNvPicPr>
          <p:nvPr/>
        </p:nvPicPr>
        <p:blipFill>
          <a:blip r:embed="rId4"/>
          <a:stretch>
            <a:fillRect/>
          </a:stretch>
        </p:blipFill>
        <p:spPr>
          <a:xfrm>
            <a:off x="1385316" y="6537960"/>
            <a:ext cx="1197864" cy="274320"/>
          </a:xfrm>
          <a:prstGeom prst="rect">
            <a:avLst/>
          </a:prstGeom>
        </p:spPr>
      </p:pic>
      <p:sp>
        <p:nvSpPr>
          <p:cNvPr id="57" name="Shape 52"/>
          <p:cNvSpPr/>
          <p:nvPr/>
        </p:nvSpPr>
        <p:spPr>
          <a:xfrm>
            <a:off x="2656332" y="6537960"/>
            <a:ext cx="1197864" cy="274320"/>
          </a:xfrm>
          <a:prstGeom prst="roundRect">
            <a:avLst>
              <a:gd name="adj" fmla="val 50000"/>
            </a:avLst>
          </a:prstGeom>
          <a:solidFill>
            <a:srgbClr val="F1F8F3"/>
          </a:solidFill>
          <a:ln w="12700">
            <a:solidFill>
              <a:srgbClr val="F1F8F3"/>
            </a:solidFill>
            <a:prstDash val="solid"/>
          </a:ln>
        </p:spPr>
      </p:sp>
      <p:sp>
        <p:nvSpPr>
          <p:cNvPr id="58" name="Text 53"/>
          <p:cNvSpPr txBox="1"/>
          <p:nvPr/>
        </p:nvSpPr>
        <p:spPr>
          <a:xfrm>
            <a:off x="2656332" y="6537960"/>
            <a:ext cx="1197864" cy="274320"/>
          </a:xfrm>
          <a:prstGeom prst="rect">
            <a:avLst/>
          </a:prstGeom>
          <a:noFill/>
          <a:ln/>
        </p:spPr>
        <p:txBody>
          <a:bodyPr wrap="square" lIns="0" tIns="0" rIns="0" bIns="0" rtlCol="0" anchor="ctr"/>
          <a:lstStyle/>
          <a:p>
            <a:pPr algn="ctr" indent="0" marL="0">
              <a:buNone/>
            </a:pPr>
            <a:r>
              <a:rPr lang="en-US" sz="1200" b="1" dirty="0">
                <a:solidFill>
                  <a:srgbClr val="4C8068"/>
                </a:solidFill>
                <a:latin typeface="Calibri" pitchFamily="34" charset="0"/>
                <a:ea typeface="Calibri" pitchFamily="34" charset="-122"/>
                <a:cs typeface="Calibri" pitchFamily="34" charset="-120"/>
              </a:rPr>
              <a:t>Scenario 2</a:t>
            </a:r>
            <a:endParaRPr lang="en-US" sz="1200" dirty="0"/>
          </a:p>
        </p:txBody>
      </p:sp>
      <p:pic>
        <p:nvPicPr>
          <p:cNvPr id="59" name="Image 3" descr="preencoded.png">
            <a:hlinkClick r:id="rId7" tooltip="Go to Scenario 2" action="ppaction://hlinksldjump"/>
          </p:cNvPr>
          <p:cNvPicPr>
            <a:picLocks noChangeAspect="1"/>
          </p:cNvPicPr>
          <p:nvPr/>
        </p:nvPicPr>
        <p:blipFill>
          <a:blip r:embed="rId6"/>
          <a:stretch>
            <a:fillRect/>
          </a:stretch>
        </p:blipFill>
        <p:spPr>
          <a:xfrm>
            <a:off x="2656332" y="6537960"/>
            <a:ext cx="1197864" cy="274320"/>
          </a:xfrm>
          <a:prstGeom prst="rect">
            <a:avLst/>
          </a:prstGeom>
        </p:spPr>
      </p:pic>
      <p:sp>
        <p:nvSpPr>
          <p:cNvPr id="60" name="Shape 54"/>
          <p:cNvSpPr/>
          <p:nvPr/>
        </p:nvSpPr>
        <p:spPr>
          <a:xfrm>
            <a:off x="3927348" y="6537960"/>
            <a:ext cx="1197864" cy="274320"/>
          </a:xfrm>
          <a:prstGeom prst="roundRect">
            <a:avLst>
              <a:gd name="adj" fmla="val 50000"/>
            </a:avLst>
          </a:prstGeom>
          <a:solidFill>
            <a:srgbClr val="6E5E94"/>
          </a:solidFill>
          <a:ln w="12700">
            <a:solidFill>
              <a:srgbClr val="6E5E94"/>
            </a:solidFill>
            <a:prstDash val="solid"/>
          </a:ln>
        </p:spPr>
      </p:sp>
      <p:sp>
        <p:nvSpPr>
          <p:cNvPr id="61" name="Text 55"/>
          <p:cNvSpPr txBox="1"/>
          <p:nvPr/>
        </p:nvSpPr>
        <p:spPr>
          <a:xfrm>
            <a:off x="3927348" y="6537960"/>
            <a:ext cx="1197864"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Scenario 3</a:t>
            </a:r>
            <a:endParaRPr lang="en-US" sz="1200" dirty="0"/>
          </a:p>
        </p:txBody>
      </p:sp>
      <p:pic>
        <p:nvPicPr>
          <p:cNvPr id="62" name="Image 4" descr="preencoded.png">
            <a:hlinkClick r:id="rId9" tooltip="Go to Scenario 3" action="ppaction://hlinksldjump"/>
          </p:cNvPr>
          <p:cNvPicPr>
            <a:picLocks noChangeAspect="1"/>
          </p:cNvPicPr>
          <p:nvPr/>
        </p:nvPicPr>
        <p:blipFill>
          <a:blip r:embed="rId8"/>
          <a:stretch>
            <a:fillRect/>
          </a:stretch>
        </p:blipFill>
        <p:spPr>
          <a:xfrm>
            <a:off x="3927348" y="6537960"/>
            <a:ext cx="1197864" cy="274320"/>
          </a:xfrm>
          <a:prstGeom prst="rect">
            <a:avLst/>
          </a:prstGeom>
        </p:spPr>
      </p:pic>
      <p:sp>
        <p:nvSpPr>
          <p:cNvPr id="63" name="Shape 56"/>
          <p:cNvSpPr/>
          <p:nvPr/>
        </p:nvSpPr>
        <p:spPr>
          <a:xfrm>
            <a:off x="5198364" y="6537960"/>
            <a:ext cx="937260" cy="274320"/>
          </a:xfrm>
          <a:prstGeom prst="roundRect">
            <a:avLst>
              <a:gd name="adj" fmla="val 50000"/>
            </a:avLst>
          </a:prstGeom>
          <a:solidFill>
            <a:srgbClr val="E4ECF2"/>
          </a:solidFill>
          <a:ln w="12700">
            <a:solidFill>
              <a:srgbClr val="E4ECF2"/>
            </a:solidFill>
            <a:prstDash val="solid"/>
          </a:ln>
        </p:spPr>
      </p:sp>
      <p:sp>
        <p:nvSpPr>
          <p:cNvPr id="64" name="Text 57"/>
          <p:cNvSpPr txBox="1"/>
          <p:nvPr/>
        </p:nvSpPr>
        <p:spPr>
          <a:xfrm>
            <a:off x="5198364" y="6537960"/>
            <a:ext cx="937260" cy="274320"/>
          </a:xfrm>
          <a:prstGeom prst="rect">
            <a:avLst/>
          </a:prstGeom>
          <a:noFill/>
          <a:ln/>
        </p:spPr>
        <p:txBody>
          <a:bodyPr wrap="square" lIns="0" tIns="0" rIns="0" bIns="0" rtlCol="0" anchor="ctr"/>
          <a:lstStyle/>
          <a:p>
            <a:pPr algn="ctr" indent="0" marL="0">
              <a:buNone/>
            </a:pPr>
            <a:r>
              <a:rPr lang="en-US" sz="1200" b="1" dirty="0">
                <a:solidFill>
                  <a:srgbClr val="23405A"/>
                </a:solidFill>
                <a:latin typeface="Calibri" pitchFamily="34" charset="0"/>
                <a:ea typeface="Calibri" pitchFamily="34" charset="-122"/>
                <a:cs typeface="Calibri" pitchFamily="34" charset="-120"/>
              </a:rPr>
              <a:t>Closing</a:t>
            </a:r>
            <a:endParaRPr lang="en-US" sz="1200" dirty="0"/>
          </a:p>
        </p:txBody>
      </p:sp>
      <p:pic>
        <p:nvPicPr>
          <p:cNvPr id="65" name="Image 5" descr="preencoded.png">
            <a:hlinkClick r:id="rId11" tooltip="Go to Closing" action="ppaction://hlinksldjump"/>
          </p:cNvPr>
          <p:cNvPicPr>
            <a:picLocks noChangeAspect="1"/>
          </p:cNvPicPr>
          <p:nvPr/>
        </p:nvPicPr>
        <p:blipFill>
          <a:blip r:embed="rId10"/>
          <a:stretch>
            <a:fillRect/>
          </a:stretch>
        </p:blipFill>
        <p:spPr>
          <a:xfrm>
            <a:off x="5198364" y="6537960"/>
            <a:ext cx="937260" cy="274320"/>
          </a:xfrm>
          <a:prstGeom prst="rect">
            <a:avLst/>
          </a:prstGeom>
        </p:spPr>
      </p:pic>
      <p:sp>
        <p:nvSpPr>
          <p:cNvPr id="66" name="Text 58"/>
          <p:cNvSpPr txBox="1"/>
          <p:nvPr/>
        </p:nvSpPr>
        <p:spPr>
          <a:xfrm>
            <a:off x="11277295" y="6537960"/>
            <a:ext cx="365760" cy="274320"/>
          </a:xfrm>
          <a:prstGeom prst="rect">
            <a:avLst/>
          </a:prstGeom>
          <a:noFill/>
          <a:ln/>
        </p:spPr>
        <p:txBody>
          <a:bodyPr wrap="square" lIns="0" tIns="0" rIns="0" bIns="0" rtlCol="0" anchor="ctr"/>
          <a:lstStyle/>
          <a:p>
            <a:pPr algn="r" indent="0" marL="0">
              <a:buNone/>
            </a:pPr>
            <a:r>
              <a:rPr lang="en-US" sz="1200" dirty="0">
                <a:solidFill>
                  <a:srgbClr val="465A69"/>
                </a:solidFill>
                <a:latin typeface="Calibri" pitchFamily="34" charset="0"/>
                <a:ea typeface="Calibri" pitchFamily="34" charset="-122"/>
                <a:cs typeface="Calibri" pitchFamily="34" charset="-120"/>
              </a:rPr>
              <a:t>44</a:t>
            </a:r>
            <a:endParaRPr lang="en-US" sz="12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EEEAF5"/>
        </a:solidFill>
      </p:bgPr>
    </p:bg>
    <p:spTree>
      <p:nvGrpSpPr>
        <p:cNvPr id="1" name=""/>
        <p:cNvGrpSpPr/>
        <p:nvPr/>
      </p:nvGrpSpPr>
      <p:grpSpPr>
        <a:xfrm>
          <a:off x="0" y="0"/>
          <a:ext cx="0" cy="0"/>
          <a:chOff x="0" y="0"/>
          <a:chExt cx="0" cy="0"/>
        </a:xfrm>
      </p:grpSpPr>
      <p:sp>
        <p:nvSpPr>
          <p:cNvPr id="2" name="Shape 0"/>
          <p:cNvSpPr/>
          <p:nvPr/>
        </p:nvSpPr>
        <p:spPr>
          <a:xfrm>
            <a:off x="548640" y="347472"/>
            <a:ext cx="3008376" cy="329184"/>
          </a:xfrm>
          <a:prstGeom prst="roundRect">
            <a:avLst>
              <a:gd name="adj" fmla="val 50000"/>
            </a:avLst>
          </a:prstGeom>
          <a:solidFill>
            <a:srgbClr val="F6F3FA"/>
          </a:solidFill>
          <a:ln w="12700">
            <a:solidFill>
              <a:srgbClr val="F6F3FA"/>
            </a:solidFill>
            <a:prstDash val="solid"/>
          </a:ln>
        </p:spPr>
      </p:sp>
      <p:sp>
        <p:nvSpPr>
          <p:cNvPr id="3" name="Text 1"/>
          <p:cNvSpPr txBox="1"/>
          <p:nvPr/>
        </p:nvSpPr>
        <p:spPr>
          <a:xfrm>
            <a:off x="548640" y="347472"/>
            <a:ext cx="3008376" cy="329184"/>
          </a:xfrm>
          <a:prstGeom prst="rect">
            <a:avLst/>
          </a:prstGeom>
          <a:noFill/>
          <a:ln/>
        </p:spPr>
        <p:txBody>
          <a:bodyPr wrap="square" lIns="0" tIns="0" rIns="0" bIns="0" rtlCol="0" anchor="ctr"/>
          <a:lstStyle/>
          <a:p>
            <a:pPr algn="ctr" indent="0" marL="0">
              <a:buNone/>
            </a:pPr>
            <a:r>
              <a:rPr lang="en-US" sz="1200" b="1" dirty="0">
                <a:solidFill>
                  <a:srgbClr val="6E5E94"/>
                </a:solidFill>
                <a:latin typeface="Calibri" pitchFamily="34" charset="0"/>
                <a:ea typeface="Calibri" pitchFamily="34" charset="-122"/>
                <a:cs typeface="Calibri" pitchFamily="34" charset="-120"/>
              </a:rPr>
              <a:t>Scenario 3: Business Continuity</a:t>
            </a:r>
            <a:endParaRPr lang="en-US" sz="1200" dirty="0"/>
          </a:p>
        </p:txBody>
      </p:sp>
      <p:sp>
        <p:nvSpPr>
          <p:cNvPr id="4" name="Text 2"/>
          <p:cNvSpPr txBox="1"/>
          <p:nvPr/>
        </p:nvSpPr>
        <p:spPr>
          <a:xfrm>
            <a:off x="548640" y="749808"/>
            <a:ext cx="11064240" cy="640080"/>
          </a:xfrm>
          <a:prstGeom prst="rect">
            <a:avLst/>
          </a:prstGeom>
          <a:noFill/>
          <a:ln/>
        </p:spPr>
        <p:txBody>
          <a:bodyPr wrap="square" lIns="0" tIns="0" rIns="0" bIns="0" rtlCol="0" anchor="ctr"/>
          <a:lstStyle/>
          <a:p>
            <a:pPr indent="0" marL="0">
              <a:buNone/>
            </a:pPr>
            <a:r>
              <a:rPr lang="en-US" sz="2800" b="1" dirty="0">
                <a:solidFill>
                  <a:srgbClr val="23405A"/>
                </a:solidFill>
                <a:latin typeface="Calibri" pitchFamily="34" charset="0"/>
                <a:ea typeface="Calibri" pitchFamily="34" charset="-122"/>
                <a:cs typeface="Calibri" pitchFamily="34" charset="-120"/>
              </a:rPr>
              <a:t>Day 3: Providers Down</a:t>
            </a:r>
            <a:endParaRPr lang="en-US" sz="2800" dirty="0"/>
          </a:p>
        </p:txBody>
      </p:sp>
      <p:sp>
        <p:nvSpPr>
          <p:cNvPr id="5" name="Shape 3"/>
          <p:cNvSpPr/>
          <p:nvPr/>
        </p:nvSpPr>
        <p:spPr>
          <a:xfrm>
            <a:off x="10705795" y="347472"/>
            <a:ext cx="937260" cy="329184"/>
          </a:xfrm>
          <a:prstGeom prst="roundRect">
            <a:avLst>
              <a:gd name="adj" fmla="val 50000"/>
            </a:avLst>
          </a:prstGeom>
          <a:solidFill>
            <a:srgbClr val="FFFFFF"/>
          </a:solidFill>
          <a:ln w="12700">
            <a:solidFill>
              <a:srgbClr val="FFFFFF"/>
            </a:solidFill>
            <a:prstDash val="solid"/>
          </a:ln>
        </p:spPr>
      </p:sp>
      <p:sp>
        <p:nvSpPr>
          <p:cNvPr id="6" name="Text 4"/>
          <p:cNvSpPr txBox="1"/>
          <p:nvPr/>
        </p:nvSpPr>
        <p:spPr>
          <a:xfrm>
            <a:off x="10705795" y="347472"/>
            <a:ext cx="937260" cy="329184"/>
          </a:xfrm>
          <a:prstGeom prst="rect">
            <a:avLst/>
          </a:prstGeom>
          <a:noFill/>
          <a:ln/>
        </p:spPr>
        <p:txBody>
          <a:bodyPr wrap="square" lIns="0" tIns="0" rIns="0" bIns="0" rtlCol="0" anchor="ctr"/>
          <a:lstStyle/>
          <a:p>
            <a:pPr algn="ctr" indent="0" marL="0">
              <a:buNone/>
            </a:pPr>
            <a:r>
              <a:rPr lang="en-US" sz="1200" dirty="0">
                <a:solidFill>
                  <a:srgbClr val="465A69"/>
                </a:solidFill>
                <a:latin typeface="Calibri" pitchFamily="34" charset="0"/>
                <a:ea typeface="Calibri" pitchFamily="34" charset="-122"/>
                <a:cs typeface="Calibri" pitchFamily="34" charset="-120"/>
              </a:rPr>
              <a:t>Hotwash</a:t>
            </a:r>
            <a:endParaRPr lang="en-US" sz="1200" dirty="0"/>
          </a:p>
        </p:txBody>
      </p:sp>
      <p:sp>
        <p:nvSpPr>
          <p:cNvPr id="7" name="Shape 5"/>
          <p:cNvSpPr/>
          <p:nvPr/>
        </p:nvSpPr>
        <p:spPr>
          <a:xfrm>
            <a:off x="9608515" y="347472"/>
            <a:ext cx="1024128" cy="329184"/>
          </a:xfrm>
          <a:prstGeom prst="roundRect">
            <a:avLst>
              <a:gd name="adj" fmla="val 50000"/>
            </a:avLst>
          </a:prstGeom>
          <a:solidFill>
            <a:srgbClr val="FFFFFF"/>
          </a:solidFill>
          <a:ln w="12700">
            <a:solidFill>
              <a:srgbClr val="FFFFFF"/>
            </a:solidFill>
            <a:prstDash val="solid"/>
          </a:ln>
        </p:spPr>
      </p:sp>
      <p:sp>
        <p:nvSpPr>
          <p:cNvPr id="8" name="Text 6"/>
          <p:cNvSpPr txBox="1"/>
          <p:nvPr/>
        </p:nvSpPr>
        <p:spPr>
          <a:xfrm>
            <a:off x="9608515" y="347472"/>
            <a:ext cx="1024128" cy="329184"/>
          </a:xfrm>
          <a:prstGeom prst="rect">
            <a:avLst/>
          </a:prstGeom>
          <a:noFill/>
          <a:ln/>
        </p:spPr>
        <p:txBody>
          <a:bodyPr wrap="square" lIns="0" tIns="0" rIns="0" bIns="0" rtlCol="0" anchor="ctr"/>
          <a:lstStyle/>
          <a:p>
            <a:pPr algn="ctr" indent="0" marL="0">
              <a:buNone/>
            </a:pPr>
            <a:r>
              <a:rPr lang="en-US" sz="1200" dirty="0">
                <a:solidFill>
                  <a:srgbClr val="465A69"/>
                </a:solidFill>
                <a:latin typeface="Calibri" pitchFamily="34" charset="0"/>
                <a:ea typeface="Calibri" pitchFamily="34" charset="-122"/>
                <a:cs typeface="Calibri" pitchFamily="34" charset="-120"/>
              </a:rPr>
              <a:t>Recovery</a:t>
            </a:r>
            <a:endParaRPr lang="en-US" sz="1200" dirty="0"/>
          </a:p>
        </p:txBody>
      </p:sp>
      <p:sp>
        <p:nvSpPr>
          <p:cNvPr id="9" name="Shape 7"/>
          <p:cNvSpPr/>
          <p:nvPr/>
        </p:nvSpPr>
        <p:spPr>
          <a:xfrm>
            <a:off x="8598103" y="347472"/>
            <a:ext cx="937260" cy="329184"/>
          </a:xfrm>
          <a:prstGeom prst="roundRect">
            <a:avLst>
              <a:gd name="adj" fmla="val 50000"/>
            </a:avLst>
          </a:prstGeom>
          <a:solidFill>
            <a:srgbClr val="6E5E94"/>
          </a:solidFill>
          <a:ln w="12700">
            <a:solidFill>
              <a:srgbClr val="6E5E94"/>
            </a:solidFill>
            <a:prstDash val="solid"/>
          </a:ln>
        </p:spPr>
      </p:sp>
      <p:sp>
        <p:nvSpPr>
          <p:cNvPr id="10" name="Text 8"/>
          <p:cNvSpPr txBox="1"/>
          <p:nvPr/>
        </p:nvSpPr>
        <p:spPr>
          <a:xfrm>
            <a:off x="8598103" y="347472"/>
            <a:ext cx="93726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Injects</a:t>
            </a:r>
            <a:endParaRPr lang="en-US" sz="1200" dirty="0"/>
          </a:p>
        </p:txBody>
      </p:sp>
      <p:sp>
        <p:nvSpPr>
          <p:cNvPr id="11" name="Shape 9"/>
          <p:cNvSpPr/>
          <p:nvPr/>
        </p:nvSpPr>
        <p:spPr>
          <a:xfrm>
            <a:off x="7674559" y="347472"/>
            <a:ext cx="850392" cy="329184"/>
          </a:xfrm>
          <a:prstGeom prst="roundRect">
            <a:avLst>
              <a:gd name="adj" fmla="val 50000"/>
            </a:avLst>
          </a:prstGeom>
          <a:solidFill>
            <a:srgbClr val="F6F3FA"/>
          </a:solidFill>
          <a:ln w="12700">
            <a:solidFill>
              <a:srgbClr val="F6F3FA"/>
            </a:solidFill>
            <a:prstDash val="solid"/>
          </a:ln>
        </p:spPr>
      </p:sp>
      <p:sp>
        <p:nvSpPr>
          <p:cNvPr id="12" name="Text 10"/>
          <p:cNvSpPr txBox="1"/>
          <p:nvPr/>
        </p:nvSpPr>
        <p:spPr>
          <a:xfrm>
            <a:off x="7674559" y="347472"/>
            <a:ext cx="850392" cy="329184"/>
          </a:xfrm>
          <a:prstGeom prst="rect">
            <a:avLst/>
          </a:prstGeom>
          <a:noFill/>
          <a:ln/>
        </p:spPr>
        <p:txBody>
          <a:bodyPr wrap="square" lIns="0" tIns="0" rIns="0" bIns="0" rtlCol="0" anchor="ctr"/>
          <a:lstStyle/>
          <a:p>
            <a:pPr algn="ctr" indent="0" marL="0">
              <a:buNone/>
            </a:pPr>
            <a:r>
              <a:rPr lang="en-US" sz="1200" dirty="0">
                <a:solidFill>
                  <a:srgbClr val="6E5E94"/>
                </a:solidFill>
                <a:latin typeface="Calibri" pitchFamily="34" charset="0"/>
                <a:ea typeface="Calibri" pitchFamily="34" charset="-122"/>
                <a:cs typeface="Calibri" pitchFamily="34" charset="-120"/>
              </a:rPr>
              <a:t>Decide</a:t>
            </a:r>
            <a:endParaRPr lang="en-US" sz="1200" dirty="0"/>
          </a:p>
        </p:txBody>
      </p:sp>
      <p:sp>
        <p:nvSpPr>
          <p:cNvPr id="13" name="Shape 11"/>
          <p:cNvSpPr/>
          <p:nvPr/>
        </p:nvSpPr>
        <p:spPr>
          <a:xfrm>
            <a:off x="7011619" y="347472"/>
            <a:ext cx="589788" cy="329184"/>
          </a:xfrm>
          <a:prstGeom prst="roundRect">
            <a:avLst>
              <a:gd name="adj" fmla="val 50000"/>
            </a:avLst>
          </a:prstGeom>
          <a:solidFill>
            <a:srgbClr val="F6F3FA"/>
          </a:solidFill>
          <a:ln w="12700">
            <a:solidFill>
              <a:srgbClr val="F6F3FA"/>
            </a:solidFill>
            <a:prstDash val="solid"/>
          </a:ln>
        </p:spPr>
      </p:sp>
      <p:sp>
        <p:nvSpPr>
          <p:cNvPr id="14" name="Text 12"/>
          <p:cNvSpPr txBox="1"/>
          <p:nvPr/>
        </p:nvSpPr>
        <p:spPr>
          <a:xfrm>
            <a:off x="7011619" y="347472"/>
            <a:ext cx="589788" cy="329184"/>
          </a:xfrm>
          <a:prstGeom prst="rect">
            <a:avLst/>
          </a:prstGeom>
          <a:noFill/>
          <a:ln/>
        </p:spPr>
        <p:txBody>
          <a:bodyPr wrap="square" lIns="0" tIns="0" rIns="0" bIns="0" rtlCol="0" anchor="ctr"/>
          <a:lstStyle/>
          <a:p>
            <a:pPr algn="ctr" indent="0" marL="0">
              <a:buNone/>
            </a:pPr>
            <a:r>
              <a:rPr lang="en-US" sz="1200" dirty="0">
                <a:solidFill>
                  <a:srgbClr val="6E5E94"/>
                </a:solidFill>
                <a:latin typeface="Calibri" pitchFamily="34" charset="0"/>
                <a:ea typeface="Calibri" pitchFamily="34" charset="-122"/>
                <a:cs typeface="Calibri" pitchFamily="34" charset="-120"/>
              </a:rPr>
              <a:t>T+0</a:t>
            </a:r>
            <a:endParaRPr lang="en-US" sz="1200" dirty="0"/>
          </a:p>
        </p:txBody>
      </p:sp>
      <p:sp>
        <p:nvSpPr>
          <p:cNvPr id="15" name="Shape 13"/>
          <p:cNvSpPr/>
          <p:nvPr/>
        </p:nvSpPr>
        <p:spPr>
          <a:xfrm>
            <a:off x="5740603" y="347472"/>
            <a:ext cx="1197864" cy="329184"/>
          </a:xfrm>
          <a:prstGeom prst="roundRect">
            <a:avLst>
              <a:gd name="adj" fmla="val 50000"/>
            </a:avLst>
          </a:prstGeom>
          <a:solidFill>
            <a:srgbClr val="F6F3FA"/>
          </a:solidFill>
          <a:ln w="12700">
            <a:solidFill>
              <a:srgbClr val="F6F3FA"/>
            </a:solidFill>
            <a:prstDash val="solid"/>
          </a:ln>
        </p:spPr>
      </p:sp>
      <p:sp>
        <p:nvSpPr>
          <p:cNvPr id="16" name="Text 14"/>
          <p:cNvSpPr txBox="1"/>
          <p:nvPr/>
        </p:nvSpPr>
        <p:spPr>
          <a:xfrm>
            <a:off x="5740603" y="347472"/>
            <a:ext cx="1197864" cy="329184"/>
          </a:xfrm>
          <a:prstGeom prst="rect">
            <a:avLst/>
          </a:prstGeom>
          <a:noFill/>
          <a:ln/>
        </p:spPr>
        <p:txBody>
          <a:bodyPr wrap="square" lIns="0" tIns="0" rIns="0" bIns="0" rtlCol="0" anchor="ctr"/>
          <a:lstStyle/>
          <a:p>
            <a:pPr algn="ctr" indent="0" marL="0">
              <a:buNone/>
            </a:pPr>
            <a:r>
              <a:rPr lang="en-US" sz="1200" dirty="0">
                <a:solidFill>
                  <a:srgbClr val="6E5E94"/>
                </a:solidFill>
                <a:latin typeface="Calibri" pitchFamily="34" charset="0"/>
                <a:ea typeface="Calibri" pitchFamily="34" charset="-122"/>
                <a:cs typeface="Calibri" pitchFamily="34" charset="-120"/>
              </a:rPr>
              <a:t>Background</a:t>
            </a:r>
            <a:endParaRPr lang="en-US" sz="1200" dirty="0"/>
          </a:p>
        </p:txBody>
      </p:sp>
      <p:sp>
        <p:nvSpPr>
          <p:cNvPr id="17" name="Shape 15"/>
          <p:cNvSpPr/>
          <p:nvPr/>
        </p:nvSpPr>
        <p:spPr>
          <a:xfrm>
            <a:off x="548640" y="1600200"/>
            <a:ext cx="2377440" cy="4572000"/>
          </a:xfrm>
          <a:prstGeom prst="roundRect">
            <a:avLst>
              <a:gd name="adj" fmla="val 5385"/>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18" name="Text 16"/>
          <p:cNvSpPr txBox="1"/>
          <p:nvPr/>
        </p:nvSpPr>
        <p:spPr>
          <a:xfrm>
            <a:off x="822960" y="1783080"/>
            <a:ext cx="1874520" cy="320040"/>
          </a:xfrm>
          <a:prstGeom prst="rect">
            <a:avLst/>
          </a:prstGeom>
          <a:noFill/>
          <a:ln/>
        </p:spPr>
        <p:txBody>
          <a:bodyPr wrap="square" lIns="0" tIns="0" rIns="0" bIns="0" rtlCol="0" anchor="t"/>
          <a:lstStyle/>
          <a:p>
            <a:pPr indent="0" marL="0">
              <a:buNone/>
            </a:pPr>
            <a:r>
              <a:rPr lang="en-US" sz="1400" b="1" dirty="0">
                <a:solidFill>
                  <a:srgbClr val="465A69"/>
                </a:solidFill>
                <a:latin typeface="Calibri" pitchFamily="34" charset="0"/>
                <a:ea typeface="Calibri" pitchFamily="34" charset="-122"/>
                <a:cs typeface="Calibri" pitchFamily="34" charset="-120"/>
              </a:rPr>
              <a:t>Timeline</a:t>
            </a:r>
            <a:endParaRPr lang="en-US" sz="1400" dirty="0"/>
          </a:p>
        </p:txBody>
      </p:sp>
      <p:sp>
        <p:nvSpPr>
          <p:cNvPr id="19" name="Shape 17"/>
          <p:cNvSpPr/>
          <p:nvPr/>
        </p:nvSpPr>
        <p:spPr>
          <a:xfrm>
            <a:off x="905256" y="2551176"/>
            <a:ext cx="0" cy="257338"/>
          </a:xfrm>
          <a:prstGeom prst="line">
            <a:avLst/>
          </a:prstGeom>
          <a:noFill/>
          <a:ln w="19050">
            <a:solidFill>
              <a:srgbClr val="6E5E94"/>
            </a:solidFill>
            <a:prstDash val="solid"/>
          </a:ln>
        </p:spPr>
      </p:sp>
      <p:sp>
        <p:nvSpPr>
          <p:cNvPr id="20" name="Shape 18"/>
          <p:cNvSpPr/>
          <p:nvPr/>
        </p:nvSpPr>
        <p:spPr>
          <a:xfrm>
            <a:off x="777240" y="2267712"/>
            <a:ext cx="256032" cy="256032"/>
          </a:xfrm>
          <a:prstGeom prst="ellipse">
            <a:avLst/>
          </a:prstGeom>
          <a:solidFill>
            <a:srgbClr val="F6F3FA"/>
          </a:solidFill>
          <a:ln w="12700">
            <a:solidFill>
              <a:srgbClr val="F6F3FA"/>
            </a:solidFill>
            <a:prstDash val="solid"/>
          </a:ln>
        </p:spPr>
      </p:sp>
      <p:sp>
        <p:nvSpPr>
          <p:cNvPr id="21" name="Text 19"/>
          <p:cNvSpPr txBox="1"/>
          <p:nvPr/>
        </p:nvSpPr>
        <p:spPr>
          <a:xfrm>
            <a:off x="1188720" y="2203704"/>
            <a:ext cx="1645920" cy="568234"/>
          </a:xfrm>
          <a:prstGeom prst="rect">
            <a:avLst/>
          </a:prstGeom>
          <a:noFill/>
          <a:ln/>
        </p:spPr>
        <p:txBody>
          <a:bodyPr wrap="square" lIns="0" tIns="0" rIns="0" bIns="0" rtlCol="0" anchor="t"/>
          <a:lstStyle/>
          <a:p>
            <a:pPr indent="0" marL="0">
              <a:buNone/>
            </a:pPr>
            <a:r>
              <a:rPr lang="en-US" sz="1200" b="1" dirty="0">
                <a:solidFill>
                  <a:srgbClr val="465A69"/>
                </a:solidFill>
                <a:latin typeface="Calibri" pitchFamily="34" charset="0"/>
                <a:ea typeface="Calibri" pitchFamily="34" charset="-122"/>
                <a:cs typeface="Calibri" pitchFamily="34" charset="-120"/>
              </a:rPr>
              <a:t>Day 1</a:t>
            </a:r>
            <a:endParaRPr lang="en-US" sz="1200" dirty="0"/>
          </a:p>
          <a:p>
            <a:pPr indent="0" marL="0">
              <a:buNone/>
            </a:pPr>
            <a:r>
              <a:rPr lang="en-US" sz="1200" dirty="0">
                <a:solidFill>
                  <a:srgbClr val="1E2E3A"/>
                </a:solidFill>
                <a:latin typeface="Calibri" pitchFamily="34" charset="0"/>
                <a:ea typeface="Calibri" pitchFamily="34" charset="-122"/>
                <a:cs typeface="Calibri" pitchFamily="34" charset="-120"/>
              </a:rPr>
              <a:t>CRO exchange blocked</a:t>
            </a:r>
            <a:endParaRPr lang="en-US" sz="1200" dirty="0"/>
          </a:p>
        </p:txBody>
      </p:sp>
      <p:sp>
        <p:nvSpPr>
          <p:cNvPr id="22" name="Shape 20"/>
          <p:cNvSpPr/>
          <p:nvPr/>
        </p:nvSpPr>
        <p:spPr>
          <a:xfrm>
            <a:off x="905256" y="3119410"/>
            <a:ext cx="0" cy="257338"/>
          </a:xfrm>
          <a:prstGeom prst="line">
            <a:avLst/>
          </a:prstGeom>
          <a:noFill/>
          <a:ln w="19050">
            <a:solidFill>
              <a:srgbClr val="6E5E94"/>
            </a:solidFill>
            <a:prstDash val="solid"/>
          </a:ln>
        </p:spPr>
      </p:sp>
      <p:sp>
        <p:nvSpPr>
          <p:cNvPr id="23" name="Shape 21"/>
          <p:cNvSpPr/>
          <p:nvPr/>
        </p:nvSpPr>
        <p:spPr>
          <a:xfrm>
            <a:off x="777240" y="2835946"/>
            <a:ext cx="256032" cy="256032"/>
          </a:xfrm>
          <a:prstGeom prst="ellipse">
            <a:avLst/>
          </a:prstGeom>
          <a:solidFill>
            <a:srgbClr val="F6F3FA"/>
          </a:solidFill>
          <a:ln w="12700">
            <a:solidFill>
              <a:srgbClr val="F6F3FA"/>
            </a:solidFill>
            <a:prstDash val="solid"/>
          </a:ln>
        </p:spPr>
      </p:sp>
      <p:sp>
        <p:nvSpPr>
          <p:cNvPr id="24" name="Text 22"/>
          <p:cNvSpPr txBox="1"/>
          <p:nvPr/>
        </p:nvSpPr>
        <p:spPr>
          <a:xfrm>
            <a:off x="1188720" y="2771938"/>
            <a:ext cx="1645920" cy="568234"/>
          </a:xfrm>
          <a:prstGeom prst="rect">
            <a:avLst/>
          </a:prstGeom>
          <a:noFill/>
          <a:ln/>
        </p:spPr>
        <p:txBody>
          <a:bodyPr wrap="square" lIns="0" tIns="0" rIns="0" bIns="0" rtlCol="0" anchor="t"/>
          <a:lstStyle/>
          <a:p>
            <a:pPr indent="0" marL="0">
              <a:buNone/>
            </a:pPr>
            <a:r>
              <a:rPr lang="en-US" sz="1200" b="1" dirty="0">
                <a:solidFill>
                  <a:srgbClr val="465A69"/>
                </a:solidFill>
                <a:latin typeface="Calibri" pitchFamily="34" charset="0"/>
                <a:ea typeface="Calibri" pitchFamily="34" charset="-122"/>
                <a:cs typeface="Calibri" pitchFamily="34" charset="-120"/>
              </a:rPr>
              <a:t>Day 2</a:t>
            </a:r>
            <a:endParaRPr lang="en-US" sz="1200" dirty="0"/>
          </a:p>
          <a:p>
            <a:pPr indent="0" marL="0">
              <a:buNone/>
            </a:pPr>
            <a:r>
              <a:rPr lang="en-US" sz="1200" dirty="0">
                <a:solidFill>
                  <a:srgbClr val="1E2E3A"/>
                </a:solidFill>
                <a:latin typeface="Calibri" pitchFamily="34" charset="0"/>
                <a:ea typeface="Calibri" pitchFamily="34" charset="-122"/>
                <a:cs typeface="Calibri" pitchFamily="34" charset="-120"/>
              </a:rPr>
              <a:t>Submission artifacts unreachable</a:t>
            </a:r>
            <a:endParaRPr lang="en-US" sz="1200" dirty="0"/>
          </a:p>
        </p:txBody>
      </p:sp>
      <p:sp>
        <p:nvSpPr>
          <p:cNvPr id="25" name="Shape 23"/>
          <p:cNvSpPr/>
          <p:nvPr/>
        </p:nvSpPr>
        <p:spPr>
          <a:xfrm>
            <a:off x="905256" y="3687645"/>
            <a:ext cx="0" cy="257338"/>
          </a:xfrm>
          <a:prstGeom prst="line">
            <a:avLst/>
          </a:prstGeom>
          <a:noFill/>
          <a:ln w="19050">
            <a:solidFill>
              <a:srgbClr val="C9D5D2"/>
            </a:solidFill>
            <a:prstDash val="solid"/>
          </a:ln>
        </p:spPr>
      </p:sp>
      <p:sp>
        <p:nvSpPr>
          <p:cNvPr id="26" name="Shape 24"/>
          <p:cNvSpPr/>
          <p:nvPr/>
        </p:nvSpPr>
        <p:spPr>
          <a:xfrm>
            <a:off x="777240" y="3404181"/>
            <a:ext cx="256032" cy="256032"/>
          </a:xfrm>
          <a:prstGeom prst="ellipse">
            <a:avLst/>
          </a:prstGeom>
          <a:solidFill>
            <a:srgbClr val="6E5E94"/>
          </a:solidFill>
          <a:ln w="12700">
            <a:solidFill>
              <a:srgbClr val="6E5E94"/>
            </a:solidFill>
            <a:prstDash val="solid"/>
          </a:ln>
        </p:spPr>
      </p:sp>
      <p:sp>
        <p:nvSpPr>
          <p:cNvPr id="27" name="Text 25"/>
          <p:cNvSpPr txBox="1"/>
          <p:nvPr/>
        </p:nvSpPr>
        <p:spPr>
          <a:xfrm>
            <a:off x="1188720" y="3340173"/>
            <a:ext cx="1645920" cy="568234"/>
          </a:xfrm>
          <a:prstGeom prst="rect">
            <a:avLst/>
          </a:prstGeom>
          <a:noFill/>
          <a:ln/>
        </p:spPr>
        <p:txBody>
          <a:bodyPr wrap="square" lIns="0" tIns="0" rIns="0" bIns="0" rtlCol="0" anchor="t"/>
          <a:lstStyle/>
          <a:p>
            <a:pPr indent="0" marL="0">
              <a:buNone/>
            </a:pPr>
            <a:r>
              <a:rPr lang="en-US" sz="1200" b="1" dirty="0">
                <a:solidFill>
                  <a:srgbClr val="6E5E94"/>
                </a:solidFill>
                <a:latin typeface="Calibri" pitchFamily="34" charset="0"/>
                <a:ea typeface="Calibri" pitchFamily="34" charset="-122"/>
                <a:cs typeface="Calibri" pitchFamily="34" charset="-120"/>
              </a:rPr>
              <a:t>Day 3</a:t>
            </a:r>
            <a:endParaRPr lang="en-US" sz="1200" dirty="0"/>
          </a:p>
          <a:p>
            <a:pPr indent="0" marL="0">
              <a:buNone/>
            </a:pPr>
            <a:r>
              <a:rPr lang="en-US" sz="1200" b="1" dirty="0">
                <a:solidFill>
                  <a:srgbClr val="6E5E94"/>
                </a:solidFill>
                <a:latin typeface="Calibri" pitchFamily="34" charset="0"/>
                <a:ea typeface="Calibri" pitchFamily="34" charset="-122"/>
                <a:cs typeface="Calibri" pitchFamily="34" charset="-120"/>
              </a:rPr>
              <a:t>Providers down, no date</a:t>
            </a:r>
            <a:endParaRPr lang="en-US" sz="1200" dirty="0"/>
          </a:p>
        </p:txBody>
      </p:sp>
      <p:sp>
        <p:nvSpPr>
          <p:cNvPr id="28" name="Shape 26"/>
          <p:cNvSpPr/>
          <p:nvPr/>
        </p:nvSpPr>
        <p:spPr>
          <a:xfrm>
            <a:off x="905256" y="4255879"/>
            <a:ext cx="0" cy="257338"/>
          </a:xfrm>
          <a:prstGeom prst="line">
            <a:avLst/>
          </a:prstGeom>
          <a:noFill/>
          <a:ln w="19050">
            <a:solidFill>
              <a:srgbClr val="C9D5D2"/>
            </a:solidFill>
            <a:prstDash val="solid"/>
          </a:ln>
        </p:spPr>
      </p:sp>
      <p:sp>
        <p:nvSpPr>
          <p:cNvPr id="29" name="Shape 27"/>
          <p:cNvSpPr/>
          <p:nvPr/>
        </p:nvSpPr>
        <p:spPr>
          <a:xfrm>
            <a:off x="777240" y="3972415"/>
            <a:ext cx="256032" cy="256032"/>
          </a:xfrm>
          <a:prstGeom prst="ellipse">
            <a:avLst/>
          </a:prstGeom>
          <a:solidFill>
            <a:srgbClr val="FFFFFF"/>
          </a:solidFill>
          <a:ln w="15875">
            <a:solidFill>
              <a:srgbClr val="C9D5D2"/>
            </a:solidFill>
            <a:prstDash val="solid"/>
          </a:ln>
        </p:spPr>
      </p:sp>
      <p:sp>
        <p:nvSpPr>
          <p:cNvPr id="30" name="Shape 28"/>
          <p:cNvSpPr/>
          <p:nvPr/>
        </p:nvSpPr>
        <p:spPr>
          <a:xfrm>
            <a:off x="905256" y="4824113"/>
            <a:ext cx="0" cy="257338"/>
          </a:xfrm>
          <a:prstGeom prst="line">
            <a:avLst/>
          </a:prstGeom>
          <a:noFill/>
          <a:ln w="19050">
            <a:solidFill>
              <a:srgbClr val="C9D5D2"/>
            </a:solidFill>
            <a:prstDash val="solid"/>
          </a:ln>
        </p:spPr>
      </p:sp>
      <p:sp>
        <p:nvSpPr>
          <p:cNvPr id="31" name="Shape 29"/>
          <p:cNvSpPr/>
          <p:nvPr/>
        </p:nvSpPr>
        <p:spPr>
          <a:xfrm>
            <a:off x="777240" y="4540649"/>
            <a:ext cx="256032" cy="256032"/>
          </a:xfrm>
          <a:prstGeom prst="ellipse">
            <a:avLst/>
          </a:prstGeom>
          <a:solidFill>
            <a:srgbClr val="FFFFFF"/>
          </a:solidFill>
          <a:ln w="15875">
            <a:solidFill>
              <a:srgbClr val="C9D5D2"/>
            </a:solidFill>
            <a:prstDash val="solid"/>
          </a:ln>
        </p:spPr>
      </p:sp>
      <p:sp>
        <p:nvSpPr>
          <p:cNvPr id="32" name="Shape 30"/>
          <p:cNvSpPr/>
          <p:nvPr/>
        </p:nvSpPr>
        <p:spPr>
          <a:xfrm>
            <a:off x="905256" y="5392347"/>
            <a:ext cx="0" cy="257338"/>
          </a:xfrm>
          <a:prstGeom prst="line">
            <a:avLst/>
          </a:prstGeom>
          <a:noFill/>
          <a:ln w="19050">
            <a:solidFill>
              <a:srgbClr val="C9D5D2"/>
            </a:solidFill>
            <a:prstDash val="solid"/>
          </a:ln>
        </p:spPr>
      </p:sp>
      <p:sp>
        <p:nvSpPr>
          <p:cNvPr id="33" name="Shape 31"/>
          <p:cNvSpPr/>
          <p:nvPr/>
        </p:nvSpPr>
        <p:spPr>
          <a:xfrm>
            <a:off x="777240" y="5108883"/>
            <a:ext cx="256032" cy="256032"/>
          </a:xfrm>
          <a:prstGeom prst="ellipse">
            <a:avLst/>
          </a:prstGeom>
          <a:solidFill>
            <a:srgbClr val="FFFFFF"/>
          </a:solidFill>
          <a:ln w="15875">
            <a:solidFill>
              <a:srgbClr val="C9D5D2"/>
            </a:solidFill>
            <a:prstDash val="solid"/>
          </a:ln>
        </p:spPr>
      </p:sp>
      <p:sp>
        <p:nvSpPr>
          <p:cNvPr id="34" name="Shape 32"/>
          <p:cNvSpPr/>
          <p:nvPr/>
        </p:nvSpPr>
        <p:spPr>
          <a:xfrm>
            <a:off x="777240" y="5677118"/>
            <a:ext cx="256032" cy="256032"/>
          </a:xfrm>
          <a:prstGeom prst="ellipse">
            <a:avLst/>
          </a:prstGeom>
          <a:solidFill>
            <a:srgbClr val="FFFFFF"/>
          </a:solidFill>
          <a:ln w="15875">
            <a:solidFill>
              <a:srgbClr val="C9D5D2"/>
            </a:solidFill>
            <a:prstDash val="solid"/>
          </a:ln>
        </p:spPr>
      </p:sp>
      <p:sp>
        <p:nvSpPr>
          <p:cNvPr id="35" name="Shape 33"/>
          <p:cNvSpPr/>
          <p:nvPr/>
        </p:nvSpPr>
        <p:spPr>
          <a:xfrm>
            <a:off x="3154680" y="1600200"/>
            <a:ext cx="5696712" cy="3017520"/>
          </a:xfrm>
          <a:prstGeom prst="roundRect">
            <a:avLst>
              <a:gd name="adj" fmla="val 4242"/>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36" name="Shape 34"/>
          <p:cNvSpPr/>
          <p:nvPr/>
        </p:nvSpPr>
        <p:spPr>
          <a:xfrm>
            <a:off x="3429000" y="1810512"/>
            <a:ext cx="2240280" cy="384048"/>
          </a:xfrm>
          <a:prstGeom prst="roundRect">
            <a:avLst>
              <a:gd name="adj" fmla="val 50000"/>
            </a:avLst>
          </a:prstGeom>
          <a:solidFill>
            <a:srgbClr val="6E5E94"/>
          </a:solidFill>
          <a:ln w="12700">
            <a:solidFill>
              <a:srgbClr val="6E5E94"/>
            </a:solidFill>
            <a:prstDash val="solid"/>
          </a:ln>
        </p:spPr>
      </p:sp>
      <p:pic>
        <p:nvPicPr>
          <p:cNvPr id="37" name="Image 0" descr="preencoded.png">    </p:cNvPr>
          <p:cNvPicPr>
            <a:picLocks noChangeAspect="1"/>
          </p:cNvPicPr>
          <p:nvPr/>
        </p:nvPicPr>
        <p:blipFill>
          <a:blip r:embed="rId1"/>
          <a:stretch>
            <a:fillRect/>
          </a:stretch>
        </p:blipFill>
        <p:spPr>
          <a:xfrm>
            <a:off x="3547872" y="1874520"/>
            <a:ext cx="246888" cy="246888"/>
          </a:xfrm>
          <a:prstGeom prst="rect">
            <a:avLst/>
          </a:prstGeom>
        </p:spPr>
      </p:pic>
      <p:sp>
        <p:nvSpPr>
          <p:cNvPr id="38" name="Text 35"/>
          <p:cNvSpPr txBox="1"/>
          <p:nvPr/>
        </p:nvSpPr>
        <p:spPr>
          <a:xfrm>
            <a:off x="3867912" y="1810512"/>
            <a:ext cx="1783080" cy="38404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Day 3  |  8:00 AM</a:t>
            </a:r>
            <a:endParaRPr lang="en-US" sz="1300" dirty="0"/>
          </a:p>
        </p:txBody>
      </p:sp>
      <p:sp>
        <p:nvSpPr>
          <p:cNvPr id="39" name="Text 36"/>
          <p:cNvSpPr txBox="1"/>
          <p:nvPr/>
        </p:nvSpPr>
        <p:spPr>
          <a:xfrm>
            <a:off x="3429000" y="2286000"/>
            <a:ext cx="2743200" cy="256032"/>
          </a:xfrm>
          <a:prstGeom prst="rect">
            <a:avLst/>
          </a:prstGeom>
          <a:noFill/>
          <a:ln/>
        </p:spPr>
        <p:txBody>
          <a:bodyPr wrap="square" lIns="0" tIns="0" rIns="0" bIns="0" rtlCol="0" anchor="t"/>
          <a:lstStyle/>
          <a:p>
            <a:pPr indent="0" marL="0">
              <a:buNone/>
            </a:pPr>
            <a:r>
              <a:rPr lang="en-US" sz="1200" b="1" dirty="0">
                <a:solidFill>
                  <a:srgbClr val="465A69"/>
                </a:solidFill>
                <a:latin typeface="Calibri" pitchFamily="34" charset="0"/>
                <a:ea typeface="Calibri" pitchFamily="34" charset="-122"/>
                <a:cs typeface="Calibri" pitchFamily="34" charset="-120"/>
              </a:rPr>
              <a:t>New information</a:t>
            </a:r>
            <a:endParaRPr lang="en-US" sz="1200" dirty="0"/>
          </a:p>
        </p:txBody>
      </p:sp>
      <p:sp>
        <p:nvSpPr>
          <p:cNvPr id="40" name="Text 37"/>
          <p:cNvSpPr txBox="1"/>
          <p:nvPr/>
        </p:nvSpPr>
        <p:spPr>
          <a:xfrm>
            <a:off x="3429000" y="2560320"/>
            <a:ext cx="5166360" cy="1965960"/>
          </a:xfrm>
          <a:prstGeom prst="rect">
            <a:avLst/>
          </a:prstGeom>
          <a:noFill/>
          <a:ln/>
        </p:spPr>
        <p:txBody>
          <a:bodyPr wrap="square" lIns="0" tIns="0" rIns="0" bIns="0" rtlCol="0" anchor="t"/>
          <a:lstStyle/>
          <a:p>
            <a:pPr indent="0" marL="0">
              <a:buNone/>
            </a:pPr>
            <a:r>
              <a:rPr lang="en-US" sz="1600" dirty="0">
                <a:solidFill>
                  <a:srgbClr val="1E2E3A"/>
                </a:solidFill>
                <a:latin typeface="Calibri" pitchFamily="34" charset="0"/>
                <a:ea typeface="Calibri" pitchFamily="34" charset="-122"/>
                <a:cs typeface="Calibri" pitchFamily="34" charset="-120"/>
              </a:rPr>
              <a:t>The document management, clinical data exchange, travel and expense, and HRIS providers all report extended recovery with no firm date. Two new employees start on Monday.</a:t>
            </a:r>
            <a:endParaRPr lang="en-US" sz="1600" dirty="0"/>
          </a:p>
        </p:txBody>
      </p:sp>
      <p:sp>
        <p:nvSpPr>
          <p:cNvPr id="41" name="Shape 38"/>
          <p:cNvSpPr/>
          <p:nvPr/>
        </p:nvSpPr>
        <p:spPr>
          <a:xfrm>
            <a:off x="3154680" y="4800600"/>
            <a:ext cx="5696712" cy="1371600"/>
          </a:xfrm>
          <a:prstGeom prst="roundRect">
            <a:avLst>
              <a:gd name="adj" fmla="val 9333"/>
            </a:avLst>
          </a:prstGeom>
          <a:solidFill>
            <a:srgbClr val="F6F3FA"/>
          </a:solidFill>
          <a:ln w="12700">
            <a:solidFill>
              <a:srgbClr val="F6F3FA"/>
            </a:solidFill>
            <a:prstDash val="solid"/>
          </a:ln>
          <a:effectLst>
            <a:outerShdw sx="100000" sy="100000" kx="0" ky="0" algn="bl" rotWithShape="0" blurRad="177800" dist="50800" dir="5400000">
              <a:srgbClr val="1B4965">
                <a:alpha val="16000"/>
              </a:srgbClr>
            </a:outerShdw>
          </a:effectLst>
        </p:spPr>
      </p:sp>
      <p:sp>
        <p:nvSpPr>
          <p:cNvPr id="42" name="Text 39"/>
          <p:cNvSpPr txBox="1"/>
          <p:nvPr/>
        </p:nvSpPr>
        <p:spPr>
          <a:xfrm>
            <a:off x="3429000" y="4901184"/>
            <a:ext cx="2743200" cy="256032"/>
          </a:xfrm>
          <a:prstGeom prst="rect">
            <a:avLst/>
          </a:prstGeom>
          <a:noFill/>
          <a:ln/>
        </p:spPr>
        <p:txBody>
          <a:bodyPr wrap="square" lIns="0" tIns="0" rIns="0" bIns="0" rtlCol="0" anchor="t"/>
          <a:lstStyle/>
          <a:p>
            <a:pPr indent="0" marL="0">
              <a:buNone/>
            </a:pPr>
            <a:r>
              <a:rPr lang="en-US" sz="1300" b="1" dirty="0">
                <a:solidFill>
                  <a:srgbClr val="6E5E94"/>
                </a:solidFill>
                <a:latin typeface="Calibri" pitchFamily="34" charset="0"/>
                <a:ea typeface="Calibri" pitchFamily="34" charset="-122"/>
                <a:cs typeface="Calibri" pitchFamily="34" charset="-120"/>
              </a:rPr>
              <a:t>Decide</a:t>
            </a:r>
            <a:endParaRPr lang="en-US" sz="1300" dirty="0"/>
          </a:p>
        </p:txBody>
      </p:sp>
      <p:sp>
        <p:nvSpPr>
          <p:cNvPr id="43" name="Text 40"/>
          <p:cNvSpPr txBox="1"/>
          <p:nvPr/>
        </p:nvSpPr>
        <p:spPr>
          <a:xfrm>
            <a:off x="3429000" y="5175504"/>
            <a:ext cx="5166360" cy="914400"/>
          </a:xfrm>
          <a:prstGeom prst="rect">
            <a:avLst/>
          </a:prstGeom>
          <a:noFill/>
          <a:ln/>
        </p:spPr>
        <p:txBody>
          <a:bodyPr wrap="square" lIns="0" tIns="0" rIns="0" bIns="0" rtlCol="0" anchor="t"/>
          <a:lstStyle/>
          <a:p>
            <a:pPr indent="0" marL="0">
              <a:buNone/>
            </a:pPr>
            <a:r>
              <a:rPr lang="en-US" sz="1600" b="1" dirty="0">
                <a:solidFill>
                  <a:srgbClr val="1E2E3A"/>
                </a:solidFill>
                <a:latin typeface="Calibri" pitchFamily="34" charset="0"/>
                <a:ea typeface="Calibri" pitchFamily="34" charset="-122"/>
                <a:cs typeface="Calibri" pitchFamily="34" charset="-120"/>
              </a:rPr>
              <a:t>What are the most critical business processes? Which can run degraded, and which cannot?</a:t>
            </a:r>
            <a:endParaRPr lang="en-US" sz="1600" dirty="0"/>
          </a:p>
        </p:txBody>
      </p:sp>
      <p:sp>
        <p:nvSpPr>
          <p:cNvPr id="44" name="Shape 41"/>
          <p:cNvSpPr/>
          <p:nvPr/>
        </p:nvSpPr>
        <p:spPr>
          <a:xfrm>
            <a:off x="9079992" y="1600200"/>
            <a:ext cx="2560320" cy="4572000"/>
          </a:xfrm>
          <a:prstGeom prst="roundRect">
            <a:avLst>
              <a:gd name="adj" fmla="val 5000"/>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45" name="Text 42"/>
          <p:cNvSpPr txBox="1"/>
          <p:nvPr/>
        </p:nvSpPr>
        <p:spPr>
          <a:xfrm>
            <a:off x="9262872" y="1728216"/>
            <a:ext cx="2194560" cy="457200"/>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Provider status (simulated)</a:t>
            </a:r>
            <a:endParaRPr lang="en-US" sz="1300" dirty="0"/>
          </a:p>
        </p:txBody>
      </p:sp>
      <p:sp>
        <p:nvSpPr>
          <p:cNvPr id="46" name="Shape 43"/>
          <p:cNvSpPr/>
          <p:nvPr/>
        </p:nvSpPr>
        <p:spPr>
          <a:xfrm>
            <a:off x="9262872" y="2221992"/>
            <a:ext cx="2194560" cy="3767328"/>
          </a:xfrm>
          <a:prstGeom prst="roundRect">
            <a:avLst>
              <a:gd name="adj" fmla="val 3333"/>
            </a:avLst>
          </a:prstGeom>
          <a:solidFill>
            <a:srgbClr val="FFFFFF"/>
          </a:solidFill>
          <a:ln w="9525">
            <a:solidFill>
              <a:srgbClr val="C9D3DE"/>
            </a:solidFill>
            <a:prstDash val="solid"/>
          </a:ln>
        </p:spPr>
      </p:sp>
      <p:pic>
        <p:nvPicPr>
          <p:cNvPr id="47" name="Image 1" descr="preencoded.png">    </p:cNvPr>
          <p:cNvPicPr>
            <a:picLocks noChangeAspect="1"/>
          </p:cNvPicPr>
          <p:nvPr/>
        </p:nvPicPr>
        <p:blipFill>
          <a:blip r:embed="rId2"/>
          <a:stretch>
            <a:fillRect/>
          </a:stretch>
        </p:blipFill>
        <p:spPr>
          <a:xfrm>
            <a:off x="9381744" y="2423160"/>
            <a:ext cx="237744" cy="237744"/>
          </a:xfrm>
          <a:prstGeom prst="rect">
            <a:avLst/>
          </a:prstGeom>
        </p:spPr>
      </p:pic>
      <p:sp>
        <p:nvSpPr>
          <p:cNvPr id="48" name="Text 44"/>
          <p:cNvSpPr txBox="1"/>
          <p:nvPr/>
        </p:nvSpPr>
        <p:spPr>
          <a:xfrm>
            <a:off x="9710928" y="2386584"/>
            <a:ext cx="1591056" cy="292608"/>
          </a:xfrm>
          <a:prstGeom prst="rect">
            <a:avLst/>
          </a:prstGeom>
          <a:noFill/>
          <a:ln/>
        </p:spPr>
        <p:txBody>
          <a:bodyPr wrap="square" lIns="0" tIns="0" rIns="0" bIns="0" rtlCol="0" anchor="ctr"/>
          <a:lstStyle/>
          <a:p>
            <a:pPr indent="0" marL="0">
              <a:buNone/>
            </a:pPr>
            <a:r>
              <a:rPr lang="en-US" sz="1550" b="1" dirty="0">
                <a:solidFill>
                  <a:srgbClr val="1B2A4A"/>
                </a:solidFill>
                <a:latin typeface="Calibri" pitchFamily="34" charset="0"/>
                <a:ea typeface="Calibri" pitchFamily="34" charset="-122"/>
                <a:cs typeface="Calibri" pitchFamily="34" charset="-120"/>
              </a:rPr>
              <a:t>Service Notice</a:t>
            </a:r>
            <a:endParaRPr lang="en-US" sz="1550" dirty="0"/>
          </a:p>
        </p:txBody>
      </p:sp>
      <p:pic>
        <p:nvPicPr>
          <p:cNvPr id="49" name="Image 2" descr="preencoded.png">    </p:cNvPr>
          <p:cNvPicPr>
            <a:picLocks noChangeAspect="1"/>
          </p:cNvPicPr>
          <p:nvPr/>
        </p:nvPicPr>
        <p:blipFill>
          <a:blip r:embed="rId3"/>
          <a:stretch>
            <a:fillRect/>
          </a:stretch>
        </p:blipFill>
        <p:spPr>
          <a:xfrm>
            <a:off x="9381744" y="2798064"/>
            <a:ext cx="219456" cy="219456"/>
          </a:xfrm>
          <a:prstGeom prst="rect">
            <a:avLst/>
          </a:prstGeom>
        </p:spPr>
      </p:pic>
      <p:sp>
        <p:nvSpPr>
          <p:cNvPr id="50" name="Text 45"/>
          <p:cNvSpPr txBox="1"/>
          <p:nvPr/>
        </p:nvSpPr>
        <p:spPr>
          <a:xfrm>
            <a:off x="9674352" y="2770632"/>
            <a:ext cx="1636776" cy="470408"/>
          </a:xfrm>
          <a:prstGeom prst="rect">
            <a:avLst/>
          </a:prstGeom>
          <a:noFill/>
          <a:ln/>
        </p:spPr>
        <p:txBody>
          <a:bodyPr wrap="square" lIns="0" tIns="0" rIns="0" bIns="0" rtlCol="0" anchor="ctr"/>
          <a:lstStyle/>
          <a:p>
            <a:pPr indent="0" marL="0">
              <a:buNone/>
            </a:pPr>
            <a:r>
              <a:rPr lang="en-US" sz="1400" b="1" dirty="0">
                <a:solidFill>
                  <a:srgbClr val="1B2A4A"/>
                </a:solidFill>
                <a:latin typeface="Calibri" pitchFamily="34" charset="0"/>
                <a:ea typeface="Calibri" pitchFamily="34" charset="-122"/>
                <a:cs typeface="Calibri" pitchFamily="34" charset="-120"/>
              </a:rPr>
              <a:t>Extended recovery</a:t>
            </a:r>
            <a:endParaRPr lang="en-US" sz="1400" dirty="0"/>
          </a:p>
        </p:txBody>
      </p:sp>
      <p:sp>
        <p:nvSpPr>
          <p:cNvPr id="51" name="Text 46"/>
          <p:cNvSpPr txBox="1"/>
          <p:nvPr/>
        </p:nvSpPr>
        <p:spPr>
          <a:xfrm>
            <a:off x="9381744" y="3295904"/>
            <a:ext cx="1956816" cy="1338072"/>
          </a:xfrm>
          <a:prstGeom prst="rect">
            <a:avLst/>
          </a:prstGeom>
          <a:noFill/>
          <a:ln/>
        </p:spPr>
        <p:txBody>
          <a:bodyPr wrap="square" lIns="0" tIns="0" rIns="0" bIns="0" rtlCol="0" anchor="t"/>
          <a:lstStyle/>
          <a:p>
            <a:pPr indent="0" marL="0">
              <a:buNone/>
            </a:pPr>
            <a:r>
              <a:rPr lang="en-US" sz="1400" dirty="0">
                <a:solidFill>
                  <a:srgbClr val="1E2E3A"/>
                </a:solidFill>
                <a:latin typeface="Calibri" pitchFamily="34" charset="0"/>
                <a:ea typeface="Calibri" pitchFamily="34" charset="-122"/>
                <a:cs typeface="Calibri" pitchFamily="34" charset="-120"/>
              </a:rPr>
              <a:t>We are restoring services for affected customers. We do not yet have a firm restoration date.</a:t>
            </a:r>
            <a:endParaRPr lang="en-US" sz="1400" dirty="0"/>
          </a:p>
        </p:txBody>
      </p:sp>
      <p:sp>
        <p:nvSpPr>
          <p:cNvPr id="52" name="Text 47"/>
          <p:cNvSpPr txBox="1"/>
          <p:nvPr/>
        </p:nvSpPr>
        <p:spPr>
          <a:xfrm>
            <a:off x="9381744" y="4716272"/>
            <a:ext cx="1956816" cy="228600"/>
          </a:xfrm>
          <a:prstGeom prst="rect">
            <a:avLst/>
          </a:prstGeom>
          <a:noFill/>
          <a:ln/>
        </p:spPr>
        <p:txBody>
          <a:bodyPr wrap="square" lIns="0" tIns="0" rIns="0" bIns="0" rtlCol="0" anchor="t"/>
          <a:lstStyle/>
          <a:p>
            <a:pPr indent="0" marL="0">
              <a:buNone/>
            </a:pPr>
            <a:r>
              <a:rPr lang="en-US" sz="1200" dirty="0">
                <a:solidFill>
                  <a:srgbClr val="465A69"/>
                </a:solidFill>
                <a:latin typeface="Calibri" pitchFamily="34" charset="0"/>
                <a:ea typeface="Calibri" pitchFamily="34" charset="-122"/>
                <a:cs typeface="Calibri" pitchFamily="34" charset="-120"/>
              </a:rPr>
              <a:t>Day 3, 8:00 AM</a:t>
            </a:r>
            <a:endParaRPr lang="en-US" sz="1200" dirty="0"/>
          </a:p>
        </p:txBody>
      </p:sp>
      <p:sp>
        <p:nvSpPr>
          <p:cNvPr id="53" name="Text 48"/>
          <p:cNvSpPr txBox="1"/>
          <p:nvPr/>
        </p:nvSpPr>
        <p:spPr>
          <a:xfrm>
            <a:off x="548640" y="6254496"/>
            <a:ext cx="11091672" cy="256032"/>
          </a:xfrm>
          <a:prstGeom prst="rect">
            <a:avLst/>
          </a:prstGeom>
          <a:noFill/>
          <a:ln/>
        </p:spPr>
        <p:txBody>
          <a:bodyPr wrap="square" lIns="0" tIns="0" rIns="0" bIns="0" rtlCol="0" anchor="ctr"/>
          <a:lstStyle/>
          <a:p>
            <a:pPr indent="0" marL="0">
              <a:buNone/>
            </a:pPr>
            <a:r>
              <a:rPr lang="en-US" sz="1200" b="1" dirty="0">
                <a:solidFill>
                  <a:srgbClr val="465A69"/>
                </a:solidFill>
                <a:latin typeface="Calibri" pitchFamily="34" charset="0"/>
                <a:ea typeface="Calibri" pitchFamily="34" charset="-122"/>
                <a:cs typeface="Calibri" pitchFamily="34" charset="-120"/>
              </a:rPr>
              <a:t>Acronyms:  </a:t>
            </a:r>
            <a:pPr indent="0" marL="0">
              <a:buNone/>
            </a:pPr>
            <a:r>
              <a:rPr lang="en-US" sz="1200" dirty="0">
                <a:solidFill>
                  <a:srgbClr val="465A69"/>
                </a:solidFill>
                <a:latin typeface="Calibri" pitchFamily="34" charset="0"/>
                <a:ea typeface="Calibri" pitchFamily="34" charset="-122"/>
                <a:cs typeface="Calibri" pitchFamily="34" charset="-120"/>
              </a:rPr>
              <a:t>T+: time since the first signal;  CRO: contract research organization;  HRIS: human resources information system</a:t>
            </a:r>
            <a:endParaRPr lang="en-US" sz="1200" dirty="0"/>
          </a:p>
        </p:txBody>
      </p:sp>
      <p:sp>
        <p:nvSpPr>
          <p:cNvPr id="54" name="Shape 49"/>
          <p:cNvSpPr/>
          <p:nvPr/>
        </p:nvSpPr>
        <p:spPr>
          <a:xfrm>
            <a:off x="548640" y="6537960"/>
            <a:ext cx="763524" cy="274320"/>
          </a:xfrm>
          <a:prstGeom prst="roundRect">
            <a:avLst>
              <a:gd name="adj" fmla="val 50000"/>
            </a:avLst>
          </a:prstGeom>
          <a:solidFill>
            <a:srgbClr val="E4ECF2"/>
          </a:solidFill>
          <a:ln w="12700">
            <a:solidFill>
              <a:srgbClr val="E4ECF2"/>
            </a:solidFill>
            <a:prstDash val="solid"/>
          </a:ln>
        </p:spPr>
      </p:sp>
      <p:sp>
        <p:nvSpPr>
          <p:cNvPr id="55" name="Text 50"/>
          <p:cNvSpPr txBox="1"/>
          <p:nvPr/>
        </p:nvSpPr>
        <p:spPr>
          <a:xfrm>
            <a:off x="548640" y="6537960"/>
            <a:ext cx="763524" cy="274320"/>
          </a:xfrm>
          <a:prstGeom prst="rect">
            <a:avLst/>
          </a:prstGeom>
          <a:noFill/>
          <a:ln/>
        </p:spPr>
        <p:txBody>
          <a:bodyPr wrap="square" lIns="0" tIns="0" rIns="0" bIns="0" rtlCol="0" anchor="ctr"/>
          <a:lstStyle/>
          <a:p>
            <a:pPr algn="ctr" indent="0" marL="0">
              <a:buNone/>
            </a:pPr>
            <a:r>
              <a:rPr lang="en-US" sz="1200" b="1" dirty="0">
                <a:solidFill>
                  <a:srgbClr val="23405A"/>
                </a:solidFill>
                <a:latin typeface="Calibri" pitchFamily="34" charset="0"/>
                <a:ea typeface="Calibri" pitchFamily="34" charset="-122"/>
                <a:cs typeface="Calibri" pitchFamily="34" charset="-120"/>
              </a:rPr>
              <a:t>Start</a:t>
            </a:r>
            <a:endParaRPr lang="en-US" sz="1200" dirty="0"/>
          </a:p>
        </p:txBody>
      </p:sp>
      <p:pic>
        <p:nvPicPr>
          <p:cNvPr id="56" name="Image 3" descr="preencoded.png">
            <a:hlinkClick r:id="rId5" tooltip="Go to Start" action="ppaction://hlinksldjump"/>
          </p:cNvPr>
          <p:cNvPicPr>
            <a:picLocks noChangeAspect="1"/>
          </p:cNvPicPr>
          <p:nvPr/>
        </p:nvPicPr>
        <p:blipFill>
          <a:blip r:embed="rId4"/>
          <a:stretch>
            <a:fillRect/>
          </a:stretch>
        </p:blipFill>
        <p:spPr>
          <a:xfrm>
            <a:off x="548640" y="6537960"/>
            <a:ext cx="763524" cy="274320"/>
          </a:xfrm>
          <a:prstGeom prst="rect">
            <a:avLst/>
          </a:prstGeom>
        </p:spPr>
      </p:pic>
      <p:sp>
        <p:nvSpPr>
          <p:cNvPr id="57" name="Shape 51"/>
          <p:cNvSpPr/>
          <p:nvPr/>
        </p:nvSpPr>
        <p:spPr>
          <a:xfrm>
            <a:off x="1385316" y="6537960"/>
            <a:ext cx="1197864" cy="274320"/>
          </a:xfrm>
          <a:prstGeom prst="roundRect">
            <a:avLst>
              <a:gd name="adj" fmla="val 50000"/>
            </a:avLst>
          </a:prstGeom>
          <a:solidFill>
            <a:srgbClr val="F1F6FA"/>
          </a:solidFill>
          <a:ln w="12700">
            <a:solidFill>
              <a:srgbClr val="F1F6FA"/>
            </a:solidFill>
            <a:prstDash val="solid"/>
          </a:ln>
        </p:spPr>
      </p:sp>
      <p:sp>
        <p:nvSpPr>
          <p:cNvPr id="58" name="Text 52"/>
          <p:cNvSpPr txBox="1"/>
          <p:nvPr/>
        </p:nvSpPr>
        <p:spPr>
          <a:xfrm>
            <a:off x="1385316" y="6537960"/>
            <a:ext cx="1197864" cy="274320"/>
          </a:xfrm>
          <a:prstGeom prst="rect">
            <a:avLst/>
          </a:prstGeom>
          <a:noFill/>
          <a:ln/>
        </p:spPr>
        <p:txBody>
          <a:bodyPr wrap="square" lIns="0" tIns="0" rIns="0" bIns="0" rtlCol="0" anchor="ctr"/>
          <a:lstStyle/>
          <a:p>
            <a:pPr algn="ctr" indent="0" marL="0">
              <a:buNone/>
            </a:pPr>
            <a:r>
              <a:rPr lang="en-US" sz="1200" b="1" dirty="0">
                <a:solidFill>
                  <a:srgbClr val="3F6E8C"/>
                </a:solidFill>
                <a:latin typeface="Calibri" pitchFamily="34" charset="0"/>
                <a:ea typeface="Calibri" pitchFamily="34" charset="-122"/>
                <a:cs typeface="Calibri" pitchFamily="34" charset="-120"/>
              </a:rPr>
              <a:t>Scenario 1</a:t>
            </a:r>
            <a:endParaRPr lang="en-US" sz="1200" dirty="0"/>
          </a:p>
        </p:txBody>
      </p:sp>
      <p:pic>
        <p:nvPicPr>
          <p:cNvPr id="59" name="Image 4" descr="preencoded.png">
            <a:hlinkClick r:id="rId7" tooltip="Go to Scenario 1" action="ppaction://hlinksldjump"/>
          </p:cNvPr>
          <p:cNvPicPr>
            <a:picLocks noChangeAspect="1"/>
          </p:cNvPicPr>
          <p:nvPr/>
        </p:nvPicPr>
        <p:blipFill>
          <a:blip r:embed="rId6"/>
          <a:stretch>
            <a:fillRect/>
          </a:stretch>
        </p:blipFill>
        <p:spPr>
          <a:xfrm>
            <a:off x="1385316" y="6537960"/>
            <a:ext cx="1197864" cy="274320"/>
          </a:xfrm>
          <a:prstGeom prst="rect">
            <a:avLst/>
          </a:prstGeom>
        </p:spPr>
      </p:pic>
      <p:sp>
        <p:nvSpPr>
          <p:cNvPr id="60" name="Shape 53"/>
          <p:cNvSpPr/>
          <p:nvPr/>
        </p:nvSpPr>
        <p:spPr>
          <a:xfrm>
            <a:off x="2656332" y="6537960"/>
            <a:ext cx="1197864" cy="274320"/>
          </a:xfrm>
          <a:prstGeom prst="roundRect">
            <a:avLst>
              <a:gd name="adj" fmla="val 50000"/>
            </a:avLst>
          </a:prstGeom>
          <a:solidFill>
            <a:srgbClr val="F1F8F3"/>
          </a:solidFill>
          <a:ln w="12700">
            <a:solidFill>
              <a:srgbClr val="F1F8F3"/>
            </a:solidFill>
            <a:prstDash val="solid"/>
          </a:ln>
        </p:spPr>
      </p:sp>
      <p:sp>
        <p:nvSpPr>
          <p:cNvPr id="61" name="Text 54"/>
          <p:cNvSpPr txBox="1"/>
          <p:nvPr/>
        </p:nvSpPr>
        <p:spPr>
          <a:xfrm>
            <a:off x="2656332" y="6537960"/>
            <a:ext cx="1197864" cy="274320"/>
          </a:xfrm>
          <a:prstGeom prst="rect">
            <a:avLst/>
          </a:prstGeom>
          <a:noFill/>
          <a:ln/>
        </p:spPr>
        <p:txBody>
          <a:bodyPr wrap="square" lIns="0" tIns="0" rIns="0" bIns="0" rtlCol="0" anchor="ctr"/>
          <a:lstStyle/>
          <a:p>
            <a:pPr algn="ctr" indent="0" marL="0">
              <a:buNone/>
            </a:pPr>
            <a:r>
              <a:rPr lang="en-US" sz="1200" b="1" dirty="0">
                <a:solidFill>
                  <a:srgbClr val="4C8068"/>
                </a:solidFill>
                <a:latin typeface="Calibri" pitchFamily="34" charset="0"/>
                <a:ea typeface="Calibri" pitchFamily="34" charset="-122"/>
                <a:cs typeface="Calibri" pitchFamily="34" charset="-120"/>
              </a:rPr>
              <a:t>Scenario 2</a:t>
            </a:r>
            <a:endParaRPr lang="en-US" sz="1200" dirty="0"/>
          </a:p>
        </p:txBody>
      </p:sp>
      <p:pic>
        <p:nvPicPr>
          <p:cNvPr id="62" name="Image 5" descr="preencoded.png">
            <a:hlinkClick r:id="rId9" tooltip="Go to Scenario 2" action="ppaction://hlinksldjump"/>
          </p:cNvPr>
          <p:cNvPicPr>
            <a:picLocks noChangeAspect="1"/>
          </p:cNvPicPr>
          <p:nvPr/>
        </p:nvPicPr>
        <p:blipFill>
          <a:blip r:embed="rId8"/>
          <a:stretch>
            <a:fillRect/>
          </a:stretch>
        </p:blipFill>
        <p:spPr>
          <a:xfrm>
            <a:off x="2656332" y="6537960"/>
            <a:ext cx="1197864" cy="274320"/>
          </a:xfrm>
          <a:prstGeom prst="rect">
            <a:avLst/>
          </a:prstGeom>
        </p:spPr>
      </p:pic>
      <p:sp>
        <p:nvSpPr>
          <p:cNvPr id="63" name="Shape 55"/>
          <p:cNvSpPr/>
          <p:nvPr/>
        </p:nvSpPr>
        <p:spPr>
          <a:xfrm>
            <a:off x="3927348" y="6537960"/>
            <a:ext cx="1197864" cy="274320"/>
          </a:xfrm>
          <a:prstGeom prst="roundRect">
            <a:avLst>
              <a:gd name="adj" fmla="val 50000"/>
            </a:avLst>
          </a:prstGeom>
          <a:solidFill>
            <a:srgbClr val="6E5E94"/>
          </a:solidFill>
          <a:ln w="12700">
            <a:solidFill>
              <a:srgbClr val="6E5E94"/>
            </a:solidFill>
            <a:prstDash val="solid"/>
          </a:ln>
        </p:spPr>
      </p:sp>
      <p:sp>
        <p:nvSpPr>
          <p:cNvPr id="64" name="Text 56"/>
          <p:cNvSpPr txBox="1"/>
          <p:nvPr/>
        </p:nvSpPr>
        <p:spPr>
          <a:xfrm>
            <a:off x="3927348" y="6537960"/>
            <a:ext cx="1197864"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Scenario 3</a:t>
            </a:r>
            <a:endParaRPr lang="en-US" sz="1200" dirty="0"/>
          </a:p>
        </p:txBody>
      </p:sp>
      <p:pic>
        <p:nvPicPr>
          <p:cNvPr id="65" name="Image 6" descr="preencoded.png">
            <a:hlinkClick r:id="rId11" tooltip="Go to Scenario 3" action="ppaction://hlinksldjump"/>
          </p:cNvPr>
          <p:cNvPicPr>
            <a:picLocks noChangeAspect="1"/>
          </p:cNvPicPr>
          <p:nvPr/>
        </p:nvPicPr>
        <p:blipFill>
          <a:blip r:embed="rId10"/>
          <a:stretch>
            <a:fillRect/>
          </a:stretch>
        </p:blipFill>
        <p:spPr>
          <a:xfrm>
            <a:off x="3927348" y="6537960"/>
            <a:ext cx="1197864" cy="274320"/>
          </a:xfrm>
          <a:prstGeom prst="rect">
            <a:avLst/>
          </a:prstGeom>
        </p:spPr>
      </p:pic>
      <p:sp>
        <p:nvSpPr>
          <p:cNvPr id="66" name="Shape 57"/>
          <p:cNvSpPr/>
          <p:nvPr/>
        </p:nvSpPr>
        <p:spPr>
          <a:xfrm>
            <a:off x="5198364" y="6537960"/>
            <a:ext cx="937260" cy="274320"/>
          </a:xfrm>
          <a:prstGeom prst="roundRect">
            <a:avLst>
              <a:gd name="adj" fmla="val 50000"/>
            </a:avLst>
          </a:prstGeom>
          <a:solidFill>
            <a:srgbClr val="E4ECF2"/>
          </a:solidFill>
          <a:ln w="12700">
            <a:solidFill>
              <a:srgbClr val="E4ECF2"/>
            </a:solidFill>
            <a:prstDash val="solid"/>
          </a:ln>
        </p:spPr>
      </p:sp>
      <p:sp>
        <p:nvSpPr>
          <p:cNvPr id="67" name="Text 58"/>
          <p:cNvSpPr txBox="1"/>
          <p:nvPr/>
        </p:nvSpPr>
        <p:spPr>
          <a:xfrm>
            <a:off x="5198364" y="6537960"/>
            <a:ext cx="937260" cy="274320"/>
          </a:xfrm>
          <a:prstGeom prst="rect">
            <a:avLst/>
          </a:prstGeom>
          <a:noFill/>
          <a:ln/>
        </p:spPr>
        <p:txBody>
          <a:bodyPr wrap="square" lIns="0" tIns="0" rIns="0" bIns="0" rtlCol="0" anchor="ctr"/>
          <a:lstStyle/>
          <a:p>
            <a:pPr algn="ctr" indent="0" marL="0">
              <a:buNone/>
            </a:pPr>
            <a:r>
              <a:rPr lang="en-US" sz="1200" b="1" dirty="0">
                <a:solidFill>
                  <a:srgbClr val="23405A"/>
                </a:solidFill>
                <a:latin typeface="Calibri" pitchFamily="34" charset="0"/>
                <a:ea typeface="Calibri" pitchFamily="34" charset="-122"/>
                <a:cs typeface="Calibri" pitchFamily="34" charset="-120"/>
              </a:rPr>
              <a:t>Closing</a:t>
            </a:r>
            <a:endParaRPr lang="en-US" sz="1200" dirty="0"/>
          </a:p>
        </p:txBody>
      </p:sp>
      <p:pic>
        <p:nvPicPr>
          <p:cNvPr id="68" name="Image 7" descr="preencoded.png">
            <a:hlinkClick r:id="rId13" tooltip="Go to Closing" action="ppaction://hlinksldjump"/>
          </p:cNvPr>
          <p:cNvPicPr>
            <a:picLocks noChangeAspect="1"/>
          </p:cNvPicPr>
          <p:nvPr/>
        </p:nvPicPr>
        <p:blipFill>
          <a:blip r:embed="rId12"/>
          <a:stretch>
            <a:fillRect/>
          </a:stretch>
        </p:blipFill>
        <p:spPr>
          <a:xfrm>
            <a:off x="5198364" y="6537960"/>
            <a:ext cx="937260" cy="274320"/>
          </a:xfrm>
          <a:prstGeom prst="rect">
            <a:avLst/>
          </a:prstGeom>
        </p:spPr>
      </p:pic>
      <p:sp>
        <p:nvSpPr>
          <p:cNvPr id="69" name="Text 59"/>
          <p:cNvSpPr txBox="1"/>
          <p:nvPr/>
        </p:nvSpPr>
        <p:spPr>
          <a:xfrm>
            <a:off x="11277295" y="6537960"/>
            <a:ext cx="365760" cy="274320"/>
          </a:xfrm>
          <a:prstGeom prst="rect">
            <a:avLst/>
          </a:prstGeom>
          <a:noFill/>
          <a:ln/>
        </p:spPr>
        <p:txBody>
          <a:bodyPr wrap="square" lIns="0" tIns="0" rIns="0" bIns="0" rtlCol="0" anchor="ctr"/>
          <a:lstStyle/>
          <a:p>
            <a:pPr algn="r" indent="0" marL="0">
              <a:buNone/>
            </a:pPr>
            <a:r>
              <a:rPr lang="en-US" sz="1200" dirty="0">
                <a:solidFill>
                  <a:srgbClr val="465A69"/>
                </a:solidFill>
                <a:latin typeface="Calibri" pitchFamily="34" charset="0"/>
                <a:ea typeface="Calibri" pitchFamily="34" charset="-122"/>
                <a:cs typeface="Calibri" pitchFamily="34" charset="-120"/>
              </a:rPr>
              <a:t>45</a:t>
            </a:r>
            <a:endParaRPr lang="en-US" sz="12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EEEAF5"/>
        </a:solidFill>
      </p:bgPr>
    </p:bg>
    <p:spTree>
      <p:nvGrpSpPr>
        <p:cNvPr id="1" name=""/>
        <p:cNvGrpSpPr/>
        <p:nvPr/>
      </p:nvGrpSpPr>
      <p:grpSpPr>
        <a:xfrm>
          <a:off x="0" y="0"/>
          <a:ext cx="0" cy="0"/>
          <a:chOff x="0" y="0"/>
          <a:chExt cx="0" cy="0"/>
        </a:xfrm>
      </p:grpSpPr>
      <p:sp>
        <p:nvSpPr>
          <p:cNvPr id="2" name="Shape 0"/>
          <p:cNvSpPr/>
          <p:nvPr/>
        </p:nvSpPr>
        <p:spPr>
          <a:xfrm>
            <a:off x="548640" y="347472"/>
            <a:ext cx="3008376" cy="329184"/>
          </a:xfrm>
          <a:prstGeom prst="roundRect">
            <a:avLst>
              <a:gd name="adj" fmla="val 50000"/>
            </a:avLst>
          </a:prstGeom>
          <a:solidFill>
            <a:srgbClr val="F6F3FA"/>
          </a:solidFill>
          <a:ln w="12700">
            <a:solidFill>
              <a:srgbClr val="F6F3FA"/>
            </a:solidFill>
            <a:prstDash val="solid"/>
          </a:ln>
        </p:spPr>
      </p:sp>
      <p:sp>
        <p:nvSpPr>
          <p:cNvPr id="3" name="Text 1"/>
          <p:cNvSpPr txBox="1"/>
          <p:nvPr/>
        </p:nvSpPr>
        <p:spPr>
          <a:xfrm>
            <a:off x="548640" y="347472"/>
            <a:ext cx="3008376" cy="329184"/>
          </a:xfrm>
          <a:prstGeom prst="rect">
            <a:avLst/>
          </a:prstGeom>
          <a:noFill/>
          <a:ln/>
        </p:spPr>
        <p:txBody>
          <a:bodyPr wrap="square" lIns="0" tIns="0" rIns="0" bIns="0" rtlCol="0" anchor="ctr"/>
          <a:lstStyle/>
          <a:p>
            <a:pPr algn="ctr" indent="0" marL="0">
              <a:buNone/>
            </a:pPr>
            <a:r>
              <a:rPr lang="en-US" sz="1200" b="1" dirty="0">
                <a:solidFill>
                  <a:srgbClr val="6E5E94"/>
                </a:solidFill>
                <a:latin typeface="Calibri" pitchFamily="34" charset="0"/>
                <a:ea typeface="Calibri" pitchFamily="34" charset="-122"/>
                <a:cs typeface="Calibri" pitchFamily="34" charset="-120"/>
              </a:rPr>
              <a:t>Scenario 3: Business Continuity</a:t>
            </a:r>
            <a:endParaRPr lang="en-US" sz="1200" dirty="0"/>
          </a:p>
        </p:txBody>
      </p:sp>
      <p:sp>
        <p:nvSpPr>
          <p:cNvPr id="4" name="Text 2"/>
          <p:cNvSpPr txBox="1"/>
          <p:nvPr/>
        </p:nvSpPr>
        <p:spPr>
          <a:xfrm>
            <a:off x="548640" y="749808"/>
            <a:ext cx="11064240" cy="640080"/>
          </a:xfrm>
          <a:prstGeom prst="rect">
            <a:avLst/>
          </a:prstGeom>
          <a:noFill/>
          <a:ln/>
        </p:spPr>
        <p:txBody>
          <a:bodyPr wrap="square" lIns="0" tIns="0" rIns="0" bIns="0" rtlCol="0" anchor="ctr"/>
          <a:lstStyle/>
          <a:p>
            <a:pPr indent="0" marL="0">
              <a:buNone/>
            </a:pPr>
            <a:r>
              <a:rPr lang="en-US" sz="2800" b="1" dirty="0">
                <a:solidFill>
                  <a:srgbClr val="23405A"/>
                </a:solidFill>
                <a:latin typeface="Calibri" pitchFamily="34" charset="0"/>
                <a:ea typeface="Calibri" pitchFamily="34" charset="-122"/>
                <a:cs typeface="Calibri" pitchFamily="34" charset="-120"/>
              </a:rPr>
              <a:t>Day 5: Payments Delayed</a:t>
            </a:r>
            <a:endParaRPr lang="en-US" sz="2800" dirty="0"/>
          </a:p>
        </p:txBody>
      </p:sp>
      <p:sp>
        <p:nvSpPr>
          <p:cNvPr id="5" name="Shape 3"/>
          <p:cNvSpPr/>
          <p:nvPr/>
        </p:nvSpPr>
        <p:spPr>
          <a:xfrm>
            <a:off x="10705795" y="347472"/>
            <a:ext cx="937260" cy="329184"/>
          </a:xfrm>
          <a:prstGeom prst="roundRect">
            <a:avLst>
              <a:gd name="adj" fmla="val 50000"/>
            </a:avLst>
          </a:prstGeom>
          <a:solidFill>
            <a:srgbClr val="FFFFFF"/>
          </a:solidFill>
          <a:ln w="12700">
            <a:solidFill>
              <a:srgbClr val="FFFFFF"/>
            </a:solidFill>
            <a:prstDash val="solid"/>
          </a:ln>
        </p:spPr>
      </p:sp>
      <p:sp>
        <p:nvSpPr>
          <p:cNvPr id="6" name="Text 4"/>
          <p:cNvSpPr txBox="1"/>
          <p:nvPr/>
        </p:nvSpPr>
        <p:spPr>
          <a:xfrm>
            <a:off x="10705795" y="347472"/>
            <a:ext cx="937260" cy="329184"/>
          </a:xfrm>
          <a:prstGeom prst="rect">
            <a:avLst/>
          </a:prstGeom>
          <a:noFill/>
          <a:ln/>
        </p:spPr>
        <p:txBody>
          <a:bodyPr wrap="square" lIns="0" tIns="0" rIns="0" bIns="0" rtlCol="0" anchor="ctr"/>
          <a:lstStyle/>
          <a:p>
            <a:pPr algn="ctr" indent="0" marL="0">
              <a:buNone/>
            </a:pPr>
            <a:r>
              <a:rPr lang="en-US" sz="1200" dirty="0">
                <a:solidFill>
                  <a:srgbClr val="465A69"/>
                </a:solidFill>
                <a:latin typeface="Calibri" pitchFamily="34" charset="0"/>
                <a:ea typeface="Calibri" pitchFamily="34" charset="-122"/>
                <a:cs typeface="Calibri" pitchFamily="34" charset="-120"/>
              </a:rPr>
              <a:t>Hotwash</a:t>
            </a:r>
            <a:endParaRPr lang="en-US" sz="1200" dirty="0"/>
          </a:p>
        </p:txBody>
      </p:sp>
      <p:sp>
        <p:nvSpPr>
          <p:cNvPr id="7" name="Shape 5"/>
          <p:cNvSpPr/>
          <p:nvPr/>
        </p:nvSpPr>
        <p:spPr>
          <a:xfrm>
            <a:off x="9608515" y="347472"/>
            <a:ext cx="1024128" cy="329184"/>
          </a:xfrm>
          <a:prstGeom prst="roundRect">
            <a:avLst>
              <a:gd name="adj" fmla="val 50000"/>
            </a:avLst>
          </a:prstGeom>
          <a:solidFill>
            <a:srgbClr val="FFFFFF"/>
          </a:solidFill>
          <a:ln w="12700">
            <a:solidFill>
              <a:srgbClr val="FFFFFF"/>
            </a:solidFill>
            <a:prstDash val="solid"/>
          </a:ln>
        </p:spPr>
      </p:sp>
      <p:sp>
        <p:nvSpPr>
          <p:cNvPr id="8" name="Text 6"/>
          <p:cNvSpPr txBox="1"/>
          <p:nvPr/>
        </p:nvSpPr>
        <p:spPr>
          <a:xfrm>
            <a:off x="9608515" y="347472"/>
            <a:ext cx="1024128" cy="329184"/>
          </a:xfrm>
          <a:prstGeom prst="rect">
            <a:avLst/>
          </a:prstGeom>
          <a:noFill/>
          <a:ln/>
        </p:spPr>
        <p:txBody>
          <a:bodyPr wrap="square" lIns="0" tIns="0" rIns="0" bIns="0" rtlCol="0" anchor="ctr"/>
          <a:lstStyle/>
          <a:p>
            <a:pPr algn="ctr" indent="0" marL="0">
              <a:buNone/>
            </a:pPr>
            <a:r>
              <a:rPr lang="en-US" sz="1200" dirty="0">
                <a:solidFill>
                  <a:srgbClr val="465A69"/>
                </a:solidFill>
                <a:latin typeface="Calibri" pitchFamily="34" charset="0"/>
                <a:ea typeface="Calibri" pitchFamily="34" charset="-122"/>
                <a:cs typeface="Calibri" pitchFamily="34" charset="-120"/>
              </a:rPr>
              <a:t>Recovery</a:t>
            </a:r>
            <a:endParaRPr lang="en-US" sz="1200" dirty="0"/>
          </a:p>
        </p:txBody>
      </p:sp>
      <p:sp>
        <p:nvSpPr>
          <p:cNvPr id="9" name="Shape 7"/>
          <p:cNvSpPr/>
          <p:nvPr/>
        </p:nvSpPr>
        <p:spPr>
          <a:xfrm>
            <a:off x="8598103" y="347472"/>
            <a:ext cx="937260" cy="329184"/>
          </a:xfrm>
          <a:prstGeom prst="roundRect">
            <a:avLst>
              <a:gd name="adj" fmla="val 50000"/>
            </a:avLst>
          </a:prstGeom>
          <a:solidFill>
            <a:srgbClr val="6E5E94"/>
          </a:solidFill>
          <a:ln w="12700">
            <a:solidFill>
              <a:srgbClr val="6E5E94"/>
            </a:solidFill>
            <a:prstDash val="solid"/>
          </a:ln>
        </p:spPr>
      </p:sp>
      <p:sp>
        <p:nvSpPr>
          <p:cNvPr id="10" name="Text 8"/>
          <p:cNvSpPr txBox="1"/>
          <p:nvPr/>
        </p:nvSpPr>
        <p:spPr>
          <a:xfrm>
            <a:off x="8598103" y="347472"/>
            <a:ext cx="93726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Injects</a:t>
            </a:r>
            <a:endParaRPr lang="en-US" sz="1200" dirty="0"/>
          </a:p>
        </p:txBody>
      </p:sp>
      <p:sp>
        <p:nvSpPr>
          <p:cNvPr id="11" name="Shape 9"/>
          <p:cNvSpPr/>
          <p:nvPr/>
        </p:nvSpPr>
        <p:spPr>
          <a:xfrm>
            <a:off x="7674559" y="347472"/>
            <a:ext cx="850392" cy="329184"/>
          </a:xfrm>
          <a:prstGeom prst="roundRect">
            <a:avLst>
              <a:gd name="adj" fmla="val 50000"/>
            </a:avLst>
          </a:prstGeom>
          <a:solidFill>
            <a:srgbClr val="F6F3FA"/>
          </a:solidFill>
          <a:ln w="12700">
            <a:solidFill>
              <a:srgbClr val="F6F3FA"/>
            </a:solidFill>
            <a:prstDash val="solid"/>
          </a:ln>
        </p:spPr>
      </p:sp>
      <p:sp>
        <p:nvSpPr>
          <p:cNvPr id="12" name="Text 10"/>
          <p:cNvSpPr txBox="1"/>
          <p:nvPr/>
        </p:nvSpPr>
        <p:spPr>
          <a:xfrm>
            <a:off x="7674559" y="347472"/>
            <a:ext cx="850392" cy="329184"/>
          </a:xfrm>
          <a:prstGeom prst="rect">
            <a:avLst/>
          </a:prstGeom>
          <a:noFill/>
          <a:ln/>
        </p:spPr>
        <p:txBody>
          <a:bodyPr wrap="square" lIns="0" tIns="0" rIns="0" bIns="0" rtlCol="0" anchor="ctr"/>
          <a:lstStyle/>
          <a:p>
            <a:pPr algn="ctr" indent="0" marL="0">
              <a:buNone/>
            </a:pPr>
            <a:r>
              <a:rPr lang="en-US" sz="1200" dirty="0">
                <a:solidFill>
                  <a:srgbClr val="6E5E94"/>
                </a:solidFill>
                <a:latin typeface="Calibri" pitchFamily="34" charset="0"/>
                <a:ea typeface="Calibri" pitchFamily="34" charset="-122"/>
                <a:cs typeface="Calibri" pitchFamily="34" charset="-120"/>
              </a:rPr>
              <a:t>Decide</a:t>
            </a:r>
            <a:endParaRPr lang="en-US" sz="1200" dirty="0"/>
          </a:p>
        </p:txBody>
      </p:sp>
      <p:sp>
        <p:nvSpPr>
          <p:cNvPr id="13" name="Shape 11"/>
          <p:cNvSpPr/>
          <p:nvPr/>
        </p:nvSpPr>
        <p:spPr>
          <a:xfrm>
            <a:off x="7011619" y="347472"/>
            <a:ext cx="589788" cy="329184"/>
          </a:xfrm>
          <a:prstGeom prst="roundRect">
            <a:avLst>
              <a:gd name="adj" fmla="val 50000"/>
            </a:avLst>
          </a:prstGeom>
          <a:solidFill>
            <a:srgbClr val="F6F3FA"/>
          </a:solidFill>
          <a:ln w="12700">
            <a:solidFill>
              <a:srgbClr val="F6F3FA"/>
            </a:solidFill>
            <a:prstDash val="solid"/>
          </a:ln>
        </p:spPr>
      </p:sp>
      <p:sp>
        <p:nvSpPr>
          <p:cNvPr id="14" name="Text 12"/>
          <p:cNvSpPr txBox="1"/>
          <p:nvPr/>
        </p:nvSpPr>
        <p:spPr>
          <a:xfrm>
            <a:off x="7011619" y="347472"/>
            <a:ext cx="589788" cy="329184"/>
          </a:xfrm>
          <a:prstGeom prst="rect">
            <a:avLst/>
          </a:prstGeom>
          <a:noFill/>
          <a:ln/>
        </p:spPr>
        <p:txBody>
          <a:bodyPr wrap="square" lIns="0" tIns="0" rIns="0" bIns="0" rtlCol="0" anchor="ctr"/>
          <a:lstStyle/>
          <a:p>
            <a:pPr algn="ctr" indent="0" marL="0">
              <a:buNone/>
            </a:pPr>
            <a:r>
              <a:rPr lang="en-US" sz="1200" dirty="0">
                <a:solidFill>
                  <a:srgbClr val="6E5E94"/>
                </a:solidFill>
                <a:latin typeface="Calibri" pitchFamily="34" charset="0"/>
                <a:ea typeface="Calibri" pitchFamily="34" charset="-122"/>
                <a:cs typeface="Calibri" pitchFamily="34" charset="-120"/>
              </a:rPr>
              <a:t>T+0</a:t>
            </a:r>
            <a:endParaRPr lang="en-US" sz="1200" dirty="0"/>
          </a:p>
        </p:txBody>
      </p:sp>
      <p:sp>
        <p:nvSpPr>
          <p:cNvPr id="15" name="Shape 13"/>
          <p:cNvSpPr/>
          <p:nvPr/>
        </p:nvSpPr>
        <p:spPr>
          <a:xfrm>
            <a:off x="5740603" y="347472"/>
            <a:ext cx="1197864" cy="329184"/>
          </a:xfrm>
          <a:prstGeom prst="roundRect">
            <a:avLst>
              <a:gd name="adj" fmla="val 50000"/>
            </a:avLst>
          </a:prstGeom>
          <a:solidFill>
            <a:srgbClr val="F6F3FA"/>
          </a:solidFill>
          <a:ln w="12700">
            <a:solidFill>
              <a:srgbClr val="F6F3FA"/>
            </a:solidFill>
            <a:prstDash val="solid"/>
          </a:ln>
        </p:spPr>
      </p:sp>
      <p:sp>
        <p:nvSpPr>
          <p:cNvPr id="16" name="Text 14"/>
          <p:cNvSpPr txBox="1"/>
          <p:nvPr/>
        </p:nvSpPr>
        <p:spPr>
          <a:xfrm>
            <a:off x="5740603" y="347472"/>
            <a:ext cx="1197864" cy="329184"/>
          </a:xfrm>
          <a:prstGeom prst="rect">
            <a:avLst/>
          </a:prstGeom>
          <a:noFill/>
          <a:ln/>
        </p:spPr>
        <p:txBody>
          <a:bodyPr wrap="square" lIns="0" tIns="0" rIns="0" bIns="0" rtlCol="0" anchor="ctr"/>
          <a:lstStyle/>
          <a:p>
            <a:pPr algn="ctr" indent="0" marL="0">
              <a:buNone/>
            </a:pPr>
            <a:r>
              <a:rPr lang="en-US" sz="1200" dirty="0">
                <a:solidFill>
                  <a:srgbClr val="6E5E94"/>
                </a:solidFill>
                <a:latin typeface="Calibri" pitchFamily="34" charset="0"/>
                <a:ea typeface="Calibri" pitchFamily="34" charset="-122"/>
                <a:cs typeface="Calibri" pitchFamily="34" charset="-120"/>
              </a:rPr>
              <a:t>Background</a:t>
            </a:r>
            <a:endParaRPr lang="en-US" sz="1200" dirty="0"/>
          </a:p>
        </p:txBody>
      </p:sp>
      <p:sp>
        <p:nvSpPr>
          <p:cNvPr id="17" name="Shape 15"/>
          <p:cNvSpPr/>
          <p:nvPr/>
        </p:nvSpPr>
        <p:spPr>
          <a:xfrm>
            <a:off x="548640" y="1600200"/>
            <a:ext cx="2377440" cy="4572000"/>
          </a:xfrm>
          <a:prstGeom prst="roundRect">
            <a:avLst>
              <a:gd name="adj" fmla="val 5385"/>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18" name="Text 16"/>
          <p:cNvSpPr txBox="1"/>
          <p:nvPr/>
        </p:nvSpPr>
        <p:spPr>
          <a:xfrm>
            <a:off x="822960" y="1783080"/>
            <a:ext cx="1874520" cy="320040"/>
          </a:xfrm>
          <a:prstGeom prst="rect">
            <a:avLst/>
          </a:prstGeom>
          <a:noFill/>
          <a:ln/>
        </p:spPr>
        <p:txBody>
          <a:bodyPr wrap="square" lIns="0" tIns="0" rIns="0" bIns="0" rtlCol="0" anchor="t"/>
          <a:lstStyle/>
          <a:p>
            <a:pPr indent="0" marL="0">
              <a:buNone/>
            </a:pPr>
            <a:r>
              <a:rPr lang="en-US" sz="1400" b="1" dirty="0">
                <a:solidFill>
                  <a:srgbClr val="465A69"/>
                </a:solidFill>
                <a:latin typeface="Calibri" pitchFamily="34" charset="0"/>
                <a:ea typeface="Calibri" pitchFamily="34" charset="-122"/>
                <a:cs typeface="Calibri" pitchFamily="34" charset="-120"/>
              </a:rPr>
              <a:t>Timeline</a:t>
            </a:r>
            <a:endParaRPr lang="en-US" sz="1400" dirty="0"/>
          </a:p>
        </p:txBody>
      </p:sp>
      <p:sp>
        <p:nvSpPr>
          <p:cNvPr id="19" name="Shape 17"/>
          <p:cNvSpPr/>
          <p:nvPr/>
        </p:nvSpPr>
        <p:spPr>
          <a:xfrm>
            <a:off x="905256" y="2551176"/>
            <a:ext cx="0" cy="257338"/>
          </a:xfrm>
          <a:prstGeom prst="line">
            <a:avLst/>
          </a:prstGeom>
          <a:noFill/>
          <a:ln w="19050">
            <a:solidFill>
              <a:srgbClr val="6E5E94"/>
            </a:solidFill>
            <a:prstDash val="solid"/>
          </a:ln>
        </p:spPr>
      </p:sp>
      <p:sp>
        <p:nvSpPr>
          <p:cNvPr id="20" name="Shape 18"/>
          <p:cNvSpPr/>
          <p:nvPr/>
        </p:nvSpPr>
        <p:spPr>
          <a:xfrm>
            <a:off x="777240" y="2267712"/>
            <a:ext cx="256032" cy="256032"/>
          </a:xfrm>
          <a:prstGeom prst="ellipse">
            <a:avLst/>
          </a:prstGeom>
          <a:solidFill>
            <a:srgbClr val="F6F3FA"/>
          </a:solidFill>
          <a:ln w="12700">
            <a:solidFill>
              <a:srgbClr val="F6F3FA"/>
            </a:solidFill>
            <a:prstDash val="solid"/>
          </a:ln>
        </p:spPr>
      </p:sp>
      <p:sp>
        <p:nvSpPr>
          <p:cNvPr id="21" name="Text 19"/>
          <p:cNvSpPr txBox="1"/>
          <p:nvPr/>
        </p:nvSpPr>
        <p:spPr>
          <a:xfrm>
            <a:off x="1188720" y="2203704"/>
            <a:ext cx="1645920" cy="568234"/>
          </a:xfrm>
          <a:prstGeom prst="rect">
            <a:avLst/>
          </a:prstGeom>
          <a:noFill/>
          <a:ln/>
        </p:spPr>
        <p:txBody>
          <a:bodyPr wrap="square" lIns="0" tIns="0" rIns="0" bIns="0" rtlCol="0" anchor="t"/>
          <a:lstStyle/>
          <a:p>
            <a:pPr indent="0" marL="0">
              <a:buNone/>
            </a:pPr>
            <a:r>
              <a:rPr lang="en-US" sz="1200" b="1" dirty="0">
                <a:solidFill>
                  <a:srgbClr val="465A69"/>
                </a:solidFill>
                <a:latin typeface="Calibri" pitchFamily="34" charset="0"/>
                <a:ea typeface="Calibri" pitchFamily="34" charset="-122"/>
                <a:cs typeface="Calibri" pitchFamily="34" charset="-120"/>
              </a:rPr>
              <a:t>Day 1</a:t>
            </a:r>
            <a:endParaRPr lang="en-US" sz="1200" dirty="0"/>
          </a:p>
          <a:p>
            <a:pPr indent="0" marL="0">
              <a:buNone/>
            </a:pPr>
            <a:r>
              <a:rPr lang="en-US" sz="1200" dirty="0">
                <a:solidFill>
                  <a:srgbClr val="1E2E3A"/>
                </a:solidFill>
                <a:latin typeface="Calibri" pitchFamily="34" charset="0"/>
                <a:ea typeface="Calibri" pitchFamily="34" charset="-122"/>
                <a:cs typeface="Calibri" pitchFamily="34" charset="-120"/>
              </a:rPr>
              <a:t>CRO exchange blocked</a:t>
            </a:r>
            <a:endParaRPr lang="en-US" sz="1200" dirty="0"/>
          </a:p>
        </p:txBody>
      </p:sp>
      <p:sp>
        <p:nvSpPr>
          <p:cNvPr id="22" name="Shape 20"/>
          <p:cNvSpPr/>
          <p:nvPr/>
        </p:nvSpPr>
        <p:spPr>
          <a:xfrm>
            <a:off x="905256" y="3119410"/>
            <a:ext cx="0" cy="257338"/>
          </a:xfrm>
          <a:prstGeom prst="line">
            <a:avLst/>
          </a:prstGeom>
          <a:noFill/>
          <a:ln w="19050">
            <a:solidFill>
              <a:srgbClr val="6E5E94"/>
            </a:solidFill>
            <a:prstDash val="solid"/>
          </a:ln>
        </p:spPr>
      </p:sp>
      <p:sp>
        <p:nvSpPr>
          <p:cNvPr id="23" name="Shape 21"/>
          <p:cNvSpPr/>
          <p:nvPr/>
        </p:nvSpPr>
        <p:spPr>
          <a:xfrm>
            <a:off x="777240" y="2835946"/>
            <a:ext cx="256032" cy="256032"/>
          </a:xfrm>
          <a:prstGeom prst="ellipse">
            <a:avLst/>
          </a:prstGeom>
          <a:solidFill>
            <a:srgbClr val="F6F3FA"/>
          </a:solidFill>
          <a:ln w="12700">
            <a:solidFill>
              <a:srgbClr val="F6F3FA"/>
            </a:solidFill>
            <a:prstDash val="solid"/>
          </a:ln>
        </p:spPr>
      </p:sp>
      <p:sp>
        <p:nvSpPr>
          <p:cNvPr id="24" name="Text 22"/>
          <p:cNvSpPr txBox="1"/>
          <p:nvPr/>
        </p:nvSpPr>
        <p:spPr>
          <a:xfrm>
            <a:off x="1188720" y="2771938"/>
            <a:ext cx="1645920" cy="568234"/>
          </a:xfrm>
          <a:prstGeom prst="rect">
            <a:avLst/>
          </a:prstGeom>
          <a:noFill/>
          <a:ln/>
        </p:spPr>
        <p:txBody>
          <a:bodyPr wrap="square" lIns="0" tIns="0" rIns="0" bIns="0" rtlCol="0" anchor="t"/>
          <a:lstStyle/>
          <a:p>
            <a:pPr indent="0" marL="0">
              <a:buNone/>
            </a:pPr>
            <a:r>
              <a:rPr lang="en-US" sz="1200" b="1" dirty="0">
                <a:solidFill>
                  <a:srgbClr val="465A69"/>
                </a:solidFill>
                <a:latin typeface="Calibri" pitchFamily="34" charset="0"/>
                <a:ea typeface="Calibri" pitchFamily="34" charset="-122"/>
                <a:cs typeface="Calibri" pitchFamily="34" charset="-120"/>
              </a:rPr>
              <a:t>Day 2</a:t>
            </a:r>
            <a:endParaRPr lang="en-US" sz="1200" dirty="0"/>
          </a:p>
          <a:p>
            <a:pPr indent="0" marL="0">
              <a:buNone/>
            </a:pPr>
            <a:r>
              <a:rPr lang="en-US" sz="1200" dirty="0">
                <a:solidFill>
                  <a:srgbClr val="1E2E3A"/>
                </a:solidFill>
                <a:latin typeface="Calibri" pitchFamily="34" charset="0"/>
                <a:ea typeface="Calibri" pitchFamily="34" charset="-122"/>
                <a:cs typeface="Calibri" pitchFamily="34" charset="-120"/>
              </a:rPr>
              <a:t>Submission artifacts unreachable</a:t>
            </a:r>
            <a:endParaRPr lang="en-US" sz="1200" dirty="0"/>
          </a:p>
        </p:txBody>
      </p:sp>
      <p:sp>
        <p:nvSpPr>
          <p:cNvPr id="25" name="Shape 23"/>
          <p:cNvSpPr/>
          <p:nvPr/>
        </p:nvSpPr>
        <p:spPr>
          <a:xfrm>
            <a:off x="905256" y="3687645"/>
            <a:ext cx="0" cy="257338"/>
          </a:xfrm>
          <a:prstGeom prst="line">
            <a:avLst/>
          </a:prstGeom>
          <a:noFill/>
          <a:ln w="19050">
            <a:solidFill>
              <a:srgbClr val="6E5E94"/>
            </a:solidFill>
            <a:prstDash val="solid"/>
          </a:ln>
        </p:spPr>
      </p:sp>
      <p:sp>
        <p:nvSpPr>
          <p:cNvPr id="26" name="Shape 24"/>
          <p:cNvSpPr/>
          <p:nvPr/>
        </p:nvSpPr>
        <p:spPr>
          <a:xfrm>
            <a:off x="777240" y="3404181"/>
            <a:ext cx="256032" cy="256032"/>
          </a:xfrm>
          <a:prstGeom prst="ellipse">
            <a:avLst/>
          </a:prstGeom>
          <a:solidFill>
            <a:srgbClr val="F6F3FA"/>
          </a:solidFill>
          <a:ln w="12700">
            <a:solidFill>
              <a:srgbClr val="F6F3FA"/>
            </a:solidFill>
            <a:prstDash val="solid"/>
          </a:ln>
        </p:spPr>
      </p:sp>
      <p:sp>
        <p:nvSpPr>
          <p:cNvPr id="27" name="Text 25"/>
          <p:cNvSpPr txBox="1"/>
          <p:nvPr/>
        </p:nvSpPr>
        <p:spPr>
          <a:xfrm>
            <a:off x="1188720" y="3340173"/>
            <a:ext cx="1645920" cy="568234"/>
          </a:xfrm>
          <a:prstGeom prst="rect">
            <a:avLst/>
          </a:prstGeom>
          <a:noFill/>
          <a:ln/>
        </p:spPr>
        <p:txBody>
          <a:bodyPr wrap="square" lIns="0" tIns="0" rIns="0" bIns="0" rtlCol="0" anchor="t"/>
          <a:lstStyle/>
          <a:p>
            <a:pPr indent="0" marL="0">
              <a:buNone/>
            </a:pPr>
            <a:r>
              <a:rPr lang="en-US" sz="1200" b="1" dirty="0">
                <a:solidFill>
                  <a:srgbClr val="465A69"/>
                </a:solidFill>
                <a:latin typeface="Calibri" pitchFamily="34" charset="0"/>
                <a:ea typeface="Calibri" pitchFamily="34" charset="-122"/>
                <a:cs typeface="Calibri" pitchFamily="34" charset="-120"/>
              </a:rPr>
              <a:t>Day 3</a:t>
            </a:r>
            <a:endParaRPr lang="en-US" sz="1200" dirty="0"/>
          </a:p>
          <a:p>
            <a:pPr indent="0" marL="0">
              <a:buNone/>
            </a:pPr>
            <a:r>
              <a:rPr lang="en-US" sz="1200" dirty="0">
                <a:solidFill>
                  <a:srgbClr val="1E2E3A"/>
                </a:solidFill>
                <a:latin typeface="Calibri" pitchFamily="34" charset="0"/>
                <a:ea typeface="Calibri" pitchFamily="34" charset="-122"/>
                <a:cs typeface="Calibri" pitchFamily="34" charset="-120"/>
              </a:rPr>
              <a:t>Providers down, no date</a:t>
            </a:r>
            <a:endParaRPr lang="en-US" sz="1200" dirty="0"/>
          </a:p>
        </p:txBody>
      </p:sp>
      <p:sp>
        <p:nvSpPr>
          <p:cNvPr id="28" name="Shape 26"/>
          <p:cNvSpPr/>
          <p:nvPr/>
        </p:nvSpPr>
        <p:spPr>
          <a:xfrm>
            <a:off x="905256" y="4255879"/>
            <a:ext cx="0" cy="257338"/>
          </a:xfrm>
          <a:prstGeom prst="line">
            <a:avLst/>
          </a:prstGeom>
          <a:noFill/>
          <a:ln w="19050">
            <a:solidFill>
              <a:srgbClr val="C9D5D2"/>
            </a:solidFill>
            <a:prstDash val="solid"/>
          </a:ln>
        </p:spPr>
      </p:sp>
      <p:sp>
        <p:nvSpPr>
          <p:cNvPr id="29" name="Shape 27"/>
          <p:cNvSpPr/>
          <p:nvPr/>
        </p:nvSpPr>
        <p:spPr>
          <a:xfrm>
            <a:off x="777240" y="3972415"/>
            <a:ext cx="256032" cy="256032"/>
          </a:xfrm>
          <a:prstGeom prst="ellipse">
            <a:avLst/>
          </a:prstGeom>
          <a:solidFill>
            <a:srgbClr val="6E5E94"/>
          </a:solidFill>
          <a:ln w="12700">
            <a:solidFill>
              <a:srgbClr val="6E5E94"/>
            </a:solidFill>
            <a:prstDash val="solid"/>
          </a:ln>
        </p:spPr>
      </p:sp>
      <p:sp>
        <p:nvSpPr>
          <p:cNvPr id="30" name="Text 28"/>
          <p:cNvSpPr txBox="1"/>
          <p:nvPr/>
        </p:nvSpPr>
        <p:spPr>
          <a:xfrm>
            <a:off x="1188720" y="3908407"/>
            <a:ext cx="1645920" cy="568234"/>
          </a:xfrm>
          <a:prstGeom prst="rect">
            <a:avLst/>
          </a:prstGeom>
          <a:noFill/>
          <a:ln/>
        </p:spPr>
        <p:txBody>
          <a:bodyPr wrap="square" lIns="0" tIns="0" rIns="0" bIns="0" rtlCol="0" anchor="t"/>
          <a:lstStyle/>
          <a:p>
            <a:pPr indent="0" marL="0">
              <a:buNone/>
            </a:pPr>
            <a:r>
              <a:rPr lang="en-US" sz="1200" b="1" dirty="0">
                <a:solidFill>
                  <a:srgbClr val="6E5E94"/>
                </a:solidFill>
                <a:latin typeface="Calibri" pitchFamily="34" charset="0"/>
                <a:ea typeface="Calibri" pitchFamily="34" charset="-122"/>
                <a:cs typeface="Calibri" pitchFamily="34" charset="-120"/>
              </a:rPr>
              <a:t>Day 5</a:t>
            </a:r>
            <a:endParaRPr lang="en-US" sz="1200" dirty="0"/>
          </a:p>
          <a:p>
            <a:pPr indent="0" marL="0">
              <a:buNone/>
            </a:pPr>
            <a:r>
              <a:rPr lang="en-US" sz="1200" b="1" dirty="0">
                <a:solidFill>
                  <a:srgbClr val="6E5E94"/>
                </a:solidFill>
                <a:latin typeface="Calibri" pitchFamily="34" charset="0"/>
                <a:ea typeface="Calibri" pitchFamily="34" charset="-122"/>
                <a:cs typeface="Calibri" pitchFamily="34" charset="-120"/>
              </a:rPr>
              <a:t>Vendor payments delayed</a:t>
            </a:r>
            <a:endParaRPr lang="en-US" sz="1200" dirty="0"/>
          </a:p>
        </p:txBody>
      </p:sp>
      <p:sp>
        <p:nvSpPr>
          <p:cNvPr id="31" name="Shape 29"/>
          <p:cNvSpPr/>
          <p:nvPr/>
        </p:nvSpPr>
        <p:spPr>
          <a:xfrm>
            <a:off x="905256" y="4824113"/>
            <a:ext cx="0" cy="257338"/>
          </a:xfrm>
          <a:prstGeom prst="line">
            <a:avLst/>
          </a:prstGeom>
          <a:noFill/>
          <a:ln w="19050">
            <a:solidFill>
              <a:srgbClr val="C9D5D2"/>
            </a:solidFill>
            <a:prstDash val="solid"/>
          </a:ln>
        </p:spPr>
      </p:sp>
      <p:sp>
        <p:nvSpPr>
          <p:cNvPr id="32" name="Shape 30"/>
          <p:cNvSpPr/>
          <p:nvPr/>
        </p:nvSpPr>
        <p:spPr>
          <a:xfrm>
            <a:off x="777240" y="4540649"/>
            <a:ext cx="256032" cy="256032"/>
          </a:xfrm>
          <a:prstGeom prst="ellipse">
            <a:avLst/>
          </a:prstGeom>
          <a:solidFill>
            <a:srgbClr val="FFFFFF"/>
          </a:solidFill>
          <a:ln w="15875">
            <a:solidFill>
              <a:srgbClr val="C9D5D2"/>
            </a:solidFill>
            <a:prstDash val="solid"/>
          </a:ln>
        </p:spPr>
      </p:sp>
      <p:sp>
        <p:nvSpPr>
          <p:cNvPr id="33" name="Shape 31"/>
          <p:cNvSpPr/>
          <p:nvPr/>
        </p:nvSpPr>
        <p:spPr>
          <a:xfrm>
            <a:off x="905256" y="5392347"/>
            <a:ext cx="0" cy="257338"/>
          </a:xfrm>
          <a:prstGeom prst="line">
            <a:avLst/>
          </a:prstGeom>
          <a:noFill/>
          <a:ln w="19050">
            <a:solidFill>
              <a:srgbClr val="C9D5D2"/>
            </a:solidFill>
            <a:prstDash val="solid"/>
          </a:ln>
        </p:spPr>
      </p:sp>
      <p:sp>
        <p:nvSpPr>
          <p:cNvPr id="34" name="Shape 32"/>
          <p:cNvSpPr/>
          <p:nvPr/>
        </p:nvSpPr>
        <p:spPr>
          <a:xfrm>
            <a:off x="777240" y="5108883"/>
            <a:ext cx="256032" cy="256032"/>
          </a:xfrm>
          <a:prstGeom prst="ellipse">
            <a:avLst/>
          </a:prstGeom>
          <a:solidFill>
            <a:srgbClr val="FFFFFF"/>
          </a:solidFill>
          <a:ln w="15875">
            <a:solidFill>
              <a:srgbClr val="C9D5D2"/>
            </a:solidFill>
            <a:prstDash val="solid"/>
          </a:ln>
        </p:spPr>
      </p:sp>
      <p:sp>
        <p:nvSpPr>
          <p:cNvPr id="35" name="Shape 33"/>
          <p:cNvSpPr/>
          <p:nvPr/>
        </p:nvSpPr>
        <p:spPr>
          <a:xfrm>
            <a:off x="777240" y="5677118"/>
            <a:ext cx="256032" cy="256032"/>
          </a:xfrm>
          <a:prstGeom prst="ellipse">
            <a:avLst/>
          </a:prstGeom>
          <a:solidFill>
            <a:srgbClr val="FFFFFF"/>
          </a:solidFill>
          <a:ln w="15875">
            <a:solidFill>
              <a:srgbClr val="C9D5D2"/>
            </a:solidFill>
            <a:prstDash val="solid"/>
          </a:ln>
        </p:spPr>
      </p:sp>
      <p:sp>
        <p:nvSpPr>
          <p:cNvPr id="36" name="Shape 34"/>
          <p:cNvSpPr/>
          <p:nvPr/>
        </p:nvSpPr>
        <p:spPr>
          <a:xfrm>
            <a:off x="3154680" y="1600200"/>
            <a:ext cx="5696712" cy="3017520"/>
          </a:xfrm>
          <a:prstGeom prst="roundRect">
            <a:avLst>
              <a:gd name="adj" fmla="val 4242"/>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37" name="Shape 35"/>
          <p:cNvSpPr/>
          <p:nvPr/>
        </p:nvSpPr>
        <p:spPr>
          <a:xfrm>
            <a:off x="3429000" y="1810512"/>
            <a:ext cx="2331720" cy="384048"/>
          </a:xfrm>
          <a:prstGeom prst="roundRect">
            <a:avLst>
              <a:gd name="adj" fmla="val 50000"/>
            </a:avLst>
          </a:prstGeom>
          <a:solidFill>
            <a:srgbClr val="6E5E94"/>
          </a:solidFill>
          <a:ln w="12700">
            <a:solidFill>
              <a:srgbClr val="6E5E94"/>
            </a:solidFill>
            <a:prstDash val="solid"/>
          </a:ln>
        </p:spPr>
      </p:sp>
      <p:pic>
        <p:nvPicPr>
          <p:cNvPr id="38" name="Image 0" descr="preencoded.png">    </p:cNvPr>
          <p:cNvPicPr>
            <a:picLocks noChangeAspect="1"/>
          </p:cNvPicPr>
          <p:nvPr/>
        </p:nvPicPr>
        <p:blipFill>
          <a:blip r:embed="rId1"/>
          <a:stretch>
            <a:fillRect/>
          </a:stretch>
        </p:blipFill>
        <p:spPr>
          <a:xfrm>
            <a:off x="3547872" y="1874520"/>
            <a:ext cx="246888" cy="246888"/>
          </a:xfrm>
          <a:prstGeom prst="rect">
            <a:avLst/>
          </a:prstGeom>
        </p:spPr>
      </p:pic>
      <p:sp>
        <p:nvSpPr>
          <p:cNvPr id="39" name="Text 36"/>
          <p:cNvSpPr txBox="1"/>
          <p:nvPr/>
        </p:nvSpPr>
        <p:spPr>
          <a:xfrm>
            <a:off x="3867912" y="1810512"/>
            <a:ext cx="1874520" cy="38404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Day 5  |  11:00 AM</a:t>
            </a:r>
            <a:endParaRPr lang="en-US" sz="1300" dirty="0"/>
          </a:p>
        </p:txBody>
      </p:sp>
      <p:sp>
        <p:nvSpPr>
          <p:cNvPr id="40" name="Text 37"/>
          <p:cNvSpPr txBox="1"/>
          <p:nvPr/>
        </p:nvSpPr>
        <p:spPr>
          <a:xfrm>
            <a:off x="3429000" y="2286000"/>
            <a:ext cx="2743200" cy="256032"/>
          </a:xfrm>
          <a:prstGeom prst="rect">
            <a:avLst/>
          </a:prstGeom>
          <a:noFill/>
          <a:ln/>
        </p:spPr>
        <p:txBody>
          <a:bodyPr wrap="square" lIns="0" tIns="0" rIns="0" bIns="0" rtlCol="0" anchor="t"/>
          <a:lstStyle/>
          <a:p>
            <a:pPr indent="0" marL="0">
              <a:buNone/>
            </a:pPr>
            <a:r>
              <a:rPr lang="en-US" sz="1200" b="1" dirty="0">
                <a:solidFill>
                  <a:srgbClr val="465A69"/>
                </a:solidFill>
                <a:latin typeface="Calibri" pitchFamily="34" charset="0"/>
                <a:ea typeface="Calibri" pitchFamily="34" charset="-122"/>
                <a:cs typeface="Calibri" pitchFamily="34" charset="-120"/>
              </a:rPr>
              <a:t>New information</a:t>
            </a:r>
            <a:endParaRPr lang="en-US" sz="1200" dirty="0"/>
          </a:p>
        </p:txBody>
      </p:sp>
      <p:sp>
        <p:nvSpPr>
          <p:cNvPr id="41" name="Text 38"/>
          <p:cNvSpPr txBox="1"/>
          <p:nvPr/>
        </p:nvSpPr>
        <p:spPr>
          <a:xfrm>
            <a:off x="3429000" y="2560320"/>
            <a:ext cx="5166360" cy="1965960"/>
          </a:xfrm>
          <a:prstGeom prst="rect">
            <a:avLst/>
          </a:prstGeom>
          <a:noFill/>
          <a:ln/>
        </p:spPr>
        <p:txBody>
          <a:bodyPr wrap="square" lIns="0" tIns="0" rIns="0" bIns="0" rtlCol="0" anchor="t"/>
          <a:lstStyle/>
          <a:p>
            <a:pPr indent="0" marL="0">
              <a:buNone/>
            </a:pPr>
            <a:r>
              <a:rPr lang="en-US" sz="1800" dirty="0">
                <a:solidFill>
                  <a:srgbClr val="1E2E3A"/>
                </a:solidFill>
                <a:latin typeface="Calibri" pitchFamily="34" charset="0"/>
                <a:ea typeface="Calibri" pitchFamily="34" charset="-122"/>
                <a:cs typeface="Calibri" pitchFamily="34" charset="-120"/>
              </a:rPr>
              <a:t>Finance identifies delayed vendor payments, including the CRO's invoice.</a:t>
            </a:r>
            <a:endParaRPr lang="en-US" sz="1800" dirty="0"/>
          </a:p>
        </p:txBody>
      </p:sp>
      <p:sp>
        <p:nvSpPr>
          <p:cNvPr id="42" name="Shape 39"/>
          <p:cNvSpPr/>
          <p:nvPr/>
        </p:nvSpPr>
        <p:spPr>
          <a:xfrm>
            <a:off x="3154680" y="4800600"/>
            <a:ext cx="5696712" cy="1371600"/>
          </a:xfrm>
          <a:prstGeom prst="roundRect">
            <a:avLst>
              <a:gd name="adj" fmla="val 9333"/>
            </a:avLst>
          </a:prstGeom>
          <a:solidFill>
            <a:srgbClr val="F6F3FA"/>
          </a:solidFill>
          <a:ln w="12700">
            <a:solidFill>
              <a:srgbClr val="F6F3FA"/>
            </a:solidFill>
            <a:prstDash val="solid"/>
          </a:ln>
          <a:effectLst>
            <a:outerShdw sx="100000" sy="100000" kx="0" ky="0" algn="bl" rotWithShape="0" blurRad="177800" dist="50800" dir="5400000">
              <a:srgbClr val="1B4965">
                <a:alpha val="16000"/>
              </a:srgbClr>
            </a:outerShdw>
          </a:effectLst>
        </p:spPr>
      </p:sp>
      <p:sp>
        <p:nvSpPr>
          <p:cNvPr id="43" name="Text 40"/>
          <p:cNvSpPr txBox="1"/>
          <p:nvPr/>
        </p:nvSpPr>
        <p:spPr>
          <a:xfrm>
            <a:off x="3429000" y="4901184"/>
            <a:ext cx="2743200" cy="256032"/>
          </a:xfrm>
          <a:prstGeom prst="rect">
            <a:avLst/>
          </a:prstGeom>
          <a:noFill/>
          <a:ln/>
        </p:spPr>
        <p:txBody>
          <a:bodyPr wrap="square" lIns="0" tIns="0" rIns="0" bIns="0" rtlCol="0" anchor="t"/>
          <a:lstStyle/>
          <a:p>
            <a:pPr indent="0" marL="0">
              <a:buNone/>
            </a:pPr>
            <a:r>
              <a:rPr lang="en-US" sz="1300" b="1" dirty="0">
                <a:solidFill>
                  <a:srgbClr val="6E5E94"/>
                </a:solidFill>
                <a:latin typeface="Calibri" pitchFamily="34" charset="0"/>
                <a:ea typeface="Calibri" pitchFamily="34" charset="-122"/>
                <a:cs typeface="Calibri" pitchFamily="34" charset="-120"/>
              </a:rPr>
              <a:t>Decide</a:t>
            </a:r>
            <a:endParaRPr lang="en-US" sz="1300" dirty="0"/>
          </a:p>
        </p:txBody>
      </p:sp>
      <p:sp>
        <p:nvSpPr>
          <p:cNvPr id="44" name="Text 41"/>
          <p:cNvSpPr txBox="1"/>
          <p:nvPr/>
        </p:nvSpPr>
        <p:spPr>
          <a:xfrm>
            <a:off x="3429000" y="5175504"/>
            <a:ext cx="5166360" cy="914400"/>
          </a:xfrm>
          <a:prstGeom prst="rect">
            <a:avLst/>
          </a:prstGeom>
          <a:noFill/>
          <a:ln/>
        </p:spPr>
        <p:txBody>
          <a:bodyPr wrap="square" lIns="0" tIns="0" rIns="0" bIns="0" rtlCol="0" anchor="t"/>
          <a:lstStyle/>
          <a:p>
            <a:pPr indent="0" marL="0">
              <a:buNone/>
            </a:pPr>
            <a:r>
              <a:rPr lang="en-US" sz="1600" b="1" dirty="0">
                <a:solidFill>
                  <a:srgbClr val="1E2E3A"/>
                </a:solidFill>
                <a:latin typeface="Calibri" pitchFamily="34" charset="0"/>
                <a:ea typeface="Calibri" pitchFamily="34" charset="-122"/>
                <a:cs typeface="Calibri" pitchFamily="34" charset="-120"/>
              </a:rPr>
              <a:t>Who has authority to accept additional business risk? What controls apply to manual payments?</a:t>
            </a:r>
            <a:endParaRPr lang="en-US" sz="1600" dirty="0"/>
          </a:p>
        </p:txBody>
      </p:sp>
      <p:sp>
        <p:nvSpPr>
          <p:cNvPr id="45" name="Shape 42"/>
          <p:cNvSpPr/>
          <p:nvPr/>
        </p:nvSpPr>
        <p:spPr>
          <a:xfrm>
            <a:off x="9079992" y="1600200"/>
            <a:ext cx="2560320" cy="4572000"/>
          </a:xfrm>
          <a:prstGeom prst="roundRect">
            <a:avLst>
              <a:gd name="adj" fmla="val 5000"/>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46" name="Text 43"/>
          <p:cNvSpPr txBox="1"/>
          <p:nvPr/>
        </p:nvSpPr>
        <p:spPr>
          <a:xfrm>
            <a:off x="9262872" y="1728216"/>
            <a:ext cx="2194560" cy="457200"/>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Accounts payable (simulated)</a:t>
            </a:r>
            <a:endParaRPr lang="en-US" sz="1300" dirty="0"/>
          </a:p>
        </p:txBody>
      </p:sp>
      <p:sp>
        <p:nvSpPr>
          <p:cNvPr id="47" name="Shape 44"/>
          <p:cNvSpPr/>
          <p:nvPr/>
        </p:nvSpPr>
        <p:spPr>
          <a:xfrm>
            <a:off x="9262872" y="2221992"/>
            <a:ext cx="2194560" cy="3767328"/>
          </a:xfrm>
          <a:prstGeom prst="roundRect">
            <a:avLst>
              <a:gd name="adj" fmla="val 3333"/>
            </a:avLst>
          </a:prstGeom>
          <a:solidFill>
            <a:srgbClr val="FFFFFF"/>
          </a:solidFill>
          <a:ln w="9525">
            <a:solidFill>
              <a:srgbClr val="C9D3DE"/>
            </a:solidFill>
            <a:prstDash val="solid"/>
          </a:ln>
        </p:spPr>
      </p:sp>
      <p:pic>
        <p:nvPicPr>
          <p:cNvPr id="48" name="Image 1" descr="preencoded.png">    </p:cNvPr>
          <p:cNvPicPr>
            <a:picLocks noChangeAspect="1"/>
          </p:cNvPicPr>
          <p:nvPr/>
        </p:nvPicPr>
        <p:blipFill>
          <a:blip r:embed="rId2"/>
          <a:stretch>
            <a:fillRect/>
          </a:stretch>
        </p:blipFill>
        <p:spPr>
          <a:xfrm>
            <a:off x="9381744" y="2423160"/>
            <a:ext cx="237744" cy="237744"/>
          </a:xfrm>
          <a:prstGeom prst="rect">
            <a:avLst/>
          </a:prstGeom>
        </p:spPr>
      </p:pic>
      <p:sp>
        <p:nvSpPr>
          <p:cNvPr id="49" name="Text 45"/>
          <p:cNvSpPr txBox="1"/>
          <p:nvPr/>
        </p:nvSpPr>
        <p:spPr>
          <a:xfrm>
            <a:off x="9710928" y="2386584"/>
            <a:ext cx="1591056" cy="292608"/>
          </a:xfrm>
          <a:prstGeom prst="rect">
            <a:avLst/>
          </a:prstGeom>
          <a:noFill/>
          <a:ln/>
        </p:spPr>
        <p:txBody>
          <a:bodyPr wrap="square" lIns="0" tIns="0" rIns="0" bIns="0" rtlCol="0" anchor="ctr"/>
          <a:lstStyle/>
          <a:p>
            <a:pPr indent="0" marL="0">
              <a:buNone/>
            </a:pPr>
            <a:r>
              <a:rPr lang="en-US" sz="1550" b="1" dirty="0">
                <a:solidFill>
                  <a:srgbClr val="1B2A4A"/>
                </a:solidFill>
                <a:latin typeface="Calibri" pitchFamily="34" charset="0"/>
                <a:ea typeface="Calibri" pitchFamily="34" charset="-122"/>
                <a:cs typeface="Calibri" pitchFamily="34" charset="-120"/>
              </a:rPr>
              <a:t>Finance</a:t>
            </a:r>
            <a:endParaRPr lang="en-US" sz="1550" dirty="0"/>
          </a:p>
        </p:txBody>
      </p:sp>
      <p:pic>
        <p:nvPicPr>
          <p:cNvPr id="50" name="Image 2" descr="preencoded.png">    </p:cNvPr>
          <p:cNvPicPr>
            <a:picLocks noChangeAspect="1"/>
          </p:cNvPicPr>
          <p:nvPr/>
        </p:nvPicPr>
        <p:blipFill>
          <a:blip r:embed="rId3"/>
          <a:stretch>
            <a:fillRect/>
          </a:stretch>
        </p:blipFill>
        <p:spPr>
          <a:xfrm>
            <a:off x="9381744" y="2798064"/>
            <a:ext cx="219456" cy="219456"/>
          </a:xfrm>
          <a:prstGeom prst="rect">
            <a:avLst/>
          </a:prstGeom>
        </p:spPr>
      </p:pic>
      <p:sp>
        <p:nvSpPr>
          <p:cNvPr id="51" name="Text 46"/>
          <p:cNvSpPr txBox="1"/>
          <p:nvPr/>
        </p:nvSpPr>
        <p:spPr>
          <a:xfrm>
            <a:off x="9674352" y="2770632"/>
            <a:ext cx="1636776" cy="253492"/>
          </a:xfrm>
          <a:prstGeom prst="rect">
            <a:avLst/>
          </a:prstGeom>
          <a:noFill/>
          <a:ln/>
        </p:spPr>
        <p:txBody>
          <a:bodyPr wrap="square" lIns="0" tIns="0" rIns="0" bIns="0" rtlCol="0" anchor="ctr"/>
          <a:lstStyle/>
          <a:p>
            <a:pPr indent="0" marL="0">
              <a:buNone/>
            </a:pPr>
            <a:r>
              <a:rPr lang="en-US" sz="1400" b="1" dirty="0">
                <a:solidFill>
                  <a:srgbClr val="1B2A4A"/>
                </a:solidFill>
                <a:latin typeface="Calibri" pitchFamily="34" charset="0"/>
                <a:ea typeface="Calibri" pitchFamily="34" charset="-122"/>
                <a:cs typeface="Calibri" pitchFamily="34" charset="-120"/>
              </a:rPr>
              <a:t>Payments on hold</a:t>
            </a:r>
            <a:endParaRPr lang="en-US" sz="1400" dirty="0"/>
          </a:p>
        </p:txBody>
      </p:sp>
      <p:sp>
        <p:nvSpPr>
          <p:cNvPr id="52" name="Text 47"/>
          <p:cNvSpPr txBox="1"/>
          <p:nvPr/>
        </p:nvSpPr>
        <p:spPr>
          <a:xfrm>
            <a:off x="9381744" y="3078988"/>
            <a:ext cx="1956816" cy="1429512"/>
          </a:xfrm>
          <a:prstGeom prst="rect">
            <a:avLst/>
          </a:prstGeom>
          <a:noFill/>
          <a:ln/>
        </p:spPr>
        <p:txBody>
          <a:bodyPr wrap="square" lIns="0" tIns="0" rIns="0" bIns="0" rtlCol="0" anchor="t"/>
          <a:lstStyle/>
          <a:p>
            <a:pPr marL="165100" indent="-165100">
              <a:spcAft>
                <a:spcPts val="200"/>
              </a:spcAft>
              <a:buSzPct val="100000"/>
              <a:buChar char="•"/>
            </a:pPr>
            <a:r>
              <a:rPr lang="en-US" sz="1400" dirty="0">
                <a:solidFill>
                  <a:srgbClr val="1E2E3A"/>
                </a:solidFill>
                <a:latin typeface="Calibri" pitchFamily="34" charset="0"/>
                <a:ea typeface="Calibri" pitchFamily="34" charset="-122"/>
                <a:cs typeface="Calibri" pitchFamily="34" charset="-120"/>
              </a:rPr>
              <a:t>CRO invoice: past due</a:t>
            </a:r>
            <a:endParaRPr lang="en-US" sz="1400" dirty="0"/>
          </a:p>
          <a:p>
            <a:pPr marL="165100" indent="-165100">
              <a:spcAft>
                <a:spcPts val="200"/>
              </a:spcAft>
              <a:buSzPct val="100000"/>
              <a:buChar char="•"/>
            </a:pPr>
            <a:r>
              <a:rPr lang="en-US" sz="1400" dirty="0">
                <a:solidFill>
                  <a:srgbClr val="1E2E3A"/>
                </a:solidFill>
                <a:latin typeface="Calibri" pitchFamily="34" charset="0"/>
                <a:ea typeface="Calibri" pitchFamily="34" charset="-122"/>
                <a:cs typeface="Calibri" pitchFamily="34" charset="-120"/>
              </a:rPr>
              <a:t>Lab supplier: due in 2 days</a:t>
            </a:r>
            <a:endParaRPr lang="en-US" sz="1400" dirty="0"/>
          </a:p>
          <a:p>
            <a:pPr marL="165100" indent="-165100">
              <a:spcAft>
                <a:spcPts val="200"/>
              </a:spcAft>
              <a:buSzPct val="100000"/>
              <a:buChar char="•"/>
            </a:pPr>
            <a:r>
              <a:rPr lang="en-US" sz="1400" dirty="0">
                <a:solidFill>
                  <a:srgbClr val="1E2E3A"/>
                </a:solidFill>
                <a:latin typeface="Calibri" pitchFamily="34" charset="0"/>
                <a:ea typeface="Calibri" pitchFamily="34" charset="-122"/>
                <a:cs typeface="Calibri" pitchFamily="34" charset="-120"/>
              </a:rPr>
              <a:t>12 invoices awaiting approval</a:t>
            </a:r>
            <a:endParaRPr lang="en-US" sz="1400" dirty="0"/>
          </a:p>
        </p:txBody>
      </p:sp>
      <p:sp>
        <p:nvSpPr>
          <p:cNvPr id="53" name="Text 48"/>
          <p:cNvSpPr txBox="1"/>
          <p:nvPr/>
        </p:nvSpPr>
        <p:spPr>
          <a:xfrm>
            <a:off x="9381744" y="4563364"/>
            <a:ext cx="1956816" cy="228600"/>
          </a:xfrm>
          <a:prstGeom prst="rect">
            <a:avLst/>
          </a:prstGeom>
          <a:noFill/>
          <a:ln/>
        </p:spPr>
        <p:txBody>
          <a:bodyPr wrap="square" lIns="0" tIns="0" rIns="0" bIns="0" rtlCol="0" anchor="t"/>
          <a:lstStyle/>
          <a:p>
            <a:pPr indent="0" marL="0">
              <a:buNone/>
            </a:pPr>
            <a:r>
              <a:rPr lang="en-US" sz="1200" dirty="0">
                <a:solidFill>
                  <a:srgbClr val="465A69"/>
                </a:solidFill>
                <a:latin typeface="Calibri" pitchFamily="34" charset="0"/>
                <a:ea typeface="Calibri" pitchFamily="34" charset="-122"/>
                <a:cs typeface="Calibri" pitchFamily="34" charset="-120"/>
              </a:rPr>
              <a:t>Day 5, 11:00 AM</a:t>
            </a:r>
            <a:endParaRPr lang="en-US" sz="1200" dirty="0"/>
          </a:p>
        </p:txBody>
      </p:sp>
      <p:sp>
        <p:nvSpPr>
          <p:cNvPr id="54" name="Text 49"/>
          <p:cNvSpPr txBox="1"/>
          <p:nvPr/>
        </p:nvSpPr>
        <p:spPr>
          <a:xfrm>
            <a:off x="548640" y="6254496"/>
            <a:ext cx="11091672" cy="256032"/>
          </a:xfrm>
          <a:prstGeom prst="rect">
            <a:avLst/>
          </a:prstGeom>
          <a:noFill/>
          <a:ln/>
        </p:spPr>
        <p:txBody>
          <a:bodyPr wrap="square" lIns="0" tIns="0" rIns="0" bIns="0" rtlCol="0" anchor="ctr"/>
          <a:lstStyle/>
          <a:p>
            <a:pPr indent="0" marL="0">
              <a:buNone/>
            </a:pPr>
            <a:r>
              <a:rPr lang="en-US" sz="1200" b="1" dirty="0">
                <a:solidFill>
                  <a:srgbClr val="465A69"/>
                </a:solidFill>
                <a:latin typeface="Calibri" pitchFamily="34" charset="0"/>
                <a:ea typeface="Calibri" pitchFamily="34" charset="-122"/>
                <a:cs typeface="Calibri" pitchFamily="34" charset="-120"/>
              </a:rPr>
              <a:t>Acronyms:  </a:t>
            </a:r>
            <a:pPr indent="0" marL="0">
              <a:buNone/>
            </a:pPr>
            <a:r>
              <a:rPr lang="en-US" sz="1200" dirty="0">
                <a:solidFill>
                  <a:srgbClr val="465A69"/>
                </a:solidFill>
                <a:latin typeface="Calibri" pitchFamily="34" charset="0"/>
                <a:ea typeface="Calibri" pitchFamily="34" charset="-122"/>
                <a:cs typeface="Calibri" pitchFamily="34" charset="-120"/>
              </a:rPr>
              <a:t>T+: time since the first signal;  CRO: contract research organization</a:t>
            </a:r>
            <a:endParaRPr lang="en-US" sz="1200" dirty="0"/>
          </a:p>
        </p:txBody>
      </p:sp>
      <p:sp>
        <p:nvSpPr>
          <p:cNvPr id="55" name="Shape 50"/>
          <p:cNvSpPr/>
          <p:nvPr/>
        </p:nvSpPr>
        <p:spPr>
          <a:xfrm>
            <a:off x="548640" y="6537960"/>
            <a:ext cx="763524" cy="274320"/>
          </a:xfrm>
          <a:prstGeom prst="roundRect">
            <a:avLst>
              <a:gd name="adj" fmla="val 50000"/>
            </a:avLst>
          </a:prstGeom>
          <a:solidFill>
            <a:srgbClr val="E4ECF2"/>
          </a:solidFill>
          <a:ln w="12700">
            <a:solidFill>
              <a:srgbClr val="E4ECF2"/>
            </a:solidFill>
            <a:prstDash val="solid"/>
          </a:ln>
        </p:spPr>
      </p:sp>
      <p:sp>
        <p:nvSpPr>
          <p:cNvPr id="56" name="Text 51"/>
          <p:cNvSpPr txBox="1"/>
          <p:nvPr/>
        </p:nvSpPr>
        <p:spPr>
          <a:xfrm>
            <a:off x="548640" y="6537960"/>
            <a:ext cx="763524" cy="274320"/>
          </a:xfrm>
          <a:prstGeom prst="rect">
            <a:avLst/>
          </a:prstGeom>
          <a:noFill/>
          <a:ln/>
        </p:spPr>
        <p:txBody>
          <a:bodyPr wrap="square" lIns="0" tIns="0" rIns="0" bIns="0" rtlCol="0" anchor="ctr"/>
          <a:lstStyle/>
          <a:p>
            <a:pPr algn="ctr" indent="0" marL="0">
              <a:buNone/>
            </a:pPr>
            <a:r>
              <a:rPr lang="en-US" sz="1200" b="1" dirty="0">
                <a:solidFill>
                  <a:srgbClr val="23405A"/>
                </a:solidFill>
                <a:latin typeface="Calibri" pitchFamily="34" charset="0"/>
                <a:ea typeface="Calibri" pitchFamily="34" charset="-122"/>
                <a:cs typeface="Calibri" pitchFamily="34" charset="-120"/>
              </a:rPr>
              <a:t>Start</a:t>
            </a:r>
            <a:endParaRPr lang="en-US" sz="1200" dirty="0"/>
          </a:p>
        </p:txBody>
      </p:sp>
      <p:pic>
        <p:nvPicPr>
          <p:cNvPr id="57" name="Image 3" descr="preencoded.png">
            <a:hlinkClick r:id="rId5" tooltip="Go to Start" action="ppaction://hlinksldjump"/>
          </p:cNvPr>
          <p:cNvPicPr>
            <a:picLocks noChangeAspect="1"/>
          </p:cNvPicPr>
          <p:nvPr/>
        </p:nvPicPr>
        <p:blipFill>
          <a:blip r:embed="rId4"/>
          <a:stretch>
            <a:fillRect/>
          </a:stretch>
        </p:blipFill>
        <p:spPr>
          <a:xfrm>
            <a:off x="548640" y="6537960"/>
            <a:ext cx="763524" cy="274320"/>
          </a:xfrm>
          <a:prstGeom prst="rect">
            <a:avLst/>
          </a:prstGeom>
        </p:spPr>
      </p:pic>
      <p:sp>
        <p:nvSpPr>
          <p:cNvPr id="58" name="Shape 52"/>
          <p:cNvSpPr/>
          <p:nvPr/>
        </p:nvSpPr>
        <p:spPr>
          <a:xfrm>
            <a:off x="1385316" y="6537960"/>
            <a:ext cx="1197864" cy="274320"/>
          </a:xfrm>
          <a:prstGeom prst="roundRect">
            <a:avLst>
              <a:gd name="adj" fmla="val 50000"/>
            </a:avLst>
          </a:prstGeom>
          <a:solidFill>
            <a:srgbClr val="F1F6FA"/>
          </a:solidFill>
          <a:ln w="12700">
            <a:solidFill>
              <a:srgbClr val="F1F6FA"/>
            </a:solidFill>
            <a:prstDash val="solid"/>
          </a:ln>
        </p:spPr>
      </p:sp>
      <p:sp>
        <p:nvSpPr>
          <p:cNvPr id="59" name="Text 53"/>
          <p:cNvSpPr txBox="1"/>
          <p:nvPr/>
        </p:nvSpPr>
        <p:spPr>
          <a:xfrm>
            <a:off x="1385316" y="6537960"/>
            <a:ext cx="1197864" cy="274320"/>
          </a:xfrm>
          <a:prstGeom prst="rect">
            <a:avLst/>
          </a:prstGeom>
          <a:noFill/>
          <a:ln/>
        </p:spPr>
        <p:txBody>
          <a:bodyPr wrap="square" lIns="0" tIns="0" rIns="0" bIns="0" rtlCol="0" anchor="ctr"/>
          <a:lstStyle/>
          <a:p>
            <a:pPr algn="ctr" indent="0" marL="0">
              <a:buNone/>
            </a:pPr>
            <a:r>
              <a:rPr lang="en-US" sz="1200" b="1" dirty="0">
                <a:solidFill>
                  <a:srgbClr val="3F6E8C"/>
                </a:solidFill>
                <a:latin typeface="Calibri" pitchFamily="34" charset="0"/>
                <a:ea typeface="Calibri" pitchFamily="34" charset="-122"/>
                <a:cs typeface="Calibri" pitchFamily="34" charset="-120"/>
              </a:rPr>
              <a:t>Scenario 1</a:t>
            </a:r>
            <a:endParaRPr lang="en-US" sz="1200" dirty="0"/>
          </a:p>
        </p:txBody>
      </p:sp>
      <p:pic>
        <p:nvPicPr>
          <p:cNvPr id="60" name="Image 4" descr="preencoded.png">
            <a:hlinkClick r:id="rId7" tooltip="Go to Scenario 1" action="ppaction://hlinksldjump"/>
          </p:cNvPr>
          <p:cNvPicPr>
            <a:picLocks noChangeAspect="1"/>
          </p:cNvPicPr>
          <p:nvPr/>
        </p:nvPicPr>
        <p:blipFill>
          <a:blip r:embed="rId6"/>
          <a:stretch>
            <a:fillRect/>
          </a:stretch>
        </p:blipFill>
        <p:spPr>
          <a:xfrm>
            <a:off x="1385316" y="6537960"/>
            <a:ext cx="1197864" cy="274320"/>
          </a:xfrm>
          <a:prstGeom prst="rect">
            <a:avLst/>
          </a:prstGeom>
        </p:spPr>
      </p:pic>
      <p:sp>
        <p:nvSpPr>
          <p:cNvPr id="61" name="Shape 54"/>
          <p:cNvSpPr/>
          <p:nvPr/>
        </p:nvSpPr>
        <p:spPr>
          <a:xfrm>
            <a:off x="2656332" y="6537960"/>
            <a:ext cx="1197864" cy="274320"/>
          </a:xfrm>
          <a:prstGeom prst="roundRect">
            <a:avLst>
              <a:gd name="adj" fmla="val 50000"/>
            </a:avLst>
          </a:prstGeom>
          <a:solidFill>
            <a:srgbClr val="F1F8F3"/>
          </a:solidFill>
          <a:ln w="12700">
            <a:solidFill>
              <a:srgbClr val="F1F8F3"/>
            </a:solidFill>
            <a:prstDash val="solid"/>
          </a:ln>
        </p:spPr>
      </p:sp>
      <p:sp>
        <p:nvSpPr>
          <p:cNvPr id="62" name="Text 55"/>
          <p:cNvSpPr txBox="1"/>
          <p:nvPr/>
        </p:nvSpPr>
        <p:spPr>
          <a:xfrm>
            <a:off x="2656332" y="6537960"/>
            <a:ext cx="1197864" cy="274320"/>
          </a:xfrm>
          <a:prstGeom prst="rect">
            <a:avLst/>
          </a:prstGeom>
          <a:noFill/>
          <a:ln/>
        </p:spPr>
        <p:txBody>
          <a:bodyPr wrap="square" lIns="0" tIns="0" rIns="0" bIns="0" rtlCol="0" anchor="ctr"/>
          <a:lstStyle/>
          <a:p>
            <a:pPr algn="ctr" indent="0" marL="0">
              <a:buNone/>
            </a:pPr>
            <a:r>
              <a:rPr lang="en-US" sz="1200" b="1" dirty="0">
                <a:solidFill>
                  <a:srgbClr val="4C8068"/>
                </a:solidFill>
                <a:latin typeface="Calibri" pitchFamily="34" charset="0"/>
                <a:ea typeface="Calibri" pitchFamily="34" charset="-122"/>
                <a:cs typeface="Calibri" pitchFamily="34" charset="-120"/>
              </a:rPr>
              <a:t>Scenario 2</a:t>
            </a:r>
            <a:endParaRPr lang="en-US" sz="1200" dirty="0"/>
          </a:p>
        </p:txBody>
      </p:sp>
      <p:pic>
        <p:nvPicPr>
          <p:cNvPr id="63" name="Image 5" descr="preencoded.png">
            <a:hlinkClick r:id="rId9" tooltip="Go to Scenario 2" action="ppaction://hlinksldjump"/>
          </p:cNvPr>
          <p:cNvPicPr>
            <a:picLocks noChangeAspect="1"/>
          </p:cNvPicPr>
          <p:nvPr/>
        </p:nvPicPr>
        <p:blipFill>
          <a:blip r:embed="rId8"/>
          <a:stretch>
            <a:fillRect/>
          </a:stretch>
        </p:blipFill>
        <p:spPr>
          <a:xfrm>
            <a:off x="2656332" y="6537960"/>
            <a:ext cx="1197864" cy="274320"/>
          </a:xfrm>
          <a:prstGeom prst="rect">
            <a:avLst/>
          </a:prstGeom>
        </p:spPr>
      </p:pic>
      <p:sp>
        <p:nvSpPr>
          <p:cNvPr id="64" name="Shape 56"/>
          <p:cNvSpPr/>
          <p:nvPr/>
        </p:nvSpPr>
        <p:spPr>
          <a:xfrm>
            <a:off x="3927348" y="6537960"/>
            <a:ext cx="1197864" cy="274320"/>
          </a:xfrm>
          <a:prstGeom prst="roundRect">
            <a:avLst>
              <a:gd name="adj" fmla="val 50000"/>
            </a:avLst>
          </a:prstGeom>
          <a:solidFill>
            <a:srgbClr val="6E5E94"/>
          </a:solidFill>
          <a:ln w="12700">
            <a:solidFill>
              <a:srgbClr val="6E5E94"/>
            </a:solidFill>
            <a:prstDash val="solid"/>
          </a:ln>
        </p:spPr>
      </p:sp>
      <p:sp>
        <p:nvSpPr>
          <p:cNvPr id="65" name="Text 57"/>
          <p:cNvSpPr txBox="1"/>
          <p:nvPr/>
        </p:nvSpPr>
        <p:spPr>
          <a:xfrm>
            <a:off x="3927348" y="6537960"/>
            <a:ext cx="1197864"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Scenario 3</a:t>
            </a:r>
            <a:endParaRPr lang="en-US" sz="1200" dirty="0"/>
          </a:p>
        </p:txBody>
      </p:sp>
      <p:pic>
        <p:nvPicPr>
          <p:cNvPr id="66" name="Image 6" descr="preencoded.png">
            <a:hlinkClick r:id="rId11" tooltip="Go to Scenario 3" action="ppaction://hlinksldjump"/>
          </p:cNvPr>
          <p:cNvPicPr>
            <a:picLocks noChangeAspect="1"/>
          </p:cNvPicPr>
          <p:nvPr/>
        </p:nvPicPr>
        <p:blipFill>
          <a:blip r:embed="rId10"/>
          <a:stretch>
            <a:fillRect/>
          </a:stretch>
        </p:blipFill>
        <p:spPr>
          <a:xfrm>
            <a:off x="3927348" y="6537960"/>
            <a:ext cx="1197864" cy="274320"/>
          </a:xfrm>
          <a:prstGeom prst="rect">
            <a:avLst/>
          </a:prstGeom>
        </p:spPr>
      </p:pic>
      <p:sp>
        <p:nvSpPr>
          <p:cNvPr id="67" name="Shape 58"/>
          <p:cNvSpPr/>
          <p:nvPr/>
        </p:nvSpPr>
        <p:spPr>
          <a:xfrm>
            <a:off x="5198364" y="6537960"/>
            <a:ext cx="937260" cy="274320"/>
          </a:xfrm>
          <a:prstGeom prst="roundRect">
            <a:avLst>
              <a:gd name="adj" fmla="val 50000"/>
            </a:avLst>
          </a:prstGeom>
          <a:solidFill>
            <a:srgbClr val="E4ECF2"/>
          </a:solidFill>
          <a:ln w="12700">
            <a:solidFill>
              <a:srgbClr val="E4ECF2"/>
            </a:solidFill>
            <a:prstDash val="solid"/>
          </a:ln>
        </p:spPr>
      </p:sp>
      <p:sp>
        <p:nvSpPr>
          <p:cNvPr id="68" name="Text 59"/>
          <p:cNvSpPr txBox="1"/>
          <p:nvPr/>
        </p:nvSpPr>
        <p:spPr>
          <a:xfrm>
            <a:off x="5198364" y="6537960"/>
            <a:ext cx="937260" cy="274320"/>
          </a:xfrm>
          <a:prstGeom prst="rect">
            <a:avLst/>
          </a:prstGeom>
          <a:noFill/>
          <a:ln/>
        </p:spPr>
        <p:txBody>
          <a:bodyPr wrap="square" lIns="0" tIns="0" rIns="0" bIns="0" rtlCol="0" anchor="ctr"/>
          <a:lstStyle/>
          <a:p>
            <a:pPr algn="ctr" indent="0" marL="0">
              <a:buNone/>
            </a:pPr>
            <a:r>
              <a:rPr lang="en-US" sz="1200" b="1" dirty="0">
                <a:solidFill>
                  <a:srgbClr val="23405A"/>
                </a:solidFill>
                <a:latin typeface="Calibri" pitchFamily="34" charset="0"/>
                <a:ea typeface="Calibri" pitchFamily="34" charset="-122"/>
                <a:cs typeface="Calibri" pitchFamily="34" charset="-120"/>
              </a:rPr>
              <a:t>Closing</a:t>
            </a:r>
            <a:endParaRPr lang="en-US" sz="1200" dirty="0"/>
          </a:p>
        </p:txBody>
      </p:sp>
      <p:pic>
        <p:nvPicPr>
          <p:cNvPr id="69" name="Image 7" descr="preencoded.png">
            <a:hlinkClick r:id="rId13" tooltip="Go to Closing" action="ppaction://hlinksldjump"/>
          </p:cNvPr>
          <p:cNvPicPr>
            <a:picLocks noChangeAspect="1"/>
          </p:cNvPicPr>
          <p:nvPr/>
        </p:nvPicPr>
        <p:blipFill>
          <a:blip r:embed="rId12"/>
          <a:stretch>
            <a:fillRect/>
          </a:stretch>
        </p:blipFill>
        <p:spPr>
          <a:xfrm>
            <a:off x="5198364" y="6537960"/>
            <a:ext cx="937260" cy="274320"/>
          </a:xfrm>
          <a:prstGeom prst="rect">
            <a:avLst/>
          </a:prstGeom>
        </p:spPr>
      </p:pic>
      <p:sp>
        <p:nvSpPr>
          <p:cNvPr id="70" name="Text 60"/>
          <p:cNvSpPr txBox="1"/>
          <p:nvPr/>
        </p:nvSpPr>
        <p:spPr>
          <a:xfrm>
            <a:off x="11277295" y="6537960"/>
            <a:ext cx="365760" cy="274320"/>
          </a:xfrm>
          <a:prstGeom prst="rect">
            <a:avLst/>
          </a:prstGeom>
          <a:noFill/>
          <a:ln/>
        </p:spPr>
        <p:txBody>
          <a:bodyPr wrap="square" lIns="0" tIns="0" rIns="0" bIns="0" rtlCol="0" anchor="ctr"/>
          <a:lstStyle/>
          <a:p>
            <a:pPr algn="r" indent="0" marL="0">
              <a:buNone/>
            </a:pPr>
            <a:r>
              <a:rPr lang="en-US" sz="1200" dirty="0">
                <a:solidFill>
                  <a:srgbClr val="465A69"/>
                </a:solidFill>
                <a:latin typeface="Calibri" pitchFamily="34" charset="0"/>
                <a:ea typeface="Calibri" pitchFamily="34" charset="-122"/>
                <a:cs typeface="Calibri" pitchFamily="34" charset="-120"/>
              </a:rPr>
              <a:t>46</a:t>
            </a:r>
            <a:endParaRPr lang="en-US" sz="12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EEEAF5"/>
        </a:solidFill>
      </p:bgPr>
    </p:bg>
    <p:spTree>
      <p:nvGrpSpPr>
        <p:cNvPr id="1" name=""/>
        <p:cNvGrpSpPr/>
        <p:nvPr/>
      </p:nvGrpSpPr>
      <p:grpSpPr>
        <a:xfrm>
          <a:off x="0" y="0"/>
          <a:ext cx="0" cy="0"/>
          <a:chOff x="0" y="0"/>
          <a:chExt cx="0" cy="0"/>
        </a:xfrm>
      </p:grpSpPr>
      <p:sp>
        <p:nvSpPr>
          <p:cNvPr id="2" name="Shape 0"/>
          <p:cNvSpPr/>
          <p:nvPr/>
        </p:nvSpPr>
        <p:spPr>
          <a:xfrm>
            <a:off x="548640" y="347472"/>
            <a:ext cx="3008376" cy="329184"/>
          </a:xfrm>
          <a:prstGeom prst="roundRect">
            <a:avLst>
              <a:gd name="adj" fmla="val 50000"/>
            </a:avLst>
          </a:prstGeom>
          <a:solidFill>
            <a:srgbClr val="F6F3FA"/>
          </a:solidFill>
          <a:ln w="12700">
            <a:solidFill>
              <a:srgbClr val="F6F3FA"/>
            </a:solidFill>
            <a:prstDash val="solid"/>
          </a:ln>
        </p:spPr>
      </p:sp>
      <p:sp>
        <p:nvSpPr>
          <p:cNvPr id="3" name="Text 1"/>
          <p:cNvSpPr txBox="1"/>
          <p:nvPr/>
        </p:nvSpPr>
        <p:spPr>
          <a:xfrm>
            <a:off x="548640" y="347472"/>
            <a:ext cx="3008376" cy="329184"/>
          </a:xfrm>
          <a:prstGeom prst="rect">
            <a:avLst/>
          </a:prstGeom>
          <a:noFill/>
          <a:ln/>
        </p:spPr>
        <p:txBody>
          <a:bodyPr wrap="square" lIns="0" tIns="0" rIns="0" bIns="0" rtlCol="0" anchor="ctr"/>
          <a:lstStyle/>
          <a:p>
            <a:pPr algn="ctr" indent="0" marL="0">
              <a:buNone/>
            </a:pPr>
            <a:r>
              <a:rPr lang="en-US" sz="1200" b="1" dirty="0">
                <a:solidFill>
                  <a:srgbClr val="6E5E94"/>
                </a:solidFill>
                <a:latin typeface="Calibri" pitchFamily="34" charset="0"/>
                <a:ea typeface="Calibri" pitchFamily="34" charset="-122"/>
                <a:cs typeface="Calibri" pitchFamily="34" charset="-120"/>
              </a:rPr>
              <a:t>Scenario 3: Business Continuity</a:t>
            </a:r>
            <a:endParaRPr lang="en-US" sz="1200" dirty="0"/>
          </a:p>
        </p:txBody>
      </p:sp>
      <p:sp>
        <p:nvSpPr>
          <p:cNvPr id="4" name="Text 2"/>
          <p:cNvSpPr txBox="1"/>
          <p:nvPr/>
        </p:nvSpPr>
        <p:spPr>
          <a:xfrm>
            <a:off x="548640" y="749808"/>
            <a:ext cx="11064240" cy="640080"/>
          </a:xfrm>
          <a:prstGeom prst="rect">
            <a:avLst/>
          </a:prstGeom>
          <a:noFill/>
          <a:ln/>
        </p:spPr>
        <p:txBody>
          <a:bodyPr wrap="square" lIns="0" tIns="0" rIns="0" bIns="0" rtlCol="0" anchor="ctr"/>
          <a:lstStyle/>
          <a:p>
            <a:pPr indent="0" marL="0">
              <a:buNone/>
            </a:pPr>
            <a:r>
              <a:rPr lang="en-US" sz="2800" b="1" dirty="0">
                <a:solidFill>
                  <a:srgbClr val="23405A"/>
                </a:solidFill>
                <a:latin typeface="Calibri" pitchFamily="34" charset="0"/>
                <a:ea typeface="Calibri" pitchFamily="34" charset="-122"/>
                <a:cs typeface="Calibri" pitchFamily="34" charset="-120"/>
              </a:rPr>
              <a:t>Day 7: Investor Inquiries</a:t>
            </a:r>
            <a:endParaRPr lang="en-US" sz="2800" dirty="0"/>
          </a:p>
        </p:txBody>
      </p:sp>
      <p:sp>
        <p:nvSpPr>
          <p:cNvPr id="5" name="Shape 3"/>
          <p:cNvSpPr/>
          <p:nvPr/>
        </p:nvSpPr>
        <p:spPr>
          <a:xfrm>
            <a:off x="10705795" y="347472"/>
            <a:ext cx="937260" cy="329184"/>
          </a:xfrm>
          <a:prstGeom prst="roundRect">
            <a:avLst>
              <a:gd name="adj" fmla="val 50000"/>
            </a:avLst>
          </a:prstGeom>
          <a:solidFill>
            <a:srgbClr val="FFFFFF"/>
          </a:solidFill>
          <a:ln w="12700">
            <a:solidFill>
              <a:srgbClr val="FFFFFF"/>
            </a:solidFill>
            <a:prstDash val="solid"/>
          </a:ln>
        </p:spPr>
      </p:sp>
      <p:sp>
        <p:nvSpPr>
          <p:cNvPr id="6" name="Text 4"/>
          <p:cNvSpPr txBox="1"/>
          <p:nvPr/>
        </p:nvSpPr>
        <p:spPr>
          <a:xfrm>
            <a:off x="10705795" y="347472"/>
            <a:ext cx="937260" cy="329184"/>
          </a:xfrm>
          <a:prstGeom prst="rect">
            <a:avLst/>
          </a:prstGeom>
          <a:noFill/>
          <a:ln/>
        </p:spPr>
        <p:txBody>
          <a:bodyPr wrap="square" lIns="0" tIns="0" rIns="0" bIns="0" rtlCol="0" anchor="ctr"/>
          <a:lstStyle/>
          <a:p>
            <a:pPr algn="ctr" indent="0" marL="0">
              <a:buNone/>
            </a:pPr>
            <a:r>
              <a:rPr lang="en-US" sz="1200" dirty="0">
                <a:solidFill>
                  <a:srgbClr val="465A69"/>
                </a:solidFill>
                <a:latin typeface="Calibri" pitchFamily="34" charset="0"/>
                <a:ea typeface="Calibri" pitchFamily="34" charset="-122"/>
                <a:cs typeface="Calibri" pitchFamily="34" charset="-120"/>
              </a:rPr>
              <a:t>Hotwash</a:t>
            </a:r>
            <a:endParaRPr lang="en-US" sz="1200" dirty="0"/>
          </a:p>
        </p:txBody>
      </p:sp>
      <p:sp>
        <p:nvSpPr>
          <p:cNvPr id="7" name="Shape 5"/>
          <p:cNvSpPr/>
          <p:nvPr/>
        </p:nvSpPr>
        <p:spPr>
          <a:xfrm>
            <a:off x="9608515" y="347472"/>
            <a:ext cx="1024128" cy="329184"/>
          </a:xfrm>
          <a:prstGeom prst="roundRect">
            <a:avLst>
              <a:gd name="adj" fmla="val 50000"/>
            </a:avLst>
          </a:prstGeom>
          <a:solidFill>
            <a:srgbClr val="FFFFFF"/>
          </a:solidFill>
          <a:ln w="12700">
            <a:solidFill>
              <a:srgbClr val="FFFFFF"/>
            </a:solidFill>
            <a:prstDash val="solid"/>
          </a:ln>
        </p:spPr>
      </p:sp>
      <p:sp>
        <p:nvSpPr>
          <p:cNvPr id="8" name="Text 6"/>
          <p:cNvSpPr txBox="1"/>
          <p:nvPr/>
        </p:nvSpPr>
        <p:spPr>
          <a:xfrm>
            <a:off x="9608515" y="347472"/>
            <a:ext cx="1024128" cy="329184"/>
          </a:xfrm>
          <a:prstGeom prst="rect">
            <a:avLst/>
          </a:prstGeom>
          <a:noFill/>
          <a:ln/>
        </p:spPr>
        <p:txBody>
          <a:bodyPr wrap="square" lIns="0" tIns="0" rIns="0" bIns="0" rtlCol="0" anchor="ctr"/>
          <a:lstStyle/>
          <a:p>
            <a:pPr algn="ctr" indent="0" marL="0">
              <a:buNone/>
            </a:pPr>
            <a:r>
              <a:rPr lang="en-US" sz="1200" dirty="0">
                <a:solidFill>
                  <a:srgbClr val="465A69"/>
                </a:solidFill>
                <a:latin typeface="Calibri" pitchFamily="34" charset="0"/>
                <a:ea typeface="Calibri" pitchFamily="34" charset="-122"/>
                <a:cs typeface="Calibri" pitchFamily="34" charset="-120"/>
              </a:rPr>
              <a:t>Recovery</a:t>
            </a:r>
            <a:endParaRPr lang="en-US" sz="1200" dirty="0"/>
          </a:p>
        </p:txBody>
      </p:sp>
      <p:sp>
        <p:nvSpPr>
          <p:cNvPr id="9" name="Shape 7"/>
          <p:cNvSpPr/>
          <p:nvPr/>
        </p:nvSpPr>
        <p:spPr>
          <a:xfrm>
            <a:off x="8598103" y="347472"/>
            <a:ext cx="937260" cy="329184"/>
          </a:xfrm>
          <a:prstGeom prst="roundRect">
            <a:avLst>
              <a:gd name="adj" fmla="val 50000"/>
            </a:avLst>
          </a:prstGeom>
          <a:solidFill>
            <a:srgbClr val="6E5E94"/>
          </a:solidFill>
          <a:ln w="12700">
            <a:solidFill>
              <a:srgbClr val="6E5E94"/>
            </a:solidFill>
            <a:prstDash val="solid"/>
          </a:ln>
        </p:spPr>
      </p:sp>
      <p:sp>
        <p:nvSpPr>
          <p:cNvPr id="10" name="Text 8"/>
          <p:cNvSpPr txBox="1"/>
          <p:nvPr/>
        </p:nvSpPr>
        <p:spPr>
          <a:xfrm>
            <a:off x="8598103" y="347472"/>
            <a:ext cx="93726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Injects</a:t>
            </a:r>
            <a:endParaRPr lang="en-US" sz="1200" dirty="0"/>
          </a:p>
        </p:txBody>
      </p:sp>
      <p:sp>
        <p:nvSpPr>
          <p:cNvPr id="11" name="Shape 9"/>
          <p:cNvSpPr/>
          <p:nvPr/>
        </p:nvSpPr>
        <p:spPr>
          <a:xfrm>
            <a:off x="7674559" y="347472"/>
            <a:ext cx="850392" cy="329184"/>
          </a:xfrm>
          <a:prstGeom prst="roundRect">
            <a:avLst>
              <a:gd name="adj" fmla="val 50000"/>
            </a:avLst>
          </a:prstGeom>
          <a:solidFill>
            <a:srgbClr val="F6F3FA"/>
          </a:solidFill>
          <a:ln w="12700">
            <a:solidFill>
              <a:srgbClr val="F6F3FA"/>
            </a:solidFill>
            <a:prstDash val="solid"/>
          </a:ln>
        </p:spPr>
      </p:sp>
      <p:sp>
        <p:nvSpPr>
          <p:cNvPr id="12" name="Text 10"/>
          <p:cNvSpPr txBox="1"/>
          <p:nvPr/>
        </p:nvSpPr>
        <p:spPr>
          <a:xfrm>
            <a:off x="7674559" y="347472"/>
            <a:ext cx="850392" cy="329184"/>
          </a:xfrm>
          <a:prstGeom prst="rect">
            <a:avLst/>
          </a:prstGeom>
          <a:noFill/>
          <a:ln/>
        </p:spPr>
        <p:txBody>
          <a:bodyPr wrap="square" lIns="0" tIns="0" rIns="0" bIns="0" rtlCol="0" anchor="ctr"/>
          <a:lstStyle/>
          <a:p>
            <a:pPr algn="ctr" indent="0" marL="0">
              <a:buNone/>
            </a:pPr>
            <a:r>
              <a:rPr lang="en-US" sz="1200" dirty="0">
                <a:solidFill>
                  <a:srgbClr val="6E5E94"/>
                </a:solidFill>
                <a:latin typeface="Calibri" pitchFamily="34" charset="0"/>
                <a:ea typeface="Calibri" pitchFamily="34" charset="-122"/>
                <a:cs typeface="Calibri" pitchFamily="34" charset="-120"/>
              </a:rPr>
              <a:t>Decide</a:t>
            </a:r>
            <a:endParaRPr lang="en-US" sz="1200" dirty="0"/>
          </a:p>
        </p:txBody>
      </p:sp>
      <p:sp>
        <p:nvSpPr>
          <p:cNvPr id="13" name="Shape 11"/>
          <p:cNvSpPr/>
          <p:nvPr/>
        </p:nvSpPr>
        <p:spPr>
          <a:xfrm>
            <a:off x="7011619" y="347472"/>
            <a:ext cx="589788" cy="329184"/>
          </a:xfrm>
          <a:prstGeom prst="roundRect">
            <a:avLst>
              <a:gd name="adj" fmla="val 50000"/>
            </a:avLst>
          </a:prstGeom>
          <a:solidFill>
            <a:srgbClr val="F6F3FA"/>
          </a:solidFill>
          <a:ln w="12700">
            <a:solidFill>
              <a:srgbClr val="F6F3FA"/>
            </a:solidFill>
            <a:prstDash val="solid"/>
          </a:ln>
        </p:spPr>
      </p:sp>
      <p:sp>
        <p:nvSpPr>
          <p:cNvPr id="14" name="Text 12"/>
          <p:cNvSpPr txBox="1"/>
          <p:nvPr/>
        </p:nvSpPr>
        <p:spPr>
          <a:xfrm>
            <a:off x="7011619" y="347472"/>
            <a:ext cx="589788" cy="329184"/>
          </a:xfrm>
          <a:prstGeom prst="rect">
            <a:avLst/>
          </a:prstGeom>
          <a:noFill/>
          <a:ln/>
        </p:spPr>
        <p:txBody>
          <a:bodyPr wrap="square" lIns="0" tIns="0" rIns="0" bIns="0" rtlCol="0" anchor="ctr"/>
          <a:lstStyle/>
          <a:p>
            <a:pPr algn="ctr" indent="0" marL="0">
              <a:buNone/>
            </a:pPr>
            <a:r>
              <a:rPr lang="en-US" sz="1200" dirty="0">
                <a:solidFill>
                  <a:srgbClr val="6E5E94"/>
                </a:solidFill>
                <a:latin typeface="Calibri" pitchFamily="34" charset="0"/>
                <a:ea typeface="Calibri" pitchFamily="34" charset="-122"/>
                <a:cs typeface="Calibri" pitchFamily="34" charset="-120"/>
              </a:rPr>
              <a:t>T+0</a:t>
            </a:r>
            <a:endParaRPr lang="en-US" sz="1200" dirty="0"/>
          </a:p>
        </p:txBody>
      </p:sp>
      <p:sp>
        <p:nvSpPr>
          <p:cNvPr id="15" name="Shape 13"/>
          <p:cNvSpPr/>
          <p:nvPr/>
        </p:nvSpPr>
        <p:spPr>
          <a:xfrm>
            <a:off x="5740603" y="347472"/>
            <a:ext cx="1197864" cy="329184"/>
          </a:xfrm>
          <a:prstGeom prst="roundRect">
            <a:avLst>
              <a:gd name="adj" fmla="val 50000"/>
            </a:avLst>
          </a:prstGeom>
          <a:solidFill>
            <a:srgbClr val="F6F3FA"/>
          </a:solidFill>
          <a:ln w="12700">
            <a:solidFill>
              <a:srgbClr val="F6F3FA"/>
            </a:solidFill>
            <a:prstDash val="solid"/>
          </a:ln>
        </p:spPr>
      </p:sp>
      <p:sp>
        <p:nvSpPr>
          <p:cNvPr id="16" name="Text 14"/>
          <p:cNvSpPr txBox="1"/>
          <p:nvPr/>
        </p:nvSpPr>
        <p:spPr>
          <a:xfrm>
            <a:off x="5740603" y="347472"/>
            <a:ext cx="1197864" cy="329184"/>
          </a:xfrm>
          <a:prstGeom prst="rect">
            <a:avLst/>
          </a:prstGeom>
          <a:noFill/>
          <a:ln/>
        </p:spPr>
        <p:txBody>
          <a:bodyPr wrap="square" lIns="0" tIns="0" rIns="0" bIns="0" rtlCol="0" anchor="ctr"/>
          <a:lstStyle/>
          <a:p>
            <a:pPr algn="ctr" indent="0" marL="0">
              <a:buNone/>
            </a:pPr>
            <a:r>
              <a:rPr lang="en-US" sz="1200" dirty="0">
                <a:solidFill>
                  <a:srgbClr val="6E5E94"/>
                </a:solidFill>
                <a:latin typeface="Calibri" pitchFamily="34" charset="0"/>
                <a:ea typeface="Calibri" pitchFamily="34" charset="-122"/>
                <a:cs typeface="Calibri" pitchFamily="34" charset="-120"/>
              </a:rPr>
              <a:t>Background</a:t>
            </a:r>
            <a:endParaRPr lang="en-US" sz="1200" dirty="0"/>
          </a:p>
        </p:txBody>
      </p:sp>
      <p:sp>
        <p:nvSpPr>
          <p:cNvPr id="17" name="Shape 15"/>
          <p:cNvSpPr/>
          <p:nvPr/>
        </p:nvSpPr>
        <p:spPr>
          <a:xfrm>
            <a:off x="548640" y="1600200"/>
            <a:ext cx="2377440" cy="4572000"/>
          </a:xfrm>
          <a:prstGeom prst="roundRect">
            <a:avLst>
              <a:gd name="adj" fmla="val 5385"/>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18" name="Text 16"/>
          <p:cNvSpPr txBox="1"/>
          <p:nvPr/>
        </p:nvSpPr>
        <p:spPr>
          <a:xfrm>
            <a:off x="822960" y="1783080"/>
            <a:ext cx="1874520" cy="320040"/>
          </a:xfrm>
          <a:prstGeom prst="rect">
            <a:avLst/>
          </a:prstGeom>
          <a:noFill/>
          <a:ln/>
        </p:spPr>
        <p:txBody>
          <a:bodyPr wrap="square" lIns="0" tIns="0" rIns="0" bIns="0" rtlCol="0" anchor="t"/>
          <a:lstStyle/>
          <a:p>
            <a:pPr indent="0" marL="0">
              <a:buNone/>
            </a:pPr>
            <a:r>
              <a:rPr lang="en-US" sz="1400" b="1" dirty="0">
                <a:solidFill>
                  <a:srgbClr val="465A69"/>
                </a:solidFill>
                <a:latin typeface="Calibri" pitchFamily="34" charset="0"/>
                <a:ea typeface="Calibri" pitchFamily="34" charset="-122"/>
                <a:cs typeface="Calibri" pitchFamily="34" charset="-120"/>
              </a:rPr>
              <a:t>Timeline</a:t>
            </a:r>
            <a:endParaRPr lang="en-US" sz="1400" dirty="0"/>
          </a:p>
        </p:txBody>
      </p:sp>
      <p:sp>
        <p:nvSpPr>
          <p:cNvPr id="19" name="Shape 17"/>
          <p:cNvSpPr/>
          <p:nvPr/>
        </p:nvSpPr>
        <p:spPr>
          <a:xfrm>
            <a:off x="905256" y="2551176"/>
            <a:ext cx="0" cy="257338"/>
          </a:xfrm>
          <a:prstGeom prst="line">
            <a:avLst/>
          </a:prstGeom>
          <a:noFill/>
          <a:ln w="19050">
            <a:solidFill>
              <a:srgbClr val="6E5E94"/>
            </a:solidFill>
            <a:prstDash val="solid"/>
          </a:ln>
        </p:spPr>
      </p:sp>
      <p:sp>
        <p:nvSpPr>
          <p:cNvPr id="20" name="Shape 18"/>
          <p:cNvSpPr/>
          <p:nvPr/>
        </p:nvSpPr>
        <p:spPr>
          <a:xfrm>
            <a:off x="777240" y="2267712"/>
            <a:ext cx="256032" cy="256032"/>
          </a:xfrm>
          <a:prstGeom prst="ellipse">
            <a:avLst/>
          </a:prstGeom>
          <a:solidFill>
            <a:srgbClr val="F6F3FA"/>
          </a:solidFill>
          <a:ln w="12700">
            <a:solidFill>
              <a:srgbClr val="F6F3FA"/>
            </a:solidFill>
            <a:prstDash val="solid"/>
          </a:ln>
        </p:spPr>
      </p:sp>
      <p:sp>
        <p:nvSpPr>
          <p:cNvPr id="21" name="Text 19"/>
          <p:cNvSpPr txBox="1"/>
          <p:nvPr/>
        </p:nvSpPr>
        <p:spPr>
          <a:xfrm>
            <a:off x="1188720" y="2203704"/>
            <a:ext cx="1645920" cy="568234"/>
          </a:xfrm>
          <a:prstGeom prst="rect">
            <a:avLst/>
          </a:prstGeom>
          <a:noFill/>
          <a:ln/>
        </p:spPr>
        <p:txBody>
          <a:bodyPr wrap="square" lIns="0" tIns="0" rIns="0" bIns="0" rtlCol="0" anchor="t"/>
          <a:lstStyle/>
          <a:p>
            <a:pPr indent="0" marL="0">
              <a:buNone/>
            </a:pPr>
            <a:r>
              <a:rPr lang="en-US" sz="1200" b="1" dirty="0">
                <a:solidFill>
                  <a:srgbClr val="465A69"/>
                </a:solidFill>
                <a:latin typeface="Calibri" pitchFamily="34" charset="0"/>
                <a:ea typeface="Calibri" pitchFamily="34" charset="-122"/>
                <a:cs typeface="Calibri" pitchFamily="34" charset="-120"/>
              </a:rPr>
              <a:t>Day 1</a:t>
            </a:r>
            <a:endParaRPr lang="en-US" sz="1200" dirty="0"/>
          </a:p>
          <a:p>
            <a:pPr indent="0" marL="0">
              <a:buNone/>
            </a:pPr>
            <a:r>
              <a:rPr lang="en-US" sz="1200" dirty="0">
                <a:solidFill>
                  <a:srgbClr val="1E2E3A"/>
                </a:solidFill>
                <a:latin typeface="Calibri" pitchFamily="34" charset="0"/>
                <a:ea typeface="Calibri" pitchFamily="34" charset="-122"/>
                <a:cs typeface="Calibri" pitchFamily="34" charset="-120"/>
              </a:rPr>
              <a:t>CRO exchange blocked</a:t>
            </a:r>
            <a:endParaRPr lang="en-US" sz="1200" dirty="0"/>
          </a:p>
        </p:txBody>
      </p:sp>
      <p:sp>
        <p:nvSpPr>
          <p:cNvPr id="22" name="Shape 20"/>
          <p:cNvSpPr/>
          <p:nvPr/>
        </p:nvSpPr>
        <p:spPr>
          <a:xfrm>
            <a:off x="905256" y="3119410"/>
            <a:ext cx="0" cy="257338"/>
          </a:xfrm>
          <a:prstGeom prst="line">
            <a:avLst/>
          </a:prstGeom>
          <a:noFill/>
          <a:ln w="19050">
            <a:solidFill>
              <a:srgbClr val="6E5E94"/>
            </a:solidFill>
            <a:prstDash val="solid"/>
          </a:ln>
        </p:spPr>
      </p:sp>
      <p:sp>
        <p:nvSpPr>
          <p:cNvPr id="23" name="Shape 21"/>
          <p:cNvSpPr/>
          <p:nvPr/>
        </p:nvSpPr>
        <p:spPr>
          <a:xfrm>
            <a:off x="777240" y="2835946"/>
            <a:ext cx="256032" cy="256032"/>
          </a:xfrm>
          <a:prstGeom prst="ellipse">
            <a:avLst/>
          </a:prstGeom>
          <a:solidFill>
            <a:srgbClr val="F6F3FA"/>
          </a:solidFill>
          <a:ln w="12700">
            <a:solidFill>
              <a:srgbClr val="F6F3FA"/>
            </a:solidFill>
            <a:prstDash val="solid"/>
          </a:ln>
        </p:spPr>
      </p:sp>
      <p:sp>
        <p:nvSpPr>
          <p:cNvPr id="24" name="Text 22"/>
          <p:cNvSpPr txBox="1"/>
          <p:nvPr/>
        </p:nvSpPr>
        <p:spPr>
          <a:xfrm>
            <a:off x="1188720" y="2771938"/>
            <a:ext cx="1645920" cy="568234"/>
          </a:xfrm>
          <a:prstGeom prst="rect">
            <a:avLst/>
          </a:prstGeom>
          <a:noFill/>
          <a:ln/>
        </p:spPr>
        <p:txBody>
          <a:bodyPr wrap="square" lIns="0" tIns="0" rIns="0" bIns="0" rtlCol="0" anchor="t"/>
          <a:lstStyle/>
          <a:p>
            <a:pPr indent="0" marL="0">
              <a:buNone/>
            </a:pPr>
            <a:r>
              <a:rPr lang="en-US" sz="1200" b="1" dirty="0">
                <a:solidFill>
                  <a:srgbClr val="465A69"/>
                </a:solidFill>
                <a:latin typeface="Calibri" pitchFamily="34" charset="0"/>
                <a:ea typeface="Calibri" pitchFamily="34" charset="-122"/>
                <a:cs typeface="Calibri" pitchFamily="34" charset="-120"/>
              </a:rPr>
              <a:t>Day 2</a:t>
            </a:r>
            <a:endParaRPr lang="en-US" sz="1200" dirty="0"/>
          </a:p>
          <a:p>
            <a:pPr indent="0" marL="0">
              <a:buNone/>
            </a:pPr>
            <a:r>
              <a:rPr lang="en-US" sz="1200" dirty="0">
                <a:solidFill>
                  <a:srgbClr val="1E2E3A"/>
                </a:solidFill>
                <a:latin typeface="Calibri" pitchFamily="34" charset="0"/>
                <a:ea typeface="Calibri" pitchFamily="34" charset="-122"/>
                <a:cs typeface="Calibri" pitchFamily="34" charset="-120"/>
              </a:rPr>
              <a:t>Submission artifacts unreachable</a:t>
            </a:r>
            <a:endParaRPr lang="en-US" sz="1200" dirty="0"/>
          </a:p>
        </p:txBody>
      </p:sp>
      <p:sp>
        <p:nvSpPr>
          <p:cNvPr id="25" name="Shape 23"/>
          <p:cNvSpPr/>
          <p:nvPr/>
        </p:nvSpPr>
        <p:spPr>
          <a:xfrm>
            <a:off x="905256" y="3687645"/>
            <a:ext cx="0" cy="257338"/>
          </a:xfrm>
          <a:prstGeom prst="line">
            <a:avLst/>
          </a:prstGeom>
          <a:noFill/>
          <a:ln w="19050">
            <a:solidFill>
              <a:srgbClr val="6E5E94"/>
            </a:solidFill>
            <a:prstDash val="solid"/>
          </a:ln>
        </p:spPr>
      </p:sp>
      <p:sp>
        <p:nvSpPr>
          <p:cNvPr id="26" name="Shape 24"/>
          <p:cNvSpPr/>
          <p:nvPr/>
        </p:nvSpPr>
        <p:spPr>
          <a:xfrm>
            <a:off x="777240" y="3404181"/>
            <a:ext cx="256032" cy="256032"/>
          </a:xfrm>
          <a:prstGeom prst="ellipse">
            <a:avLst/>
          </a:prstGeom>
          <a:solidFill>
            <a:srgbClr val="F6F3FA"/>
          </a:solidFill>
          <a:ln w="12700">
            <a:solidFill>
              <a:srgbClr val="F6F3FA"/>
            </a:solidFill>
            <a:prstDash val="solid"/>
          </a:ln>
        </p:spPr>
      </p:sp>
      <p:sp>
        <p:nvSpPr>
          <p:cNvPr id="27" name="Text 25"/>
          <p:cNvSpPr txBox="1"/>
          <p:nvPr/>
        </p:nvSpPr>
        <p:spPr>
          <a:xfrm>
            <a:off x="1188720" y="3340173"/>
            <a:ext cx="1645920" cy="568234"/>
          </a:xfrm>
          <a:prstGeom prst="rect">
            <a:avLst/>
          </a:prstGeom>
          <a:noFill/>
          <a:ln/>
        </p:spPr>
        <p:txBody>
          <a:bodyPr wrap="square" lIns="0" tIns="0" rIns="0" bIns="0" rtlCol="0" anchor="t"/>
          <a:lstStyle/>
          <a:p>
            <a:pPr indent="0" marL="0">
              <a:buNone/>
            </a:pPr>
            <a:r>
              <a:rPr lang="en-US" sz="1200" b="1" dirty="0">
                <a:solidFill>
                  <a:srgbClr val="465A69"/>
                </a:solidFill>
                <a:latin typeface="Calibri" pitchFamily="34" charset="0"/>
                <a:ea typeface="Calibri" pitchFamily="34" charset="-122"/>
                <a:cs typeface="Calibri" pitchFamily="34" charset="-120"/>
              </a:rPr>
              <a:t>Day 3</a:t>
            </a:r>
            <a:endParaRPr lang="en-US" sz="1200" dirty="0"/>
          </a:p>
          <a:p>
            <a:pPr indent="0" marL="0">
              <a:buNone/>
            </a:pPr>
            <a:r>
              <a:rPr lang="en-US" sz="1200" dirty="0">
                <a:solidFill>
                  <a:srgbClr val="1E2E3A"/>
                </a:solidFill>
                <a:latin typeface="Calibri" pitchFamily="34" charset="0"/>
                <a:ea typeface="Calibri" pitchFamily="34" charset="-122"/>
                <a:cs typeface="Calibri" pitchFamily="34" charset="-120"/>
              </a:rPr>
              <a:t>Providers down, no date</a:t>
            </a:r>
            <a:endParaRPr lang="en-US" sz="1200" dirty="0"/>
          </a:p>
        </p:txBody>
      </p:sp>
      <p:sp>
        <p:nvSpPr>
          <p:cNvPr id="28" name="Shape 26"/>
          <p:cNvSpPr/>
          <p:nvPr/>
        </p:nvSpPr>
        <p:spPr>
          <a:xfrm>
            <a:off x="905256" y="4255879"/>
            <a:ext cx="0" cy="257338"/>
          </a:xfrm>
          <a:prstGeom prst="line">
            <a:avLst/>
          </a:prstGeom>
          <a:noFill/>
          <a:ln w="19050">
            <a:solidFill>
              <a:srgbClr val="6E5E94"/>
            </a:solidFill>
            <a:prstDash val="solid"/>
          </a:ln>
        </p:spPr>
      </p:sp>
      <p:sp>
        <p:nvSpPr>
          <p:cNvPr id="29" name="Shape 27"/>
          <p:cNvSpPr/>
          <p:nvPr/>
        </p:nvSpPr>
        <p:spPr>
          <a:xfrm>
            <a:off x="777240" y="3972415"/>
            <a:ext cx="256032" cy="256032"/>
          </a:xfrm>
          <a:prstGeom prst="ellipse">
            <a:avLst/>
          </a:prstGeom>
          <a:solidFill>
            <a:srgbClr val="F6F3FA"/>
          </a:solidFill>
          <a:ln w="12700">
            <a:solidFill>
              <a:srgbClr val="F6F3FA"/>
            </a:solidFill>
            <a:prstDash val="solid"/>
          </a:ln>
        </p:spPr>
      </p:sp>
      <p:sp>
        <p:nvSpPr>
          <p:cNvPr id="30" name="Text 28"/>
          <p:cNvSpPr txBox="1"/>
          <p:nvPr/>
        </p:nvSpPr>
        <p:spPr>
          <a:xfrm>
            <a:off x="1188720" y="3908407"/>
            <a:ext cx="1645920" cy="568234"/>
          </a:xfrm>
          <a:prstGeom prst="rect">
            <a:avLst/>
          </a:prstGeom>
          <a:noFill/>
          <a:ln/>
        </p:spPr>
        <p:txBody>
          <a:bodyPr wrap="square" lIns="0" tIns="0" rIns="0" bIns="0" rtlCol="0" anchor="t"/>
          <a:lstStyle/>
          <a:p>
            <a:pPr indent="0" marL="0">
              <a:buNone/>
            </a:pPr>
            <a:r>
              <a:rPr lang="en-US" sz="1200" b="1" dirty="0">
                <a:solidFill>
                  <a:srgbClr val="465A69"/>
                </a:solidFill>
                <a:latin typeface="Calibri" pitchFamily="34" charset="0"/>
                <a:ea typeface="Calibri" pitchFamily="34" charset="-122"/>
                <a:cs typeface="Calibri" pitchFamily="34" charset="-120"/>
              </a:rPr>
              <a:t>Day 5</a:t>
            </a:r>
            <a:endParaRPr lang="en-US" sz="1200" dirty="0"/>
          </a:p>
          <a:p>
            <a:pPr indent="0" marL="0">
              <a:buNone/>
            </a:pPr>
            <a:r>
              <a:rPr lang="en-US" sz="1200" dirty="0">
                <a:solidFill>
                  <a:srgbClr val="1E2E3A"/>
                </a:solidFill>
                <a:latin typeface="Calibri" pitchFamily="34" charset="0"/>
                <a:ea typeface="Calibri" pitchFamily="34" charset="-122"/>
                <a:cs typeface="Calibri" pitchFamily="34" charset="-120"/>
              </a:rPr>
              <a:t>Vendor payments delayed</a:t>
            </a:r>
            <a:endParaRPr lang="en-US" sz="1200" dirty="0"/>
          </a:p>
        </p:txBody>
      </p:sp>
      <p:sp>
        <p:nvSpPr>
          <p:cNvPr id="31" name="Shape 29"/>
          <p:cNvSpPr/>
          <p:nvPr/>
        </p:nvSpPr>
        <p:spPr>
          <a:xfrm>
            <a:off x="905256" y="4824113"/>
            <a:ext cx="0" cy="257338"/>
          </a:xfrm>
          <a:prstGeom prst="line">
            <a:avLst/>
          </a:prstGeom>
          <a:noFill/>
          <a:ln w="19050">
            <a:solidFill>
              <a:srgbClr val="C9D5D2"/>
            </a:solidFill>
            <a:prstDash val="solid"/>
          </a:ln>
        </p:spPr>
      </p:sp>
      <p:sp>
        <p:nvSpPr>
          <p:cNvPr id="32" name="Shape 30"/>
          <p:cNvSpPr/>
          <p:nvPr/>
        </p:nvSpPr>
        <p:spPr>
          <a:xfrm>
            <a:off x="777240" y="4540649"/>
            <a:ext cx="256032" cy="256032"/>
          </a:xfrm>
          <a:prstGeom prst="ellipse">
            <a:avLst/>
          </a:prstGeom>
          <a:solidFill>
            <a:srgbClr val="6E5E94"/>
          </a:solidFill>
          <a:ln w="12700">
            <a:solidFill>
              <a:srgbClr val="6E5E94"/>
            </a:solidFill>
            <a:prstDash val="solid"/>
          </a:ln>
        </p:spPr>
      </p:sp>
      <p:sp>
        <p:nvSpPr>
          <p:cNvPr id="33" name="Text 31"/>
          <p:cNvSpPr txBox="1"/>
          <p:nvPr/>
        </p:nvSpPr>
        <p:spPr>
          <a:xfrm>
            <a:off x="1188720" y="4476641"/>
            <a:ext cx="1645920" cy="568234"/>
          </a:xfrm>
          <a:prstGeom prst="rect">
            <a:avLst/>
          </a:prstGeom>
          <a:noFill/>
          <a:ln/>
        </p:spPr>
        <p:txBody>
          <a:bodyPr wrap="square" lIns="0" tIns="0" rIns="0" bIns="0" rtlCol="0" anchor="t"/>
          <a:lstStyle/>
          <a:p>
            <a:pPr indent="0" marL="0">
              <a:buNone/>
            </a:pPr>
            <a:r>
              <a:rPr lang="en-US" sz="1200" b="1" dirty="0">
                <a:solidFill>
                  <a:srgbClr val="6E5E94"/>
                </a:solidFill>
                <a:latin typeface="Calibri" pitchFamily="34" charset="0"/>
                <a:ea typeface="Calibri" pitchFamily="34" charset="-122"/>
                <a:cs typeface="Calibri" pitchFamily="34" charset="-120"/>
              </a:rPr>
              <a:t>Day 7</a:t>
            </a:r>
            <a:endParaRPr lang="en-US" sz="1200" dirty="0"/>
          </a:p>
          <a:p>
            <a:pPr indent="0" marL="0">
              <a:buNone/>
            </a:pPr>
            <a:r>
              <a:rPr lang="en-US" sz="1200" b="1" dirty="0">
                <a:solidFill>
                  <a:srgbClr val="6E5E94"/>
                </a:solidFill>
                <a:latin typeface="Calibri" pitchFamily="34" charset="0"/>
                <a:ea typeface="Calibri" pitchFamily="34" charset="-122"/>
                <a:cs typeface="Calibri" pitchFamily="34" charset="-120"/>
              </a:rPr>
              <a:t>Investor inquiries</a:t>
            </a:r>
            <a:endParaRPr lang="en-US" sz="1200" dirty="0"/>
          </a:p>
        </p:txBody>
      </p:sp>
      <p:sp>
        <p:nvSpPr>
          <p:cNvPr id="34" name="Shape 32"/>
          <p:cNvSpPr/>
          <p:nvPr/>
        </p:nvSpPr>
        <p:spPr>
          <a:xfrm>
            <a:off x="905256" y="5392347"/>
            <a:ext cx="0" cy="257338"/>
          </a:xfrm>
          <a:prstGeom prst="line">
            <a:avLst/>
          </a:prstGeom>
          <a:noFill/>
          <a:ln w="19050">
            <a:solidFill>
              <a:srgbClr val="C9D5D2"/>
            </a:solidFill>
            <a:prstDash val="solid"/>
          </a:ln>
        </p:spPr>
      </p:sp>
      <p:sp>
        <p:nvSpPr>
          <p:cNvPr id="35" name="Shape 33"/>
          <p:cNvSpPr/>
          <p:nvPr/>
        </p:nvSpPr>
        <p:spPr>
          <a:xfrm>
            <a:off x="777240" y="5108883"/>
            <a:ext cx="256032" cy="256032"/>
          </a:xfrm>
          <a:prstGeom prst="ellipse">
            <a:avLst/>
          </a:prstGeom>
          <a:solidFill>
            <a:srgbClr val="FFFFFF"/>
          </a:solidFill>
          <a:ln w="15875">
            <a:solidFill>
              <a:srgbClr val="C9D5D2"/>
            </a:solidFill>
            <a:prstDash val="solid"/>
          </a:ln>
        </p:spPr>
      </p:sp>
      <p:sp>
        <p:nvSpPr>
          <p:cNvPr id="36" name="Shape 34"/>
          <p:cNvSpPr/>
          <p:nvPr/>
        </p:nvSpPr>
        <p:spPr>
          <a:xfrm>
            <a:off x="777240" y="5677118"/>
            <a:ext cx="256032" cy="256032"/>
          </a:xfrm>
          <a:prstGeom prst="ellipse">
            <a:avLst/>
          </a:prstGeom>
          <a:solidFill>
            <a:srgbClr val="FFFFFF"/>
          </a:solidFill>
          <a:ln w="15875">
            <a:solidFill>
              <a:srgbClr val="C9D5D2"/>
            </a:solidFill>
            <a:prstDash val="solid"/>
          </a:ln>
        </p:spPr>
      </p:sp>
      <p:sp>
        <p:nvSpPr>
          <p:cNvPr id="37" name="Shape 35"/>
          <p:cNvSpPr/>
          <p:nvPr/>
        </p:nvSpPr>
        <p:spPr>
          <a:xfrm>
            <a:off x="3154680" y="1600200"/>
            <a:ext cx="5696712" cy="3017520"/>
          </a:xfrm>
          <a:prstGeom prst="roundRect">
            <a:avLst>
              <a:gd name="adj" fmla="val 4242"/>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38" name="Shape 36"/>
          <p:cNvSpPr/>
          <p:nvPr/>
        </p:nvSpPr>
        <p:spPr>
          <a:xfrm>
            <a:off x="3429000" y="1810512"/>
            <a:ext cx="2240280" cy="384048"/>
          </a:xfrm>
          <a:prstGeom prst="roundRect">
            <a:avLst>
              <a:gd name="adj" fmla="val 50000"/>
            </a:avLst>
          </a:prstGeom>
          <a:solidFill>
            <a:srgbClr val="6E5E94"/>
          </a:solidFill>
          <a:ln w="12700">
            <a:solidFill>
              <a:srgbClr val="6E5E94"/>
            </a:solidFill>
            <a:prstDash val="solid"/>
          </a:ln>
        </p:spPr>
      </p:sp>
      <p:pic>
        <p:nvPicPr>
          <p:cNvPr id="39" name="Image 0" descr="preencoded.png">    </p:cNvPr>
          <p:cNvPicPr>
            <a:picLocks noChangeAspect="1"/>
          </p:cNvPicPr>
          <p:nvPr/>
        </p:nvPicPr>
        <p:blipFill>
          <a:blip r:embed="rId1"/>
          <a:stretch>
            <a:fillRect/>
          </a:stretch>
        </p:blipFill>
        <p:spPr>
          <a:xfrm>
            <a:off x="3547872" y="1874520"/>
            <a:ext cx="246888" cy="246888"/>
          </a:xfrm>
          <a:prstGeom prst="rect">
            <a:avLst/>
          </a:prstGeom>
        </p:spPr>
      </p:pic>
      <p:sp>
        <p:nvSpPr>
          <p:cNvPr id="40" name="Text 37"/>
          <p:cNvSpPr txBox="1"/>
          <p:nvPr/>
        </p:nvSpPr>
        <p:spPr>
          <a:xfrm>
            <a:off x="3867912" y="1810512"/>
            <a:ext cx="1783080" cy="38404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Day 7  |  4:10 PM</a:t>
            </a:r>
            <a:endParaRPr lang="en-US" sz="1300" dirty="0"/>
          </a:p>
        </p:txBody>
      </p:sp>
      <p:sp>
        <p:nvSpPr>
          <p:cNvPr id="41" name="Text 38"/>
          <p:cNvSpPr txBox="1"/>
          <p:nvPr/>
        </p:nvSpPr>
        <p:spPr>
          <a:xfrm>
            <a:off x="3429000" y="2286000"/>
            <a:ext cx="2743200" cy="256032"/>
          </a:xfrm>
          <a:prstGeom prst="rect">
            <a:avLst/>
          </a:prstGeom>
          <a:noFill/>
          <a:ln/>
        </p:spPr>
        <p:txBody>
          <a:bodyPr wrap="square" lIns="0" tIns="0" rIns="0" bIns="0" rtlCol="0" anchor="t"/>
          <a:lstStyle/>
          <a:p>
            <a:pPr indent="0" marL="0">
              <a:buNone/>
            </a:pPr>
            <a:r>
              <a:rPr lang="en-US" sz="1200" b="1" dirty="0">
                <a:solidFill>
                  <a:srgbClr val="465A69"/>
                </a:solidFill>
                <a:latin typeface="Calibri" pitchFamily="34" charset="0"/>
                <a:ea typeface="Calibri" pitchFamily="34" charset="-122"/>
                <a:cs typeface="Calibri" pitchFamily="34" charset="-120"/>
              </a:rPr>
              <a:t>New information</a:t>
            </a:r>
            <a:endParaRPr lang="en-US" sz="1200" dirty="0"/>
          </a:p>
        </p:txBody>
      </p:sp>
      <p:sp>
        <p:nvSpPr>
          <p:cNvPr id="42" name="Text 39"/>
          <p:cNvSpPr txBox="1"/>
          <p:nvPr/>
        </p:nvSpPr>
        <p:spPr>
          <a:xfrm>
            <a:off x="3429000" y="2560320"/>
            <a:ext cx="5166360" cy="1965960"/>
          </a:xfrm>
          <a:prstGeom prst="rect">
            <a:avLst/>
          </a:prstGeom>
          <a:noFill/>
          <a:ln/>
        </p:spPr>
        <p:txBody>
          <a:bodyPr wrap="square" lIns="0" tIns="0" rIns="0" bIns="0" rtlCol="0" anchor="t"/>
          <a:lstStyle/>
          <a:p>
            <a:pPr indent="0" marL="0">
              <a:buNone/>
            </a:pPr>
            <a:r>
              <a:rPr lang="en-US" sz="1800" dirty="0">
                <a:solidFill>
                  <a:srgbClr val="1E2E3A"/>
                </a:solidFill>
                <a:latin typeface="Calibri" pitchFamily="34" charset="0"/>
                <a:ea typeface="Calibri" pitchFamily="34" charset="-122"/>
                <a:cs typeface="Calibri" pitchFamily="34" charset="-120"/>
              </a:rPr>
              <a:t>Communications receives investor inquiries about operational disruptions. Leadership wants a regular status report.</a:t>
            </a:r>
            <a:endParaRPr lang="en-US" sz="1800" dirty="0"/>
          </a:p>
        </p:txBody>
      </p:sp>
      <p:sp>
        <p:nvSpPr>
          <p:cNvPr id="43" name="Shape 40"/>
          <p:cNvSpPr/>
          <p:nvPr/>
        </p:nvSpPr>
        <p:spPr>
          <a:xfrm>
            <a:off x="3154680" y="4800600"/>
            <a:ext cx="5696712" cy="1371600"/>
          </a:xfrm>
          <a:prstGeom prst="roundRect">
            <a:avLst>
              <a:gd name="adj" fmla="val 9333"/>
            </a:avLst>
          </a:prstGeom>
          <a:solidFill>
            <a:srgbClr val="F6F3FA"/>
          </a:solidFill>
          <a:ln w="12700">
            <a:solidFill>
              <a:srgbClr val="F6F3FA"/>
            </a:solidFill>
            <a:prstDash val="solid"/>
          </a:ln>
          <a:effectLst>
            <a:outerShdw sx="100000" sy="100000" kx="0" ky="0" algn="bl" rotWithShape="0" blurRad="177800" dist="50800" dir="5400000">
              <a:srgbClr val="1B4965">
                <a:alpha val="16000"/>
              </a:srgbClr>
            </a:outerShdw>
          </a:effectLst>
        </p:spPr>
      </p:sp>
      <p:sp>
        <p:nvSpPr>
          <p:cNvPr id="44" name="Text 41"/>
          <p:cNvSpPr txBox="1"/>
          <p:nvPr/>
        </p:nvSpPr>
        <p:spPr>
          <a:xfrm>
            <a:off x="3429000" y="4901184"/>
            <a:ext cx="2743200" cy="256032"/>
          </a:xfrm>
          <a:prstGeom prst="rect">
            <a:avLst/>
          </a:prstGeom>
          <a:noFill/>
          <a:ln/>
        </p:spPr>
        <p:txBody>
          <a:bodyPr wrap="square" lIns="0" tIns="0" rIns="0" bIns="0" rtlCol="0" anchor="t"/>
          <a:lstStyle/>
          <a:p>
            <a:pPr indent="0" marL="0">
              <a:buNone/>
            </a:pPr>
            <a:r>
              <a:rPr lang="en-US" sz="1300" b="1" dirty="0">
                <a:solidFill>
                  <a:srgbClr val="6E5E94"/>
                </a:solidFill>
                <a:latin typeface="Calibri" pitchFamily="34" charset="0"/>
                <a:ea typeface="Calibri" pitchFamily="34" charset="-122"/>
                <a:cs typeface="Calibri" pitchFamily="34" charset="-120"/>
              </a:rPr>
              <a:t>Decide</a:t>
            </a:r>
            <a:endParaRPr lang="en-US" sz="1300" dirty="0"/>
          </a:p>
        </p:txBody>
      </p:sp>
      <p:sp>
        <p:nvSpPr>
          <p:cNvPr id="45" name="Text 42"/>
          <p:cNvSpPr txBox="1"/>
          <p:nvPr/>
        </p:nvSpPr>
        <p:spPr>
          <a:xfrm>
            <a:off x="3429000" y="5175504"/>
            <a:ext cx="5166360" cy="914400"/>
          </a:xfrm>
          <a:prstGeom prst="rect">
            <a:avLst/>
          </a:prstGeom>
          <a:noFill/>
          <a:ln/>
        </p:spPr>
        <p:txBody>
          <a:bodyPr wrap="square" lIns="0" tIns="0" rIns="0" bIns="0" rtlCol="0" anchor="t"/>
          <a:lstStyle/>
          <a:p>
            <a:pPr indent="0" marL="0">
              <a:buNone/>
            </a:pPr>
            <a:r>
              <a:rPr lang="en-US" sz="1400" b="1" dirty="0">
                <a:solidFill>
                  <a:srgbClr val="1E2E3A"/>
                </a:solidFill>
                <a:latin typeface="Calibri" pitchFamily="34" charset="0"/>
                <a:ea typeface="Calibri" pitchFamily="34" charset="-122"/>
                <a:cs typeface="Calibri" pitchFamily="34" charset="-120"/>
              </a:rPr>
              <a:t>What executive decisions are needed to keep operating? Who speaks to investors, and with what approved message?</a:t>
            </a:r>
            <a:endParaRPr lang="en-US" sz="1400" dirty="0"/>
          </a:p>
        </p:txBody>
      </p:sp>
      <p:sp>
        <p:nvSpPr>
          <p:cNvPr id="46" name="Shape 43"/>
          <p:cNvSpPr/>
          <p:nvPr/>
        </p:nvSpPr>
        <p:spPr>
          <a:xfrm>
            <a:off x="9079992" y="1600200"/>
            <a:ext cx="2560320" cy="4572000"/>
          </a:xfrm>
          <a:prstGeom prst="roundRect">
            <a:avLst>
              <a:gd name="adj" fmla="val 5000"/>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47" name="Text 44"/>
          <p:cNvSpPr txBox="1"/>
          <p:nvPr/>
        </p:nvSpPr>
        <p:spPr>
          <a:xfrm>
            <a:off x="9262872" y="1728216"/>
            <a:ext cx="2194560" cy="457200"/>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Investor inquiry (simulated)</a:t>
            </a:r>
            <a:endParaRPr lang="en-US" sz="1300" dirty="0"/>
          </a:p>
        </p:txBody>
      </p:sp>
      <p:sp>
        <p:nvSpPr>
          <p:cNvPr id="48" name="Shape 45"/>
          <p:cNvSpPr/>
          <p:nvPr/>
        </p:nvSpPr>
        <p:spPr>
          <a:xfrm>
            <a:off x="9262872" y="2221992"/>
            <a:ext cx="2194560" cy="3767328"/>
          </a:xfrm>
          <a:prstGeom prst="roundRect">
            <a:avLst>
              <a:gd name="adj" fmla="val 3333"/>
            </a:avLst>
          </a:prstGeom>
          <a:solidFill>
            <a:srgbClr val="FFFFFF"/>
          </a:solidFill>
          <a:ln w="9525">
            <a:solidFill>
              <a:srgbClr val="C9D3DE"/>
            </a:solidFill>
            <a:prstDash val="solid"/>
          </a:ln>
        </p:spPr>
      </p:sp>
      <p:sp>
        <p:nvSpPr>
          <p:cNvPr id="49" name="Text 46"/>
          <p:cNvSpPr txBox="1"/>
          <p:nvPr/>
        </p:nvSpPr>
        <p:spPr>
          <a:xfrm>
            <a:off x="9381744" y="2386584"/>
            <a:ext cx="1956816" cy="235204"/>
          </a:xfrm>
          <a:prstGeom prst="rect">
            <a:avLst/>
          </a:prstGeom>
          <a:noFill/>
          <a:ln/>
        </p:spPr>
        <p:txBody>
          <a:bodyPr wrap="square" lIns="0" tIns="0" rIns="0" bIns="0" rtlCol="0" anchor="t"/>
          <a:lstStyle/>
          <a:p>
            <a:pPr indent="0" marL="0">
              <a:buNone/>
            </a:pPr>
            <a:r>
              <a:rPr lang="en-US" sz="1400" b="1" dirty="0">
                <a:solidFill>
                  <a:srgbClr val="1E2E3A"/>
                </a:solidFill>
                <a:latin typeface="Calibri" pitchFamily="34" charset="0"/>
                <a:ea typeface="Calibri" pitchFamily="34" charset="-122"/>
                <a:cs typeface="Calibri" pitchFamily="34" charset="-120"/>
              </a:rPr>
              <a:t>From: </a:t>
            </a:r>
            <a:pPr indent="0" marL="0">
              <a:buNone/>
            </a:pPr>
            <a:r>
              <a:rPr lang="en-US" sz="1400" dirty="0">
                <a:solidFill>
                  <a:srgbClr val="1E2E3A"/>
                </a:solidFill>
                <a:latin typeface="Calibri" pitchFamily="34" charset="0"/>
                <a:ea typeface="Calibri" pitchFamily="34" charset="-122"/>
                <a:cs typeface="Calibri" pitchFamily="34" charset="-120"/>
              </a:rPr>
              <a:t>Investor</a:t>
            </a:r>
            <a:endParaRPr lang="en-US" sz="1400" dirty="0"/>
          </a:p>
        </p:txBody>
      </p:sp>
      <p:sp>
        <p:nvSpPr>
          <p:cNvPr id="50" name="Text 47"/>
          <p:cNvSpPr txBox="1"/>
          <p:nvPr/>
        </p:nvSpPr>
        <p:spPr>
          <a:xfrm>
            <a:off x="9381744" y="2621788"/>
            <a:ext cx="1956816" cy="452120"/>
          </a:xfrm>
          <a:prstGeom prst="rect">
            <a:avLst/>
          </a:prstGeom>
          <a:noFill/>
          <a:ln/>
        </p:spPr>
        <p:txBody>
          <a:bodyPr wrap="square" lIns="0" tIns="0" rIns="0" bIns="0" rtlCol="0" anchor="t"/>
          <a:lstStyle/>
          <a:p>
            <a:pPr indent="0" marL="0">
              <a:buNone/>
            </a:pPr>
            <a:r>
              <a:rPr lang="en-US" sz="1400" b="1" dirty="0">
                <a:solidFill>
                  <a:srgbClr val="1E2E3A"/>
                </a:solidFill>
                <a:latin typeface="Calibri" pitchFamily="34" charset="0"/>
                <a:ea typeface="Calibri" pitchFamily="34" charset="-122"/>
                <a:cs typeface="Calibri" pitchFamily="34" charset="-120"/>
              </a:rPr>
              <a:t>Subject: </a:t>
            </a:r>
            <a:pPr indent="0" marL="0">
              <a:buNone/>
            </a:pPr>
            <a:r>
              <a:rPr lang="en-US" sz="1400" dirty="0">
                <a:solidFill>
                  <a:srgbClr val="1E2E3A"/>
                </a:solidFill>
                <a:latin typeface="Calibri" pitchFamily="34" charset="0"/>
                <a:ea typeface="Calibri" pitchFamily="34" charset="-122"/>
                <a:cs typeface="Calibri" pitchFamily="34" charset="-120"/>
              </a:rPr>
              <a:t>Operational update?</a:t>
            </a:r>
            <a:endParaRPr lang="en-US" sz="1400" dirty="0"/>
          </a:p>
        </p:txBody>
      </p:sp>
      <p:sp>
        <p:nvSpPr>
          <p:cNvPr id="51" name="Text 48"/>
          <p:cNvSpPr txBox="1"/>
          <p:nvPr/>
        </p:nvSpPr>
        <p:spPr>
          <a:xfrm>
            <a:off x="9381744" y="3147060"/>
            <a:ext cx="1956816" cy="1338072"/>
          </a:xfrm>
          <a:prstGeom prst="rect">
            <a:avLst/>
          </a:prstGeom>
          <a:noFill/>
          <a:ln/>
        </p:spPr>
        <p:txBody>
          <a:bodyPr wrap="square" lIns="0" tIns="0" rIns="0" bIns="0" rtlCol="0" anchor="t"/>
          <a:lstStyle/>
          <a:p>
            <a:pPr indent="0" marL="0">
              <a:buNone/>
            </a:pPr>
            <a:r>
              <a:rPr lang="en-US" sz="1400" dirty="0">
                <a:solidFill>
                  <a:srgbClr val="1E2E3A"/>
                </a:solidFill>
                <a:latin typeface="Calibri" pitchFamily="34" charset="0"/>
                <a:ea typeface="Calibri" pitchFamily="34" charset="-122"/>
                <a:cs typeface="Calibri" pitchFamily="34" charset="-120"/>
              </a:rPr>
              <a:t>We have heard reports of system disruptions at your company. Is there any impact on the upcoming milestone?</a:t>
            </a:r>
            <a:endParaRPr lang="en-US" sz="1400" dirty="0"/>
          </a:p>
        </p:txBody>
      </p:sp>
      <p:sp>
        <p:nvSpPr>
          <p:cNvPr id="52" name="Text 49"/>
          <p:cNvSpPr txBox="1"/>
          <p:nvPr/>
        </p:nvSpPr>
        <p:spPr>
          <a:xfrm>
            <a:off x="9381744" y="4567428"/>
            <a:ext cx="1956816" cy="228600"/>
          </a:xfrm>
          <a:prstGeom prst="rect">
            <a:avLst/>
          </a:prstGeom>
          <a:noFill/>
          <a:ln/>
        </p:spPr>
        <p:txBody>
          <a:bodyPr wrap="square" lIns="0" tIns="0" rIns="0" bIns="0" rtlCol="0" anchor="t"/>
          <a:lstStyle/>
          <a:p>
            <a:pPr indent="0" marL="0">
              <a:buNone/>
            </a:pPr>
            <a:r>
              <a:rPr lang="en-US" sz="1200" dirty="0">
                <a:solidFill>
                  <a:srgbClr val="465A69"/>
                </a:solidFill>
                <a:latin typeface="Calibri" pitchFamily="34" charset="0"/>
                <a:ea typeface="Calibri" pitchFamily="34" charset="-122"/>
                <a:cs typeface="Calibri" pitchFamily="34" charset="-120"/>
              </a:rPr>
              <a:t>Day 7, 4:10 PM</a:t>
            </a:r>
            <a:endParaRPr lang="en-US" sz="1200" dirty="0"/>
          </a:p>
        </p:txBody>
      </p:sp>
      <p:sp>
        <p:nvSpPr>
          <p:cNvPr id="53" name="Text 50"/>
          <p:cNvSpPr txBox="1"/>
          <p:nvPr/>
        </p:nvSpPr>
        <p:spPr>
          <a:xfrm>
            <a:off x="548640" y="6254496"/>
            <a:ext cx="11091672" cy="256032"/>
          </a:xfrm>
          <a:prstGeom prst="rect">
            <a:avLst/>
          </a:prstGeom>
          <a:noFill/>
          <a:ln/>
        </p:spPr>
        <p:txBody>
          <a:bodyPr wrap="square" lIns="0" tIns="0" rIns="0" bIns="0" rtlCol="0" anchor="ctr"/>
          <a:lstStyle/>
          <a:p>
            <a:pPr indent="0" marL="0">
              <a:buNone/>
            </a:pPr>
            <a:r>
              <a:rPr lang="en-US" sz="1200" b="1" dirty="0">
                <a:solidFill>
                  <a:srgbClr val="465A69"/>
                </a:solidFill>
                <a:latin typeface="Calibri" pitchFamily="34" charset="0"/>
                <a:ea typeface="Calibri" pitchFamily="34" charset="-122"/>
                <a:cs typeface="Calibri" pitchFamily="34" charset="-120"/>
              </a:rPr>
              <a:t>Acronyms:  </a:t>
            </a:r>
            <a:pPr indent="0" marL="0">
              <a:buNone/>
            </a:pPr>
            <a:r>
              <a:rPr lang="en-US" sz="1200" dirty="0">
                <a:solidFill>
                  <a:srgbClr val="465A69"/>
                </a:solidFill>
                <a:latin typeface="Calibri" pitchFamily="34" charset="0"/>
                <a:ea typeface="Calibri" pitchFamily="34" charset="-122"/>
                <a:cs typeface="Calibri" pitchFamily="34" charset="-120"/>
              </a:rPr>
              <a:t>T+: time since the first signal;  CRO: contract research organization</a:t>
            </a:r>
            <a:endParaRPr lang="en-US" sz="1200" dirty="0"/>
          </a:p>
        </p:txBody>
      </p:sp>
      <p:sp>
        <p:nvSpPr>
          <p:cNvPr id="54" name="Shape 51"/>
          <p:cNvSpPr/>
          <p:nvPr/>
        </p:nvSpPr>
        <p:spPr>
          <a:xfrm>
            <a:off x="548640" y="6537960"/>
            <a:ext cx="763524" cy="274320"/>
          </a:xfrm>
          <a:prstGeom prst="roundRect">
            <a:avLst>
              <a:gd name="adj" fmla="val 50000"/>
            </a:avLst>
          </a:prstGeom>
          <a:solidFill>
            <a:srgbClr val="E4ECF2"/>
          </a:solidFill>
          <a:ln w="12700">
            <a:solidFill>
              <a:srgbClr val="E4ECF2"/>
            </a:solidFill>
            <a:prstDash val="solid"/>
          </a:ln>
        </p:spPr>
      </p:sp>
      <p:sp>
        <p:nvSpPr>
          <p:cNvPr id="55" name="Text 52"/>
          <p:cNvSpPr txBox="1"/>
          <p:nvPr/>
        </p:nvSpPr>
        <p:spPr>
          <a:xfrm>
            <a:off x="548640" y="6537960"/>
            <a:ext cx="763524" cy="274320"/>
          </a:xfrm>
          <a:prstGeom prst="rect">
            <a:avLst/>
          </a:prstGeom>
          <a:noFill/>
          <a:ln/>
        </p:spPr>
        <p:txBody>
          <a:bodyPr wrap="square" lIns="0" tIns="0" rIns="0" bIns="0" rtlCol="0" anchor="ctr"/>
          <a:lstStyle/>
          <a:p>
            <a:pPr algn="ctr" indent="0" marL="0">
              <a:buNone/>
            </a:pPr>
            <a:r>
              <a:rPr lang="en-US" sz="1200" b="1" dirty="0">
                <a:solidFill>
                  <a:srgbClr val="23405A"/>
                </a:solidFill>
                <a:latin typeface="Calibri" pitchFamily="34" charset="0"/>
                <a:ea typeface="Calibri" pitchFamily="34" charset="-122"/>
                <a:cs typeface="Calibri" pitchFamily="34" charset="-120"/>
              </a:rPr>
              <a:t>Start</a:t>
            </a:r>
            <a:endParaRPr lang="en-US" sz="1200" dirty="0"/>
          </a:p>
        </p:txBody>
      </p:sp>
      <p:pic>
        <p:nvPicPr>
          <p:cNvPr id="56" name="Image 1" descr="preencoded.png">
            <a:hlinkClick r:id="rId3" tooltip="Go to Start" action="ppaction://hlinksldjump"/>
          </p:cNvPr>
          <p:cNvPicPr>
            <a:picLocks noChangeAspect="1"/>
          </p:cNvPicPr>
          <p:nvPr/>
        </p:nvPicPr>
        <p:blipFill>
          <a:blip r:embed="rId2"/>
          <a:stretch>
            <a:fillRect/>
          </a:stretch>
        </p:blipFill>
        <p:spPr>
          <a:xfrm>
            <a:off x="548640" y="6537960"/>
            <a:ext cx="763524" cy="274320"/>
          </a:xfrm>
          <a:prstGeom prst="rect">
            <a:avLst/>
          </a:prstGeom>
        </p:spPr>
      </p:pic>
      <p:sp>
        <p:nvSpPr>
          <p:cNvPr id="57" name="Shape 53"/>
          <p:cNvSpPr/>
          <p:nvPr/>
        </p:nvSpPr>
        <p:spPr>
          <a:xfrm>
            <a:off x="1385316" y="6537960"/>
            <a:ext cx="1197864" cy="274320"/>
          </a:xfrm>
          <a:prstGeom prst="roundRect">
            <a:avLst>
              <a:gd name="adj" fmla="val 50000"/>
            </a:avLst>
          </a:prstGeom>
          <a:solidFill>
            <a:srgbClr val="F1F6FA"/>
          </a:solidFill>
          <a:ln w="12700">
            <a:solidFill>
              <a:srgbClr val="F1F6FA"/>
            </a:solidFill>
            <a:prstDash val="solid"/>
          </a:ln>
        </p:spPr>
      </p:sp>
      <p:sp>
        <p:nvSpPr>
          <p:cNvPr id="58" name="Text 54"/>
          <p:cNvSpPr txBox="1"/>
          <p:nvPr/>
        </p:nvSpPr>
        <p:spPr>
          <a:xfrm>
            <a:off x="1385316" y="6537960"/>
            <a:ext cx="1197864" cy="274320"/>
          </a:xfrm>
          <a:prstGeom prst="rect">
            <a:avLst/>
          </a:prstGeom>
          <a:noFill/>
          <a:ln/>
        </p:spPr>
        <p:txBody>
          <a:bodyPr wrap="square" lIns="0" tIns="0" rIns="0" bIns="0" rtlCol="0" anchor="ctr"/>
          <a:lstStyle/>
          <a:p>
            <a:pPr algn="ctr" indent="0" marL="0">
              <a:buNone/>
            </a:pPr>
            <a:r>
              <a:rPr lang="en-US" sz="1200" b="1" dirty="0">
                <a:solidFill>
                  <a:srgbClr val="3F6E8C"/>
                </a:solidFill>
                <a:latin typeface="Calibri" pitchFamily="34" charset="0"/>
                <a:ea typeface="Calibri" pitchFamily="34" charset="-122"/>
                <a:cs typeface="Calibri" pitchFamily="34" charset="-120"/>
              </a:rPr>
              <a:t>Scenario 1</a:t>
            </a:r>
            <a:endParaRPr lang="en-US" sz="1200" dirty="0"/>
          </a:p>
        </p:txBody>
      </p:sp>
      <p:pic>
        <p:nvPicPr>
          <p:cNvPr id="59" name="Image 2" descr="preencoded.png">
            <a:hlinkClick r:id="rId5" tooltip="Go to Scenario 1" action="ppaction://hlinksldjump"/>
          </p:cNvPr>
          <p:cNvPicPr>
            <a:picLocks noChangeAspect="1"/>
          </p:cNvPicPr>
          <p:nvPr/>
        </p:nvPicPr>
        <p:blipFill>
          <a:blip r:embed="rId4"/>
          <a:stretch>
            <a:fillRect/>
          </a:stretch>
        </p:blipFill>
        <p:spPr>
          <a:xfrm>
            <a:off x="1385316" y="6537960"/>
            <a:ext cx="1197864" cy="274320"/>
          </a:xfrm>
          <a:prstGeom prst="rect">
            <a:avLst/>
          </a:prstGeom>
        </p:spPr>
      </p:pic>
      <p:sp>
        <p:nvSpPr>
          <p:cNvPr id="60" name="Shape 55"/>
          <p:cNvSpPr/>
          <p:nvPr/>
        </p:nvSpPr>
        <p:spPr>
          <a:xfrm>
            <a:off x="2656332" y="6537960"/>
            <a:ext cx="1197864" cy="274320"/>
          </a:xfrm>
          <a:prstGeom prst="roundRect">
            <a:avLst>
              <a:gd name="adj" fmla="val 50000"/>
            </a:avLst>
          </a:prstGeom>
          <a:solidFill>
            <a:srgbClr val="F1F8F3"/>
          </a:solidFill>
          <a:ln w="12700">
            <a:solidFill>
              <a:srgbClr val="F1F8F3"/>
            </a:solidFill>
            <a:prstDash val="solid"/>
          </a:ln>
        </p:spPr>
      </p:sp>
      <p:sp>
        <p:nvSpPr>
          <p:cNvPr id="61" name="Text 56"/>
          <p:cNvSpPr txBox="1"/>
          <p:nvPr/>
        </p:nvSpPr>
        <p:spPr>
          <a:xfrm>
            <a:off x="2656332" y="6537960"/>
            <a:ext cx="1197864" cy="274320"/>
          </a:xfrm>
          <a:prstGeom prst="rect">
            <a:avLst/>
          </a:prstGeom>
          <a:noFill/>
          <a:ln/>
        </p:spPr>
        <p:txBody>
          <a:bodyPr wrap="square" lIns="0" tIns="0" rIns="0" bIns="0" rtlCol="0" anchor="ctr"/>
          <a:lstStyle/>
          <a:p>
            <a:pPr algn="ctr" indent="0" marL="0">
              <a:buNone/>
            </a:pPr>
            <a:r>
              <a:rPr lang="en-US" sz="1200" b="1" dirty="0">
                <a:solidFill>
                  <a:srgbClr val="4C8068"/>
                </a:solidFill>
                <a:latin typeface="Calibri" pitchFamily="34" charset="0"/>
                <a:ea typeface="Calibri" pitchFamily="34" charset="-122"/>
                <a:cs typeface="Calibri" pitchFamily="34" charset="-120"/>
              </a:rPr>
              <a:t>Scenario 2</a:t>
            </a:r>
            <a:endParaRPr lang="en-US" sz="1200" dirty="0"/>
          </a:p>
        </p:txBody>
      </p:sp>
      <p:pic>
        <p:nvPicPr>
          <p:cNvPr id="62" name="Image 3" descr="preencoded.png">
            <a:hlinkClick r:id="rId7" tooltip="Go to Scenario 2" action="ppaction://hlinksldjump"/>
          </p:cNvPr>
          <p:cNvPicPr>
            <a:picLocks noChangeAspect="1"/>
          </p:cNvPicPr>
          <p:nvPr/>
        </p:nvPicPr>
        <p:blipFill>
          <a:blip r:embed="rId6"/>
          <a:stretch>
            <a:fillRect/>
          </a:stretch>
        </p:blipFill>
        <p:spPr>
          <a:xfrm>
            <a:off x="2656332" y="6537960"/>
            <a:ext cx="1197864" cy="274320"/>
          </a:xfrm>
          <a:prstGeom prst="rect">
            <a:avLst/>
          </a:prstGeom>
        </p:spPr>
      </p:pic>
      <p:sp>
        <p:nvSpPr>
          <p:cNvPr id="63" name="Shape 57"/>
          <p:cNvSpPr/>
          <p:nvPr/>
        </p:nvSpPr>
        <p:spPr>
          <a:xfrm>
            <a:off x="3927348" y="6537960"/>
            <a:ext cx="1197864" cy="274320"/>
          </a:xfrm>
          <a:prstGeom prst="roundRect">
            <a:avLst>
              <a:gd name="adj" fmla="val 50000"/>
            </a:avLst>
          </a:prstGeom>
          <a:solidFill>
            <a:srgbClr val="6E5E94"/>
          </a:solidFill>
          <a:ln w="12700">
            <a:solidFill>
              <a:srgbClr val="6E5E94"/>
            </a:solidFill>
            <a:prstDash val="solid"/>
          </a:ln>
        </p:spPr>
      </p:sp>
      <p:sp>
        <p:nvSpPr>
          <p:cNvPr id="64" name="Text 58"/>
          <p:cNvSpPr txBox="1"/>
          <p:nvPr/>
        </p:nvSpPr>
        <p:spPr>
          <a:xfrm>
            <a:off x="3927348" y="6537960"/>
            <a:ext cx="1197864"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Scenario 3</a:t>
            </a:r>
            <a:endParaRPr lang="en-US" sz="1200" dirty="0"/>
          </a:p>
        </p:txBody>
      </p:sp>
      <p:pic>
        <p:nvPicPr>
          <p:cNvPr id="65" name="Image 4" descr="preencoded.png">
            <a:hlinkClick r:id="rId9" tooltip="Go to Scenario 3" action="ppaction://hlinksldjump"/>
          </p:cNvPr>
          <p:cNvPicPr>
            <a:picLocks noChangeAspect="1"/>
          </p:cNvPicPr>
          <p:nvPr/>
        </p:nvPicPr>
        <p:blipFill>
          <a:blip r:embed="rId8"/>
          <a:stretch>
            <a:fillRect/>
          </a:stretch>
        </p:blipFill>
        <p:spPr>
          <a:xfrm>
            <a:off x="3927348" y="6537960"/>
            <a:ext cx="1197864" cy="274320"/>
          </a:xfrm>
          <a:prstGeom prst="rect">
            <a:avLst/>
          </a:prstGeom>
        </p:spPr>
      </p:pic>
      <p:sp>
        <p:nvSpPr>
          <p:cNvPr id="66" name="Shape 59"/>
          <p:cNvSpPr/>
          <p:nvPr/>
        </p:nvSpPr>
        <p:spPr>
          <a:xfrm>
            <a:off x="5198364" y="6537960"/>
            <a:ext cx="937260" cy="274320"/>
          </a:xfrm>
          <a:prstGeom prst="roundRect">
            <a:avLst>
              <a:gd name="adj" fmla="val 50000"/>
            </a:avLst>
          </a:prstGeom>
          <a:solidFill>
            <a:srgbClr val="E4ECF2"/>
          </a:solidFill>
          <a:ln w="12700">
            <a:solidFill>
              <a:srgbClr val="E4ECF2"/>
            </a:solidFill>
            <a:prstDash val="solid"/>
          </a:ln>
        </p:spPr>
      </p:sp>
      <p:sp>
        <p:nvSpPr>
          <p:cNvPr id="67" name="Text 60"/>
          <p:cNvSpPr txBox="1"/>
          <p:nvPr/>
        </p:nvSpPr>
        <p:spPr>
          <a:xfrm>
            <a:off x="5198364" y="6537960"/>
            <a:ext cx="937260" cy="274320"/>
          </a:xfrm>
          <a:prstGeom prst="rect">
            <a:avLst/>
          </a:prstGeom>
          <a:noFill/>
          <a:ln/>
        </p:spPr>
        <p:txBody>
          <a:bodyPr wrap="square" lIns="0" tIns="0" rIns="0" bIns="0" rtlCol="0" anchor="ctr"/>
          <a:lstStyle/>
          <a:p>
            <a:pPr algn="ctr" indent="0" marL="0">
              <a:buNone/>
            </a:pPr>
            <a:r>
              <a:rPr lang="en-US" sz="1200" b="1" dirty="0">
                <a:solidFill>
                  <a:srgbClr val="23405A"/>
                </a:solidFill>
                <a:latin typeface="Calibri" pitchFamily="34" charset="0"/>
                <a:ea typeface="Calibri" pitchFamily="34" charset="-122"/>
                <a:cs typeface="Calibri" pitchFamily="34" charset="-120"/>
              </a:rPr>
              <a:t>Closing</a:t>
            </a:r>
            <a:endParaRPr lang="en-US" sz="1200" dirty="0"/>
          </a:p>
        </p:txBody>
      </p:sp>
      <p:pic>
        <p:nvPicPr>
          <p:cNvPr id="68" name="Image 5" descr="preencoded.png">
            <a:hlinkClick r:id="rId11" tooltip="Go to Closing" action="ppaction://hlinksldjump"/>
          </p:cNvPr>
          <p:cNvPicPr>
            <a:picLocks noChangeAspect="1"/>
          </p:cNvPicPr>
          <p:nvPr/>
        </p:nvPicPr>
        <p:blipFill>
          <a:blip r:embed="rId10"/>
          <a:stretch>
            <a:fillRect/>
          </a:stretch>
        </p:blipFill>
        <p:spPr>
          <a:xfrm>
            <a:off x="5198364" y="6537960"/>
            <a:ext cx="937260" cy="274320"/>
          </a:xfrm>
          <a:prstGeom prst="rect">
            <a:avLst/>
          </a:prstGeom>
        </p:spPr>
      </p:pic>
      <p:sp>
        <p:nvSpPr>
          <p:cNvPr id="69" name="Text 61"/>
          <p:cNvSpPr txBox="1"/>
          <p:nvPr/>
        </p:nvSpPr>
        <p:spPr>
          <a:xfrm>
            <a:off x="11277295" y="6537960"/>
            <a:ext cx="365760" cy="274320"/>
          </a:xfrm>
          <a:prstGeom prst="rect">
            <a:avLst/>
          </a:prstGeom>
          <a:noFill/>
          <a:ln/>
        </p:spPr>
        <p:txBody>
          <a:bodyPr wrap="square" lIns="0" tIns="0" rIns="0" bIns="0" rtlCol="0" anchor="ctr"/>
          <a:lstStyle/>
          <a:p>
            <a:pPr algn="r" indent="0" marL="0">
              <a:buNone/>
            </a:pPr>
            <a:r>
              <a:rPr lang="en-US" sz="1200" dirty="0">
                <a:solidFill>
                  <a:srgbClr val="465A69"/>
                </a:solidFill>
                <a:latin typeface="Calibri" pitchFamily="34" charset="0"/>
                <a:ea typeface="Calibri" pitchFamily="34" charset="-122"/>
                <a:cs typeface="Calibri" pitchFamily="34" charset="-120"/>
              </a:rPr>
              <a:t>47</a:t>
            </a:r>
            <a:endParaRPr lang="en-US" sz="12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EEEAF5"/>
        </a:solidFill>
      </p:bgPr>
    </p:bg>
    <p:spTree>
      <p:nvGrpSpPr>
        <p:cNvPr id="1" name=""/>
        <p:cNvGrpSpPr/>
        <p:nvPr/>
      </p:nvGrpSpPr>
      <p:grpSpPr>
        <a:xfrm>
          <a:off x="0" y="0"/>
          <a:ext cx="0" cy="0"/>
          <a:chOff x="0" y="0"/>
          <a:chExt cx="0" cy="0"/>
        </a:xfrm>
      </p:grpSpPr>
      <p:sp>
        <p:nvSpPr>
          <p:cNvPr id="2" name="Shape 0"/>
          <p:cNvSpPr/>
          <p:nvPr/>
        </p:nvSpPr>
        <p:spPr>
          <a:xfrm>
            <a:off x="548640" y="347472"/>
            <a:ext cx="3008376" cy="329184"/>
          </a:xfrm>
          <a:prstGeom prst="roundRect">
            <a:avLst>
              <a:gd name="adj" fmla="val 50000"/>
            </a:avLst>
          </a:prstGeom>
          <a:solidFill>
            <a:srgbClr val="F6F3FA"/>
          </a:solidFill>
          <a:ln w="12700">
            <a:solidFill>
              <a:srgbClr val="F6F3FA"/>
            </a:solidFill>
            <a:prstDash val="solid"/>
          </a:ln>
        </p:spPr>
      </p:sp>
      <p:sp>
        <p:nvSpPr>
          <p:cNvPr id="3" name="Text 1"/>
          <p:cNvSpPr txBox="1"/>
          <p:nvPr/>
        </p:nvSpPr>
        <p:spPr>
          <a:xfrm>
            <a:off x="548640" y="347472"/>
            <a:ext cx="3008376" cy="329184"/>
          </a:xfrm>
          <a:prstGeom prst="rect">
            <a:avLst/>
          </a:prstGeom>
          <a:noFill/>
          <a:ln/>
        </p:spPr>
        <p:txBody>
          <a:bodyPr wrap="square" lIns="0" tIns="0" rIns="0" bIns="0" rtlCol="0" anchor="ctr"/>
          <a:lstStyle/>
          <a:p>
            <a:pPr algn="ctr" indent="0" marL="0">
              <a:buNone/>
            </a:pPr>
            <a:r>
              <a:rPr lang="en-US" sz="1200" b="1" dirty="0">
                <a:solidFill>
                  <a:srgbClr val="6E5E94"/>
                </a:solidFill>
                <a:latin typeface="Calibri" pitchFamily="34" charset="0"/>
                <a:ea typeface="Calibri" pitchFamily="34" charset="-122"/>
                <a:cs typeface="Calibri" pitchFamily="34" charset="-120"/>
              </a:rPr>
              <a:t>Scenario 3: Business Continuity</a:t>
            </a:r>
            <a:endParaRPr lang="en-US" sz="1200" dirty="0"/>
          </a:p>
        </p:txBody>
      </p:sp>
      <p:sp>
        <p:nvSpPr>
          <p:cNvPr id="4" name="Text 2"/>
          <p:cNvSpPr txBox="1"/>
          <p:nvPr/>
        </p:nvSpPr>
        <p:spPr>
          <a:xfrm>
            <a:off x="548640" y="749808"/>
            <a:ext cx="11064240" cy="640080"/>
          </a:xfrm>
          <a:prstGeom prst="rect">
            <a:avLst/>
          </a:prstGeom>
          <a:noFill/>
          <a:ln/>
        </p:spPr>
        <p:txBody>
          <a:bodyPr wrap="square" lIns="0" tIns="0" rIns="0" bIns="0" rtlCol="0" anchor="ctr"/>
          <a:lstStyle/>
          <a:p>
            <a:pPr indent="0" marL="0">
              <a:buNone/>
            </a:pPr>
            <a:r>
              <a:rPr lang="en-US" sz="2800" b="1" dirty="0">
                <a:solidFill>
                  <a:srgbClr val="23405A"/>
                </a:solidFill>
                <a:latin typeface="Calibri" pitchFamily="34" charset="0"/>
                <a:ea typeface="Calibri" pitchFamily="34" charset="-122"/>
                <a:cs typeface="Calibri" pitchFamily="34" charset="-120"/>
              </a:rPr>
              <a:t>Day 10: Milestones at Risk</a:t>
            </a:r>
            <a:endParaRPr lang="en-US" sz="2800" dirty="0"/>
          </a:p>
        </p:txBody>
      </p:sp>
      <p:sp>
        <p:nvSpPr>
          <p:cNvPr id="5" name="Shape 3"/>
          <p:cNvSpPr/>
          <p:nvPr/>
        </p:nvSpPr>
        <p:spPr>
          <a:xfrm>
            <a:off x="10705795" y="347472"/>
            <a:ext cx="937260" cy="329184"/>
          </a:xfrm>
          <a:prstGeom prst="roundRect">
            <a:avLst>
              <a:gd name="adj" fmla="val 50000"/>
            </a:avLst>
          </a:prstGeom>
          <a:solidFill>
            <a:srgbClr val="FFFFFF"/>
          </a:solidFill>
          <a:ln w="12700">
            <a:solidFill>
              <a:srgbClr val="FFFFFF"/>
            </a:solidFill>
            <a:prstDash val="solid"/>
          </a:ln>
        </p:spPr>
      </p:sp>
      <p:sp>
        <p:nvSpPr>
          <p:cNvPr id="6" name="Text 4"/>
          <p:cNvSpPr txBox="1"/>
          <p:nvPr/>
        </p:nvSpPr>
        <p:spPr>
          <a:xfrm>
            <a:off x="10705795" y="347472"/>
            <a:ext cx="937260" cy="329184"/>
          </a:xfrm>
          <a:prstGeom prst="rect">
            <a:avLst/>
          </a:prstGeom>
          <a:noFill/>
          <a:ln/>
        </p:spPr>
        <p:txBody>
          <a:bodyPr wrap="square" lIns="0" tIns="0" rIns="0" bIns="0" rtlCol="0" anchor="ctr"/>
          <a:lstStyle/>
          <a:p>
            <a:pPr algn="ctr" indent="0" marL="0">
              <a:buNone/>
            </a:pPr>
            <a:r>
              <a:rPr lang="en-US" sz="1200" dirty="0">
                <a:solidFill>
                  <a:srgbClr val="465A69"/>
                </a:solidFill>
                <a:latin typeface="Calibri" pitchFamily="34" charset="0"/>
                <a:ea typeface="Calibri" pitchFamily="34" charset="-122"/>
                <a:cs typeface="Calibri" pitchFamily="34" charset="-120"/>
              </a:rPr>
              <a:t>Hotwash</a:t>
            </a:r>
            <a:endParaRPr lang="en-US" sz="1200" dirty="0"/>
          </a:p>
        </p:txBody>
      </p:sp>
      <p:sp>
        <p:nvSpPr>
          <p:cNvPr id="7" name="Shape 5"/>
          <p:cNvSpPr/>
          <p:nvPr/>
        </p:nvSpPr>
        <p:spPr>
          <a:xfrm>
            <a:off x="9608515" y="347472"/>
            <a:ext cx="1024128" cy="329184"/>
          </a:xfrm>
          <a:prstGeom prst="roundRect">
            <a:avLst>
              <a:gd name="adj" fmla="val 50000"/>
            </a:avLst>
          </a:prstGeom>
          <a:solidFill>
            <a:srgbClr val="FFFFFF"/>
          </a:solidFill>
          <a:ln w="12700">
            <a:solidFill>
              <a:srgbClr val="FFFFFF"/>
            </a:solidFill>
            <a:prstDash val="solid"/>
          </a:ln>
        </p:spPr>
      </p:sp>
      <p:sp>
        <p:nvSpPr>
          <p:cNvPr id="8" name="Text 6"/>
          <p:cNvSpPr txBox="1"/>
          <p:nvPr/>
        </p:nvSpPr>
        <p:spPr>
          <a:xfrm>
            <a:off x="9608515" y="347472"/>
            <a:ext cx="1024128" cy="329184"/>
          </a:xfrm>
          <a:prstGeom prst="rect">
            <a:avLst/>
          </a:prstGeom>
          <a:noFill/>
          <a:ln/>
        </p:spPr>
        <p:txBody>
          <a:bodyPr wrap="square" lIns="0" tIns="0" rIns="0" bIns="0" rtlCol="0" anchor="ctr"/>
          <a:lstStyle/>
          <a:p>
            <a:pPr algn="ctr" indent="0" marL="0">
              <a:buNone/>
            </a:pPr>
            <a:r>
              <a:rPr lang="en-US" sz="1200" dirty="0">
                <a:solidFill>
                  <a:srgbClr val="465A69"/>
                </a:solidFill>
                <a:latin typeface="Calibri" pitchFamily="34" charset="0"/>
                <a:ea typeface="Calibri" pitchFamily="34" charset="-122"/>
                <a:cs typeface="Calibri" pitchFamily="34" charset="-120"/>
              </a:rPr>
              <a:t>Recovery</a:t>
            </a:r>
            <a:endParaRPr lang="en-US" sz="1200" dirty="0"/>
          </a:p>
        </p:txBody>
      </p:sp>
      <p:sp>
        <p:nvSpPr>
          <p:cNvPr id="9" name="Shape 7"/>
          <p:cNvSpPr/>
          <p:nvPr/>
        </p:nvSpPr>
        <p:spPr>
          <a:xfrm>
            <a:off x="8598103" y="347472"/>
            <a:ext cx="937260" cy="329184"/>
          </a:xfrm>
          <a:prstGeom prst="roundRect">
            <a:avLst>
              <a:gd name="adj" fmla="val 50000"/>
            </a:avLst>
          </a:prstGeom>
          <a:solidFill>
            <a:srgbClr val="6E5E94"/>
          </a:solidFill>
          <a:ln w="12700">
            <a:solidFill>
              <a:srgbClr val="6E5E94"/>
            </a:solidFill>
            <a:prstDash val="solid"/>
          </a:ln>
        </p:spPr>
      </p:sp>
      <p:sp>
        <p:nvSpPr>
          <p:cNvPr id="10" name="Text 8"/>
          <p:cNvSpPr txBox="1"/>
          <p:nvPr/>
        </p:nvSpPr>
        <p:spPr>
          <a:xfrm>
            <a:off x="8598103" y="347472"/>
            <a:ext cx="93726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Injects</a:t>
            </a:r>
            <a:endParaRPr lang="en-US" sz="1200" dirty="0"/>
          </a:p>
        </p:txBody>
      </p:sp>
      <p:sp>
        <p:nvSpPr>
          <p:cNvPr id="11" name="Shape 9"/>
          <p:cNvSpPr/>
          <p:nvPr/>
        </p:nvSpPr>
        <p:spPr>
          <a:xfrm>
            <a:off x="7674559" y="347472"/>
            <a:ext cx="850392" cy="329184"/>
          </a:xfrm>
          <a:prstGeom prst="roundRect">
            <a:avLst>
              <a:gd name="adj" fmla="val 50000"/>
            </a:avLst>
          </a:prstGeom>
          <a:solidFill>
            <a:srgbClr val="F6F3FA"/>
          </a:solidFill>
          <a:ln w="12700">
            <a:solidFill>
              <a:srgbClr val="F6F3FA"/>
            </a:solidFill>
            <a:prstDash val="solid"/>
          </a:ln>
        </p:spPr>
      </p:sp>
      <p:sp>
        <p:nvSpPr>
          <p:cNvPr id="12" name="Text 10"/>
          <p:cNvSpPr txBox="1"/>
          <p:nvPr/>
        </p:nvSpPr>
        <p:spPr>
          <a:xfrm>
            <a:off x="7674559" y="347472"/>
            <a:ext cx="850392" cy="329184"/>
          </a:xfrm>
          <a:prstGeom prst="rect">
            <a:avLst/>
          </a:prstGeom>
          <a:noFill/>
          <a:ln/>
        </p:spPr>
        <p:txBody>
          <a:bodyPr wrap="square" lIns="0" tIns="0" rIns="0" bIns="0" rtlCol="0" anchor="ctr"/>
          <a:lstStyle/>
          <a:p>
            <a:pPr algn="ctr" indent="0" marL="0">
              <a:buNone/>
            </a:pPr>
            <a:r>
              <a:rPr lang="en-US" sz="1200" dirty="0">
                <a:solidFill>
                  <a:srgbClr val="6E5E94"/>
                </a:solidFill>
                <a:latin typeface="Calibri" pitchFamily="34" charset="0"/>
                <a:ea typeface="Calibri" pitchFamily="34" charset="-122"/>
                <a:cs typeface="Calibri" pitchFamily="34" charset="-120"/>
              </a:rPr>
              <a:t>Decide</a:t>
            </a:r>
            <a:endParaRPr lang="en-US" sz="1200" dirty="0"/>
          </a:p>
        </p:txBody>
      </p:sp>
      <p:sp>
        <p:nvSpPr>
          <p:cNvPr id="13" name="Shape 11"/>
          <p:cNvSpPr/>
          <p:nvPr/>
        </p:nvSpPr>
        <p:spPr>
          <a:xfrm>
            <a:off x="7011619" y="347472"/>
            <a:ext cx="589788" cy="329184"/>
          </a:xfrm>
          <a:prstGeom prst="roundRect">
            <a:avLst>
              <a:gd name="adj" fmla="val 50000"/>
            </a:avLst>
          </a:prstGeom>
          <a:solidFill>
            <a:srgbClr val="F6F3FA"/>
          </a:solidFill>
          <a:ln w="12700">
            <a:solidFill>
              <a:srgbClr val="F6F3FA"/>
            </a:solidFill>
            <a:prstDash val="solid"/>
          </a:ln>
        </p:spPr>
      </p:sp>
      <p:sp>
        <p:nvSpPr>
          <p:cNvPr id="14" name="Text 12"/>
          <p:cNvSpPr txBox="1"/>
          <p:nvPr/>
        </p:nvSpPr>
        <p:spPr>
          <a:xfrm>
            <a:off x="7011619" y="347472"/>
            <a:ext cx="589788" cy="329184"/>
          </a:xfrm>
          <a:prstGeom prst="rect">
            <a:avLst/>
          </a:prstGeom>
          <a:noFill/>
          <a:ln/>
        </p:spPr>
        <p:txBody>
          <a:bodyPr wrap="square" lIns="0" tIns="0" rIns="0" bIns="0" rtlCol="0" anchor="ctr"/>
          <a:lstStyle/>
          <a:p>
            <a:pPr algn="ctr" indent="0" marL="0">
              <a:buNone/>
            </a:pPr>
            <a:r>
              <a:rPr lang="en-US" sz="1200" dirty="0">
                <a:solidFill>
                  <a:srgbClr val="6E5E94"/>
                </a:solidFill>
                <a:latin typeface="Calibri" pitchFamily="34" charset="0"/>
                <a:ea typeface="Calibri" pitchFamily="34" charset="-122"/>
                <a:cs typeface="Calibri" pitchFamily="34" charset="-120"/>
              </a:rPr>
              <a:t>T+0</a:t>
            </a:r>
            <a:endParaRPr lang="en-US" sz="1200" dirty="0"/>
          </a:p>
        </p:txBody>
      </p:sp>
      <p:sp>
        <p:nvSpPr>
          <p:cNvPr id="15" name="Shape 13"/>
          <p:cNvSpPr/>
          <p:nvPr/>
        </p:nvSpPr>
        <p:spPr>
          <a:xfrm>
            <a:off x="5740603" y="347472"/>
            <a:ext cx="1197864" cy="329184"/>
          </a:xfrm>
          <a:prstGeom prst="roundRect">
            <a:avLst>
              <a:gd name="adj" fmla="val 50000"/>
            </a:avLst>
          </a:prstGeom>
          <a:solidFill>
            <a:srgbClr val="F6F3FA"/>
          </a:solidFill>
          <a:ln w="12700">
            <a:solidFill>
              <a:srgbClr val="F6F3FA"/>
            </a:solidFill>
            <a:prstDash val="solid"/>
          </a:ln>
        </p:spPr>
      </p:sp>
      <p:sp>
        <p:nvSpPr>
          <p:cNvPr id="16" name="Text 14"/>
          <p:cNvSpPr txBox="1"/>
          <p:nvPr/>
        </p:nvSpPr>
        <p:spPr>
          <a:xfrm>
            <a:off x="5740603" y="347472"/>
            <a:ext cx="1197864" cy="329184"/>
          </a:xfrm>
          <a:prstGeom prst="rect">
            <a:avLst/>
          </a:prstGeom>
          <a:noFill/>
          <a:ln/>
        </p:spPr>
        <p:txBody>
          <a:bodyPr wrap="square" lIns="0" tIns="0" rIns="0" bIns="0" rtlCol="0" anchor="ctr"/>
          <a:lstStyle/>
          <a:p>
            <a:pPr algn="ctr" indent="0" marL="0">
              <a:buNone/>
            </a:pPr>
            <a:r>
              <a:rPr lang="en-US" sz="1200" dirty="0">
                <a:solidFill>
                  <a:srgbClr val="6E5E94"/>
                </a:solidFill>
                <a:latin typeface="Calibri" pitchFamily="34" charset="0"/>
                <a:ea typeface="Calibri" pitchFamily="34" charset="-122"/>
                <a:cs typeface="Calibri" pitchFamily="34" charset="-120"/>
              </a:rPr>
              <a:t>Background</a:t>
            </a:r>
            <a:endParaRPr lang="en-US" sz="1200" dirty="0"/>
          </a:p>
        </p:txBody>
      </p:sp>
      <p:sp>
        <p:nvSpPr>
          <p:cNvPr id="17" name="Shape 15"/>
          <p:cNvSpPr/>
          <p:nvPr/>
        </p:nvSpPr>
        <p:spPr>
          <a:xfrm>
            <a:off x="548640" y="1600200"/>
            <a:ext cx="2377440" cy="4572000"/>
          </a:xfrm>
          <a:prstGeom prst="roundRect">
            <a:avLst>
              <a:gd name="adj" fmla="val 5385"/>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18" name="Text 16"/>
          <p:cNvSpPr txBox="1"/>
          <p:nvPr/>
        </p:nvSpPr>
        <p:spPr>
          <a:xfrm>
            <a:off x="822960" y="1783080"/>
            <a:ext cx="1874520" cy="320040"/>
          </a:xfrm>
          <a:prstGeom prst="rect">
            <a:avLst/>
          </a:prstGeom>
          <a:noFill/>
          <a:ln/>
        </p:spPr>
        <p:txBody>
          <a:bodyPr wrap="square" lIns="0" tIns="0" rIns="0" bIns="0" rtlCol="0" anchor="t"/>
          <a:lstStyle/>
          <a:p>
            <a:pPr indent="0" marL="0">
              <a:buNone/>
            </a:pPr>
            <a:r>
              <a:rPr lang="en-US" sz="1400" b="1" dirty="0">
                <a:solidFill>
                  <a:srgbClr val="465A69"/>
                </a:solidFill>
                <a:latin typeface="Calibri" pitchFamily="34" charset="0"/>
                <a:ea typeface="Calibri" pitchFamily="34" charset="-122"/>
                <a:cs typeface="Calibri" pitchFamily="34" charset="-120"/>
              </a:rPr>
              <a:t>Timeline</a:t>
            </a:r>
            <a:endParaRPr lang="en-US" sz="1400" dirty="0"/>
          </a:p>
        </p:txBody>
      </p:sp>
      <p:sp>
        <p:nvSpPr>
          <p:cNvPr id="19" name="Shape 17"/>
          <p:cNvSpPr/>
          <p:nvPr/>
        </p:nvSpPr>
        <p:spPr>
          <a:xfrm>
            <a:off x="905256" y="2551176"/>
            <a:ext cx="0" cy="257338"/>
          </a:xfrm>
          <a:prstGeom prst="line">
            <a:avLst/>
          </a:prstGeom>
          <a:noFill/>
          <a:ln w="19050">
            <a:solidFill>
              <a:srgbClr val="6E5E94"/>
            </a:solidFill>
            <a:prstDash val="solid"/>
          </a:ln>
        </p:spPr>
      </p:sp>
      <p:sp>
        <p:nvSpPr>
          <p:cNvPr id="20" name="Shape 18"/>
          <p:cNvSpPr/>
          <p:nvPr/>
        </p:nvSpPr>
        <p:spPr>
          <a:xfrm>
            <a:off x="777240" y="2267712"/>
            <a:ext cx="256032" cy="256032"/>
          </a:xfrm>
          <a:prstGeom prst="ellipse">
            <a:avLst/>
          </a:prstGeom>
          <a:solidFill>
            <a:srgbClr val="F6F3FA"/>
          </a:solidFill>
          <a:ln w="12700">
            <a:solidFill>
              <a:srgbClr val="F6F3FA"/>
            </a:solidFill>
            <a:prstDash val="solid"/>
          </a:ln>
        </p:spPr>
      </p:sp>
      <p:sp>
        <p:nvSpPr>
          <p:cNvPr id="21" name="Text 19"/>
          <p:cNvSpPr txBox="1"/>
          <p:nvPr/>
        </p:nvSpPr>
        <p:spPr>
          <a:xfrm>
            <a:off x="1188720" y="2203704"/>
            <a:ext cx="1645920" cy="568234"/>
          </a:xfrm>
          <a:prstGeom prst="rect">
            <a:avLst/>
          </a:prstGeom>
          <a:noFill/>
          <a:ln/>
        </p:spPr>
        <p:txBody>
          <a:bodyPr wrap="square" lIns="0" tIns="0" rIns="0" bIns="0" rtlCol="0" anchor="t"/>
          <a:lstStyle/>
          <a:p>
            <a:pPr indent="0" marL="0">
              <a:buNone/>
            </a:pPr>
            <a:r>
              <a:rPr lang="en-US" sz="1200" b="1" dirty="0">
                <a:solidFill>
                  <a:srgbClr val="465A69"/>
                </a:solidFill>
                <a:latin typeface="Calibri" pitchFamily="34" charset="0"/>
                <a:ea typeface="Calibri" pitchFamily="34" charset="-122"/>
                <a:cs typeface="Calibri" pitchFamily="34" charset="-120"/>
              </a:rPr>
              <a:t>Day 1</a:t>
            </a:r>
            <a:endParaRPr lang="en-US" sz="1200" dirty="0"/>
          </a:p>
          <a:p>
            <a:pPr indent="0" marL="0">
              <a:buNone/>
            </a:pPr>
            <a:r>
              <a:rPr lang="en-US" sz="1200" dirty="0">
                <a:solidFill>
                  <a:srgbClr val="1E2E3A"/>
                </a:solidFill>
                <a:latin typeface="Calibri" pitchFamily="34" charset="0"/>
                <a:ea typeface="Calibri" pitchFamily="34" charset="-122"/>
                <a:cs typeface="Calibri" pitchFamily="34" charset="-120"/>
              </a:rPr>
              <a:t>CRO exchange blocked</a:t>
            </a:r>
            <a:endParaRPr lang="en-US" sz="1200" dirty="0"/>
          </a:p>
        </p:txBody>
      </p:sp>
      <p:sp>
        <p:nvSpPr>
          <p:cNvPr id="22" name="Shape 20"/>
          <p:cNvSpPr/>
          <p:nvPr/>
        </p:nvSpPr>
        <p:spPr>
          <a:xfrm>
            <a:off x="905256" y="3119410"/>
            <a:ext cx="0" cy="257338"/>
          </a:xfrm>
          <a:prstGeom prst="line">
            <a:avLst/>
          </a:prstGeom>
          <a:noFill/>
          <a:ln w="19050">
            <a:solidFill>
              <a:srgbClr val="6E5E94"/>
            </a:solidFill>
            <a:prstDash val="solid"/>
          </a:ln>
        </p:spPr>
      </p:sp>
      <p:sp>
        <p:nvSpPr>
          <p:cNvPr id="23" name="Shape 21"/>
          <p:cNvSpPr/>
          <p:nvPr/>
        </p:nvSpPr>
        <p:spPr>
          <a:xfrm>
            <a:off x="777240" y="2835946"/>
            <a:ext cx="256032" cy="256032"/>
          </a:xfrm>
          <a:prstGeom prst="ellipse">
            <a:avLst/>
          </a:prstGeom>
          <a:solidFill>
            <a:srgbClr val="F6F3FA"/>
          </a:solidFill>
          <a:ln w="12700">
            <a:solidFill>
              <a:srgbClr val="F6F3FA"/>
            </a:solidFill>
            <a:prstDash val="solid"/>
          </a:ln>
        </p:spPr>
      </p:sp>
      <p:sp>
        <p:nvSpPr>
          <p:cNvPr id="24" name="Text 22"/>
          <p:cNvSpPr txBox="1"/>
          <p:nvPr/>
        </p:nvSpPr>
        <p:spPr>
          <a:xfrm>
            <a:off x="1188720" y="2771938"/>
            <a:ext cx="1645920" cy="568234"/>
          </a:xfrm>
          <a:prstGeom prst="rect">
            <a:avLst/>
          </a:prstGeom>
          <a:noFill/>
          <a:ln/>
        </p:spPr>
        <p:txBody>
          <a:bodyPr wrap="square" lIns="0" tIns="0" rIns="0" bIns="0" rtlCol="0" anchor="t"/>
          <a:lstStyle/>
          <a:p>
            <a:pPr indent="0" marL="0">
              <a:buNone/>
            </a:pPr>
            <a:r>
              <a:rPr lang="en-US" sz="1200" b="1" dirty="0">
                <a:solidFill>
                  <a:srgbClr val="465A69"/>
                </a:solidFill>
                <a:latin typeface="Calibri" pitchFamily="34" charset="0"/>
                <a:ea typeface="Calibri" pitchFamily="34" charset="-122"/>
                <a:cs typeface="Calibri" pitchFamily="34" charset="-120"/>
              </a:rPr>
              <a:t>Day 2</a:t>
            </a:r>
            <a:endParaRPr lang="en-US" sz="1200" dirty="0"/>
          </a:p>
          <a:p>
            <a:pPr indent="0" marL="0">
              <a:buNone/>
            </a:pPr>
            <a:r>
              <a:rPr lang="en-US" sz="1200" dirty="0">
                <a:solidFill>
                  <a:srgbClr val="1E2E3A"/>
                </a:solidFill>
                <a:latin typeface="Calibri" pitchFamily="34" charset="0"/>
                <a:ea typeface="Calibri" pitchFamily="34" charset="-122"/>
                <a:cs typeface="Calibri" pitchFamily="34" charset="-120"/>
              </a:rPr>
              <a:t>Submission artifacts unreachable</a:t>
            </a:r>
            <a:endParaRPr lang="en-US" sz="1200" dirty="0"/>
          </a:p>
        </p:txBody>
      </p:sp>
      <p:sp>
        <p:nvSpPr>
          <p:cNvPr id="25" name="Shape 23"/>
          <p:cNvSpPr/>
          <p:nvPr/>
        </p:nvSpPr>
        <p:spPr>
          <a:xfrm>
            <a:off x="905256" y="3687645"/>
            <a:ext cx="0" cy="257338"/>
          </a:xfrm>
          <a:prstGeom prst="line">
            <a:avLst/>
          </a:prstGeom>
          <a:noFill/>
          <a:ln w="19050">
            <a:solidFill>
              <a:srgbClr val="6E5E94"/>
            </a:solidFill>
            <a:prstDash val="solid"/>
          </a:ln>
        </p:spPr>
      </p:sp>
      <p:sp>
        <p:nvSpPr>
          <p:cNvPr id="26" name="Shape 24"/>
          <p:cNvSpPr/>
          <p:nvPr/>
        </p:nvSpPr>
        <p:spPr>
          <a:xfrm>
            <a:off x="777240" y="3404181"/>
            <a:ext cx="256032" cy="256032"/>
          </a:xfrm>
          <a:prstGeom prst="ellipse">
            <a:avLst/>
          </a:prstGeom>
          <a:solidFill>
            <a:srgbClr val="F6F3FA"/>
          </a:solidFill>
          <a:ln w="12700">
            <a:solidFill>
              <a:srgbClr val="F6F3FA"/>
            </a:solidFill>
            <a:prstDash val="solid"/>
          </a:ln>
        </p:spPr>
      </p:sp>
      <p:sp>
        <p:nvSpPr>
          <p:cNvPr id="27" name="Text 25"/>
          <p:cNvSpPr txBox="1"/>
          <p:nvPr/>
        </p:nvSpPr>
        <p:spPr>
          <a:xfrm>
            <a:off x="1188720" y="3340173"/>
            <a:ext cx="1645920" cy="568234"/>
          </a:xfrm>
          <a:prstGeom prst="rect">
            <a:avLst/>
          </a:prstGeom>
          <a:noFill/>
          <a:ln/>
        </p:spPr>
        <p:txBody>
          <a:bodyPr wrap="square" lIns="0" tIns="0" rIns="0" bIns="0" rtlCol="0" anchor="t"/>
          <a:lstStyle/>
          <a:p>
            <a:pPr indent="0" marL="0">
              <a:buNone/>
            </a:pPr>
            <a:r>
              <a:rPr lang="en-US" sz="1200" b="1" dirty="0">
                <a:solidFill>
                  <a:srgbClr val="465A69"/>
                </a:solidFill>
                <a:latin typeface="Calibri" pitchFamily="34" charset="0"/>
                <a:ea typeface="Calibri" pitchFamily="34" charset="-122"/>
                <a:cs typeface="Calibri" pitchFamily="34" charset="-120"/>
              </a:rPr>
              <a:t>Day 3</a:t>
            </a:r>
            <a:endParaRPr lang="en-US" sz="1200" dirty="0"/>
          </a:p>
          <a:p>
            <a:pPr indent="0" marL="0">
              <a:buNone/>
            </a:pPr>
            <a:r>
              <a:rPr lang="en-US" sz="1200" dirty="0">
                <a:solidFill>
                  <a:srgbClr val="1E2E3A"/>
                </a:solidFill>
                <a:latin typeface="Calibri" pitchFamily="34" charset="0"/>
                <a:ea typeface="Calibri" pitchFamily="34" charset="-122"/>
                <a:cs typeface="Calibri" pitchFamily="34" charset="-120"/>
              </a:rPr>
              <a:t>Providers down, no date</a:t>
            </a:r>
            <a:endParaRPr lang="en-US" sz="1200" dirty="0"/>
          </a:p>
        </p:txBody>
      </p:sp>
      <p:sp>
        <p:nvSpPr>
          <p:cNvPr id="28" name="Shape 26"/>
          <p:cNvSpPr/>
          <p:nvPr/>
        </p:nvSpPr>
        <p:spPr>
          <a:xfrm>
            <a:off x="905256" y="4255879"/>
            <a:ext cx="0" cy="257338"/>
          </a:xfrm>
          <a:prstGeom prst="line">
            <a:avLst/>
          </a:prstGeom>
          <a:noFill/>
          <a:ln w="19050">
            <a:solidFill>
              <a:srgbClr val="6E5E94"/>
            </a:solidFill>
            <a:prstDash val="solid"/>
          </a:ln>
        </p:spPr>
      </p:sp>
      <p:sp>
        <p:nvSpPr>
          <p:cNvPr id="29" name="Shape 27"/>
          <p:cNvSpPr/>
          <p:nvPr/>
        </p:nvSpPr>
        <p:spPr>
          <a:xfrm>
            <a:off x="777240" y="3972415"/>
            <a:ext cx="256032" cy="256032"/>
          </a:xfrm>
          <a:prstGeom prst="ellipse">
            <a:avLst/>
          </a:prstGeom>
          <a:solidFill>
            <a:srgbClr val="F6F3FA"/>
          </a:solidFill>
          <a:ln w="12700">
            <a:solidFill>
              <a:srgbClr val="F6F3FA"/>
            </a:solidFill>
            <a:prstDash val="solid"/>
          </a:ln>
        </p:spPr>
      </p:sp>
      <p:sp>
        <p:nvSpPr>
          <p:cNvPr id="30" name="Text 28"/>
          <p:cNvSpPr txBox="1"/>
          <p:nvPr/>
        </p:nvSpPr>
        <p:spPr>
          <a:xfrm>
            <a:off x="1188720" y="3908407"/>
            <a:ext cx="1645920" cy="568234"/>
          </a:xfrm>
          <a:prstGeom prst="rect">
            <a:avLst/>
          </a:prstGeom>
          <a:noFill/>
          <a:ln/>
        </p:spPr>
        <p:txBody>
          <a:bodyPr wrap="square" lIns="0" tIns="0" rIns="0" bIns="0" rtlCol="0" anchor="t"/>
          <a:lstStyle/>
          <a:p>
            <a:pPr indent="0" marL="0">
              <a:buNone/>
            </a:pPr>
            <a:r>
              <a:rPr lang="en-US" sz="1200" b="1" dirty="0">
                <a:solidFill>
                  <a:srgbClr val="465A69"/>
                </a:solidFill>
                <a:latin typeface="Calibri" pitchFamily="34" charset="0"/>
                <a:ea typeface="Calibri" pitchFamily="34" charset="-122"/>
                <a:cs typeface="Calibri" pitchFamily="34" charset="-120"/>
              </a:rPr>
              <a:t>Day 5</a:t>
            </a:r>
            <a:endParaRPr lang="en-US" sz="1200" dirty="0"/>
          </a:p>
          <a:p>
            <a:pPr indent="0" marL="0">
              <a:buNone/>
            </a:pPr>
            <a:r>
              <a:rPr lang="en-US" sz="1200" dirty="0">
                <a:solidFill>
                  <a:srgbClr val="1E2E3A"/>
                </a:solidFill>
                <a:latin typeface="Calibri" pitchFamily="34" charset="0"/>
                <a:ea typeface="Calibri" pitchFamily="34" charset="-122"/>
                <a:cs typeface="Calibri" pitchFamily="34" charset="-120"/>
              </a:rPr>
              <a:t>Vendor payments delayed</a:t>
            </a:r>
            <a:endParaRPr lang="en-US" sz="1200" dirty="0"/>
          </a:p>
        </p:txBody>
      </p:sp>
      <p:sp>
        <p:nvSpPr>
          <p:cNvPr id="31" name="Shape 29"/>
          <p:cNvSpPr/>
          <p:nvPr/>
        </p:nvSpPr>
        <p:spPr>
          <a:xfrm>
            <a:off x="905256" y="4824113"/>
            <a:ext cx="0" cy="257338"/>
          </a:xfrm>
          <a:prstGeom prst="line">
            <a:avLst/>
          </a:prstGeom>
          <a:noFill/>
          <a:ln w="19050">
            <a:solidFill>
              <a:srgbClr val="6E5E94"/>
            </a:solidFill>
            <a:prstDash val="solid"/>
          </a:ln>
        </p:spPr>
      </p:sp>
      <p:sp>
        <p:nvSpPr>
          <p:cNvPr id="32" name="Shape 30"/>
          <p:cNvSpPr/>
          <p:nvPr/>
        </p:nvSpPr>
        <p:spPr>
          <a:xfrm>
            <a:off x="777240" y="4540649"/>
            <a:ext cx="256032" cy="256032"/>
          </a:xfrm>
          <a:prstGeom prst="ellipse">
            <a:avLst/>
          </a:prstGeom>
          <a:solidFill>
            <a:srgbClr val="F6F3FA"/>
          </a:solidFill>
          <a:ln w="12700">
            <a:solidFill>
              <a:srgbClr val="F6F3FA"/>
            </a:solidFill>
            <a:prstDash val="solid"/>
          </a:ln>
        </p:spPr>
      </p:sp>
      <p:sp>
        <p:nvSpPr>
          <p:cNvPr id="33" name="Text 31"/>
          <p:cNvSpPr txBox="1"/>
          <p:nvPr/>
        </p:nvSpPr>
        <p:spPr>
          <a:xfrm>
            <a:off x="1188720" y="4476641"/>
            <a:ext cx="1645920" cy="568234"/>
          </a:xfrm>
          <a:prstGeom prst="rect">
            <a:avLst/>
          </a:prstGeom>
          <a:noFill/>
          <a:ln/>
        </p:spPr>
        <p:txBody>
          <a:bodyPr wrap="square" lIns="0" tIns="0" rIns="0" bIns="0" rtlCol="0" anchor="t"/>
          <a:lstStyle/>
          <a:p>
            <a:pPr indent="0" marL="0">
              <a:buNone/>
            </a:pPr>
            <a:r>
              <a:rPr lang="en-US" sz="1200" b="1" dirty="0">
                <a:solidFill>
                  <a:srgbClr val="465A69"/>
                </a:solidFill>
                <a:latin typeface="Calibri" pitchFamily="34" charset="0"/>
                <a:ea typeface="Calibri" pitchFamily="34" charset="-122"/>
                <a:cs typeface="Calibri" pitchFamily="34" charset="-120"/>
              </a:rPr>
              <a:t>Day 7</a:t>
            </a:r>
            <a:endParaRPr lang="en-US" sz="1200" dirty="0"/>
          </a:p>
          <a:p>
            <a:pPr indent="0" marL="0">
              <a:buNone/>
            </a:pPr>
            <a:r>
              <a:rPr lang="en-US" sz="1200" dirty="0">
                <a:solidFill>
                  <a:srgbClr val="1E2E3A"/>
                </a:solidFill>
                <a:latin typeface="Calibri" pitchFamily="34" charset="0"/>
                <a:ea typeface="Calibri" pitchFamily="34" charset="-122"/>
                <a:cs typeface="Calibri" pitchFamily="34" charset="-120"/>
              </a:rPr>
              <a:t>Investor inquiries</a:t>
            </a:r>
            <a:endParaRPr lang="en-US" sz="1200" dirty="0"/>
          </a:p>
        </p:txBody>
      </p:sp>
      <p:sp>
        <p:nvSpPr>
          <p:cNvPr id="34" name="Shape 32"/>
          <p:cNvSpPr/>
          <p:nvPr/>
        </p:nvSpPr>
        <p:spPr>
          <a:xfrm>
            <a:off x="905256" y="5392347"/>
            <a:ext cx="0" cy="257338"/>
          </a:xfrm>
          <a:prstGeom prst="line">
            <a:avLst/>
          </a:prstGeom>
          <a:noFill/>
          <a:ln w="19050">
            <a:solidFill>
              <a:srgbClr val="C9D5D2"/>
            </a:solidFill>
            <a:prstDash val="solid"/>
          </a:ln>
        </p:spPr>
      </p:sp>
      <p:sp>
        <p:nvSpPr>
          <p:cNvPr id="35" name="Shape 33"/>
          <p:cNvSpPr/>
          <p:nvPr/>
        </p:nvSpPr>
        <p:spPr>
          <a:xfrm>
            <a:off x="777240" y="5108883"/>
            <a:ext cx="256032" cy="256032"/>
          </a:xfrm>
          <a:prstGeom prst="ellipse">
            <a:avLst/>
          </a:prstGeom>
          <a:solidFill>
            <a:srgbClr val="6E5E94"/>
          </a:solidFill>
          <a:ln w="12700">
            <a:solidFill>
              <a:srgbClr val="6E5E94"/>
            </a:solidFill>
            <a:prstDash val="solid"/>
          </a:ln>
        </p:spPr>
      </p:sp>
      <p:sp>
        <p:nvSpPr>
          <p:cNvPr id="36" name="Text 34"/>
          <p:cNvSpPr txBox="1"/>
          <p:nvPr/>
        </p:nvSpPr>
        <p:spPr>
          <a:xfrm>
            <a:off x="1188720" y="5044875"/>
            <a:ext cx="1645920" cy="568234"/>
          </a:xfrm>
          <a:prstGeom prst="rect">
            <a:avLst/>
          </a:prstGeom>
          <a:noFill/>
          <a:ln/>
        </p:spPr>
        <p:txBody>
          <a:bodyPr wrap="square" lIns="0" tIns="0" rIns="0" bIns="0" rtlCol="0" anchor="t"/>
          <a:lstStyle/>
          <a:p>
            <a:pPr indent="0" marL="0">
              <a:buNone/>
            </a:pPr>
            <a:r>
              <a:rPr lang="en-US" sz="1200" b="1" dirty="0">
                <a:solidFill>
                  <a:srgbClr val="6E5E94"/>
                </a:solidFill>
                <a:latin typeface="Calibri" pitchFamily="34" charset="0"/>
                <a:ea typeface="Calibri" pitchFamily="34" charset="-122"/>
                <a:cs typeface="Calibri" pitchFamily="34" charset="-120"/>
              </a:rPr>
              <a:t>Day 10</a:t>
            </a:r>
            <a:endParaRPr lang="en-US" sz="1200" dirty="0"/>
          </a:p>
          <a:p>
            <a:pPr indent="0" marL="0">
              <a:buNone/>
            </a:pPr>
            <a:r>
              <a:rPr lang="en-US" sz="1200" b="1" dirty="0">
                <a:solidFill>
                  <a:srgbClr val="6E5E94"/>
                </a:solidFill>
                <a:latin typeface="Calibri" pitchFamily="34" charset="0"/>
                <a:ea typeface="Calibri" pitchFamily="34" charset="-122"/>
                <a:cs typeface="Calibri" pitchFamily="34" charset="-120"/>
              </a:rPr>
              <a:t>Milestones at risk</a:t>
            </a:r>
            <a:endParaRPr lang="en-US" sz="1200" dirty="0"/>
          </a:p>
        </p:txBody>
      </p:sp>
      <p:sp>
        <p:nvSpPr>
          <p:cNvPr id="37" name="Shape 35"/>
          <p:cNvSpPr/>
          <p:nvPr/>
        </p:nvSpPr>
        <p:spPr>
          <a:xfrm>
            <a:off x="777240" y="5677118"/>
            <a:ext cx="256032" cy="256032"/>
          </a:xfrm>
          <a:prstGeom prst="ellipse">
            <a:avLst/>
          </a:prstGeom>
          <a:solidFill>
            <a:srgbClr val="FFFFFF"/>
          </a:solidFill>
          <a:ln w="15875">
            <a:solidFill>
              <a:srgbClr val="C9D5D2"/>
            </a:solidFill>
            <a:prstDash val="solid"/>
          </a:ln>
        </p:spPr>
      </p:sp>
      <p:sp>
        <p:nvSpPr>
          <p:cNvPr id="38" name="Shape 36"/>
          <p:cNvSpPr/>
          <p:nvPr/>
        </p:nvSpPr>
        <p:spPr>
          <a:xfrm>
            <a:off x="3154680" y="1600200"/>
            <a:ext cx="5696712" cy="3017520"/>
          </a:xfrm>
          <a:prstGeom prst="roundRect">
            <a:avLst>
              <a:gd name="adj" fmla="val 4242"/>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39" name="Shape 37"/>
          <p:cNvSpPr/>
          <p:nvPr/>
        </p:nvSpPr>
        <p:spPr>
          <a:xfrm>
            <a:off x="3429000" y="1810512"/>
            <a:ext cx="2331720" cy="384048"/>
          </a:xfrm>
          <a:prstGeom prst="roundRect">
            <a:avLst>
              <a:gd name="adj" fmla="val 50000"/>
            </a:avLst>
          </a:prstGeom>
          <a:solidFill>
            <a:srgbClr val="6E5E94"/>
          </a:solidFill>
          <a:ln w="12700">
            <a:solidFill>
              <a:srgbClr val="6E5E94"/>
            </a:solidFill>
            <a:prstDash val="solid"/>
          </a:ln>
        </p:spPr>
      </p:sp>
      <p:pic>
        <p:nvPicPr>
          <p:cNvPr id="40" name="Image 0" descr="preencoded.png">    </p:cNvPr>
          <p:cNvPicPr>
            <a:picLocks noChangeAspect="1"/>
          </p:cNvPicPr>
          <p:nvPr/>
        </p:nvPicPr>
        <p:blipFill>
          <a:blip r:embed="rId1"/>
          <a:stretch>
            <a:fillRect/>
          </a:stretch>
        </p:blipFill>
        <p:spPr>
          <a:xfrm>
            <a:off x="3547872" y="1874520"/>
            <a:ext cx="246888" cy="246888"/>
          </a:xfrm>
          <a:prstGeom prst="rect">
            <a:avLst/>
          </a:prstGeom>
        </p:spPr>
      </p:pic>
      <p:sp>
        <p:nvSpPr>
          <p:cNvPr id="41" name="Text 38"/>
          <p:cNvSpPr txBox="1"/>
          <p:nvPr/>
        </p:nvSpPr>
        <p:spPr>
          <a:xfrm>
            <a:off x="3867912" y="1810512"/>
            <a:ext cx="1874520" cy="38404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Day 10  |  9:00 AM</a:t>
            </a:r>
            <a:endParaRPr lang="en-US" sz="1300" dirty="0"/>
          </a:p>
        </p:txBody>
      </p:sp>
      <p:sp>
        <p:nvSpPr>
          <p:cNvPr id="42" name="Text 39"/>
          <p:cNvSpPr txBox="1"/>
          <p:nvPr/>
        </p:nvSpPr>
        <p:spPr>
          <a:xfrm>
            <a:off x="3429000" y="2286000"/>
            <a:ext cx="2743200" cy="256032"/>
          </a:xfrm>
          <a:prstGeom prst="rect">
            <a:avLst/>
          </a:prstGeom>
          <a:noFill/>
          <a:ln/>
        </p:spPr>
        <p:txBody>
          <a:bodyPr wrap="square" lIns="0" tIns="0" rIns="0" bIns="0" rtlCol="0" anchor="t"/>
          <a:lstStyle/>
          <a:p>
            <a:pPr indent="0" marL="0">
              <a:buNone/>
            </a:pPr>
            <a:r>
              <a:rPr lang="en-US" sz="1200" b="1" dirty="0">
                <a:solidFill>
                  <a:srgbClr val="465A69"/>
                </a:solidFill>
                <a:latin typeface="Calibri" pitchFamily="34" charset="0"/>
                <a:ea typeface="Calibri" pitchFamily="34" charset="-122"/>
                <a:cs typeface="Calibri" pitchFamily="34" charset="-120"/>
              </a:rPr>
              <a:t>New information</a:t>
            </a:r>
            <a:endParaRPr lang="en-US" sz="1200" dirty="0"/>
          </a:p>
        </p:txBody>
      </p:sp>
      <p:sp>
        <p:nvSpPr>
          <p:cNvPr id="43" name="Text 40"/>
          <p:cNvSpPr txBox="1"/>
          <p:nvPr/>
        </p:nvSpPr>
        <p:spPr>
          <a:xfrm>
            <a:off x="3429000" y="2560320"/>
            <a:ext cx="5166360" cy="1965960"/>
          </a:xfrm>
          <a:prstGeom prst="rect">
            <a:avLst/>
          </a:prstGeom>
          <a:noFill/>
          <a:ln/>
        </p:spPr>
        <p:txBody>
          <a:bodyPr wrap="square" lIns="0" tIns="0" rIns="0" bIns="0" rtlCol="0" anchor="t"/>
          <a:lstStyle/>
          <a:p>
            <a:pPr indent="0" marL="0">
              <a:buNone/>
            </a:pPr>
            <a:r>
              <a:rPr lang="en-US" sz="1800" dirty="0">
                <a:solidFill>
                  <a:srgbClr val="1E2E3A"/>
                </a:solidFill>
                <a:latin typeface="Calibri" pitchFamily="34" charset="0"/>
                <a:ea typeface="Calibri" pitchFamily="34" charset="-122"/>
                <a:cs typeface="Calibri" pitchFamily="34" charset="-120"/>
              </a:rPr>
              <a:t>Business leaders estimate critical delays to key development milestones.</a:t>
            </a:r>
            <a:endParaRPr lang="en-US" sz="1800" dirty="0"/>
          </a:p>
        </p:txBody>
      </p:sp>
      <p:sp>
        <p:nvSpPr>
          <p:cNvPr id="44" name="Shape 41"/>
          <p:cNvSpPr/>
          <p:nvPr/>
        </p:nvSpPr>
        <p:spPr>
          <a:xfrm>
            <a:off x="3154680" y="4800600"/>
            <a:ext cx="5696712" cy="1371600"/>
          </a:xfrm>
          <a:prstGeom prst="roundRect">
            <a:avLst>
              <a:gd name="adj" fmla="val 9333"/>
            </a:avLst>
          </a:prstGeom>
          <a:solidFill>
            <a:srgbClr val="F6F3FA"/>
          </a:solidFill>
          <a:ln w="12700">
            <a:solidFill>
              <a:srgbClr val="F6F3FA"/>
            </a:solidFill>
            <a:prstDash val="solid"/>
          </a:ln>
          <a:effectLst>
            <a:outerShdw sx="100000" sy="100000" kx="0" ky="0" algn="bl" rotWithShape="0" blurRad="177800" dist="50800" dir="5400000">
              <a:srgbClr val="1B4965">
                <a:alpha val="16000"/>
              </a:srgbClr>
            </a:outerShdw>
          </a:effectLst>
        </p:spPr>
      </p:sp>
      <p:sp>
        <p:nvSpPr>
          <p:cNvPr id="45" name="Text 42"/>
          <p:cNvSpPr txBox="1"/>
          <p:nvPr/>
        </p:nvSpPr>
        <p:spPr>
          <a:xfrm>
            <a:off x="3429000" y="4901184"/>
            <a:ext cx="2743200" cy="256032"/>
          </a:xfrm>
          <a:prstGeom prst="rect">
            <a:avLst/>
          </a:prstGeom>
          <a:noFill/>
          <a:ln/>
        </p:spPr>
        <p:txBody>
          <a:bodyPr wrap="square" lIns="0" tIns="0" rIns="0" bIns="0" rtlCol="0" anchor="t"/>
          <a:lstStyle/>
          <a:p>
            <a:pPr indent="0" marL="0">
              <a:buNone/>
            </a:pPr>
            <a:r>
              <a:rPr lang="en-US" sz="1300" b="1" dirty="0">
                <a:solidFill>
                  <a:srgbClr val="6E5E94"/>
                </a:solidFill>
                <a:latin typeface="Calibri" pitchFamily="34" charset="0"/>
                <a:ea typeface="Calibri" pitchFamily="34" charset="-122"/>
                <a:cs typeface="Calibri" pitchFamily="34" charset="-120"/>
              </a:rPr>
              <a:t>Decide</a:t>
            </a:r>
            <a:endParaRPr lang="en-US" sz="1300" dirty="0"/>
          </a:p>
        </p:txBody>
      </p:sp>
      <p:sp>
        <p:nvSpPr>
          <p:cNvPr id="46" name="Text 43"/>
          <p:cNvSpPr txBox="1"/>
          <p:nvPr/>
        </p:nvSpPr>
        <p:spPr>
          <a:xfrm>
            <a:off x="3429000" y="5175504"/>
            <a:ext cx="5166360" cy="914400"/>
          </a:xfrm>
          <a:prstGeom prst="rect">
            <a:avLst/>
          </a:prstGeom>
          <a:noFill/>
          <a:ln/>
        </p:spPr>
        <p:txBody>
          <a:bodyPr wrap="square" lIns="0" tIns="0" rIns="0" bIns="0" rtlCol="0" anchor="t"/>
          <a:lstStyle/>
          <a:p>
            <a:pPr indent="0" marL="0">
              <a:buNone/>
            </a:pPr>
            <a:r>
              <a:rPr lang="en-US" sz="1400" b="1" dirty="0">
                <a:solidFill>
                  <a:srgbClr val="1E2E3A"/>
                </a:solidFill>
                <a:latin typeface="Calibri" pitchFamily="34" charset="0"/>
                <a:ea typeface="Calibri" pitchFamily="34" charset="-122"/>
                <a:cs typeface="Calibri" pitchFamily="34" charset="-120"/>
              </a:rPr>
              <a:t>How long can operations continue under degraded conditions? What does leadership decide now to protect the milestone?</a:t>
            </a:r>
            <a:endParaRPr lang="en-US" sz="1400" dirty="0"/>
          </a:p>
        </p:txBody>
      </p:sp>
      <p:sp>
        <p:nvSpPr>
          <p:cNvPr id="47" name="Shape 44"/>
          <p:cNvSpPr/>
          <p:nvPr/>
        </p:nvSpPr>
        <p:spPr>
          <a:xfrm>
            <a:off x="9079992" y="1600200"/>
            <a:ext cx="2560320" cy="4572000"/>
          </a:xfrm>
          <a:prstGeom prst="roundRect">
            <a:avLst>
              <a:gd name="adj" fmla="val 5000"/>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48" name="Text 45"/>
          <p:cNvSpPr txBox="1"/>
          <p:nvPr/>
        </p:nvSpPr>
        <p:spPr>
          <a:xfrm>
            <a:off x="9262872" y="1728216"/>
            <a:ext cx="2194560" cy="457200"/>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Milestone status (simulated)</a:t>
            </a:r>
            <a:endParaRPr lang="en-US" sz="1300" dirty="0"/>
          </a:p>
        </p:txBody>
      </p:sp>
      <p:sp>
        <p:nvSpPr>
          <p:cNvPr id="49" name="Shape 46"/>
          <p:cNvSpPr/>
          <p:nvPr/>
        </p:nvSpPr>
        <p:spPr>
          <a:xfrm>
            <a:off x="9262872" y="2221992"/>
            <a:ext cx="2194560" cy="3767328"/>
          </a:xfrm>
          <a:prstGeom prst="roundRect">
            <a:avLst>
              <a:gd name="adj" fmla="val 3333"/>
            </a:avLst>
          </a:prstGeom>
          <a:solidFill>
            <a:srgbClr val="FFFFFF"/>
          </a:solidFill>
          <a:ln w="9525">
            <a:solidFill>
              <a:srgbClr val="C9D3DE"/>
            </a:solidFill>
            <a:prstDash val="solid"/>
          </a:ln>
        </p:spPr>
      </p:sp>
      <p:pic>
        <p:nvPicPr>
          <p:cNvPr id="50" name="Image 1" descr="preencoded.png">    </p:cNvPr>
          <p:cNvPicPr>
            <a:picLocks noChangeAspect="1"/>
          </p:cNvPicPr>
          <p:nvPr/>
        </p:nvPicPr>
        <p:blipFill>
          <a:blip r:embed="rId2"/>
          <a:stretch>
            <a:fillRect/>
          </a:stretch>
        </p:blipFill>
        <p:spPr>
          <a:xfrm>
            <a:off x="9381744" y="2423160"/>
            <a:ext cx="237744" cy="237744"/>
          </a:xfrm>
          <a:prstGeom prst="rect">
            <a:avLst/>
          </a:prstGeom>
        </p:spPr>
      </p:pic>
      <p:sp>
        <p:nvSpPr>
          <p:cNvPr id="51" name="Text 47"/>
          <p:cNvSpPr txBox="1"/>
          <p:nvPr/>
        </p:nvSpPr>
        <p:spPr>
          <a:xfrm>
            <a:off x="9710928" y="2386584"/>
            <a:ext cx="1591056" cy="292608"/>
          </a:xfrm>
          <a:prstGeom prst="rect">
            <a:avLst/>
          </a:prstGeom>
          <a:noFill/>
          <a:ln/>
        </p:spPr>
        <p:txBody>
          <a:bodyPr wrap="square" lIns="0" tIns="0" rIns="0" bIns="0" rtlCol="0" anchor="ctr"/>
          <a:lstStyle/>
          <a:p>
            <a:pPr indent="0" marL="0">
              <a:buNone/>
            </a:pPr>
            <a:r>
              <a:rPr lang="en-US" sz="1550" b="1" dirty="0">
                <a:solidFill>
                  <a:srgbClr val="1B2A4A"/>
                </a:solidFill>
                <a:latin typeface="Calibri" pitchFamily="34" charset="0"/>
                <a:ea typeface="Calibri" pitchFamily="34" charset="-122"/>
                <a:cs typeface="Calibri" pitchFamily="34" charset="-120"/>
              </a:rPr>
              <a:t>Program Office</a:t>
            </a:r>
            <a:endParaRPr lang="en-US" sz="1550" dirty="0"/>
          </a:p>
        </p:txBody>
      </p:sp>
      <p:pic>
        <p:nvPicPr>
          <p:cNvPr id="52" name="Image 2" descr="preencoded.png">    </p:cNvPr>
          <p:cNvPicPr>
            <a:picLocks noChangeAspect="1"/>
          </p:cNvPicPr>
          <p:nvPr/>
        </p:nvPicPr>
        <p:blipFill>
          <a:blip r:embed="rId3"/>
          <a:stretch>
            <a:fillRect/>
          </a:stretch>
        </p:blipFill>
        <p:spPr>
          <a:xfrm>
            <a:off x="9381744" y="2798064"/>
            <a:ext cx="219456" cy="219456"/>
          </a:xfrm>
          <a:prstGeom prst="rect">
            <a:avLst/>
          </a:prstGeom>
        </p:spPr>
      </p:pic>
      <p:sp>
        <p:nvSpPr>
          <p:cNvPr id="53" name="Text 48"/>
          <p:cNvSpPr txBox="1"/>
          <p:nvPr/>
        </p:nvSpPr>
        <p:spPr>
          <a:xfrm>
            <a:off x="9674352" y="2770632"/>
            <a:ext cx="1636776" cy="470408"/>
          </a:xfrm>
          <a:prstGeom prst="rect">
            <a:avLst/>
          </a:prstGeom>
          <a:noFill/>
          <a:ln/>
        </p:spPr>
        <p:txBody>
          <a:bodyPr wrap="square" lIns="0" tIns="0" rIns="0" bIns="0" rtlCol="0" anchor="ctr"/>
          <a:lstStyle/>
          <a:p>
            <a:pPr indent="0" marL="0">
              <a:buNone/>
            </a:pPr>
            <a:r>
              <a:rPr lang="en-US" sz="1400" b="1" dirty="0">
                <a:solidFill>
                  <a:srgbClr val="1B2A4A"/>
                </a:solidFill>
                <a:latin typeface="Calibri" pitchFamily="34" charset="0"/>
                <a:ea typeface="Calibri" pitchFamily="34" charset="-122"/>
                <a:cs typeface="Calibri" pitchFamily="34" charset="-120"/>
              </a:rPr>
              <a:t>Milestone at risk</a:t>
            </a:r>
            <a:endParaRPr lang="en-US" sz="1400" dirty="0"/>
          </a:p>
        </p:txBody>
      </p:sp>
      <p:sp>
        <p:nvSpPr>
          <p:cNvPr id="54" name="Text 49"/>
          <p:cNvSpPr txBox="1"/>
          <p:nvPr/>
        </p:nvSpPr>
        <p:spPr>
          <a:xfrm>
            <a:off x="9381744" y="3295904"/>
            <a:ext cx="1956816" cy="470408"/>
          </a:xfrm>
          <a:prstGeom prst="rect">
            <a:avLst/>
          </a:prstGeom>
          <a:noFill/>
          <a:ln/>
        </p:spPr>
        <p:txBody>
          <a:bodyPr wrap="square" lIns="0" tIns="0" rIns="0" bIns="0" rtlCol="0" anchor="t"/>
          <a:lstStyle/>
          <a:p>
            <a:pPr indent="0" marL="0">
              <a:buNone/>
            </a:pPr>
            <a:r>
              <a:rPr lang="en-US" sz="1400" dirty="0">
                <a:solidFill>
                  <a:srgbClr val="1E2E3A"/>
                </a:solidFill>
                <a:latin typeface="Calibri" pitchFamily="34" charset="0"/>
                <a:ea typeface="Calibri" pitchFamily="34" charset="-122"/>
                <a:cs typeface="Calibri" pitchFamily="34" charset="-120"/>
              </a:rPr>
              <a:t>Key development milestone: at risk.</a:t>
            </a:r>
            <a:endParaRPr lang="en-US" sz="1400" dirty="0"/>
          </a:p>
        </p:txBody>
      </p:sp>
      <p:sp>
        <p:nvSpPr>
          <p:cNvPr id="55" name="Text 50"/>
          <p:cNvSpPr txBox="1"/>
          <p:nvPr/>
        </p:nvSpPr>
        <p:spPr>
          <a:xfrm>
            <a:off x="9381744" y="3802888"/>
            <a:ext cx="1956816" cy="904240"/>
          </a:xfrm>
          <a:prstGeom prst="rect">
            <a:avLst/>
          </a:prstGeom>
          <a:noFill/>
          <a:ln/>
        </p:spPr>
        <p:txBody>
          <a:bodyPr wrap="square" lIns="0" tIns="0" rIns="0" bIns="0" rtlCol="0" anchor="t"/>
          <a:lstStyle/>
          <a:p>
            <a:pPr indent="0" marL="0">
              <a:buNone/>
            </a:pPr>
            <a:r>
              <a:rPr lang="en-US" sz="1400" dirty="0">
                <a:solidFill>
                  <a:srgbClr val="1E2E3A"/>
                </a:solidFill>
                <a:latin typeface="Calibri" pitchFamily="34" charset="0"/>
                <a:ea typeface="Calibri" pitchFamily="34" charset="-122"/>
                <a:cs typeface="Calibri" pitchFamily="34" charset="-120"/>
              </a:rPr>
              <a:t>Estimated delay: several weeks if the disruption continues.</a:t>
            </a:r>
            <a:endParaRPr lang="en-US" sz="1400" dirty="0"/>
          </a:p>
        </p:txBody>
      </p:sp>
      <p:sp>
        <p:nvSpPr>
          <p:cNvPr id="56" name="Text 51"/>
          <p:cNvSpPr txBox="1"/>
          <p:nvPr/>
        </p:nvSpPr>
        <p:spPr>
          <a:xfrm>
            <a:off x="9381744" y="4789424"/>
            <a:ext cx="1956816" cy="228600"/>
          </a:xfrm>
          <a:prstGeom prst="rect">
            <a:avLst/>
          </a:prstGeom>
          <a:noFill/>
          <a:ln/>
        </p:spPr>
        <p:txBody>
          <a:bodyPr wrap="square" lIns="0" tIns="0" rIns="0" bIns="0" rtlCol="0" anchor="t"/>
          <a:lstStyle/>
          <a:p>
            <a:pPr indent="0" marL="0">
              <a:buNone/>
            </a:pPr>
            <a:r>
              <a:rPr lang="en-US" sz="1200" dirty="0">
                <a:solidFill>
                  <a:srgbClr val="465A69"/>
                </a:solidFill>
                <a:latin typeface="Calibri" pitchFamily="34" charset="0"/>
                <a:ea typeface="Calibri" pitchFamily="34" charset="-122"/>
                <a:cs typeface="Calibri" pitchFamily="34" charset="-120"/>
              </a:rPr>
              <a:t>Day 10</a:t>
            </a:r>
            <a:endParaRPr lang="en-US" sz="1200" dirty="0"/>
          </a:p>
        </p:txBody>
      </p:sp>
      <p:sp>
        <p:nvSpPr>
          <p:cNvPr id="57" name="Text 52"/>
          <p:cNvSpPr txBox="1"/>
          <p:nvPr/>
        </p:nvSpPr>
        <p:spPr>
          <a:xfrm>
            <a:off x="548640" y="6254496"/>
            <a:ext cx="11091672" cy="256032"/>
          </a:xfrm>
          <a:prstGeom prst="rect">
            <a:avLst/>
          </a:prstGeom>
          <a:noFill/>
          <a:ln/>
        </p:spPr>
        <p:txBody>
          <a:bodyPr wrap="square" lIns="0" tIns="0" rIns="0" bIns="0" rtlCol="0" anchor="ctr"/>
          <a:lstStyle/>
          <a:p>
            <a:pPr indent="0" marL="0">
              <a:buNone/>
            </a:pPr>
            <a:r>
              <a:rPr lang="en-US" sz="1200" b="1" dirty="0">
                <a:solidFill>
                  <a:srgbClr val="465A69"/>
                </a:solidFill>
                <a:latin typeface="Calibri" pitchFamily="34" charset="0"/>
                <a:ea typeface="Calibri" pitchFamily="34" charset="-122"/>
                <a:cs typeface="Calibri" pitchFamily="34" charset="-120"/>
              </a:rPr>
              <a:t>Acronyms:  </a:t>
            </a:r>
            <a:pPr indent="0" marL="0">
              <a:buNone/>
            </a:pPr>
            <a:r>
              <a:rPr lang="en-US" sz="1200" dirty="0">
                <a:solidFill>
                  <a:srgbClr val="465A69"/>
                </a:solidFill>
                <a:latin typeface="Calibri" pitchFamily="34" charset="0"/>
                <a:ea typeface="Calibri" pitchFamily="34" charset="-122"/>
                <a:cs typeface="Calibri" pitchFamily="34" charset="-120"/>
              </a:rPr>
              <a:t>T+: time since the first signal;  CRO: contract research organization</a:t>
            </a:r>
            <a:endParaRPr lang="en-US" sz="1200" dirty="0"/>
          </a:p>
        </p:txBody>
      </p:sp>
      <p:sp>
        <p:nvSpPr>
          <p:cNvPr id="58" name="Shape 53"/>
          <p:cNvSpPr/>
          <p:nvPr/>
        </p:nvSpPr>
        <p:spPr>
          <a:xfrm>
            <a:off x="548640" y="6537960"/>
            <a:ext cx="763524" cy="274320"/>
          </a:xfrm>
          <a:prstGeom prst="roundRect">
            <a:avLst>
              <a:gd name="adj" fmla="val 50000"/>
            </a:avLst>
          </a:prstGeom>
          <a:solidFill>
            <a:srgbClr val="E4ECF2"/>
          </a:solidFill>
          <a:ln w="12700">
            <a:solidFill>
              <a:srgbClr val="E4ECF2"/>
            </a:solidFill>
            <a:prstDash val="solid"/>
          </a:ln>
        </p:spPr>
      </p:sp>
      <p:sp>
        <p:nvSpPr>
          <p:cNvPr id="59" name="Text 54"/>
          <p:cNvSpPr txBox="1"/>
          <p:nvPr/>
        </p:nvSpPr>
        <p:spPr>
          <a:xfrm>
            <a:off x="548640" y="6537960"/>
            <a:ext cx="763524" cy="274320"/>
          </a:xfrm>
          <a:prstGeom prst="rect">
            <a:avLst/>
          </a:prstGeom>
          <a:noFill/>
          <a:ln/>
        </p:spPr>
        <p:txBody>
          <a:bodyPr wrap="square" lIns="0" tIns="0" rIns="0" bIns="0" rtlCol="0" anchor="ctr"/>
          <a:lstStyle/>
          <a:p>
            <a:pPr algn="ctr" indent="0" marL="0">
              <a:buNone/>
            </a:pPr>
            <a:r>
              <a:rPr lang="en-US" sz="1200" b="1" dirty="0">
                <a:solidFill>
                  <a:srgbClr val="23405A"/>
                </a:solidFill>
                <a:latin typeface="Calibri" pitchFamily="34" charset="0"/>
                <a:ea typeface="Calibri" pitchFamily="34" charset="-122"/>
                <a:cs typeface="Calibri" pitchFamily="34" charset="-120"/>
              </a:rPr>
              <a:t>Start</a:t>
            </a:r>
            <a:endParaRPr lang="en-US" sz="1200" dirty="0"/>
          </a:p>
        </p:txBody>
      </p:sp>
      <p:pic>
        <p:nvPicPr>
          <p:cNvPr id="60" name="Image 3" descr="preencoded.png">
            <a:hlinkClick r:id="rId5" tooltip="Go to Start" action="ppaction://hlinksldjump"/>
          </p:cNvPr>
          <p:cNvPicPr>
            <a:picLocks noChangeAspect="1"/>
          </p:cNvPicPr>
          <p:nvPr/>
        </p:nvPicPr>
        <p:blipFill>
          <a:blip r:embed="rId4"/>
          <a:stretch>
            <a:fillRect/>
          </a:stretch>
        </p:blipFill>
        <p:spPr>
          <a:xfrm>
            <a:off x="548640" y="6537960"/>
            <a:ext cx="763524" cy="274320"/>
          </a:xfrm>
          <a:prstGeom prst="rect">
            <a:avLst/>
          </a:prstGeom>
        </p:spPr>
      </p:pic>
      <p:sp>
        <p:nvSpPr>
          <p:cNvPr id="61" name="Shape 55"/>
          <p:cNvSpPr/>
          <p:nvPr/>
        </p:nvSpPr>
        <p:spPr>
          <a:xfrm>
            <a:off x="1385316" y="6537960"/>
            <a:ext cx="1197864" cy="274320"/>
          </a:xfrm>
          <a:prstGeom prst="roundRect">
            <a:avLst>
              <a:gd name="adj" fmla="val 50000"/>
            </a:avLst>
          </a:prstGeom>
          <a:solidFill>
            <a:srgbClr val="F1F6FA"/>
          </a:solidFill>
          <a:ln w="12700">
            <a:solidFill>
              <a:srgbClr val="F1F6FA"/>
            </a:solidFill>
            <a:prstDash val="solid"/>
          </a:ln>
        </p:spPr>
      </p:sp>
      <p:sp>
        <p:nvSpPr>
          <p:cNvPr id="62" name="Text 56"/>
          <p:cNvSpPr txBox="1"/>
          <p:nvPr/>
        </p:nvSpPr>
        <p:spPr>
          <a:xfrm>
            <a:off x="1385316" y="6537960"/>
            <a:ext cx="1197864" cy="274320"/>
          </a:xfrm>
          <a:prstGeom prst="rect">
            <a:avLst/>
          </a:prstGeom>
          <a:noFill/>
          <a:ln/>
        </p:spPr>
        <p:txBody>
          <a:bodyPr wrap="square" lIns="0" tIns="0" rIns="0" bIns="0" rtlCol="0" anchor="ctr"/>
          <a:lstStyle/>
          <a:p>
            <a:pPr algn="ctr" indent="0" marL="0">
              <a:buNone/>
            </a:pPr>
            <a:r>
              <a:rPr lang="en-US" sz="1200" b="1" dirty="0">
                <a:solidFill>
                  <a:srgbClr val="3F6E8C"/>
                </a:solidFill>
                <a:latin typeface="Calibri" pitchFamily="34" charset="0"/>
                <a:ea typeface="Calibri" pitchFamily="34" charset="-122"/>
                <a:cs typeface="Calibri" pitchFamily="34" charset="-120"/>
              </a:rPr>
              <a:t>Scenario 1</a:t>
            </a:r>
            <a:endParaRPr lang="en-US" sz="1200" dirty="0"/>
          </a:p>
        </p:txBody>
      </p:sp>
      <p:pic>
        <p:nvPicPr>
          <p:cNvPr id="63" name="Image 4" descr="preencoded.png">
            <a:hlinkClick r:id="rId7" tooltip="Go to Scenario 1" action="ppaction://hlinksldjump"/>
          </p:cNvPr>
          <p:cNvPicPr>
            <a:picLocks noChangeAspect="1"/>
          </p:cNvPicPr>
          <p:nvPr/>
        </p:nvPicPr>
        <p:blipFill>
          <a:blip r:embed="rId6"/>
          <a:stretch>
            <a:fillRect/>
          </a:stretch>
        </p:blipFill>
        <p:spPr>
          <a:xfrm>
            <a:off x="1385316" y="6537960"/>
            <a:ext cx="1197864" cy="274320"/>
          </a:xfrm>
          <a:prstGeom prst="rect">
            <a:avLst/>
          </a:prstGeom>
        </p:spPr>
      </p:pic>
      <p:sp>
        <p:nvSpPr>
          <p:cNvPr id="64" name="Shape 57"/>
          <p:cNvSpPr/>
          <p:nvPr/>
        </p:nvSpPr>
        <p:spPr>
          <a:xfrm>
            <a:off x="2656332" y="6537960"/>
            <a:ext cx="1197864" cy="274320"/>
          </a:xfrm>
          <a:prstGeom prst="roundRect">
            <a:avLst>
              <a:gd name="adj" fmla="val 50000"/>
            </a:avLst>
          </a:prstGeom>
          <a:solidFill>
            <a:srgbClr val="F1F8F3"/>
          </a:solidFill>
          <a:ln w="12700">
            <a:solidFill>
              <a:srgbClr val="F1F8F3"/>
            </a:solidFill>
            <a:prstDash val="solid"/>
          </a:ln>
        </p:spPr>
      </p:sp>
      <p:sp>
        <p:nvSpPr>
          <p:cNvPr id="65" name="Text 58"/>
          <p:cNvSpPr txBox="1"/>
          <p:nvPr/>
        </p:nvSpPr>
        <p:spPr>
          <a:xfrm>
            <a:off x="2656332" y="6537960"/>
            <a:ext cx="1197864" cy="274320"/>
          </a:xfrm>
          <a:prstGeom prst="rect">
            <a:avLst/>
          </a:prstGeom>
          <a:noFill/>
          <a:ln/>
        </p:spPr>
        <p:txBody>
          <a:bodyPr wrap="square" lIns="0" tIns="0" rIns="0" bIns="0" rtlCol="0" anchor="ctr"/>
          <a:lstStyle/>
          <a:p>
            <a:pPr algn="ctr" indent="0" marL="0">
              <a:buNone/>
            </a:pPr>
            <a:r>
              <a:rPr lang="en-US" sz="1200" b="1" dirty="0">
                <a:solidFill>
                  <a:srgbClr val="4C8068"/>
                </a:solidFill>
                <a:latin typeface="Calibri" pitchFamily="34" charset="0"/>
                <a:ea typeface="Calibri" pitchFamily="34" charset="-122"/>
                <a:cs typeface="Calibri" pitchFamily="34" charset="-120"/>
              </a:rPr>
              <a:t>Scenario 2</a:t>
            </a:r>
            <a:endParaRPr lang="en-US" sz="1200" dirty="0"/>
          </a:p>
        </p:txBody>
      </p:sp>
      <p:pic>
        <p:nvPicPr>
          <p:cNvPr id="66" name="Image 5" descr="preencoded.png">
            <a:hlinkClick r:id="rId9" tooltip="Go to Scenario 2" action="ppaction://hlinksldjump"/>
          </p:cNvPr>
          <p:cNvPicPr>
            <a:picLocks noChangeAspect="1"/>
          </p:cNvPicPr>
          <p:nvPr/>
        </p:nvPicPr>
        <p:blipFill>
          <a:blip r:embed="rId8"/>
          <a:stretch>
            <a:fillRect/>
          </a:stretch>
        </p:blipFill>
        <p:spPr>
          <a:xfrm>
            <a:off x="2656332" y="6537960"/>
            <a:ext cx="1197864" cy="274320"/>
          </a:xfrm>
          <a:prstGeom prst="rect">
            <a:avLst/>
          </a:prstGeom>
        </p:spPr>
      </p:pic>
      <p:sp>
        <p:nvSpPr>
          <p:cNvPr id="67" name="Shape 59"/>
          <p:cNvSpPr/>
          <p:nvPr/>
        </p:nvSpPr>
        <p:spPr>
          <a:xfrm>
            <a:off x="3927348" y="6537960"/>
            <a:ext cx="1197864" cy="274320"/>
          </a:xfrm>
          <a:prstGeom prst="roundRect">
            <a:avLst>
              <a:gd name="adj" fmla="val 50000"/>
            </a:avLst>
          </a:prstGeom>
          <a:solidFill>
            <a:srgbClr val="6E5E94"/>
          </a:solidFill>
          <a:ln w="12700">
            <a:solidFill>
              <a:srgbClr val="6E5E94"/>
            </a:solidFill>
            <a:prstDash val="solid"/>
          </a:ln>
        </p:spPr>
      </p:sp>
      <p:sp>
        <p:nvSpPr>
          <p:cNvPr id="68" name="Text 60"/>
          <p:cNvSpPr txBox="1"/>
          <p:nvPr/>
        </p:nvSpPr>
        <p:spPr>
          <a:xfrm>
            <a:off x="3927348" y="6537960"/>
            <a:ext cx="1197864"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Scenario 3</a:t>
            </a:r>
            <a:endParaRPr lang="en-US" sz="1200" dirty="0"/>
          </a:p>
        </p:txBody>
      </p:sp>
      <p:pic>
        <p:nvPicPr>
          <p:cNvPr id="69" name="Image 6" descr="preencoded.png">
            <a:hlinkClick r:id="rId11" tooltip="Go to Scenario 3" action="ppaction://hlinksldjump"/>
          </p:cNvPr>
          <p:cNvPicPr>
            <a:picLocks noChangeAspect="1"/>
          </p:cNvPicPr>
          <p:nvPr/>
        </p:nvPicPr>
        <p:blipFill>
          <a:blip r:embed="rId10"/>
          <a:stretch>
            <a:fillRect/>
          </a:stretch>
        </p:blipFill>
        <p:spPr>
          <a:xfrm>
            <a:off x="3927348" y="6537960"/>
            <a:ext cx="1197864" cy="274320"/>
          </a:xfrm>
          <a:prstGeom prst="rect">
            <a:avLst/>
          </a:prstGeom>
        </p:spPr>
      </p:pic>
      <p:sp>
        <p:nvSpPr>
          <p:cNvPr id="70" name="Shape 61"/>
          <p:cNvSpPr/>
          <p:nvPr/>
        </p:nvSpPr>
        <p:spPr>
          <a:xfrm>
            <a:off x="5198364" y="6537960"/>
            <a:ext cx="937260" cy="274320"/>
          </a:xfrm>
          <a:prstGeom prst="roundRect">
            <a:avLst>
              <a:gd name="adj" fmla="val 50000"/>
            </a:avLst>
          </a:prstGeom>
          <a:solidFill>
            <a:srgbClr val="E4ECF2"/>
          </a:solidFill>
          <a:ln w="12700">
            <a:solidFill>
              <a:srgbClr val="E4ECF2"/>
            </a:solidFill>
            <a:prstDash val="solid"/>
          </a:ln>
        </p:spPr>
      </p:sp>
      <p:sp>
        <p:nvSpPr>
          <p:cNvPr id="71" name="Text 62"/>
          <p:cNvSpPr txBox="1"/>
          <p:nvPr/>
        </p:nvSpPr>
        <p:spPr>
          <a:xfrm>
            <a:off x="5198364" y="6537960"/>
            <a:ext cx="937260" cy="274320"/>
          </a:xfrm>
          <a:prstGeom prst="rect">
            <a:avLst/>
          </a:prstGeom>
          <a:noFill/>
          <a:ln/>
        </p:spPr>
        <p:txBody>
          <a:bodyPr wrap="square" lIns="0" tIns="0" rIns="0" bIns="0" rtlCol="0" anchor="ctr"/>
          <a:lstStyle/>
          <a:p>
            <a:pPr algn="ctr" indent="0" marL="0">
              <a:buNone/>
            </a:pPr>
            <a:r>
              <a:rPr lang="en-US" sz="1200" b="1" dirty="0">
                <a:solidFill>
                  <a:srgbClr val="23405A"/>
                </a:solidFill>
                <a:latin typeface="Calibri" pitchFamily="34" charset="0"/>
                <a:ea typeface="Calibri" pitchFamily="34" charset="-122"/>
                <a:cs typeface="Calibri" pitchFamily="34" charset="-120"/>
              </a:rPr>
              <a:t>Closing</a:t>
            </a:r>
            <a:endParaRPr lang="en-US" sz="1200" dirty="0"/>
          </a:p>
        </p:txBody>
      </p:sp>
      <p:pic>
        <p:nvPicPr>
          <p:cNvPr id="72" name="Image 7" descr="preencoded.png">
            <a:hlinkClick r:id="rId13" tooltip="Go to Closing" action="ppaction://hlinksldjump"/>
          </p:cNvPr>
          <p:cNvPicPr>
            <a:picLocks noChangeAspect="1"/>
          </p:cNvPicPr>
          <p:nvPr/>
        </p:nvPicPr>
        <p:blipFill>
          <a:blip r:embed="rId12"/>
          <a:stretch>
            <a:fillRect/>
          </a:stretch>
        </p:blipFill>
        <p:spPr>
          <a:xfrm>
            <a:off x="5198364" y="6537960"/>
            <a:ext cx="937260" cy="274320"/>
          </a:xfrm>
          <a:prstGeom prst="rect">
            <a:avLst/>
          </a:prstGeom>
        </p:spPr>
      </p:pic>
      <p:sp>
        <p:nvSpPr>
          <p:cNvPr id="73" name="Text 63"/>
          <p:cNvSpPr txBox="1"/>
          <p:nvPr/>
        </p:nvSpPr>
        <p:spPr>
          <a:xfrm>
            <a:off x="11277295" y="6537960"/>
            <a:ext cx="365760" cy="274320"/>
          </a:xfrm>
          <a:prstGeom prst="rect">
            <a:avLst/>
          </a:prstGeom>
          <a:noFill/>
          <a:ln/>
        </p:spPr>
        <p:txBody>
          <a:bodyPr wrap="square" lIns="0" tIns="0" rIns="0" bIns="0" rtlCol="0" anchor="ctr"/>
          <a:lstStyle/>
          <a:p>
            <a:pPr algn="r" indent="0" marL="0">
              <a:buNone/>
            </a:pPr>
            <a:r>
              <a:rPr lang="en-US" sz="1200" dirty="0">
                <a:solidFill>
                  <a:srgbClr val="465A69"/>
                </a:solidFill>
                <a:latin typeface="Calibri" pitchFamily="34" charset="0"/>
                <a:ea typeface="Calibri" pitchFamily="34" charset="-122"/>
                <a:cs typeface="Calibri" pitchFamily="34" charset="-120"/>
              </a:rPr>
              <a:t>48</a:t>
            </a:r>
            <a:endParaRPr lang="en-US" sz="12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EEEAF5"/>
        </a:solidFill>
      </p:bgPr>
    </p:bg>
    <p:spTree>
      <p:nvGrpSpPr>
        <p:cNvPr id="1" name=""/>
        <p:cNvGrpSpPr/>
        <p:nvPr/>
      </p:nvGrpSpPr>
      <p:grpSpPr>
        <a:xfrm>
          <a:off x="0" y="0"/>
          <a:ext cx="0" cy="0"/>
          <a:chOff x="0" y="0"/>
          <a:chExt cx="0" cy="0"/>
        </a:xfrm>
      </p:grpSpPr>
      <p:sp>
        <p:nvSpPr>
          <p:cNvPr id="2" name="Shape 0"/>
          <p:cNvSpPr/>
          <p:nvPr/>
        </p:nvSpPr>
        <p:spPr>
          <a:xfrm>
            <a:off x="548640" y="347472"/>
            <a:ext cx="3008376" cy="329184"/>
          </a:xfrm>
          <a:prstGeom prst="roundRect">
            <a:avLst>
              <a:gd name="adj" fmla="val 50000"/>
            </a:avLst>
          </a:prstGeom>
          <a:solidFill>
            <a:srgbClr val="F6F3FA"/>
          </a:solidFill>
          <a:ln w="12700">
            <a:solidFill>
              <a:srgbClr val="F6F3FA"/>
            </a:solidFill>
            <a:prstDash val="solid"/>
          </a:ln>
        </p:spPr>
      </p:sp>
      <p:sp>
        <p:nvSpPr>
          <p:cNvPr id="3" name="Text 1"/>
          <p:cNvSpPr txBox="1"/>
          <p:nvPr/>
        </p:nvSpPr>
        <p:spPr>
          <a:xfrm>
            <a:off x="548640" y="347472"/>
            <a:ext cx="3008376" cy="329184"/>
          </a:xfrm>
          <a:prstGeom prst="rect">
            <a:avLst/>
          </a:prstGeom>
          <a:noFill/>
          <a:ln/>
        </p:spPr>
        <p:txBody>
          <a:bodyPr wrap="square" lIns="0" tIns="0" rIns="0" bIns="0" rtlCol="0" anchor="ctr"/>
          <a:lstStyle/>
          <a:p>
            <a:pPr algn="ctr" indent="0" marL="0">
              <a:buNone/>
            </a:pPr>
            <a:r>
              <a:rPr lang="en-US" sz="1200" b="1" dirty="0">
                <a:solidFill>
                  <a:srgbClr val="6E5E94"/>
                </a:solidFill>
                <a:latin typeface="Calibri" pitchFamily="34" charset="0"/>
                <a:ea typeface="Calibri" pitchFamily="34" charset="-122"/>
                <a:cs typeface="Calibri" pitchFamily="34" charset="-120"/>
              </a:rPr>
              <a:t>Scenario 3: Business Continuity</a:t>
            </a:r>
            <a:endParaRPr lang="en-US" sz="1200" dirty="0"/>
          </a:p>
        </p:txBody>
      </p:sp>
      <p:sp>
        <p:nvSpPr>
          <p:cNvPr id="4" name="Text 2"/>
          <p:cNvSpPr txBox="1"/>
          <p:nvPr/>
        </p:nvSpPr>
        <p:spPr>
          <a:xfrm>
            <a:off x="548640" y="749808"/>
            <a:ext cx="11064240" cy="640080"/>
          </a:xfrm>
          <a:prstGeom prst="rect">
            <a:avLst/>
          </a:prstGeom>
          <a:noFill/>
          <a:ln/>
        </p:spPr>
        <p:txBody>
          <a:bodyPr wrap="square" lIns="0" tIns="0" rIns="0" bIns="0" rtlCol="0" anchor="ctr"/>
          <a:lstStyle/>
          <a:p>
            <a:pPr indent="0" marL="0">
              <a:buNone/>
            </a:pPr>
            <a:r>
              <a:rPr lang="en-US" sz="2800" b="1" dirty="0">
                <a:solidFill>
                  <a:srgbClr val="23405A"/>
                </a:solidFill>
                <a:latin typeface="Calibri" pitchFamily="34" charset="0"/>
                <a:ea typeface="Calibri" pitchFamily="34" charset="-122"/>
                <a:cs typeface="Calibri" pitchFamily="34" charset="-120"/>
              </a:rPr>
              <a:t>Day 14: Uneven Restoration</a:t>
            </a:r>
            <a:endParaRPr lang="en-US" sz="2800" dirty="0"/>
          </a:p>
        </p:txBody>
      </p:sp>
      <p:sp>
        <p:nvSpPr>
          <p:cNvPr id="5" name="Shape 3"/>
          <p:cNvSpPr/>
          <p:nvPr/>
        </p:nvSpPr>
        <p:spPr>
          <a:xfrm>
            <a:off x="10705795" y="347472"/>
            <a:ext cx="937260" cy="329184"/>
          </a:xfrm>
          <a:prstGeom prst="roundRect">
            <a:avLst>
              <a:gd name="adj" fmla="val 50000"/>
            </a:avLst>
          </a:prstGeom>
          <a:solidFill>
            <a:srgbClr val="FFFFFF"/>
          </a:solidFill>
          <a:ln w="12700">
            <a:solidFill>
              <a:srgbClr val="FFFFFF"/>
            </a:solidFill>
            <a:prstDash val="solid"/>
          </a:ln>
        </p:spPr>
      </p:sp>
      <p:sp>
        <p:nvSpPr>
          <p:cNvPr id="6" name="Text 4"/>
          <p:cNvSpPr txBox="1"/>
          <p:nvPr/>
        </p:nvSpPr>
        <p:spPr>
          <a:xfrm>
            <a:off x="10705795" y="347472"/>
            <a:ext cx="937260" cy="329184"/>
          </a:xfrm>
          <a:prstGeom prst="rect">
            <a:avLst/>
          </a:prstGeom>
          <a:noFill/>
          <a:ln/>
        </p:spPr>
        <p:txBody>
          <a:bodyPr wrap="square" lIns="0" tIns="0" rIns="0" bIns="0" rtlCol="0" anchor="ctr"/>
          <a:lstStyle/>
          <a:p>
            <a:pPr algn="ctr" indent="0" marL="0">
              <a:buNone/>
            </a:pPr>
            <a:r>
              <a:rPr lang="en-US" sz="1200" dirty="0">
                <a:solidFill>
                  <a:srgbClr val="465A69"/>
                </a:solidFill>
                <a:latin typeface="Calibri" pitchFamily="34" charset="0"/>
                <a:ea typeface="Calibri" pitchFamily="34" charset="-122"/>
                <a:cs typeface="Calibri" pitchFamily="34" charset="-120"/>
              </a:rPr>
              <a:t>Hotwash</a:t>
            </a:r>
            <a:endParaRPr lang="en-US" sz="1200" dirty="0"/>
          </a:p>
        </p:txBody>
      </p:sp>
      <p:sp>
        <p:nvSpPr>
          <p:cNvPr id="7" name="Shape 5"/>
          <p:cNvSpPr/>
          <p:nvPr/>
        </p:nvSpPr>
        <p:spPr>
          <a:xfrm>
            <a:off x="9608515" y="347472"/>
            <a:ext cx="1024128" cy="329184"/>
          </a:xfrm>
          <a:prstGeom prst="roundRect">
            <a:avLst>
              <a:gd name="adj" fmla="val 50000"/>
            </a:avLst>
          </a:prstGeom>
          <a:solidFill>
            <a:srgbClr val="FFFFFF"/>
          </a:solidFill>
          <a:ln w="12700">
            <a:solidFill>
              <a:srgbClr val="FFFFFF"/>
            </a:solidFill>
            <a:prstDash val="solid"/>
          </a:ln>
        </p:spPr>
      </p:sp>
      <p:sp>
        <p:nvSpPr>
          <p:cNvPr id="8" name="Text 6"/>
          <p:cNvSpPr txBox="1"/>
          <p:nvPr/>
        </p:nvSpPr>
        <p:spPr>
          <a:xfrm>
            <a:off x="9608515" y="347472"/>
            <a:ext cx="1024128" cy="329184"/>
          </a:xfrm>
          <a:prstGeom prst="rect">
            <a:avLst/>
          </a:prstGeom>
          <a:noFill/>
          <a:ln/>
        </p:spPr>
        <p:txBody>
          <a:bodyPr wrap="square" lIns="0" tIns="0" rIns="0" bIns="0" rtlCol="0" anchor="ctr"/>
          <a:lstStyle/>
          <a:p>
            <a:pPr algn="ctr" indent="0" marL="0">
              <a:buNone/>
            </a:pPr>
            <a:r>
              <a:rPr lang="en-US" sz="1200" dirty="0">
                <a:solidFill>
                  <a:srgbClr val="465A69"/>
                </a:solidFill>
                <a:latin typeface="Calibri" pitchFamily="34" charset="0"/>
                <a:ea typeface="Calibri" pitchFamily="34" charset="-122"/>
                <a:cs typeface="Calibri" pitchFamily="34" charset="-120"/>
              </a:rPr>
              <a:t>Recovery</a:t>
            </a:r>
            <a:endParaRPr lang="en-US" sz="1200" dirty="0"/>
          </a:p>
        </p:txBody>
      </p:sp>
      <p:sp>
        <p:nvSpPr>
          <p:cNvPr id="9" name="Shape 7"/>
          <p:cNvSpPr/>
          <p:nvPr/>
        </p:nvSpPr>
        <p:spPr>
          <a:xfrm>
            <a:off x="8598103" y="347472"/>
            <a:ext cx="937260" cy="329184"/>
          </a:xfrm>
          <a:prstGeom prst="roundRect">
            <a:avLst>
              <a:gd name="adj" fmla="val 50000"/>
            </a:avLst>
          </a:prstGeom>
          <a:solidFill>
            <a:srgbClr val="6E5E94"/>
          </a:solidFill>
          <a:ln w="12700">
            <a:solidFill>
              <a:srgbClr val="6E5E94"/>
            </a:solidFill>
            <a:prstDash val="solid"/>
          </a:ln>
        </p:spPr>
      </p:sp>
      <p:sp>
        <p:nvSpPr>
          <p:cNvPr id="10" name="Text 8"/>
          <p:cNvSpPr txBox="1"/>
          <p:nvPr/>
        </p:nvSpPr>
        <p:spPr>
          <a:xfrm>
            <a:off x="8598103" y="347472"/>
            <a:ext cx="93726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Injects</a:t>
            </a:r>
            <a:endParaRPr lang="en-US" sz="1200" dirty="0"/>
          </a:p>
        </p:txBody>
      </p:sp>
      <p:sp>
        <p:nvSpPr>
          <p:cNvPr id="11" name="Shape 9"/>
          <p:cNvSpPr/>
          <p:nvPr/>
        </p:nvSpPr>
        <p:spPr>
          <a:xfrm>
            <a:off x="7674559" y="347472"/>
            <a:ext cx="850392" cy="329184"/>
          </a:xfrm>
          <a:prstGeom prst="roundRect">
            <a:avLst>
              <a:gd name="adj" fmla="val 50000"/>
            </a:avLst>
          </a:prstGeom>
          <a:solidFill>
            <a:srgbClr val="F6F3FA"/>
          </a:solidFill>
          <a:ln w="12700">
            <a:solidFill>
              <a:srgbClr val="F6F3FA"/>
            </a:solidFill>
            <a:prstDash val="solid"/>
          </a:ln>
        </p:spPr>
      </p:sp>
      <p:sp>
        <p:nvSpPr>
          <p:cNvPr id="12" name="Text 10"/>
          <p:cNvSpPr txBox="1"/>
          <p:nvPr/>
        </p:nvSpPr>
        <p:spPr>
          <a:xfrm>
            <a:off x="7674559" y="347472"/>
            <a:ext cx="850392" cy="329184"/>
          </a:xfrm>
          <a:prstGeom prst="rect">
            <a:avLst/>
          </a:prstGeom>
          <a:noFill/>
          <a:ln/>
        </p:spPr>
        <p:txBody>
          <a:bodyPr wrap="square" lIns="0" tIns="0" rIns="0" bIns="0" rtlCol="0" anchor="ctr"/>
          <a:lstStyle/>
          <a:p>
            <a:pPr algn="ctr" indent="0" marL="0">
              <a:buNone/>
            </a:pPr>
            <a:r>
              <a:rPr lang="en-US" sz="1200" dirty="0">
                <a:solidFill>
                  <a:srgbClr val="6E5E94"/>
                </a:solidFill>
                <a:latin typeface="Calibri" pitchFamily="34" charset="0"/>
                <a:ea typeface="Calibri" pitchFamily="34" charset="-122"/>
                <a:cs typeface="Calibri" pitchFamily="34" charset="-120"/>
              </a:rPr>
              <a:t>Decide</a:t>
            </a:r>
            <a:endParaRPr lang="en-US" sz="1200" dirty="0"/>
          </a:p>
        </p:txBody>
      </p:sp>
      <p:sp>
        <p:nvSpPr>
          <p:cNvPr id="13" name="Shape 11"/>
          <p:cNvSpPr/>
          <p:nvPr/>
        </p:nvSpPr>
        <p:spPr>
          <a:xfrm>
            <a:off x="7011619" y="347472"/>
            <a:ext cx="589788" cy="329184"/>
          </a:xfrm>
          <a:prstGeom prst="roundRect">
            <a:avLst>
              <a:gd name="adj" fmla="val 50000"/>
            </a:avLst>
          </a:prstGeom>
          <a:solidFill>
            <a:srgbClr val="F6F3FA"/>
          </a:solidFill>
          <a:ln w="12700">
            <a:solidFill>
              <a:srgbClr val="F6F3FA"/>
            </a:solidFill>
            <a:prstDash val="solid"/>
          </a:ln>
        </p:spPr>
      </p:sp>
      <p:sp>
        <p:nvSpPr>
          <p:cNvPr id="14" name="Text 12"/>
          <p:cNvSpPr txBox="1"/>
          <p:nvPr/>
        </p:nvSpPr>
        <p:spPr>
          <a:xfrm>
            <a:off x="7011619" y="347472"/>
            <a:ext cx="589788" cy="329184"/>
          </a:xfrm>
          <a:prstGeom prst="rect">
            <a:avLst/>
          </a:prstGeom>
          <a:noFill/>
          <a:ln/>
        </p:spPr>
        <p:txBody>
          <a:bodyPr wrap="square" lIns="0" tIns="0" rIns="0" bIns="0" rtlCol="0" anchor="ctr"/>
          <a:lstStyle/>
          <a:p>
            <a:pPr algn="ctr" indent="0" marL="0">
              <a:buNone/>
            </a:pPr>
            <a:r>
              <a:rPr lang="en-US" sz="1200" dirty="0">
                <a:solidFill>
                  <a:srgbClr val="6E5E94"/>
                </a:solidFill>
                <a:latin typeface="Calibri" pitchFamily="34" charset="0"/>
                <a:ea typeface="Calibri" pitchFamily="34" charset="-122"/>
                <a:cs typeface="Calibri" pitchFamily="34" charset="-120"/>
              </a:rPr>
              <a:t>T+0</a:t>
            </a:r>
            <a:endParaRPr lang="en-US" sz="1200" dirty="0"/>
          </a:p>
        </p:txBody>
      </p:sp>
      <p:sp>
        <p:nvSpPr>
          <p:cNvPr id="15" name="Shape 13"/>
          <p:cNvSpPr/>
          <p:nvPr/>
        </p:nvSpPr>
        <p:spPr>
          <a:xfrm>
            <a:off x="5740603" y="347472"/>
            <a:ext cx="1197864" cy="329184"/>
          </a:xfrm>
          <a:prstGeom prst="roundRect">
            <a:avLst>
              <a:gd name="adj" fmla="val 50000"/>
            </a:avLst>
          </a:prstGeom>
          <a:solidFill>
            <a:srgbClr val="F6F3FA"/>
          </a:solidFill>
          <a:ln w="12700">
            <a:solidFill>
              <a:srgbClr val="F6F3FA"/>
            </a:solidFill>
            <a:prstDash val="solid"/>
          </a:ln>
        </p:spPr>
      </p:sp>
      <p:sp>
        <p:nvSpPr>
          <p:cNvPr id="16" name="Text 14"/>
          <p:cNvSpPr txBox="1"/>
          <p:nvPr/>
        </p:nvSpPr>
        <p:spPr>
          <a:xfrm>
            <a:off x="5740603" y="347472"/>
            <a:ext cx="1197864" cy="329184"/>
          </a:xfrm>
          <a:prstGeom prst="rect">
            <a:avLst/>
          </a:prstGeom>
          <a:noFill/>
          <a:ln/>
        </p:spPr>
        <p:txBody>
          <a:bodyPr wrap="square" lIns="0" tIns="0" rIns="0" bIns="0" rtlCol="0" anchor="ctr"/>
          <a:lstStyle/>
          <a:p>
            <a:pPr algn="ctr" indent="0" marL="0">
              <a:buNone/>
            </a:pPr>
            <a:r>
              <a:rPr lang="en-US" sz="1200" dirty="0">
                <a:solidFill>
                  <a:srgbClr val="6E5E94"/>
                </a:solidFill>
                <a:latin typeface="Calibri" pitchFamily="34" charset="0"/>
                <a:ea typeface="Calibri" pitchFamily="34" charset="-122"/>
                <a:cs typeface="Calibri" pitchFamily="34" charset="-120"/>
              </a:rPr>
              <a:t>Background</a:t>
            </a:r>
            <a:endParaRPr lang="en-US" sz="1200" dirty="0"/>
          </a:p>
        </p:txBody>
      </p:sp>
      <p:sp>
        <p:nvSpPr>
          <p:cNvPr id="17" name="Shape 15"/>
          <p:cNvSpPr/>
          <p:nvPr/>
        </p:nvSpPr>
        <p:spPr>
          <a:xfrm>
            <a:off x="548640" y="1600200"/>
            <a:ext cx="2377440" cy="4572000"/>
          </a:xfrm>
          <a:prstGeom prst="roundRect">
            <a:avLst>
              <a:gd name="adj" fmla="val 5385"/>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18" name="Text 16"/>
          <p:cNvSpPr txBox="1"/>
          <p:nvPr/>
        </p:nvSpPr>
        <p:spPr>
          <a:xfrm>
            <a:off x="822960" y="1783080"/>
            <a:ext cx="1874520" cy="320040"/>
          </a:xfrm>
          <a:prstGeom prst="rect">
            <a:avLst/>
          </a:prstGeom>
          <a:noFill/>
          <a:ln/>
        </p:spPr>
        <p:txBody>
          <a:bodyPr wrap="square" lIns="0" tIns="0" rIns="0" bIns="0" rtlCol="0" anchor="t"/>
          <a:lstStyle/>
          <a:p>
            <a:pPr indent="0" marL="0">
              <a:buNone/>
            </a:pPr>
            <a:r>
              <a:rPr lang="en-US" sz="1400" b="1" dirty="0">
                <a:solidFill>
                  <a:srgbClr val="465A69"/>
                </a:solidFill>
                <a:latin typeface="Calibri" pitchFamily="34" charset="0"/>
                <a:ea typeface="Calibri" pitchFamily="34" charset="-122"/>
                <a:cs typeface="Calibri" pitchFamily="34" charset="-120"/>
              </a:rPr>
              <a:t>Timeline</a:t>
            </a:r>
            <a:endParaRPr lang="en-US" sz="1400" dirty="0"/>
          </a:p>
        </p:txBody>
      </p:sp>
      <p:sp>
        <p:nvSpPr>
          <p:cNvPr id="19" name="Shape 17"/>
          <p:cNvSpPr/>
          <p:nvPr/>
        </p:nvSpPr>
        <p:spPr>
          <a:xfrm>
            <a:off x="905256" y="2551176"/>
            <a:ext cx="0" cy="257338"/>
          </a:xfrm>
          <a:prstGeom prst="line">
            <a:avLst/>
          </a:prstGeom>
          <a:noFill/>
          <a:ln w="19050">
            <a:solidFill>
              <a:srgbClr val="6E5E94"/>
            </a:solidFill>
            <a:prstDash val="solid"/>
          </a:ln>
        </p:spPr>
      </p:sp>
      <p:sp>
        <p:nvSpPr>
          <p:cNvPr id="20" name="Shape 18"/>
          <p:cNvSpPr/>
          <p:nvPr/>
        </p:nvSpPr>
        <p:spPr>
          <a:xfrm>
            <a:off x="777240" y="2267712"/>
            <a:ext cx="256032" cy="256032"/>
          </a:xfrm>
          <a:prstGeom prst="ellipse">
            <a:avLst/>
          </a:prstGeom>
          <a:solidFill>
            <a:srgbClr val="F6F3FA"/>
          </a:solidFill>
          <a:ln w="12700">
            <a:solidFill>
              <a:srgbClr val="F6F3FA"/>
            </a:solidFill>
            <a:prstDash val="solid"/>
          </a:ln>
        </p:spPr>
      </p:sp>
      <p:sp>
        <p:nvSpPr>
          <p:cNvPr id="21" name="Text 19"/>
          <p:cNvSpPr txBox="1"/>
          <p:nvPr/>
        </p:nvSpPr>
        <p:spPr>
          <a:xfrm>
            <a:off x="1188720" y="2203704"/>
            <a:ext cx="1645920" cy="568234"/>
          </a:xfrm>
          <a:prstGeom prst="rect">
            <a:avLst/>
          </a:prstGeom>
          <a:noFill/>
          <a:ln/>
        </p:spPr>
        <p:txBody>
          <a:bodyPr wrap="square" lIns="0" tIns="0" rIns="0" bIns="0" rtlCol="0" anchor="t"/>
          <a:lstStyle/>
          <a:p>
            <a:pPr indent="0" marL="0">
              <a:buNone/>
            </a:pPr>
            <a:r>
              <a:rPr lang="en-US" sz="1200" b="1" dirty="0">
                <a:solidFill>
                  <a:srgbClr val="465A69"/>
                </a:solidFill>
                <a:latin typeface="Calibri" pitchFamily="34" charset="0"/>
                <a:ea typeface="Calibri" pitchFamily="34" charset="-122"/>
                <a:cs typeface="Calibri" pitchFamily="34" charset="-120"/>
              </a:rPr>
              <a:t>Day 1</a:t>
            </a:r>
            <a:endParaRPr lang="en-US" sz="1200" dirty="0"/>
          </a:p>
          <a:p>
            <a:pPr indent="0" marL="0">
              <a:buNone/>
            </a:pPr>
            <a:r>
              <a:rPr lang="en-US" sz="1200" dirty="0">
                <a:solidFill>
                  <a:srgbClr val="1E2E3A"/>
                </a:solidFill>
                <a:latin typeface="Calibri" pitchFamily="34" charset="0"/>
                <a:ea typeface="Calibri" pitchFamily="34" charset="-122"/>
                <a:cs typeface="Calibri" pitchFamily="34" charset="-120"/>
              </a:rPr>
              <a:t>CRO exchange blocked</a:t>
            </a:r>
            <a:endParaRPr lang="en-US" sz="1200" dirty="0"/>
          </a:p>
        </p:txBody>
      </p:sp>
      <p:sp>
        <p:nvSpPr>
          <p:cNvPr id="22" name="Shape 20"/>
          <p:cNvSpPr/>
          <p:nvPr/>
        </p:nvSpPr>
        <p:spPr>
          <a:xfrm>
            <a:off x="905256" y="3119410"/>
            <a:ext cx="0" cy="257338"/>
          </a:xfrm>
          <a:prstGeom prst="line">
            <a:avLst/>
          </a:prstGeom>
          <a:noFill/>
          <a:ln w="19050">
            <a:solidFill>
              <a:srgbClr val="6E5E94"/>
            </a:solidFill>
            <a:prstDash val="solid"/>
          </a:ln>
        </p:spPr>
      </p:sp>
      <p:sp>
        <p:nvSpPr>
          <p:cNvPr id="23" name="Shape 21"/>
          <p:cNvSpPr/>
          <p:nvPr/>
        </p:nvSpPr>
        <p:spPr>
          <a:xfrm>
            <a:off x="777240" y="2835946"/>
            <a:ext cx="256032" cy="256032"/>
          </a:xfrm>
          <a:prstGeom prst="ellipse">
            <a:avLst/>
          </a:prstGeom>
          <a:solidFill>
            <a:srgbClr val="F6F3FA"/>
          </a:solidFill>
          <a:ln w="12700">
            <a:solidFill>
              <a:srgbClr val="F6F3FA"/>
            </a:solidFill>
            <a:prstDash val="solid"/>
          </a:ln>
        </p:spPr>
      </p:sp>
      <p:sp>
        <p:nvSpPr>
          <p:cNvPr id="24" name="Text 22"/>
          <p:cNvSpPr txBox="1"/>
          <p:nvPr/>
        </p:nvSpPr>
        <p:spPr>
          <a:xfrm>
            <a:off x="1188720" y="2771938"/>
            <a:ext cx="1645920" cy="568234"/>
          </a:xfrm>
          <a:prstGeom prst="rect">
            <a:avLst/>
          </a:prstGeom>
          <a:noFill/>
          <a:ln/>
        </p:spPr>
        <p:txBody>
          <a:bodyPr wrap="square" lIns="0" tIns="0" rIns="0" bIns="0" rtlCol="0" anchor="t"/>
          <a:lstStyle/>
          <a:p>
            <a:pPr indent="0" marL="0">
              <a:buNone/>
            </a:pPr>
            <a:r>
              <a:rPr lang="en-US" sz="1200" b="1" dirty="0">
                <a:solidFill>
                  <a:srgbClr val="465A69"/>
                </a:solidFill>
                <a:latin typeface="Calibri" pitchFamily="34" charset="0"/>
                <a:ea typeface="Calibri" pitchFamily="34" charset="-122"/>
                <a:cs typeface="Calibri" pitchFamily="34" charset="-120"/>
              </a:rPr>
              <a:t>Day 2</a:t>
            </a:r>
            <a:endParaRPr lang="en-US" sz="1200" dirty="0"/>
          </a:p>
          <a:p>
            <a:pPr indent="0" marL="0">
              <a:buNone/>
            </a:pPr>
            <a:r>
              <a:rPr lang="en-US" sz="1200" dirty="0">
                <a:solidFill>
                  <a:srgbClr val="1E2E3A"/>
                </a:solidFill>
                <a:latin typeface="Calibri" pitchFamily="34" charset="0"/>
                <a:ea typeface="Calibri" pitchFamily="34" charset="-122"/>
                <a:cs typeface="Calibri" pitchFamily="34" charset="-120"/>
              </a:rPr>
              <a:t>Submission artifacts unreachable</a:t>
            </a:r>
            <a:endParaRPr lang="en-US" sz="1200" dirty="0"/>
          </a:p>
        </p:txBody>
      </p:sp>
      <p:sp>
        <p:nvSpPr>
          <p:cNvPr id="25" name="Shape 23"/>
          <p:cNvSpPr/>
          <p:nvPr/>
        </p:nvSpPr>
        <p:spPr>
          <a:xfrm>
            <a:off x="905256" y="3687645"/>
            <a:ext cx="0" cy="257338"/>
          </a:xfrm>
          <a:prstGeom prst="line">
            <a:avLst/>
          </a:prstGeom>
          <a:noFill/>
          <a:ln w="19050">
            <a:solidFill>
              <a:srgbClr val="6E5E94"/>
            </a:solidFill>
            <a:prstDash val="solid"/>
          </a:ln>
        </p:spPr>
      </p:sp>
      <p:sp>
        <p:nvSpPr>
          <p:cNvPr id="26" name="Shape 24"/>
          <p:cNvSpPr/>
          <p:nvPr/>
        </p:nvSpPr>
        <p:spPr>
          <a:xfrm>
            <a:off x="777240" y="3404181"/>
            <a:ext cx="256032" cy="256032"/>
          </a:xfrm>
          <a:prstGeom prst="ellipse">
            <a:avLst/>
          </a:prstGeom>
          <a:solidFill>
            <a:srgbClr val="F6F3FA"/>
          </a:solidFill>
          <a:ln w="12700">
            <a:solidFill>
              <a:srgbClr val="F6F3FA"/>
            </a:solidFill>
            <a:prstDash val="solid"/>
          </a:ln>
        </p:spPr>
      </p:sp>
      <p:sp>
        <p:nvSpPr>
          <p:cNvPr id="27" name="Text 25"/>
          <p:cNvSpPr txBox="1"/>
          <p:nvPr/>
        </p:nvSpPr>
        <p:spPr>
          <a:xfrm>
            <a:off x="1188720" y="3340173"/>
            <a:ext cx="1645920" cy="568234"/>
          </a:xfrm>
          <a:prstGeom prst="rect">
            <a:avLst/>
          </a:prstGeom>
          <a:noFill/>
          <a:ln/>
        </p:spPr>
        <p:txBody>
          <a:bodyPr wrap="square" lIns="0" tIns="0" rIns="0" bIns="0" rtlCol="0" anchor="t"/>
          <a:lstStyle/>
          <a:p>
            <a:pPr indent="0" marL="0">
              <a:buNone/>
            </a:pPr>
            <a:r>
              <a:rPr lang="en-US" sz="1200" b="1" dirty="0">
                <a:solidFill>
                  <a:srgbClr val="465A69"/>
                </a:solidFill>
                <a:latin typeface="Calibri" pitchFamily="34" charset="0"/>
                <a:ea typeface="Calibri" pitchFamily="34" charset="-122"/>
                <a:cs typeface="Calibri" pitchFamily="34" charset="-120"/>
              </a:rPr>
              <a:t>Day 3</a:t>
            </a:r>
            <a:endParaRPr lang="en-US" sz="1200" dirty="0"/>
          </a:p>
          <a:p>
            <a:pPr indent="0" marL="0">
              <a:buNone/>
            </a:pPr>
            <a:r>
              <a:rPr lang="en-US" sz="1200" dirty="0">
                <a:solidFill>
                  <a:srgbClr val="1E2E3A"/>
                </a:solidFill>
                <a:latin typeface="Calibri" pitchFamily="34" charset="0"/>
                <a:ea typeface="Calibri" pitchFamily="34" charset="-122"/>
                <a:cs typeface="Calibri" pitchFamily="34" charset="-120"/>
              </a:rPr>
              <a:t>Providers down, no date</a:t>
            </a:r>
            <a:endParaRPr lang="en-US" sz="1200" dirty="0"/>
          </a:p>
        </p:txBody>
      </p:sp>
      <p:sp>
        <p:nvSpPr>
          <p:cNvPr id="28" name="Shape 26"/>
          <p:cNvSpPr/>
          <p:nvPr/>
        </p:nvSpPr>
        <p:spPr>
          <a:xfrm>
            <a:off x="905256" y="4255879"/>
            <a:ext cx="0" cy="257338"/>
          </a:xfrm>
          <a:prstGeom prst="line">
            <a:avLst/>
          </a:prstGeom>
          <a:noFill/>
          <a:ln w="19050">
            <a:solidFill>
              <a:srgbClr val="6E5E94"/>
            </a:solidFill>
            <a:prstDash val="solid"/>
          </a:ln>
        </p:spPr>
      </p:sp>
      <p:sp>
        <p:nvSpPr>
          <p:cNvPr id="29" name="Shape 27"/>
          <p:cNvSpPr/>
          <p:nvPr/>
        </p:nvSpPr>
        <p:spPr>
          <a:xfrm>
            <a:off x="777240" y="3972415"/>
            <a:ext cx="256032" cy="256032"/>
          </a:xfrm>
          <a:prstGeom prst="ellipse">
            <a:avLst/>
          </a:prstGeom>
          <a:solidFill>
            <a:srgbClr val="F6F3FA"/>
          </a:solidFill>
          <a:ln w="12700">
            <a:solidFill>
              <a:srgbClr val="F6F3FA"/>
            </a:solidFill>
            <a:prstDash val="solid"/>
          </a:ln>
        </p:spPr>
      </p:sp>
      <p:sp>
        <p:nvSpPr>
          <p:cNvPr id="30" name="Text 28"/>
          <p:cNvSpPr txBox="1"/>
          <p:nvPr/>
        </p:nvSpPr>
        <p:spPr>
          <a:xfrm>
            <a:off x="1188720" y="3908407"/>
            <a:ext cx="1645920" cy="568234"/>
          </a:xfrm>
          <a:prstGeom prst="rect">
            <a:avLst/>
          </a:prstGeom>
          <a:noFill/>
          <a:ln/>
        </p:spPr>
        <p:txBody>
          <a:bodyPr wrap="square" lIns="0" tIns="0" rIns="0" bIns="0" rtlCol="0" anchor="t"/>
          <a:lstStyle/>
          <a:p>
            <a:pPr indent="0" marL="0">
              <a:buNone/>
            </a:pPr>
            <a:r>
              <a:rPr lang="en-US" sz="1200" b="1" dirty="0">
                <a:solidFill>
                  <a:srgbClr val="465A69"/>
                </a:solidFill>
                <a:latin typeface="Calibri" pitchFamily="34" charset="0"/>
                <a:ea typeface="Calibri" pitchFamily="34" charset="-122"/>
                <a:cs typeface="Calibri" pitchFamily="34" charset="-120"/>
              </a:rPr>
              <a:t>Day 5</a:t>
            </a:r>
            <a:endParaRPr lang="en-US" sz="1200" dirty="0"/>
          </a:p>
          <a:p>
            <a:pPr indent="0" marL="0">
              <a:buNone/>
            </a:pPr>
            <a:r>
              <a:rPr lang="en-US" sz="1200" dirty="0">
                <a:solidFill>
                  <a:srgbClr val="1E2E3A"/>
                </a:solidFill>
                <a:latin typeface="Calibri" pitchFamily="34" charset="0"/>
                <a:ea typeface="Calibri" pitchFamily="34" charset="-122"/>
                <a:cs typeface="Calibri" pitchFamily="34" charset="-120"/>
              </a:rPr>
              <a:t>Vendor payments delayed</a:t>
            </a:r>
            <a:endParaRPr lang="en-US" sz="1200" dirty="0"/>
          </a:p>
        </p:txBody>
      </p:sp>
      <p:sp>
        <p:nvSpPr>
          <p:cNvPr id="31" name="Shape 29"/>
          <p:cNvSpPr/>
          <p:nvPr/>
        </p:nvSpPr>
        <p:spPr>
          <a:xfrm>
            <a:off x="905256" y="4824113"/>
            <a:ext cx="0" cy="257338"/>
          </a:xfrm>
          <a:prstGeom prst="line">
            <a:avLst/>
          </a:prstGeom>
          <a:noFill/>
          <a:ln w="19050">
            <a:solidFill>
              <a:srgbClr val="6E5E94"/>
            </a:solidFill>
            <a:prstDash val="solid"/>
          </a:ln>
        </p:spPr>
      </p:sp>
      <p:sp>
        <p:nvSpPr>
          <p:cNvPr id="32" name="Shape 30"/>
          <p:cNvSpPr/>
          <p:nvPr/>
        </p:nvSpPr>
        <p:spPr>
          <a:xfrm>
            <a:off x="777240" y="4540649"/>
            <a:ext cx="256032" cy="256032"/>
          </a:xfrm>
          <a:prstGeom prst="ellipse">
            <a:avLst/>
          </a:prstGeom>
          <a:solidFill>
            <a:srgbClr val="F6F3FA"/>
          </a:solidFill>
          <a:ln w="12700">
            <a:solidFill>
              <a:srgbClr val="F6F3FA"/>
            </a:solidFill>
            <a:prstDash val="solid"/>
          </a:ln>
        </p:spPr>
      </p:sp>
      <p:sp>
        <p:nvSpPr>
          <p:cNvPr id="33" name="Text 31"/>
          <p:cNvSpPr txBox="1"/>
          <p:nvPr/>
        </p:nvSpPr>
        <p:spPr>
          <a:xfrm>
            <a:off x="1188720" y="4476641"/>
            <a:ext cx="1645920" cy="568234"/>
          </a:xfrm>
          <a:prstGeom prst="rect">
            <a:avLst/>
          </a:prstGeom>
          <a:noFill/>
          <a:ln/>
        </p:spPr>
        <p:txBody>
          <a:bodyPr wrap="square" lIns="0" tIns="0" rIns="0" bIns="0" rtlCol="0" anchor="t"/>
          <a:lstStyle/>
          <a:p>
            <a:pPr indent="0" marL="0">
              <a:buNone/>
            </a:pPr>
            <a:r>
              <a:rPr lang="en-US" sz="1200" b="1" dirty="0">
                <a:solidFill>
                  <a:srgbClr val="465A69"/>
                </a:solidFill>
                <a:latin typeface="Calibri" pitchFamily="34" charset="0"/>
                <a:ea typeface="Calibri" pitchFamily="34" charset="-122"/>
                <a:cs typeface="Calibri" pitchFamily="34" charset="-120"/>
              </a:rPr>
              <a:t>Day 7</a:t>
            </a:r>
            <a:endParaRPr lang="en-US" sz="1200" dirty="0"/>
          </a:p>
          <a:p>
            <a:pPr indent="0" marL="0">
              <a:buNone/>
            </a:pPr>
            <a:r>
              <a:rPr lang="en-US" sz="1200" dirty="0">
                <a:solidFill>
                  <a:srgbClr val="1E2E3A"/>
                </a:solidFill>
                <a:latin typeface="Calibri" pitchFamily="34" charset="0"/>
                <a:ea typeface="Calibri" pitchFamily="34" charset="-122"/>
                <a:cs typeface="Calibri" pitchFamily="34" charset="-120"/>
              </a:rPr>
              <a:t>Investor inquiries</a:t>
            </a:r>
            <a:endParaRPr lang="en-US" sz="1200" dirty="0"/>
          </a:p>
        </p:txBody>
      </p:sp>
      <p:sp>
        <p:nvSpPr>
          <p:cNvPr id="34" name="Shape 32"/>
          <p:cNvSpPr/>
          <p:nvPr/>
        </p:nvSpPr>
        <p:spPr>
          <a:xfrm>
            <a:off x="905256" y="5392347"/>
            <a:ext cx="0" cy="257338"/>
          </a:xfrm>
          <a:prstGeom prst="line">
            <a:avLst/>
          </a:prstGeom>
          <a:noFill/>
          <a:ln w="19050">
            <a:solidFill>
              <a:srgbClr val="6E5E94"/>
            </a:solidFill>
            <a:prstDash val="solid"/>
          </a:ln>
        </p:spPr>
      </p:sp>
      <p:sp>
        <p:nvSpPr>
          <p:cNvPr id="35" name="Shape 33"/>
          <p:cNvSpPr/>
          <p:nvPr/>
        </p:nvSpPr>
        <p:spPr>
          <a:xfrm>
            <a:off x="777240" y="5108883"/>
            <a:ext cx="256032" cy="256032"/>
          </a:xfrm>
          <a:prstGeom prst="ellipse">
            <a:avLst/>
          </a:prstGeom>
          <a:solidFill>
            <a:srgbClr val="F6F3FA"/>
          </a:solidFill>
          <a:ln w="12700">
            <a:solidFill>
              <a:srgbClr val="F6F3FA"/>
            </a:solidFill>
            <a:prstDash val="solid"/>
          </a:ln>
        </p:spPr>
      </p:sp>
      <p:sp>
        <p:nvSpPr>
          <p:cNvPr id="36" name="Text 34"/>
          <p:cNvSpPr txBox="1"/>
          <p:nvPr/>
        </p:nvSpPr>
        <p:spPr>
          <a:xfrm>
            <a:off x="1188720" y="5044875"/>
            <a:ext cx="1645920" cy="568234"/>
          </a:xfrm>
          <a:prstGeom prst="rect">
            <a:avLst/>
          </a:prstGeom>
          <a:noFill/>
          <a:ln/>
        </p:spPr>
        <p:txBody>
          <a:bodyPr wrap="square" lIns="0" tIns="0" rIns="0" bIns="0" rtlCol="0" anchor="t"/>
          <a:lstStyle/>
          <a:p>
            <a:pPr indent="0" marL="0">
              <a:buNone/>
            </a:pPr>
            <a:r>
              <a:rPr lang="en-US" sz="1200" b="1" dirty="0">
                <a:solidFill>
                  <a:srgbClr val="465A69"/>
                </a:solidFill>
                <a:latin typeface="Calibri" pitchFamily="34" charset="0"/>
                <a:ea typeface="Calibri" pitchFamily="34" charset="-122"/>
                <a:cs typeface="Calibri" pitchFamily="34" charset="-120"/>
              </a:rPr>
              <a:t>Day 10</a:t>
            </a:r>
            <a:endParaRPr lang="en-US" sz="1200" dirty="0"/>
          </a:p>
          <a:p>
            <a:pPr indent="0" marL="0">
              <a:buNone/>
            </a:pPr>
            <a:r>
              <a:rPr lang="en-US" sz="1200" dirty="0">
                <a:solidFill>
                  <a:srgbClr val="1E2E3A"/>
                </a:solidFill>
                <a:latin typeface="Calibri" pitchFamily="34" charset="0"/>
                <a:ea typeface="Calibri" pitchFamily="34" charset="-122"/>
                <a:cs typeface="Calibri" pitchFamily="34" charset="-120"/>
              </a:rPr>
              <a:t>Milestones at risk</a:t>
            </a:r>
            <a:endParaRPr lang="en-US" sz="1200" dirty="0"/>
          </a:p>
        </p:txBody>
      </p:sp>
      <p:sp>
        <p:nvSpPr>
          <p:cNvPr id="37" name="Shape 35"/>
          <p:cNvSpPr/>
          <p:nvPr/>
        </p:nvSpPr>
        <p:spPr>
          <a:xfrm>
            <a:off x="777240" y="5677118"/>
            <a:ext cx="256032" cy="256032"/>
          </a:xfrm>
          <a:prstGeom prst="ellipse">
            <a:avLst/>
          </a:prstGeom>
          <a:solidFill>
            <a:srgbClr val="6E5E94"/>
          </a:solidFill>
          <a:ln w="12700">
            <a:solidFill>
              <a:srgbClr val="6E5E94"/>
            </a:solidFill>
            <a:prstDash val="solid"/>
          </a:ln>
        </p:spPr>
      </p:sp>
      <p:sp>
        <p:nvSpPr>
          <p:cNvPr id="38" name="Text 36"/>
          <p:cNvSpPr txBox="1"/>
          <p:nvPr/>
        </p:nvSpPr>
        <p:spPr>
          <a:xfrm>
            <a:off x="1188720" y="5613110"/>
            <a:ext cx="1645920" cy="568234"/>
          </a:xfrm>
          <a:prstGeom prst="rect">
            <a:avLst/>
          </a:prstGeom>
          <a:noFill/>
          <a:ln/>
        </p:spPr>
        <p:txBody>
          <a:bodyPr wrap="square" lIns="0" tIns="0" rIns="0" bIns="0" rtlCol="0" anchor="t"/>
          <a:lstStyle/>
          <a:p>
            <a:pPr indent="0" marL="0">
              <a:buNone/>
            </a:pPr>
            <a:r>
              <a:rPr lang="en-US" sz="1200" b="1" dirty="0">
                <a:solidFill>
                  <a:srgbClr val="6E5E94"/>
                </a:solidFill>
                <a:latin typeface="Calibri" pitchFamily="34" charset="0"/>
                <a:ea typeface="Calibri" pitchFamily="34" charset="-122"/>
                <a:cs typeface="Calibri" pitchFamily="34" charset="-120"/>
              </a:rPr>
              <a:t>Day 14</a:t>
            </a:r>
            <a:endParaRPr lang="en-US" sz="1200" dirty="0"/>
          </a:p>
          <a:p>
            <a:pPr indent="0" marL="0">
              <a:buNone/>
            </a:pPr>
            <a:r>
              <a:rPr lang="en-US" sz="1200" b="1" dirty="0">
                <a:solidFill>
                  <a:srgbClr val="6E5E94"/>
                </a:solidFill>
                <a:latin typeface="Calibri" pitchFamily="34" charset="0"/>
                <a:ea typeface="Calibri" pitchFamily="34" charset="-122"/>
                <a:cs typeface="Calibri" pitchFamily="34" charset="-120"/>
              </a:rPr>
              <a:t>Uneven restoration</a:t>
            </a:r>
            <a:endParaRPr lang="en-US" sz="1200" dirty="0"/>
          </a:p>
        </p:txBody>
      </p:sp>
      <p:sp>
        <p:nvSpPr>
          <p:cNvPr id="39" name="Shape 37"/>
          <p:cNvSpPr/>
          <p:nvPr/>
        </p:nvSpPr>
        <p:spPr>
          <a:xfrm>
            <a:off x="3154680" y="1600200"/>
            <a:ext cx="5696712" cy="3017520"/>
          </a:xfrm>
          <a:prstGeom prst="roundRect">
            <a:avLst>
              <a:gd name="adj" fmla="val 4242"/>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40" name="Shape 38"/>
          <p:cNvSpPr/>
          <p:nvPr/>
        </p:nvSpPr>
        <p:spPr>
          <a:xfrm>
            <a:off x="3429000" y="1810512"/>
            <a:ext cx="2331720" cy="384048"/>
          </a:xfrm>
          <a:prstGeom prst="roundRect">
            <a:avLst>
              <a:gd name="adj" fmla="val 50000"/>
            </a:avLst>
          </a:prstGeom>
          <a:solidFill>
            <a:srgbClr val="6E5E94"/>
          </a:solidFill>
          <a:ln w="12700">
            <a:solidFill>
              <a:srgbClr val="6E5E94"/>
            </a:solidFill>
            <a:prstDash val="solid"/>
          </a:ln>
        </p:spPr>
      </p:sp>
      <p:pic>
        <p:nvPicPr>
          <p:cNvPr id="41" name="Image 0" descr="preencoded.png">    </p:cNvPr>
          <p:cNvPicPr>
            <a:picLocks noChangeAspect="1"/>
          </p:cNvPicPr>
          <p:nvPr/>
        </p:nvPicPr>
        <p:blipFill>
          <a:blip r:embed="rId1"/>
          <a:stretch>
            <a:fillRect/>
          </a:stretch>
        </p:blipFill>
        <p:spPr>
          <a:xfrm>
            <a:off x="3547872" y="1874520"/>
            <a:ext cx="246888" cy="246888"/>
          </a:xfrm>
          <a:prstGeom prst="rect">
            <a:avLst/>
          </a:prstGeom>
        </p:spPr>
      </p:pic>
      <p:sp>
        <p:nvSpPr>
          <p:cNvPr id="42" name="Text 39"/>
          <p:cNvSpPr txBox="1"/>
          <p:nvPr/>
        </p:nvSpPr>
        <p:spPr>
          <a:xfrm>
            <a:off x="3867912" y="1810512"/>
            <a:ext cx="1874520" cy="38404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Day 14  |  7:00 AM</a:t>
            </a:r>
            <a:endParaRPr lang="en-US" sz="1300" dirty="0"/>
          </a:p>
        </p:txBody>
      </p:sp>
      <p:sp>
        <p:nvSpPr>
          <p:cNvPr id="43" name="Text 40"/>
          <p:cNvSpPr txBox="1"/>
          <p:nvPr/>
        </p:nvSpPr>
        <p:spPr>
          <a:xfrm>
            <a:off x="3429000" y="2286000"/>
            <a:ext cx="2743200" cy="256032"/>
          </a:xfrm>
          <a:prstGeom prst="rect">
            <a:avLst/>
          </a:prstGeom>
          <a:noFill/>
          <a:ln/>
        </p:spPr>
        <p:txBody>
          <a:bodyPr wrap="square" lIns="0" tIns="0" rIns="0" bIns="0" rtlCol="0" anchor="t"/>
          <a:lstStyle/>
          <a:p>
            <a:pPr indent="0" marL="0">
              <a:buNone/>
            </a:pPr>
            <a:r>
              <a:rPr lang="en-US" sz="1200" b="1" dirty="0">
                <a:solidFill>
                  <a:srgbClr val="465A69"/>
                </a:solidFill>
                <a:latin typeface="Calibri" pitchFamily="34" charset="0"/>
                <a:ea typeface="Calibri" pitchFamily="34" charset="-122"/>
                <a:cs typeface="Calibri" pitchFamily="34" charset="-120"/>
              </a:rPr>
              <a:t>New information</a:t>
            </a:r>
            <a:endParaRPr lang="en-US" sz="1200" dirty="0"/>
          </a:p>
        </p:txBody>
      </p:sp>
      <p:sp>
        <p:nvSpPr>
          <p:cNvPr id="44" name="Text 41"/>
          <p:cNvSpPr txBox="1"/>
          <p:nvPr/>
        </p:nvSpPr>
        <p:spPr>
          <a:xfrm>
            <a:off x="3429000" y="2560320"/>
            <a:ext cx="5166360" cy="1965960"/>
          </a:xfrm>
          <a:prstGeom prst="rect">
            <a:avLst/>
          </a:prstGeom>
          <a:noFill/>
          <a:ln/>
        </p:spPr>
        <p:txBody>
          <a:bodyPr wrap="square" lIns="0" tIns="0" rIns="0" bIns="0" rtlCol="0" anchor="t"/>
          <a:lstStyle/>
          <a:p>
            <a:pPr indent="0" marL="0">
              <a:buNone/>
            </a:pPr>
            <a:r>
              <a:rPr lang="en-US" sz="1600" dirty="0">
                <a:solidFill>
                  <a:srgbClr val="1E2E3A"/>
                </a:solidFill>
                <a:latin typeface="Calibri" pitchFamily="34" charset="0"/>
                <a:ea typeface="Calibri" pitchFamily="34" charset="-122"/>
                <a:cs typeface="Calibri" pitchFamily="34" charset="-120"/>
              </a:rPr>
              <a:t>Providers begin restoring service unevenly. Teams face a backlog of documents, transactions, and records created through workarounds.</a:t>
            </a:r>
            <a:endParaRPr lang="en-US" sz="1600" dirty="0"/>
          </a:p>
        </p:txBody>
      </p:sp>
      <p:sp>
        <p:nvSpPr>
          <p:cNvPr id="45" name="Shape 42"/>
          <p:cNvSpPr/>
          <p:nvPr/>
        </p:nvSpPr>
        <p:spPr>
          <a:xfrm>
            <a:off x="3154680" y="4800600"/>
            <a:ext cx="5696712" cy="1371600"/>
          </a:xfrm>
          <a:prstGeom prst="roundRect">
            <a:avLst>
              <a:gd name="adj" fmla="val 9333"/>
            </a:avLst>
          </a:prstGeom>
          <a:solidFill>
            <a:srgbClr val="F6F3FA"/>
          </a:solidFill>
          <a:ln w="12700">
            <a:solidFill>
              <a:srgbClr val="F6F3FA"/>
            </a:solidFill>
            <a:prstDash val="solid"/>
          </a:ln>
          <a:effectLst>
            <a:outerShdw sx="100000" sy="100000" kx="0" ky="0" algn="bl" rotWithShape="0" blurRad="177800" dist="50800" dir="5400000">
              <a:srgbClr val="1B4965">
                <a:alpha val="16000"/>
              </a:srgbClr>
            </a:outerShdw>
          </a:effectLst>
        </p:spPr>
      </p:sp>
      <p:sp>
        <p:nvSpPr>
          <p:cNvPr id="46" name="Text 43"/>
          <p:cNvSpPr txBox="1"/>
          <p:nvPr/>
        </p:nvSpPr>
        <p:spPr>
          <a:xfrm>
            <a:off x="3429000" y="4901184"/>
            <a:ext cx="2743200" cy="256032"/>
          </a:xfrm>
          <a:prstGeom prst="rect">
            <a:avLst/>
          </a:prstGeom>
          <a:noFill/>
          <a:ln/>
        </p:spPr>
        <p:txBody>
          <a:bodyPr wrap="square" lIns="0" tIns="0" rIns="0" bIns="0" rtlCol="0" anchor="t"/>
          <a:lstStyle/>
          <a:p>
            <a:pPr indent="0" marL="0">
              <a:buNone/>
            </a:pPr>
            <a:r>
              <a:rPr lang="en-US" sz="1300" b="1" dirty="0">
                <a:solidFill>
                  <a:srgbClr val="6E5E94"/>
                </a:solidFill>
                <a:latin typeface="Calibri" pitchFamily="34" charset="0"/>
                <a:ea typeface="Calibri" pitchFamily="34" charset="-122"/>
                <a:cs typeface="Calibri" pitchFamily="34" charset="-120"/>
              </a:rPr>
              <a:t>Decide</a:t>
            </a:r>
            <a:endParaRPr lang="en-US" sz="1300" dirty="0"/>
          </a:p>
        </p:txBody>
      </p:sp>
      <p:sp>
        <p:nvSpPr>
          <p:cNvPr id="47" name="Text 44"/>
          <p:cNvSpPr txBox="1"/>
          <p:nvPr/>
        </p:nvSpPr>
        <p:spPr>
          <a:xfrm>
            <a:off x="3429000" y="5175504"/>
            <a:ext cx="5166360" cy="914400"/>
          </a:xfrm>
          <a:prstGeom prst="rect">
            <a:avLst/>
          </a:prstGeom>
          <a:noFill/>
          <a:ln/>
        </p:spPr>
        <p:txBody>
          <a:bodyPr wrap="square" lIns="0" tIns="0" rIns="0" bIns="0" rtlCol="0" anchor="t"/>
          <a:lstStyle/>
          <a:p>
            <a:pPr indent="0" marL="0">
              <a:buNone/>
            </a:pPr>
            <a:r>
              <a:rPr lang="en-US" sz="1400" b="1" dirty="0">
                <a:solidFill>
                  <a:srgbClr val="1E2E3A"/>
                </a:solidFill>
                <a:latin typeface="Calibri" pitchFamily="34" charset="0"/>
                <a:ea typeface="Calibri" pitchFamily="34" charset="-122"/>
                <a:cs typeface="Calibri" pitchFamily="34" charset="-120"/>
              </a:rPr>
              <a:t>Do you switch back immediately? How do you reconcile workaround records and validate data before returning to normal?</a:t>
            </a:r>
            <a:endParaRPr lang="en-US" sz="1400" dirty="0"/>
          </a:p>
        </p:txBody>
      </p:sp>
      <p:sp>
        <p:nvSpPr>
          <p:cNvPr id="48" name="Shape 45"/>
          <p:cNvSpPr/>
          <p:nvPr/>
        </p:nvSpPr>
        <p:spPr>
          <a:xfrm>
            <a:off x="9079992" y="1600200"/>
            <a:ext cx="2560320" cy="4572000"/>
          </a:xfrm>
          <a:prstGeom prst="roundRect">
            <a:avLst>
              <a:gd name="adj" fmla="val 5000"/>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49" name="Text 46"/>
          <p:cNvSpPr txBox="1"/>
          <p:nvPr/>
        </p:nvSpPr>
        <p:spPr>
          <a:xfrm>
            <a:off x="9262872" y="1728216"/>
            <a:ext cx="2194560" cy="457200"/>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Provider status (simulated)</a:t>
            </a:r>
            <a:endParaRPr lang="en-US" sz="1300" dirty="0"/>
          </a:p>
        </p:txBody>
      </p:sp>
      <p:sp>
        <p:nvSpPr>
          <p:cNvPr id="50" name="Shape 47"/>
          <p:cNvSpPr/>
          <p:nvPr/>
        </p:nvSpPr>
        <p:spPr>
          <a:xfrm>
            <a:off x="9262872" y="2221992"/>
            <a:ext cx="2194560" cy="3767328"/>
          </a:xfrm>
          <a:prstGeom prst="roundRect">
            <a:avLst>
              <a:gd name="adj" fmla="val 3333"/>
            </a:avLst>
          </a:prstGeom>
          <a:solidFill>
            <a:srgbClr val="FFFFFF"/>
          </a:solidFill>
          <a:ln w="9525">
            <a:solidFill>
              <a:srgbClr val="C9D3DE"/>
            </a:solidFill>
            <a:prstDash val="solid"/>
          </a:ln>
        </p:spPr>
      </p:sp>
      <p:pic>
        <p:nvPicPr>
          <p:cNvPr id="51" name="Image 1" descr="preencoded.png">    </p:cNvPr>
          <p:cNvPicPr>
            <a:picLocks noChangeAspect="1"/>
          </p:cNvPicPr>
          <p:nvPr/>
        </p:nvPicPr>
        <p:blipFill>
          <a:blip r:embed="rId2"/>
          <a:stretch>
            <a:fillRect/>
          </a:stretch>
        </p:blipFill>
        <p:spPr>
          <a:xfrm>
            <a:off x="9381744" y="2423160"/>
            <a:ext cx="237744" cy="237744"/>
          </a:xfrm>
          <a:prstGeom prst="rect">
            <a:avLst/>
          </a:prstGeom>
        </p:spPr>
      </p:pic>
      <p:sp>
        <p:nvSpPr>
          <p:cNvPr id="52" name="Text 48"/>
          <p:cNvSpPr txBox="1"/>
          <p:nvPr/>
        </p:nvSpPr>
        <p:spPr>
          <a:xfrm>
            <a:off x="9710928" y="2386584"/>
            <a:ext cx="1591056" cy="292608"/>
          </a:xfrm>
          <a:prstGeom prst="rect">
            <a:avLst/>
          </a:prstGeom>
          <a:noFill/>
          <a:ln/>
        </p:spPr>
        <p:txBody>
          <a:bodyPr wrap="square" lIns="0" tIns="0" rIns="0" bIns="0" rtlCol="0" anchor="ctr"/>
          <a:lstStyle/>
          <a:p>
            <a:pPr indent="0" marL="0">
              <a:buNone/>
            </a:pPr>
            <a:r>
              <a:rPr lang="en-US" sz="1550" b="1" dirty="0">
                <a:solidFill>
                  <a:srgbClr val="1B2A4A"/>
                </a:solidFill>
                <a:latin typeface="Calibri" pitchFamily="34" charset="0"/>
                <a:ea typeface="Calibri" pitchFamily="34" charset="-122"/>
                <a:cs typeface="Calibri" pitchFamily="34" charset="-120"/>
              </a:rPr>
              <a:t>Service Notice</a:t>
            </a:r>
            <a:endParaRPr lang="en-US" sz="1550" dirty="0"/>
          </a:p>
        </p:txBody>
      </p:sp>
      <p:pic>
        <p:nvPicPr>
          <p:cNvPr id="53" name="Image 2" descr="preencoded.png">    </p:cNvPr>
          <p:cNvPicPr>
            <a:picLocks noChangeAspect="1"/>
          </p:cNvPicPr>
          <p:nvPr/>
        </p:nvPicPr>
        <p:blipFill>
          <a:blip r:embed="rId3"/>
          <a:stretch>
            <a:fillRect/>
          </a:stretch>
        </p:blipFill>
        <p:spPr>
          <a:xfrm>
            <a:off x="9381744" y="2798064"/>
            <a:ext cx="219456" cy="219456"/>
          </a:xfrm>
          <a:prstGeom prst="rect">
            <a:avLst/>
          </a:prstGeom>
        </p:spPr>
      </p:pic>
      <p:sp>
        <p:nvSpPr>
          <p:cNvPr id="54" name="Text 49"/>
          <p:cNvSpPr txBox="1"/>
          <p:nvPr/>
        </p:nvSpPr>
        <p:spPr>
          <a:xfrm>
            <a:off x="9674352" y="2770632"/>
            <a:ext cx="1636776" cy="470408"/>
          </a:xfrm>
          <a:prstGeom prst="rect">
            <a:avLst/>
          </a:prstGeom>
          <a:noFill/>
          <a:ln/>
        </p:spPr>
        <p:txBody>
          <a:bodyPr wrap="square" lIns="0" tIns="0" rIns="0" bIns="0" rtlCol="0" anchor="ctr"/>
          <a:lstStyle/>
          <a:p>
            <a:pPr indent="0" marL="0">
              <a:buNone/>
            </a:pPr>
            <a:r>
              <a:rPr lang="en-US" sz="1400" b="1" dirty="0">
                <a:solidFill>
                  <a:srgbClr val="1B2A4A"/>
                </a:solidFill>
                <a:latin typeface="Calibri" pitchFamily="34" charset="0"/>
                <a:ea typeface="Calibri" pitchFamily="34" charset="-122"/>
                <a:cs typeface="Calibri" pitchFamily="34" charset="-120"/>
              </a:rPr>
              <a:t>Restoration in progress</a:t>
            </a:r>
            <a:endParaRPr lang="en-US" sz="1400" dirty="0"/>
          </a:p>
        </p:txBody>
      </p:sp>
      <p:sp>
        <p:nvSpPr>
          <p:cNvPr id="55" name="Text 50"/>
          <p:cNvSpPr txBox="1"/>
          <p:nvPr/>
        </p:nvSpPr>
        <p:spPr>
          <a:xfrm>
            <a:off x="9381744" y="3295904"/>
            <a:ext cx="1956816" cy="904240"/>
          </a:xfrm>
          <a:prstGeom prst="rect">
            <a:avLst/>
          </a:prstGeom>
          <a:noFill/>
          <a:ln/>
        </p:spPr>
        <p:txBody>
          <a:bodyPr wrap="square" lIns="0" tIns="0" rIns="0" bIns="0" rtlCol="0" anchor="t"/>
          <a:lstStyle/>
          <a:p>
            <a:pPr indent="0" marL="0">
              <a:buNone/>
            </a:pPr>
            <a:r>
              <a:rPr lang="en-US" sz="1400" dirty="0">
                <a:solidFill>
                  <a:srgbClr val="1E2E3A"/>
                </a:solidFill>
                <a:latin typeface="Calibri" pitchFamily="34" charset="0"/>
                <a:ea typeface="Calibri" pitchFamily="34" charset="-122"/>
                <a:cs typeface="Calibri" pitchFamily="34" charset="-120"/>
              </a:rPr>
              <a:t>Services are being restored in phases. Some features remain unavailable.</a:t>
            </a:r>
            <a:endParaRPr lang="en-US" sz="1400" dirty="0"/>
          </a:p>
        </p:txBody>
      </p:sp>
      <p:sp>
        <p:nvSpPr>
          <p:cNvPr id="56" name="Text 51"/>
          <p:cNvSpPr txBox="1"/>
          <p:nvPr/>
        </p:nvSpPr>
        <p:spPr>
          <a:xfrm>
            <a:off x="9381744" y="4282440"/>
            <a:ext cx="1956816" cy="228600"/>
          </a:xfrm>
          <a:prstGeom prst="rect">
            <a:avLst/>
          </a:prstGeom>
          <a:noFill/>
          <a:ln/>
        </p:spPr>
        <p:txBody>
          <a:bodyPr wrap="square" lIns="0" tIns="0" rIns="0" bIns="0" rtlCol="0" anchor="t"/>
          <a:lstStyle/>
          <a:p>
            <a:pPr indent="0" marL="0">
              <a:buNone/>
            </a:pPr>
            <a:r>
              <a:rPr lang="en-US" sz="1200" dirty="0">
                <a:solidFill>
                  <a:srgbClr val="465A69"/>
                </a:solidFill>
                <a:latin typeface="Calibri" pitchFamily="34" charset="0"/>
                <a:ea typeface="Calibri" pitchFamily="34" charset="-122"/>
                <a:cs typeface="Calibri" pitchFamily="34" charset="-120"/>
              </a:rPr>
              <a:t>Day 14, 7:00 AM</a:t>
            </a:r>
            <a:endParaRPr lang="en-US" sz="1200" dirty="0"/>
          </a:p>
        </p:txBody>
      </p:sp>
      <p:sp>
        <p:nvSpPr>
          <p:cNvPr id="57" name="Text 52"/>
          <p:cNvSpPr txBox="1"/>
          <p:nvPr/>
        </p:nvSpPr>
        <p:spPr>
          <a:xfrm>
            <a:off x="548640" y="6254496"/>
            <a:ext cx="11091672" cy="256032"/>
          </a:xfrm>
          <a:prstGeom prst="rect">
            <a:avLst/>
          </a:prstGeom>
          <a:noFill/>
          <a:ln/>
        </p:spPr>
        <p:txBody>
          <a:bodyPr wrap="square" lIns="0" tIns="0" rIns="0" bIns="0" rtlCol="0" anchor="ctr"/>
          <a:lstStyle/>
          <a:p>
            <a:pPr indent="0" marL="0">
              <a:buNone/>
            </a:pPr>
            <a:r>
              <a:rPr lang="en-US" sz="1200" b="1" dirty="0">
                <a:solidFill>
                  <a:srgbClr val="465A69"/>
                </a:solidFill>
                <a:latin typeface="Calibri" pitchFamily="34" charset="0"/>
                <a:ea typeface="Calibri" pitchFamily="34" charset="-122"/>
                <a:cs typeface="Calibri" pitchFamily="34" charset="-120"/>
              </a:rPr>
              <a:t>Acronyms:  </a:t>
            </a:r>
            <a:pPr indent="0" marL="0">
              <a:buNone/>
            </a:pPr>
            <a:r>
              <a:rPr lang="en-US" sz="1200" dirty="0">
                <a:solidFill>
                  <a:srgbClr val="465A69"/>
                </a:solidFill>
                <a:latin typeface="Calibri" pitchFamily="34" charset="0"/>
                <a:ea typeface="Calibri" pitchFamily="34" charset="-122"/>
                <a:cs typeface="Calibri" pitchFamily="34" charset="-120"/>
              </a:rPr>
              <a:t>T+: time since the first signal;  CRO: contract research organization</a:t>
            </a:r>
            <a:endParaRPr lang="en-US" sz="1200" dirty="0"/>
          </a:p>
        </p:txBody>
      </p:sp>
      <p:sp>
        <p:nvSpPr>
          <p:cNvPr id="58" name="Shape 53"/>
          <p:cNvSpPr/>
          <p:nvPr/>
        </p:nvSpPr>
        <p:spPr>
          <a:xfrm>
            <a:off x="548640" y="6537960"/>
            <a:ext cx="763524" cy="274320"/>
          </a:xfrm>
          <a:prstGeom prst="roundRect">
            <a:avLst>
              <a:gd name="adj" fmla="val 50000"/>
            </a:avLst>
          </a:prstGeom>
          <a:solidFill>
            <a:srgbClr val="E4ECF2"/>
          </a:solidFill>
          <a:ln w="12700">
            <a:solidFill>
              <a:srgbClr val="E4ECF2"/>
            </a:solidFill>
            <a:prstDash val="solid"/>
          </a:ln>
        </p:spPr>
      </p:sp>
      <p:sp>
        <p:nvSpPr>
          <p:cNvPr id="59" name="Text 54"/>
          <p:cNvSpPr txBox="1"/>
          <p:nvPr/>
        </p:nvSpPr>
        <p:spPr>
          <a:xfrm>
            <a:off x="548640" y="6537960"/>
            <a:ext cx="763524" cy="274320"/>
          </a:xfrm>
          <a:prstGeom prst="rect">
            <a:avLst/>
          </a:prstGeom>
          <a:noFill/>
          <a:ln/>
        </p:spPr>
        <p:txBody>
          <a:bodyPr wrap="square" lIns="0" tIns="0" rIns="0" bIns="0" rtlCol="0" anchor="ctr"/>
          <a:lstStyle/>
          <a:p>
            <a:pPr algn="ctr" indent="0" marL="0">
              <a:buNone/>
            </a:pPr>
            <a:r>
              <a:rPr lang="en-US" sz="1200" b="1" dirty="0">
                <a:solidFill>
                  <a:srgbClr val="23405A"/>
                </a:solidFill>
                <a:latin typeface="Calibri" pitchFamily="34" charset="0"/>
                <a:ea typeface="Calibri" pitchFamily="34" charset="-122"/>
                <a:cs typeface="Calibri" pitchFamily="34" charset="-120"/>
              </a:rPr>
              <a:t>Start</a:t>
            </a:r>
            <a:endParaRPr lang="en-US" sz="1200" dirty="0"/>
          </a:p>
        </p:txBody>
      </p:sp>
      <p:pic>
        <p:nvPicPr>
          <p:cNvPr id="60" name="Image 3" descr="preencoded.png">
            <a:hlinkClick r:id="rId5" tooltip="Go to Start" action="ppaction://hlinksldjump"/>
          </p:cNvPr>
          <p:cNvPicPr>
            <a:picLocks noChangeAspect="1"/>
          </p:cNvPicPr>
          <p:nvPr/>
        </p:nvPicPr>
        <p:blipFill>
          <a:blip r:embed="rId4"/>
          <a:stretch>
            <a:fillRect/>
          </a:stretch>
        </p:blipFill>
        <p:spPr>
          <a:xfrm>
            <a:off x="548640" y="6537960"/>
            <a:ext cx="763524" cy="274320"/>
          </a:xfrm>
          <a:prstGeom prst="rect">
            <a:avLst/>
          </a:prstGeom>
        </p:spPr>
      </p:pic>
      <p:sp>
        <p:nvSpPr>
          <p:cNvPr id="61" name="Shape 55"/>
          <p:cNvSpPr/>
          <p:nvPr/>
        </p:nvSpPr>
        <p:spPr>
          <a:xfrm>
            <a:off x="1385316" y="6537960"/>
            <a:ext cx="1197864" cy="274320"/>
          </a:xfrm>
          <a:prstGeom prst="roundRect">
            <a:avLst>
              <a:gd name="adj" fmla="val 50000"/>
            </a:avLst>
          </a:prstGeom>
          <a:solidFill>
            <a:srgbClr val="F1F6FA"/>
          </a:solidFill>
          <a:ln w="12700">
            <a:solidFill>
              <a:srgbClr val="F1F6FA"/>
            </a:solidFill>
            <a:prstDash val="solid"/>
          </a:ln>
        </p:spPr>
      </p:sp>
      <p:sp>
        <p:nvSpPr>
          <p:cNvPr id="62" name="Text 56"/>
          <p:cNvSpPr txBox="1"/>
          <p:nvPr/>
        </p:nvSpPr>
        <p:spPr>
          <a:xfrm>
            <a:off x="1385316" y="6537960"/>
            <a:ext cx="1197864" cy="274320"/>
          </a:xfrm>
          <a:prstGeom prst="rect">
            <a:avLst/>
          </a:prstGeom>
          <a:noFill/>
          <a:ln/>
        </p:spPr>
        <p:txBody>
          <a:bodyPr wrap="square" lIns="0" tIns="0" rIns="0" bIns="0" rtlCol="0" anchor="ctr"/>
          <a:lstStyle/>
          <a:p>
            <a:pPr algn="ctr" indent="0" marL="0">
              <a:buNone/>
            </a:pPr>
            <a:r>
              <a:rPr lang="en-US" sz="1200" b="1" dirty="0">
                <a:solidFill>
                  <a:srgbClr val="3F6E8C"/>
                </a:solidFill>
                <a:latin typeface="Calibri" pitchFamily="34" charset="0"/>
                <a:ea typeface="Calibri" pitchFamily="34" charset="-122"/>
                <a:cs typeface="Calibri" pitchFamily="34" charset="-120"/>
              </a:rPr>
              <a:t>Scenario 1</a:t>
            </a:r>
            <a:endParaRPr lang="en-US" sz="1200" dirty="0"/>
          </a:p>
        </p:txBody>
      </p:sp>
      <p:pic>
        <p:nvPicPr>
          <p:cNvPr id="63" name="Image 4" descr="preencoded.png">
            <a:hlinkClick r:id="rId7" tooltip="Go to Scenario 1" action="ppaction://hlinksldjump"/>
          </p:cNvPr>
          <p:cNvPicPr>
            <a:picLocks noChangeAspect="1"/>
          </p:cNvPicPr>
          <p:nvPr/>
        </p:nvPicPr>
        <p:blipFill>
          <a:blip r:embed="rId6"/>
          <a:stretch>
            <a:fillRect/>
          </a:stretch>
        </p:blipFill>
        <p:spPr>
          <a:xfrm>
            <a:off x="1385316" y="6537960"/>
            <a:ext cx="1197864" cy="274320"/>
          </a:xfrm>
          <a:prstGeom prst="rect">
            <a:avLst/>
          </a:prstGeom>
        </p:spPr>
      </p:pic>
      <p:sp>
        <p:nvSpPr>
          <p:cNvPr id="64" name="Shape 57"/>
          <p:cNvSpPr/>
          <p:nvPr/>
        </p:nvSpPr>
        <p:spPr>
          <a:xfrm>
            <a:off x="2656332" y="6537960"/>
            <a:ext cx="1197864" cy="274320"/>
          </a:xfrm>
          <a:prstGeom prst="roundRect">
            <a:avLst>
              <a:gd name="adj" fmla="val 50000"/>
            </a:avLst>
          </a:prstGeom>
          <a:solidFill>
            <a:srgbClr val="F1F8F3"/>
          </a:solidFill>
          <a:ln w="12700">
            <a:solidFill>
              <a:srgbClr val="F1F8F3"/>
            </a:solidFill>
            <a:prstDash val="solid"/>
          </a:ln>
        </p:spPr>
      </p:sp>
      <p:sp>
        <p:nvSpPr>
          <p:cNvPr id="65" name="Text 58"/>
          <p:cNvSpPr txBox="1"/>
          <p:nvPr/>
        </p:nvSpPr>
        <p:spPr>
          <a:xfrm>
            <a:off x="2656332" y="6537960"/>
            <a:ext cx="1197864" cy="274320"/>
          </a:xfrm>
          <a:prstGeom prst="rect">
            <a:avLst/>
          </a:prstGeom>
          <a:noFill/>
          <a:ln/>
        </p:spPr>
        <p:txBody>
          <a:bodyPr wrap="square" lIns="0" tIns="0" rIns="0" bIns="0" rtlCol="0" anchor="ctr"/>
          <a:lstStyle/>
          <a:p>
            <a:pPr algn="ctr" indent="0" marL="0">
              <a:buNone/>
            </a:pPr>
            <a:r>
              <a:rPr lang="en-US" sz="1200" b="1" dirty="0">
                <a:solidFill>
                  <a:srgbClr val="4C8068"/>
                </a:solidFill>
                <a:latin typeface="Calibri" pitchFamily="34" charset="0"/>
                <a:ea typeface="Calibri" pitchFamily="34" charset="-122"/>
                <a:cs typeface="Calibri" pitchFamily="34" charset="-120"/>
              </a:rPr>
              <a:t>Scenario 2</a:t>
            </a:r>
            <a:endParaRPr lang="en-US" sz="1200" dirty="0"/>
          </a:p>
        </p:txBody>
      </p:sp>
      <p:pic>
        <p:nvPicPr>
          <p:cNvPr id="66" name="Image 5" descr="preencoded.png">
            <a:hlinkClick r:id="rId9" tooltip="Go to Scenario 2" action="ppaction://hlinksldjump"/>
          </p:cNvPr>
          <p:cNvPicPr>
            <a:picLocks noChangeAspect="1"/>
          </p:cNvPicPr>
          <p:nvPr/>
        </p:nvPicPr>
        <p:blipFill>
          <a:blip r:embed="rId8"/>
          <a:stretch>
            <a:fillRect/>
          </a:stretch>
        </p:blipFill>
        <p:spPr>
          <a:xfrm>
            <a:off x="2656332" y="6537960"/>
            <a:ext cx="1197864" cy="274320"/>
          </a:xfrm>
          <a:prstGeom prst="rect">
            <a:avLst/>
          </a:prstGeom>
        </p:spPr>
      </p:pic>
      <p:sp>
        <p:nvSpPr>
          <p:cNvPr id="67" name="Shape 59"/>
          <p:cNvSpPr/>
          <p:nvPr/>
        </p:nvSpPr>
        <p:spPr>
          <a:xfrm>
            <a:off x="3927348" y="6537960"/>
            <a:ext cx="1197864" cy="274320"/>
          </a:xfrm>
          <a:prstGeom prst="roundRect">
            <a:avLst>
              <a:gd name="adj" fmla="val 50000"/>
            </a:avLst>
          </a:prstGeom>
          <a:solidFill>
            <a:srgbClr val="6E5E94"/>
          </a:solidFill>
          <a:ln w="12700">
            <a:solidFill>
              <a:srgbClr val="6E5E94"/>
            </a:solidFill>
            <a:prstDash val="solid"/>
          </a:ln>
        </p:spPr>
      </p:sp>
      <p:sp>
        <p:nvSpPr>
          <p:cNvPr id="68" name="Text 60"/>
          <p:cNvSpPr txBox="1"/>
          <p:nvPr/>
        </p:nvSpPr>
        <p:spPr>
          <a:xfrm>
            <a:off x="3927348" y="6537960"/>
            <a:ext cx="1197864"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Scenario 3</a:t>
            </a:r>
            <a:endParaRPr lang="en-US" sz="1200" dirty="0"/>
          </a:p>
        </p:txBody>
      </p:sp>
      <p:pic>
        <p:nvPicPr>
          <p:cNvPr id="69" name="Image 6" descr="preencoded.png">
            <a:hlinkClick r:id="rId11" tooltip="Go to Scenario 3" action="ppaction://hlinksldjump"/>
          </p:cNvPr>
          <p:cNvPicPr>
            <a:picLocks noChangeAspect="1"/>
          </p:cNvPicPr>
          <p:nvPr/>
        </p:nvPicPr>
        <p:blipFill>
          <a:blip r:embed="rId10"/>
          <a:stretch>
            <a:fillRect/>
          </a:stretch>
        </p:blipFill>
        <p:spPr>
          <a:xfrm>
            <a:off x="3927348" y="6537960"/>
            <a:ext cx="1197864" cy="274320"/>
          </a:xfrm>
          <a:prstGeom prst="rect">
            <a:avLst/>
          </a:prstGeom>
        </p:spPr>
      </p:pic>
      <p:sp>
        <p:nvSpPr>
          <p:cNvPr id="70" name="Shape 61"/>
          <p:cNvSpPr/>
          <p:nvPr/>
        </p:nvSpPr>
        <p:spPr>
          <a:xfrm>
            <a:off x="5198364" y="6537960"/>
            <a:ext cx="937260" cy="274320"/>
          </a:xfrm>
          <a:prstGeom prst="roundRect">
            <a:avLst>
              <a:gd name="adj" fmla="val 50000"/>
            </a:avLst>
          </a:prstGeom>
          <a:solidFill>
            <a:srgbClr val="E4ECF2"/>
          </a:solidFill>
          <a:ln w="12700">
            <a:solidFill>
              <a:srgbClr val="E4ECF2"/>
            </a:solidFill>
            <a:prstDash val="solid"/>
          </a:ln>
        </p:spPr>
      </p:sp>
      <p:sp>
        <p:nvSpPr>
          <p:cNvPr id="71" name="Text 62"/>
          <p:cNvSpPr txBox="1"/>
          <p:nvPr/>
        </p:nvSpPr>
        <p:spPr>
          <a:xfrm>
            <a:off x="5198364" y="6537960"/>
            <a:ext cx="937260" cy="274320"/>
          </a:xfrm>
          <a:prstGeom prst="rect">
            <a:avLst/>
          </a:prstGeom>
          <a:noFill/>
          <a:ln/>
        </p:spPr>
        <p:txBody>
          <a:bodyPr wrap="square" lIns="0" tIns="0" rIns="0" bIns="0" rtlCol="0" anchor="ctr"/>
          <a:lstStyle/>
          <a:p>
            <a:pPr algn="ctr" indent="0" marL="0">
              <a:buNone/>
            </a:pPr>
            <a:r>
              <a:rPr lang="en-US" sz="1200" b="1" dirty="0">
                <a:solidFill>
                  <a:srgbClr val="23405A"/>
                </a:solidFill>
                <a:latin typeface="Calibri" pitchFamily="34" charset="0"/>
                <a:ea typeface="Calibri" pitchFamily="34" charset="-122"/>
                <a:cs typeface="Calibri" pitchFamily="34" charset="-120"/>
              </a:rPr>
              <a:t>Closing</a:t>
            </a:r>
            <a:endParaRPr lang="en-US" sz="1200" dirty="0"/>
          </a:p>
        </p:txBody>
      </p:sp>
      <p:pic>
        <p:nvPicPr>
          <p:cNvPr id="72" name="Image 7" descr="preencoded.png">
            <a:hlinkClick r:id="rId13" tooltip="Go to Closing" action="ppaction://hlinksldjump"/>
          </p:cNvPr>
          <p:cNvPicPr>
            <a:picLocks noChangeAspect="1"/>
          </p:cNvPicPr>
          <p:nvPr/>
        </p:nvPicPr>
        <p:blipFill>
          <a:blip r:embed="rId12"/>
          <a:stretch>
            <a:fillRect/>
          </a:stretch>
        </p:blipFill>
        <p:spPr>
          <a:xfrm>
            <a:off x="5198364" y="6537960"/>
            <a:ext cx="937260" cy="274320"/>
          </a:xfrm>
          <a:prstGeom prst="rect">
            <a:avLst/>
          </a:prstGeom>
        </p:spPr>
      </p:pic>
      <p:sp>
        <p:nvSpPr>
          <p:cNvPr id="73" name="Text 63"/>
          <p:cNvSpPr txBox="1"/>
          <p:nvPr/>
        </p:nvSpPr>
        <p:spPr>
          <a:xfrm>
            <a:off x="11277295" y="6537960"/>
            <a:ext cx="365760" cy="274320"/>
          </a:xfrm>
          <a:prstGeom prst="rect">
            <a:avLst/>
          </a:prstGeom>
          <a:noFill/>
          <a:ln/>
        </p:spPr>
        <p:txBody>
          <a:bodyPr wrap="square" lIns="0" tIns="0" rIns="0" bIns="0" rtlCol="0" anchor="ctr"/>
          <a:lstStyle/>
          <a:p>
            <a:pPr algn="r" indent="0" marL="0">
              <a:buNone/>
            </a:pPr>
            <a:r>
              <a:rPr lang="en-US" sz="1200" dirty="0">
                <a:solidFill>
                  <a:srgbClr val="465A69"/>
                </a:solidFill>
                <a:latin typeface="Calibri" pitchFamily="34" charset="0"/>
                <a:ea typeface="Calibri" pitchFamily="34" charset="-122"/>
                <a:cs typeface="Calibri" pitchFamily="34" charset="-120"/>
              </a:rPr>
              <a:t>49</a:t>
            </a:r>
            <a:endParaRPr lang="en-US" sz="12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EEEAF5"/>
        </a:solidFill>
      </p:bgPr>
    </p:bg>
    <p:spTree>
      <p:nvGrpSpPr>
        <p:cNvPr id="1" name=""/>
        <p:cNvGrpSpPr/>
        <p:nvPr/>
      </p:nvGrpSpPr>
      <p:grpSpPr>
        <a:xfrm>
          <a:off x="0" y="0"/>
          <a:ext cx="0" cy="0"/>
          <a:chOff x="0" y="0"/>
          <a:chExt cx="0" cy="0"/>
        </a:xfrm>
      </p:grpSpPr>
      <p:sp>
        <p:nvSpPr>
          <p:cNvPr id="2" name="Shape 0"/>
          <p:cNvSpPr/>
          <p:nvPr/>
        </p:nvSpPr>
        <p:spPr>
          <a:xfrm>
            <a:off x="548640" y="347472"/>
            <a:ext cx="3008376" cy="329184"/>
          </a:xfrm>
          <a:prstGeom prst="roundRect">
            <a:avLst>
              <a:gd name="adj" fmla="val 50000"/>
            </a:avLst>
          </a:prstGeom>
          <a:solidFill>
            <a:srgbClr val="F6F3FA"/>
          </a:solidFill>
          <a:ln w="12700">
            <a:solidFill>
              <a:srgbClr val="F6F3FA"/>
            </a:solidFill>
            <a:prstDash val="solid"/>
          </a:ln>
        </p:spPr>
      </p:sp>
      <p:sp>
        <p:nvSpPr>
          <p:cNvPr id="3" name="Text 1"/>
          <p:cNvSpPr txBox="1"/>
          <p:nvPr/>
        </p:nvSpPr>
        <p:spPr>
          <a:xfrm>
            <a:off x="548640" y="347472"/>
            <a:ext cx="3008376" cy="329184"/>
          </a:xfrm>
          <a:prstGeom prst="rect">
            <a:avLst/>
          </a:prstGeom>
          <a:noFill/>
          <a:ln/>
        </p:spPr>
        <p:txBody>
          <a:bodyPr wrap="square" lIns="0" tIns="0" rIns="0" bIns="0" rtlCol="0" anchor="ctr"/>
          <a:lstStyle/>
          <a:p>
            <a:pPr algn="ctr" indent="0" marL="0">
              <a:buNone/>
            </a:pPr>
            <a:r>
              <a:rPr lang="en-US" sz="1200" b="1" dirty="0">
                <a:solidFill>
                  <a:srgbClr val="6E5E94"/>
                </a:solidFill>
                <a:latin typeface="Calibri" pitchFamily="34" charset="0"/>
                <a:ea typeface="Calibri" pitchFamily="34" charset="-122"/>
                <a:cs typeface="Calibri" pitchFamily="34" charset="-120"/>
              </a:rPr>
              <a:t>Scenario 3: Business Continuity</a:t>
            </a:r>
            <a:endParaRPr lang="en-US" sz="1200" dirty="0"/>
          </a:p>
        </p:txBody>
      </p:sp>
      <p:sp>
        <p:nvSpPr>
          <p:cNvPr id="4" name="Text 2"/>
          <p:cNvSpPr txBox="1"/>
          <p:nvPr/>
        </p:nvSpPr>
        <p:spPr>
          <a:xfrm>
            <a:off x="548640" y="749808"/>
            <a:ext cx="11064240" cy="640080"/>
          </a:xfrm>
          <a:prstGeom prst="rect">
            <a:avLst/>
          </a:prstGeom>
          <a:noFill/>
          <a:ln/>
        </p:spPr>
        <p:txBody>
          <a:bodyPr wrap="square" lIns="0" tIns="0" rIns="0" bIns="0" rtlCol="0" anchor="ctr"/>
          <a:lstStyle/>
          <a:p>
            <a:pPr indent="0" marL="0">
              <a:buNone/>
            </a:pPr>
            <a:r>
              <a:rPr lang="en-US" sz="2800" b="1" dirty="0">
                <a:solidFill>
                  <a:srgbClr val="23405A"/>
                </a:solidFill>
                <a:latin typeface="Calibri" pitchFamily="34" charset="0"/>
                <a:ea typeface="Calibri" pitchFamily="34" charset="-122"/>
                <a:cs typeface="Calibri" pitchFamily="34" charset="-120"/>
              </a:rPr>
              <a:t>Recovery: what would have to be true?</a:t>
            </a:r>
            <a:endParaRPr lang="en-US" sz="2800" dirty="0"/>
          </a:p>
        </p:txBody>
      </p:sp>
      <p:sp>
        <p:nvSpPr>
          <p:cNvPr id="5" name="Shape 3"/>
          <p:cNvSpPr/>
          <p:nvPr/>
        </p:nvSpPr>
        <p:spPr>
          <a:xfrm>
            <a:off x="10705795" y="347472"/>
            <a:ext cx="937260" cy="329184"/>
          </a:xfrm>
          <a:prstGeom prst="roundRect">
            <a:avLst>
              <a:gd name="adj" fmla="val 50000"/>
            </a:avLst>
          </a:prstGeom>
          <a:solidFill>
            <a:srgbClr val="FFFFFF"/>
          </a:solidFill>
          <a:ln w="12700">
            <a:solidFill>
              <a:srgbClr val="FFFFFF"/>
            </a:solidFill>
            <a:prstDash val="solid"/>
          </a:ln>
        </p:spPr>
      </p:sp>
      <p:sp>
        <p:nvSpPr>
          <p:cNvPr id="6" name="Text 4"/>
          <p:cNvSpPr txBox="1"/>
          <p:nvPr/>
        </p:nvSpPr>
        <p:spPr>
          <a:xfrm>
            <a:off x="10705795" y="347472"/>
            <a:ext cx="937260" cy="329184"/>
          </a:xfrm>
          <a:prstGeom prst="rect">
            <a:avLst/>
          </a:prstGeom>
          <a:noFill/>
          <a:ln/>
        </p:spPr>
        <p:txBody>
          <a:bodyPr wrap="square" lIns="0" tIns="0" rIns="0" bIns="0" rtlCol="0" anchor="ctr"/>
          <a:lstStyle/>
          <a:p>
            <a:pPr algn="ctr" indent="0" marL="0">
              <a:buNone/>
            </a:pPr>
            <a:r>
              <a:rPr lang="en-US" sz="1200" dirty="0">
                <a:solidFill>
                  <a:srgbClr val="465A69"/>
                </a:solidFill>
                <a:latin typeface="Calibri" pitchFamily="34" charset="0"/>
                <a:ea typeface="Calibri" pitchFamily="34" charset="-122"/>
                <a:cs typeface="Calibri" pitchFamily="34" charset="-120"/>
              </a:rPr>
              <a:t>Hotwash</a:t>
            </a:r>
            <a:endParaRPr lang="en-US" sz="1200" dirty="0"/>
          </a:p>
        </p:txBody>
      </p:sp>
      <p:sp>
        <p:nvSpPr>
          <p:cNvPr id="7" name="Shape 5"/>
          <p:cNvSpPr/>
          <p:nvPr/>
        </p:nvSpPr>
        <p:spPr>
          <a:xfrm>
            <a:off x="9608515" y="347472"/>
            <a:ext cx="1024128" cy="329184"/>
          </a:xfrm>
          <a:prstGeom prst="roundRect">
            <a:avLst>
              <a:gd name="adj" fmla="val 50000"/>
            </a:avLst>
          </a:prstGeom>
          <a:solidFill>
            <a:srgbClr val="6E5E94"/>
          </a:solidFill>
          <a:ln w="12700">
            <a:solidFill>
              <a:srgbClr val="6E5E94"/>
            </a:solidFill>
            <a:prstDash val="solid"/>
          </a:ln>
        </p:spPr>
      </p:sp>
      <p:sp>
        <p:nvSpPr>
          <p:cNvPr id="8" name="Text 6"/>
          <p:cNvSpPr txBox="1"/>
          <p:nvPr/>
        </p:nvSpPr>
        <p:spPr>
          <a:xfrm>
            <a:off x="9608515" y="347472"/>
            <a:ext cx="1024128"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Recovery</a:t>
            </a:r>
            <a:endParaRPr lang="en-US" sz="1200" dirty="0"/>
          </a:p>
        </p:txBody>
      </p:sp>
      <p:sp>
        <p:nvSpPr>
          <p:cNvPr id="9" name="Shape 7"/>
          <p:cNvSpPr/>
          <p:nvPr/>
        </p:nvSpPr>
        <p:spPr>
          <a:xfrm>
            <a:off x="8598103" y="347472"/>
            <a:ext cx="937260" cy="329184"/>
          </a:xfrm>
          <a:prstGeom prst="roundRect">
            <a:avLst>
              <a:gd name="adj" fmla="val 50000"/>
            </a:avLst>
          </a:prstGeom>
          <a:solidFill>
            <a:srgbClr val="F6F3FA"/>
          </a:solidFill>
          <a:ln w="12700">
            <a:solidFill>
              <a:srgbClr val="F6F3FA"/>
            </a:solidFill>
            <a:prstDash val="solid"/>
          </a:ln>
        </p:spPr>
      </p:sp>
      <p:sp>
        <p:nvSpPr>
          <p:cNvPr id="10" name="Text 8"/>
          <p:cNvSpPr txBox="1"/>
          <p:nvPr/>
        </p:nvSpPr>
        <p:spPr>
          <a:xfrm>
            <a:off x="8598103" y="347472"/>
            <a:ext cx="937260" cy="329184"/>
          </a:xfrm>
          <a:prstGeom prst="rect">
            <a:avLst/>
          </a:prstGeom>
          <a:noFill/>
          <a:ln/>
        </p:spPr>
        <p:txBody>
          <a:bodyPr wrap="square" lIns="0" tIns="0" rIns="0" bIns="0" rtlCol="0" anchor="ctr"/>
          <a:lstStyle/>
          <a:p>
            <a:pPr algn="ctr" indent="0" marL="0">
              <a:buNone/>
            </a:pPr>
            <a:r>
              <a:rPr lang="en-US" sz="1200" dirty="0">
                <a:solidFill>
                  <a:srgbClr val="6E5E94"/>
                </a:solidFill>
                <a:latin typeface="Calibri" pitchFamily="34" charset="0"/>
                <a:ea typeface="Calibri" pitchFamily="34" charset="-122"/>
                <a:cs typeface="Calibri" pitchFamily="34" charset="-120"/>
              </a:rPr>
              <a:t>Injects</a:t>
            </a:r>
            <a:endParaRPr lang="en-US" sz="1200" dirty="0"/>
          </a:p>
        </p:txBody>
      </p:sp>
      <p:sp>
        <p:nvSpPr>
          <p:cNvPr id="11" name="Shape 9"/>
          <p:cNvSpPr/>
          <p:nvPr/>
        </p:nvSpPr>
        <p:spPr>
          <a:xfrm>
            <a:off x="7674559" y="347472"/>
            <a:ext cx="850392" cy="329184"/>
          </a:xfrm>
          <a:prstGeom prst="roundRect">
            <a:avLst>
              <a:gd name="adj" fmla="val 50000"/>
            </a:avLst>
          </a:prstGeom>
          <a:solidFill>
            <a:srgbClr val="F6F3FA"/>
          </a:solidFill>
          <a:ln w="12700">
            <a:solidFill>
              <a:srgbClr val="F6F3FA"/>
            </a:solidFill>
            <a:prstDash val="solid"/>
          </a:ln>
        </p:spPr>
      </p:sp>
      <p:sp>
        <p:nvSpPr>
          <p:cNvPr id="12" name="Text 10"/>
          <p:cNvSpPr txBox="1"/>
          <p:nvPr/>
        </p:nvSpPr>
        <p:spPr>
          <a:xfrm>
            <a:off x="7674559" y="347472"/>
            <a:ext cx="850392" cy="329184"/>
          </a:xfrm>
          <a:prstGeom prst="rect">
            <a:avLst/>
          </a:prstGeom>
          <a:noFill/>
          <a:ln/>
        </p:spPr>
        <p:txBody>
          <a:bodyPr wrap="square" lIns="0" tIns="0" rIns="0" bIns="0" rtlCol="0" anchor="ctr"/>
          <a:lstStyle/>
          <a:p>
            <a:pPr algn="ctr" indent="0" marL="0">
              <a:buNone/>
            </a:pPr>
            <a:r>
              <a:rPr lang="en-US" sz="1200" dirty="0">
                <a:solidFill>
                  <a:srgbClr val="6E5E94"/>
                </a:solidFill>
                <a:latin typeface="Calibri" pitchFamily="34" charset="0"/>
                <a:ea typeface="Calibri" pitchFamily="34" charset="-122"/>
                <a:cs typeface="Calibri" pitchFamily="34" charset="-120"/>
              </a:rPr>
              <a:t>Decide</a:t>
            </a:r>
            <a:endParaRPr lang="en-US" sz="1200" dirty="0"/>
          </a:p>
        </p:txBody>
      </p:sp>
      <p:sp>
        <p:nvSpPr>
          <p:cNvPr id="13" name="Shape 11"/>
          <p:cNvSpPr/>
          <p:nvPr/>
        </p:nvSpPr>
        <p:spPr>
          <a:xfrm>
            <a:off x="7011619" y="347472"/>
            <a:ext cx="589788" cy="329184"/>
          </a:xfrm>
          <a:prstGeom prst="roundRect">
            <a:avLst>
              <a:gd name="adj" fmla="val 50000"/>
            </a:avLst>
          </a:prstGeom>
          <a:solidFill>
            <a:srgbClr val="F6F3FA"/>
          </a:solidFill>
          <a:ln w="12700">
            <a:solidFill>
              <a:srgbClr val="F6F3FA"/>
            </a:solidFill>
            <a:prstDash val="solid"/>
          </a:ln>
        </p:spPr>
      </p:sp>
      <p:sp>
        <p:nvSpPr>
          <p:cNvPr id="14" name="Text 12"/>
          <p:cNvSpPr txBox="1"/>
          <p:nvPr/>
        </p:nvSpPr>
        <p:spPr>
          <a:xfrm>
            <a:off x="7011619" y="347472"/>
            <a:ext cx="589788" cy="329184"/>
          </a:xfrm>
          <a:prstGeom prst="rect">
            <a:avLst/>
          </a:prstGeom>
          <a:noFill/>
          <a:ln/>
        </p:spPr>
        <p:txBody>
          <a:bodyPr wrap="square" lIns="0" tIns="0" rIns="0" bIns="0" rtlCol="0" anchor="ctr"/>
          <a:lstStyle/>
          <a:p>
            <a:pPr algn="ctr" indent="0" marL="0">
              <a:buNone/>
            </a:pPr>
            <a:r>
              <a:rPr lang="en-US" sz="1200" dirty="0">
                <a:solidFill>
                  <a:srgbClr val="6E5E94"/>
                </a:solidFill>
                <a:latin typeface="Calibri" pitchFamily="34" charset="0"/>
                <a:ea typeface="Calibri" pitchFamily="34" charset="-122"/>
                <a:cs typeface="Calibri" pitchFamily="34" charset="-120"/>
              </a:rPr>
              <a:t>T+0</a:t>
            </a:r>
            <a:endParaRPr lang="en-US" sz="1200" dirty="0"/>
          </a:p>
        </p:txBody>
      </p:sp>
      <p:sp>
        <p:nvSpPr>
          <p:cNvPr id="15" name="Shape 13"/>
          <p:cNvSpPr/>
          <p:nvPr/>
        </p:nvSpPr>
        <p:spPr>
          <a:xfrm>
            <a:off x="5740603" y="347472"/>
            <a:ext cx="1197864" cy="329184"/>
          </a:xfrm>
          <a:prstGeom prst="roundRect">
            <a:avLst>
              <a:gd name="adj" fmla="val 50000"/>
            </a:avLst>
          </a:prstGeom>
          <a:solidFill>
            <a:srgbClr val="F6F3FA"/>
          </a:solidFill>
          <a:ln w="12700">
            <a:solidFill>
              <a:srgbClr val="F6F3FA"/>
            </a:solidFill>
            <a:prstDash val="solid"/>
          </a:ln>
        </p:spPr>
      </p:sp>
      <p:sp>
        <p:nvSpPr>
          <p:cNvPr id="16" name="Text 14"/>
          <p:cNvSpPr txBox="1"/>
          <p:nvPr/>
        </p:nvSpPr>
        <p:spPr>
          <a:xfrm>
            <a:off x="5740603" y="347472"/>
            <a:ext cx="1197864" cy="329184"/>
          </a:xfrm>
          <a:prstGeom prst="rect">
            <a:avLst/>
          </a:prstGeom>
          <a:noFill/>
          <a:ln/>
        </p:spPr>
        <p:txBody>
          <a:bodyPr wrap="square" lIns="0" tIns="0" rIns="0" bIns="0" rtlCol="0" anchor="ctr"/>
          <a:lstStyle/>
          <a:p>
            <a:pPr algn="ctr" indent="0" marL="0">
              <a:buNone/>
            </a:pPr>
            <a:r>
              <a:rPr lang="en-US" sz="1200" dirty="0">
                <a:solidFill>
                  <a:srgbClr val="6E5E94"/>
                </a:solidFill>
                <a:latin typeface="Calibri" pitchFamily="34" charset="0"/>
                <a:ea typeface="Calibri" pitchFamily="34" charset="-122"/>
                <a:cs typeface="Calibri" pitchFamily="34" charset="-120"/>
              </a:rPr>
              <a:t>Background</a:t>
            </a:r>
            <a:endParaRPr lang="en-US" sz="1200" dirty="0"/>
          </a:p>
        </p:txBody>
      </p:sp>
      <p:sp>
        <p:nvSpPr>
          <p:cNvPr id="17" name="Shape 15"/>
          <p:cNvSpPr/>
          <p:nvPr/>
        </p:nvSpPr>
        <p:spPr>
          <a:xfrm>
            <a:off x="548640" y="1600200"/>
            <a:ext cx="8302752" cy="1417320"/>
          </a:xfrm>
          <a:prstGeom prst="roundRect">
            <a:avLst>
              <a:gd name="adj" fmla="val 9032"/>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pic>
        <p:nvPicPr>
          <p:cNvPr id="18" name="Image 0" descr="preencoded.png">    </p:cNvPr>
          <p:cNvPicPr>
            <a:picLocks noChangeAspect="1"/>
          </p:cNvPicPr>
          <p:nvPr/>
        </p:nvPicPr>
        <p:blipFill>
          <a:blip r:embed="rId1"/>
          <a:stretch>
            <a:fillRect/>
          </a:stretch>
        </p:blipFill>
        <p:spPr>
          <a:xfrm>
            <a:off x="822960" y="1874520"/>
            <a:ext cx="310896" cy="310896"/>
          </a:xfrm>
          <a:prstGeom prst="rect">
            <a:avLst/>
          </a:prstGeom>
        </p:spPr>
      </p:pic>
      <p:sp>
        <p:nvSpPr>
          <p:cNvPr id="19" name="Text 16"/>
          <p:cNvSpPr txBox="1"/>
          <p:nvPr/>
        </p:nvSpPr>
        <p:spPr>
          <a:xfrm>
            <a:off x="1280160" y="1755648"/>
            <a:ext cx="3657600" cy="274320"/>
          </a:xfrm>
          <a:prstGeom prst="rect">
            <a:avLst/>
          </a:prstGeom>
          <a:noFill/>
          <a:ln/>
        </p:spPr>
        <p:txBody>
          <a:bodyPr wrap="square" lIns="0" tIns="0" rIns="0" bIns="0" rtlCol="0" anchor="t"/>
          <a:lstStyle/>
          <a:p>
            <a:pPr indent="0" marL="0">
              <a:buNone/>
            </a:pPr>
            <a:r>
              <a:rPr lang="en-US" sz="1300" b="1" dirty="0">
                <a:solidFill>
                  <a:srgbClr val="6E5E94"/>
                </a:solidFill>
                <a:latin typeface="Calibri" pitchFamily="34" charset="0"/>
                <a:ea typeface="Calibri" pitchFamily="34" charset="-122"/>
                <a:cs typeface="Calibri" pitchFamily="34" charset="-120"/>
              </a:rPr>
              <a:t>Day 16</a:t>
            </a:r>
            <a:endParaRPr lang="en-US" sz="1300" dirty="0"/>
          </a:p>
        </p:txBody>
      </p:sp>
      <p:sp>
        <p:nvSpPr>
          <p:cNvPr id="20" name="Text 17"/>
          <p:cNvSpPr txBox="1"/>
          <p:nvPr/>
        </p:nvSpPr>
        <p:spPr>
          <a:xfrm>
            <a:off x="1280160" y="2029968"/>
            <a:ext cx="7388352" cy="914400"/>
          </a:xfrm>
          <a:prstGeom prst="rect">
            <a:avLst/>
          </a:prstGeom>
          <a:noFill/>
          <a:ln/>
        </p:spPr>
        <p:txBody>
          <a:bodyPr wrap="square" lIns="0" tIns="0" rIns="0" bIns="0" rtlCol="0" anchor="t"/>
          <a:lstStyle/>
          <a:p>
            <a:pPr indent="0" marL="0">
              <a:buNone/>
            </a:pPr>
            <a:r>
              <a:rPr lang="en-US" sz="1300" dirty="0">
                <a:solidFill>
                  <a:srgbClr val="1E2E3A"/>
                </a:solidFill>
                <a:latin typeface="Calibri" pitchFamily="34" charset="0"/>
                <a:ea typeface="Calibri" pitchFamily="34" charset="-122"/>
                <a:cs typeface="Calibri" pitchFamily="34" charset="-120"/>
              </a:rPr>
              <a:t>All providers report normal service. Most backlogs are cleared.</a:t>
            </a:r>
            <a:endParaRPr lang="en-US" sz="1300" dirty="0"/>
          </a:p>
        </p:txBody>
      </p:sp>
      <p:sp>
        <p:nvSpPr>
          <p:cNvPr id="21" name="Shape 18"/>
          <p:cNvSpPr/>
          <p:nvPr/>
        </p:nvSpPr>
        <p:spPr>
          <a:xfrm>
            <a:off x="548640" y="3200400"/>
            <a:ext cx="8302752" cy="2971800"/>
          </a:xfrm>
          <a:prstGeom prst="roundRect">
            <a:avLst>
              <a:gd name="adj" fmla="val 4308"/>
            </a:avLst>
          </a:prstGeom>
          <a:solidFill>
            <a:srgbClr val="F6F3FA"/>
          </a:solidFill>
          <a:ln w="12700">
            <a:solidFill>
              <a:srgbClr val="F6F3FA"/>
            </a:solidFill>
            <a:prstDash val="solid"/>
          </a:ln>
          <a:effectLst>
            <a:outerShdw sx="100000" sy="100000" kx="0" ky="0" algn="bl" rotWithShape="0" blurRad="177800" dist="50800" dir="5400000">
              <a:srgbClr val="1B4965">
                <a:alpha val="16000"/>
              </a:srgbClr>
            </a:outerShdw>
          </a:effectLst>
        </p:spPr>
      </p:sp>
      <p:sp>
        <p:nvSpPr>
          <p:cNvPr id="22" name="Text 19"/>
          <p:cNvSpPr txBox="1"/>
          <p:nvPr/>
        </p:nvSpPr>
        <p:spPr>
          <a:xfrm>
            <a:off x="868680" y="3364992"/>
            <a:ext cx="7708392" cy="777240"/>
          </a:xfrm>
          <a:prstGeom prst="rect">
            <a:avLst/>
          </a:prstGeom>
          <a:noFill/>
          <a:ln/>
        </p:spPr>
        <p:txBody>
          <a:bodyPr wrap="square" lIns="0" tIns="0" rIns="0" bIns="0" rtlCol="0" anchor="t"/>
          <a:lstStyle/>
          <a:p>
            <a:pPr indent="0" marL="0">
              <a:buNone/>
            </a:pPr>
            <a:r>
              <a:rPr lang="en-US" sz="1900" b="1" dirty="0">
                <a:solidFill>
                  <a:srgbClr val="6E5E94"/>
                </a:solidFill>
                <a:latin typeface="Calibri" pitchFamily="34" charset="0"/>
                <a:ea typeface="Calibri" pitchFamily="34" charset="-122"/>
                <a:cs typeface="Calibri" pitchFamily="34" charset="-120"/>
              </a:rPr>
              <a:t>What would have to be true before you declare business recovery?</a:t>
            </a:r>
            <a:endParaRPr lang="en-US" sz="1900" dirty="0"/>
          </a:p>
        </p:txBody>
      </p:sp>
      <p:sp>
        <p:nvSpPr>
          <p:cNvPr id="23" name="Shape 20"/>
          <p:cNvSpPr/>
          <p:nvPr/>
        </p:nvSpPr>
        <p:spPr>
          <a:xfrm>
            <a:off x="868680" y="4343400"/>
            <a:ext cx="7662672" cy="420624"/>
          </a:xfrm>
          <a:prstGeom prst="roundRect">
            <a:avLst>
              <a:gd name="adj" fmla="val 17391"/>
            </a:avLst>
          </a:prstGeom>
          <a:solidFill>
            <a:srgbClr val="FFFFFF"/>
          </a:solidFill>
          <a:ln w="12700">
            <a:solidFill>
              <a:srgbClr val="FFFFFF"/>
            </a:solidFill>
            <a:prstDash val="solid"/>
          </a:ln>
        </p:spPr>
      </p:sp>
      <p:sp>
        <p:nvSpPr>
          <p:cNvPr id="24" name="Text 21"/>
          <p:cNvSpPr txBox="1"/>
          <p:nvPr/>
        </p:nvSpPr>
        <p:spPr>
          <a:xfrm>
            <a:off x="1005840" y="4343400"/>
            <a:ext cx="2743200" cy="384048"/>
          </a:xfrm>
          <a:prstGeom prst="rect">
            <a:avLst/>
          </a:prstGeom>
          <a:noFill/>
          <a:ln/>
        </p:spPr>
        <p:txBody>
          <a:bodyPr wrap="square" lIns="0" tIns="0" rIns="0" bIns="0" rtlCol="0" anchor="ctr"/>
          <a:lstStyle/>
          <a:p>
            <a:pPr indent="0" marL="0">
              <a:buNone/>
            </a:pPr>
            <a:r>
              <a:rPr lang="en-US" sz="1200" dirty="0">
                <a:solidFill>
                  <a:srgbClr val="465A69"/>
                </a:solidFill>
                <a:latin typeface="Calibri" pitchFamily="34" charset="0"/>
                <a:ea typeface="Calibri" pitchFamily="34" charset="-122"/>
                <a:cs typeface="Calibri" pitchFamily="34" charset="-120"/>
              </a:rPr>
              <a:t>Condition 1</a:t>
            </a:r>
            <a:endParaRPr lang="en-US" sz="1200" dirty="0"/>
          </a:p>
        </p:txBody>
      </p:sp>
      <p:sp>
        <p:nvSpPr>
          <p:cNvPr id="25" name="Shape 22"/>
          <p:cNvSpPr/>
          <p:nvPr/>
        </p:nvSpPr>
        <p:spPr>
          <a:xfrm>
            <a:off x="868680" y="4892040"/>
            <a:ext cx="7662672" cy="420624"/>
          </a:xfrm>
          <a:prstGeom prst="roundRect">
            <a:avLst>
              <a:gd name="adj" fmla="val 17391"/>
            </a:avLst>
          </a:prstGeom>
          <a:solidFill>
            <a:srgbClr val="FFFFFF"/>
          </a:solidFill>
          <a:ln w="12700">
            <a:solidFill>
              <a:srgbClr val="FFFFFF"/>
            </a:solidFill>
            <a:prstDash val="solid"/>
          </a:ln>
        </p:spPr>
      </p:sp>
      <p:sp>
        <p:nvSpPr>
          <p:cNvPr id="26" name="Text 23"/>
          <p:cNvSpPr txBox="1"/>
          <p:nvPr/>
        </p:nvSpPr>
        <p:spPr>
          <a:xfrm>
            <a:off x="1005840" y="4892040"/>
            <a:ext cx="2743200" cy="384048"/>
          </a:xfrm>
          <a:prstGeom prst="rect">
            <a:avLst/>
          </a:prstGeom>
          <a:noFill/>
          <a:ln/>
        </p:spPr>
        <p:txBody>
          <a:bodyPr wrap="square" lIns="0" tIns="0" rIns="0" bIns="0" rtlCol="0" anchor="ctr"/>
          <a:lstStyle/>
          <a:p>
            <a:pPr indent="0" marL="0">
              <a:buNone/>
            </a:pPr>
            <a:r>
              <a:rPr lang="en-US" sz="1200" dirty="0">
                <a:solidFill>
                  <a:srgbClr val="465A69"/>
                </a:solidFill>
                <a:latin typeface="Calibri" pitchFamily="34" charset="0"/>
                <a:ea typeface="Calibri" pitchFamily="34" charset="-122"/>
                <a:cs typeface="Calibri" pitchFamily="34" charset="-120"/>
              </a:rPr>
              <a:t>Condition 2</a:t>
            </a:r>
            <a:endParaRPr lang="en-US" sz="1200" dirty="0"/>
          </a:p>
        </p:txBody>
      </p:sp>
      <p:sp>
        <p:nvSpPr>
          <p:cNvPr id="27" name="Shape 24"/>
          <p:cNvSpPr/>
          <p:nvPr/>
        </p:nvSpPr>
        <p:spPr>
          <a:xfrm>
            <a:off x="868680" y="5440680"/>
            <a:ext cx="7662672" cy="420624"/>
          </a:xfrm>
          <a:prstGeom prst="roundRect">
            <a:avLst>
              <a:gd name="adj" fmla="val 17391"/>
            </a:avLst>
          </a:prstGeom>
          <a:solidFill>
            <a:srgbClr val="FFFFFF"/>
          </a:solidFill>
          <a:ln w="12700">
            <a:solidFill>
              <a:srgbClr val="FFFFFF"/>
            </a:solidFill>
            <a:prstDash val="solid"/>
          </a:ln>
        </p:spPr>
      </p:sp>
      <p:sp>
        <p:nvSpPr>
          <p:cNvPr id="28" name="Text 25"/>
          <p:cNvSpPr txBox="1"/>
          <p:nvPr/>
        </p:nvSpPr>
        <p:spPr>
          <a:xfrm>
            <a:off x="1005840" y="5440680"/>
            <a:ext cx="2743200" cy="384048"/>
          </a:xfrm>
          <a:prstGeom prst="rect">
            <a:avLst/>
          </a:prstGeom>
          <a:noFill/>
          <a:ln/>
        </p:spPr>
        <p:txBody>
          <a:bodyPr wrap="square" lIns="0" tIns="0" rIns="0" bIns="0" rtlCol="0" anchor="ctr"/>
          <a:lstStyle/>
          <a:p>
            <a:pPr indent="0" marL="0">
              <a:buNone/>
            </a:pPr>
            <a:r>
              <a:rPr lang="en-US" sz="1200" dirty="0">
                <a:solidFill>
                  <a:srgbClr val="465A69"/>
                </a:solidFill>
                <a:latin typeface="Calibri" pitchFamily="34" charset="0"/>
                <a:ea typeface="Calibri" pitchFamily="34" charset="-122"/>
                <a:cs typeface="Calibri" pitchFamily="34" charset="-120"/>
              </a:rPr>
              <a:t>Condition 3</a:t>
            </a:r>
            <a:endParaRPr lang="en-US" sz="1200" dirty="0"/>
          </a:p>
        </p:txBody>
      </p:sp>
      <p:sp>
        <p:nvSpPr>
          <p:cNvPr id="29" name="Shape 26"/>
          <p:cNvSpPr/>
          <p:nvPr/>
        </p:nvSpPr>
        <p:spPr>
          <a:xfrm>
            <a:off x="9079992" y="1600200"/>
            <a:ext cx="2560320" cy="4572000"/>
          </a:xfrm>
          <a:prstGeom prst="roundRect">
            <a:avLst>
              <a:gd name="adj" fmla="val 5000"/>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30" name="Text 27"/>
          <p:cNvSpPr txBox="1"/>
          <p:nvPr/>
        </p:nvSpPr>
        <p:spPr>
          <a:xfrm>
            <a:off x="9262872" y="1728216"/>
            <a:ext cx="2194560" cy="457200"/>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Provider resolution (simulated)</a:t>
            </a:r>
            <a:endParaRPr lang="en-US" sz="1300" dirty="0"/>
          </a:p>
        </p:txBody>
      </p:sp>
      <p:sp>
        <p:nvSpPr>
          <p:cNvPr id="31" name="Shape 28"/>
          <p:cNvSpPr/>
          <p:nvPr/>
        </p:nvSpPr>
        <p:spPr>
          <a:xfrm>
            <a:off x="9262872" y="2221992"/>
            <a:ext cx="2194560" cy="3767328"/>
          </a:xfrm>
          <a:prstGeom prst="roundRect">
            <a:avLst>
              <a:gd name="adj" fmla="val 3333"/>
            </a:avLst>
          </a:prstGeom>
          <a:solidFill>
            <a:srgbClr val="FFFFFF"/>
          </a:solidFill>
          <a:ln w="9525">
            <a:solidFill>
              <a:srgbClr val="C9D3DE"/>
            </a:solidFill>
            <a:prstDash val="solid"/>
          </a:ln>
        </p:spPr>
      </p:sp>
      <p:pic>
        <p:nvPicPr>
          <p:cNvPr id="32" name="Image 1" descr="preencoded.png">    </p:cNvPr>
          <p:cNvPicPr>
            <a:picLocks noChangeAspect="1"/>
          </p:cNvPicPr>
          <p:nvPr/>
        </p:nvPicPr>
        <p:blipFill>
          <a:blip r:embed="rId2"/>
          <a:stretch>
            <a:fillRect/>
          </a:stretch>
        </p:blipFill>
        <p:spPr>
          <a:xfrm>
            <a:off x="9381744" y="2423160"/>
            <a:ext cx="237744" cy="237744"/>
          </a:xfrm>
          <a:prstGeom prst="rect">
            <a:avLst/>
          </a:prstGeom>
        </p:spPr>
      </p:pic>
      <p:sp>
        <p:nvSpPr>
          <p:cNvPr id="33" name="Text 29"/>
          <p:cNvSpPr txBox="1"/>
          <p:nvPr/>
        </p:nvSpPr>
        <p:spPr>
          <a:xfrm>
            <a:off x="9710928" y="2386584"/>
            <a:ext cx="1591056" cy="292608"/>
          </a:xfrm>
          <a:prstGeom prst="rect">
            <a:avLst/>
          </a:prstGeom>
          <a:noFill/>
          <a:ln/>
        </p:spPr>
        <p:txBody>
          <a:bodyPr wrap="square" lIns="0" tIns="0" rIns="0" bIns="0" rtlCol="0" anchor="ctr"/>
          <a:lstStyle/>
          <a:p>
            <a:pPr indent="0" marL="0">
              <a:buNone/>
            </a:pPr>
            <a:r>
              <a:rPr lang="en-US" sz="1550" b="1" dirty="0">
                <a:solidFill>
                  <a:srgbClr val="1B2A4A"/>
                </a:solidFill>
                <a:latin typeface="Calibri" pitchFamily="34" charset="0"/>
                <a:ea typeface="Calibri" pitchFamily="34" charset="-122"/>
                <a:cs typeface="Calibri" pitchFamily="34" charset="-120"/>
              </a:rPr>
              <a:t>Service Notice</a:t>
            </a:r>
            <a:endParaRPr lang="en-US" sz="1550" dirty="0"/>
          </a:p>
        </p:txBody>
      </p:sp>
      <p:pic>
        <p:nvPicPr>
          <p:cNvPr id="34" name="Image 2" descr="preencoded.png">    </p:cNvPr>
          <p:cNvPicPr>
            <a:picLocks noChangeAspect="1"/>
          </p:cNvPicPr>
          <p:nvPr/>
        </p:nvPicPr>
        <p:blipFill>
          <a:blip r:embed="rId3"/>
          <a:stretch>
            <a:fillRect/>
          </a:stretch>
        </p:blipFill>
        <p:spPr>
          <a:xfrm>
            <a:off x="9381744" y="2798064"/>
            <a:ext cx="219456" cy="219456"/>
          </a:xfrm>
          <a:prstGeom prst="rect">
            <a:avLst/>
          </a:prstGeom>
        </p:spPr>
      </p:pic>
      <p:sp>
        <p:nvSpPr>
          <p:cNvPr id="35" name="Text 30"/>
          <p:cNvSpPr txBox="1"/>
          <p:nvPr/>
        </p:nvSpPr>
        <p:spPr>
          <a:xfrm>
            <a:off x="9674352" y="2770632"/>
            <a:ext cx="1636776" cy="470408"/>
          </a:xfrm>
          <a:prstGeom prst="rect">
            <a:avLst/>
          </a:prstGeom>
          <a:noFill/>
          <a:ln/>
        </p:spPr>
        <p:txBody>
          <a:bodyPr wrap="square" lIns="0" tIns="0" rIns="0" bIns="0" rtlCol="0" anchor="ctr"/>
          <a:lstStyle/>
          <a:p>
            <a:pPr indent="0" marL="0">
              <a:buNone/>
            </a:pPr>
            <a:r>
              <a:rPr lang="en-US" sz="1400" b="1" dirty="0">
                <a:solidFill>
                  <a:srgbClr val="1B2A4A"/>
                </a:solidFill>
                <a:latin typeface="Calibri" pitchFamily="34" charset="0"/>
                <a:ea typeface="Calibri" pitchFamily="34" charset="-122"/>
                <a:cs typeface="Calibri" pitchFamily="34" charset="-120"/>
              </a:rPr>
              <a:t>Services restored</a:t>
            </a:r>
            <a:endParaRPr lang="en-US" sz="1400" dirty="0"/>
          </a:p>
        </p:txBody>
      </p:sp>
      <p:sp>
        <p:nvSpPr>
          <p:cNvPr id="36" name="Text 31"/>
          <p:cNvSpPr txBox="1"/>
          <p:nvPr/>
        </p:nvSpPr>
        <p:spPr>
          <a:xfrm>
            <a:off x="9381744" y="3295904"/>
            <a:ext cx="1956816" cy="904240"/>
          </a:xfrm>
          <a:prstGeom prst="rect">
            <a:avLst/>
          </a:prstGeom>
          <a:noFill/>
          <a:ln/>
        </p:spPr>
        <p:txBody>
          <a:bodyPr wrap="square" lIns="0" tIns="0" rIns="0" bIns="0" rtlCol="0" anchor="t"/>
          <a:lstStyle/>
          <a:p>
            <a:pPr indent="0" marL="0">
              <a:buNone/>
            </a:pPr>
            <a:r>
              <a:rPr lang="en-US" sz="1400" dirty="0">
                <a:solidFill>
                  <a:srgbClr val="1E2E3A"/>
                </a:solidFill>
                <a:latin typeface="Calibri" pitchFamily="34" charset="0"/>
                <a:ea typeface="Calibri" pitchFamily="34" charset="-122"/>
                <a:cs typeface="Calibri" pitchFamily="34" charset="-120"/>
              </a:rPr>
              <a:t>All services have been restored. We will continue to monitor stability.</a:t>
            </a:r>
            <a:endParaRPr lang="en-US" sz="1400" dirty="0"/>
          </a:p>
        </p:txBody>
      </p:sp>
      <p:sp>
        <p:nvSpPr>
          <p:cNvPr id="37" name="Text 32"/>
          <p:cNvSpPr txBox="1"/>
          <p:nvPr/>
        </p:nvSpPr>
        <p:spPr>
          <a:xfrm>
            <a:off x="9381744" y="4282440"/>
            <a:ext cx="1956816" cy="228600"/>
          </a:xfrm>
          <a:prstGeom prst="rect">
            <a:avLst/>
          </a:prstGeom>
          <a:noFill/>
          <a:ln/>
        </p:spPr>
        <p:txBody>
          <a:bodyPr wrap="square" lIns="0" tIns="0" rIns="0" bIns="0" rtlCol="0" anchor="t"/>
          <a:lstStyle/>
          <a:p>
            <a:pPr indent="0" marL="0">
              <a:buNone/>
            </a:pPr>
            <a:r>
              <a:rPr lang="en-US" sz="1200" dirty="0">
                <a:solidFill>
                  <a:srgbClr val="465A69"/>
                </a:solidFill>
                <a:latin typeface="Calibri" pitchFamily="34" charset="0"/>
                <a:ea typeface="Calibri" pitchFamily="34" charset="-122"/>
                <a:cs typeface="Calibri" pitchFamily="34" charset="-120"/>
              </a:rPr>
              <a:t>Day 16</a:t>
            </a:r>
            <a:endParaRPr lang="en-US" sz="1200" dirty="0"/>
          </a:p>
        </p:txBody>
      </p:sp>
      <p:sp>
        <p:nvSpPr>
          <p:cNvPr id="38" name="Text 33"/>
          <p:cNvSpPr txBox="1"/>
          <p:nvPr/>
        </p:nvSpPr>
        <p:spPr>
          <a:xfrm>
            <a:off x="548640" y="6254496"/>
            <a:ext cx="11091672" cy="256032"/>
          </a:xfrm>
          <a:prstGeom prst="rect">
            <a:avLst/>
          </a:prstGeom>
          <a:noFill/>
          <a:ln/>
        </p:spPr>
        <p:txBody>
          <a:bodyPr wrap="square" lIns="0" tIns="0" rIns="0" bIns="0" rtlCol="0" anchor="ctr"/>
          <a:lstStyle/>
          <a:p>
            <a:pPr indent="0" marL="0">
              <a:buNone/>
            </a:pPr>
            <a:r>
              <a:rPr lang="en-US" sz="1200" b="1" dirty="0">
                <a:solidFill>
                  <a:srgbClr val="465A69"/>
                </a:solidFill>
                <a:latin typeface="Calibri" pitchFamily="34" charset="0"/>
                <a:ea typeface="Calibri" pitchFamily="34" charset="-122"/>
                <a:cs typeface="Calibri" pitchFamily="34" charset="-120"/>
              </a:rPr>
              <a:t>Acronyms:  </a:t>
            </a:r>
            <a:pPr indent="0" marL="0">
              <a:buNone/>
            </a:pPr>
            <a:r>
              <a:rPr lang="en-US" sz="1200" dirty="0">
                <a:solidFill>
                  <a:srgbClr val="465A69"/>
                </a:solidFill>
                <a:latin typeface="Calibri" pitchFamily="34" charset="0"/>
                <a:ea typeface="Calibri" pitchFamily="34" charset="-122"/>
                <a:cs typeface="Calibri" pitchFamily="34" charset="-120"/>
              </a:rPr>
              <a:t>T+: time since the first signal</a:t>
            </a:r>
            <a:endParaRPr lang="en-US" sz="1200" dirty="0"/>
          </a:p>
        </p:txBody>
      </p:sp>
      <p:sp>
        <p:nvSpPr>
          <p:cNvPr id="39" name="Shape 34"/>
          <p:cNvSpPr/>
          <p:nvPr/>
        </p:nvSpPr>
        <p:spPr>
          <a:xfrm>
            <a:off x="548640" y="6537960"/>
            <a:ext cx="763524" cy="274320"/>
          </a:xfrm>
          <a:prstGeom prst="roundRect">
            <a:avLst>
              <a:gd name="adj" fmla="val 50000"/>
            </a:avLst>
          </a:prstGeom>
          <a:solidFill>
            <a:srgbClr val="E4ECF2"/>
          </a:solidFill>
          <a:ln w="12700">
            <a:solidFill>
              <a:srgbClr val="E4ECF2"/>
            </a:solidFill>
            <a:prstDash val="solid"/>
          </a:ln>
        </p:spPr>
      </p:sp>
      <p:sp>
        <p:nvSpPr>
          <p:cNvPr id="40" name="Text 35"/>
          <p:cNvSpPr txBox="1"/>
          <p:nvPr/>
        </p:nvSpPr>
        <p:spPr>
          <a:xfrm>
            <a:off x="548640" y="6537960"/>
            <a:ext cx="763524" cy="274320"/>
          </a:xfrm>
          <a:prstGeom prst="rect">
            <a:avLst/>
          </a:prstGeom>
          <a:noFill/>
          <a:ln/>
        </p:spPr>
        <p:txBody>
          <a:bodyPr wrap="square" lIns="0" tIns="0" rIns="0" bIns="0" rtlCol="0" anchor="ctr"/>
          <a:lstStyle/>
          <a:p>
            <a:pPr algn="ctr" indent="0" marL="0">
              <a:buNone/>
            </a:pPr>
            <a:r>
              <a:rPr lang="en-US" sz="1200" b="1" dirty="0">
                <a:solidFill>
                  <a:srgbClr val="23405A"/>
                </a:solidFill>
                <a:latin typeface="Calibri" pitchFamily="34" charset="0"/>
                <a:ea typeface="Calibri" pitchFamily="34" charset="-122"/>
                <a:cs typeface="Calibri" pitchFamily="34" charset="-120"/>
              </a:rPr>
              <a:t>Start</a:t>
            </a:r>
            <a:endParaRPr lang="en-US" sz="1200" dirty="0"/>
          </a:p>
        </p:txBody>
      </p:sp>
      <p:pic>
        <p:nvPicPr>
          <p:cNvPr id="41" name="Image 3" descr="preencoded.png">
            <a:hlinkClick r:id="rId5" tooltip="Go to Start" action="ppaction://hlinksldjump"/>
          </p:cNvPr>
          <p:cNvPicPr>
            <a:picLocks noChangeAspect="1"/>
          </p:cNvPicPr>
          <p:nvPr/>
        </p:nvPicPr>
        <p:blipFill>
          <a:blip r:embed="rId4"/>
          <a:stretch>
            <a:fillRect/>
          </a:stretch>
        </p:blipFill>
        <p:spPr>
          <a:xfrm>
            <a:off x="548640" y="6537960"/>
            <a:ext cx="763524" cy="274320"/>
          </a:xfrm>
          <a:prstGeom prst="rect">
            <a:avLst/>
          </a:prstGeom>
        </p:spPr>
      </p:pic>
      <p:sp>
        <p:nvSpPr>
          <p:cNvPr id="42" name="Shape 36"/>
          <p:cNvSpPr/>
          <p:nvPr/>
        </p:nvSpPr>
        <p:spPr>
          <a:xfrm>
            <a:off x="1385316" y="6537960"/>
            <a:ext cx="1197864" cy="274320"/>
          </a:xfrm>
          <a:prstGeom prst="roundRect">
            <a:avLst>
              <a:gd name="adj" fmla="val 50000"/>
            </a:avLst>
          </a:prstGeom>
          <a:solidFill>
            <a:srgbClr val="F1F6FA"/>
          </a:solidFill>
          <a:ln w="12700">
            <a:solidFill>
              <a:srgbClr val="F1F6FA"/>
            </a:solidFill>
            <a:prstDash val="solid"/>
          </a:ln>
        </p:spPr>
      </p:sp>
      <p:sp>
        <p:nvSpPr>
          <p:cNvPr id="43" name="Text 37"/>
          <p:cNvSpPr txBox="1"/>
          <p:nvPr/>
        </p:nvSpPr>
        <p:spPr>
          <a:xfrm>
            <a:off x="1385316" y="6537960"/>
            <a:ext cx="1197864" cy="274320"/>
          </a:xfrm>
          <a:prstGeom prst="rect">
            <a:avLst/>
          </a:prstGeom>
          <a:noFill/>
          <a:ln/>
        </p:spPr>
        <p:txBody>
          <a:bodyPr wrap="square" lIns="0" tIns="0" rIns="0" bIns="0" rtlCol="0" anchor="ctr"/>
          <a:lstStyle/>
          <a:p>
            <a:pPr algn="ctr" indent="0" marL="0">
              <a:buNone/>
            </a:pPr>
            <a:r>
              <a:rPr lang="en-US" sz="1200" b="1" dirty="0">
                <a:solidFill>
                  <a:srgbClr val="3F6E8C"/>
                </a:solidFill>
                <a:latin typeface="Calibri" pitchFamily="34" charset="0"/>
                <a:ea typeface="Calibri" pitchFamily="34" charset="-122"/>
                <a:cs typeface="Calibri" pitchFamily="34" charset="-120"/>
              </a:rPr>
              <a:t>Scenario 1</a:t>
            </a:r>
            <a:endParaRPr lang="en-US" sz="1200" dirty="0"/>
          </a:p>
        </p:txBody>
      </p:sp>
      <p:pic>
        <p:nvPicPr>
          <p:cNvPr id="44" name="Image 4" descr="preencoded.png">
            <a:hlinkClick r:id="rId7" tooltip="Go to Scenario 1" action="ppaction://hlinksldjump"/>
          </p:cNvPr>
          <p:cNvPicPr>
            <a:picLocks noChangeAspect="1"/>
          </p:cNvPicPr>
          <p:nvPr/>
        </p:nvPicPr>
        <p:blipFill>
          <a:blip r:embed="rId6"/>
          <a:stretch>
            <a:fillRect/>
          </a:stretch>
        </p:blipFill>
        <p:spPr>
          <a:xfrm>
            <a:off x="1385316" y="6537960"/>
            <a:ext cx="1197864" cy="274320"/>
          </a:xfrm>
          <a:prstGeom prst="rect">
            <a:avLst/>
          </a:prstGeom>
        </p:spPr>
      </p:pic>
      <p:sp>
        <p:nvSpPr>
          <p:cNvPr id="45" name="Shape 38"/>
          <p:cNvSpPr/>
          <p:nvPr/>
        </p:nvSpPr>
        <p:spPr>
          <a:xfrm>
            <a:off x="2656332" y="6537960"/>
            <a:ext cx="1197864" cy="274320"/>
          </a:xfrm>
          <a:prstGeom prst="roundRect">
            <a:avLst>
              <a:gd name="adj" fmla="val 50000"/>
            </a:avLst>
          </a:prstGeom>
          <a:solidFill>
            <a:srgbClr val="F1F8F3"/>
          </a:solidFill>
          <a:ln w="12700">
            <a:solidFill>
              <a:srgbClr val="F1F8F3"/>
            </a:solidFill>
            <a:prstDash val="solid"/>
          </a:ln>
        </p:spPr>
      </p:sp>
      <p:sp>
        <p:nvSpPr>
          <p:cNvPr id="46" name="Text 39"/>
          <p:cNvSpPr txBox="1"/>
          <p:nvPr/>
        </p:nvSpPr>
        <p:spPr>
          <a:xfrm>
            <a:off x="2656332" y="6537960"/>
            <a:ext cx="1197864" cy="274320"/>
          </a:xfrm>
          <a:prstGeom prst="rect">
            <a:avLst/>
          </a:prstGeom>
          <a:noFill/>
          <a:ln/>
        </p:spPr>
        <p:txBody>
          <a:bodyPr wrap="square" lIns="0" tIns="0" rIns="0" bIns="0" rtlCol="0" anchor="ctr"/>
          <a:lstStyle/>
          <a:p>
            <a:pPr algn="ctr" indent="0" marL="0">
              <a:buNone/>
            </a:pPr>
            <a:r>
              <a:rPr lang="en-US" sz="1200" b="1" dirty="0">
                <a:solidFill>
                  <a:srgbClr val="4C8068"/>
                </a:solidFill>
                <a:latin typeface="Calibri" pitchFamily="34" charset="0"/>
                <a:ea typeface="Calibri" pitchFamily="34" charset="-122"/>
                <a:cs typeface="Calibri" pitchFamily="34" charset="-120"/>
              </a:rPr>
              <a:t>Scenario 2</a:t>
            </a:r>
            <a:endParaRPr lang="en-US" sz="1200" dirty="0"/>
          </a:p>
        </p:txBody>
      </p:sp>
      <p:pic>
        <p:nvPicPr>
          <p:cNvPr id="47" name="Image 5" descr="preencoded.png">
            <a:hlinkClick r:id="rId9" tooltip="Go to Scenario 2" action="ppaction://hlinksldjump"/>
          </p:cNvPr>
          <p:cNvPicPr>
            <a:picLocks noChangeAspect="1"/>
          </p:cNvPicPr>
          <p:nvPr/>
        </p:nvPicPr>
        <p:blipFill>
          <a:blip r:embed="rId8"/>
          <a:stretch>
            <a:fillRect/>
          </a:stretch>
        </p:blipFill>
        <p:spPr>
          <a:xfrm>
            <a:off x="2656332" y="6537960"/>
            <a:ext cx="1197864" cy="274320"/>
          </a:xfrm>
          <a:prstGeom prst="rect">
            <a:avLst/>
          </a:prstGeom>
        </p:spPr>
      </p:pic>
      <p:sp>
        <p:nvSpPr>
          <p:cNvPr id="48" name="Shape 40"/>
          <p:cNvSpPr/>
          <p:nvPr/>
        </p:nvSpPr>
        <p:spPr>
          <a:xfrm>
            <a:off x="3927348" y="6537960"/>
            <a:ext cx="1197864" cy="274320"/>
          </a:xfrm>
          <a:prstGeom prst="roundRect">
            <a:avLst>
              <a:gd name="adj" fmla="val 50000"/>
            </a:avLst>
          </a:prstGeom>
          <a:solidFill>
            <a:srgbClr val="6E5E94"/>
          </a:solidFill>
          <a:ln w="12700">
            <a:solidFill>
              <a:srgbClr val="6E5E94"/>
            </a:solidFill>
            <a:prstDash val="solid"/>
          </a:ln>
        </p:spPr>
      </p:sp>
      <p:sp>
        <p:nvSpPr>
          <p:cNvPr id="49" name="Text 41"/>
          <p:cNvSpPr txBox="1"/>
          <p:nvPr/>
        </p:nvSpPr>
        <p:spPr>
          <a:xfrm>
            <a:off x="3927348" y="6537960"/>
            <a:ext cx="1197864"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Scenario 3</a:t>
            </a:r>
            <a:endParaRPr lang="en-US" sz="1200" dirty="0"/>
          </a:p>
        </p:txBody>
      </p:sp>
      <p:pic>
        <p:nvPicPr>
          <p:cNvPr id="50" name="Image 6" descr="preencoded.png">
            <a:hlinkClick r:id="rId11" tooltip="Go to Scenario 3" action="ppaction://hlinksldjump"/>
          </p:cNvPr>
          <p:cNvPicPr>
            <a:picLocks noChangeAspect="1"/>
          </p:cNvPicPr>
          <p:nvPr/>
        </p:nvPicPr>
        <p:blipFill>
          <a:blip r:embed="rId10"/>
          <a:stretch>
            <a:fillRect/>
          </a:stretch>
        </p:blipFill>
        <p:spPr>
          <a:xfrm>
            <a:off x="3927348" y="6537960"/>
            <a:ext cx="1197864" cy="274320"/>
          </a:xfrm>
          <a:prstGeom prst="rect">
            <a:avLst/>
          </a:prstGeom>
        </p:spPr>
      </p:pic>
      <p:sp>
        <p:nvSpPr>
          <p:cNvPr id="51" name="Shape 42"/>
          <p:cNvSpPr/>
          <p:nvPr/>
        </p:nvSpPr>
        <p:spPr>
          <a:xfrm>
            <a:off x="5198364" y="6537960"/>
            <a:ext cx="937260" cy="274320"/>
          </a:xfrm>
          <a:prstGeom prst="roundRect">
            <a:avLst>
              <a:gd name="adj" fmla="val 50000"/>
            </a:avLst>
          </a:prstGeom>
          <a:solidFill>
            <a:srgbClr val="E4ECF2"/>
          </a:solidFill>
          <a:ln w="12700">
            <a:solidFill>
              <a:srgbClr val="E4ECF2"/>
            </a:solidFill>
            <a:prstDash val="solid"/>
          </a:ln>
        </p:spPr>
      </p:sp>
      <p:sp>
        <p:nvSpPr>
          <p:cNvPr id="52" name="Text 43"/>
          <p:cNvSpPr txBox="1"/>
          <p:nvPr/>
        </p:nvSpPr>
        <p:spPr>
          <a:xfrm>
            <a:off x="5198364" y="6537960"/>
            <a:ext cx="937260" cy="274320"/>
          </a:xfrm>
          <a:prstGeom prst="rect">
            <a:avLst/>
          </a:prstGeom>
          <a:noFill/>
          <a:ln/>
        </p:spPr>
        <p:txBody>
          <a:bodyPr wrap="square" lIns="0" tIns="0" rIns="0" bIns="0" rtlCol="0" anchor="ctr"/>
          <a:lstStyle/>
          <a:p>
            <a:pPr algn="ctr" indent="0" marL="0">
              <a:buNone/>
            </a:pPr>
            <a:r>
              <a:rPr lang="en-US" sz="1200" b="1" dirty="0">
                <a:solidFill>
                  <a:srgbClr val="23405A"/>
                </a:solidFill>
                <a:latin typeface="Calibri" pitchFamily="34" charset="0"/>
                <a:ea typeface="Calibri" pitchFamily="34" charset="-122"/>
                <a:cs typeface="Calibri" pitchFamily="34" charset="-120"/>
              </a:rPr>
              <a:t>Closing</a:t>
            </a:r>
            <a:endParaRPr lang="en-US" sz="1200" dirty="0"/>
          </a:p>
        </p:txBody>
      </p:sp>
      <p:pic>
        <p:nvPicPr>
          <p:cNvPr id="53" name="Image 7" descr="preencoded.png">
            <a:hlinkClick r:id="rId13" tooltip="Go to Closing" action="ppaction://hlinksldjump"/>
          </p:cNvPr>
          <p:cNvPicPr>
            <a:picLocks noChangeAspect="1"/>
          </p:cNvPicPr>
          <p:nvPr/>
        </p:nvPicPr>
        <p:blipFill>
          <a:blip r:embed="rId12"/>
          <a:stretch>
            <a:fillRect/>
          </a:stretch>
        </p:blipFill>
        <p:spPr>
          <a:xfrm>
            <a:off x="5198364" y="6537960"/>
            <a:ext cx="937260" cy="274320"/>
          </a:xfrm>
          <a:prstGeom prst="rect">
            <a:avLst/>
          </a:prstGeom>
        </p:spPr>
      </p:pic>
      <p:sp>
        <p:nvSpPr>
          <p:cNvPr id="54" name="Text 44"/>
          <p:cNvSpPr txBox="1"/>
          <p:nvPr/>
        </p:nvSpPr>
        <p:spPr>
          <a:xfrm>
            <a:off x="11277295" y="6537960"/>
            <a:ext cx="365760" cy="274320"/>
          </a:xfrm>
          <a:prstGeom prst="rect">
            <a:avLst/>
          </a:prstGeom>
          <a:noFill/>
          <a:ln/>
        </p:spPr>
        <p:txBody>
          <a:bodyPr wrap="square" lIns="0" tIns="0" rIns="0" bIns="0" rtlCol="0" anchor="ctr"/>
          <a:lstStyle/>
          <a:p>
            <a:pPr algn="r" indent="0" marL="0">
              <a:buNone/>
            </a:pPr>
            <a:r>
              <a:rPr lang="en-US" sz="1200" dirty="0">
                <a:solidFill>
                  <a:srgbClr val="465A69"/>
                </a:solidFill>
                <a:latin typeface="Calibri" pitchFamily="34" charset="0"/>
                <a:ea typeface="Calibri" pitchFamily="34" charset="-122"/>
                <a:cs typeface="Calibri" pitchFamily="34" charset="-120"/>
              </a:rPr>
              <a:t>50</a:t>
            </a:r>
            <a:endParaRPr lang="en-US" sz="12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EEEAF5"/>
        </a:solidFill>
      </p:bgPr>
    </p:bg>
    <p:spTree>
      <p:nvGrpSpPr>
        <p:cNvPr id="1" name=""/>
        <p:cNvGrpSpPr/>
        <p:nvPr/>
      </p:nvGrpSpPr>
      <p:grpSpPr>
        <a:xfrm>
          <a:off x="0" y="0"/>
          <a:ext cx="0" cy="0"/>
          <a:chOff x="0" y="0"/>
          <a:chExt cx="0" cy="0"/>
        </a:xfrm>
      </p:grpSpPr>
      <p:sp>
        <p:nvSpPr>
          <p:cNvPr id="2" name="Shape 0"/>
          <p:cNvSpPr/>
          <p:nvPr/>
        </p:nvSpPr>
        <p:spPr>
          <a:xfrm>
            <a:off x="548640" y="347472"/>
            <a:ext cx="2843784" cy="329184"/>
          </a:xfrm>
          <a:prstGeom prst="roundRect">
            <a:avLst>
              <a:gd name="adj" fmla="val 50000"/>
            </a:avLst>
          </a:prstGeom>
          <a:solidFill>
            <a:srgbClr val="F6F3FA"/>
          </a:solidFill>
          <a:ln w="12700">
            <a:solidFill>
              <a:srgbClr val="F6F3FA"/>
            </a:solidFill>
            <a:prstDash val="solid"/>
          </a:ln>
        </p:spPr>
      </p:sp>
      <p:sp>
        <p:nvSpPr>
          <p:cNvPr id="3" name="Text 1"/>
          <p:cNvSpPr txBox="1"/>
          <p:nvPr/>
        </p:nvSpPr>
        <p:spPr>
          <a:xfrm>
            <a:off x="548640" y="347472"/>
            <a:ext cx="2843784" cy="329184"/>
          </a:xfrm>
          <a:prstGeom prst="rect">
            <a:avLst/>
          </a:prstGeom>
          <a:noFill/>
          <a:ln/>
        </p:spPr>
        <p:txBody>
          <a:bodyPr wrap="square" lIns="0" tIns="0" rIns="0" bIns="0" rtlCol="0" anchor="ctr"/>
          <a:lstStyle/>
          <a:p>
            <a:pPr algn="ctr" indent="0" marL="0">
              <a:buNone/>
            </a:pPr>
            <a:r>
              <a:rPr lang="en-US" sz="1200" b="1" dirty="0">
                <a:solidFill>
                  <a:srgbClr val="6E5E94"/>
                </a:solidFill>
                <a:latin typeface="Calibri" pitchFamily="34" charset="0"/>
                <a:ea typeface="Calibri" pitchFamily="34" charset="-122"/>
                <a:cs typeface="Calibri" pitchFamily="34" charset="-120"/>
              </a:rPr>
              <a:t>Scenario 3 recap, part 1 of 4</a:t>
            </a:r>
            <a:endParaRPr lang="en-US" sz="1200" dirty="0"/>
          </a:p>
        </p:txBody>
      </p:sp>
      <p:sp>
        <p:nvSpPr>
          <p:cNvPr id="4" name="Text 2"/>
          <p:cNvSpPr txBox="1"/>
          <p:nvPr/>
        </p:nvSpPr>
        <p:spPr>
          <a:xfrm>
            <a:off x="548640" y="749808"/>
            <a:ext cx="11064240" cy="548640"/>
          </a:xfrm>
          <a:prstGeom prst="rect">
            <a:avLst/>
          </a:prstGeom>
          <a:noFill/>
          <a:ln/>
        </p:spPr>
        <p:txBody>
          <a:bodyPr wrap="square" lIns="0" tIns="0" rIns="0" bIns="0" rtlCol="0" anchor="ctr"/>
          <a:lstStyle/>
          <a:p>
            <a:pPr indent="0" marL="0">
              <a:buNone/>
            </a:pPr>
            <a:r>
              <a:rPr lang="en-US" sz="2400" b="1" dirty="0">
                <a:solidFill>
                  <a:srgbClr val="1B2A4A"/>
                </a:solidFill>
                <a:latin typeface="Cambria" pitchFamily="34" charset="0"/>
                <a:ea typeface="Cambria" pitchFamily="34" charset="-122"/>
                <a:cs typeface="Cambria" pitchFamily="34" charset="-120"/>
              </a:rPr>
              <a:t>Exercise: Extended SaaS Ecosystem Failure</a:t>
            </a:r>
            <a:endParaRPr lang="en-US" sz="2400" dirty="0"/>
          </a:p>
        </p:txBody>
      </p:sp>
      <p:sp>
        <p:nvSpPr>
          <p:cNvPr id="5" name="Text 3"/>
          <p:cNvSpPr txBox="1"/>
          <p:nvPr/>
        </p:nvSpPr>
        <p:spPr>
          <a:xfrm>
            <a:off x="548640" y="4259834"/>
            <a:ext cx="2743200" cy="274320"/>
          </a:xfrm>
          <a:prstGeom prst="rect">
            <a:avLst/>
          </a:prstGeom>
          <a:noFill/>
          <a:ln/>
        </p:spPr>
        <p:txBody>
          <a:bodyPr wrap="square" lIns="0" tIns="0" rIns="0" bIns="0" rtlCol="0" anchor="t"/>
          <a:lstStyle/>
          <a:p>
            <a:pPr indent="0" marL="0">
              <a:buNone/>
            </a:pPr>
            <a:r>
              <a:rPr lang="en-US" sz="1300" b="1" dirty="0">
                <a:solidFill>
                  <a:srgbClr val="465A69"/>
                </a:solidFill>
                <a:latin typeface="Calibri" pitchFamily="34" charset="0"/>
                <a:ea typeface="Calibri" pitchFamily="34" charset="-122"/>
                <a:cs typeface="Calibri" pitchFamily="34" charset="-120"/>
              </a:rPr>
              <a:t>Plan focus</a:t>
            </a:r>
            <a:endParaRPr lang="en-US" sz="1300" dirty="0"/>
          </a:p>
        </p:txBody>
      </p:sp>
      <p:sp>
        <p:nvSpPr>
          <p:cNvPr id="6" name="Shape 4"/>
          <p:cNvSpPr/>
          <p:nvPr/>
        </p:nvSpPr>
        <p:spPr>
          <a:xfrm>
            <a:off x="548640" y="1325880"/>
            <a:ext cx="1258443" cy="2933954"/>
          </a:xfrm>
          <a:prstGeom prst="roundRect">
            <a:avLst>
              <a:gd name="adj" fmla="val 10173"/>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7" name="Shape 5"/>
          <p:cNvSpPr/>
          <p:nvPr/>
        </p:nvSpPr>
        <p:spPr>
          <a:xfrm>
            <a:off x="949262" y="1463040"/>
            <a:ext cx="457200" cy="457200"/>
          </a:xfrm>
          <a:prstGeom prst="ellipse">
            <a:avLst/>
          </a:prstGeom>
          <a:solidFill>
            <a:srgbClr val="6F93B3"/>
          </a:solidFill>
          <a:ln w="12700">
            <a:solidFill>
              <a:srgbClr val="6F93B3"/>
            </a:solidFill>
            <a:prstDash val="solid"/>
          </a:ln>
        </p:spPr>
      </p:sp>
      <p:pic>
        <p:nvPicPr>
          <p:cNvPr id="8" name="Image 0" descr="preencoded.png">    </p:cNvPr>
          <p:cNvPicPr>
            <a:picLocks noChangeAspect="1"/>
          </p:cNvPicPr>
          <p:nvPr/>
        </p:nvPicPr>
        <p:blipFill>
          <a:blip r:embed="rId1"/>
          <a:stretch>
            <a:fillRect/>
          </a:stretch>
        </p:blipFill>
        <p:spPr>
          <a:xfrm>
            <a:off x="1068134" y="1581912"/>
            <a:ext cx="219456" cy="219456"/>
          </a:xfrm>
          <a:prstGeom prst="rect">
            <a:avLst/>
          </a:prstGeom>
        </p:spPr>
      </p:pic>
      <p:sp>
        <p:nvSpPr>
          <p:cNvPr id="9" name="Text 6"/>
          <p:cNvSpPr txBox="1"/>
          <p:nvPr/>
        </p:nvSpPr>
        <p:spPr>
          <a:xfrm>
            <a:off x="594360" y="1929384"/>
            <a:ext cx="1167003" cy="723646"/>
          </a:xfrm>
          <a:prstGeom prst="rect">
            <a:avLst/>
          </a:prstGeom>
          <a:noFill/>
          <a:ln/>
        </p:spPr>
        <p:txBody>
          <a:bodyPr wrap="square" lIns="0" tIns="0" rIns="0" bIns="0" rtlCol="0" anchor="t"/>
          <a:lstStyle/>
          <a:p>
            <a:pPr algn="ctr" indent="0" marL="0">
              <a:buNone/>
            </a:pPr>
            <a:r>
              <a:rPr lang="en-US" sz="1500" b="1" dirty="0">
                <a:solidFill>
                  <a:srgbClr val="1B2A4A"/>
                </a:solidFill>
                <a:latin typeface="Calibri" pitchFamily="34" charset="0"/>
                <a:ea typeface="Calibri" pitchFamily="34" charset="-122"/>
                <a:cs typeface="Calibri" pitchFamily="34" charset="-120"/>
              </a:rPr>
              <a:t>Day 1</a:t>
            </a:r>
            <a:endParaRPr lang="en-US" sz="1500" dirty="0"/>
          </a:p>
          <a:p>
            <a:pPr algn="ctr" indent="0" marL="0">
              <a:buNone/>
            </a:pPr>
            <a:r>
              <a:rPr lang="en-US" sz="1300" b="1" dirty="0">
                <a:solidFill>
                  <a:srgbClr val="1B2A4A"/>
                </a:solidFill>
                <a:latin typeface="Calibri" pitchFamily="34" charset="0"/>
                <a:ea typeface="Calibri" pitchFamily="34" charset="-122"/>
                <a:cs typeface="Calibri" pitchFamily="34" charset="-120"/>
              </a:rPr>
              <a:t>CRO Exchange Blocked</a:t>
            </a:r>
            <a:endParaRPr lang="en-US" sz="1500" dirty="0"/>
          </a:p>
        </p:txBody>
      </p:sp>
      <p:sp>
        <p:nvSpPr>
          <p:cNvPr id="10" name="Text 7"/>
          <p:cNvSpPr txBox="1"/>
          <p:nvPr/>
        </p:nvSpPr>
        <p:spPr>
          <a:xfrm>
            <a:off x="612648" y="2671318"/>
            <a:ext cx="1130427" cy="1542796"/>
          </a:xfrm>
          <a:prstGeom prst="rect">
            <a:avLst/>
          </a:prstGeom>
          <a:noFill/>
          <a:ln/>
        </p:spPr>
        <p:txBody>
          <a:bodyPr wrap="square" lIns="0" tIns="0" rIns="0" bIns="0" rtlCol="0" anchor="t"/>
          <a:lstStyle/>
          <a:p>
            <a:pPr algn="ctr" indent="0" marL="0">
              <a:buNone/>
            </a:pPr>
            <a:r>
              <a:rPr lang="en-US" sz="1300" dirty="0">
                <a:solidFill>
                  <a:srgbClr val="1E2E3A"/>
                </a:solidFill>
                <a:latin typeface="Calibri" pitchFamily="34" charset="0"/>
                <a:ea typeface="Calibri" pitchFamily="34" charset="-122"/>
                <a:cs typeface="Calibri" pitchFamily="34" charset="-120"/>
              </a:rPr>
              <a:t>The CRO cannot exchange study documents with the company.</a:t>
            </a:r>
            <a:endParaRPr lang="en-US" sz="1300" dirty="0"/>
          </a:p>
        </p:txBody>
      </p:sp>
      <p:sp>
        <p:nvSpPr>
          <p:cNvPr id="11" name="Shape 8"/>
          <p:cNvSpPr/>
          <p:nvPr/>
        </p:nvSpPr>
        <p:spPr>
          <a:xfrm>
            <a:off x="1839087" y="2240280"/>
            <a:ext cx="82296" cy="182880"/>
          </a:xfrm>
          <a:prstGeom prst="chevron">
            <a:avLst/>
          </a:prstGeom>
          <a:solidFill>
            <a:srgbClr val="A9BDD0"/>
          </a:solidFill>
          <a:ln w="12700">
            <a:solidFill>
              <a:srgbClr val="A9BDD0"/>
            </a:solidFill>
            <a:prstDash val="solid"/>
          </a:ln>
        </p:spPr>
      </p:sp>
      <p:sp>
        <p:nvSpPr>
          <p:cNvPr id="12" name="Shape 9"/>
          <p:cNvSpPr/>
          <p:nvPr/>
        </p:nvSpPr>
        <p:spPr>
          <a:xfrm>
            <a:off x="548640" y="4543298"/>
            <a:ext cx="1258443" cy="1464310"/>
          </a:xfrm>
          <a:prstGeom prst="roundRect">
            <a:avLst>
              <a:gd name="adj" fmla="val 10173"/>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13" name="Shape 10"/>
          <p:cNvSpPr/>
          <p:nvPr/>
        </p:nvSpPr>
        <p:spPr>
          <a:xfrm>
            <a:off x="1031558" y="4616450"/>
            <a:ext cx="292608" cy="292608"/>
          </a:xfrm>
          <a:prstGeom prst="ellipse">
            <a:avLst/>
          </a:prstGeom>
          <a:solidFill>
            <a:srgbClr val="6F93B3"/>
          </a:solidFill>
          <a:ln w="12700">
            <a:solidFill>
              <a:srgbClr val="6F93B3"/>
            </a:solidFill>
            <a:prstDash val="solid"/>
          </a:ln>
        </p:spPr>
      </p:sp>
      <p:pic>
        <p:nvPicPr>
          <p:cNvPr id="14" name="Image 1" descr="preencoded.png">    </p:cNvPr>
          <p:cNvPicPr>
            <a:picLocks noChangeAspect="1"/>
          </p:cNvPicPr>
          <p:nvPr/>
        </p:nvPicPr>
        <p:blipFill>
          <a:blip r:embed="rId2"/>
          <a:stretch>
            <a:fillRect/>
          </a:stretch>
        </p:blipFill>
        <p:spPr>
          <a:xfrm>
            <a:off x="1104710" y="4689602"/>
            <a:ext cx="146304" cy="146304"/>
          </a:xfrm>
          <a:prstGeom prst="rect">
            <a:avLst/>
          </a:prstGeom>
        </p:spPr>
      </p:pic>
      <p:sp>
        <p:nvSpPr>
          <p:cNvPr id="15" name="Text 11"/>
          <p:cNvSpPr txBox="1"/>
          <p:nvPr/>
        </p:nvSpPr>
        <p:spPr>
          <a:xfrm>
            <a:off x="594360" y="4945634"/>
            <a:ext cx="1167003" cy="1043686"/>
          </a:xfrm>
          <a:prstGeom prst="rect">
            <a:avLst/>
          </a:prstGeom>
          <a:noFill/>
          <a:ln/>
        </p:spPr>
        <p:txBody>
          <a:bodyPr wrap="square" lIns="0" tIns="0" rIns="0" bIns="0" rtlCol="0" anchor="t"/>
          <a:lstStyle/>
          <a:p>
            <a:pPr algn="ctr" indent="0" marL="0">
              <a:buNone/>
            </a:pPr>
            <a:r>
              <a:rPr lang="en-US" sz="1300" b="1" dirty="0">
                <a:solidFill>
                  <a:srgbClr val="1B2A4A"/>
                </a:solidFill>
                <a:latin typeface="Calibri" pitchFamily="34" charset="0"/>
                <a:ea typeface="Calibri" pitchFamily="34" charset="-122"/>
                <a:cs typeface="Calibri" pitchFamily="34" charset="-120"/>
              </a:rPr>
              <a:t>BC</a:t>
            </a:r>
            <a:endParaRPr lang="en-US" sz="1300" dirty="0"/>
          </a:p>
          <a:p>
            <a:pPr algn="ctr" indent="0" marL="0">
              <a:buNone/>
            </a:pPr>
            <a:r>
              <a:rPr lang="en-US" sz="1300" dirty="0">
                <a:solidFill>
                  <a:srgbClr val="1E2E3A"/>
                </a:solidFill>
                <a:latin typeface="Calibri" pitchFamily="34" charset="0"/>
                <a:ea typeface="Calibri" pitchFamily="34" charset="-122"/>
                <a:cs typeface="Calibri" pitchFamily="34" charset="-120"/>
              </a:rPr>
              <a:t>Detect &amp; Assess</a:t>
            </a:r>
            <a:endParaRPr lang="en-US" sz="1300" dirty="0"/>
          </a:p>
        </p:txBody>
      </p:sp>
      <p:sp>
        <p:nvSpPr>
          <p:cNvPr id="16" name="Shape 12"/>
          <p:cNvSpPr/>
          <p:nvPr/>
        </p:nvSpPr>
        <p:spPr>
          <a:xfrm>
            <a:off x="1953387" y="1325880"/>
            <a:ext cx="1258443" cy="2933954"/>
          </a:xfrm>
          <a:prstGeom prst="roundRect">
            <a:avLst>
              <a:gd name="adj" fmla="val 10173"/>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17" name="Shape 13"/>
          <p:cNvSpPr/>
          <p:nvPr/>
        </p:nvSpPr>
        <p:spPr>
          <a:xfrm>
            <a:off x="2354009" y="1463040"/>
            <a:ext cx="457200" cy="457200"/>
          </a:xfrm>
          <a:prstGeom prst="ellipse">
            <a:avLst/>
          </a:prstGeom>
          <a:solidFill>
            <a:srgbClr val="6FA394"/>
          </a:solidFill>
          <a:ln w="12700">
            <a:solidFill>
              <a:srgbClr val="6FA394"/>
            </a:solidFill>
            <a:prstDash val="solid"/>
          </a:ln>
        </p:spPr>
      </p:sp>
      <p:pic>
        <p:nvPicPr>
          <p:cNvPr id="18" name="Image 2" descr="preencoded.png">    </p:cNvPr>
          <p:cNvPicPr>
            <a:picLocks noChangeAspect="1"/>
          </p:cNvPicPr>
          <p:nvPr/>
        </p:nvPicPr>
        <p:blipFill>
          <a:blip r:embed="rId3"/>
          <a:stretch>
            <a:fillRect/>
          </a:stretch>
        </p:blipFill>
        <p:spPr>
          <a:xfrm>
            <a:off x="2472881" y="1581912"/>
            <a:ext cx="219456" cy="219456"/>
          </a:xfrm>
          <a:prstGeom prst="rect">
            <a:avLst/>
          </a:prstGeom>
        </p:spPr>
      </p:pic>
      <p:sp>
        <p:nvSpPr>
          <p:cNvPr id="19" name="Text 14"/>
          <p:cNvSpPr txBox="1"/>
          <p:nvPr/>
        </p:nvSpPr>
        <p:spPr>
          <a:xfrm>
            <a:off x="1999107" y="1929384"/>
            <a:ext cx="1167003" cy="723646"/>
          </a:xfrm>
          <a:prstGeom prst="rect">
            <a:avLst/>
          </a:prstGeom>
          <a:noFill/>
          <a:ln/>
        </p:spPr>
        <p:txBody>
          <a:bodyPr wrap="square" lIns="0" tIns="0" rIns="0" bIns="0" rtlCol="0" anchor="t"/>
          <a:lstStyle/>
          <a:p>
            <a:pPr algn="ctr" indent="0" marL="0">
              <a:buNone/>
            </a:pPr>
            <a:r>
              <a:rPr lang="en-US" sz="1500" b="1" dirty="0">
                <a:solidFill>
                  <a:srgbClr val="1B2A4A"/>
                </a:solidFill>
                <a:latin typeface="Calibri" pitchFamily="34" charset="0"/>
                <a:ea typeface="Calibri" pitchFamily="34" charset="-122"/>
                <a:cs typeface="Calibri" pitchFamily="34" charset="-120"/>
              </a:rPr>
              <a:t>Day 2</a:t>
            </a:r>
            <a:endParaRPr lang="en-US" sz="1500" dirty="0"/>
          </a:p>
          <a:p>
            <a:pPr algn="ctr" indent="0" marL="0">
              <a:buNone/>
            </a:pPr>
            <a:r>
              <a:rPr lang="en-US" sz="1300" b="1" dirty="0">
                <a:solidFill>
                  <a:srgbClr val="1B2A4A"/>
                </a:solidFill>
                <a:latin typeface="Calibri" pitchFamily="34" charset="0"/>
                <a:ea typeface="Calibri" pitchFamily="34" charset="-122"/>
                <a:cs typeface="Calibri" pitchFamily="34" charset="-120"/>
              </a:rPr>
              <a:t>Submission Artifacts</a:t>
            </a:r>
            <a:endParaRPr lang="en-US" sz="1500" dirty="0"/>
          </a:p>
        </p:txBody>
      </p:sp>
      <p:sp>
        <p:nvSpPr>
          <p:cNvPr id="20" name="Text 15"/>
          <p:cNvSpPr txBox="1"/>
          <p:nvPr/>
        </p:nvSpPr>
        <p:spPr>
          <a:xfrm>
            <a:off x="2017395" y="2671318"/>
            <a:ext cx="1130427" cy="1542796"/>
          </a:xfrm>
          <a:prstGeom prst="rect">
            <a:avLst/>
          </a:prstGeom>
          <a:noFill/>
          <a:ln/>
        </p:spPr>
        <p:txBody>
          <a:bodyPr wrap="square" lIns="0" tIns="0" rIns="0" bIns="0" rtlCol="0" anchor="t"/>
          <a:lstStyle/>
          <a:p>
            <a:pPr algn="ctr" indent="0" marL="0">
              <a:buNone/>
            </a:pPr>
            <a:r>
              <a:rPr lang="en-US" sz="1300" dirty="0">
                <a:solidFill>
                  <a:srgbClr val="1E2E3A"/>
                </a:solidFill>
                <a:latin typeface="Calibri" pitchFamily="34" charset="0"/>
                <a:ea typeface="Calibri" pitchFamily="34" charset="-122"/>
                <a:cs typeface="Calibri" pitchFamily="34" charset="-120"/>
              </a:rPr>
              <a:t>Regulatory Affairs cannot access submission artifacts.</a:t>
            </a:r>
            <a:endParaRPr lang="en-US" sz="1300" dirty="0"/>
          </a:p>
        </p:txBody>
      </p:sp>
      <p:sp>
        <p:nvSpPr>
          <p:cNvPr id="21" name="Shape 16"/>
          <p:cNvSpPr/>
          <p:nvPr/>
        </p:nvSpPr>
        <p:spPr>
          <a:xfrm>
            <a:off x="3243834" y="2240280"/>
            <a:ext cx="82296" cy="182880"/>
          </a:xfrm>
          <a:prstGeom prst="chevron">
            <a:avLst/>
          </a:prstGeom>
          <a:solidFill>
            <a:srgbClr val="A9BDD0"/>
          </a:solidFill>
          <a:ln w="12700">
            <a:solidFill>
              <a:srgbClr val="A9BDD0"/>
            </a:solidFill>
            <a:prstDash val="solid"/>
          </a:ln>
        </p:spPr>
      </p:sp>
      <p:sp>
        <p:nvSpPr>
          <p:cNvPr id="22" name="Shape 17"/>
          <p:cNvSpPr/>
          <p:nvPr/>
        </p:nvSpPr>
        <p:spPr>
          <a:xfrm>
            <a:off x="1953387" y="4543298"/>
            <a:ext cx="1258443" cy="1464310"/>
          </a:xfrm>
          <a:prstGeom prst="roundRect">
            <a:avLst>
              <a:gd name="adj" fmla="val 10173"/>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23" name="Shape 18"/>
          <p:cNvSpPr/>
          <p:nvPr/>
        </p:nvSpPr>
        <p:spPr>
          <a:xfrm>
            <a:off x="2436305" y="4616450"/>
            <a:ext cx="292608" cy="292608"/>
          </a:xfrm>
          <a:prstGeom prst="ellipse">
            <a:avLst/>
          </a:prstGeom>
          <a:solidFill>
            <a:srgbClr val="6FA394"/>
          </a:solidFill>
          <a:ln w="12700">
            <a:solidFill>
              <a:srgbClr val="6FA394"/>
            </a:solidFill>
            <a:prstDash val="solid"/>
          </a:ln>
        </p:spPr>
      </p:sp>
      <p:pic>
        <p:nvPicPr>
          <p:cNvPr id="24" name="Image 3" descr="preencoded.png">    </p:cNvPr>
          <p:cNvPicPr>
            <a:picLocks noChangeAspect="1"/>
          </p:cNvPicPr>
          <p:nvPr/>
        </p:nvPicPr>
        <p:blipFill>
          <a:blip r:embed="rId4"/>
          <a:stretch>
            <a:fillRect/>
          </a:stretch>
        </p:blipFill>
        <p:spPr>
          <a:xfrm>
            <a:off x="2509457" y="4689602"/>
            <a:ext cx="146304" cy="146304"/>
          </a:xfrm>
          <a:prstGeom prst="rect">
            <a:avLst/>
          </a:prstGeom>
        </p:spPr>
      </p:pic>
      <p:sp>
        <p:nvSpPr>
          <p:cNvPr id="25" name="Text 19"/>
          <p:cNvSpPr txBox="1"/>
          <p:nvPr/>
        </p:nvSpPr>
        <p:spPr>
          <a:xfrm>
            <a:off x="1999107" y="4945634"/>
            <a:ext cx="1167003" cy="1043686"/>
          </a:xfrm>
          <a:prstGeom prst="rect">
            <a:avLst/>
          </a:prstGeom>
          <a:noFill/>
          <a:ln/>
        </p:spPr>
        <p:txBody>
          <a:bodyPr wrap="square" lIns="0" tIns="0" rIns="0" bIns="0" rtlCol="0" anchor="t"/>
          <a:lstStyle/>
          <a:p>
            <a:pPr algn="ctr" indent="0" marL="0">
              <a:buNone/>
            </a:pPr>
            <a:r>
              <a:rPr lang="en-US" sz="1300" b="1" dirty="0">
                <a:solidFill>
                  <a:srgbClr val="1B2A4A"/>
                </a:solidFill>
                <a:latin typeface="Calibri" pitchFamily="34" charset="0"/>
                <a:ea typeface="Calibri" pitchFamily="34" charset="-122"/>
                <a:cs typeface="Calibri" pitchFamily="34" charset="-120"/>
              </a:rPr>
              <a:t>BC</a:t>
            </a:r>
            <a:endParaRPr lang="en-US" sz="1300" dirty="0"/>
          </a:p>
          <a:p>
            <a:pPr algn="ctr" indent="0" marL="0">
              <a:buNone/>
            </a:pPr>
            <a:r>
              <a:rPr lang="en-US" sz="1300" dirty="0">
                <a:solidFill>
                  <a:srgbClr val="1E2E3A"/>
                </a:solidFill>
                <a:latin typeface="Calibri" pitchFamily="34" charset="0"/>
                <a:ea typeface="Calibri" pitchFamily="34" charset="-122"/>
                <a:cs typeface="Calibri" pitchFamily="34" charset="-120"/>
              </a:rPr>
              <a:t>Workarounds</a:t>
            </a:r>
            <a:endParaRPr lang="en-US" sz="1300" dirty="0"/>
          </a:p>
        </p:txBody>
      </p:sp>
      <p:sp>
        <p:nvSpPr>
          <p:cNvPr id="26" name="Shape 20"/>
          <p:cNvSpPr/>
          <p:nvPr/>
        </p:nvSpPr>
        <p:spPr>
          <a:xfrm>
            <a:off x="3358134" y="1325880"/>
            <a:ext cx="1258443" cy="2933954"/>
          </a:xfrm>
          <a:prstGeom prst="roundRect">
            <a:avLst>
              <a:gd name="adj" fmla="val 10173"/>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27" name="Shape 21"/>
          <p:cNvSpPr/>
          <p:nvPr/>
        </p:nvSpPr>
        <p:spPr>
          <a:xfrm>
            <a:off x="3758756" y="1463040"/>
            <a:ext cx="457200" cy="457200"/>
          </a:xfrm>
          <a:prstGeom prst="ellipse">
            <a:avLst/>
          </a:prstGeom>
          <a:solidFill>
            <a:srgbClr val="B89E68"/>
          </a:solidFill>
          <a:ln w="12700">
            <a:solidFill>
              <a:srgbClr val="B89E68"/>
            </a:solidFill>
            <a:prstDash val="solid"/>
          </a:ln>
        </p:spPr>
      </p:sp>
      <p:pic>
        <p:nvPicPr>
          <p:cNvPr id="28" name="Image 4" descr="preencoded.png">    </p:cNvPr>
          <p:cNvPicPr>
            <a:picLocks noChangeAspect="1"/>
          </p:cNvPicPr>
          <p:nvPr/>
        </p:nvPicPr>
        <p:blipFill>
          <a:blip r:embed="rId5"/>
          <a:stretch>
            <a:fillRect/>
          </a:stretch>
        </p:blipFill>
        <p:spPr>
          <a:xfrm>
            <a:off x="3877628" y="1581912"/>
            <a:ext cx="219456" cy="219456"/>
          </a:xfrm>
          <a:prstGeom prst="rect">
            <a:avLst/>
          </a:prstGeom>
        </p:spPr>
      </p:pic>
      <p:sp>
        <p:nvSpPr>
          <p:cNvPr id="29" name="Text 22"/>
          <p:cNvSpPr txBox="1"/>
          <p:nvPr/>
        </p:nvSpPr>
        <p:spPr>
          <a:xfrm>
            <a:off x="3403854" y="1929384"/>
            <a:ext cx="1167003" cy="723646"/>
          </a:xfrm>
          <a:prstGeom prst="rect">
            <a:avLst/>
          </a:prstGeom>
          <a:noFill/>
          <a:ln/>
        </p:spPr>
        <p:txBody>
          <a:bodyPr wrap="square" lIns="0" tIns="0" rIns="0" bIns="0" rtlCol="0" anchor="t"/>
          <a:lstStyle/>
          <a:p>
            <a:pPr algn="ctr" indent="0" marL="0">
              <a:buNone/>
            </a:pPr>
            <a:r>
              <a:rPr lang="en-US" sz="1500" b="1" dirty="0">
                <a:solidFill>
                  <a:srgbClr val="1B2A4A"/>
                </a:solidFill>
                <a:latin typeface="Calibri" pitchFamily="34" charset="0"/>
                <a:ea typeface="Calibri" pitchFamily="34" charset="-122"/>
                <a:cs typeface="Calibri" pitchFamily="34" charset="-120"/>
              </a:rPr>
              <a:t>Day 3</a:t>
            </a:r>
            <a:endParaRPr lang="en-US" sz="1500" dirty="0"/>
          </a:p>
          <a:p>
            <a:pPr algn="ctr" indent="0" marL="0">
              <a:buNone/>
            </a:pPr>
            <a:r>
              <a:rPr lang="en-US" sz="1300" b="1" dirty="0">
                <a:solidFill>
                  <a:srgbClr val="1B2A4A"/>
                </a:solidFill>
                <a:latin typeface="Calibri" pitchFamily="34" charset="0"/>
                <a:ea typeface="Calibri" pitchFamily="34" charset="-122"/>
                <a:cs typeface="Calibri" pitchFamily="34" charset="-120"/>
              </a:rPr>
              <a:t>Providers Down</a:t>
            </a:r>
            <a:endParaRPr lang="en-US" sz="1500" dirty="0"/>
          </a:p>
        </p:txBody>
      </p:sp>
      <p:sp>
        <p:nvSpPr>
          <p:cNvPr id="30" name="Text 23"/>
          <p:cNvSpPr txBox="1"/>
          <p:nvPr/>
        </p:nvSpPr>
        <p:spPr>
          <a:xfrm>
            <a:off x="3422142" y="2671318"/>
            <a:ext cx="1130427" cy="1542796"/>
          </a:xfrm>
          <a:prstGeom prst="rect">
            <a:avLst/>
          </a:prstGeom>
          <a:noFill/>
          <a:ln/>
        </p:spPr>
        <p:txBody>
          <a:bodyPr wrap="square" lIns="0" tIns="0" rIns="0" bIns="0" rtlCol="0" anchor="t"/>
          <a:lstStyle/>
          <a:p>
            <a:pPr algn="ctr" indent="0" marL="0">
              <a:buNone/>
            </a:pPr>
            <a:r>
              <a:rPr lang="en-US" sz="1300" dirty="0">
                <a:solidFill>
                  <a:srgbClr val="1E2E3A"/>
                </a:solidFill>
                <a:latin typeface="Calibri" pitchFamily="34" charset="0"/>
                <a:ea typeface="Calibri" pitchFamily="34" charset="-122"/>
                <a:cs typeface="Calibri" pitchFamily="34" charset="-120"/>
              </a:rPr>
              <a:t>Several providers report extended recovery.</a:t>
            </a:r>
            <a:endParaRPr lang="en-US" sz="1300" dirty="0"/>
          </a:p>
        </p:txBody>
      </p:sp>
      <p:sp>
        <p:nvSpPr>
          <p:cNvPr id="31" name="Shape 24"/>
          <p:cNvSpPr/>
          <p:nvPr/>
        </p:nvSpPr>
        <p:spPr>
          <a:xfrm>
            <a:off x="4648581" y="2240280"/>
            <a:ext cx="82296" cy="182880"/>
          </a:xfrm>
          <a:prstGeom prst="chevron">
            <a:avLst/>
          </a:prstGeom>
          <a:solidFill>
            <a:srgbClr val="A9BDD0"/>
          </a:solidFill>
          <a:ln w="12700">
            <a:solidFill>
              <a:srgbClr val="A9BDD0"/>
            </a:solidFill>
            <a:prstDash val="solid"/>
          </a:ln>
        </p:spPr>
      </p:sp>
      <p:sp>
        <p:nvSpPr>
          <p:cNvPr id="32" name="Shape 25"/>
          <p:cNvSpPr/>
          <p:nvPr/>
        </p:nvSpPr>
        <p:spPr>
          <a:xfrm>
            <a:off x="3358134" y="4543298"/>
            <a:ext cx="1258443" cy="1464310"/>
          </a:xfrm>
          <a:prstGeom prst="roundRect">
            <a:avLst>
              <a:gd name="adj" fmla="val 10173"/>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33" name="Shape 26"/>
          <p:cNvSpPr/>
          <p:nvPr/>
        </p:nvSpPr>
        <p:spPr>
          <a:xfrm>
            <a:off x="3841052" y="4616450"/>
            <a:ext cx="292608" cy="292608"/>
          </a:xfrm>
          <a:prstGeom prst="ellipse">
            <a:avLst/>
          </a:prstGeom>
          <a:solidFill>
            <a:srgbClr val="B89E68"/>
          </a:solidFill>
          <a:ln w="12700">
            <a:solidFill>
              <a:srgbClr val="B89E68"/>
            </a:solidFill>
            <a:prstDash val="solid"/>
          </a:ln>
        </p:spPr>
      </p:sp>
      <p:pic>
        <p:nvPicPr>
          <p:cNvPr id="34" name="Image 5" descr="preencoded.png">    </p:cNvPr>
          <p:cNvPicPr>
            <a:picLocks noChangeAspect="1"/>
          </p:cNvPicPr>
          <p:nvPr/>
        </p:nvPicPr>
        <p:blipFill>
          <a:blip r:embed="rId6"/>
          <a:stretch>
            <a:fillRect/>
          </a:stretch>
        </p:blipFill>
        <p:spPr>
          <a:xfrm>
            <a:off x="3914204" y="4689602"/>
            <a:ext cx="146304" cy="146304"/>
          </a:xfrm>
          <a:prstGeom prst="rect">
            <a:avLst/>
          </a:prstGeom>
        </p:spPr>
      </p:pic>
      <p:sp>
        <p:nvSpPr>
          <p:cNvPr id="35" name="Text 27"/>
          <p:cNvSpPr txBox="1"/>
          <p:nvPr/>
        </p:nvSpPr>
        <p:spPr>
          <a:xfrm>
            <a:off x="3403854" y="4945634"/>
            <a:ext cx="1167003" cy="1043686"/>
          </a:xfrm>
          <a:prstGeom prst="rect">
            <a:avLst/>
          </a:prstGeom>
          <a:noFill/>
          <a:ln/>
        </p:spPr>
        <p:txBody>
          <a:bodyPr wrap="square" lIns="0" tIns="0" rIns="0" bIns="0" rtlCol="0" anchor="t"/>
          <a:lstStyle/>
          <a:p>
            <a:pPr algn="ctr" indent="0" marL="0">
              <a:buNone/>
            </a:pPr>
            <a:r>
              <a:rPr lang="en-US" sz="1300" b="1" dirty="0">
                <a:solidFill>
                  <a:srgbClr val="1B2A4A"/>
                </a:solidFill>
                <a:latin typeface="Calibri" pitchFamily="34" charset="0"/>
                <a:ea typeface="Calibri" pitchFamily="34" charset="-122"/>
                <a:cs typeface="Calibri" pitchFamily="34" charset="-120"/>
              </a:rPr>
              <a:t>BC</a:t>
            </a:r>
            <a:endParaRPr lang="en-US" sz="1300" dirty="0"/>
          </a:p>
          <a:p>
            <a:pPr algn="ctr" indent="0" marL="0">
              <a:buNone/>
            </a:pPr>
            <a:r>
              <a:rPr lang="en-US" sz="1300" dirty="0">
                <a:solidFill>
                  <a:srgbClr val="1E2E3A"/>
                </a:solidFill>
                <a:latin typeface="Calibri" pitchFamily="34" charset="0"/>
                <a:ea typeface="Calibri" pitchFamily="34" charset="-122"/>
                <a:cs typeface="Calibri" pitchFamily="34" charset="-120"/>
              </a:rPr>
              <a:t>Prioritization</a:t>
            </a:r>
            <a:endParaRPr lang="en-US" sz="1300" dirty="0"/>
          </a:p>
        </p:txBody>
      </p:sp>
      <p:sp>
        <p:nvSpPr>
          <p:cNvPr id="36" name="Shape 28"/>
          <p:cNvSpPr/>
          <p:nvPr/>
        </p:nvSpPr>
        <p:spPr>
          <a:xfrm>
            <a:off x="4762881" y="1325880"/>
            <a:ext cx="1258443" cy="2933954"/>
          </a:xfrm>
          <a:prstGeom prst="roundRect">
            <a:avLst>
              <a:gd name="adj" fmla="val 10173"/>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37" name="Shape 29"/>
          <p:cNvSpPr/>
          <p:nvPr/>
        </p:nvSpPr>
        <p:spPr>
          <a:xfrm>
            <a:off x="5163503" y="1463040"/>
            <a:ext cx="457200" cy="457200"/>
          </a:xfrm>
          <a:prstGeom prst="ellipse">
            <a:avLst/>
          </a:prstGeom>
          <a:solidFill>
            <a:srgbClr val="B38496"/>
          </a:solidFill>
          <a:ln w="12700">
            <a:solidFill>
              <a:srgbClr val="B38496"/>
            </a:solidFill>
            <a:prstDash val="solid"/>
          </a:ln>
        </p:spPr>
      </p:sp>
      <p:pic>
        <p:nvPicPr>
          <p:cNvPr id="38" name="Image 6" descr="preencoded.png">    </p:cNvPr>
          <p:cNvPicPr>
            <a:picLocks noChangeAspect="1"/>
          </p:cNvPicPr>
          <p:nvPr/>
        </p:nvPicPr>
        <p:blipFill>
          <a:blip r:embed="rId7"/>
          <a:stretch>
            <a:fillRect/>
          </a:stretch>
        </p:blipFill>
        <p:spPr>
          <a:xfrm>
            <a:off x="5282375" y="1581912"/>
            <a:ext cx="219456" cy="219456"/>
          </a:xfrm>
          <a:prstGeom prst="rect">
            <a:avLst/>
          </a:prstGeom>
        </p:spPr>
      </p:pic>
      <p:sp>
        <p:nvSpPr>
          <p:cNvPr id="39" name="Text 30"/>
          <p:cNvSpPr txBox="1"/>
          <p:nvPr/>
        </p:nvSpPr>
        <p:spPr>
          <a:xfrm>
            <a:off x="4808601" y="1929384"/>
            <a:ext cx="1167003" cy="723646"/>
          </a:xfrm>
          <a:prstGeom prst="rect">
            <a:avLst/>
          </a:prstGeom>
          <a:noFill/>
          <a:ln/>
        </p:spPr>
        <p:txBody>
          <a:bodyPr wrap="square" lIns="0" tIns="0" rIns="0" bIns="0" rtlCol="0" anchor="t"/>
          <a:lstStyle/>
          <a:p>
            <a:pPr algn="ctr" indent="0" marL="0">
              <a:buNone/>
            </a:pPr>
            <a:r>
              <a:rPr lang="en-US" sz="1500" b="1" dirty="0">
                <a:solidFill>
                  <a:srgbClr val="1B2A4A"/>
                </a:solidFill>
                <a:latin typeface="Calibri" pitchFamily="34" charset="0"/>
                <a:ea typeface="Calibri" pitchFamily="34" charset="-122"/>
                <a:cs typeface="Calibri" pitchFamily="34" charset="-120"/>
              </a:rPr>
              <a:t>Day 5</a:t>
            </a:r>
            <a:endParaRPr lang="en-US" sz="1500" dirty="0"/>
          </a:p>
          <a:p>
            <a:pPr algn="ctr" indent="0" marL="0">
              <a:buNone/>
            </a:pPr>
            <a:r>
              <a:rPr lang="en-US" sz="1300" b="1" dirty="0">
                <a:solidFill>
                  <a:srgbClr val="1B2A4A"/>
                </a:solidFill>
                <a:latin typeface="Calibri" pitchFamily="34" charset="0"/>
                <a:ea typeface="Calibri" pitchFamily="34" charset="-122"/>
                <a:cs typeface="Calibri" pitchFamily="34" charset="-120"/>
              </a:rPr>
              <a:t>Payments Delayed</a:t>
            </a:r>
            <a:endParaRPr lang="en-US" sz="1500" dirty="0"/>
          </a:p>
        </p:txBody>
      </p:sp>
      <p:sp>
        <p:nvSpPr>
          <p:cNvPr id="40" name="Text 31"/>
          <p:cNvSpPr txBox="1"/>
          <p:nvPr/>
        </p:nvSpPr>
        <p:spPr>
          <a:xfrm>
            <a:off x="4826889" y="2671318"/>
            <a:ext cx="1130427" cy="1542796"/>
          </a:xfrm>
          <a:prstGeom prst="rect">
            <a:avLst/>
          </a:prstGeom>
          <a:noFill/>
          <a:ln/>
        </p:spPr>
        <p:txBody>
          <a:bodyPr wrap="square" lIns="0" tIns="0" rIns="0" bIns="0" rtlCol="0" anchor="t"/>
          <a:lstStyle/>
          <a:p>
            <a:pPr algn="ctr" indent="0" marL="0">
              <a:buNone/>
            </a:pPr>
            <a:r>
              <a:rPr lang="en-US" sz="1300" dirty="0">
                <a:solidFill>
                  <a:srgbClr val="1E2E3A"/>
                </a:solidFill>
                <a:latin typeface="Calibri" pitchFamily="34" charset="0"/>
                <a:ea typeface="Calibri" pitchFamily="34" charset="-122"/>
                <a:cs typeface="Calibri" pitchFamily="34" charset="-120"/>
              </a:rPr>
              <a:t>Vendor payments cannot be processed normally.</a:t>
            </a:r>
            <a:endParaRPr lang="en-US" sz="1300" dirty="0"/>
          </a:p>
        </p:txBody>
      </p:sp>
      <p:sp>
        <p:nvSpPr>
          <p:cNvPr id="41" name="Shape 32"/>
          <p:cNvSpPr/>
          <p:nvPr/>
        </p:nvSpPr>
        <p:spPr>
          <a:xfrm>
            <a:off x="6053328" y="2240280"/>
            <a:ext cx="82296" cy="182880"/>
          </a:xfrm>
          <a:prstGeom prst="chevron">
            <a:avLst/>
          </a:prstGeom>
          <a:solidFill>
            <a:srgbClr val="A9BDD0"/>
          </a:solidFill>
          <a:ln w="12700">
            <a:solidFill>
              <a:srgbClr val="A9BDD0"/>
            </a:solidFill>
            <a:prstDash val="solid"/>
          </a:ln>
        </p:spPr>
      </p:sp>
      <p:sp>
        <p:nvSpPr>
          <p:cNvPr id="42" name="Shape 33"/>
          <p:cNvSpPr/>
          <p:nvPr/>
        </p:nvSpPr>
        <p:spPr>
          <a:xfrm>
            <a:off x="4762881" y="4543298"/>
            <a:ext cx="1258443" cy="1464310"/>
          </a:xfrm>
          <a:prstGeom prst="roundRect">
            <a:avLst>
              <a:gd name="adj" fmla="val 10173"/>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43" name="Shape 34"/>
          <p:cNvSpPr/>
          <p:nvPr/>
        </p:nvSpPr>
        <p:spPr>
          <a:xfrm>
            <a:off x="5245799" y="4616450"/>
            <a:ext cx="292608" cy="292608"/>
          </a:xfrm>
          <a:prstGeom prst="ellipse">
            <a:avLst/>
          </a:prstGeom>
          <a:solidFill>
            <a:srgbClr val="B38496"/>
          </a:solidFill>
          <a:ln w="12700">
            <a:solidFill>
              <a:srgbClr val="B38496"/>
            </a:solidFill>
            <a:prstDash val="solid"/>
          </a:ln>
        </p:spPr>
      </p:sp>
      <p:pic>
        <p:nvPicPr>
          <p:cNvPr id="44" name="Image 7" descr="preencoded.png">    </p:cNvPr>
          <p:cNvPicPr>
            <a:picLocks noChangeAspect="1"/>
          </p:cNvPicPr>
          <p:nvPr/>
        </p:nvPicPr>
        <p:blipFill>
          <a:blip r:embed="rId8"/>
          <a:stretch>
            <a:fillRect/>
          </a:stretch>
        </p:blipFill>
        <p:spPr>
          <a:xfrm>
            <a:off x="5318951" y="4689602"/>
            <a:ext cx="146304" cy="146304"/>
          </a:xfrm>
          <a:prstGeom prst="rect">
            <a:avLst/>
          </a:prstGeom>
        </p:spPr>
      </p:pic>
      <p:sp>
        <p:nvSpPr>
          <p:cNvPr id="45" name="Text 35"/>
          <p:cNvSpPr txBox="1"/>
          <p:nvPr/>
        </p:nvSpPr>
        <p:spPr>
          <a:xfrm>
            <a:off x="4808601" y="4945634"/>
            <a:ext cx="1167003" cy="1043686"/>
          </a:xfrm>
          <a:prstGeom prst="rect">
            <a:avLst/>
          </a:prstGeom>
          <a:noFill/>
          <a:ln/>
        </p:spPr>
        <p:txBody>
          <a:bodyPr wrap="square" lIns="0" tIns="0" rIns="0" bIns="0" rtlCol="0" anchor="t"/>
          <a:lstStyle/>
          <a:p>
            <a:pPr algn="ctr" indent="0" marL="0">
              <a:buNone/>
            </a:pPr>
            <a:r>
              <a:rPr lang="en-US" sz="1300" b="1" dirty="0">
                <a:solidFill>
                  <a:srgbClr val="1B2A4A"/>
                </a:solidFill>
                <a:latin typeface="Calibri" pitchFamily="34" charset="0"/>
                <a:ea typeface="Calibri" pitchFamily="34" charset="-122"/>
                <a:cs typeface="Calibri" pitchFamily="34" charset="-120"/>
              </a:rPr>
              <a:t>BC + Finance</a:t>
            </a:r>
            <a:endParaRPr lang="en-US" sz="1300" dirty="0"/>
          </a:p>
          <a:p>
            <a:pPr algn="ctr" indent="0" marL="0">
              <a:buNone/>
            </a:pPr>
            <a:r>
              <a:rPr lang="en-US" sz="1300" dirty="0">
                <a:solidFill>
                  <a:srgbClr val="1E2E3A"/>
                </a:solidFill>
                <a:latin typeface="Calibri" pitchFamily="34" charset="0"/>
                <a:ea typeface="Calibri" pitchFamily="34" charset="-122"/>
                <a:cs typeface="Calibri" pitchFamily="34" charset="-120"/>
              </a:rPr>
              <a:t>Risk Acceptance</a:t>
            </a:r>
            <a:endParaRPr lang="en-US" sz="1300" dirty="0"/>
          </a:p>
        </p:txBody>
      </p:sp>
      <p:sp>
        <p:nvSpPr>
          <p:cNvPr id="46" name="Shape 36"/>
          <p:cNvSpPr/>
          <p:nvPr/>
        </p:nvSpPr>
        <p:spPr>
          <a:xfrm>
            <a:off x="6167628" y="1325880"/>
            <a:ext cx="1258443" cy="2933954"/>
          </a:xfrm>
          <a:prstGeom prst="roundRect">
            <a:avLst>
              <a:gd name="adj" fmla="val 10173"/>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47" name="Shape 37"/>
          <p:cNvSpPr/>
          <p:nvPr/>
        </p:nvSpPr>
        <p:spPr>
          <a:xfrm>
            <a:off x="6568250" y="1463040"/>
            <a:ext cx="457200" cy="457200"/>
          </a:xfrm>
          <a:prstGeom prst="ellipse">
            <a:avLst/>
          </a:prstGeom>
          <a:solidFill>
            <a:srgbClr val="8F86B8"/>
          </a:solidFill>
          <a:ln w="12700">
            <a:solidFill>
              <a:srgbClr val="8F86B8"/>
            </a:solidFill>
            <a:prstDash val="solid"/>
          </a:ln>
        </p:spPr>
      </p:sp>
      <p:pic>
        <p:nvPicPr>
          <p:cNvPr id="48" name="Image 8" descr="preencoded.png">    </p:cNvPr>
          <p:cNvPicPr>
            <a:picLocks noChangeAspect="1"/>
          </p:cNvPicPr>
          <p:nvPr/>
        </p:nvPicPr>
        <p:blipFill>
          <a:blip r:embed="rId9"/>
          <a:stretch>
            <a:fillRect/>
          </a:stretch>
        </p:blipFill>
        <p:spPr>
          <a:xfrm>
            <a:off x="6687122" y="1581912"/>
            <a:ext cx="219456" cy="219456"/>
          </a:xfrm>
          <a:prstGeom prst="rect">
            <a:avLst/>
          </a:prstGeom>
        </p:spPr>
      </p:pic>
      <p:sp>
        <p:nvSpPr>
          <p:cNvPr id="49" name="Text 38"/>
          <p:cNvSpPr txBox="1"/>
          <p:nvPr/>
        </p:nvSpPr>
        <p:spPr>
          <a:xfrm>
            <a:off x="6213348" y="1929384"/>
            <a:ext cx="1167003" cy="723646"/>
          </a:xfrm>
          <a:prstGeom prst="rect">
            <a:avLst/>
          </a:prstGeom>
          <a:noFill/>
          <a:ln/>
        </p:spPr>
        <p:txBody>
          <a:bodyPr wrap="square" lIns="0" tIns="0" rIns="0" bIns="0" rtlCol="0" anchor="t"/>
          <a:lstStyle/>
          <a:p>
            <a:pPr algn="ctr" indent="0" marL="0">
              <a:buNone/>
            </a:pPr>
            <a:r>
              <a:rPr lang="en-US" sz="1500" b="1" dirty="0">
                <a:solidFill>
                  <a:srgbClr val="1B2A4A"/>
                </a:solidFill>
                <a:latin typeface="Calibri" pitchFamily="34" charset="0"/>
                <a:ea typeface="Calibri" pitchFamily="34" charset="-122"/>
                <a:cs typeface="Calibri" pitchFamily="34" charset="-120"/>
              </a:rPr>
              <a:t>Day 7</a:t>
            </a:r>
            <a:endParaRPr lang="en-US" sz="1500" dirty="0"/>
          </a:p>
          <a:p>
            <a:pPr algn="ctr" indent="0" marL="0">
              <a:buNone/>
            </a:pPr>
            <a:r>
              <a:rPr lang="en-US" sz="1300" b="1" dirty="0">
                <a:solidFill>
                  <a:srgbClr val="1B2A4A"/>
                </a:solidFill>
                <a:latin typeface="Calibri" pitchFamily="34" charset="0"/>
                <a:ea typeface="Calibri" pitchFamily="34" charset="-122"/>
                <a:cs typeface="Calibri" pitchFamily="34" charset="-120"/>
              </a:rPr>
              <a:t>Investor Inquiries</a:t>
            </a:r>
            <a:endParaRPr lang="en-US" sz="1500" dirty="0"/>
          </a:p>
        </p:txBody>
      </p:sp>
      <p:sp>
        <p:nvSpPr>
          <p:cNvPr id="50" name="Text 39"/>
          <p:cNvSpPr txBox="1"/>
          <p:nvPr/>
        </p:nvSpPr>
        <p:spPr>
          <a:xfrm>
            <a:off x="6231636" y="2671318"/>
            <a:ext cx="1130427" cy="1542796"/>
          </a:xfrm>
          <a:prstGeom prst="rect">
            <a:avLst/>
          </a:prstGeom>
          <a:noFill/>
          <a:ln/>
        </p:spPr>
        <p:txBody>
          <a:bodyPr wrap="square" lIns="0" tIns="0" rIns="0" bIns="0" rtlCol="0" anchor="t"/>
          <a:lstStyle/>
          <a:p>
            <a:pPr algn="ctr" indent="0" marL="0">
              <a:buNone/>
            </a:pPr>
            <a:r>
              <a:rPr lang="en-US" sz="1300" dirty="0">
                <a:solidFill>
                  <a:srgbClr val="1E2E3A"/>
                </a:solidFill>
                <a:latin typeface="Calibri" pitchFamily="34" charset="0"/>
                <a:ea typeface="Calibri" pitchFamily="34" charset="-122"/>
                <a:cs typeface="Calibri" pitchFamily="34" charset="-120"/>
              </a:rPr>
              <a:t>Investors ask about operational disruption.</a:t>
            </a:r>
            <a:endParaRPr lang="en-US" sz="1300" dirty="0"/>
          </a:p>
        </p:txBody>
      </p:sp>
      <p:sp>
        <p:nvSpPr>
          <p:cNvPr id="51" name="Shape 40"/>
          <p:cNvSpPr/>
          <p:nvPr/>
        </p:nvSpPr>
        <p:spPr>
          <a:xfrm>
            <a:off x="7458075" y="2240280"/>
            <a:ext cx="82296" cy="182880"/>
          </a:xfrm>
          <a:prstGeom prst="chevron">
            <a:avLst/>
          </a:prstGeom>
          <a:solidFill>
            <a:srgbClr val="A9BDD0"/>
          </a:solidFill>
          <a:ln w="12700">
            <a:solidFill>
              <a:srgbClr val="A9BDD0"/>
            </a:solidFill>
            <a:prstDash val="solid"/>
          </a:ln>
        </p:spPr>
      </p:sp>
      <p:sp>
        <p:nvSpPr>
          <p:cNvPr id="52" name="Shape 41"/>
          <p:cNvSpPr/>
          <p:nvPr/>
        </p:nvSpPr>
        <p:spPr>
          <a:xfrm>
            <a:off x="6167628" y="4543298"/>
            <a:ext cx="1258443" cy="1464310"/>
          </a:xfrm>
          <a:prstGeom prst="roundRect">
            <a:avLst>
              <a:gd name="adj" fmla="val 10173"/>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53" name="Shape 42"/>
          <p:cNvSpPr/>
          <p:nvPr/>
        </p:nvSpPr>
        <p:spPr>
          <a:xfrm>
            <a:off x="6650546" y="4616450"/>
            <a:ext cx="292608" cy="292608"/>
          </a:xfrm>
          <a:prstGeom prst="ellipse">
            <a:avLst/>
          </a:prstGeom>
          <a:solidFill>
            <a:srgbClr val="8F86B8"/>
          </a:solidFill>
          <a:ln w="12700">
            <a:solidFill>
              <a:srgbClr val="8F86B8"/>
            </a:solidFill>
            <a:prstDash val="solid"/>
          </a:ln>
        </p:spPr>
      </p:sp>
      <p:pic>
        <p:nvPicPr>
          <p:cNvPr id="54" name="Image 9" descr="preencoded.png">    </p:cNvPr>
          <p:cNvPicPr>
            <a:picLocks noChangeAspect="1"/>
          </p:cNvPicPr>
          <p:nvPr/>
        </p:nvPicPr>
        <p:blipFill>
          <a:blip r:embed="rId10"/>
          <a:stretch>
            <a:fillRect/>
          </a:stretch>
        </p:blipFill>
        <p:spPr>
          <a:xfrm>
            <a:off x="6723698" y="4689602"/>
            <a:ext cx="146304" cy="146304"/>
          </a:xfrm>
          <a:prstGeom prst="rect">
            <a:avLst/>
          </a:prstGeom>
        </p:spPr>
      </p:pic>
      <p:sp>
        <p:nvSpPr>
          <p:cNvPr id="55" name="Text 43"/>
          <p:cNvSpPr txBox="1"/>
          <p:nvPr/>
        </p:nvSpPr>
        <p:spPr>
          <a:xfrm>
            <a:off x="6213348" y="4945634"/>
            <a:ext cx="1167003" cy="1043686"/>
          </a:xfrm>
          <a:prstGeom prst="rect">
            <a:avLst/>
          </a:prstGeom>
          <a:noFill/>
          <a:ln/>
        </p:spPr>
        <p:txBody>
          <a:bodyPr wrap="square" lIns="0" tIns="0" rIns="0" bIns="0" rtlCol="0" anchor="t"/>
          <a:lstStyle/>
          <a:p>
            <a:pPr algn="ctr" indent="0" marL="0">
              <a:buNone/>
            </a:pPr>
            <a:r>
              <a:rPr lang="en-US" sz="1300" b="1" dirty="0">
                <a:solidFill>
                  <a:srgbClr val="1B2A4A"/>
                </a:solidFill>
                <a:latin typeface="Calibri" pitchFamily="34" charset="0"/>
                <a:ea typeface="Calibri" pitchFamily="34" charset="-122"/>
                <a:cs typeface="Calibri" pitchFamily="34" charset="-120"/>
              </a:rPr>
              <a:t>Crisis Mgmt</a:t>
            </a:r>
            <a:endParaRPr lang="en-US" sz="1300" dirty="0"/>
          </a:p>
          <a:p>
            <a:pPr algn="ctr" indent="0" marL="0">
              <a:buNone/>
            </a:pPr>
            <a:r>
              <a:rPr lang="en-US" sz="1300" dirty="0">
                <a:solidFill>
                  <a:srgbClr val="1E2E3A"/>
                </a:solidFill>
                <a:latin typeface="Calibri" pitchFamily="34" charset="0"/>
                <a:ea typeface="Calibri" pitchFamily="34" charset="-122"/>
                <a:cs typeface="Calibri" pitchFamily="34" charset="-120"/>
              </a:rPr>
              <a:t>Communications</a:t>
            </a:r>
            <a:endParaRPr lang="en-US" sz="1300" dirty="0"/>
          </a:p>
        </p:txBody>
      </p:sp>
      <p:sp>
        <p:nvSpPr>
          <p:cNvPr id="56" name="Shape 44"/>
          <p:cNvSpPr/>
          <p:nvPr/>
        </p:nvSpPr>
        <p:spPr>
          <a:xfrm>
            <a:off x="7572375" y="1325880"/>
            <a:ext cx="1258443" cy="2933954"/>
          </a:xfrm>
          <a:prstGeom prst="roundRect">
            <a:avLst>
              <a:gd name="adj" fmla="val 10173"/>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57" name="Shape 45"/>
          <p:cNvSpPr/>
          <p:nvPr/>
        </p:nvSpPr>
        <p:spPr>
          <a:xfrm>
            <a:off x="7972996" y="1463040"/>
            <a:ext cx="457200" cy="457200"/>
          </a:xfrm>
          <a:prstGeom prst="ellipse">
            <a:avLst/>
          </a:prstGeom>
          <a:solidFill>
            <a:srgbClr val="7BA689"/>
          </a:solidFill>
          <a:ln w="12700">
            <a:solidFill>
              <a:srgbClr val="7BA689"/>
            </a:solidFill>
            <a:prstDash val="solid"/>
          </a:ln>
        </p:spPr>
      </p:sp>
      <p:pic>
        <p:nvPicPr>
          <p:cNvPr id="58" name="Image 10" descr="preencoded.png">    </p:cNvPr>
          <p:cNvPicPr>
            <a:picLocks noChangeAspect="1"/>
          </p:cNvPicPr>
          <p:nvPr/>
        </p:nvPicPr>
        <p:blipFill>
          <a:blip r:embed="rId11"/>
          <a:stretch>
            <a:fillRect/>
          </a:stretch>
        </p:blipFill>
        <p:spPr>
          <a:xfrm>
            <a:off x="8091869" y="1581912"/>
            <a:ext cx="219456" cy="219456"/>
          </a:xfrm>
          <a:prstGeom prst="rect">
            <a:avLst/>
          </a:prstGeom>
        </p:spPr>
      </p:pic>
      <p:sp>
        <p:nvSpPr>
          <p:cNvPr id="59" name="Text 46"/>
          <p:cNvSpPr txBox="1"/>
          <p:nvPr/>
        </p:nvSpPr>
        <p:spPr>
          <a:xfrm>
            <a:off x="7618095" y="1929384"/>
            <a:ext cx="1167003" cy="723646"/>
          </a:xfrm>
          <a:prstGeom prst="rect">
            <a:avLst/>
          </a:prstGeom>
          <a:noFill/>
          <a:ln/>
        </p:spPr>
        <p:txBody>
          <a:bodyPr wrap="square" lIns="0" tIns="0" rIns="0" bIns="0" rtlCol="0" anchor="t"/>
          <a:lstStyle/>
          <a:p>
            <a:pPr algn="ctr" indent="0" marL="0">
              <a:buNone/>
            </a:pPr>
            <a:r>
              <a:rPr lang="en-US" sz="1500" b="1" dirty="0">
                <a:solidFill>
                  <a:srgbClr val="1B2A4A"/>
                </a:solidFill>
                <a:latin typeface="Calibri" pitchFamily="34" charset="0"/>
                <a:ea typeface="Calibri" pitchFamily="34" charset="-122"/>
                <a:cs typeface="Calibri" pitchFamily="34" charset="-120"/>
              </a:rPr>
              <a:t>Day 10</a:t>
            </a:r>
            <a:endParaRPr lang="en-US" sz="1500" dirty="0"/>
          </a:p>
          <a:p>
            <a:pPr algn="ctr" indent="0" marL="0">
              <a:buNone/>
            </a:pPr>
            <a:r>
              <a:rPr lang="en-US" sz="1300" b="1" dirty="0">
                <a:solidFill>
                  <a:srgbClr val="1B2A4A"/>
                </a:solidFill>
                <a:latin typeface="Calibri" pitchFamily="34" charset="0"/>
                <a:ea typeface="Calibri" pitchFamily="34" charset="-122"/>
                <a:cs typeface="Calibri" pitchFamily="34" charset="-120"/>
              </a:rPr>
              <a:t>Milestones at Risk</a:t>
            </a:r>
            <a:endParaRPr lang="en-US" sz="1500" dirty="0"/>
          </a:p>
        </p:txBody>
      </p:sp>
      <p:sp>
        <p:nvSpPr>
          <p:cNvPr id="60" name="Text 47"/>
          <p:cNvSpPr txBox="1"/>
          <p:nvPr/>
        </p:nvSpPr>
        <p:spPr>
          <a:xfrm>
            <a:off x="7636383" y="2671318"/>
            <a:ext cx="1130427" cy="1542796"/>
          </a:xfrm>
          <a:prstGeom prst="rect">
            <a:avLst/>
          </a:prstGeom>
          <a:noFill/>
          <a:ln/>
        </p:spPr>
        <p:txBody>
          <a:bodyPr wrap="square" lIns="0" tIns="0" rIns="0" bIns="0" rtlCol="0" anchor="t"/>
          <a:lstStyle/>
          <a:p>
            <a:pPr algn="ctr" indent="0" marL="0">
              <a:buNone/>
            </a:pPr>
            <a:r>
              <a:rPr lang="en-US" sz="1300" dirty="0">
                <a:solidFill>
                  <a:srgbClr val="1E2E3A"/>
                </a:solidFill>
                <a:latin typeface="Calibri" pitchFamily="34" charset="0"/>
                <a:ea typeface="Calibri" pitchFamily="34" charset="-122"/>
                <a:cs typeface="Calibri" pitchFamily="34" charset="-120"/>
              </a:rPr>
              <a:t>Leaders estimate critical delays to key milestones.</a:t>
            </a:r>
            <a:endParaRPr lang="en-US" sz="1300" dirty="0"/>
          </a:p>
        </p:txBody>
      </p:sp>
      <p:sp>
        <p:nvSpPr>
          <p:cNvPr id="61" name="Shape 48"/>
          <p:cNvSpPr/>
          <p:nvPr/>
        </p:nvSpPr>
        <p:spPr>
          <a:xfrm>
            <a:off x="8862822" y="2240280"/>
            <a:ext cx="82296" cy="182880"/>
          </a:xfrm>
          <a:prstGeom prst="chevron">
            <a:avLst/>
          </a:prstGeom>
          <a:solidFill>
            <a:srgbClr val="A9BDD0"/>
          </a:solidFill>
          <a:ln w="12700">
            <a:solidFill>
              <a:srgbClr val="A9BDD0"/>
            </a:solidFill>
            <a:prstDash val="solid"/>
          </a:ln>
        </p:spPr>
      </p:sp>
      <p:sp>
        <p:nvSpPr>
          <p:cNvPr id="62" name="Shape 49"/>
          <p:cNvSpPr/>
          <p:nvPr/>
        </p:nvSpPr>
        <p:spPr>
          <a:xfrm>
            <a:off x="7572375" y="4543298"/>
            <a:ext cx="1258443" cy="1464310"/>
          </a:xfrm>
          <a:prstGeom prst="roundRect">
            <a:avLst>
              <a:gd name="adj" fmla="val 10173"/>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63" name="Shape 50"/>
          <p:cNvSpPr/>
          <p:nvPr/>
        </p:nvSpPr>
        <p:spPr>
          <a:xfrm>
            <a:off x="8055292" y="4616450"/>
            <a:ext cx="292608" cy="292608"/>
          </a:xfrm>
          <a:prstGeom prst="ellipse">
            <a:avLst/>
          </a:prstGeom>
          <a:solidFill>
            <a:srgbClr val="7BA689"/>
          </a:solidFill>
          <a:ln w="12700">
            <a:solidFill>
              <a:srgbClr val="7BA689"/>
            </a:solidFill>
            <a:prstDash val="solid"/>
          </a:ln>
        </p:spPr>
      </p:sp>
      <p:pic>
        <p:nvPicPr>
          <p:cNvPr id="64" name="Image 11" descr="preencoded.png">    </p:cNvPr>
          <p:cNvPicPr>
            <a:picLocks noChangeAspect="1"/>
          </p:cNvPicPr>
          <p:nvPr/>
        </p:nvPicPr>
        <p:blipFill>
          <a:blip r:embed="rId12"/>
          <a:stretch>
            <a:fillRect/>
          </a:stretch>
        </p:blipFill>
        <p:spPr>
          <a:xfrm>
            <a:off x="8128444" y="4689602"/>
            <a:ext cx="146304" cy="146304"/>
          </a:xfrm>
          <a:prstGeom prst="rect">
            <a:avLst/>
          </a:prstGeom>
        </p:spPr>
      </p:pic>
      <p:sp>
        <p:nvSpPr>
          <p:cNvPr id="65" name="Text 51"/>
          <p:cNvSpPr txBox="1"/>
          <p:nvPr/>
        </p:nvSpPr>
        <p:spPr>
          <a:xfrm>
            <a:off x="7618095" y="4945634"/>
            <a:ext cx="1167003" cy="1043686"/>
          </a:xfrm>
          <a:prstGeom prst="rect">
            <a:avLst/>
          </a:prstGeom>
          <a:noFill/>
          <a:ln/>
        </p:spPr>
        <p:txBody>
          <a:bodyPr wrap="square" lIns="0" tIns="0" rIns="0" bIns="0" rtlCol="0" anchor="t"/>
          <a:lstStyle/>
          <a:p>
            <a:pPr algn="ctr" indent="0" marL="0">
              <a:buNone/>
            </a:pPr>
            <a:r>
              <a:rPr lang="en-US" sz="1300" b="1" dirty="0">
                <a:solidFill>
                  <a:srgbClr val="1B2A4A"/>
                </a:solidFill>
                <a:latin typeface="Calibri" pitchFamily="34" charset="0"/>
                <a:ea typeface="Calibri" pitchFamily="34" charset="-122"/>
                <a:cs typeface="Calibri" pitchFamily="34" charset="-120"/>
              </a:rPr>
              <a:t>Executive Governance</a:t>
            </a:r>
            <a:endParaRPr lang="en-US" sz="1300" dirty="0"/>
          </a:p>
          <a:p>
            <a:pPr algn="ctr" indent="0" marL="0">
              <a:buNone/>
            </a:pPr>
            <a:r>
              <a:rPr lang="en-US" sz="1300" dirty="0">
                <a:solidFill>
                  <a:srgbClr val="1E2E3A"/>
                </a:solidFill>
                <a:latin typeface="Calibri" pitchFamily="34" charset="0"/>
                <a:ea typeface="Calibri" pitchFamily="34" charset="-122"/>
                <a:cs typeface="Calibri" pitchFamily="34" charset="-120"/>
              </a:rPr>
              <a:t>Decisions &amp; Trade-offs</a:t>
            </a:r>
            <a:endParaRPr lang="en-US" sz="1300" dirty="0"/>
          </a:p>
        </p:txBody>
      </p:sp>
      <p:sp>
        <p:nvSpPr>
          <p:cNvPr id="66" name="Shape 52"/>
          <p:cNvSpPr/>
          <p:nvPr/>
        </p:nvSpPr>
        <p:spPr>
          <a:xfrm>
            <a:off x="8977122" y="1325880"/>
            <a:ext cx="1258443" cy="2933954"/>
          </a:xfrm>
          <a:prstGeom prst="roundRect">
            <a:avLst>
              <a:gd name="adj" fmla="val 10173"/>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67" name="Shape 53"/>
          <p:cNvSpPr/>
          <p:nvPr/>
        </p:nvSpPr>
        <p:spPr>
          <a:xfrm>
            <a:off x="9377744" y="1463040"/>
            <a:ext cx="457200" cy="457200"/>
          </a:xfrm>
          <a:prstGeom prst="ellipse">
            <a:avLst/>
          </a:prstGeom>
          <a:solidFill>
            <a:srgbClr val="7C9CC0"/>
          </a:solidFill>
          <a:ln w="12700">
            <a:solidFill>
              <a:srgbClr val="7C9CC0"/>
            </a:solidFill>
            <a:prstDash val="solid"/>
          </a:ln>
        </p:spPr>
      </p:sp>
      <p:pic>
        <p:nvPicPr>
          <p:cNvPr id="68" name="Image 12" descr="preencoded.png">    </p:cNvPr>
          <p:cNvPicPr>
            <a:picLocks noChangeAspect="1"/>
          </p:cNvPicPr>
          <p:nvPr/>
        </p:nvPicPr>
        <p:blipFill>
          <a:blip r:embed="rId13"/>
          <a:stretch>
            <a:fillRect/>
          </a:stretch>
        </p:blipFill>
        <p:spPr>
          <a:xfrm>
            <a:off x="9496616" y="1581912"/>
            <a:ext cx="219456" cy="219456"/>
          </a:xfrm>
          <a:prstGeom prst="rect">
            <a:avLst/>
          </a:prstGeom>
        </p:spPr>
      </p:pic>
      <p:sp>
        <p:nvSpPr>
          <p:cNvPr id="69" name="Text 54"/>
          <p:cNvSpPr txBox="1"/>
          <p:nvPr/>
        </p:nvSpPr>
        <p:spPr>
          <a:xfrm>
            <a:off x="9022842" y="1929384"/>
            <a:ext cx="1167003" cy="723646"/>
          </a:xfrm>
          <a:prstGeom prst="rect">
            <a:avLst/>
          </a:prstGeom>
          <a:noFill/>
          <a:ln/>
        </p:spPr>
        <p:txBody>
          <a:bodyPr wrap="square" lIns="0" tIns="0" rIns="0" bIns="0" rtlCol="0" anchor="t"/>
          <a:lstStyle/>
          <a:p>
            <a:pPr algn="ctr" indent="0" marL="0">
              <a:buNone/>
            </a:pPr>
            <a:r>
              <a:rPr lang="en-US" sz="1500" b="1" dirty="0">
                <a:solidFill>
                  <a:srgbClr val="1B2A4A"/>
                </a:solidFill>
                <a:latin typeface="Calibri" pitchFamily="34" charset="0"/>
                <a:ea typeface="Calibri" pitchFamily="34" charset="-122"/>
                <a:cs typeface="Calibri" pitchFamily="34" charset="-120"/>
              </a:rPr>
              <a:t>Day 14</a:t>
            </a:r>
            <a:endParaRPr lang="en-US" sz="1500" dirty="0"/>
          </a:p>
          <a:p>
            <a:pPr algn="ctr" indent="0" marL="0">
              <a:buNone/>
            </a:pPr>
            <a:r>
              <a:rPr lang="en-US" sz="1300" b="1" dirty="0">
                <a:solidFill>
                  <a:srgbClr val="1B2A4A"/>
                </a:solidFill>
                <a:latin typeface="Calibri" pitchFamily="34" charset="0"/>
                <a:ea typeface="Calibri" pitchFamily="34" charset="-122"/>
                <a:cs typeface="Calibri" pitchFamily="34" charset="-120"/>
              </a:rPr>
              <a:t>Uneven Restoration</a:t>
            </a:r>
            <a:endParaRPr lang="en-US" sz="1500" dirty="0"/>
          </a:p>
        </p:txBody>
      </p:sp>
      <p:sp>
        <p:nvSpPr>
          <p:cNvPr id="70" name="Text 55"/>
          <p:cNvSpPr txBox="1"/>
          <p:nvPr/>
        </p:nvSpPr>
        <p:spPr>
          <a:xfrm>
            <a:off x="9041130" y="2671318"/>
            <a:ext cx="1130427" cy="1542796"/>
          </a:xfrm>
          <a:prstGeom prst="rect">
            <a:avLst/>
          </a:prstGeom>
          <a:noFill/>
          <a:ln/>
        </p:spPr>
        <p:txBody>
          <a:bodyPr wrap="square" lIns="0" tIns="0" rIns="0" bIns="0" rtlCol="0" anchor="t"/>
          <a:lstStyle/>
          <a:p>
            <a:pPr algn="ctr" indent="0" marL="0">
              <a:buNone/>
            </a:pPr>
            <a:r>
              <a:rPr lang="en-US" sz="1300" dirty="0">
                <a:solidFill>
                  <a:srgbClr val="1E2E3A"/>
                </a:solidFill>
                <a:latin typeface="Calibri" pitchFamily="34" charset="0"/>
                <a:ea typeface="Calibri" pitchFamily="34" charset="-122"/>
                <a:cs typeface="Calibri" pitchFamily="34" charset="-120"/>
              </a:rPr>
              <a:t>Providers restore unevenly. Backlog builds.</a:t>
            </a:r>
            <a:endParaRPr lang="en-US" sz="1300" dirty="0"/>
          </a:p>
        </p:txBody>
      </p:sp>
      <p:sp>
        <p:nvSpPr>
          <p:cNvPr id="71" name="Shape 56"/>
          <p:cNvSpPr/>
          <p:nvPr/>
        </p:nvSpPr>
        <p:spPr>
          <a:xfrm>
            <a:off x="10267569" y="2240280"/>
            <a:ext cx="82296" cy="182880"/>
          </a:xfrm>
          <a:prstGeom prst="chevron">
            <a:avLst/>
          </a:prstGeom>
          <a:solidFill>
            <a:srgbClr val="A9BDD0"/>
          </a:solidFill>
          <a:ln w="12700">
            <a:solidFill>
              <a:srgbClr val="A9BDD0"/>
            </a:solidFill>
            <a:prstDash val="solid"/>
          </a:ln>
        </p:spPr>
      </p:sp>
      <p:sp>
        <p:nvSpPr>
          <p:cNvPr id="72" name="Shape 57"/>
          <p:cNvSpPr/>
          <p:nvPr/>
        </p:nvSpPr>
        <p:spPr>
          <a:xfrm>
            <a:off x="8977122" y="4543298"/>
            <a:ext cx="1258443" cy="1464310"/>
          </a:xfrm>
          <a:prstGeom prst="roundRect">
            <a:avLst>
              <a:gd name="adj" fmla="val 10173"/>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73" name="Shape 58"/>
          <p:cNvSpPr/>
          <p:nvPr/>
        </p:nvSpPr>
        <p:spPr>
          <a:xfrm>
            <a:off x="9460040" y="4616450"/>
            <a:ext cx="292608" cy="292608"/>
          </a:xfrm>
          <a:prstGeom prst="ellipse">
            <a:avLst/>
          </a:prstGeom>
          <a:solidFill>
            <a:srgbClr val="7C9CC0"/>
          </a:solidFill>
          <a:ln w="12700">
            <a:solidFill>
              <a:srgbClr val="7C9CC0"/>
            </a:solidFill>
            <a:prstDash val="solid"/>
          </a:ln>
        </p:spPr>
      </p:sp>
      <p:pic>
        <p:nvPicPr>
          <p:cNvPr id="74" name="Image 13" descr="preencoded.png">    </p:cNvPr>
          <p:cNvPicPr>
            <a:picLocks noChangeAspect="1"/>
          </p:cNvPicPr>
          <p:nvPr/>
        </p:nvPicPr>
        <p:blipFill>
          <a:blip r:embed="rId14"/>
          <a:stretch>
            <a:fillRect/>
          </a:stretch>
        </p:blipFill>
        <p:spPr>
          <a:xfrm>
            <a:off x="9533192" y="4689602"/>
            <a:ext cx="146304" cy="146304"/>
          </a:xfrm>
          <a:prstGeom prst="rect">
            <a:avLst/>
          </a:prstGeom>
        </p:spPr>
      </p:pic>
      <p:sp>
        <p:nvSpPr>
          <p:cNvPr id="75" name="Text 59"/>
          <p:cNvSpPr txBox="1"/>
          <p:nvPr/>
        </p:nvSpPr>
        <p:spPr>
          <a:xfrm>
            <a:off x="9022842" y="4945634"/>
            <a:ext cx="1167003" cy="1043686"/>
          </a:xfrm>
          <a:prstGeom prst="rect">
            <a:avLst/>
          </a:prstGeom>
          <a:noFill/>
          <a:ln/>
        </p:spPr>
        <p:txBody>
          <a:bodyPr wrap="square" lIns="0" tIns="0" rIns="0" bIns="0" rtlCol="0" anchor="t"/>
          <a:lstStyle/>
          <a:p>
            <a:pPr algn="ctr" indent="0" marL="0">
              <a:buNone/>
            </a:pPr>
            <a:r>
              <a:rPr lang="en-US" sz="1300" b="1" dirty="0">
                <a:solidFill>
                  <a:srgbClr val="1B2A4A"/>
                </a:solidFill>
                <a:latin typeface="Calibri" pitchFamily="34" charset="0"/>
                <a:ea typeface="Calibri" pitchFamily="34" charset="-122"/>
                <a:cs typeface="Calibri" pitchFamily="34" charset="-120"/>
              </a:rPr>
              <a:t>Recovery</a:t>
            </a:r>
            <a:endParaRPr lang="en-US" sz="1300" dirty="0"/>
          </a:p>
          <a:p>
            <a:pPr algn="ctr" indent="0" marL="0">
              <a:buNone/>
            </a:pPr>
            <a:r>
              <a:rPr lang="en-US" sz="1300" dirty="0">
                <a:solidFill>
                  <a:srgbClr val="1E2E3A"/>
                </a:solidFill>
                <a:latin typeface="Calibri" pitchFamily="34" charset="0"/>
                <a:ea typeface="Calibri" pitchFamily="34" charset="-122"/>
                <a:cs typeface="Calibri" pitchFamily="34" charset="-120"/>
              </a:rPr>
              <a:t>Cutback &amp; Reconciliation</a:t>
            </a:r>
            <a:endParaRPr lang="en-US" sz="1300" dirty="0"/>
          </a:p>
        </p:txBody>
      </p:sp>
      <p:sp>
        <p:nvSpPr>
          <p:cNvPr id="76" name="Shape 60"/>
          <p:cNvSpPr/>
          <p:nvPr/>
        </p:nvSpPr>
        <p:spPr>
          <a:xfrm>
            <a:off x="10381869" y="1325880"/>
            <a:ext cx="1258443" cy="2933954"/>
          </a:xfrm>
          <a:prstGeom prst="roundRect">
            <a:avLst>
              <a:gd name="adj" fmla="val 10173"/>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77" name="Shape 61"/>
          <p:cNvSpPr/>
          <p:nvPr/>
        </p:nvSpPr>
        <p:spPr>
          <a:xfrm>
            <a:off x="10782491" y="1463040"/>
            <a:ext cx="457200" cy="457200"/>
          </a:xfrm>
          <a:prstGeom prst="ellipse">
            <a:avLst/>
          </a:prstGeom>
          <a:solidFill>
            <a:srgbClr val="BD8C7B"/>
          </a:solidFill>
          <a:ln w="12700">
            <a:solidFill>
              <a:srgbClr val="BD8C7B"/>
            </a:solidFill>
            <a:prstDash val="solid"/>
          </a:ln>
        </p:spPr>
      </p:sp>
      <p:pic>
        <p:nvPicPr>
          <p:cNvPr id="78" name="Image 14" descr="preencoded.png">    </p:cNvPr>
          <p:cNvPicPr>
            <a:picLocks noChangeAspect="1"/>
          </p:cNvPicPr>
          <p:nvPr/>
        </p:nvPicPr>
        <p:blipFill>
          <a:blip r:embed="rId15"/>
          <a:stretch>
            <a:fillRect/>
          </a:stretch>
        </p:blipFill>
        <p:spPr>
          <a:xfrm>
            <a:off x="10901363" y="1581912"/>
            <a:ext cx="219456" cy="219456"/>
          </a:xfrm>
          <a:prstGeom prst="rect">
            <a:avLst/>
          </a:prstGeom>
        </p:spPr>
      </p:pic>
      <p:sp>
        <p:nvSpPr>
          <p:cNvPr id="79" name="Text 62"/>
          <p:cNvSpPr txBox="1"/>
          <p:nvPr/>
        </p:nvSpPr>
        <p:spPr>
          <a:xfrm>
            <a:off x="10427589" y="1929384"/>
            <a:ext cx="1167003" cy="723646"/>
          </a:xfrm>
          <a:prstGeom prst="rect">
            <a:avLst/>
          </a:prstGeom>
          <a:noFill/>
          <a:ln/>
        </p:spPr>
        <p:txBody>
          <a:bodyPr wrap="square" lIns="0" tIns="0" rIns="0" bIns="0" rtlCol="0" anchor="t"/>
          <a:lstStyle/>
          <a:p>
            <a:pPr algn="ctr" indent="0" marL="0">
              <a:buNone/>
            </a:pPr>
            <a:r>
              <a:rPr lang="en-US" sz="1500" b="1" dirty="0">
                <a:solidFill>
                  <a:srgbClr val="1B2A4A"/>
                </a:solidFill>
                <a:latin typeface="Calibri" pitchFamily="34" charset="0"/>
                <a:ea typeface="Calibri" pitchFamily="34" charset="-122"/>
                <a:cs typeface="Calibri" pitchFamily="34" charset="-120"/>
              </a:rPr>
              <a:t>Recovery</a:t>
            </a:r>
            <a:endParaRPr lang="en-US" sz="1500" dirty="0"/>
          </a:p>
          <a:p>
            <a:pPr algn="ctr" indent="0" marL="0">
              <a:buNone/>
            </a:pPr>
            <a:r>
              <a:rPr lang="en-US" sz="1300" b="1" dirty="0">
                <a:solidFill>
                  <a:srgbClr val="1B2A4A"/>
                </a:solidFill>
                <a:latin typeface="Calibri" pitchFamily="34" charset="0"/>
                <a:ea typeface="Calibri" pitchFamily="34" charset="-122"/>
                <a:cs typeface="Calibri" pitchFamily="34" charset="-120"/>
              </a:rPr>
              <a:t>Business Recovery</a:t>
            </a:r>
            <a:endParaRPr lang="en-US" sz="1500" dirty="0"/>
          </a:p>
        </p:txBody>
      </p:sp>
      <p:sp>
        <p:nvSpPr>
          <p:cNvPr id="80" name="Text 63"/>
          <p:cNvSpPr txBox="1"/>
          <p:nvPr/>
        </p:nvSpPr>
        <p:spPr>
          <a:xfrm>
            <a:off x="10445877" y="2671318"/>
            <a:ext cx="1130427" cy="1542796"/>
          </a:xfrm>
          <a:prstGeom prst="rect">
            <a:avLst/>
          </a:prstGeom>
          <a:noFill/>
          <a:ln/>
        </p:spPr>
        <p:txBody>
          <a:bodyPr wrap="square" lIns="0" tIns="0" rIns="0" bIns="0" rtlCol="0" anchor="t"/>
          <a:lstStyle/>
          <a:p>
            <a:pPr algn="ctr" indent="0" marL="0">
              <a:buNone/>
            </a:pPr>
            <a:r>
              <a:rPr lang="en-US" sz="1300" dirty="0">
                <a:solidFill>
                  <a:srgbClr val="1E2E3A"/>
                </a:solidFill>
                <a:latin typeface="Calibri" pitchFamily="34" charset="0"/>
                <a:ea typeface="Calibri" pitchFamily="34" charset="-122"/>
                <a:cs typeface="Calibri" pitchFamily="34" charset="-120"/>
              </a:rPr>
              <a:t>All providers restored. Validate, reconcile, and capture lessons learned.</a:t>
            </a:r>
            <a:endParaRPr lang="en-US" sz="1300" dirty="0"/>
          </a:p>
        </p:txBody>
      </p:sp>
      <p:sp>
        <p:nvSpPr>
          <p:cNvPr id="81" name="Shape 64"/>
          <p:cNvSpPr/>
          <p:nvPr/>
        </p:nvSpPr>
        <p:spPr>
          <a:xfrm>
            <a:off x="10381869" y="4543298"/>
            <a:ext cx="1258443" cy="1464310"/>
          </a:xfrm>
          <a:prstGeom prst="roundRect">
            <a:avLst>
              <a:gd name="adj" fmla="val 10173"/>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82" name="Shape 65"/>
          <p:cNvSpPr/>
          <p:nvPr/>
        </p:nvSpPr>
        <p:spPr>
          <a:xfrm>
            <a:off x="10864787" y="4616450"/>
            <a:ext cx="292608" cy="292608"/>
          </a:xfrm>
          <a:prstGeom prst="ellipse">
            <a:avLst/>
          </a:prstGeom>
          <a:solidFill>
            <a:srgbClr val="BD8C7B"/>
          </a:solidFill>
          <a:ln w="12700">
            <a:solidFill>
              <a:srgbClr val="BD8C7B"/>
            </a:solidFill>
            <a:prstDash val="solid"/>
          </a:ln>
        </p:spPr>
      </p:sp>
      <p:pic>
        <p:nvPicPr>
          <p:cNvPr id="83" name="Image 15" descr="preencoded.png">    </p:cNvPr>
          <p:cNvPicPr>
            <a:picLocks noChangeAspect="1"/>
          </p:cNvPicPr>
          <p:nvPr/>
        </p:nvPicPr>
        <p:blipFill>
          <a:blip r:embed="rId16"/>
          <a:stretch>
            <a:fillRect/>
          </a:stretch>
        </p:blipFill>
        <p:spPr>
          <a:xfrm>
            <a:off x="10937939" y="4689602"/>
            <a:ext cx="146304" cy="146304"/>
          </a:xfrm>
          <a:prstGeom prst="rect">
            <a:avLst/>
          </a:prstGeom>
        </p:spPr>
      </p:pic>
      <p:sp>
        <p:nvSpPr>
          <p:cNvPr id="84" name="Text 66"/>
          <p:cNvSpPr txBox="1"/>
          <p:nvPr/>
        </p:nvSpPr>
        <p:spPr>
          <a:xfrm>
            <a:off x="10427589" y="4945634"/>
            <a:ext cx="1167003" cy="1043686"/>
          </a:xfrm>
          <a:prstGeom prst="rect">
            <a:avLst/>
          </a:prstGeom>
          <a:noFill/>
          <a:ln/>
        </p:spPr>
        <p:txBody>
          <a:bodyPr wrap="square" lIns="0" tIns="0" rIns="0" bIns="0" rtlCol="0" anchor="t"/>
          <a:lstStyle/>
          <a:p>
            <a:pPr algn="ctr" indent="0" marL="0">
              <a:buNone/>
            </a:pPr>
            <a:r>
              <a:rPr lang="en-US" sz="1300" b="1" dirty="0">
                <a:solidFill>
                  <a:srgbClr val="1B2A4A"/>
                </a:solidFill>
                <a:latin typeface="Calibri" pitchFamily="34" charset="0"/>
                <a:ea typeface="Calibri" pitchFamily="34" charset="-122"/>
                <a:cs typeface="Calibri" pitchFamily="34" charset="-120"/>
              </a:rPr>
              <a:t>Recovery &amp; Validation</a:t>
            </a:r>
            <a:endParaRPr lang="en-US" sz="1300" dirty="0"/>
          </a:p>
          <a:p>
            <a:pPr algn="ctr" indent="0" marL="0">
              <a:buNone/>
            </a:pPr>
            <a:r>
              <a:rPr lang="en-US" sz="1300" dirty="0">
                <a:solidFill>
                  <a:srgbClr val="1E2E3A"/>
                </a:solidFill>
                <a:latin typeface="Calibri" pitchFamily="34" charset="0"/>
                <a:ea typeface="Calibri" pitchFamily="34" charset="-122"/>
                <a:cs typeface="Calibri" pitchFamily="34" charset="-120"/>
              </a:rPr>
              <a:t>Return to normal operations</a:t>
            </a:r>
            <a:endParaRPr lang="en-US" sz="1300" dirty="0"/>
          </a:p>
        </p:txBody>
      </p:sp>
      <p:sp>
        <p:nvSpPr>
          <p:cNvPr id="85" name="Text 67"/>
          <p:cNvSpPr txBox="1"/>
          <p:nvPr/>
        </p:nvSpPr>
        <p:spPr>
          <a:xfrm>
            <a:off x="548640" y="6254496"/>
            <a:ext cx="11091672" cy="256032"/>
          </a:xfrm>
          <a:prstGeom prst="rect">
            <a:avLst/>
          </a:prstGeom>
          <a:noFill/>
          <a:ln/>
        </p:spPr>
        <p:txBody>
          <a:bodyPr wrap="square" lIns="0" tIns="0" rIns="0" bIns="0" rtlCol="0" anchor="ctr"/>
          <a:lstStyle/>
          <a:p>
            <a:pPr indent="0" marL="0">
              <a:buNone/>
            </a:pPr>
            <a:r>
              <a:rPr lang="en-US" sz="1200" b="1" dirty="0">
                <a:solidFill>
                  <a:srgbClr val="465A69"/>
                </a:solidFill>
                <a:latin typeface="Calibri" pitchFamily="34" charset="0"/>
                <a:ea typeface="Calibri" pitchFamily="34" charset="-122"/>
                <a:cs typeface="Calibri" pitchFamily="34" charset="-120"/>
              </a:rPr>
              <a:t>Acronyms:  </a:t>
            </a:r>
            <a:pPr indent="0" marL="0">
              <a:buNone/>
            </a:pPr>
            <a:r>
              <a:rPr lang="en-US" sz="1200" dirty="0">
                <a:solidFill>
                  <a:srgbClr val="465A69"/>
                </a:solidFill>
                <a:latin typeface="Calibri" pitchFamily="34" charset="0"/>
                <a:ea typeface="Calibri" pitchFamily="34" charset="-122"/>
                <a:cs typeface="Calibri" pitchFamily="34" charset="-120"/>
              </a:rPr>
              <a:t>BC: Business Continuity;  SaaS: software as a service;  CRO: contract research organization;  Mgmt: Management</a:t>
            </a:r>
            <a:endParaRPr lang="en-US" sz="1200" dirty="0"/>
          </a:p>
        </p:txBody>
      </p:sp>
      <p:sp>
        <p:nvSpPr>
          <p:cNvPr id="86" name="Shape 68"/>
          <p:cNvSpPr/>
          <p:nvPr/>
        </p:nvSpPr>
        <p:spPr>
          <a:xfrm>
            <a:off x="548640" y="6537960"/>
            <a:ext cx="763524" cy="274320"/>
          </a:xfrm>
          <a:prstGeom prst="roundRect">
            <a:avLst>
              <a:gd name="adj" fmla="val 50000"/>
            </a:avLst>
          </a:prstGeom>
          <a:solidFill>
            <a:srgbClr val="E4ECF2"/>
          </a:solidFill>
          <a:ln w="12700">
            <a:solidFill>
              <a:srgbClr val="E4ECF2"/>
            </a:solidFill>
            <a:prstDash val="solid"/>
          </a:ln>
        </p:spPr>
      </p:sp>
      <p:sp>
        <p:nvSpPr>
          <p:cNvPr id="87" name="Text 69"/>
          <p:cNvSpPr txBox="1"/>
          <p:nvPr/>
        </p:nvSpPr>
        <p:spPr>
          <a:xfrm>
            <a:off x="548640" y="6537960"/>
            <a:ext cx="763524" cy="274320"/>
          </a:xfrm>
          <a:prstGeom prst="rect">
            <a:avLst/>
          </a:prstGeom>
          <a:noFill/>
          <a:ln/>
        </p:spPr>
        <p:txBody>
          <a:bodyPr wrap="square" lIns="0" tIns="0" rIns="0" bIns="0" rtlCol="0" anchor="ctr"/>
          <a:lstStyle/>
          <a:p>
            <a:pPr algn="ctr" indent="0" marL="0">
              <a:buNone/>
            </a:pPr>
            <a:r>
              <a:rPr lang="en-US" sz="1200" b="1" dirty="0">
                <a:solidFill>
                  <a:srgbClr val="23405A"/>
                </a:solidFill>
                <a:latin typeface="Calibri" pitchFamily="34" charset="0"/>
                <a:ea typeface="Calibri" pitchFamily="34" charset="-122"/>
                <a:cs typeface="Calibri" pitchFamily="34" charset="-120"/>
              </a:rPr>
              <a:t>Start</a:t>
            </a:r>
            <a:endParaRPr lang="en-US" sz="1200" dirty="0"/>
          </a:p>
        </p:txBody>
      </p:sp>
      <p:pic>
        <p:nvPicPr>
          <p:cNvPr id="88" name="Image 16" descr="preencoded.png">
            <a:hlinkClick r:id="rId18" tooltip="Go to Start" action="ppaction://hlinksldjump"/>
          </p:cNvPr>
          <p:cNvPicPr>
            <a:picLocks noChangeAspect="1"/>
          </p:cNvPicPr>
          <p:nvPr/>
        </p:nvPicPr>
        <p:blipFill>
          <a:blip r:embed="rId17"/>
          <a:stretch>
            <a:fillRect/>
          </a:stretch>
        </p:blipFill>
        <p:spPr>
          <a:xfrm>
            <a:off x="548640" y="6537960"/>
            <a:ext cx="763524" cy="274320"/>
          </a:xfrm>
          <a:prstGeom prst="rect">
            <a:avLst/>
          </a:prstGeom>
        </p:spPr>
      </p:pic>
      <p:sp>
        <p:nvSpPr>
          <p:cNvPr id="89" name="Shape 70"/>
          <p:cNvSpPr/>
          <p:nvPr/>
        </p:nvSpPr>
        <p:spPr>
          <a:xfrm>
            <a:off x="1385316" y="6537960"/>
            <a:ext cx="1197864" cy="274320"/>
          </a:xfrm>
          <a:prstGeom prst="roundRect">
            <a:avLst>
              <a:gd name="adj" fmla="val 50000"/>
            </a:avLst>
          </a:prstGeom>
          <a:solidFill>
            <a:srgbClr val="F1F6FA"/>
          </a:solidFill>
          <a:ln w="12700">
            <a:solidFill>
              <a:srgbClr val="F1F6FA"/>
            </a:solidFill>
            <a:prstDash val="solid"/>
          </a:ln>
        </p:spPr>
      </p:sp>
      <p:sp>
        <p:nvSpPr>
          <p:cNvPr id="90" name="Text 71"/>
          <p:cNvSpPr txBox="1"/>
          <p:nvPr/>
        </p:nvSpPr>
        <p:spPr>
          <a:xfrm>
            <a:off x="1385316" y="6537960"/>
            <a:ext cx="1197864" cy="274320"/>
          </a:xfrm>
          <a:prstGeom prst="rect">
            <a:avLst/>
          </a:prstGeom>
          <a:noFill/>
          <a:ln/>
        </p:spPr>
        <p:txBody>
          <a:bodyPr wrap="square" lIns="0" tIns="0" rIns="0" bIns="0" rtlCol="0" anchor="ctr"/>
          <a:lstStyle/>
          <a:p>
            <a:pPr algn="ctr" indent="0" marL="0">
              <a:buNone/>
            </a:pPr>
            <a:r>
              <a:rPr lang="en-US" sz="1200" b="1" dirty="0">
                <a:solidFill>
                  <a:srgbClr val="3F6E8C"/>
                </a:solidFill>
                <a:latin typeface="Calibri" pitchFamily="34" charset="0"/>
                <a:ea typeface="Calibri" pitchFamily="34" charset="-122"/>
                <a:cs typeface="Calibri" pitchFamily="34" charset="-120"/>
              </a:rPr>
              <a:t>Scenario 1</a:t>
            </a:r>
            <a:endParaRPr lang="en-US" sz="1200" dirty="0"/>
          </a:p>
        </p:txBody>
      </p:sp>
      <p:pic>
        <p:nvPicPr>
          <p:cNvPr id="91" name="Image 17" descr="preencoded.png">
            <a:hlinkClick r:id="rId20" tooltip="Go to Scenario 1" action="ppaction://hlinksldjump"/>
          </p:cNvPr>
          <p:cNvPicPr>
            <a:picLocks noChangeAspect="1"/>
          </p:cNvPicPr>
          <p:nvPr/>
        </p:nvPicPr>
        <p:blipFill>
          <a:blip r:embed="rId19"/>
          <a:stretch>
            <a:fillRect/>
          </a:stretch>
        </p:blipFill>
        <p:spPr>
          <a:xfrm>
            <a:off x="1385316" y="6537960"/>
            <a:ext cx="1197864" cy="274320"/>
          </a:xfrm>
          <a:prstGeom prst="rect">
            <a:avLst/>
          </a:prstGeom>
        </p:spPr>
      </p:pic>
      <p:sp>
        <p:nvSpPr>
          <p:cNvPr id="92" name="Shape 72"/>
          <p:cNvSpPr/>
          <p:nvPr/>
        </p:nvSpPr>
        <p:spPr>
          <a:xfrm>
            <a:off x="2656332" y="6537960"/>
            <a:ext cx="1197864" cy="274320"/>
          </a:xfrm>
          <a:prstGeom prst="roundRect">
            <a:avLst>
              <a:gd name="adj" fmla="val 50000"/>
            </a:avLst>
          </a:prstGeom>
          <a:solidFill>
            <a:srgbClr val="F1F8F3"/>
          </a:solidFill>
          <a:ln w="12700">
            <a:solidFill>
              <a:srgbClr val="F1F8F3"/>
            </a:solidFill>
            <a:prstDash val="solid"/>
          </a:ln>
        </p:spPr>
      </p:sp>
      <p:sp>
        <p:nvSpPr>
          <p:cNvPr id="93" name="Text 73"/>
          <p:cNvSpPr txBox="1"/>
          <p:nvPr/>
        </p:nvSpPr>
        <p:spPr>
          <a:xfrm>
            <a:off x="2656332" y="6537960"/>
            <a:ext cx="1197864" cy="274320"/>
          </a:xfrm>
          <a:prstGeom prst="rect">
            <a:avLst/>
          </a:prstGeom>
          <a:noFill/>
          <a:ln/>
        </p:spPr>
        <p:txBody>
          <a:bodyPr wrap="square" lIns="0" tIns="0" rIns="0" bIns="0" rtlCol="0" anchor="ctr"/>
          <a:lstStyle/>
          <a:p>
            <a:pPr algn="ctr" indent="0" marL="0">
              <a:buNone/>
            </a:pPr>
            <a:r>
              <a:rPr lang="en-US" sz="1200" b="1" dirty="0">
                <a:solidFill>
                  <a:srgbClr val="4C8068"/>
                </a:solidFill>
                <a:latin typeface="Calibri" pitchFamily="34" charset="0"/>
                <a:ea typeface="Calibri" pitchFamily="34" charset="-122"/>
                <a:cs typeface="Calibri" pitchFamily="34" charset="-120"/>
              </a:rPr>
              <a:t>Scenario 2</a:t>
            </a:r>
            <a:endParaRPr lang="en-US" sz="1200" dirty="0"/>
          </a:p>
        </p:txBody>
      </p:sp>
      <p:pic>
        <p:nvPicPr>
          <p:cNvPr id="94" name="Image 18" descr="preencoded.png">
            <a:hlinkClick r:id="rId22" tooltip="Go to Scenario 2" action="ppaction://hlinksldjump"/>
          </p:cNvPr>
          <p:cNvPicPr>
            <a:picLocks noChangeAspect="1"/>
          </p:cNvPicPr>
          <p:nvPr/>
        </p:nvPicPr>
        <p:blipFill>
          <a:blip r:embed="rId21"/>
          <a:stretch>
            <a:fillRect/>
          </a:stretch>
        </p:blipFill>
        <p:spPr>
          <a:xfrm>
            <a:off x="2656332" y="6537960"/>
            <a:ext cx="1197864" cy="274320"/>
          </a:xfrm>
          <a:prstGeom prst="rect">
            <a:avLst/>
          </a:prstGeom>
        </p:spPr>
      </p:pic>
      <p:sp>
        <p:nvSpPr>
          <p:cNvPr id="95" name="Shape 74"/>
          <p:cNvSpPr/>
          <p:nvPr/>
        </p:nvSpPr>
        <p:spPr>
          <a:xfrm>
            <a:off x="3927348" y="6537960"/>
            <a:ext cx="1197864" cy="274320"/>
          </a:xfrm>
          <a:prstGeom prst="roundRect">
            <a:avLst>
              <a:gd name="adj" fmla="val 50000"/>
            </a:avLst>
          </a:prstGeom>
          <a:solidFill>
            <a:srgbClr val="6E5E94"/>
          </a:solidFill>
          <a:ln w="12700">
            <a:solidFill>
              <a:srgbClr val="6E5E94"/>
            </a:solidFill>
            <a:prstDash val="solid"/>
          </a:ln>
        </p:spPr>
      </p:sp>
      <p:sp>
        <p:nvSpPr>
          <p:cNvPr id="96" name="Text 75"/>
          <p:cNvSpPr txBox="1"/>
          <p:nvPr/>
        </p:nvSpPr>
        <p:spPr>
          <a:xfrm>
            <a:off x="3927348" y="6537960"/>
            <a:ext cx="1197864"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Scenario 3</a:t>
            </a:r>
            <a:endParaRPr lang="en-US" sz="1200" dirty="0"/>
          </a:p>
        </p:txBody>
      </p:sp>
      <p:pic>
        <p:nvPicPr>
          <p:cNvPr id="97" name="Image 19" descr="preencoded.png">
            <a:hlinkClick r:id="rId24" tooltip="Go to Scenario 3" action="ppaction://hlinksldjump"/>
          </p:cNvPr>
          <p:cNvPicPr>
            <a:picLocks noChangeAspect="1"/>
          </p:cNvPicPr>
          <p:nvPr/>
        </p:nvPicPr>
        <p:blipFill>
          <a:blip r:embed="rId23"/>
          <a:stretch>
            <a:fillRect/>
          </a:stretch>
        </p:blipFill>
        <p:spPr>
          <a:xfrm>
            <a:off x="3927348" y="6537960"/>
            <a:ext cx="1197864" cy="274320"/>
          </a:xfrm>
          <a:prstGeom prst="rect">
            <a:avLst/>
          </a:prstGeom>
        </p:spPr>
      </p:pic>
      <p:sp>
        <p:nvSpPr>
          <p:cNvPr id="98" name="Shape 76"/>
          <p:cNvSpPr/>
          <p:nvPr/>
        </p:nvSpPr>
        <p:spPr>
          <a:xfrm>
            <a:off x="5198364" y="6537960"/>
            <a:ext cx="937260" cy="274320"/>
          </a:xfrm>
          <a:prstGeom prst="roundRect">
            <a:avLst>
              <a:gd name="adj" fmla="val 50000"/>
            </a:avLst>
          </a:prstGeom>
          <a:solidFill>
            <a:srgbClr val="E4ECF2"/>
          </a:solidFill>
          <a:ln w="12700">
            <a:solidFill>
              <a:srgbClr val="E4ECF2"/>
            </a:solidFill>
            <a:prstDash val="solid"/>
          </a:ln>
        </p:spPr>
      </p:sp>
      <p:sp>
        <p:nvSpPr>
          <p:cNvPr id="99" name="Text 77"/>
          <p:cNvSpPr txBox="1"/>
          <p:nvPr/>
        </p:nvSpPr>
        <p:spPr>
          <a:xfrm>
            <a:off x="5198364" y="6537960"/>
            <a:ext cx="937260" cy="274320"/>
          </a:xfrm>
          <a:prstGeom prst="rect">
            <a:avLst/>
          </a:prstGeom>
          <a:noFill/>
          <a:ln/>
        </p:spPr>
        <p:txBody>
          <a:bodyPr wrap="square" lIns="0" tIns="0" rIns="0" bIns="0" rtlCol="0" anchor="ctr"/>
          <a:lstStyle/>
          <a:p>
            <a:pPr algn="ctr" indent="0" marL="0">
              <a:buNone/>
            </a:pPr>
            <a:r>
              <a:rPr lang="en-US" sz="1200" b="1" dirty="0">
                <a:solidFill>
                  <a:srgbClr val="23405A"/>
                </a:solidFill>
                <a:latin typeface="Calibri" pitchFamily="34" charset="0"/>
                <a:ea typeface="Calibri" pitchFamily="34" charset="-122"/>
                <a:cs typeface="Calibri" pitchFamily="34" charset="-120"/>
              </a:rPr>
              <a:t>Closing</a:t>
            </a:r>
            <a:endParaRPr lang="en-US" sz="1200" dirty="0"/>
          </a:p>
        </p:txBody>
      </p:sp>
      <p:pic>
        <p:nvPicPr>
          <p:cNvPr id="100" name="Image 20" descr="preencoded.png">
            <a:hlinkClick r:id="rId26" tooltip="Go to Closing" action="ppaction://hlinksldjump"/>
          </p:cNvPr>
          <p:cNvPicPr>
            <a:picLocks noChangeAspect="1"/>
          </p:cNvPicPr>
          <p:nvPr/>
        </p:nvPicPr>
        <p:blipFill>
          <a:blip r:embed="rId25"/>
          <a:stretch>
            <a:fillRect/>
          </a:stretch>
        </p:blipFill>
        <p:spPr>
          <a:xfrm>
            <a:off x="5198364" y="6537960"/>
            <a:ext cx="937260" cy="274320"/>
          </a:xfrm>
          <a:prstGeom prst="rect">
            <a:avLst/>
          </a:prstGeom>
        </p:spPr>
      </p:pic>
      <p:sp>
        <p:nvSpPr>
          <p:cNvPr id="101" name="Text 78"/>
          <p:cNvSpPr txBox="1"/>
          <p:nvPr/>
        </p:nvSpPr>
        <p:spPr>
          <a:xfrm>
            <a:off x="11277295" y="6537960"/>
            <a:ext cx="365760" cy="274320"/>
          </a:xfrm>
          <a:prstGeom prst="rect">
            <a:avLst/>
          </a:prstGeom>
          <a:noFill/>
          <a:ln/>
        </p:spPr>
        <p:txBody>
          <a:bodyPr wrap="square" lIns="0" tIns="0" rIns="0" bIns="0" rtlCol="0" anchor="ctr"/>
          <a:lstStyle/>
          <a:p>
            <a:pPr algn="r" indent="0" marL="0">
              <a:buNone/>
            </a:pPr>
            <a:r>
              <a:rPr lang="en-US" sz="1200" dirty="0">
                <a:solidFill>
                  <a:srgbClr val="465A69"/>
                </a:solidFill>
                <a:latin typeface="Calibri" pitchFamily="34" charset="0"/>
                <a:ea typeface="Calibri" pitchFamily="34" charset="-122"/>
                <a:cs typeface="Calibri" pitchFamily="34" charset="-120"/>
              </a:rPr>
              <a:t>51</a:t>
            </a:r>
            <a:endParaRPr lang="en-US" sz="12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EEEAF5"/>
        </a:solidFill>
      </p:bgPr>
    </p:bg>
    <p:spTree>
      <p:nvGrpSpPr>
        <p:cNvPr id="1" name=""/>
        <p:cNvGrpSpPr/>
        <p:nvPr/>
      </p:nvGrpSpPr>
      <p:grpSpPr>
        <a:xfrm>
          <a:off x="0" y="0"/>
          <a:ext cx="0" cy="0"/>
          <a:chOff x="0" y="0"/>
          <a:chExt cx="0" cy="0"/>
        </a:xfrm>
      </p:grpSpPr>
      <p:sp>
        <p:nvSpPr>
          <p:cNvPr id="2" name="Shape 0"/>
          <p:cNvSpPr/>
          <p:nvPr/>
        </p:nvSpPr>
        <p:spPr>
          <a:xfrm>
            <a:off x="548640" y="347472"/>
            <a:ext cx="2843784" cy="329184"/>
          </a:xfrm>
          <a:prstGeom prst="roundRect">
            <a:avLst>
              <a:gd name="adj" fmla="val 50000"/>
            </a:avLst>
          </a:prstGeom>
          <a:solidFill>
            <a:srgbClr val="F6F3FA"/>
          </a:solidFill>
          <a:ln w="12700">
            <a:solidFill>
              <a:srgbClr val="F6F3FA"/>
            </a:solidFill>
            <a:prstDash val="solid"/>
          </a:ln>
        </p:spPr>
      </p:sp>
      <p:sp>
        <p:nvSpPr>
          <p:cNvPr id="3" name="Text 1"/>
          <p:cNvSpPr txBox="1"/>
          <p:nvPr/>
        </p:nvSpPr>
        <p:spPr>
          <a:xfrm>
            <a:off x="548640" y="347472"/>
            <a:ext cx="2843784" cy="329184"/>
          </a:xfrm>
          <a:prstGeom prst="rect">
            <a:avLst/>
          </a:prstGeom>
          <a:noFill/>
          <a:ln/>
        </p:spPr>
        <p:txBody>
          <a:bodyPr wrap="square" lIns="0" tIns="0" rIns="0" bIns="0" rtlCol="0" anchor="ctr"/>
          <a:lstStyle/>
          <a:p>
            <a:pPr algn="ctr" indent="0" marL="0">
              <a:buNone/>
            </a:pPr>
            <a:r>
              <a:rPr lang="en-US" sz="1200" b="1" dirty="0">
                <a:solidFill>
                  <a:srgbClr val="6E5E94"/>
                </a:solidFill>
                <a:latin typeface="Calibri" pitchFamily="34" charset="0"/>
                <a:ea typeface="Calibri" pitchFamily="34" charset="-122"/>
                <a:cs typeface="Calibri" pitchFamily="34" charset="-120"/>
              </a:rPr>
              <a:t>Scenario 3 recap, part 2 of 4</a:t>
            </a:r>
            <a:endParaRPr lang="en-US" sz="1200" dirty="0"/>
          </a:p>
        </p:txBody>
      </p:sp>
      <p:sp>
        <p:nvSpPr>
          <p:cNvPr id="4" name="Text 2"/>
          <p:cNvSpPr txBox="1"/>
          <p:nvPr/>
        </p:nvSpPr>
        <p:spPr>
          <a:xfrm>
            <a:off x="548640" y="749808"/>
            <a:ext cx="11064240" cy="548640"/>
          </a:xfrm>
          <a:prstGeom prst="rect">
            <a:avLst/>
          </a:prstGeom>
          <a:noFill/>
          <a:ln/>
        </p:spPr>
        <p:txBody>
          <a:bodyPr wrap="square" lIns="0" tIns="0" rIns="0" bIns="0" rtlCol="0" anchor="ctr"/>
          <a:lstStyle/>
          <a:p>
            <a:pPr indent="0" marL="0">
              <a:buNone/>
            </a:pPr>
            <a:r>
              <a:rPr lang="en-US" sz="2400" b="1" dirty="0">
                <a:solidFill>
                  <a:srgbClr val="1B2A4A"/>
                </a:solidFill>
                <a:latin typeface="Cambria" pitchFamily="34" charset="0"/>
                <a:ea typeface="Cambria" pitchFamily="34" charset="-122"/>
                <a:cs typeface="Cambria" pitchFamily="34" charset="-120"/>
              </a:rPr>
              <a:t>Key questions at each stage</a:t>
            </a:r>
            <a:endParaRPr lang="en-US" sz="2400" dirty="0"/>
          </a:p>
        </p:txBody>
      </p:sp>
      <p:sp>
        <p:nvSpPr>
          <p:cNvPr id="5" name="Shape 3"/>
          <p:cNvSpPr/>
          <p:nvPr/>
        </p:nvSpPr>
        <p:spPr>
          <a:xfrm>
            <a:off x="548640" y="1508760"/>
            <a:ext cx="2567178" cy="3931920"/>
          </a:xfrm>
          <a:prstGeom prst="roundRect">
            <a:avLst>
              <a:gd name="adj" fmla="val 4987"/>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6" name="Shape 4"/>
          <p:cNvSpPr/>
          <p:nvPr/>
        </p:nvSpPr>
        <p:spPr>
          <a:xfrm>
            <a:off x="548640" y="1508760"/>
            <a:ext cx="2567178" cy="914400"/>
          </a:xfrm>
          <a:prstGeom prst="roundRect">
            <a:avLst>
              <a:gd name="adj" fmla="val 14000"/>
            </a:avLst>
          </a:prstGeom>
          <a:solidFill>
            <a:srgbClr val="E3ECF5"/>
          </a:solidFill>
          <a:ln w="12700">
            <a:solidFill>
              <a:srgbClr val="E3ECF5"/>
            </a:solidFill>
            <a:prstDash val="solid"/>
          </a:ln>
        </p:spPr>
      </p:sp>
      <p:sp>
        <p:nvSpPr>
          <p:cNvPr id="7" name="Shape 5"/>
          <p:cNvSpPr/>
          <p:nvPr/>
        </p:nvSpPr>
        <p:spPr>
          <a:xfrm>
            <a:off x="731520" y="1737360"/>
            <a:ext cx="457200" cy="457200"/>
          </a:xfrm>
          <a:prstGeom prst="ellipse">
            <a:avLst/>
          </a:prstGeom>
          <a:solidFill>
            <a:srgbClr val="6F93B3"/>
          </a:solidFill>
          <a:ln w="12700">
            <a:solidFill>
              <a:srgbClr val="6F93B3"/>
            </a:solidFill>
            <a:prstDash val="solid"/>
          </a:ln>
        </p:spPr>
      </p:sp>
      <p:pic>
        <p:nvPicPr>
          <p:cNvPr id="8" name="Image 0" descr="preencoded.png">    </p:cNvPr>
          <p:cNvPicPr>
            <a:picLocks noChangeAspect="1"/>
          </p:cNvPicPr>
          <p:nvPr/>
        </p:nvPicPr>
        <p:blipFill>
          <a:blip r:embed="rId1"/>
          <a:stretch>
            <a:fillRect/>
          </a:stretch>
        </p:blipFill>
        <p:spPr>
          <a:xfrm>
            <a:off x="850392" y="1856232"/>
            <a:ext cx="219456" cy="219456"/>
          </a:xfrm>
          <a:prstGeom prst="rect">
            <a:avLst/>
          </a:prstGeom>
        </p:spPr>
      </p:pic>
      <p:sp>
        <p:nvSpPr>
          <p:cNvPr id="9" name="Text 6"/>
          <p:cNvSpPr txBox="1"/>
          <p:nvPr/>
        </p:nvSpPr>
        <p:spPr>
          <a:xfrm>
            <a:off x="1325880" y="1600200"/>
            <a:ext cx="1698498" cy="749808"/>
          </a:xfrm>
          <a:prstGeom prst="rect">
            <a:avLst/>
          </a:prstGeom>
          <a:noFill/>
          <a:ln/>
        </p:spPr>
        <p:txBody>
          <a:bodyPr wrap="square" lIns="0" tIns="0" rIns="0" bIns="0" rtlCol="0" anchor="ctr"/>
          <a:lstStyle/>
          <a:p>
            <a:pPr indent="0" marL="0">
              <a:buNone/>
            </a:pPr>
            <a:r>
              <a:rPr lang="en-US" sz="1500" b="1" dirty="0">
                <a:solidFill>
                  <a:srgbClr val="1B2A4A"/>
                </a:solidFill>
                <a:latin typeface="Calibri" pitchFamily="34" charset="0"/>
                <a:ea typeface="Calibri" pitchFamily="34" charset="-122"/>
                <a:cs typeface="Calibri" pitchFamily="34" charset="-120"/>
              </a:rPr>
              <a:t>Day 1</a:t>
            </a:r>
            <a:endParaRPr lang="en-US" sz="1500" dirty="0"/>
          </a:p>
          <a:p>
            <a:pPr indent="0" marL="0">
              <a:buNone/>
            </a:pPr>
            <a:r>
              <a:rPr lang="en-US" sz="1250" b="1" dirty="0">
                <a:solidFill>
                  <a:srgbClr val="1B2A4A"/>
                </a:solidFill>
                <a:latin typeface="Calibri" pitchFamily="34" charset="0"/>
                <a:ea typeface="Calibri" pitchFamily="34" charset="-122"/>
                <a:cs typeface="Calibri" pitchFamily="34" charset="-120"/>
              </a:rPr>
              <a:t>CRO Exchange Blocked</a:t>
            </a:r>
            <a:endParaRPr lang="en-US" sz="1500" dirty="0"/>
          </a:p>
        </p:txBody>
      </p:sp>
      <p:sp>
        <p:nvSpPr>
          <p:cNvPr id="10" name="Text 7"/>
          <p:cNvSpPr txBox="1"/>
          <p:nvPr/>
        </p:nvSpPr>
        <p:spPr>
          <a:xfrm>
            <a:off x="777240" y="2651760"/>
            <a:ext cx="2155698" cy="3154680"/>
          </a:xfrm>
          <a:prstGeom prst="rect">
            <a:avLst/>
          </a:prstGeom>
          <a:noFill/>
          <a:ln/>
        </p:spPr>
        <p:txBody>
          <a:bodyPr wrap="square" lIns="0" tIns="0" rIns="0" bIns="0" rtlCol="0" anchor="t"/>
          <a:lstStyle/>
          <a:p>
            <a:pPr marL="165100" indent="-165100">
              <a:spcAft>
                <a:spcPts val="1000"/>
              </a:spcAft>
              <a:buSzPct val="100000"/>
              <a:buChar char="•"/>
            </a:pPr>
            <a:r>
              <a:rPr lang="en-US" sz="1400" dirty="0">
                <a:solidFill>
                  <a:srgbClr val="1E2E3A"/>
                </a:solidFill>
                <a:latin typeface="Calibri" pitchFamily="34" charset="0"/>
                <a:ea typeface="Calibri" pitchFamily="34" charset="-122"/>
                <a:cs typeface="Calibri" pitchFamily="34" charset="-120"/>
              </a:rPr>
              <a:t>Which processes depend on the CRO portal?</a:t>
            </a:r>
            <a:endParaRPr lang="en-US" sz="1400" dirty="0"/>
          </a:p>
          <a:p>
            <a:pPr marL="165100" indent="-165100">
              <a:spcAft>
                <a:spcPts val="1000"/>
              </a:spcAft>
              <a:buSzPct val="100000"/>
              <a:buChar char="•"/>
            </a:pPr>
            <a:r>
              <a:rPr lang="en-US" sz="1400" dirty="0">
                <a:solidFill>
                  <a:srgbClr val="1E2E3A"/>
                </a:solidFill>
                <a:latin typeface="Calibri" pitchFamily="34" charset="0"/>
                <a:ea typeface="Calibri" pitchFamily="34" charset="-122"/>
                <a:cs typeface="Calibri" pitchFamily="34" charset="-120"/>
              </a:rPr>
              <a:t>Is there an approved alternate exchange method?</a:t>
            </a:r>
            <a:endParaRPr lang="en-US" sz="1400" dirty="0"/>
          </a:p>
          <a:p>
            <a:pPr marL="165100" indent="-165100">
              <a:spcAft>
                <a:spcPts val="1000"/>
              </a:spcAft>
              <a:buSzPct val="100000"/>
              <a:buChar char="•"/>
            </a:pPr>
            <a:r>
              <a:rPr lang="en-US" sz="1400" dirty="0">
                <a:solidFill>
                  <a:srgbClr val="1E2E3A"/>
                </a:solidFill>
                <a:latin typeface="Calibri" pitchFamily="34" charset="0"/>
                <a:ea typeface="Calibri" pitchFamily="34" charset="-122"/>
                <a:cs typeface="Calibri" pitchFamily="34" charset="-120"/>
              </a:rPr>
              <a:t>Who owns the CRO relationship?</a:t>
            </a:r>
            <a:endParaRPr lang="en-US" sz="1400" dirty="0"/>
          </a:p>
        </p:txBody>
      </p:sp>
      <p:sp>
        <p:nvSpPr>
          <p:cNvPr id="11" name="Shape 8"/>
          <p:cNvSpPr/>
          <p:nvPr/>
        </p:nvSpPr>
        <p:spPr>
          <a:xfrm>
            <a:off x="3390138" y="1508760"/>
            <a:ext cx="2567178" cy="3931920"/>
          </a:xfrm>
          <a:prstGeom prst="roundRect">
            <a:avLst>
              <a:gd name="adj" fmla="val 4987"/>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12" name="Shape 9"/>
          <p:cNvSpPr/>
          <p:nvPr/>
        </p:nvSpPr>
        <p:spPr>
          <a:xfrm>
            <a:off x="3390138" y="1508760"/>
            <a:ext cx="2567178" cy="914400"/>
          </a:xfrm>
          <a:prstGeom prst="roundRect">
            <a:avLst>
              <a:gd name="adj" fmla="val 14000"/>
            </a:avLst>
          </a:prstGeom>
          <a:solidFill>
            <a:srgbClr val="E2F0EA"/>
          </a:solidFill>
          <a:ln w="12700">
            <a:solidFill>
              <a:srgbClr val="E2F0EA"/>
            </a:solidFill>
            <a:prstDash val="solid"/>
          </a:ln>
        </p:spPr>
      </p:sp>
      <p:sp>
        <p:nvSpPr>
          <p:cNvPr id="13" name="Shape 10"/>
          <p:cNvSpPr/>
          <p:nvPr/>
        </p:nvSpPr>
        <p:spPr>
          <a:xfrm>
            <a:off x="3573018" y="1737360"/>
            <a:ext cx="457200" cy="457200"/>
          </a:xfrm>
          <a:prstGeom prst="ellipse">
            <a:avLst/>
          </a:prstGeom>
          <a:solidFill>
            <a:srgbClr val="6FA394"/>
          </a:solidFill>
          <a:ln w="12700">
            <a:solidFill>
              <a:srgbClr val="6FA394"/>
            </a:solidFill>
            <a:prstDash val="solid"/>
          </a:ln>
        </p:spPr>
      </p:sp>
      <p:pic>
        <p:nvPicPr>
          <p:cNvPr id="14" name="Image 1" descr="preencoded.png">    </p:cNvPr>
          <p:cNvPicPr>
            <a:picLocks noChangeAspect="1"/>
          </p:cNvPicPr>
          <p:nvPr/>
        </p:nvPicPr>
        <p:blipFill>
          <a:blip r:embed="rId2"/>
          <a:stretch>
            <a:fillRect/>
          </a:stretch>
        </p:blipFill>
        <p:spPr>
          <a:xfrm>
            <a:off x="3691890" y="1856232"/>
            <a:ext cx="219456" cy="219456"/>
          </a:xfrm>
          <a:prstGeom prst="rect">
            <a:avLst/>
          </a:prstGeom>
        </p:spPr>
      </p:pic>
      <p:sp>
        <p:nvSpPr>
          <p:cNvPr id="15" name="Text 11"/>
          <p:cNvSpPr txBox="1"/>
          <p:nvPr/>
        </p:nvSpPr>
        <p:spPr>
          <a:xfrm>
            <a:off x="4167378" y="1600200"/>
            <a:ext cx="1698498" cy="749808"/>
          </a:xfrm>
          <a:prstGeom prst="rect">
            <a:avLst/>
          </a:prstGeom>
          <a:noFill/>
          <a:ln/>
        </p:spPr>
        <p:txBody>
          <a:bodyPr wrap="square" lIns="0" tIns="0" rIns="0" bIns="0" rtlCol="0" anchor="ctr"/>
          <a:lstStyle/>
          <a:p>
            <a:pPr indent="0" marL="0">
              <a:buNone/>
            </a:pPr>
            <a:r>
              <a:rPr lang="en-US" sz="1500" b="1" dirty="0">
                <a:solidFill>
                  <a:srgbClr val="1B2A4A"/>
                </a:solidFill>
                <a:latin typeface="Calibri" pitchFamily="34" charset="0"/>
                <a:ea typeface="Calibri" pitchFamily="34" charset="-122"/>
                <a:cs typeface="Calibri" pitchFamily="34" charset="-120"/>
              </a:rPr>
              <a:t>Day 2</a:t>
            </a:r>
            <a:endParaRPr lang="en-US" sz="1500" dirty="0"/>
          </a:p>
          <a:p>
            <a:pPr indent="0" marL="0">
              <a:buNone/>
            </a:pPr>
            <a:r>
              <a:rPr lang="en-US" sz="1250" b="1" dirty="0">
                <a:solidFill>
                  <a:srgbClr val="1B2A4A"/>
                </a:solidFill>
                <a:latin typeface="Calibri" pitchFamily="34" charset="0"/>
                <a:ea typeface="Calibri" pitchFamily="34" charset="-122"/>
                <a:cs typeface="Calibri" pitchFamily="34" charset="-120"/>
              </a:rPr>
              <a:t>Submission Artifacts</a:t>
            </a:r>
            <a:endParaRPr lang="en-US" sz="1500" dirty="0"/>
          </a:p>
        </p:txBody>
      </p:sp>
      <p:sp>
        <p:nvSpPr>
          <p:cNvPr id="16" name="Text 12"/>
          <p:cNvSpPr txBox="1"/>
          <p:nvPr/>
        </p:nvSpPr>
        <p:spPr>
          <a:xfrm>
            <a:off x="3618738" y="2651760"/>
            <a:ext cx="2155698" cy="3154680"/>
          </a:xfrm>
          <a:prstGeom prst="rect">
            <a:avLst/>
          </a:prstGeom>
          <a:noFill/>
          <a:ln/>
        </p:spPr>
        <p:txBody>
          <a:bodyPr wrap="square" lIns="0" tIns="0" rIns="0" bIns="0" rtlCol="0" anchor="t"/>
          <a:lstStyle/>
          <a:p>
            <a:pPr marL="165100" indent="-165100">
              <a:spcAft>
                <a:spcPts val="1000"/>
              </a:spcAft>
              <a:buSzPct val="100000"/>
              <a:buChar char="•"/>
            </a:pPr>
            <a:r>
              <a:rPr lang="en-US" sz="1400" dirty="0">
                <a:solidFill>
                  <a:srgbClr val="1E2E3A"/>
                </a:solidFill>
                <a:latin typeface="Calibri" pitchFamily="34" charset="0"/>
                <a:ea typeface="Calibri" pitchFamily="34" charset="-122"/>
                <a:cs typeface="Calibri" pitchFamily="34" charset="-120"/>
              </a:rPr>
              <a:t>Which functions can operate manually?</a:t>
            </a:r>
            <a:endParaRPr lang="en-US" sz="1400" dirty="0"/>
          </a:p>
          <a:p>
            <a:pPr marL="165100" indent="-165100">
              <a:spcAft>
                <a:spcPts val="1000"/>
              </a:spcAft>
              <a:buSzPct val="100000"/>
              <a:buChar char="•"/>
            </a:pPr>
            <a:r>
              <a:rPr lang="en-US" sz="1400" dirty="0">
                <a:solidFill>
                  <a:srgbClr val="1E2E3A"/>
                </a:solidFill>
                <a:latin typeface="Calibri" pitchFamily="34" charset="0"/>
                <a:ea typeface="Calibri" pitchFamily="34" charset="-122"/>
                <a:cs typeface="Calibri" pitchFamily="34" charset="-120"/>
              </a:rPr>
              <a:t>What workarounds are approved?</a:t>
            </a:r>
            <a:endParaRPr lang="en-US" sz="1400" dirty="0"/>
          </a:p>
          <a:p>
            <a:pPr marL="165100" indent="-165100">
              <a:spcAft>
                <a:spcPts val="1000"/>
              </a:spcAft>
              <a:buSzPct val="100000"/>
              <a:buChar char="•"/>
            </a:pPr>
            <a:r>
              <a:rPr lang="en-US" sz="1400" dirty="0">
                <a:solidFill>
                  <a:srgbClr val="1E2E3A"/>
                </a:solidFill>
                <a:latin typeface="Calibri" pitchFamily="34" charset="0"/>
                <a:ea typeface="Calibri" pitchFamily="34" charset="-122"/>
                <a:cs typeface="Calibri" pitchFamily="34" charset="-120"/>
              </a:rPr>
              <a:t>Who approves them?</a:t>
            </a:r>
            <a:endParaRPr lang="en-US" sz="1400" dirty="0"/>
          </a:p>
        </p:txBody>
      </p:sp>
      <p:sp>
        <p:nvSpPr>
          <p:cNvPr id="17" name="Shape 13"/>
          <p:cNvSpPr/>
          <p:nvPr/>
        </p:nvSpPr>
        <p:spPr>
          <a:xfrm>
            <a:off x="6231636" y="1508760"/>
            <a:ext cx="2567178" cy="3931920"/>
          </a:xfrm>
          <a:prstGeom prst="roundRect">
            <a:avLst>
              <a:gd name="adj" fmla="val 4987"/>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18" name="Shape 14"/>
          <p:cNvSpPr/>
          <p:nvPr/>
        </p:nvSpPr>
        <p:spPr>
          <a:xfrm>
            <a:off x="6231636" y="1508760"/>
            <a:ext cx="2567178" cy="914400"/>
          </a:xfrm>
          <a:prstGeom prst="roundRect">
            <a:avLst>
              <a:gd name="adj" fmla="val 14000"/>
            </a:avLst>
          </a:prstGeom>
          <a:solidFill>
            <a:srgbClr val="F4EDDB"/>
          </a:solidFill>
          <a:ln w="12700">
            <a:solidFill>
              <a:srgbClr val="F4EDDB"/>
            </a:solidFill>
            <a:prstDash val="solid"/>
          </a:ln>
        </p:spPr>
      </p:sp>
      <p:sp>
        <p:nvSpPr>
          <p:cNvPr id="19" name="Shape 15"/>
          <p:cNvSpPr/>
          <p:nvPr/>
        </p:nvSpPr>
        <p:spPr>
          <a:xfrm>
            <a:off x="6414516" y="1737360"/>
            <a:ext cx="457200" cy="457200"/>
          </a:xfrm>
          <a:prstGeom prst="ellipse">
            <a:avLst/>
          </a:prstGeom>
          <a:solidFill>
            <a:srgbClr val="B89E68"/>
          </a:solidFill>
          <a:ln w="12700">
            <a:solidFill>
              <a:srgbClr val="B89E68"/>
            </a:solidFill>
            <a:prstDash val="solid"/>
          </a:ln>
        </p:spPr>
      </p:sp>
      <p:pic>
        <p:nvPicPr>
          <p:cNvPr id="20" name="Image 2" descr="preencoded.png">    </p:cNvPr>
          <p:cNvPicPr>
            <a:picLocks noChangeAspect="1"/>
          </p:cNvPicPr>
          <p:nvPr/>
        </p:nvPicPr>
        <p:blipFill>
          <a:blip r:embed="rId3"/>
          <a:stretch>
            <a:fillRect/>
          </a:stretch>
        </p:blipFill>
        <p:spPr>
          <a:xfrm>
            <a:off x="6533388" y="1856232"/>
            <a:ext cx="219456" cy="219456"/>
          </a:xfrm>
          <a:prstGeom prst="rect">
            <a:avLst/>
          </a:prstGeom>
        </p:spPr>
      </p:pic>
      <p:sp>
        <p:nvSpPr>
          <p:cNvPr id="21" name="Text 16"/>
          <p:cNvSpPr txBox="1"/>
          <p:nvPr/>
        </p:nvSpPr>
        <p:spPr>
          <a:xfrm>
            <a:off x="7008876" y="1600200"/>
            <a:ext cx="1698498" cy="749808"/>
          </a:xfrm>
          <a:prstGeom prst="rect">
            <a:avLst/>
          </a:prstGeom>
          <a:noFill/>
          <a:ln/>
        </p:spPr>
        <p:txBody>
          <a:bodyPr wrap="square" lIns="0" tIns="0" rIns="0" bIns="0" rtlCol="0" anchor="ctr"/>
          <a:lstStyle/>
          <a:p>
            <a:pPr indent="0" marL="0">
              <a:buNone/>
            </a:pPr>
            <a:r>
              <a:rPr lang="en-US" sz="1500" b="1" dirty="0">
                <a:solidFill>
                  <a:srgbClr val="1B2A4A"/>
                </a:solidFill>
                <a:latin typeface="Calibri" pitchFamily="34" charset="0"/>
                <a:ea typeface="Calibri" pitchFamily="34" charset="-122"/>
                <a:cs typeface="Calibri" pitchFamily="34" charset="-120"/>
              </a:rPr>
              <a:t>Day 3</a:t>
            </a:r>
            <a:endParaRPr lang="en-US" sz="1500" dirty="0"/>
          </a:p>
          <a:p>
            <a:pPr indent="0" marL="0">
              <a:buNone/>
            </a:pPr>
            <a:r>
              <a:rPr lang="en-US" sz="1250" b="1" dirty="0">
                <a:solidFill>
                  <a:srgbClr val="1B2A4A"/>
                </a:solidFill>
                <a:latin typeface="Calibri" pitchFamily="34" charset="0"/>
                <a:ea typeface="Calibri" pitchFamily="34" charset="-122"/>
                <a:cs typeface="Calibri" pitchFamily="34" charset="-120"/>
              </a:rPr>
              <a:t>Providers Down</a:t>
            </a:r>
            <a:endParaRPr lang="en-US" sz="1500" dirty="0"/>
          </a:p>
        </p:txBody>
      </p:sp>
      <p:sp>
        <p:nvSpPr>
          <p:cNvPr id="22" name="Text 17"/>
          <p:cNvSpPr txBox="1"/>
          <p:nvPr/>
        </p:nvSpPr>
        <p:spPr>
          <a:xfrm>
            <a:off x="6460236" y="2651760"/>
            <a:ext cx="2155698" cy="3154680"/>
          </a:xfrm>
          <a:prstGeom prst="rect">
            <a:avLst/>
          </a:prstGeom>
          <a:noFill/>
          <a:ln/>
        </p:spPr>
        <p:txBody>
          <a:bodyPr wrap="square" lIns="0" tIns="0" rIns="0" bIns="0" rtlCol="0" anchor="t"/>
          <a:lstStyle/>
          <a:p>
            <a:pPr marL="165100" indent="-165100">
              <a:spcAft>
                <a:spcPts val="1000"/>
              </a:spcAft>
              <a:buSzPct val="100000"/>
              <a:buChar char="•"/>
            </a:pPr>
            <a:r>
              <a:rPr lang="en-US" sz="1400" dirty="0">
                <a:solidFill>
                  <a:srgbClr val="1E2E3A"/>
                </a:solidFill>
                <a:latin typeface="Calibri" pitchFamily="34" charset="0"/>
                <a:ea typeface="Calibri" pitchFamily="34" charset="-122"/>
                <a:cs typeface="Calibri" pitchFamily="34" charset="-120"/>
              </a:rPr>
              <a:t>What are the most critical processes?</a:t>
            </a:r>
            <a:endParaRPr lang="en-US" sz="1400" dirty="0"/>
          </a:p>
          <a:p>
            <a:pPr marL="165100" indent="-165100">
              <a:spcAft>
                <a:spcPts val="1000"/>
              </a:spcAft>
              <a:buSzPct val="100000"/>
              <a:buChar char="•"/>
            </a:pPr>
            <a:r>
              <a:rPr lang="en-US" sz="1400" dirty="0">
                <a:solidFill>
                  <a:srgbClr val="1E2E3A"/>
                </a:solidFill>
                <a:latin typeface="Calibri" pitchFamily="34" charset="0"/>
                <a:ea typeface="Calibri" pitchFamily="34" charset="-122"/>
                <a:cs typeface="Calibri" pitchFamily="34" charset="-120"/>
              </a:rPr>
              <a:t>Which can run in degraded mode?</a:t>
            </a:r>
            <a:endParaRPr lang="en-US" sz="1400" dirty="0"/>
          </a:p>
          <a:p>
            <a:pPr marL="165100" indent="-165100">
              <a:spcAft>
                <a:spcPts val="1000"/>
              </a:spcAft>
              <a:buSzPct val="100000"/>
              <a:buChar char="•"/>
            </a:pPr>
            <a:r>
              <a:rPr lang="en-US" sz="1400" dirty="0">
                <a:solidFill>
                  <a:srgbClr val="1E2E3A"/>
                </a:solidFill>
                <a:latin typeface="Calibri" pitchFamily="34" charset="0"/>
                <a:ea typeface="Calibri" pitchFamily="34" charset="-122"/>
                <a:cs typeface="Calibri" pitchFamily="34" charset="-120"/>
              </a:rPr>
              <a:t>What is the impact on new hires?</a:t>
            </a:r>
            <a:endParaRPr lang="en-US" sz="1400" dirty="0"/>
          </a:p>
        </p:txBody>
      </p:sp>
      <p:sp>
        <p:nvSpPr>
          <p:cNvPr id="23" name="Shape 18"/>
          <p:cNvSpPr/>
          <p:nvPr/>
        </p:nvSpPr>
        <p:spPr>
          <a:xfrm>
            <a:off x="9073134" y="1508760"/>
            <a:ext cx="2567178" cy="3931920"/>
          </a:xfrm>
          <a:prstGeom prst="roundRect">
            <a:avLst>
              <a:gd name="adj" fmla="val 4987"/>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24" name="Shape 19"/>
          <p:cNvSpPr/>
          <p:nvPr/>
        </p:nvSpPr>
        <p:spPr>
          <a:xfrm>
            <a:off x="9073134" y="1508760"/>
            <a:ext cx="2567178" cy="914400"/>
          </a:xfrm>
          <a:prstGeom prst="roundRect">
            <a:avLst>
              <a:gd name="adj" fmla="val 14000"/>
            </a:avLst>
          </a:prstGeom>
          <a:solidFill>
            <a:srgbClr val="F3E6EA"/>
          </a:solidFill>
          <a:ln w="12700">
            <a:solidFill>
              <a:srgbClr val="F3E6EA"/>
            </a:solidFill>
            <a:prstDash val="solid"/>
          </a:ln>
        </p:spPr>
      </p:sp>
      <p:sp>
        <p:nvSpPr>
          <p:cNvPr id="25" name="Shape 20"/>
          <p:cNvSpPr/>
          <p:nvPr/>
        </p:nvSpPr>
        <p:spPr>
          <a:xfrm>
            <a:off x="9256014" y="1737360"/>
            <a:ext cx="457200" cy="457200"/>
          </a:xfrm>
          <a:prstGeom prst="ellipse">
            <a:avLst/>
          </a:prstGeom>
          <a:solidFill>
            <a:srgbClr val="B38496"/>
          </a:solidFill>
          <a:ln w="12700">
            <a:solidFill>
              <a:srgbClr val="B38496"/>
            </a:solidFill>
            <a:prstDash val="solid"/>
          </a:ln>
        </p:spPr>
      </p:sp>
      <p:pic>
        <p:nvPicPr>
          <p:cNvPr id="26" name="Image 3" descr="preencoded.png">    </p:cNvPr>
          <p:cNvPicPr>
            <a:picLocks noChangeAspect="1"/>
          </p:cNvPicPr>
          <p:nvPr/>
        </p:nvPicPr>
        <p:blipFill>
          <a:blip r:embed="rId4"/>
          <a:stretch>
            <a:fillRect/>
          </a:stretch>
        </p:blipFill>
        <p:spPr>
          <a:xfrm>
            <a:off x="9374886" y="1856232"/>
            <a:ext cx="219456" cy="219456"/>
          </a:xfrm>
          <a:prstGeom prst="rect">
            <a:avLst/>
          </a:prstGeom>
        </p:spPr>
      </p:pic>
      <p:sp>
        <p:nvSpPr>
          <p:cNvPr id="27" name="Text 21"/>
          <p:cNvSpPr txBox="1"/>
          <p:nvPr/>
        </p:nvSpPr>
        <p:spPr>
          <a:xfrm>
            <a:off x="9850374" y="1600200"/>
            <a:ext cx="1698498" cy="749808"/>
          </a:xfrm>
          <a:prstGeom prst="rect">
            <a:avLst/>
          </a:prstGeom>
          <a:noFill/>
          <a:ln/>
        </p:spPr>
        <p:txBody>
          <a:bodyPr wrap="square" lIns="0" tIns="0" rIns="0" bIns="0" rtlCol="0" anchor="ctr"/>
          <a:lstStyle/>
          <a:p>
            <a:pPr indent="0" marL="0">
              <a:buNone/>
            </a:pPr>
            <a:r>
              <a:rPr lang="en-US" sz="1500" b="1" dirty="0">
                <a:solidFill>
                  <a:srgbClr val="1B2A4A"/>
                </a:solidFill>
                <a:latin typeface="Calibri" pitchFamily="34" charset="0"/>
                <a:ea typeface="Calibri" pitchFamily="34" charset="-122"/>
                <a:cs typeface="Calibri" pitchFamily="34" charset="-120"/>
              </a:rPr>
              <a:t>Day 5</a:t>
            </a:r>
            <a:endParaRPr lang="en-US" sz="1500" dirty="0"/>
          </a:p>
          <a:p>
            <a:pPr indent="0" marL="0">
              <a:buNone/>
            </a:pPr>
            <a:r>
              <a:rPr lang="en-US" sz="1250" b="1" dirty="0">
                <a:solidFill>
                  <a:srgbClr val="1B2A4A"/>
                </a:solidFill>
                <a:latin typeface="Calibri" pitchFamily="34" charset="0"/>
                <a:ea typeface="Calibri" pitchFamily="34" charset="-122"/>
                <a:cs typeface="Calibri" pitchFamily="34" charset="-120"/>
              </a:rPr>
              <a:t>Payments Delayed</a:t>
            </a:r>
            <a:endParaRPr lang="en-US" sz="1500" dirty="0"/>
          </a:p>
        </p:txBody>
      </p:sp>
      <p:sp>
        <p:nvSpPr>
          <p:cNvPr id="28" name="Text 22"/>
          <p:cNvSpPr txBox="1"/>
          <p:nvPr/>
        </p:nvSpPr>
        <p:spPr>
          <a:xfrm>
            <a:off x="9301734" y="2651760"/>
            <a:ext cx="2155698" cy="3154680"/>
          </a:xfrm>
          <a:prstGeom prst="rect">
            <a:avLst/>
          </a:prstGeom>
          <a:noFill/>
          <a:ln/>
        </p:spPr>
        <p:txBody>
          <a:bodyPr wrap="square" lIns="0" tIns="0" rIns="0" bIns="0" rtlCol="0" anchor="t"/>
          <a:lstStyle/>
          <a:p>
            <a:pPr marL="165100" indent="-165100">
              <a:spcAft>
                <a:spcPts val="1000"/>
              </a:spcAft>
              <a:buSzPct val="100000"/>
              <a:buChar char="•"/>
            </a:pPr>
            <a:r>
              <a:rPr lang="en-US" sz="1400" dirty="0">
                <a:solidFill>
                  <a:srgbClr val="1E2E3A"/>
                </a:solidFill>
                <a:latin typeface="Calibri" pitchFamily="34" charset="0"/>
                <a:ea typeface="Calibri" pitchFamily="34" charset="-122"/>
                <a:cs typeface="Calibri" pitchFamily="34" charset="-120"/>
              </a:rPr>
              <a:t>Who can accept additional risk?</a:t>
            </a:r>
            <a:endParaRPr lang="en-US" sz="1400" dirty="0"/>
          </a:p>
          <a:p>
            <a:pPr marL="165100" indent="-165100">
              <a:spcAft>
                <a:spcPts val="1000"/>
              </a:spcAft>
              <a:buSzPct val="100000"/>
              <a:buChar char="•"/>
            </a:pPr>
            <a:r>
              <a:rPr lang="en-US" sz="1400" dirty="0">
                <a:solidFill>
                  <a:srgbClr val="1E2E3A"/>
                </a:solidFill>
                <a:latin typeface="Calibri" pitchFamily="34" charset="0"/>
                <a:ea typeface="Calibri" pitchFamily="34" charset="-122"/>
                <a:cs typeface="Calibri" pitchFamily="34" charset="-120"/>
              </a:rPr>
              <a:t>What controls apply to manual payments?</a:t>
            </a:r>
            <a:endParaRPr lang="en-US" sz="1400" dirty="0"/>
          </a:p>
          <a:p>
            <a:pPr marL="165100" indent="-165100">
              <a:spcAft>
                <a:spcPts val="1000"/>
              </a:spcAft>
              <a:buSzPct val="100000"/>
              <a:buChar char="•"/>
            </a:pPr>
            <a:r>
              <a:rPr lang="en-US" sz="1400" dirty="0">
                <a:solidFill>
                  <a:srgbClr val="1E2E3A"/>
                </a:solidFill>
                <a:latin typeface="Calibri" pitchFamily="34" charset="0"/>
                <a:ea typeface="Calibri" pitchFamily="34" charset="-122"/>
                <a:cs typeface="Calibri" pitchFamily="34" charset="-120"/>
              </a:rPr>
              <a:t>Which vendors are critical to keep paid?</a:t>
            </a:r>
            <a:endParaRPr lang="en-US" sz="1400" dirty="0"/>
          </a:p>
        </p:txBody>
      </p:sp>
      <p:sp>
        <p:nvSpPr>
          <p:cNvPr id="29" name="Text 23"/>
          <p:cNvSpPr txBox="1"/>
          <p:nvPr/>
        </p:nvSpPr>
        <p:spPr>
          <a:xfrm>
            <a:off x="548640" y="6254496"/>
            <a:ext cx="11091672" cy="256032"/>
          </a:xfrm>
          <a:prstGeom prst="rect">
            <a:avLst/>
          </a:prstGeom>
          <a:noFill/>
          <a:ln/>
        </p:spPr>
        <p:txBody>
          <a:bodyPr wrap="square" lIns="0" tIns="0" rIns="0" bIns="0" rtlCol="0" anchor="ctr"/>
          <a:lstStyle/>
          <a:p>
            <a:pPr indent="0" marL="0">
              <a:buNone/>
            </a:pPr>
            <a:r>
              <a:rPr lang="en-US" sz="1200" b="1" dirty="0">
                <a:solidFill>
                  <a:srgbClr val="465A69"/>
                </a:solidFill>
                <a:latin typeface="Calibri" pitchFamily="34" charset="0"/>
                <a:ea typeface="Calibri" pitchFamily="34" charset="-122"/>
                <a:cs typeface="Calibri" pitchFamily="34" charset="-120"/>
              </a:rPr>
              <a:t>Acronyms:  </a:t>
            </a:r>
            <a:pPr indent="0" marL="0">
              <a:buNone/>
            </a:pPr>
            <a:r>
              <a:rPr lang="en-US" sz="1200" dirty="0">
                <a:solidFill>
                  <a:srgbClr val="465A69"/>
                </a:solidFill>
                <a:latin typeface="Calibri" pitchFamily="34" charset="0"/>
                <a:ea typeface="Calibri" pitchFamily="34" charset="-122"/>
                <a:cs typeface="Calibri" pitchFamily="34" charset="-120"/>
              </a:rPr>
              <a:t>CRO: contract research organization</a:t>
            </a:r>
            <a:endParaRPr lang="en-US" sz="1200" dirty="0"/>
          </a:p>
        </p:txBody>
      </p:sp>
      <p:sp>
        <p:nvSpPr>
          <p:cNvPr id="30" name="Shape 24"/>
          <p:cNvSpPr/>
          <p:nvPr/>
        </p:nvSpPr>
        <p:spPr>
          <a:xfrm>
            <a:off x="548640" y="6537960"/>
            <a:ext cx="763524" cy="274320"/>
          </a:xfrm>
          <a:prstGeom prst="roundRect">
            <a:avLst>
              <a:gd name="adj" fmla="val 50000"/>
            </a:avLst>
          </a:prstGeom>
          <a:solidFill>
            <a:srgbClr val="E4ECF2"/>
          </a:solidFill>
          <a:ln w="12700">
            <a:solidFill>
              <a:srgbClr val="E4ECF2"/>
            </a:solidFill>
            <a:prstDash val="solid"/>
          </a:ln>
        </p:spPr>
      </p:sp>
      <p:sp>
        <p:nvSpPr>
          <p:cNvPr id="31" name="Text 25"/>
          <p:cNvSpPr txBox="1"/>
          <p:nvPr/>
        </p:nvSpPr>
        <p:spPr>
          <a:xfrm>
            <a:off x="548640" y="6537960"/>
            <a:ext cx="763524" cy="274320"/>
          </a:xfrm>
          <a:prstGeom prst="rect">
            <a:avLst/>
          </a:prstGeom>
          <a:noFill/>
          <a:ln/>
        </p:spPr>
        <p:txBody>
          <a:bodyPr wrap="square" lIns="0" tIns="0" rIns="0" bIns="0" rtlCol="0" anchor="ctr"/>
          <a:lstStyle/>
          <a:p>
            <a:pPr algn="ctr" indent="0" marL="0">
              <a:buNone/>
            </a:pPr>
            <a:r>
              <a:rPr lang="en-US" sz="1200" b="1" dirty="0">
                <a:solidFill>
                  <a:srgbClr val="23405A"/>
                </a:solidFill>
                <a:latin typeface="Calibri" pitchFamily="34" charset="0"/>
                <a:ea typeface="Calibri" pitchFamily="34" charset="-122"/>
                <a:cs typeface="Calibri" pitchFamily="34" charset="-120"/>
              </a:rPr>
              <a:t>Start</a:t>
            </a:r>
            <a:endParaRPr lang="en-US" sz="1200" dirty="0"/>
          </a:p>
        </p:txBody>
      </p:sp>
      <p:pic>
        <p:nvPicPr>
          <p:cNvPr id="32" name="Image 4" descr="preencoded.png">
            <a:hlinkClick r:id="rId6" tooltip="Go to Start" action="ppaction://hlinksldjump"/>
          </p:cNvPr>
          <p:cNvPicPr>
            <a:picLocks noChangeAspect="1"/>
          </p:cNvPicPr>
          <p:nvPr/>
        </p:nvPicPr>
        <p:blipFill>
          <a:blip r:embed="rId5"/>
          <a:stretch>
            <a:fillRect/>
          </a:stretch>
        </p:blipFill>
        <p:spPr>
          <a:xfrm>
            <a:off x="548640" y="6537960"/>
            <a:ext cx="763524" cy="274320"/>
          </a:xfrm>
          <a:prstGeom prst="rect">
            <a:avLst/>
          </a:prstGeom>
        </p:spPr>
      </p:pic>
      <p:sp>
        <p:nvSpPr>
          <p:cNvPr id="33" name="Shape 26"/>
          <p:cNvSpPr/>
          <p:nvPr/>
        </p:nvSpPr>
        <p:spPr>
          <a:xfrm>
            <a:off x="1385316" y="6537960"/>
            <a:ext cx="1197864" cy="274320"/>
          </a:xfrm>
          <a:prstGeom prst="roundRect">
            <a:avLst>
              <a:gd name="adj" fmla="val 50000"/>
            </a:avLst>
          </a:prstGeom>
          <a:solidFill>
            <a:srgbClr val="F1F6FA"/>
          </a:solidFill>
          <a:ln w="12700">
            <a:solidFill>
              <a:srgbClr val="F1F6FA"/>
            </a:solidFill>
            <a:prstDash val="solid"/>
          </a:ln>
        </p:spPr>
      </p:sp>
      <p:sp>
        <p:nvSpPr>
          <p:cNvPr id="34" name="Text 27"/>
          <p:cNvSpPr txBox="1"/>
          <p:nvPr/>
        </p:nvSpPr>
        <p:spPr>
          <a:xfrm>
            <a:off x="1385316" y="6537960"/>
            <a:ext cx="1197864" cy="274320"/>
          </a:xfrm>
          <a:prstGeom prst="rect">
            <a:avLst/>
          </a:prstGeom>
          <a:noFill/>
          <a:ln/>
        </p:spPr>
        <p:txBody>
          <a:bodyPr wrap="square" lIns="0" tIns="0" rIns="0" bIns="0" rtlCol="0" anchor="ctr"/>
          <a:lstStyle/>
          <a:p>
            <a:pPr algn="ctr" indent="0" marL="0">
              <a:buNone/>
            </a:pPr>
            <a:r>
              <a:rPr lang="en-US" sz="1200" b="1" dirty="0">
                <a:solidFill>
                  <a:srgbClr val="3F6E8C"/>
                </a:solidFill>
                <a:latin typeface="Calibri" pitchFamily="34" charset="0"/>
                <a:ea typeface="Calibri" pitchFamily="34" charset="-122"/>
                <a:cs typeface="Calibri" pitchFamily="34" charset="-120"/>
              </a:rPr>
              <a:t>Scenario 1</a:t>
            </a:r>
            <a:endParaRPr lang="en-US" sz="1200" dirty="0"/>
          </a:p>
        </p:txBody>
      </p:sp>
      <p:pic>
        <p:nvPicPr>
          <p:cNvPr id="35" name="Image 5" descr="preencoded.png">
            <a:hlinkClick r:id="rId8" tooltip="Go to Scenario 1" action="ppaction://hlinksldjump"/>
          </p:cNvPr>
          <p:cNvPicPr>
            <a:picLocks noChangeAspect="1"/>
          </p:cNvPicPr>
          <p:nvPr/>
        </p:nvPicPr>
        <p:blipFill>
          <a:blip r:embed="rId7"/>
          <a:stretch>
            <a:fillRect/>
          </a:stretch>
        </p:blipFill>
        <p:spPr>
          <a:xfrm>
            <a:off x="1385316" y="6537960"/>
            <a:ext cx="1197864" cy="274320"/>
          </a:xfrm>
          <a:prstGeom prst="rect">
            <a:avLst/>
          </a:prstGeom>
        </p:spPr>
      </p:pic>
      <p:sp>
        <p:nvSpPr>
          <p:cNvPr id="36" name="Shape 28"/>
          <p:cNvSpPr/>
          <p:nvPr/>
        </p:nvSpPr>
        <p:spPr>
          <a:xfrm>
            <a:off x="2656332" y="6537960"/>
            <a:ext cx="1197864" cy="274320"/>
          </a:xfrm>
          <a:prstGeom prst="roundRect">
            <a:avLst>
              <a:gd name="adj" fmla="val 50000"/>
            </a:avLst>
          </a:prstGeom>
          <a:solidFill>
            <a:srgbClr val="F1F8F3"/>
          </a:solidFill>
          <a:ln w="12700">
            <a:solidFill>
              <a:srgbClr val="F1F8F3"/>
            </a:solidFill>
            <a:prstDash val="solid"/>
          </a:ln>
        </p:spPr>
      </p:sp>
      <p:sp>
        <p:nvSpPr>
          <p:cNvPr id="37" name="Text 29"/>
          <p:cNvSpPr txBox="1"/>
          <p:nvPr/>
        </p:nvSpPr>
        <p:spPr>
          <a:xfrm>
            <a:off x="2656332" y="6537960"/>
            <a:ext cx="1197864" cy="274320"/>
          </a:xfrm>
          <a:prstGeom prst="rect">
            <a:avLst/>
          </a:prstGeom>
          <a:noFill/>
          <a:ln/>
        </p:spPr>
        <p:txBody>
          <a:bodyPr wrap="square" lIns="0" tIns="0" rIns="0" bIns="0" rtlCol="0" anchor="ctr"/>
          <a:lstStyle/>
          <a:p>
            <a:pPr algn="ctr" indent="0" marL="0">
              <a:buNone/>
            </a:pPr>
            <a:r>
              <a:rPr lang="en-US" sz="1200" b="1" dirty="0">
                <a:solidFill>
                  <a:srgbClr val="4C8068"/>
                </a:solidFill>
                <a:latin typeface="Calibri" pitchFamily="34" charset="0"/>
                <a:ea typeface="Calibri" pitchFamily="34" charset="-122"/>
                <a:cs typeface="Calibri" pitchFamily="34" charset="-120"/>
              </a:rPr>
              <a:t>Scenario 2</a:t>
            </a:r>
            <a:endParaRPr lang="en-US" sz="1200" dirty="0"/>
          </a:p>
        </p:txBody>
      </p:sp>
      <p:pic>
        <p:nvPicPr>
          <p:cNvPr id="38" name="Image 6" descr="preencoded.png">
            <a:hlinkClick r:id="rId10" tooltip="Go to Scenario 2" action="ppaction://hlinksldjump"/>
          </p:cNvPr>
          <p:cNvPicPr>
            <a:picLocks noChangeAspect="1"/>
          </p:cNvPicPr>
          <p:nvPr/>
        </p:nvPicPr>
        <p:blipFill>
          <a:blip r:embed="rId9"/>
          <a:stretch>
            <a:fillRect/>
          </a:stretch>
        </p:blipFill>
        <p:spPr>
          <a:xfrm>
            <a:off x="2656332" y="6537960"/>
            <a:ext cx="1197864" cy="274320"/>
          </a:xfrm>
          <a:prstGeom prst="rect">
            <a:avLst/>
          </a:prstGeom>
        </p:spPr>
      </p:pic>
      <p:sp>
        <p:nvSpPr>
          <p:cNvPr id="39" name="Shape 30"/>
          <p:cNvSpPr/>
          <p:nvPr/>
        </p:nvSpPr>
        <p:spPr>
          <a:xfrm>
            <a:off x="3927348" y="6537960"/>
            <a:ext cx="1197864" cy="274320"/>
          </a:xfrm>
          <a:prstGeom prst="roundRect">
            <a:avLst>
              <a:gd name="adj" fmla="val 50000"/>
            </a:avLst>
          </a:prstGeom>
          <a:solidFill>
            <a:srgbClr val="6E5E94"/>
          </a:solidFill>
          <a:ln w="12700">
            <a:solidFill>
              <a:srgbClr val="6E5E94"/>
            </a:solidFill>
            <a:prstDash val="solid"/>
          </a:ln>
        </p:spPr>
      </p:sp>
      <p:sp>
        <p:nvSpPr>
          <p:cNvPr id="40" name="Text 31"/>
          <p:cNvSpPr txBox="1"/>
          <p:nvPr/>
        </p:nvSpPr>
        <p:spPr>
          <a:xfrm>
            <a:off x="3927348" y="6537960"/>
            <a:ext cx="1197864"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Scenario 3</a:t>
            </a:r>
            <a:endParaRPr lang="en-US" sz="1200" dirty="0"/>
          </a:p>
        </p:txBody>
      </p:sp>
      <p:pic>
        <p:nvPicPr>
          <p:cNvPr id="41" name="Image 7" descr="preencoded.png">
            <a:hlinkClick r:id="rId12" tooltip="Go to Scenario 3" action="ppaction://hlinksldjump"/>
          </p:cNvPr>
          <p:cNvPicPr>
            <a:picLocks noChangeAspect="1"/>
          </p:cNvPicPr>
          <p:nvPr/>
        </p:nvPicPr>
        <p:blipFill>
          <a:blip r:embed="rId11"/>
          <a:stretch>
            <a:fillRect/>
          </a:stretch>
        </p:blipFill>
        <p:spPr>
          <a:xfrm>
            <a:off x="3927348" y="6537960"/>
            <a:ext cx="1197864" cy="274320"/>
          </a:xfrm>
          <a:prstGeom prst="rect">
            <a:avLst/>
          </a:prstGeom>
        </p:spPr>
      </p:pic>
      <p:sp>
        <p:nvSpPr>
          <p:cNvPr id="42" name="Shape 32"/>
          <p:cNvSpPr/>
          <p:nvPr/>
        </p:nvSpPr>
        <p:spPr>
          <a:xfrm>
            <a:off x="5198364" y="6537960"/>
            <a:ext cx="937260" cy="274320"/>
          </a:xfrm>
          <a:prstGeom prst="roundRect">
            <a:avLst>
              <a:gd name="adj" fmla="val 50000"/>
            </a:avLst>
          </a:prstGeom>
          <a:solidFill>
            <a:srgbClr val="E4ECF2"/>
          </a:solidFill>
          <a:ln w="12700">
            <a:solidFill>
              <a:srgbClr val="E4ECF2"/>
            </a:solidFill>
            <a:prstDash val="solid"/>
          </a:ln>
        </p:spPr>
      </p:sp>
      <p:sp>
        <p:nvSpPr>
          <p:cNvPr id="43" name="Text 33"/>
          <p:cNvSpPr txBox="1"/>
          <p:nvPr/>
        </p:nvSpPr>
        <p:spPr>
          <a:xfrm>
            <a:off x="5198364" y="6537960"/>
            <a:ext cx="937260" cy="274320"/>
          </a:xfrm>
          <a:prstGeom prst="rect">
            <a:avLst/>
          </a:prstGeom>
          <a:noFill/>
          <a:ln/>
        </p:spPr>
        <p:txBody>
          <a:bodyPr wrap="square" lIns="0" tIns="0" rIns="0" bIns="0" rtlCol="0" anchor="ctr"/>
          <a:lstStyle/>
          <a:p>
            <a:pPr algn="ctr" indent="0" marL="0">
              <a:buNone/>
            </a:pPr>
            <a:r>
              <a:rPr lang="en-US" sz="1200" b="1" dirty="0">
                <a:solidFill>
                  <a:srgbClr val="23405A"/>
                </a:solidFill>
                <a:latin typeface="Calibri" pitchFamily="34" charset="0"/>
                <a:ea typeface="Calibri" pitchFamily="34" charset="-122"/>
                <a:cs typeface="Calibri" pitchFamily="34" charset="-120"/>
              </a:rPr>
              <a:t>Closing</a:t>
            </a:r>
            <a:endParaRPr lang="en-US" sz="1200" dirty="0"/>
          </a:p>
        </p:txBody>
      </p:sp>
      <p:pic>
        <p:nvPicPr>
          <p:cNvPr id="44" name="Image 8" descr="preencoded.png">
            <a:hlinkClick r:id="rId14" tooltip="Go to Closing" action="ppaction://hlinksldjump"/>
          </p:cNvPr>
          <p:cNvPicPr>
            <a:picLocks noChangeAspect="1"/>
          </p:cNvPicPr>
          <p:nvPr/>
        </p:nvPicPr>
        <p:blipFill>
          <a:blip r:embed="rId13"/>
          <a:stretch>
            <a:fillRect/>
          </a:stretch>
        </p:blipFill>
        <p:spPr>
          <a:xfrm>
            <a:off x="5198364" y="6537960"/>
            <a:ext cx="937260" cy="274320"/>
          </a:xfrm>
          <a:prstGeom prst="rect">
            <a:avLst/>
          </a:prstGeom>
        </p:spPr>
      </p:pic>
      <p:sp>
        <p:nvSpPr>
          <p:cNvPr id="45" name="Text 34"/>
          <p:cNvSpPr txBox="1"/>
          <p:nvPr/>
        </p:nvSpPr>
        <p:spPr>
          <a:xfrm>
            <a:off x="11277295" y="6537960"/>
            <a:ext cx="365760" cy="274320"/>
          </a:xfrm>
          <a:prstGeom prst="rect">
            <a:avLst/>
          </a:prstGeom>
          <a:noFill/>
          <a:ln/>
        </p:spPr>
        <p:txBody>
          <a:bodyPr wrap="square" lIns="0" tIns="0" rIns="0" bIns="0" rtlCol="0" anchor="ctr"/>
          <a:lstStyle/>
          <a:p>
            <a:pPr algn="r" indent="0" marL="0">
              <a:buNone/>
            </a:pPr>
            <a:r>
              <a:rPr lang="en-US" sz="1200" dirty="0">
                <a:solidFill>
                  <a:srgbClr val="465A69"/>
                </a:solidFill>
                <a:latin typeface="Calibri" pitchFamily="34" charset="0"/>
                <a:ea typeface="Calibri" pitchFamily="34" charset="-122"/>
                <a:cs typeface="Calibri" pitchFamily="34" charset="-120"/>
              </a:rPr>
              <a:t>52</a:t>
            </a:r>
            <a:endParaRPr lang="en-US" sz="12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EEEAF5"/>
        </a:solidFill>
      </p:bgPr>
    </p:bg>
    <p:spTree>
      <p:nvGrpSpPr>
        <p:cNvPr id="1" name=""/>
        <p:cNvGrpSpPr/>
        <p:nvPr/>
      </p:nvGrpSpPr>
      <p:grpSpPr>
        <a:xfrm>
          <a:off x="0" y="0"/>
          <a:ext cx="0" cy="0"/>
          <a:chOff x="0" y="0"/>
          <a:chExt cx="0" cy="0"/>
        </a:xfrm>
      </p:grpSpPr>
      <p:sp>
        <p:nvSpPr>
          <p:cNvPr id="2" name="Shape 0"/>
          <p:cNvSpPr/>
          <p:nvPr/>
        </p:nvSpPr>
        <p:spPr>
          <a:xfrm>
            <a:off x="548640" y="347472"/>
            <a:ext cx="2843784" cy="329184"/>
          </a:xfrm>
          <a:prstGeom prst="roundRect">
            <a:avLst>
              <a:gd name="adj" fmla="val 50000"/>
            </a:avLst>
          </a:prstGeom>
          <a:solidFill>
            <a:srgbClr val="F6F3FA"/>
          </a:solidFill>
          <a:ln w="12700">
            <a:solidFill>
              <a:srgbClr val="F6F3FA"/>
            </a:solidFill>
            <a:prstDash val="solid"/>
          </a:ln>
        </p:spPr>
      </p:sp>
      <p:sp>
        <p:nvSpPr>
          <p:cNvPr id="3" name="Text 1"/>
          <p:cNvSpPr txBox="1"/>
          <p:nvPr/>
        </p:nvSpPr>
        <p:spPr>
          <a:xfrm>
            <a:off x="548640" y="347472"/>
            <a:ext cx="2843784" cy="329184"/>
          </a:xfrm>
          <a:prstGeom prst="rect">
            <a:avLst/>
          </a:prstGeom>
          <a:noFill/>
          <a:ln/>
        </p:spPr>
        <p:txBody>
          <a:bodyPr wrap="square" lIns="0" tIns="0" rIns="0" bIns="0" rtlCol="0" anchor="ctr"/>
          <a:lstStyle/>
          <a:p>
            <a:pPr algn="ctr" indent="0" marL="0">
              <a:buNone/>
            </a:pPr>
            <a:r>
              <a:rPr lang="en-US" sz="1200" b="1" dirty="0">
                <a:solidFill>
                  <a:srgbClr val="6E5E94"/>
                </a:solidFill>
                <a:latin typeface="Calibri" pitchFamily="34" charset="0"/>
                <a:ea typeface="Calibri" pitchFamily="34" charset="-122"/>
                <a:cs typeface="Calibri" pitchFamily="34" charset="-120"/>
              </a:rPr>
              <a:t>Scenario 3 recap, part 3 of 4</a:t>
            </a:r>
            <a:endParaRPr lang="en-US" sz="1200" dirty="0"/>
          </a:p>
        </p:txBody>
      </p:sp>
      <p:sp>
        <p:nvSpPr>
          <p:cNvPr id="4" name="Text 2"/>
          <p:cNvSpPr txBox="1"/>
          <p:nvPr/>
        </p:nvSpPr>
        <p:spPr>
          <a:xfrm>
            <a:off x="548640" y="749808"/>
            <a:ext cx="11064240" cy="548640"/>
          </a:xfrm>
          <a:prstGeom prst="rect">
            <a:avLst/>
          </a:prstGeom>
          <a:noFill/>
          <a:ln/>
        </p:spPr>
        <p:txBody>
          <a:bodyPr wrap="square" lIns="0" tIns="0" rIns="0" bIns="0" rtlCol="0" anchor="ctr"/>
          <a:lstStyle/>
          <a:p>
            <a:pPr indent="0" marL="0">
              <a:buNone/>
            </a:pPr>
            <a:r>
              <a:rPr lang="en-US" sz="2400" b="1" dirty="0">
                <a:solidFill>
                  <a:srgbClr val="1B2A4A"/>
                </a:solidFill>
                <a:latin typeface="Cambria" pitchFamily="34" charset="0"/>
                <a:ea typeface="Cambria" pitchFamily="34" charset="-122"/>
                <a:cs typeface="Cambria" pitchFamily="34" charset="-120"/>
              </a:rPr>
              <a:t>Key questions at each stage</a:t>
            </a:r>
            <a:endParaRPr lang="en-US" sz="2400" dirty="0"/>
          </a:p>
        </p:txBody>
      </p:sp>
      <p:sp>
        <p:nvSpPr>
          <p:cNvPr id="5" name="Shape 3"/>
          <p:cNvSpPr/>
          <p:nvPr/>
        </p:nvSpPr>
        <p:spPr>
          <a:xfrm>
            <a:off x="548640" y="1508760"/>
            <a:ext cx="2567178" cy="3931920"/>
          </a:xfrm>
          <a:prstGeom prst="roundRect">
            <a:avLst>
              <a:gd name="adj" fmla="val 4987"/>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6" name="Shape 4"/>
          <p:cNvSpPr/>
          <p:nvPr/>
        </p:nvSpPr>
        <p:spPr>
          <a:xfrm>
            <a:off x="548640" y="1508760"/>
            <a:ext cx="2567178" cy="914400"/>
          </a:xfrm>
          <a:prstGeom prst="roundRect">
            <a:avLst>
              <a:gd name="adj" fmla="val 14000"/>
            </a:avLst>
          </a:prstGeom>
          <a:solidFill>
            <a:srgbClr val="ECE8F4"/>
          </a:solidFill>
          <a:ln w="12700">
            <a:solidFill>
              <a:srgbClr val="ECE8F4"/>
            </a:solidFill>
            <a:prstDash val="solid"/>
          </a:ln>
        </p:spPr>
      </p:sp>
      <p:sp>
        <p:nvSpPr>
          <p:cNvPr id="7" name="Shape 5"/>
          <p:cNvSpPr/>
          <p:nvPr/>
        </p:nvSpPr>
        <p:spPr>
          <a:xfrm>
            <a:off x="731520" y="1737360"/>
            <a:ext cx="457200" cy="457200"/>
          </a:xfrm>
          <a:prstGeom prst="ellipse">
            <a:avLst/>
          </a:prstGeom>
          <a:solidFill>
            <a:srgbClr val="8F86B8"/>
          </a:solidFill>
          <a:ln w="12700">
            <a:solidFill>
              <a:srgbClr val="8F86B8"/>
            </a:solidFill>
            <a:prstDash val="solid"/>
          </a:ln>
        </p:spPr>
      </p:sp>
      <p:pic>
        <p:nvPicPr>
          <p:cNvPr id="8" name="Image 0" descr="preencoded.png">    </p:cNvPr>
          <p:cNvPicPr>
            <a:picLocks noChangeAspect="1"/>
          </p:cNvPicPr>
          <p:nvPr/>
        </p:nvPicPr>
        <p:blipFill>
          <a:blip r:embed="rId1"/>
          <a:stretch>
            <a:fillRect/>
          </a:stretch>
        </p:blipFill>
        <p:spPr>
          <a:xfrm>
            <a:off x="850392" y="1856232"/>
            <a:ext cx="219456" cy="219456"/>
          </a:xfrm>
          <a:prstGeom prst="rect">
            <a:avLst/>
          </a:prstGeom>
        </p:spPr>
      </p:pic>
      <p:sp>
        <p:nvSpPr>
          <p:cNvPr id="9" name="Text 6"/>
          <p:cNvSpPr txBox="1"/>
          <p:nvPr/>
        </p:nvSpPr>
        <p:spPr>
          <a:xfrm>
            <a:off x="1325880" y="1600200"/>
            <a:ext cx="1698498" cy="749808"/>
          </a:xfrm>
          <a:prstGeom prst="rect">
            <a:avLst/>
          </a:prstGeom>
          <a:noFill/>
          <a:ln/>
        </p:spPr>
        <p:txBody>
          <a:bodyPr wrap="square" lIns="0" tIns="0" rIns="0" bIns="0" rtlCol="0" anchor="ctr"/>
          <a:lstStyle/>
          <a:p>
            <a:pPr indent="0" marL="0">
              <a:buNone/>
            </a:pPr>
            <a:r>
              <a:rPr lang="en-US" sz="1500" b="1" dirty="0">
                <a:solidFill>
                  <a:srgbClr val="1B2A4A"/>
                </a:solidFill>
                <a:latin typeface="Calibri" pitchFamily="34" charset="0"/>
                <a:ea typeface="Calibri" pitchFamily="34" charset="-122"/>
                <a:cs typeface="Calibri" pitchFamily="34" charset="-120"/>
              </a:rPr>
              <a:t>Day 7</a:t>
            </a:r>
            <a:endParaRPr lang="en-US" sz="1500" dirty="0"/>
          </a:p>
          <a:p>
            <a:pPr indent="0" marL="0">
              <a:buNone/>
            </a:pPr>
            <a:r>
              <a:rPr lang="en-US" sz="1250" b="1" dirty="0">
                <a:solidFill>
                  <a:srgbClr val="1B2A4A"/>
                </a:solidFill>
                <a:latin typeface="Calibri" pitchFamily="34" charset="0"/>
                <a:ea typeface="Calibri" pitchFamily="34" charset="-122"/>
                <a:cs typeface="Calibri" pitchFamily="34" charset="-120"/>
              </a:rPr>
              <a:t>Investor Inquiries</a:t>
            </a:r>
            <a:endParaRPr lang="en-US" sz="1500" dirty="0"/>
          </a:p>
        </p:txBody>
      </p:sp>
      <p:sp>
        <p:nvSpPr>
          <p:cNvPr id="10" name="Text 7"/>
          <p:cNvSpPr txBox="1"/>
          <p:nvPr/>
        </p:nvSpPr>
        <p:spPr>
          <a:xfrm>
            <a:off x="777240" y="2651760"/>
            <a:ext cx="2155698" cy="3154680"/>
          </a:xfrm>
          <a:prstGeom prst="rect">
            <a:avLst/>
          </a:prstGeom>
          <a:noFill/>
          <a:ln/>
        </p:spPr>
        <p:txBody>
          <a:bodyPr wrap="square" lIns="0" tIns="0" rIns="0" bIns="0" rtlCol="0" anchor="t"/>
          <a:lstStyle/>
          <a:p>
            <a:pPr marL="165100" indent="-165100">
              <a:spcAft>
                <a:spcPts val="1000"/>
              </a:spcAft>
              <a:buSzPct val="100000"/>
              <a:buChar char="•"/>
            </a:pPr>
            <a:r>
              <a:rPr lang="en-US" sz="1400" dirty="0">
                <a:solidFill>
                  <a:srgbClr val="1E2E3A"/>
                </a:solidFill>
                <a:latin typeface="Calibri" pitchFamily="34" charset="0"/>
                <a:ea typeface="Calibri" pitchFamily="34" charset="-122"/>
                <a:cs typeface="Calibri" pitchFamily="34" charset="-120"/>
              </a:rPr>
              <a:t>What do investors hear?</a:t>
            </a:r>
            <a:endParaRPr lang="en-US" sz="1400" dirty="0"/>
          </a:p>
          <a:p>
            <a:pPr marL="165100" indent="-165100">
              <a:spcAft>
                <a:spcPts val="1000"/>
              </a:spcAft>
              <a:buSzPct val="100000"/>
              <a:buChar char="•"/>
            </a:pPr>
            <a:r>
              <a:rPr lang="en-US" sz="1400" dirty="0">
                <a:solidFill>
                  <a:srgbClr val="1E2E3A"/>
                </a:solidFill>
                <a:latin typeface="Calibri" pitchFamily="34" charset="0"/>
                <a:ea typeface="Calibri" pitchFamily="34" charset="-122"/>
                <a:cs typeface="Calibri" pitchFamily="34" charset="-120"/>
              </a:rPr>
              <a:t>Who speaks for the company?</a:t>
            </a:r>
            <a:endParaRPr lang="en-US" sz="1400" dirty="0"/>
          </a:p>
          <a:p>
            <a:pPr marL="165100" indent="-165100">
              <a:spcAft>
                <a:spcPts val="1000"/>
              </a:spcAft>
              <a:buSzPct val="100000"/>
              <a:buChar char="•"/>
            </a:pPr>
            <a:r>
              <a:rPr lang="en-US" sz="1400" dirty="0">
                <a:solidFill>
                  <a:srgbClr val="1E2E3A"/>
                </a:solidFill>
                <a:latin typeface="Calibri" pitchFamily="34" charset="0"/>
                <a:ea typeface="Calibri" pitchFamily="34" charset="-122"/>
                <a:cs typeface="Calibri" pitchFamily="34" charset="-120"/>
              </a:rPr>
              <a:t>What executive decisions are needed?</a:t>
            </a:r>
            <a:endParaRPr lang="en-US" sz="1400" dirty="0"/>
          </a:p>
        </p:txBody>
      </p:sp>
      <p:sp>
        <p:nvSpPr>
          <p:cNvPr id="11" name="Shape 8"/>
          <p:cNvSpPr/>
          <p:nvPr/>
        </p:nvSpPr>
        <p:spPr>
          <a:xfrm>
            <a:off x="3390138" y="1508760"/>
            <a:ext cx="2567178" cy="3931920"/>
          </a:xfrm>
          <a:prstGeom prst="roundRect">
            <a:avLst>
              <a:gd name="adj" fmla="val 4987"/>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12" name="Shape 9"/>
          <p:cNvSpPr/>
          <p:nvPr/>
        </p:nvSpPr>
        <p:spPr>
          <a:xfrm>
            <a:off x="3390138" y="1508760"/>
            <a:ext cx="2567178" cy="914400"/>
          </a:xfrm>
          <a:prstGeom prst="roundRect">
            <a:avLst>
              <a:gd name="adj" fmla="val 14000"/>
            </a:avLst>
          </a:prstGeom>
          <a:solidFill>
            <a:srgbClr val="E3F0E6"/>
          </a:solidFill>
          <a:ln w="12700">
            <a:solidFill>
              <a:srgbClr val="E3F0E6"/>
            </a:solidFill>
            <a:prstDash val="solid"/>
          </a:ln>
        </p:spPr>
      </p:sp>
      <p:sp>
        <p:nvSpPr>
          <p:cNvPr id="13" name="Shape 10"/>
          <p:cNvSpPr/>
          <p:nvPr/>
        </p:nvSpPr>
        <p:spPr>
          <a:xfrm>
            <a:off x="3573018" y="1737360"/>
            <a:ext cx="457200" cy="457200"/>
          </a:xfrm>
          <a:prstGeom prst="ellipse">
            <a:avLst/>
          </a:prstGeom>
          <a:solidFill>
            <a:srgbClr val="7BA689"/>
          </a:solidFill>
          <a:ln w="12700">
            <a:solidFill>
              <a:srgbClr val="7BA689"/>
            </a:solidFill>
            <a:prstDash val="solid"/>
          </a:ln>
        </p:spPr>
      </p:sp>
      <p:pic>
        <p:nvPicPr>
          <p:cNvPr id="14" name="Image 1" descr="preencoded.png">    </p:cNvPr>
          <p:cNvPicPr>
            <a:picLocks noChangeAspect="1"/>
          </p:cNvPicPr>
          <p:nvPr/>
        </p:nvPicPr>
        <p:blipFill>
          <a:blip r:embed="rId2"/>
          <a:stretch>
            <a:fillRect/>
          </a:stretch>
        </p:blipFill>
        <p:spPr>
          <a:xfrm>
            <a:off x="3691890" y="1856232"/>
            <a:ext cx="219456" cy="219456"/>
          </a:xfrm>
          <a:prstGeom prst="rect">
            <a:avLst/>
          </a:prstGeom>
        </p:spPr>
      </p:pic>
      <p:sp>
        <p:nvSpPr>
          <p:cNvPr id="15" name="Text 11"/>
          <p:cNvSpPr txBox="1"/>
          <p:nvPr/>
        </p:nvSpPr>
        <p:spPr>
          <a:xfrm>
            <a:off x="4167378" y="1600200"/>
            <a:ext cx="1698498" cy="749808"/>
          </a:xfrm>
          <a:prstGeom prst="rect">
            <a:avLst/>
          </a:prstGeom>
          <a:noFill/>
          <a:ln/>
        </p:spPr>
        <p:txBody>
          <a:bodyPr wrap="square" lIns="0" tIns="0" rIns="0" bIns="0" rtlCol="0" anchor="ctr"/>
          <a:lstStyle/>
          <a:p>
            <a:pPr indent="0" marL="0">
              <a:buNone/>
            </a:pPr>
            <a:r>
              <a:rPr lang="en-US" sz="1500" b="1" dirty="0">
                <a:solidFill>
                  <a:srgbClr val="1B2A4A"/>
                </a:solidFill>
                <a:latin typeface="Calibri" pitchFamily="34" charset="0"/>
                <a:ea typeface="Calibri" pitchFamily="34" charset="-122"/>
                <a:cs typeface="Calibri" pitchFamily="34" charset="-120"/>
              </a:rPr>
              <a:t>Day 10</a:t>
            </a:r>
            <a:endParaRPr lang="en-US" sz="1500" dirty="0"/>
          </a:p>
          <a:p>
            <a:pPr indent="0" marL="0">
              <a:buNone/>
            </a:pPr>
            <a:r>
              <a:rPr lang="en-US" sz="1250" b="1" dirty="0">
                <a:solidFill>
                  <a:srgbClr val="1B2A4A"/>
                </a:solidFill>
                <a:latin typeface="Calibri" pitchFamily="34" charset="0"/>
                <a:ea typeface="Calibri" pitchFamily="34" charset="-122"/>
                <a:cs typeface="Calibri" pitchFamily="34" charset="-120"/>
              </a:rPr>
              <a:t>Milestones at Risk</a:t>
            </a:r>
            <a:endParaRPr lang="en-US" sz="1500" dirty="0"/>
          </a:p>
        </p:txBody>
      </p:sp>
      <p:sp>
        <p:nvSpPr>
          <p:cNvPr id="16" name="Text 12"/>
          <p:cNvSpPr txBox="1"/>
          <p:nvPr/>
        </p:nvSpPr>
        <p:spPr>
          <a:xfrm>
            <a:off x="3618738" y="2651760"/>
            <a:ext cx="2155698" cy="3154680"/>
          </a:xfrm>
          <a:prstGeom prst="rect">
            <a:avLst/>
          </a:prstGeom>
          <a:noFill/>
          <a:ln/>
        </p:spPr>
        <p:txBody>
          <a:bodyPr wrap="square" lIns="0" tIns="0" rIns="0" bIns="0" rtlCol="0" anchor="t"/>
          <a:lstStyle/>
          <a:p>
            <a:pPr marL="165100" indent="-165100">
              <a:spcAft>
                <a:spcPts val="1000"/>
              </a:spcAft>
              <a:buSzPct val="100000"/>
              <a:buChar char="•"/>
            </a:pPr>
            <a:r>
              <a:rPr lang="en-US" sz="1400" dirty="0">
                <a:solidFill>
                  <a:srgbClr val="1E2E3A"/>
                </a:solidFill>
                <a:latin typeface="Calibri" pitchFamily="34" charset="0"/>
                <a:ea typeface="Calibri" pitchFamily="34" charset="-122"/>
                <a:cs typeface="Calibri" pitchFamily="34" charset="-120"/>
              </a:rPr>
              <a:t>How long can we operate degraded?</a:t>
            </a:r>
            <a:endParaRPr lang="en-US" sz="1400" dirty="0"/>
          </a:p>
          <a:p>
            <a:pPr marL="165100" indent="-165100">
              <a:spcAft>
                <a:spcPts val="1000"/>
              </a:spcAft>
              <a:buSzPct val="100000"/>
              <a:buChar char="•"/>
            </a:pPr>
            <a:r>
              <a:rPr lang="en-US" sz="1400" dirty="0">
                <a:solidFill>
                  <a:srgbClr val="1E2E3A"/>
                </a:solidFill>
                <a:latin typeface="Calibri" pitchFamily="34" charset="0"/>
                <a:ea typeface="Calibri" pitchFamily="34" charset="-122"/>
                <a:cs typeface="Calibri" pitchFamily="34" charset="-120"/>
              </a:rPr>
              <a:t>What decision protects the milestone?</a:t>
            </a:r>
            <a:endParaRPr lang="en-US" sz="1400" dirty="0"/>
          </a:p>
          <a:p>
            <a:pPr marL="165100" indent="-165100">
              <a:spcAft>
                <a:spcPts val="1000"/>
              </a:spcAft>
              <a:buSzPct val="100000"/>
              <a:buChar char="•"/>
            </a:pPr>
            <a:r>
              <a:rPr lang="en-US" sz="1400" dirty="0">
                <a:solidFill>
                  <a:srgbClr val="1E2E3A"/>
                </a:solidFill>
                <a:latin typeface="Calibri" pitchFamily="34" charset="0"/>
                <a:ea typeface="Calibri" pitchFamily="34" charset="-122"/>
                <a:cs typeface="Calibri" pitchFamily="34" charset="-120"/>
              </a:rPr>
              <a:t>Who owns the trade-offs?</a:t>
            </a:r>
            <a:endParaRPr lang="en-US" sz="1400" dirty="0"/>
          </a:p>
        </p:txBody>
      </p:sp>
      <p:sp>
        <p:nvSpPr>
          <p:cNvPr id="17" name="Shape 13"/>
          <p:cNvSpPr/>
          <p:nvPr/>
        </p:nvSpPr>
        <p:spPr>
          <a:xfrm>
            <a:off x="6231636" y="1508760"/>
            <a:ext cx="2567178" cy="3931920"/>
          </a:xfrm>
          <a:prstGeom prst="roundRect">
            <a:avLst>
              <a:gd name="adj" fmla="val 4987"/>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18" name="Shape 14"/>
          <p:cNvSpPr/>
          <p:nvPr/>
        </p:nvSpPr>
        <p:spPr>
          <a:xfrm>
            <a:off x="6231636" y="1508760"/>
            <a:ext cx="2567178" cy="914400"/>
          </a:xfrm>
          <a:prstGeom prst="roundRect">
            <a:avLst>
              <a:gd name="adj" fmla="val 14000"/>
            </a:avLst>
          </a:prstGeom>
          <a:solidFill>
            <a:srgbClr val="E2EBF5"/>
          </a:solidFill>
          <a:ln w="12700">
            <a:solidFill>
              <a:srgbClr val="E2EBF5"/>
            </a:solidFill>
            <a:prstDash val="solid"/>
          </a:ln>
        </p:spPr>
      </p:sp>
      <p:sp>
        <p:nvSpPr>
          <p:cNvPr id="19" name="Shape 15"/>
          <p:cNvSpPr/>
          <p:nvPr/>
        </p:nvSpPr>
        <p:spPr>
          <a:xfrm>
            <a:off x="6414516" y="1737360"/>
            <a:ext cx="457200" cy="457200"/>
          </a:xfrm>
          <a:prstGeom prst="ellipse">
            <a:avLst/>
          </a:prstGeom>
          <a:solidFill>
            <a:srgbClr val="7C9CC0"/>
          </a:solidFill>
          <a:ln w="12700">
            <a:solidFill>
              <a:srgbClr val="7C9CC0"/>
            </a:solidFill>
            <a:prstDash val="solid"/>
          </a:ln>
        </p:spPr>
      </p:sp>
      <p:pic>
        <p:nvPicPr>
          <p:cNvPr id="20" name="Image 2" descr="preencoded.png">    </p:cNvPr>
          <p:cNvPicPr>
            <a:picLocks noChangeAspect="1"/>
          </p:cNvPicPr>
          <p:nvPr/>
        </p:nvPicPr>
        <p:blipFill>
          <a:blip r:embed="rId3"/>
          <a:stretch>
            <a:fillRect/>
          </a:stretch>
        </p:blipFill>
        <p:spPr>
          <a:xfrm>
            <a:off x="6533388" y="1856232"/>
            <a:ext cx="219456" cy="219456"/>
          </a:xfrm>
          <a:prstGeom prst="rect">
            <a:avLst/>
          </a:prstGeom>
        </p:spPr>
      </p:pic>
      <p:sp>
        <p:nvSpPr>
          <p:cNvPr id="21" name="Text 16"/>
          <p:cNvSpPr txBox="1"/>
          <p:nvPr/>
        </p:nvSpPr>
        <p:spPr>
          <a:xfrm>
            <a:off x="7008876" y="1600200"/>
            <a:ext cx="1698498" cy="749808"/>
          </a:xfrm>
          <a:prstGeom prst="rect">
            <a:avLst/>
          </a:prstGeom>
          <a:noFill/>
          <a:ln/>
        </p:spPr>
        <p:txBody>
          <a:bodyPr wrap="square" lIns="0" tIns="0" rIns="0" bIns="0" rtlCol="0" anchor="ctr"/>
          <a:lstStyle/>
          <a:p>
            <a:pPr indent="0" marL="0">
              <a:buNone/>
            </a:pPr>
            <a:r>
              <a:rPr lang="en-US" sz="1500" b="1" dirty="0">
                <a:solidFill>
                  <a:srgbClr val="1B2A4A"/>
                </a:solidFill>
                <a:latin typeface="Calibri" pitchFamily="34" charset="0"/>
                <a:ea typeface="Calibri" pitchFamily="34" charset="-122"/>
                <a:cs typeface="Calibri" pitchFamily="34" charset="-120"/>
              </a:rPr>
              <a:t>Day 14</a:t>
            </a:r>
            <a:endParaRPr lang="en-US" sz="1500" dirty="0"/>
          </a:p>
          <a:p>
            <a:pPr indent="0" marL="0">
              <a:buNone/>
            </a:pPr>
            <a:r>
              <a:rPr lang="en-US" sz="1250" b="1" dirty="0">
                <a:solidFill>
                  <a:srgbClr val="1B2A4A"/>
                </a:solidFill>
                <a:latin typeface="Calibri" pitchFamily="34" charset="0"/>
                <a:ea typeface="Calibri" pitchFamily="34" charset="-122"/>
                <a:cs typeface="Calibri" pitchFamily="34" charset="-120"/>
              </a:rPr>
              <a:t>Uneven Restoration</a:t>
            </a:r>
            <a:endParaRPr lang="en-US" sz="1500" dirty="0"/>
          </a:p>
        </p:txBody>
      </p:sp>
      <p:sp>
        <p:nvSpPr>
          <p:cNvPr id="22" name="Text 17"/>
          <p:cNvSpPr txBox="1"/>
          <p:nvPr/>
        </p:nvSpPr>
        <p:spPr>
          <a:xfrm>
            <a:off x="6460236" y="2651760"/>
            <a:ext cx="2155698" cy="3154680"/>
          </a:xfrm>
          <a:prstGeom prst="rect">
            <a:avLst/>
          </a:prstGeom>
          <a:noFill/>
          <a:ln/>
        </p:spPr>
        <p:txBody>
          <a:bodyPr wrap="square" lIns="0" tIns="0" rIns="0" bIns="0" rtlCol="0" anchor="t"/>
          <a:lstStyle/>
          <a:p>
            <a:pPr marL="165100" indent="-165100">
              <a:spcAft>
                <a:spcPts val="1000"/>
              </a:spcAft>
              <a:buSzPct val="100000"/>
              <a:buChar char="•"/>
            </a:pPr>
            <a:r>
              <a:rPr lang="en-US" sz="1400" dirty="0">
                <a:solidFill>
                  <a:srgbClr val="1E2E3A"/>
                </a:solidFill>
                <a:latin typeface="Calibri" pitchFamily="34" charset="0"/>
                <a:ea typeface="Calibri" pitchFamily="34" charset="-122"/>
                <a:cs typeface="Calibri" pitchFamily="34" charset="-120"/>
              </a:rPr>
              <a:t>Do we switch back immediately?</a:t>
            </a:r>
            <a:endParaRPr lang="en-US" sz="1400" dirty="0"/>
          </a:p>
          <a:p>
            <a:pPr marL="165100" indent="-165100">
              <a:spcAft>
                <a:spcPts val="1000"/>
              </a:spcAft>
              <a:buSzPct val="100000"/>
              <a:buChar char="•"/>
            </a:pPr>
            <a:r>
              <a:rPr lang="en-US" sz="1400" dirty="0">
                <a:solidFill>
                  <a:srgbClr val="1E2E3A"/>
                </a:solidFill>
                <a:latin typeface="Calibri" pitchFamily="34" charset="0"/>
                <a:ea typeface="Calibri" pitchFamily="34" charset="-122"/>
                <a:cs typeface="Calibri" pitchFamily="34" charset="-120"/>
              </a:rPr>
              <a:t>How do we reconcile workaround records?</a:t>
            </a:r>
            <a:endParaRPr lang="en-US" sz="1400" dirty="0"/>
          </a:p>
          <a:p>
            <a:pPr marL="165100" indent="-165100">
              <a:spcAft>
                <a:spcPts val="1000"/>
              </a:spcAft>
              <a:buSzPct val="100000"/>
              <a:buChar char="•"/>
            </a:pPr>
            <a:r>
              <a:rPr lang="en-US" sz="1400" dirty="0">
                <a:solidFill>
                  <a:srgbClr val="1E2E3A"/>
                </a:solidFill>
                <a:latin typeface="Calibri" pitchFamily="34" charset="0"/>
                <a:ea typeface="Calibri" pitchFamily="34" charset="-122"/>
                <a:cs typeface="Calibri" pitchFamily="34" charset="-120"/>
              </a:rPr>
              <a:t>How do we validate data first?</a:t>
            </a:r>
            <a:endParaRPr lang="en-US" sz="1400" dirty="0"/>
          </a:p>
        </p:txBody>
      </p:sp>
      <p:sp>
        <p:nvSpPr>
          <p:cNvPr id="23" name="Shape 18"/>
          <p:cNvSpPr/>
          <p:nvPr/>
        </p:nvSpPr>
        <p:spPr>
          <a:xfrm>
            <a:off x="9073134" y="1508760"/>
            <a:ext cx="2567178" cy="3931920"/>
          </a:xfrm>
          <a:prstGeom prst="roundRect">
            <a:avLst>
              <a:gd name="adj" fmla="val 4987"/>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24" name="Shape 19"/>
          <p:cNvSpPr/>
          <p:nvPr/>
        </p:nvSpPr>
        <p:spPr>
          <a:xfrm>
            <a:off x="9073134" y="1508760"/>
            <a:ext cx="2567178" cy="914400"/>
          </a:xfrm>
          <a:prstGeom prst="roundRect">
            <a:avLst>
              <a:gd name="adj" fmla="val 14000"/>
            </a:avLst>
          </a:prstGeom>
          <a:solidFill>
            <a:srgbClr val="F5E8E2"/>
          </a:solidFill>
          <a:ln w="12700">
            <a:solidFill>
              <a:srgbClr val="F5E8E2"/>
            </a:solidFill>
            <a:prstDash val="solid"/>
          </a:ln>
        </p:spPr>
      </p:sp>
      <p:sp>
        <p:nvSpPr>
          <p:cNvPr id="25" name="Shape 20"/>
          <p:cNvSpPr/>
          <p:nvPr/>
        </p:nvSpPr>
        <p:spPr>
          <a:xfrm>
            <a:off x="9256014" y="1737360"/>
            <a:ext cx="457200" cy="457200"/>
          </a:xfrm>
          <a:prstGeom prst="ellipse">
            <a:avLst/>
          </a:prstGeom>
          <a:solidFill>
            <a:srgbClr val="BD8C7B"/>
          </a:solidFill>
          <a:ln w="12700">
            <a:solidFill>
              <a:srgbClr val="BD8C7B"/>
            </a:solidFill>
            <a:prstDash val="solid"/>
          </a:ln>
        </p:spPr>
      </p:sp>
      <p:pic>
        <p:nvPicPr>
          <p:cNvPr id="26" name="Image 3" descr="preencoded.png">    </p:cNvPr>
          <p:cNvPicPr>
            <a:picLocks noChangeAspect="1"/>
          </p:cNvPicPr>
          <p:nvPr/>
        </p:nvPicPr>
        <p:blipFill>
          <a:blip r:embed="rId4"/>
          <a:stretch>
            <a:fillRect/>
          </a:stretch>
        </p:blipFill>
        <p:spPr>
          <a:xfrm>
            <a:off x="9374886" y="1856232"/>
            <a:ext cx="219456" cy="219456"/>
          </a:xfrm>
          <a:prstGeom prst="rect">
            <a:avLst/>
          </a:prstGeom>
        </p:spPr>
      </p:pic>
      <p:sp>
        <p:nvSpPr>
          <p:cNvPr id="27" name="Text 21"/>
          <p:cNvSpPr txBox="1"/>
          <p:nvPr/>
        </p:nvSpPr>
        <p:spPr>
          <a:xfrm>
            <a:off x="9850374" y="1600200"/>
            <a:ext cx="1698498" cy="749808"/>
          </a:xfrm>
          <a:prstGeom prst="rect">
            <a:avLst/>
          </a:prstGeom>
          <a:noFill/>
          <a:ln/>
        </p:spPr>
        <p:txBody>
          <a:bodyPr wrap="square" lIns="0" tIns="0" rIns="0" bIns="0" rtlCol="0" anchor="ctr"/>
          <a:lstStyle/>
          <a:p>
            <a:pPr indent="0" marL="0">
              <a:buNone/>
            </a:pPr>
            <a:r>
              <a:rPr lang="en-US" sz="1500" b="1" dirty="0">
                <a:solidFill>
                  <a:srgbClr val="1B2A4A"/>
                </a:solidFill>
                <a:latin typeface="Calibri" pitchFamily="34" charset="0"/>
                <a:ea typeface="Calibri" pitchFamily="34" charset="-122"/>
                <a:cs typeface="Calibri" pitchFamily="34" charset="-120"/>
              </a:rPr>
              <a:t>Recovery</a:t>
            </a:r>
            <a:endParaRPr lang="en-US" sz="1500" dirty="0"/>
          </a:p>
          <a:p>
            <a:pPr indent="0" marL="0">
              <a:buNone/>
            </a:pPr>
            <a:r>
              <a:rPr lang="en-US" sz="1250" b="1" dirty="0">
                <a:solidFill>
                  <a:srgbClr val="1B2A4A"/>
                </a:solidFill>
                <a:latin typeface="Calibri" pitchFamily="34" charset="0"/>
                <a:ea typeface="Calibri" pitchFamily="34" charset="-122"/>
                <a:cs typeface="Calibri" pitchFamily="34" charset="-120"/>
              </a:rPr>
              <a:t>Business Recovery</a:t>
            </a:r>
            <a:endParaRPr lang="en-US" sz="1500" dirty="0"/>
          </a:p>
        </p:txBody>
      </p:sp>
      <p:sp>
        <p:nvSpPr>
          <p:cNvPr id="28" name="Text 22"/>
          <p:cNvSpPr txBox="1"/>
          <p:nvPr/>
        </p:nvSpPr>
        <p:spPr>
          <a:xfrm>
            <a:off x="9301734" y="2651760"/>
            <a:ext cx="2155698" cy="3154680"/>
          </a:xfrm>
          <a:prstGeom prst="rect">
            <a:avLst/>
          </a:prstGeom>
          <a:noFill/>
          <a:ln/>
        </p:spPr>
        <p:txBody>
          <a:bodyPr wrap="square" lIns="0" tIns="0" rIns="0" bIns="0" rtlCol="0" anchor="t"/>
          <a:lstStyle/>
          <a:p>
            <a:pPr marL="165100" indent="-165100">
              <a:spcAft>
                <a:spcPts val="1000"/>
              </a:spcAft>
              <a:buSzPct val="100000"/>
              <a:buChar char="•"/>
            </a:pPr>
            <a:r>
              <a:rPr lang="en-US" sz="1400" dirty="0">
                <a:solidFill>
                  <a:srgbClr val="1E2E3A"/>
                </a:solidFill>
                <a:latin typeface="Calibri" pitchFamily="34" charset="0"/>
                <a:ea typeface="Calibri" pitchFamily="34" charset="-122"/>
                <a:cs typeface="Calibri" pitchFamily="34" charset="-120"/>
              </a:rPr>
              <a:t>When do we declare business recovery?</a:t>
            </a:r>
            <a:endParaRPr lang="en-US" sz="1400" dirty="0"/>
          </a:p>
          <a:p>
            <a:pPr marL="165100" indent="-165100">
              <a:spcAft>
                <a:spcPts val="1000"/>
              </a:spcAft>
              <a:buSzPct val="100000"/>
              <a:buChar char="•"/>
            </a:pPr>
            <a:r>
              <a:rPr lang="en-US" sz="1400" dirty="0">
                <a:solidFill>
                  <a:srgbClr val="1E2E3A"/>
                </a:solidFill>
                <a:latin typeface="Calibri" pitchFamily="34" charset="0"/>
                <a:ea typeface="Calibri" pitchFamily="34" charset="-122"/>
                <a:cs typeface="Calibri" pitchFamily="34" charset="-120"/>
              </a:rPr>
              <a:t>Are obligations met or formally extended?</a:t>
            </a:r>
            <a:endParaRPr lang="en-US" sz="1400" dirty="0"/>
          </a:p>
          <a:p>
            <a:pPr marL="165100" indent="-165100">
              <a:spcAft>
                <a:spcPts val="1000"/>
              </a:spcAft>
              <a:buSzPct val="100000"/>
              <a:buChar char="•"/>
            </a:pPr>
            <a:r>
              <a:rPr lang="en-US" sz="1400" dirty="0">
                <a:solidFill>
                  <a:srgbClr val="1E2E3A"/>
                </a:solidFill>
                <a:latin typeface="Calibri" pitchFamily="34" charset="0"/>
                <a:ea typeface="Calibri" pitchFamily="34" charset="-122"/>
                <a:cs typeface="Calibri" pitchFamily="34" charset="-120"/>
              </a:rPr>
              <a:t>What lessons learned are needed?</a:t>
            </a:r>
            <a:endParaRPr lang="en-US" sz="1400" dirty="0"/>
          </a:p>
        </p:txBody>
      </p:sp>
      <p:sp>
        <p:nvSpPr>
          <p:cNvPr id="29" name="Shape 23"/>
          <p:cNvSpPr/>
          <p:nvPr/>
        </p:nvSpPr>
        <p:spPr>
          <a:xfrm>
            <a:off x="548640" y="6537960"/>
            <a:ext cx="763524" cy="274320"/>
          </a:xfrm>
          <a:prstGeom prst="roundRect">
            <a:avLst>
              <a:gd name="adj" fmla="val 50000"/>
            </a:avLst>
          </a:prstGeom>
          <a:solidFill>
            <a:srgbClr val="E4ECF2"/>
          </a:solidFill>
          <a:ln w="12700">
            <a:solidFill>
              <a:srgbClr val="E4ECF2"/>
            </a:solidFill>
            <a:prstDash val="solid"/>
          </a:ln>
        </p:spPr>
      </p:sp>
      <p:sp>
        <p:nvSpPr>
          <p:cNvPr id="30" name="Text 24"/>
          <p:cNvSpPr txBox="1"/>
          <p:nvPr/>
        </p:nvSpPr>
        <p:spPr>
          <a:xfrm>
            <a:off x="548640" y="6537960"/>
            <a:ext cx="763524" cy="274320"/>
          </a:xfrm>
          <a:prstGeom prst="rect">
            <a:avLst/>
          </a:prstGeom>
          <a:noFill/>
          <a:ln/>
        </p:spPr>
        <p:txBody>
          <a:bodyPr wrap="square" lIns="0" tIns="0" rIns="0" bIns="0" rtlCol="0" anchor="ctr"/>
          <a:lstStyle/>
          <a:p>
            <a:pPr algn="ctr" indent="0" marL="0">
              <a:buNone/>
            </a:pPr>
            <a:r>
              <a:rPr lang="en-US" sz="1200" b="1" dirty="0">
                <a:solidFill>
                  <a:srgbClr val="23405A"/>
                </a:solidFill>
                <a:latin typeface="Calibri" pitchFamily="34" charset="0"/>
                <a:ea typeface="Calibri" pitchFamily="34" charset="-122"/>
                <a:cs typeface="Calibri" pitchFamily="34" charset="-120"/>
              </a:rPr>
              <a:t>Start</a:t>
            </a:r>
            <a:endParaRPr lang="en-US" sz="1200" dirty="0"/>
          </a:p>
        </p:txBody>
      </p:sp>
      <p:pic>
        <p:nvPicPr>
          <p:cNvPr id="31" name="Image 4" descr="preencoded.png">
            <a:hlinkClick r:id="rId6" tooltip="Go to Start" action="ppaction://hlinksldjump"/>
          </p:cNvPr>
          <p:cNvPicPr>
            <a:picLocks noChangeAspect="1"/>
          </p:cNvPicPr>
          <p:nvPr/>
        </p:nvPicPr>
        <p:blipFill>
          <a:blip r:embed="rId5"/>
          <a:stretch>
            <a:fillRect/>
          </a:stretch>
        </p:blipFill>
        <p:spPr>
          <a:xfrm>
            <a:off x="548640" y="6537960"/>
            <a:ext cx="763524" cy="274320"/>
          </a:xfrm>
          <a:prstGeom prst="rect">
            <a:avLst/>
          </a:prstGeom>
        </p:spPr>
      </p:pic>
      <p:sp>
        <p:nvSpPr>
          <p:cNvPr id="32" name="Shape 25"/>
          <p:cNvSpPr/>
          <p:nvPr/>
        </p:nvSpPr>
        <p:spPr>
          <a:xfrm>
            <a:off x="1385316" y="6537960"/>
            <a:ext cx="1197864" cy="274320"/>
          </a:xfrm>
          <a:prstGeom prst="roundRect">
            <a:avLst>
              <a:gd name="adj" fmla="val 50000"/>
            </a:avLst>
          </a:prstGeom>
          <a:solidFill>
            <a:srgbClr val="F1F6FA"/>
          </a:solidFill>
          <a:ln w="12700">
            <a:solidFill>
              <a:srgbClr val="F1F6FA"/>
            </a:solidFill>
            <a:prstDash val="solid"/>
          </a:ln>
        </p:spPr>
      </p:sp>
      <p:sp>
        <p:nvSpPr>
          <p:cNvPr id="33" name="Text 26"/>
          <p:cNvSpPr txBox="1"/>
          <p:nvPr/>
        </p:nvSpPr>
        <p:spPr>
          <a:xfrm>
            <a:off x="1385316" y="6537960"/>
            <a:ext cx="1197864" cy="274320"/>
          </a:xfrm>
          <a:prstGeom prst="rect">
            <a:avLst/>
          </a:prstGeom>
          <a:noFill/>
          <a:ln/>
        </p:spPr>
        <p:txBody>
          <a:bodyPr wrap="square" lIns="0" tIns="0" rIns="0" bIns="0" rtlCol="0" anchor="ctr"/>
          <a:lstStyle/>
          <a:p>
            <a:pPr algn="ctr" indent="0" marL="0">
              <a:buNone/>
            </a:pPr>
            <a:r>
              <a:rPr lang="en-US" sz="1200" b="1" dirty="0">
                <a:solidFill>
                  <a:srgbClr val="3F6E8C"/>
                </a:solidFill>
                <a:latin typeface="Calibri" pitchFamily="34" charset="0"/>
                <a:ea typeface="Calibri" pitchFamily="34" charset="-122"/>
                <a:cs typeface="Calibri" pitchFamily="34" charset="-120"/>
              </a:rPr>
              <a:t>Scenario 1</a:t>
            </a:r>
            <a:endParaRPr lang="en-US" sz="1200" dirty="0"/>
          </a:p>
        </p:txBody>
      </p:sp>
      <p:pic>
        <p:nvPicPr>
          <p:cNvPr id="34" name="Image 5" descr="preencoded.png">
            <a:hlinkClick r:id="rId8" tooltip="Go to Scenario 1" action="ppaction://hlinksldjump"/>
          </p:cNvPr>
          <p:cNvPicPr>
            <a:picLocks noChangeAspect="1"/>
          </p:cNvPicPr>
          <p:nvPr/>
        </p:nvPicPr>
        <p:blipFill>
          <a:blip r:embed="rId7"/>
          <a:stretch>
            <a:fillRect/>
          </a:stretch>
        </p:blipFill>
        <p:spPr>
          <a:xfrm>
            <a:off x="1385316" y="6537960"/>
            <a:ext cx="1197864" cy="274320"/>
          </a:xfrm>
          <a:prstGeom prst="rect">
            <a:avLst/>
          </a:prstGeom>
        </p:spPr>
      </p:pic>
      <p:sp>
        <p:nvSpPr>
          <p:cNvPr id="35" name="Shape 27"/>
          <p:cNvSpPr/>
          <p:nvPr/>
        </p:nvSpPr>
        <p:spPr>
          <a:xfrm>
            <a:off x="2656332" y="6537960"/>
            <a:ext cx="1197864" cy="274320"/>
          </a:xfrm>
          <a:prstGeom prst="roundRect">
            <a:avLst>
              <a:gd name="adj" fmla="val 50000"/>
            </a:avLst>
          </a:prstGeom>
          <a:solidFill>
            <a:srgbClr val="F1F8F3"/>
          </a:solidFill>
          <a:ln w="12700">
            <a:solidFill>
              <a:srgbClr val="F1F8F3"/>
            </a:solidFill>
            <a:prstDash val="solid"/>
          </a:ln>
        </p:spPr>
      </p:sp>
      <p:sp>
        <p:nvSpPr>
          <p:cNvPr id="36" name="Text 28"/>
          <p:cNvSpPr txBox="1"/>
          <p:nvPr/>
        </p:nvSpPr>
        <p:spPr>
          <a:xfrm>
            <a:off x="2656332" y="6537960"/>
            <a:ext cx="1197864" cy="274320"/>
          </a:xfrm>
          <a:prstGeom prst="rect">
            <a:avLst/>
          </a:prstGeom>
          <a:noFill/>
          <a:ln/>
        </p:spPr>
        <p:txBody>
          <a:bodyPr wrap="square" lIns="0" tIns="0" rIns="0" bIns="0" rtlCol="0" anchor="ctr"/>
          <a:lstStyle/>
          <a:p>
            <a:pPr algn="ctr" indent="0" marL="0">
              <a:buNone/>
            </a:pPr>
            <a:r>
              <a:rPr lang="en-US" sz="1200" b="1" dirty="0">
                <a:solidFill>
                  <a:srgbClr val="4C8068"/>
                </a:solidFill>
                <a:latin typeface="Calibri" pitchFamily="34" charset="0"/>
                <a:ea typeface="Calibri" pitchFamily="34" charset="-122"/>
                <a:cs typeface="Calibri" pitchFamily="34" charset="-120"/>
              </a:rPr>
              <a:t>Scenario 2</a:t>
            </a:r>
            <a:endParaRPr lang="en-US" sz="1200" dirty="0"/>
          </a:p>
        </p:txBody>
      </p:sp>
      <p:pic>
        <p:nvPicPr>
          <p:cNvPr id="37" name="Image 6" descr="preencoded.png">
            <a:hlinkClick r:id="rId10" tooltip="Go to Scenario 2" action="ppaction://hlinksldjump"/>
          </p:cNvPr>
          <p:cNvPicPr>
            <a:picLocks noChangeAspect="1"/>
          </p:cNvPicPr>
          <p:nvPr/>
        </p:nvPicPr>
        <p:blipFill>
          <a:blip r:embed="rId9"/>
          <a:stretch>
            <a:fillRect/>
          </a:stretch>
        </p:blipFill>
        <p:spPr>
          <a:xfrm>
            <a:off x="2656332" y="6537960"/>
            <a:ext cx="1197864" cy="274320"/>
          </a:xfrm>
          <a:prstGeom prst="rect">
            <a:avLst/>
          </a:prstGeom>
        </p:spPr>
      </p:pic>
      <p:sp>
        <p:nvSpPr>
          <p:cNvPr id="38" name="Shape 29"/>
          <p:cNvSpPr/>
          <p:nvPr/>
        </p:nvSpPr>
        <p:spPr>
          <a:xfrm>
            <a:off x="3927348" y="6537960"/>
            <a:ext cx="1197864" cy="274320"/>
          </a:xfrm>
          <a:prstGeom prst="roundRect">
            <a:avLst>
              <a:gd name="adj" fmla="val 50000"/>
            </a:avLst>
          </a:prstGeom>
          <a:solidFill>
            <a:srgbClr val="6E5E94"/>
          </a:solidFill>
          <a:ln w="12700">
            <a:solidFill>
              <a:srgbClr val="6E5E94"/>
            </a:solidFill>
            <a:prstDash val="solid"/>
          </a:ln>
        </p:spPr>
      </p:sp>
      <p:sp>
        <p:nvSpPr>
          <p:cNvPr id="39" name="Text 30"/>
          <p:cNvSpPr txBox="1"/>
          <p:nvPr/>
        </p:nvSpPr>
        <p:spPr>
          <a:xfrm>
            <a:off x="3927348" y="6537960"/>
            <a:ext cx="1197864"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Scenario 3</a:t>
            </a:r>
            <a:endParaRPr lang="en-US" sz="1200" dirty="0"/>
          </a:p>
        </p:txBody>
      </p:sp>
      <p:pic>
        <p:nvPicPr>
          <p:cNvPr id="40" name="Image 7" descr="preencoded.png">
            <a:hlinkClick r:id="rId12" tooltip="Go to Scenario 3" action="ppaction://hlinksldjump"/>
          </p:cNvPr>
          <p:cNvPicPr>
            <a:picLocks noChangeAspect="1"/>
          </p:cNvPicPr>
          <p:nvPr/>
        </p:nvPicPr>
        <p:blipFill>
          <a:blip r:embed="rId11"/>
          <a:stretch>
            <a:fillRect/>
          </a:stretch>
        </p:blipFill>
        <p:spPr>
          <a:xfrm>
            <a:off x="3927348" y="6537960"/>
            <a:ext cx="1197864" cy="274320"/>
          </a:xfrm>
          <a:prstGeom prst="rect">
            <a:avLst/>
          </a:prstGeom>
        </p:spPr>
      </p:pic>
      <p:sp>
        <p:nvSpPr>
          <p:cNvPr id="41" name="Shape 31"/>
          <p:cNvSpPr/>
          <p:nvPr/>
        </p:nvSpPr>
        <p:spPr>
          <a:xfrm>
            <a:off x="5198364" y="6537960"/>
            <a:ext cx="937260" cy="274320"/>
          </a:xfrm>
          <a:prstGeom prst="roundRect">
            <a:avLst>
              <a:gd name="adj" fmla="val 50000"/>
            </a:avLst>
          </a:prstGeom>
          <a:solidFill>
            <a:srgbClr val="E4ECF2"/>
          </a:solidFill>
          <a:ln w="12700">
            <a:solidFill>
              <a:srgbClr val="E4ECF2"/>
            </a:solidFill>
            <a:prstDash val="solid"/>
          </a:ln>
        </p:spPr>
      </p:sp>
      <p:sp>
        <p:nvSpPr>
          <p:cNvPr id="42" name="Text 32"/>
          <p:cNvSpPr txBox="1"/>
          <p:nvPr/>
        </p:nvSpPr>
        <p:spPr>
          <a:xfrm>
            <a:off x="5198364" y="6537960"/>
            <a:ext cx="937260" cy="274320"/>
          </a:xfrm>
          <a:prstGeom prst="rect">
            <a:avLst/>
          </a:prstGeom>
          <a:noFill/>
          <a:ln/>
        </p:spPr>
        <p:txBody>
          <a:bodyPr wrap="square" lIns="0" tIns="0" rIns="0" bIns="0" rtlCol="0" anchor="ctr"/>
          <a:lstStyle/>
          <a:p>
            <a:pPr algn="ctr" indent="0" marL="0">
              <a:buNone/>
            </a:pPr>
            <a:r>
              <a:rPr lang="en-US" sz="1200" b="1" dirty="0">
                <a:solidFill>
                  <a:srgbClr val="23405A"/>
                </a:solidFill>
                <a:latin typeface="Calibri" pitchFamily="34" charset="0"/>
                <a:ea typeface="Calibri" pitchFamily="34" charset="-122"/>
                <a:cs typeface="Calibri" pitchFamily="34" charset="-120"/>
              </a:rPr>
              <a:t>Closing</a:t>
            </a:r>
            <a:endParaRPr lang="en-US" sz="1200" dirty="0"/>
          </a:p>
        </p:txBody>
      </p:sp>
      <p:pic>
        <p:nvPicPr>
          <p:cNvPr id="43" name="Image 8" descr="preencoded.png">
            <a:hlinkClick r:id="rId14" tooltip="Go to Closing" action="ppaction://hlinksldjump"/>
          </p:cNvPr>
          <p:cNvPicPr>
            <a:picLocks noChangeAspect="1"/>
          </p:cNvPicPr>
          <p:nvPr/>
        </p:nvPicPr>
        <p:blipFill>
          <a:blip r:embed="rId13"/>
          <a:stretch>
            <a:fillRect/>
          </a:stretch>
        </p:blipFill>
        <p:spPr>
          <a:xfrm>
            <a:off x="5198364" y="6537960"/>
            <a:ext cx="937260" cy="274320"/>
          </a:xfrm>
          <a:prstGeom prst="rect">
            <a:avLst/>
          </a:prstGeom>
        </p:spPr>
      </p:pic>
      <p:sp>
        <p:nvSpPr>
          <p:cNvPr id="44" name="Text 33"/>
          <p:cNvSpPr txBox="1"/>
          <p:nvPr/>
        </p:nvSpPr>
        <p:spPr>
          <a:xfrm>
            <a:off x="11277295" y="6537960"/>
            <a:ext cx="365760" cy="274320"/>
          </a:xfrm>
          <a:prstGeom prst="rect">
            <a:avLst/>
          </a:prstGeom>
          <a:noFill/>
          <a:ln/>
        </p:spPr>
        <p:txBody>
          <a:bodyPr wrap="square" lIns="0" tIns="0" rIns="0" bIns="0" rtlCol="0" anchor="ctr"/>
          <a:lstStyle/>
          <a:p>
            <a:pPr algn="r" indent="0" marL="0">
              <a:buNone/>
            </a:pPr>
            <a:r>
              <a:rPr lang="en-US" sz="1200" dirty="0">
                <a:solidFill>
                  <a:srgbClr val="465A69"/>
                </a:solidFill>
                <a:latin typeface="Calibri" pitchFamily="34" charset="0"/>
                <a:ea typeface="Calibri" pitchFamily="34" charset="-122"/>
                <a:cs typeface="Calibri" pitchFamily="34" charset="-120"/>
              </a:rPr>
              <a:t>53</a:t>
            </a:r>
            <a:endParaRPr lang="en-US" sz="12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EEEAF5"/>
        </a:solidFill>
      </p:bgPr>
    </p:bg>
    <p:spTree>
      <p:nvGrpSpPr>
        <p:cNvPr id="1" name=""/>
        <p:cNvGrpSpPr/>
        <p:nvPr/>
      </p:nvGrpSpPr>
      <p:grpSpPr>
        <a:xfrm>
          <a:off x="0" y="0"/>
          <a:ext cx="0" cy="0"/>
          <a:chOff x="0" y="0"/>
          <a:chExt cx="0" cy="0"/>
        </a:xfrm>
      </p:grpSpPr>
      <p:sp>
        <p:nvSpPr>
          <p:cNvPr id="2" name="Shape 0"/>
          <p:cNvSpPr/>
          <p:nvPr/>
        </p:nvSpPr>
        <p:spPr>
          <a:xfrm>
            <a:off x="548640" y="347472"/>
            <a:ext cx="2843784" cy="329184"/>
          </a:xfrm>
          <a:prstGeom prst="roundRect">
            <a:avLst>
              <a:gd name="adj" fmla="val 50000"/>
            </a:avLst>
          </a:prstGeom>
          <a:solidFill>
            <a:srgbClr val="F6F3FA"/>
          </a:solidFill>
          <a:ln w="12700">
            <a:solidFill>
              <a:srgbClr val="F6F3FA"/>
            </a:solidFill>
            <a:prstDash val="solid"/>
          </a:ln>
        </p:spPr>
      </p:sp>
      <p:sp>
        <p:nvSpPr>
          <p:cNvPr id="3" name="Text 1"/>
          <p:cNvSpPr txBox="1"/>
          <p:nvPr/>
        </p:nvSpPr>
        <p:spPr>
          <a:xfrm>
            <a:off x="548640" y="347472"/>
            <a:ext cx="2843784" cy="329184"/>
          </a:xfrm>
          <a:prstGeom prst="rect">
            <a:avLst/>
          </a:prstGeom>
          <a:noFill/>
          <a:ln/>
        </p:spPr>
        <p:txBody>
          <a:bodyPr wrap="square" lIns="0" tIns="0" rIns="0" bIns="0" rtlCol="0" anchor="ctr"/>
          <a:lstStyle/>
          <a:p>
            <a:pPr algn="ctr" indent="0" marL="0">
              <a:buNone/>
            </a:pPr>
            <a:r>
              <a:rPr lang="en-US" sz="1200" b="1" dirty="0">
                <a:solidFill>
                  <a:srgbClr val="6E5E94"/>
                </a:solidFill>
                <a:latin typeface="Calibri" pitchFamily="34" charset="0"/>
                <a:ea typeface="Calibri" pitchFamily="34" charset="-122"/>
                <a:cs typeface="Calibri" pitchFamily="34" charset="-120"/>
              </a:rPr>
              <a:t>Scenario 3 recap, part 4 of 4</a:t>
            </a:r>
            <a:endParaRPr lang="en-US" sz="1200" dirty="0"/>
          </a:p>
        </p:txBody>
      </p:sp>
      <p:sp>
        <p:nvSpPr>
          <p:cNvPr id="4" name="Text 2"/>
          <p:cNvSpPr txBox="1"/>
          <p:nvPr/>
        </p:nvSpPr>
        <p:spPr>
          <a:xfrm>
            <a:off x="548640" y="749808"/>
            <a:ext cx="11064240" cy="548640"/>
          </a:xfrm>
          <a:prstGeom prst="rect">
            <a:avLst/>
          </a:prstGeom>
          <a:noFill/>
          <a:ln/>
        </p:spPr>
        <p:txBody>
          <a:bodyPr wrap="square" lIns="0" tIns="0" rIns="0" bIns="0" rtlCol="0" anchor="ctr"/>
          <a:lstStyle/>
          <a:p>
            <a:pPr indent="0" marL="0">
              <a:buNone/>
            </a:pPr>
            <a:r>
              <a:rPr lang="en-US" sz="2400" b="1" dirty="0">
                <a:solidFill>
                  <a:srgbClr val="1B2A4A"/>
                </a:solidFill>
                <a:latin typeface="Cambria" pitchFamily="34" charset="0"/>
                <a:ea typeface="Cambria" pitchFamily="34" charset="-122"/>
                <a:cs typeface="Cambria" pitchFamily="34" charset="-120"/>
              </a:rPr>
              <a:t>Exercise: Extended SaaS Ecosystem Failure</a:t>
            </a:r>
            <a:endParaRPr lang="en-US" sz="2400" dirty="0"/>
          </a:p>
        </p:txBody>
      </p:sp>
      <p:sp>
        <p:nvSpPr>
          <p:cNvPr id="5" name="Text 3"/>
          <p:cNvSpPr txBox="1"/>
          <p:nvPr/>
        </p:nvSpPr>
        <p:spPr>
          <a:xfrm>
            <a:off x="548640" y="1298448"/>
            <a:ext cx="11064240" cy="502920"/>
          </a:xfrm>
          <a:prstGeom prst="rect">
            <a:avLst/>
          </a:prstGeom>
          <a:noFill/>
          <a:ln/>
        </p:spPr>
        <p:txBody>
          <a:bodyPr wrap="square" lIns="0" tIns="0" rIns="0" bIns="0" rtlCol="0" anchor="t"/>
          <a:lstStyle/>
          <a:p>
            <a:pPr indent="0" marL="0">
              <a:buNone/>
            </a:pPr>
            <a:r>
              <a:rPr lang="en-US" sz="1300" b="1" dirty="0">
                <a:solidFill>
                  <a:srgbClr val="2E4756"/>
                </a:solidFill>
                <a:latin typeface="Calibri" pitchFamily="34" charset="0"/>
                <a:ea typeface="Calibri" pitchFamily="34" charset="-122"/>
                <a:cs typeface="Calibri" pitchFamily="34" charset="-120"/>
              </a:rPr>
              <a:t>Scenario objective: </a:t>
            </a:r>
            <a:pPr indent="0" marL="0">
              <a:buNone/>
            </a:pPr>
            <a:r>
              <a:rPr lang="en-US" sz="1300" dirty="0">
                <a:solidFill>
                  <a:srgbClr val="2E4756"/>
                </a:solidFill>
                <a:latin typeface="Calibri" pitchFamily="34" charset="0"/>
                <a:ea typeface="Calibri" pitchFamily="34" charset="-122"/>
                <a:cs typeface="Calibri" pitchFamily="34" charset="-120"/>
              </a:rPr>
              <a:t>Test whether the business can keep operating when technology is largely restored but critical external providers remain unavailable for two weeks.</a:t>
            </a:r>
            <a:endParaRPr lang="en-US" sz="1300" dirty="0"/>
          </a:p>
        </p:txBody>
      </p:sp>
      <p:sp>
        <p:nvSpPr>
          <p:cNvPr id="6" name="Shape 4"/>
          <p:cNvSpPr/>
          <p:nvPr/>
        </p:nvSpPr>
        <p:spPr>
          <a:xfrm>
            <a:off x="548640" y="1920240"/>
            <a:ext cx="2601468" cy="4023360"/>
          </a:xfrm>
          <a:prstGeom prst="roundRect">
            <a:avLst>
              <a:gd name="adj" fmla="val 4921"/>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pic>
        <p:nvPicPr>
          <p:cNvPr id="7" name="Image 0" descr="preencoded.png">    </p:cNvPr>
          <p:cNvPicPr>
            <a:picLocks noChangeAspect="1"/>
          </p:cNvPicPr>
          <p:nvPr/>
        </p:nvPicPr>
        <p:blipFill>
          <a:blip r:embed="rId1"/>
          <a:stretch>
            <a:fillRect/>
          </a:stretch>
        </p:blipFill>
        <p:spPr>
          <a:xfrm>
            <a:off x="749808" y="2121408"/>
            <a:ext cx="365760" cy="365760"/>
          </a:xfrm>
          <a:prstGeom prst="rect">
            <a:avLst/>
          </a:prstGeom>
        </p:spPr>
      </p:pic>
      <p:sp>
        <p:nvSpPr>
          <p:cNvPr id="8" name="Text 5"/>
          <p:cNvSpPr txBox="1"/>
          <p:nvPr/>
        </p:nvSpPr>
        <p:spPr>
          <a:xfrm>
            <a:off x="1207008" y="2075688"/>
            <a:ext cx="1824228" cy="475488"/>
          </a:xfrm>
          <a:prstGeom prst="rect">
            <a:avLst/>
          </a:prstGeom>
          <a:noFill/>
          <a:ln/>
        </p:spPr>
        <p:txBody>
          <a:bodyPr wrap="square" lIns="0" tIns="0" rIns="0" bIns="0" rtlCol="0" anchor="ctr"/>
          <a:lstStyle/>
          <a:p>
            <a:pPr indent="0" marL="0">
              <a:buNone/>
            </a:pPr>
            <a:r>
              <a:rPr lang="en-US" sz="1400" b="1" dirty="0">
                <a:solidFill>
                  <a:srgbClr val="23405A"/>
                </a:solidFill>
                <a:latin typeface="Calibri" pitchFamily="34" charset="0"/>
                <a:ea typeface="Calibri" pitchFamily="34" charset="-122"/>
                <a:cs typeface="Calibri" pitchFamily="34" charset="-120"/>
              </a:rPr>
              <a:t>Business Impact (Examples)</a:t>
            </a:r>
            <a:endParaRPr lang="en-US" sz="1400" dirty="0"/>
          </a:p>
        </p:txBody>
      </p:sp>
      <p:sp>
        <p:nvSpPr>
          <p:cNvPr id="9" name="Text 6"/>
          <p:cNvSpPr txBox="1"/>
          <p:nvPr/>
        </p:nvSpPr>
        <p:spPr>
          <a:xfrm>
            <a:off x="777240" y="2697480"/>
            <a:ext cx="2189988" cy="3154680"/>
          </a:xfrm>
          <a:prstGeom prst="rect">
            <a:avLst/>
          </a:prstGeom>
          <a:noFill/>
          <a:ln/>
        </p:spPr>
        <p:txBody>
          <a:bodyPr wrap="square" lIns="0" tIns="0" rIns="0" bIns="0" rtlCol="0" anchor="t"/>
          <a:lstStyle/>
          <a:p>
            <a:pPr marL="165100" indent="-165100">
              <a:spcAft>
                <a:spcPts val="600"/>
              </a:spcAft>
              <a:buSzPct val="100000"/>
              <a:buChar char="•"/>
            </a:pPr>
            <a:r>
              <a:rPr lang="en-US" sz="1200" dirty="0">
                <a:solidFill>
                  <a:srgbClr val="1E2E3A"/>
                </a:solidFill>
                <a:latin typeface="Calibri" pitchFamily="34" charset="0"/>
                <a:ea typeface="Calibri" pitchFamily="34" charset="-122"/>
                <a:cs typeface="Calibri" pitchFamily="34" charset="-120"/>
              </a:rPr>
              <a:t>Regulatory submissions are due</a:t>
            </a:r>
            <a:endParaRPr lang="en-US" sz="1200" dirty="0"/>
          </a:p>
          <a:p>
            <a:pPr marL="165100" indent="-165100">
              <a:spcAft>
                <a:spcPts val="600"/>
              </a:spcAft>
              <a:buSzPct val="100000"/>
              <a:buChar char="•"/>
            </a:pPr>
            <a:r>
              <a:rPr lang="en-US" sz="1200" dirty="0">
                <a:solidFill>
                  <a:srgbClr val="1E2E3A"/>
                </a:solidFill>
                <a:latin typeface="Calibri" pitchFamily="34" charset="0"/>
                <a:ea typeface="Calibri" pitchFamily="34" charset="-122"/>
                <a:cs typeface="Calibri" pitchFamily="34" charset="-120"/>
              </a:rPr>
              <a:t>Clinical monitoring activities are delayed</a:t>
            </a:r>
            <a:endParaRPr lang="en-US" sz="1200" dirty="0"/>
          </a:p>
          <a:p>
            <a:pPr marL="165100" indent="-165100">
              <a:spcAft>
                <a:spcPts val="600"/>
              </a:spcAft>
              <a:buSzPct val="100000"/>
              <a:buChar char="•"/>
            </a:pPr>
            <a:r>
              <a:rPr lang="en-US" sz="1200" dirty="0">
                <a:solidFill>
                  <a:srgbClr val="1E2E3A"/>
                </a:solidFill>
                <a:latin typeface="Calibri" pitchFamily="34" charset="0"/>
                <a:ea typeface="Calibri" pitchFamily="34" charset="-122"/>
                <a:cs typeface="Calibri" pitchFamily="34" charset="-120"/>
              </a:rPr>
              <a:t>Vendor payments cannot be processed normally</a:t>
            </a:r>
            <a:endParaRPr lang="en-US" sz="1200" dirty="0"/>
          </a:p>
          <a:p>
            <a:pPr marL="165100" indent="-165100">
              <a:spcAft>
                <a:spcPts val="600"/>
              </a:spcAft>
              <a:buSzPct val="100000"/>
              <a:buChar char="•"/>
            </a:pPr>
            <a:r>
              <a:rPr lang="en-US" sz="1200" dirty="0">
                <a:solidFill>
                  <a:srgbClr val="1E2E3A"/>
                </a:solidFill>
                <a:latin typeface="Calibri" pitchFamily="34" charset="0"/>
                <a:ea typeface="Calibri" pitchFamily="34" charset="-122"/>
                <a:cs typeface="Calibri" pitchFamily="34" charset="-120"/>
              </a:rPr>
              <a:t>New employee onboarding is impacted</a:t>
            </a:r>
            <a:endParaRPr lang="en-US" sz="1200" dirty="0"/>
          </a:p>
          <a:p>
            <a:pPr marL="165100" indent="-165100">
              <a:spcAft>
                <a:spcPts val="600"/>
              </a:spcAft>
              <a:buSzPct val="100000"/>
              <a:buChar char="•"/>
            </a:pPr>
            <a:r>
              <a:rPr lang="en-US" sz="1200" dirty="0">
                <a:solidFill>
                  <a:srgbClr val="1E2E3A"/>
                </a:solidFill>
                <a:latin typeface="Calibri" pitchFamily="34" charset="0"/>
                <a:ea typeface="Calibri" pitchFamily="34" charset="-122"/>
                <a:cs typeface="Calibri" pitchFamily="34" charset="-120"/>
              </a:rPr>
              <a:t>Investors ask about operational impacts</a:t>
            </a:r>
            <a:endParaRPr lang="en-US" sz="1200" dirty="0"/>
          </a:p>
        </p:txBody>
      </p:sp>
      <p:sp>
        <p:nvSpPr>
          <p:cNvPr id="10" name="Shape 7"/>
          <p:cNvSpPr/>
          <p:nvPr/>
        </p:nvSpPr>
        <p:spPr>
          <a:xfrm>
            <a:off x="3378708" y="1920240"/>
            <a:ext cx="2601468" cy="4023360"/>
          </a:xfrm>
          <a:prstGeom prst="roundRect">
            <a:avLst>
              <a:gd name="adj" fmla="val 4921"/>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pic>
        <p:nvPicPr>
          <p:cNvPr id="11" name="Image 1" descr="preencoded.png">    </p:cNvPr>
          <p:cNvPicPr>
            <a:picLocks noChangeAspect="1"/>
          </p:cNvPicPr>
          <p:nvPr/>
        </p:nvPicPr>
        <p:blipFill>
          <a:blip r:embed="rId2"/>
          <a:stretch>
            <a:fillRect/>
          </a:stretch>
        </p:blipFill>
        <p:spPr>
          <a:xfrm>
            <a:off x="3579876" y="2121408"/>
            <a:ext cx="365760" cy="365760"/>
          </a:xfrm>
          <a:prstGeom prst="rect">
            <a:avLst/>
          </a:prstGeom>
        </p:spPr>
      </p:pic>
      <p:sp>
        <p:nvSpPr>
          <p:cNvPr id="12" name="Text 8"/>
          <p:cNvSpPr txBox="1"/>
          <p:nvPr/>
        </p:nvSpPr>
        <p:spPr>
          <a:xfrm>
            <a:off x="4037076" y="2075688"/>
            <a:ext cx="1824228" cy="475488"/>
          </a:xfrm>
          <a:prstGeom prst="rect">
            <a:avLst/>
          </a:prstGeom>
          <a:noFill/>
          <a:ln/>
        </p:spPr>
        <p:txBody>
          <a:bodyPr wrap="square" lIns="0" tIns="0" rIns="0" bIns="0" rtlCol="0" anchor="ctr"/>
          <a:lstStyle/>
          <a:p>
            <a:pPr indent="0" marL="0">
              <a:buNone/>
            </a:pPr>
            <a:r>
              <a:rPr lang="en-US" sz="1400" b="1" dirty="0">
                <a:solidFill>
                  <a:srgbClr val="23405A"/>
                </a:solidFill>
                <a:latin typeface="Calibri" pitchFamily="34" charset="0"/>
                <a:ea typeface="Calibri" pitchFamily="34" charset="-122"/>
                <a:cs typeface="Calibri" pitchFamily="34" charset="-120"/>
              </a:rPr>
              <a:t>Key Time-Based Decisions</a:t>
            </a:r>
            <a:endParaRPr lang="en-US" sz="1400" dirty="0"/>
          </a:p>
        </p:txBody>
      </p:sp>
      <p:sp>
        <p:nvSpPr>
          <p:cNvPr id="13" name="Text 9"/>
          <p:cNvSpPr txBox="1"/>
          <p:nvPr/>
        </p:nvSpPr>
        <p:spPr>
          <a:xfrm>
            <a:off x="3607308" y="2697480"/>
            <a:ext cx="2189988" cy="3154680"/>
          </a:xfrm>
          <a:prstGeom prst="rect">
            <a:avLst/>
          </a:prstGeom>
          <a:noFill/>
          <a:ln/>
        </p:spPr>
        <p:txBody>
          <a:bodyPr wrap="square" lIns="0" tIns="0" rIns="0" bIns="0" rtlCol="0" anchor="t"/>
          <a:lstStyle/>
          <a:p>
            <a:pPr marL="165100" indent="-165100">
              <a:spcAft>
                <a:spcPts val="600"/>
              </a:spcAft>
              <a:buSzPct val="100000"/>
              <a:buChar char="•"/>
            </a:pPr>
            <a:r>
              <a:rPr lang="en-US" sz="1200" dirty="0">
                <a:solidFill>
                  <a:srgbClr val="1E2E3A"/>
                </a:solidFill>
                <a:latin typeface="Calibri" pitchFamily="34" charset="0"/>
                <a:ea typeface="Calibri" pitchFamily="34" charset="-122"/>
                <a:cs typeface="Calibri" pitchFamily="34" charset="-120"/>
              </a:rPr>
              <a:t>Day 2: Approve manual workarounds?</a:t>
            </a:r>
            <a:endParaRPr lang="en-US" sz="1200" dirty="0"/>
          </a:p>
          <a:p>
            <a:pPr marL="165100" indent="-165100">
              <a:spcAft>
                <a:spcPts val="600"/>
              </a:spcAft>
              <a:buSzPct val="100000"/>
              <a:buChar char="•"/>
            </a:pPr>
            <a:r>
              <a:rPr lang="en-US" sz="1200" dirty="0">
                <a:solidFill>
                  <a:srgbClr val="1E2E3A"/>
                </a:solidFill>
                <a:latin typeface="Calibri" pitchFamily="34" charset="0"/>
                <a:ea typeface="Calibri" pitchFamily="34" charset="-122"/>
                <a:cs typeface="Calibri" pitchFamily="34" charset="-120"/>
              </a:rPr>
              <a:t>Day 3: Which processes run degraded?</a:t>
            </a:r>
            <a:endParaRPr lang="en-US" sz="1200" dirty="0"/>
          </a:p>
          <a:p>
            <a:pPr marL="165100" indent="-165100">
              <a:spcAft>
                <a:spcPts val="600"/>
              </a:spcAft>
              <a:buSzPct val="100000"/>
              <a:buChar char="•"/>
            </a:pPr>
            <a:r>
              <a:rPr lang="en-US" sz="1200" dirty="0">
                <a:solidFill>
                  <a:srgbClr val="1E2E3A"/>
                </a:solidFill>
                <a:latin typeface="Calibri" pitchFamily="34" charset="0"/>
                <a:ea typeface="Calibri" pitchFamily="34" charset="-122"/>
                <a:cs typeface="Calibri" pitchFamily="34" charset="-120"/>
              </a:rPr>
              <a:t>Day 5: Accept risk on manual payments?</a:t>
            </a:r>
            <a:endParaRPr lang="en-US" sz="1200" dirty="0"/>
          </a:p>
          <a:p>
            <a:pPr marL="165100" indent="-165100">
              <a:spcAft>
                <a:spcPts val="600"/>
              </a:spcAft>
              <a:buSzPct val="100000"/>
              <a:buChar char="•"/>
            </a:pPr>
            <a:r>
              <a:rPr lang="en-US" sz="1200" dirty="0">
                <a:solidFill>
                  <a:srgbClr val="1E2E3A"/>
                </a:solidFill>
                <a:latin typeface="Calibri" pitchFamily="34" charset="0"/>
                <a:ea typeface="Calibri" pitchFamily="34" charset="-122"/>
                <a:cs typeface="Calibri" pitchFamily="34" charset="-120"/>
              </a:rPr>
              <a:t>Day 7: What do investors hear?</a:t>
            </a:r>
            <a:endParaRPr lang="en-US" sz="1200" dirty="0"/>
          </a:p>
          <a:p>
            <a:pPr marL="165100" indent="-165100">
              <a:spcAft>
                <a:spcPts val="600"/>
              </a:spcAft>
              <a:buSzPct val="100000"/>
              <a:buChar char="•"/>
            </a:pPr>
            <a:r>
              <a:rPr lang="en-US" sz="1200" dirty="0">
                <a:solidFill>
                  <a:srgbClr val="1E2E3A"/>
                </a:solidFill>
                <a:latin typeface="Calibri" pitchFamily="34" charset="0"/>
                <a:ea typeface="Calibri" pitchFamily="34" charset="-122"/>
                <a:cs typeface="Calibri" pitchFamily="34" charset="-120"/>
              </a:rPr>
              <a:t>Day 10: Protect or move the milestone?</a:t>
            </a:r>
            <a:endParaRPr lang="en-US" sz="1200" dirty="0"/>
          </a:p>
          <a:p>
            <a:pPr marL="165100" indent="-165100">
              <a:spcAft>
                <a:spcPts val="600"/>
              </a:spcAft>
              <a:buSzPct val="100000"/>
              <a:buChar char="•"/>
            </a:pPr>
            <a:r>
              <a:rPr lang="en-US" sz="1200" dirty="0">
                <a:solidFill>
                  <a:srgbClr val="1E2E3A"/>
                </a:solidFill>
                <a:latin typeface="Calibri" pitchFamily="34" charset="0"/>
                <a:ea typeface="Calibri" pitchFamily="34" charset="-122"/>
                <a:cs typeface="Calibri" pitchFamily="34" charset="-120"/>
              </a:rPr>
              <a:t>Day 14: Switch back or reconcile first?</a:t>
            </a:r>
            <a:endParaRPr lang="en-US" sz="1200" dirty="0"/>
          </a:p>
        </p:txBody>
      </p:sp>
      <p:sp>
        <p:nvSpPr>
          <p:cNvPr id="14" name="Shape 10"/>
          <p:cNvSpPr/>
          <p:nvPr/>
        </p:nvSpPr>
        <p:spPr>
          <a:xfrm>
            <a:off x="6208776" y="1920240"/>
            <a:ext cx="2601468" cy="4023360"/>
          </a:xfrm>
          <a:prstGeom prst="roundRect">
            <a:avLst>
              <a:gd name="adj" fmla="val 4921"/>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pic>
        <p:nvPicPr>
          <p:cNvPr id="15" name="Image 2" descr="preencoded.png">    </p:cNvPr>
          <p:cNvPicPr>
            <a:picLocks noChangeAspect="1"/>
          </p:cNvPicPr>
          <p:nvPr/>
        </p:nvPicPr>
        <p:blipFill>
          <a:blip r:embed="rId3"/>
          <a:stretch>
            <a:fillRect/>
          </a:stretch>
        </p:blipFill>
        <p:spPr>
          <a:xfrm>
            <a:off x="6409944" y="2121408"/>
            <a:ext cx="365760" cy="365760"/>
          </a:xfrm>
          <a:prstGeom prst="rect">
            <a:avLst/>
          </a:prstGeom>
        </p:spPr>
      </p:pic>
      <p:sp>
        <p:nvSpPr>
          <p:cNvPr id="16" name="Text 11"/>
          <p:cNvSpPr txBox="1"/>
          <p:nvPr/>
        </p:nvSpPr>
        <p:spPr>
          <a:xfrm>
            <a:off x="6867144" y="2075688"/>
            <a:ext cx="1824228" cy="475488"/>
          </a:xfrm>
          <a:prstGeom prst="rect">
            <a:avLst/>
          </a:prstGeom>
          <a:noFill/>
          <a:ln/>
        </p:spPr>
        <p:txBody>
          <a:bodyPr wrap="square" lIns="0" tIns="0" rIns="0" bIns="0" rtlCol="0" anchor="ctr"/>
          <a:lstStyle/>
          <a:p>
            <a:pPr indent="0" marL="0">
              <a:buNone/>
            </a:pPr>
            <a:r>
              <a:rPr lang="en-US" sz="1400" b="1" dirty="0">
                <a:solidFill>
                  <a:srgbClr val="23405A"/>
                </a:solidFill>
                <a:latin typeface="Calibri" pitchFamily="34" charset="0"/>
                <a:ea typeface="Calibri" pitchFamily="34" charset="-122"/>
                <a:cs typeface="Calibri" pitchFamily="34" charset="-120"/>
              </a:rPr>
              <a:t>Success Criteria for the Exercise</a:t>
            </a:r>
            <a:endParaRPr lang="en-US" sz="1400" dirty="0"/>
          </a:p>
        </p:txBody>
      </p:sp>
      <p:pic>
        <p:nvPicPr>
          <p:cNvPr id="17" name="Image 3" descr="preencoded.png">    </p:cNvPr>
          <p:cNvPicPr>
            <a:picLocks noChangeAspect="1"/>
          </p:cNvPicPr>
          <p:nvPr/>
        </p:nvPicPr>
        <p:blipFill>
          <a:blip r:embed="rId4"/>
          <a:stretch>
            <a:fillRect/>
          </a:stretch>
        </p:blipFill>
        <p:spPr>
          <a:xfrm>
            <a:off x="6437376" y="2724912"/>
            <a:ext cx="201168" cy="201168"/>
          </a:xfrm>
          <a:prstGeom prst="rect">
            <a:avLst/>
          </a:prstGeom>
        </p:spPr>
      </p:pic>
      <p:sp>
        <p:nvSpPr>
          <p:cNvPr id="18" name="Text 12"/>
          <p:cNvSpPr txBox="1"/>
          <p:nvPr/>
        </p:nvSpPr>
        <p:spPr>
          <a:xfrm>
            <a:off x="6711696" y="2697480"/>
            <a:ext cx="1915668" cy="630936"/>
          </a:xfrm>
          <a:prstGeom prst="rect">
            <a:avLst/>
          </a:prstGeom>
          <a:noFill/>
          <a:ln/>
        </p:spPr>
        <p:txBody>
          <a:bodyPr wrap="square" lIns="0" tIns="0" rIns="0" bIns="0" rtlCol="0" anchor="t"/>
          <a:lstStyle/>
          <a:p>
            <a:pPr indent="0" marL="0">
              <a:buNone/>
            </a:pPr>
            <a:r>
              <a:rPr lang="en-US" sz="1200" dirty="0">
                <a:solidFill>
                  <a:srgbClr val="1E2E3A"/>
                </a:solidFill>
                <a:latin typeface="Calibri" pitchFamily="34" charset="0"/>
                <a:ea typeface="Calibri" pitchFamily="34" charset="-122"/>
                <a:cs typeface="Calibri" pitchFamily="34" charset="-120"/>
              </a:rPr>
              <a:t>Mission-critical activities identified</a:t>
            </a:r>
            <a:endParaRPr lang="en-US" sz="1200" dirty="0"/>
          </a:p>
        </p:txBody>
      </p:sp>
      <p:pic>
        <p:nvPicPr>
          <p:cNvPr id="19" name="Image 4" descr="preencoded.png">    </p:cNvPr>
          <p:cNvPicPr>
            <a:picLocks noChangeAspect="1"/>
          </p:cNvPicPr>
          <p:nvPr/>
        </p:nvPicPr>
        <p:blipFill>
          <a:blip r:embed="rId5"/>
          <a:stretch>
            <a:fillRect/>
          </a:stretch>
        </p:blipFill>
        <p:spPr>
          <a:xfrm>
            <a:off x="6437376" y="3355848"/>
            <a:ext cx="201168" cy="201168"/>
          </a:xfrm>
          <a:prstGeom prst="rect">
            <a:avLst/>
          </a:prstGeom>
        </p:spPr>
      </p:pic>
      <p:sp>
        <p:nvSpPr>
          <p:cNvPr id="20" name="Text 13"/>
          <p:cNvSpPr txBox="1"/>
          <p:nvPr/>
        </p:nvSpPr>
        <p:spPr>
          <a:xfrm>
            <a:off x="6711696" y="3328416"/>
            <a:ext cx="1915668" cy="630936"/>
          </a:xfrm>
          <a:prstGeom prst="rect">
            <a:avLst/>
          </a:prstGeom>
          <a:noFill/>
          <a:ln/>
        </p:spPr>
        <p:txBody>
          <a:bodyPr wrap="square" lIns="0" tIns="0" rIns="0" bIns="0" rtlCol="0" anchor="t"/>
          <a:lstStyle/>
          <a:p>
            <a:pPr indent="0" marL="0">
              <a:buNone/>
            </a:pPr>
            <a:r>
              <a:rPr lang="en-US" sz="1200" dirty="0">
                <a:solidFill>
                  <a:srgbClr val="1E2E3A"/>
                </a:solidFill>
                <a:latin typeface="Calibri" pitchFamily="34" charset="0"/>
                <a:ea typeface="Calibri" pitchFamily="34" charset="-122"/>
                <a:cs typeface="Calibri" pitchFamily="34" charset="-120"/>
              </a:rPr>
              <a:t>Documented workarounds activated</a:t>
            </a:r>
            <a:endParaRPr lang="en-US" sz="1200" dirty="0"/>
          </a:p>
        </p:txBody>
      </p:sp>
      <p:pic>
        <p:nvPicPr>
          <p:cNvPr id="21" name="Image 5" descr="preencoded.png">    </p:cNvPr>
          <p:cNvPicPr>
            <a:picLocks noChangeAspect="1"/>
          </p:cNvPicPr>
          <p:nvPr/>
        </p:nvPicPr>
        <p:blipFill>
          <a:blip r:embed="rId6"/>
          <a:stretch>
            <a:fillRect/>
          </a:stretch>
        </p:blipFill>
        <p:spPr>
          <a:xfrm>
            <a:off x="6437376" y="3986784"/>
            <a:ext cx="201168" cy="201168"/>
          </a:xfrm>
          <a:prstGeom prst="rect">
            <a:avLst/>
          </a:prstGeom>
        </p:spPr>
      </p:pic>
      <p:sp>
        <p:nvSpPr>
          <p:cNvPr id="22" name="Text 14"/>
          <p:cNvSpPr txBox="1"/>
          <p:nvPr/>
        </p:nvSpPr>
        <p:spPr>
          <a:xfrm>
            <a:off x="6711696" y="3959352"/>
            <a:ext cx="1915668" cy="630936"/>
          </a:xfrm>
          <a:prstGeom prst="rect">
            <a:avLst/>
          </a:prstGeom>
          <a:noFill/>
          <a:ln/>
        </p:spPr>
        <p:txBody>
          <a:bodyPr wrap="square" lIns="0" tIns="0" rIns="0" bIns="0" rtlCol="0" anchor="t"/>
          <a:lstStyle/>
          <a:p>
            <a:pPr indent="0" marL="0">
              <a:buNone/>
            </a:pPr>
            <a:r>
              <a:rPr lang="en-US" sz="1200" dirty="0">
                <a:solidFill>
                  <a:srgbClr val="1E2E3A"/>
                </a:solidFill>
                <a:latin typeface="Calibri" pitchFamily="34" charset="0"/>
                <a:ea typeface="Calibri" pitchFamily="34" charset="-122"/>
                <a:cs typeface="Calibri" pitchFamily="34" charset="-120"/>
              </a:rPr>
              <a:t>Recovery priorities aligned to business impact</a:t>
            </a:r>
            <a:endParaRPr lang="en-US" sz="1200" dirty="0"/>
          </a:p>
        </p:txBody>
      </p:sp>
      <p:pic>
        <p:nvPicPr>
          <p:cNvPr id="23" name="Image 6" descr="preencoded.png">    </p:cNvPr>
          <p:cNvPicPr>
            <a:picLocks noChangeAspect="1"/>
          </p:cNvPicPr>
          <p:nvPr/>
        </p:nvPicPr>
        <p:blipFill>
          <a:blip r:embed="rId7"/>
          <a:stretch>
            <a:fillRect/>
          </a:stretch>
        </p:blipFill>
        <p:spPr>
          <a:xfrm>
            <a:off x="6437376" y="4617720"/>
            <a:ext cx="201168" cy="201168"/>
          </a:xfrm>
          <a:prstGeom prst="rect">
            <a:avLst/>
          </a:prstGeom>
        </p:spPr>
      </p:pic>
      <p:sp>
        <p:nvSpPr>
          <p:cNvPr id="24" name="Text 15"/>
          <p:cNvSpPr txBox="1"/>
          <p:nvPr/>
        </p:nvSpPr>
        <p:spPr>
          <a:xfrm>
            <a:off x="6711696" y="4590288"/>
            <a:ext cx="1915668" cy="630936"/>
          </a:xfrm>
          <a:prstGeom prst="rect">
            <a:avLst/>
          </a:prstGeom>
          <a:noFill/>
          <a:ln/>
        </p:spPr>
        <p:txBody>
          <a:bodyPr wrap="square" lIns="0" tIns="0" rIns="0" bIns="0" rtlCol="0" anchor="t"/>
          <a:lstStyle/>
          <a:p>
            <a:pPr indent="0" marL="0">
              <a:buNone/>
            </a:pPr>
            <a:r>
              <a:rPr lang="en-US" sz="1200" dirty="0">
                <a:solidFill>
                  <a:srgbClr val="1E2E3A"/>
                </a:solidFill>
                <a:latin typeface="Calibri" pitchFamily="34" charset="0"/>
                <a:ea typeface="Calibri" pitchFamily="34" charset="-122"/>
                <a:cs typeface="Calibri" pitchFamily="34" charset="-120"/>
              </a:rPr>
              <a:t>Executive governance functions effectively</a:t>
            </a:r>
            <a:endParaRPr lang="en-US" sz="1200" dirty="0"/>
          </a:p>
        </p:txBody>
      </p:sp>
      <p:pic>
        <p:nvPicPr>
          <p:cNvPr id="25" name="Image 7" descr="preencoded.png">    </p:cNvPr>
          <p:cNvPicPr>
            <a:picLocks noChangeAspect="1"/>
          </p:cNvPicPr>
          <p:nvPr/>
        </p:nvPicPr>
        <p:blipFill>
          <a:blip r:embed="rId8"/>
          <a:stretch>
            <a:fillRect/>
          </a:stretch>
        </p:blipFill>
        <p:spPr>
          <a:xfrm>
            <a:off x="6437376" y="5248656"/>
            <a:ext cx="201168" cy="201168"/>
          </a:xfrm>
          <a:prstGeom prst="rect">
            <a:avLst/>
          </a:prstGeom>
        </p:spPr>
      </p:pic>
      <p:sp>
        <p:nvSpPr>
          <p:cNvPr id="26" name="Text 16"/>
          <p:cNvSpPr txBox="1"/>
          <p:nvPr/>
        </p:nvSpPr>
        <p:spPr>
          <a:xfrm>
            <a:off x="6711696" y="5221224"/>
            <a:ext cx="1915668" cy="630936"/>
          </a:xfrm>
          <a:prstGeom prst="rect">
            <a:avLst/>
          </a:prstGeom>
          <a:noFill/>
          <a:ln/>
        </p:spPr>
        <p:txBody>
          <a:bodyPr wrap="square" lIns="0" tIns="0" rIns="0" bIns="0" rtlCol="0" anchor="t"/>
          <a:lstStyle/>
          <a:p>
            <a:pPr indent="0" marL="0">
              <a:buNone/>
            </a:pPr>
            <a:r>
              <a:rPr lang="en-US" sz="1200" dirty="0">
                <a:solidFill>
                  <a:srgbClr val="1E2E3A"/>
                </a:solidFill>
                <a:latin typeface="Calibri" pitchFamily="34" charset="0"/>
                <a:ea typeface="Calibri" pitchFamily="34" charset="-122"/>
                <a:cs typeface="Calibri" pitchFamily="34" charset="-120"/>
              </a:rPr>
              <a:t>Gaps in continuity planning documented</a:t>
            </a:r>
            <a:endParaRPr lang="en-US" sz="1200" dirty="0"/>
          </a:p>
        </p:txBody>
      </p:sp>
      <p:sp>
        <p:nvSpPr>
          <p:cNvPr id="27" name="Shape 17"/>
          <p:cNvSpPr/>
          <p:nvPr/>
        </p:nvSpPr>
        <p:spPr>
          <a:xfrm>
            <a:off x="9038844" y="1920240"/>
            <a:ext cx="2601468" cy="4023360"/>
          </a:xfrm>
          <a:prstGeom prst="roundRect">
            <a:avLst>
              <a:gd name="adj" fmla="val 4921"/>
            </a:avLst>
          </a:prstGeom>
          <a:solidFill>
            <a:srgbClr val="DCEAF8"/>
          </a:solidFill>
          <a:ln w="12700">
            <a:solidFill>
              <a:srgbClr val="DCEAF8"/>
            </a:solidFill>
            <a:prstDash val="solid"/>
          </a:ln>
          <a:effectLst>
            <a:outerShdw sx="100000" sy="100000" kx="0" ky="0" algn="bl" rotWithShape="0" blurRad="177800" dist="50800" dir="5400000">
              <a:srgbClr val="1B4965">
                <a:alpha val="16000"/>
              </a:srgbClr>
            </a:outerShdw>
          </a:effectLst>
        </p:spPr>
      </p:sp>
      <p:sp>
        <p:nvSpPr>
          <p:cNvPr id="28" name="Text 18"/>
          <p:cNvSpPr txBox="1"/>
          <p:nvPr/>
        </p:nvSpPr>
        <p:spPr>
          <a:xfrm>
            <a:off x="9267444" y="2286000"/>
            <a:ext cx="2144268" cy="3291840"/>
          </a:xfrm>
          <a:prstGeom prst="rect">
            <a:avLst/>
          </a:prstGeom>
          <a:noFill/>
          <a:ln/>
        </p:spPr>
        <p:txBody>
          <a:bodyPr wrap="square" lIns="0" tIns="0" rIns="0" bIns="0" rtlCol="0" anchor="ctr"/>
          <a:lstStyle/>
          <a:p>
            <a:pPr algn="ctr" indent="0" marL="0">
              <a:buNone/>
            </a:pPr>
            <a:r>
              <a:rPr lang="en-US" sz="1500" i="1" dirty="0">
                <a:solidFill>
                  <a:srgbClr val="1B2A4A"/>
                </a:solidFill>
                <a:latin typeface="Cambria" pitchFamily="34" charset="0"/>
                <a:ea typeface="Cambria" pitchFamily="34" charset="-122"/>
                <a:cs typeface="Cambria" pitchFamily="34" charset="-120"/>
              </a:rPr>
              <a:t>“Technology can be restored in hours.</a:t>
            </a:r>
            <a:endParaRPr lang="en-US" sz="1500" dirty="0"/>
          </a:p>
          <a:p>
            <a:pPr algn="ctr" indent="0" marL="0">
              <a:buNone/>
            </a:pPr>
            <a:r>
              <a:rPr lang="en-US" sz="1500" i="1" dirty="0">
                <a:solidFill>
                  <a:srgbClr val="1B2A4A"/>
                </a:solidFill>
                <a:latin typeface="Cambria" pitchFamily="34" charset="0"/>
                <a:ea typeface="Cambria" pitchFamily="34" charset="-122"/>
                <a:cs typeface="Cambria" pitchFamily="34" charset="-120"/>
              </a:rPr>
              <a:t> </a:t>
            </a:r>
            <a:endParaRPr lang="en-US" sz="1500" dirty="0"/>
          </a:p>
          <a:p>
            <a:pPr algn="ctr" indent="0" marL="0">
              <a:buNone/>
            </a:pPr>
            <a:r>
              <a:rPr lang="en-US" sz="1500" i="1" dirty="0">
                <a:solidFill>
                  <a:srgbClr val="1B2A4A"/>
                </a:solidFill>
                <a:latin typeface="Cambria" pitchFamily="34" charset="0"/>
                <a:ea typeface="Cambria" pitchFamily="34" charset="-122"/>
                <a:cs typeface="Cambria" pitchFamily="34" charset="-120"/>
              </a:rPr>
              <a:t>The business has to keep running for weeks.”</a:t>
            </a:r>
            <a:endParaRPr lang="en-US" sz="1500" dirty="0"/>
          </a:p>
          <a:p>
            <a:pPr algn="ctr" indent="0" marL="0">
              <a:buNone/>
            </a:pPr>
            <a:r>
              <a:rPr lang="en-US" sz="1500" i="1" dirty="0">
                <a:solidFill>
                  <a:srgbClr val="1B2A4A"/>
                </a:solidFill>
                <a:latin typeface="Cambria" pitchFamily="34" charset="0"/>
                <a:ea typeface="Cambria" pitchFamily="34" charset="-122"/>
                <a:cs typeface="Cambria" pitchFamily="34" charset="-120"/>
              </a:rPr>
              <a:t> </a:t>
            </a:r>
            <a:endParaRPr lang="en-US" sz="1500" dirty="0"/>
          </a:p>
          <a:p>
            <a:pPr algn="ctr" indent="0" marL="0">
              <a:buNone/>
            </a:pPr>
            <a:r>
              <a:rPr lang="en-US" sz="1200" i="1" dirty="0">
                <a:solidFill>
                  <a:srgbClr val="3E5575"/>
                </a:solidFill>
                <a:latin typeface="Calibri" pitchFamily="34" charset="0"/>
                <a:ea typeface="Calibri" pitchFamily="34" charset="-122"/>
                <a:cs typeface="Calibri" pitchFamily="34" charset="-120"/>
              </a:rPr>
              <a:t>EXERCISE PRINCIPLE</a:t>
            </a:r>
            <a:endParaRPr lang="en-US" sz="1500" dirty="0"/>
          </a:p>
        </p:txBody>
      </p:sp>
      <p:sp>
        <p:nvSpPr>
          <p:cNvPr id="29" name="Text 19"/>
          <p:cNvSpPr txBox="1"/>
          <p:nvPr/>
        </p:nvSpPr>
        <p:spPr>
          <a:xfrm>
            <a:off x="548640" y="6254496"/>
            <a:ext cx="11091672" cy="256032"/>
          </a:xfrm>
          <a:prstGeom prst="rect">
            <a:avLst/>
          </a:prstGeom>
          <a:noFill/>
          <a:ln/>
        </p:spPr>
        <p:txBody>
          <a:bodyPr wrap="square" lIns="0" tIns="0" rIns="0" bIns="0" rtlCol="0" anchor="ctr"/>
          <a:lstStyle/>
          <a:p>
            <a:pPr indent="0" marL="0">
              <a:buNone/>
            </a:pPr>
            <a:r>
              <a:rPr lang="en-US" sz="1200" b="1" dirty="0">
                <a:solidFill>
                  <a:srgbClr val="465A69"/>
                </a:solidFill>
                <a:latin typeface="Calibri" pitchFamily="34" charset="0"/>
                <a:ea typeface="Calibri" pitchFamily="34" charset="-122"/>
                <a:cs typeface="Calibri" pitchFamily="34" charset="-120"/>
              </a:rPr>
              <a:t>Acronyms:  </a:t>
            </a:r>
            <a:pPr indent="0" marL="0">
              <a:buNone/>
            </a:pPr>
            <a:r>
              <a:rPr lang="en-US" sz="1200" dirty="0">
                <a:solidFill>
                  <a:srgbClr val="465A69"/>
                </a:solidFill>
                <a:latin typeface="Calibri" pitchFamily="34" charset="0"/>
                <a:ea typeface="Calibri" pitchFamily="34" charset="-122"/>
                <a:cs typeface="Calibri" pitchFamily="34" charset="-120"/>
              </a:rPr>
              <a:t>SaaS: software as a service</a:t>
            </a:r>
            <a:endParaRPr lang="en-US" sz="1200" dirty="0"/>
          </a:p>
        </p:txBody>
      </p:sp>
      <p:sp>
        <p:nvSpPr>
          <p:cNvPr id="30" name="Shape 20"/>
          <p:cNvSpPr/>
          <p:nvPr/>
        </p:nvSpPr>
        <p:spPr>
          <a:xfrm>
            <a:off x="548640" y="6537960"/>
            <a:ext cx="763524" cy="274320"/>
          </a:xfrm>
          <a:prstGeom prst="roundRect">
            <a:avLst>
              <a:gd name="adj" fmla="val 50000"/>
            </a:avLst>
          </a:prstGeom>
          <a:solidFill>
            <a:srgbClr val="E4ECF2"/>
          </a:solidFill>
          <a:ln w="12700">
            <a:solidFill>
              <a:srgbClr val="E4ECF2"/>
            </a:solidFill>
            <a:prstDash val="solid"/>
          </a:ln>
        </p:spPr>
      </p:sp>
      <p:sp>
        <p:nvSpPr>
          <p:cNvPr id="31" name="Text 21"/>
          <p:cNvSpPr txBox="1"/>
          <p:nvPr/>
        </p:nvSpPr>
        <p:spPr>
          <a:xfrm>
            <a:off x="548640" y="6537960"/>
            <a:ext cx="763524" cy="274320"/>
          </a:xfrm>
          <a:prstGeom prst="rect">
            <a:avLst/>
          </a:prstGeom>
          <a:noFill/>
          <a:ln/>
        </p:spPr>
        <p:txBody>
          <a:bodyPr wrap="square" lIns="0" tIns="0" rIns="0" bIns="0" rtlCol="0" anchor="ctr"/>
          <a:lstStyle/>
          <a:p>
            <a:pPr algn="ctr" indent="0" marL="0">
              <a:buNone/>
            </a:pPr>
            <a:r>
              <a:rPr lang="en-US" sz="1200" b="1" dirty="0">
                <a:solidFill>
                  <a:srgbClr val="23405A"/>
                </a:solidFill>
                <a:latin typeface="Calibri" pitchFamily="34" charset="0"/>
                <a:ea typeface="Calibri" pitchFamily="34" charset="-122"/>
                <a:cs typeface="Calibri" pitchFamily="34" charset="-120"/>
              </a:rPr>
              <a:t>Start</a:t>
            </a:r>
            <a:endParaRPr lang="en-US" sz="1200" dirty="0"/>
          </a:p>
        </p:txBody>
      </p:sp>
      <p:pic>
        <p:nvPicPr>
          <p:cNvPr id="32" name="Image 8" descr="preencoded.png">
            <a:hlinkClick r:id="rId10" tooltip="Go to Start" action="ppaction://hlinksldjump"/>
          </p:cNvPr>
          <p:cNvPicPr>
            <a:picLocks noChangeAspect="1"/>
          </p:cNvPicPr>
          <p:nvPr/>
        </p:nvPicPr>
        <p:blipFill>
          <a:blip r:embed="rId9"/>
          <a:stretch>
            <a:fillRect/>
          </a:stretch>
        </p:blipFill>
        <p:spPr>
          <a:xfrm>
            <a:off x="548640" y="6537960"/>
            <a:ext cx="763524" cy="274320"/>
          </a:xfrm>
          <a:prstGeom prst="rect">
            <a:avLst/>
          </a:prstGeom>
        </p:spPr>
      </p:pic>
      <p:sp>
        <p:nvSpPr>
          <p:cNvPr id="33" name="Shape 22"/>
          <p:cNvSpPr/>
          <p:nvPr/>
        </p:nvSpPr>
        <p:spPr>
          <a:xfrm>
            <a:off x="1385316" y="6537960"/>
            <a:ext cx="1197864" cy="274320"/>
          </a:xfrm>
          <a:prstGeom prst="roundRect">
            <a:avLst>
              <a:gd name="adj" fmla="val 50000"/>
            </a:avLst>
          </a:prstGeom>
          <a:solidFill>
            <a:srgbClr val="F1F6FA"/>
          </a:solidFill>
          <a:ln w="12700">
            <a:solidFill>
              <a:srgbClr val="F1F6FA"/>
            </a:solidFill>
            <a:prstDash val="solid"/>
          </a:ln>
        </p:spPr>
      </p:sp>
      <p:sp>
        <p:nvSpPr>
          <p:cNvPr id="34" name="Text 23"/>
          <p:cNvSpPr txBox="1"/>
          <p:nvPr/>
        </p:nvSpPr>
        <p:spPr>
          <a:xfrm>
            <a:off x="1385316" y="6537960"/>
            <a:ext cx="1197864" cy="274320"/>
          </a:xfrm>
          <a:prstGeom prst="rect">
            <a:avLst/>
          </a:prstGeom>
          <a:noFill/>
          <a:ln/>
        </p:spPr>
        <p:txBody>
          <a:bodyPr wrap="square" lIns="0" tIns="0" rIns="0" bIns="0" rtlCol="0" anchor="ctr"/>
          <a:lstStyle/>
          <a:p>
            <a:pPr algn="ctr" indent="0" marL="0">
              <a:buNone/>
            </a:pPr>
            <a:r>
              <a:rPr lang="en-US" sz="1200" b="1" dirty="0">
                <a:solidFill>
                  <a:srgbClr val="3F6E8C"/>
                </a:solidFill>
                <a:latin typeface="Calibri" pitchFamily="34" charset="0"/>
                <a:ea typeface="Calibri" pitchFamily="34" charset="-122"/>
                <a:cs typeface="Calibri" pitchFamily="34" charset="-120"/>
              </a:rPr>
              <a:t>Scenario 1</a:t>
            </a:r>
            <a:endParaRPr lang="en-US" sz="1200" dirty="0"/>
          </a:p>
        </p:txBody>
      </p:sp>
      <p:pic>
        <p:nvPicPr>
          <p:cNvPr id="35" name="Image 9" descr="preencoded.png">
            <a:hlinkClick r:id="rId12" tooltip="Go to Scenario 1" action="ppaction://hlinksldjump"/>
          </p:cNvPr>
          <p:cNvPicPr>
            <a:picLocks noChangeAspect="1"/>
          </p:cNvPicPr>
          <p:nvPr/>
        </p:nvPicPr>
        <p:blipFill>
          <a:blip r:embed="rId11"/>
          <a:stretch>
            <a:fillRect/>
          </a:stretch>
        </p:blipFill>
        <p:spPr>
          <a:xfrm>
            <a:off x="1385316" y="6537960"/>
            <a:ext cx="1197864" cy="274320"/>
          </a:xfrm>
          <a:prstGeom prst="rect">
            <a:avLst/>
          </a:prstGeom>
        </p:spPr>
      </p:pic>
      <p:sp>
        <p:nvSpPr>
          <p:cNvPr id="36" name="Shape 24"/>
          <p:cNvSpPr/>
          <p:nvPr/>
        </p:nvSpPr>
        <p:spPr>
          <a:xfrm>
            <a:off x="2656332" y="6537960"/>
            <a:ext cx="1197864" cy="274320"/>
          </a:xfrm>
          <a:prstGeom prst="roundRect">
            <a:avLst>
              <a:gd name="adj" fmla="val 50000"/>
            </a:avLst>
          </a:prstGeom>
          <a:solidFill>
            <a:srgbClr val="F1F8F3"/>
          </a:solidFill>
          <a:ln w="12700">
            <a:solidFill>
              <a:srgbClr val="F1F8F3"/>
            </a:solidFill>
            <a:prstDash val="solid"/>
          </a:ln>
        </p:spPr>
      </p:sp>
      <p:sp>
        <p:nvSpPr>
          <p:cNvPr id="37" name="Text 25"/>
          <p:cNvSpPr txBox="1"/>
          <p:nvPr/>
        </p:nvSpPr>
        <p:spPr>
          <a:xfrm>
            <a:off x="2656332" y="6537960"/>
            <a:ext cx="1197864" cy="274320"/>
          </a:xfrm>
          <a:prstGeom prst="rect">
            <a:avLst/>
          </a:prstGeom>
          <a:noFill/>
          <a:ln/>
        </p:spPr>
        <p:txBody>
          <a:bodyPr wrap="square" lIns="0" tIns="0" rIns="0" bIns="0" rtlCol="0" anchor="ctr"/>
          <a:lstStyle/>
          <a:p>
            <a:pPr algn="ctr" indent="0" marL="0">
              <a:buNone/>
            </a:pPr>
            <a:r>
              <a:rPr lang="en-US" sz="1200" b="1" dirty="0">
                <a:solidFill>
                  <a:srgbClr val="4C8068"/>
                </a:solidFill>
                <a:latin typeface="Calibri" pitchFamily="34" charset="0"/>
                <a:ea typeface="Calibri" pitchFamily="34" charset="-122"/>
                <a:cs typeface="Calibri" pitchFamily="34" charset="-120"/>
              </a:rPr>
              <a:t>Scenario 2</a:t>
            </a:r>
            <a:endParaRPr lang="en-US" sz="1200" dirty="0"/>
          </a:p>
        </p:txBody>
      </p:sp>
      <p:pic>
        <p:nvPicPr>
          <p:cNvPr id="38" name="Image 10" descr="preencoded.png">
            <a:hlinkClick r:id="rId14" tooltip="Go to Scenario 2" action="ppaction://hlinksldjump"/>
          </p:cNvPr>
          <p:cNvPicPr>
            <a:picLocks noChangeAspect="1"/>
          </p:cNvPicPr>
          <p:nvPr/>
        </p:nvPicPr>
        <p:blipFill>
          <a:blip r:embed="rId13"/>
          <a:stretch>
            <a:fillRect/>
          </a:stretch>
        </p:blipFill>
        <p:spPr>
          <a:xfrm>
            <a:off x="2656332" y="6537960"/>
            <a:ext cx="1197864" cy="274320"/>
          </a:xfrm>
          <a:prstGeom prst="rect">
            <a:avLst/>
          </a:prstGeom>
        </p:spPr>
      </p:pic>
      <p:sp>
        <p:nvSpPr>
          <p:cNvPr id="39" name="Shape 26"/>
          <p:cNvSpPr/>
          <p:nvPr/>
        </p:nvSpPr>
        <p:spPr>
          <a:xfrm>
            <a:off x="3927348" y="6537960"/>
            <a:ext cx="1197864" cy="274320"/>
          </a:xfrm>
          <a:prstGeom prst="roundRect">
            <a:avLst>
              <a:gd name="adj" fmla="val 50000"/>
            </a:avLst>
          </a:prstGeom>
          <a:solidFill>
            <a:srgbClr val="6E5E94"/>
          </a:solidFill>
          <a:ln w="12700">
            <a:solidFill>
              <a:srgbClr val="6E5E94"/>
            </a:solidFill>
            <a:prstDash val="solid"/>
          </a:ln>
        </p:spPr>
      </p:sp>
      <p:sp>
        <p:nvSpPr>
          <p:cNvPr id="40" name="Text 27"/>
          <p:cNvSpPr txBox="1"/>
          <p:nvPr/>
        </p:nvSpPr>
        <p:spPr>
          <a:xfrm>
            <a:off x="3927348" y="6537960"/>
            <a:ext cx="1197864"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Scenario 3</a:t>
            </a:r>
            <a:endParaRPr lang="en-US" sz="1200" dirty="0"/>
          </a:p>
        </p:txBody>
      </p:sp>
      <p:pic>
        <p:nvPicPr>
          <p:cNvPr id="41" name="Image 11" descr="preencoded.png">
            <a:hlinkClick r:id="rId16" tooltip="Go to Scenario 3" action="ppaction://hlinksldjump"/>
          </p:cNvPr>
          <p:cNvPicPr>
            <a:picLocks noChangeAspect="1"/>
          </p:cNvPicPr>
          <p:nvPr/>
        </p:nvPicPr>
        <p:blipFill>
          <a:blip r:embed="rId15"/>
          <a:stretch>
            <a:fillRect/>
          </a:stretch>
        </p:blipFill>
        <p:spPr>
          <a:xfrm>
            <a:off x="3927348" y="6537960"/>
            <a:ext cx="1197864" cy="274320"/>
          </a:xfrm>
          <a:prstGeom prst="rect">
            <a:avLst/>
          </a:prstGeom>
        </p:spPr>
      </p:pic>
      <p:sp>
        <p:nvSpPr>
          <p:cNvPr id="42" name="Shape 28"/>
          <p:cNvSpPr/>
          <p:nvPr/>
        </p:nvSpPr>
        <p:spPr>
          <a:xfrm>
            <a:off x="5198364" y="6537960"/>
            <a:ext cx="937260" cy="274320"/>
          </a:xfrm>
          <a:prstGeom prst="roundRect">
            <a:avLst>
              <a:gd name="adj" fmla="val 50000"/>
            </a:avLst>
          </a:prstGeom>
          <a:solidFill>
            <a:srgbClr val="E4ECF2"/>
          </a:solidFill>
          <a:ln w="12700">
            <a:solidFill>
              <a:srgbClr val="E4ECF2"/>
            </a:solidFill>
            <a:prstDash val="solid"/>
          </a:ln>
        </p:spPr>
      </p:sp>
      <p:sp>
        <p:nvSpPr>
          <p:cNvPr id="43" name="Text 29"/>
          <p:cNvSpPr txBox="1"/>
          <p:nvPr/>
        </p:nvSpPr>
        <p:spPr>
          <a:xfrm>
            <a:off x="5198364" y="6537960"/>
            <a:ext cx="937260" cy="274320"/>
          </a:xfrm>
          <a:prstGeom prst="rect">
            <a:avLst/>
          </a:prstGeom>
          <a:noFill/>
          <a:ln/>
        </p:spPr>
        <p:txBody>
          <a:bodyPr wrap="square" lIns="0" tIns="0" rIns="0" bIns="0" rtlCol="0" anchor="ctr"/>
          <a:lstStyle/>
          <a:p>
            <a:pPr algn="ctr" indent="0" marL="0">
              <a:buNone/>
            </a:pPr>
            <a:r>
              <a:rPr lang="en-US" sz="1200" b="1" dirty="0">
                <a:solidFill>
                  <a:srgbClr val="23405A"/>
                </a:solidFill>
                <a:latin typeface="Calibri" pitchFamily="34" charset="0"/>
                <a:ea typeface="Calibri" pitchFamily="34" charset="-122"/>
                <a:cs typeface="Calibri" pitchFamily="34" charset="-120"/>
              </a:rPr>
              <a:t>Closing</a:t>
            </a:r>
            <a:endParaRPr lang="en-US" sz="1200" dirty="0"/>
          </a:p>
        </p:txBody>
      </p:sp>
      <p:pic>
        <p:nvPicPr>
          <p:cNvPr id="44" name="Image 12" descr="preencoded.png">
            <a:hlinkClick r:id="rId18" tooltip="Go to Closing" action="ppaction://hlinksldjump"/>
          </p:cNvPr>
          <p:cNvPicPr>
            <a:picLocks noChangeAspect="1"/>
          </p:cNvPicPr>
          <p:nvPr/>
        </p:nvPicPr>
        <p:blipFill>
          <a:blip r:embed="rId17"/>
          <a:stretch>
            <a:fillRect/>
          </a:stretch>
        </p:blipFill>
        <p:spPr>
          <a:xfrm>
            <a:off x="5198364" y="6537960"/>
            <a:ext cx="937260" cy="274320"/>
          </a:xfrm>
          <a:prstGeom prst="rect">
            <a:avLst/>
          </a:prstGeom>
        </p:spPr>
      </p:pic>
      <p:sp>
        <p:nvSpPr>
          <p:cNvPr id="45" name="Text 30"/>
          <p:cNvSpPr txBox="1"/>
          <p:nvPr/>
        </p:nvSpPr>
        <p:spPr>
          <a:xfrm>
            <a:off x="11277295" y="6537960"/>
            <a:ext cx="365760" cy="274320"/>
          </a:xfrm>
          <a:prstGeom prst="rect">
            <a:avLst/>
          </a:prstGeom>
          <a:noFill/>
          <a:ln/>
        </p:spPr>
        <p:txBody>
          <a:bodyPr wrap="square" lIns="0" tIns="0" rIns="0" bIns="0" rtlCol="0" anchor="ctr"/>
          <a:lstStyle/>
          <a:p>
            <a:pPr algn="r" indent="0" marL="0">
              <a:buNone/>
            </a:pPr>
            <a:r>
              <a:rPr lang="en-US" sz="1200" dirty="0">
                <a:solidFill>
                  <a:srgbClr val="465A69"/>
                </a:solidFill>
                <a:latin typeface="Calibri" pitchFamily="34" charset="0"/>
                <a:ea typeface="Calibri" pitchFamily="34" charset="-122"/>
                <a:cs typeface="Calibri" pitchFamily="34" charset="-120"/>
              </a:rPr>
              <a:t>54</a:t>
            </a:r>
            <a:endParaRPr lang="en-US" sz="12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EEEAF5"/>
        </a:solidFill>
      </p:bgPr>
    </p:bg>
    <p:spTree>
      <p:nvGrpSpPr>
        <p:cNvPr id="1" name=""/>
        <p:cNvGrpSpPr/>
        <p:nvPr/>
      </p:nvGrpSpPr>
      <p:grpSpPr>
        <a:xfrm>
          <a:off x="0" y="0"/>
          <a:ext cx="0" cy="0"/>
          <a:chOff x="0" y="0"/>
          <a:chExt cx="0" cy="0"/>
        </a:xfrm>
      </p:grpSpPr>
      <p:sp>
        <p:nvSpPr>
          <p:cNvPr id="2" name="Shape 0"/>
          <p:cNvSpPr/>
          <p:nvPr/>
        </p:nvSpPr>
        <p:spPr>
          <a:xfrm>
            <a:off x="548640" y="347472"/>
            <a:ext cx="3008376" cy="329184"/>
          </a:xfrm>
          <a:prstGeom prst="roundRect">
            <a:avLst>
              <a:gd name="adj" fmla="val 50000"/>
            </a:avLst>
          </a:prstGeom>
          <a:solidFill>
            <a:srgbClr val="F6F3FA"/>
          </a:solidFill>
          <a:ln w="12700">
            <a:solidFill>
              <a:srgbClr val="F6F3FA"/>
            </a:solidFill>
            <a:prstDash val="solid"/>
          </a:ln>
        </p:spPr>
      </p:sp>
      <p:sp>
        <p:nvSpPr>
          <p:cNvPr id="3" name="Text 1"/>
          <p:cNvSpPr txBox="1"/>
          <p:nvPr/>
        </p:nvSpPr>
        <p:spPr>
          <a:xfrm>
            <a:off x="548640" y="347472"/>
            <a:ext cx="3008376" cy="329184"/>
          </a:xfrm>
          <a:prstGeom prst="rect">
            <a:avLst/>
          </a:prstGeom>
          <a:noFill/>
          <a:ln/>
        </p:spPr>
        <p:txBody>
          <a:bodyPr wrap="square" lIns="0" tIns="0" rIns="0" bIns="0" rtlCol="0" anchor="ctr"/>
          <a:lstStyle/>
          <a:p>
            <a:pPr algn="ctr" indent="0" marL="0">
              <a:buNone/>
            </a:pPr>
            <a:r>
              <a:rPr lang="en-US" sz="1200" b="1" dirty="0">
                <a:solidFill>
                  <a:srgbClr val="6E5E94"/>
                </a:solidFill>
                <a:latin typeface="Calibri" pitchFamily="34" charset="0"/>
                <a:ea typeface="Calibri" pitchFamily="34" charset="-122"/>
                <a:cs typeface="Calibri" pitchFamily="34" charset="-120"/>
              </a:rPr>
              <a:t>Scenario 3: Business Continuity</a:t>
            </a:r>
            <a:endParaRPr lang="en-US" sz="1200" dirty="0"/>
          </a:p>
        </p:txBody>
      </p:sp>
      <p:sp>
        <p:nvSpPr>
          <p:cNvPr id="4" name="Text 2"/>
          <p:cNvSpPr txBox="1"/>
          <p:nvPr/>
        </p:nvSpPr>
        <p:spPr>
          <a:xfrm>
            <a:off x="548640" y="749808"/>
            <a:ext cx="11064240" cy="640080"/>
          </a:xfrm>
          <a:prstGeom prst="rect">
            <a:avLst/>
          </a:prstGeom>
          <a:noFill/>
          <a:ln/>
        </p:spPr>
        <p:txBody>
          <a:bodyPr wrap="square" lIns="0" tIns="0" rIns="0" bIns="0" rtlCol="0" anchor="ctr"/>
          <a:lstStyle/>
          <a:p>
            <a:pPr indent="0" marL="0">
              <a:buNone/>
            </a:pPr>
            <a:r>
              <a:rPr lang="en-US" sz="2800" b="1" dirty="0">
                <a:solidFill>
                  <a:srgbClr val="23405A"/>
                </a:solidFill>
                <a:latin typeface="Calibri" pitchFamily="34" charset="0"/>
                <a:ea typeface="Calibri" pitchFamily="34" charset="-122"/>
                <a:cs typeface="Calibri" pitchFamily="34" charset="-120"/>
              </a:rPr>
              <a:t>Hotwash</a:t>
            </a:r>
            <a:endParaRPr lang="en-US" sz="2800" dirty="0"/>
          </a:p>
        </p:txBody>
      </p:sp>
      <p:sp>
        <p:nvSpPr>
          <p:cNvPr id="5" name="Shape 3"/>
          <p:cNvSpPr/>
          <p:nvPr/>
        </p:nvSpPr>
        <p:spPr>
          <a:xfrm>
            <a:off x="10705795" y="347472"/>
            <a:ext cx="937260" cy="329184"/>
          </a:xfrm>
          <a:prstGeom prst="roundRect">
            <a:avLst>
              <a:gd name="adj" fmla="val 50000"/>
            </a:avLst>
          </a:prstGeom>
          <a:solidFill>
            <a:srgbClr val="6E5E94"/>
          </a:solidFill>
          <a:ln w="12700">
            <a:solidFill>
              <a:srgbClr val="6E5E94"/>
            </a:solidFill>
            <a:prstDash val="solid"/>
          </a:ln>
        </p:spPr>
      </p:sp>
      <p:sp>
        <p:nvSpPr>
          <p:cNvPr id="6" name="Text 4"/>
          <p:cNvSpPr txBox="1"/>
          <p:nvPr/>
        </p:nvSpPr>
        <p:spPr>
          <a:xfrm>
            <a:off x="10705795" y="347472"/>
            <a:ext cx="93726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Hotwash</a:t>
            </a:r>
            <a:endParaRPr lang="en-US" sz="1200" dirty="0"/>
          </a:p>
        </p:txBody>
      </p:sp>
      <p:sp>
        <p:nvSpPr>
          <p:cNvPr id="7" name="Shape 5"/>
          <p:cNvSpPr/>
          <p:nvPr/>
        </p:nvSpPr>
        <p:spPr>
          <a:xfrm>
            <a:off x="9608515" y="347472"/>
            <a:ext cx="1024128" cy="329184"/>
          </a:xfrm>
          <a:prstGeom prst="roundRect">
            <a:avLst>
              <a:gd name="adj" fmla="val 50000"/>
            </a:avLst>
          </a:prstGeom>
          <a:solidFill>
            <a:srgbClr val="F6F3FA"/>
          </a:solidFill>
          <a:ln w="12700">
            <a:solidFill>
              <a:srgbClr val="F6F3FA"/>
            </a:solidFill>
            <a:prstDash val="solid"/>
          </a:ln>
        </p:spPr>
      </p:sp>
      <p:sp>
        <p:nvSpPr>
          <p:cNvPr id="8" name="Text 6"/>
          <p:cNvSpPr txBox="1"/>
          <p:nvPr/>
        </p:nvSpPr>
        <p:spPr>
          <a:xfrm>
            <a:off x="9608515" y="347472"/>
            <a:ext cx="1024128" cy="329184"/>
          </a:xfrm>
          <a:prstGeom prst="rect">
            <a:avLst/>
          </a:prstGeom>
          <a:noFill/>
          <a:ln/>
        </p:spPr>
        <p:txBody>
          <a:bodyPr wrap="square" lIns="0" tIns="0" rIns="0" bIns="0" rtlCol="0" anchor="ctr"/>
          <a:lstStyle/>
          <a:p>
            <a:pPr algn="ctr" indent="0" marL="0">
              <a:buNone/>
            </a:pPr>
            <a:r>
              <a:rPr lang="en-US" sz="1200" dirty="0">
                <a:solidFill>
                  <a:srgbClr val="6E5E94"/>
                </a:solidFill>
                <a:latin typeface="Calibri" pitchFamily="34" charset="0"/>
                <a:ea typeface="Calibri" pitchFamily="34" charset="-122"/>
                <a:cs typeface="Calibri" pitchFamily="34" charset="-120"/>
              </a:rPr>
              <a:t>Recovery</a:t>
            </a:r>
            <a:endParaRPr lang="en-US" sz="1200" dirty="0"/>
          </a:p>
        </p:txBody>
      </p:sp>
      <p:sp>
        <p:nvSpPr>
          <p:cNvPr id="9" name="Shape 7"/>
          <p:cNvSpPr/>
          <p:nvPr/>
        </p:nvSpPr>
        <p:spPr>
          <a:xfrm>
            <a:off x="8598103" y="347472"/>
            <a:ext cx="937260" cy="329184"/>
          </a:xfrm>
          <a:prstGeom prst="roundRect">
            <a:avLst>
              <a:gd name="adj" fmla="val 50000"/>
            </a:avLst>
          </a:prstGeom>
          <a:solidFill>
            <a:srgbClr val="F6F3FA"/>
          </a:solidFill>
          <a:ln w="12700">
            <a:solidFill>
              <a:srgbClr val="F6F3FA"/>
            </a:solidFill>
            <a:prstDash val="solid"/>
          </a:ln>
        </p:spPr>
      </p:sp>
      <p:sp>
        <p:nvSpPr>
          <p:cNvPr id="10" name="Text 8"/>
          <p:cNvSpPr txBox="1"/>
          <p:nvPr/>
        </p:nvSpPr>
        <p:spPr>
          <a:xfrm>
            <a:off x="8598103" y="347472"/>
            <a:ext cx="937260" cy="329184"/>
          </a:xfrm>
          <a:prstGeom prst="rect">
            <a:avLst/>
          </a:prstGeom>
          <a:noFill/>
          <a:ln/>
        </p:spPr>
        <p:txBody>
          <a:bodyPr wrap="square" lIns="0" tIns="0" rIns="0" bIns="0" rtlCol="0" anchor="ctr"/>
          <a:lstStyle/>
          <a:p>
            <a:pPr algn="ctr" indent="0" marL="0">
              <a:buNone/>
            </a:pPr>
            <a:r>
              <a:rPr lang="en-US" sz="1200" dirty="0">
                <a:solidFill>
                  <a:srgbClr val="6E5E94"/>
                </a:solidFill>
                <a:latin typeface="Calibri" pitchFamily="34" charset="0"/>
                <a:ea typeface="Calibri" pitchFamily="34" charset="-122"/>
                <a:cs typeface="Calibri" pitchFamily="34" charset="-120"/>
              </a:rPr>
              <a:t>Injects</a:t>
            </a:r>
            <a:endParaRPr lang="en-US" sz="1200" dirty="0"/>
          </a:p>
        </p:txBody>
      </p:sp>
      <p:sp>
        <p:nvSpPr>
          <p:cNvPr id="11" name="Shape 9"/>
          <p:cNvSpPr/>
          <p:nvPr/>
        </p:nvSpPr>
        <p:spPr>
          <a:xfrm>
            <a:off x="7674559" y="347472"/>
            <a:ext cx="850392" cy="329184"/>
          </a:xfrm>
          <a:prstGeom prst="roundRect">
            <a:avLst>
              <a:gd name="adj" fmla="val 50000"/>
            </a:avLst>
          </a:prstGeom>
          <a:solidFill>
            <a:srgbClr val="F6F3FA"/>
          </a:solidFill>
          <a:ln w="12700">
            <a:solidFill>
              <a:srgbClr val="F6F3FA"/>
            </a:solidFill>
            <a:prstDash val="solid"/>
          </a:ln>
        </p:spPr>
      </p:sp>
      <p:sp>
        <p:nvSpPr>
          <p:cNvPr id="12" name="Text 10"/>
          <p:cNvSpPr txBox="1"/>
          <p:nvPr/>
        </p:nvSpPr>
        <p:spPr>
          <a:xfrm>
            <a:off x="7674559" y="347472"/>
            <a:ext cx="850392" cy="329184"/>
          </a:xfrm>
          <a:prstGeom prst="rect">
            <a:avLst/>
          </a:prstGeom>
          <a:noFill/>
          <a:ln/>
        </p:spPr>
        <p:txBody>
          <a:bodyPr wrap="square" lIns="0" tIns="0" rIns="0" bIns="0" rtlCol="0" anchor="ctr"/>
          <a:lstStyle/>
          <a:p>
            <a:pPr algn="ctr" indent="0" marL="0">
              <a:buNone/>
            </a:pPr>
            <a:r>
              <a:rPr lang="en-US" sz="1200" dirty="0">
                <a:solidFill>
                  <a:srgbClr val="6E5E94"/>
                </a:solidFill>
                <a:latin typeface="Calibri" pitchFamily="34" charset="0"/>
                <a:ea typeface="Calibri" pitchFamily="34" charset="-122"/>
                <a:cs typeface="Calibri" pitchFamily="34" charset="-120"/>
              </a:rPr>
              <a:t>Decide</a:t>
            </a:r>
            <a:endParaRPr lang="en-US" sz="1200" dirty="0"/>
          </a:p>
        </p:txBody>
      </p:sp>
      <p:sp>
        <p:nvSpPr>
          <p:cNvPr id="13" name="Shape 11"/>
          <p:cNvSpPr/>
          <p:nvPr/>
        </p:nvSpPr>
        <p:spPr>
          <a:xfrm>
            <a:off x="7011619" y="347472"/>
            <a:ext cx="589788" cy="329184"/>
          </a:xfrm>
          <a:prstGeom prst="roundRect">
            <a:avLst>
              <a:gd name="adj" fmla="val 50000"/>
            </a:avLst>
          </a:prstGeom>
          <a:solidFill>
            <a:srgbClr val="F6F3FA"/>
          </a:solidFill>
          <a:ln w="12700">
            <a:solidFill>
              <a:srgbClr val="F6F3FA"/>
            </a:solidFill>
            <a:prstDash val="solid"/>
          </a:ln>
        </p:spPr>
      </p:sp>
      <p:sp>
        <p:nvSpPr>
          <p:cNvPr id="14" name="Text 12"/>
          <p:cNvSpPr txBox="1"/>
          <p:nvPr/>
        </p:nvSpPr>
        <p:spPr>
          <a:xfrm>
            <a:off x="7011619" y="347472"/>
            <a:ext cx="589788" cy="329184"/>
          </a:xfrm>
          <a:prstGeom prst="rect">
            <a:avLst/>
          </a:prstGeom>
          <a:noFill/>
          <a:ln/>
        </p:spPr>
        <p:txBody>
          <a:bodyPr wrap="square" lIns="0" tIns="0" rIns="0" bIns="0" rtlCol="0" anchor="ctr"/>
          <a:lstStyle/>
          <a:p>
            <a:pPr algn="ctr" indent="0" marL="0">
              <a:buNone/>
            </a:pPr>
            <a:r>
              <a:rPr lang="en-US" sz="1200" dirty="0">
                <a:solidFill>
                  <a:srgbClr val="6E5E94"/>
                </a:solidFill>
                <a:latin typeface="Calibri" pitchFamily="34" charset="0"/>
                <a:ea typeface="Calibri" pitchFamily="34" charset="-122"/>
                <a:cs typeface="Calibri" pitchFamily="34" charset="-120"/>
              </a:rPr>
              <a:t>T+0</a:t>
            </a:r>
            <a:endParaRPr lang="en-US" sz="1200" dirty="0"/>
          </a:p>
        </p:txBody>
      </p:sp>
      <p:sp>
        <p:nvSpPr>
          <p:cNvPr id="15" name="Shape 13"/>
          <p:cNvSpPr/>
          <p:nvPr/>
        </p:nvSpPr>
        <p:spPr>
          <a:xfrm>
            <a:off x="5740603" y="347472"/>
            <a:ext cx="1197864" cy="329184"/>
          </a:xfrm>
          <a:prstGeom prst="roundRect">
            <a:avLst>
              <a:gd name="adj" fmla="val 50000"/>
            </a:avLst>
          </a:prstGeom>
          <a:solidFill>
            <a:srgbClr val="F6F3FA"/>
          </a:solidFill>
          <a:ln w="12700">
            <a:solidFill>
              <a:srgbClr val="F6F3FA"/>
            </a:solidFill>
            <a:prstDash val="solid"/>
          </a:ln>
        </p:spPr>
      </p:sp>
      <p:sp>
        <p:nvSpPr>
          <p:cNvPr id="16" name="Text 14"/>
          <p:cNvSpPr txBox="1"/>
          <p:nvPr/>
        </p:nvSpPr>
        <p:spPr>
          <a:xfrm>
            <a:off x="5740603" y="347472"/>
            <a:ext cx="1197864" cy="329184"/>
          </a:xfrm>
          <a:prstGeom prst="rect">
            <a:avLst/>
          </a:prstGeom>
          <a:noFill/>
          <a:ln/>
        </p:spPr>
        <p:txBody>
          <a:bodyPr wrap="square" lIns="0" tIns="0" rIns="0" bIns="0" rtlCol="0" anchor="ctr"/>
          <a:lstStyle/>
          <a:p>
            <a:pPr algn="ctr" indent="0" marL="0">
              <a:buNone/>
            </a:pPr>
            <a:r>
              <a:rPr lang="en-US" sz="1200" dirty="0">
                <a:solidFill>
                  <a:srgbClr val="6E5E94"/>
                </a:solidFill>
                <a:latin typeface="Calibri" pitchFamily="34" charset="0"/>
                <a:ea typeface="Calibri" pitchFamily="34" charset="-122"/>
                <a:cs typeface="Calibri" pitchFamily="34" charset="-120"/>
              </a:rPr>
              <a:t>Background</a:t>
            </a:r>
            <a:endParaRPr lang="en-US" sz="1200" dirty="0"/>
          </a:p>
        </p:txBody>
      </p:sp>
      <p:sp>
        <p:nvSpPr>
          <p:cNvPr id="17" name="Shape 15"/>
          <p:cNvSpPr/>
          <p:nvPr/>
        </p:nvSpPr>
        <p:spPr>
          <a:xfrm>
            <a:off x="548640" y="1600200"/>
            <a:ext cx="2596896" cy="2103120"/>
          </a:xfrm>
          <a:prstGeom prst="roundRect">
            <a:avLst>
              <a:gd name="adj" fmla="val 6087"/>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18" name="Shape 16"/>
          <p:cNvSpPr/>
          <p:nvPr/>
        </p:nvSpPr>
        <p:spPr>
          <a:xfrm>
            <a:off x="777240" y="1828800"/>
            <a:ext cx="384048" cy="384048"/>
          </a:xfrm>
          <a:prstGeom prst="ellipse">
            <a:avLst/>
          </a:prstGeom>
          <a:solidFill>
            <a:srgbClr val="F6F3FA"/>
          </a:solidFill>
          <a:ln w="12700">
            <a:solidFill>
              <a:srgbClr val="F6F3FA"/>
            </a:solidFill>
            <a:prstDash val="solid"/>
          </a:ln>
        </p:spPr>
      </p:sp>
      <p:sp>
        <p:nvSpPr>
          <p:cNvPr id="19" name="Text 17"/>
          <p:cNvSpPr txBox="1"/>
          <p:nvPr/>
        </p:nvSpPr>
        <p:spPr>
          <a:xfrm>
            <a:off x="777240" y="1828800"/>
            <a:ext cx="384048" cy="384048"/>
          </a:xfrm>
          <a:prstGeom prst="rect">
            <a:avLst/>
          </a:prstGeom>
          <a:noFill/>
          <a:ln/>
        </p:spPr>
        <p:txBody>
          <a:bodyPr wrap="square" lIns="0" tIns="0" rIns="0" bIns="0" rtlCol="0" anchor="ctr"/>
          <a:lstStyle/>
          <a:p>
            <a:pPr algn="ctr" indent="0" marL="0">
              <a:buNone/>
            </a:pPr>
            <a:r>
              <a:rPr lang="en-US" sz="1200" b="1" dirty="0">
                <a:solidFill>
                  <a:srgbClr val="6E5E94"/>
                </a:solidFill>
                <a:latin typeface="Calibri" pitchFamily="34" charset="0"/>
                <a:ea typeface="Calibri" pitchFamily="34" charset="-122"/>
                <a:cs typeface="Calibri" pitchFamily="34" charset="-120"/>
              </a:rPr>
              <a:t>1</a:t>
            </a:r>
            <a:endParaRPr lang="en-US" sz="1200" dirty="0"/>
          </a:p>
        </p:txBody>
      </p:sp>
      <p:sp>
        <p:nvSpPr>
          <p:cNvPr id="20" name="Text 18"/>
          <p:cNvSpPr txBox="1"/>
          <p:nvPr/>
        </p:nvSpPr>
        <p:spPr>
          <a:xfrm>
            <a:off x="777240" y="2331720"/>
            <a:ext cx="2139696" cy="457200"/>
          </a:xfrm>
          <a:prstGeom prst="rect">
            <a:avLst/>
          </a:prstGeom>
          <a:noFill/>
          <a:ln/>
        </p:spPr>
        <p:txBody>
          <a:bodyPr wrap="square" lIns="0" tIns="0" rIns="0" bIns="0" rtlCol="0" anchor="t"/>
          <a:lstStyle/>
          <a:p>
            <a:pPr indent="0" marL="0">
              <a:buNone/>
            </a:pPr>
            <a:r>
              <a:rPr lang="en-US" sz="1500" b="1" dirty="0">
                <a:solidFill>
                  <a:srgbClr val="1E2E3A"/>
                </a:solidFill>
                <a:latin typeface="Calibri" pitchFamily="34" charset="0"/>
                <a:ea typeface="Calibri" pitchFamily="34" charset="-122"/>
                <a:cs typeface="Calibri" pitchFamily="34" charset="-120"/>
              </a:rPr>
              <a:t>What worked?</a:t>
            </a:r>
            <a:endParaRPr lang="en-US" sz="1500" dirty="0"/>
          </a:p>
        </p:txBody>
      </p:sp>
      <p:sp>
        <p:nvSpPr>
          <p:cNvPr id="21" name="Text 19"/>
          <p:cNvSpPr txBox="1"/>
          <p:nvPr/>
        </p:nvSpPr>
        <p:spPr>
          <a:xfrm>
            <a:off x="777240" y="2807208"/>
            <a:ext cx="2139696" cy="777240"/>
          </a:xfrm>
          <a:prstGeom prst="rect">
            <a:avLst/>
          </a:prstGeom>
          <a:noFill/>
          <a:ln/>
        </p:spPr>
        <p:txBody>
          <a:bodyPr wrap="square" lIns="0" tIns="0" rIns="0" bIns="0" rtlCol="0" anchor="t"/>
          <a:lstStyle/>
          <a:p>
            <a:pPr indent="0" marL="0">
              <a:buNone/>
            </a:pPr>
            <a:r>
              <a:rPr lang="en-US" sz="1200" dirty="0">
                <a:solidFill>
                  <a:srgbClr val="465A69"/>
                </a:solidFill>
                <a:latin typeface="Calibri" pitchFamily="34" charset="0"/>
                <a:ea typeface="Calibri" pitchFamily="34" charset="-122"/>
                <a:cs typeface="Calibri" pitchFamily="34" charset="-120"/>
              </a:rPr>
              <a:t>Decisions, plans, and people that performed as intended.</a:t>
            </a:r>
            <a:endParaRPr lang="en-US" sz="1200" dirty="0"/>
          </a:p>
        </p:txBody>
      </p:sp>
      <p:sp>
        <p:nvSpPr>
          <p:cNvPr id="22" name="Shape 20"/>
          <p:cNvSpPr/>
          <p:nvPr/>
        </p:nvSpPr>
        <p:spPr>
          <a:xfrm>
            <a:off x="3383280" y="1600200"/>
            <a:ext cx="2596896" cy="2103120"/>
          </a:xfrm>
          <a:prstGeom prst="roundRect">
            <a:avLst>
              <a:gd name="adj" fmla="val 6087"/>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23" name="Shape 21"/>
          <p:cNvSpPr/>
          <p:nvPr/>
        </p:nvSpPr>
        <p:spPr>
          <a:xfrm>
            <a:off x="3611880" y="1828800"/>
            <a:ext cx="384048" cy="384048"/>
          </a:xfrm>
          <a:prstGeom prst="ellipse">
            <a:avLst/>
          </a:prstGeom>
          <a:solidFill>
            <a:srgbClr val="F6F3FA"/>
          </a:solidFill>
          <a:ln w="12700">
            <a:solidFill>
              <a:srgbClr val="F6F3FA"/>
            </a:solidFill>
            <a:prstDash val="solid"/>
          </a:ln>
        </p:spPr>
      </p:sp>
      <p:sp>
        <p:nvSpPr>
          <p:cNvPr id="24" name="Text 22"/>
          <p:cNvSpPr txBox="1"/>
          <p:nvPr/>
        </p:nvSpPr>
        <p:spPr>
          <a:xfrm>
            <a:off x="3611880" y="1828800"/>
            <a:ext cx="384048" cy="384048"/>
          </a:xfrm>
          <a:prstGeom prst="rect">
            <a:avLst/>
          </a:prstGeom>
          <a:noFill/>
          <a:ln/>
        </p:spPr>
        <p:txBody>
          <a:bodyPr wrap="square" lIns="0" tIns="0" rIns="0" bIns="0" rtlCol="0" anchor="ctr"/>
          <a:lstStyle/>
          <a:p>
            <a:pPr algn="ctr" indent="0" marL="0">
              <a:buNone/>
            </a:pPr>
            <a:r>
              <a:rPr lang="en-US" sz="1200" b="1" dirty="0">
                <a:solidFill>
                  <a:srgbClr val="6E5E94"/>
                </a:solidFill>
                <a:latin typeface="Calibri" pitchFamily="34" charset="0"/>
                <a:ea typeface="Calibri" pitchFamily="34" charset="-122"/>
                <a:cs typeface="Calibri" pitchFamily="34" charset="-120"/>
              </a:rPr>
              <a:t>2</a:t>
            </a:r>
            <a:endParaRPr lang="en-US" sz="1200" dirty="0"/>
          </a:p>
        </p:txBody>
      </p:sp>
      <p:sp>
        <p:nvSpPr>
          <p:cNvPr id="25" name="Text 23"/>
          <p:cNvSpPr txBox="1"/>
          <p:nvPr/>
        </p:nvSpPr>
        <p:spPr>
          <a:xfrm>
            <a:off x="3611880" y="2331720"/>
            <a:ext cx="2139696" cy="457200"/>
          </a:xfrm>
          <a:prstGeom prst="rect">
            <a:avLst/>
          </a:prstGeom>
          <a:noFill/>
          <a:ln/>
        </p:spPr>
        <p:txBody>
          <a:bodyPr wrap="square" lIns="0" tIns="0" rIns="0" bIns="0" rtlCol="0" anchor="t"/>
          <a:lstStyle/>
          <a:p>
            <a:pPr indent="0" marL="0">
              <a:buNone/>
            </a:pPr>
            <a:r>
              <a:rPr lang="en-US" sz="1500" b="1" dirty="0">
                <a:solidFill>
                  <a:srgbClr val="1E2E3A"/>
                </a:solidFill>
                <a:latin typeface="Calibri" pitchFamily="34" charset="0"/>
                <a:ea typeface="Calibri" pitchFamily="34" charset="-122"/>
                <a:cs typeface="Calibri" pitchFamily="34" charset="-120"/>
              </a:rPr>
              <a:t>What did not?</a:t>
            </a:r>
            <a:endParaRPr lang="en-US" sz="1500" dirty="0"/>
          </a:p>
        </p:txBody>
      </p:sp>
      <p:sp>
        <p:nvSpPr>
          <p:cNvPr id="26" name="Text 24"/>
          <p:cNvSpPr txBox="1"/>
          <p:nvPr/>
        </p:nvSpPr>
        <p:spPr>
          <a:xfrm>
            <a:off x="3611880" y="2807208"/>
            <a:ext cx="2139696" cy="777240"/>
          </a:xfrm>
          <a:prstGeom prst="rect">
            <a:avLst/>
          </a:prstGeom>
          <a:noFill/>
          <a:ln/>
        </p:spPr>
        <p:txBody>
          <a:bodyPr wrap="square" lIns="0" tIns="0" rIns="0" bIns="0" rtlCol="0" anchor="t"/>
          <a:lstStyle/>
          <a:p>
            <a:pPr indent="0" marL="0">
              <a:buNone/>
            </a:pPr>
            <a:r>
              <a:rPr lang="en-US" sz="1200" dirty="0">
                <a:solidFill>
                  <a:srgbClr val="465A69"/>
                </a:solidFill>
                <a:latin typeface="Calibri" pitchFamily="34" charset="0"/>
                <a:ea typeface="Calibri" pitchFamily="34" charset="-122"/>
                <a:cs typeface="Calibri" pitchFamily="34" charset="-120"/>
              </a:rPr>
              <a:t>Where the team stalled, duplicated effort, or lost time.</a:t>
            </a:r>
            <a:endParaRPr lang="en-US" sz="1200" dirty="0"/>
          </a:p>
        </p:txBody>
      </p:sp>
      <p:sp>
        <p:nvSpPr>
          <p:cNvPr id="27" name="Shape 25"/>
          <p:cNvSpPr/>
          <p:nvPr/>
        </p:nvSpPr>
        <p:spPr>
          <a:xfrm>
            <a:off x="6217920" y="1600200"/>
            <a:ext cx="2596896" cy="2103120"/>
          </a:xfrm>
          <a:prstGeom prst="roundRect">
            <a:avLst>
              <a:gd name="adj" fmla="val 6087"/>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28" name="Shape 26"/>
          <p:cNvSpPr/>
          <p:nvPr/>
        </p:nvSpPr>
        <p:spPr>
          <a:xfrm>
            <a:off x="6446520" y="1828800"/>
            <a:ext cx="384048" cy="384048"/>
          </a:xfrm>
          <a:prstGeom prst="ellipse">
            <a:avLst/>
          </a:prstGeom>
          <a:solidFill>
            <a:srgbClr val="F6F3FA"/>
          </a:solidFill>
          <a:ln w="12700">
            <a:solidFill>
              <a:srgbClr val="F6F3FA"/>
            </a:solidFill>
            <a:prstDash val="solid"/>
          </a:ln>
        </p:spPr>
      </p:sp>
      <p:sp>
        <p:nvSpPr>
          <p:cNvPr id="29" name="Text 27"/>
          <p:cNvSpPr txBox="1"/>
          <p:nvPr/>
        </p:nvSpPr>
        <p:spPr>
          <a:xfrm>
            <a:off x="6446520" y="1828800"/>
            <a:ext cx="384048" cy="384048"/>
          </a:xfrm>
          <a:prstGeom prst="rect">
            <a:avLst/>
          </a:prstGeom>
          <a:noFill/>
          <a:ln/>
        </p:spPr>
        <p:txBody>
          <a:bodyPr wrap="square" lIns="0" tIns="0" rIns="0" bIns="0" rtlCol="0" anchor="ctr"/>
          <a:lstStyle/>
          <a:p>
            <a:pPr algn="ctr" indent="0" marL="0">
              <a:buNone/>
            </a:pPr>
            <a:r>
              <a:rPr lang="en-US" sz="1200" b="1" dirty="0">
                <a:solidFill>
                  <a:srgbClr val="6E5E94"/>
                </a:solidFill>
                <a:latin typeface="Calibri" pitchFamily="34" charset="0"/>
                <a:ea typeface="Calibri" pitchFamily="34" charset="-122"/>
                <a:cs typeface="Calibri" pitchFamily="34" charset="-120"/>
              </a:rPr>
              <a:t>3</a:t>
            </a:r>
            <a:endParaRPr lang="en-US" sz="1200" dirty="0"/>
          </a:p>
        </p:txBody>
      </p:sp>
      <p:sp>
        <p:nvSpPr>
          <p:cNvPr id="30" name="Text 28"/>
          <p:cNvSpPr txBox="1"/>
          <p:nvPr/>
        </p:nvSpPr>
        <p:spPr>
          <a:xfrm>
            <a:off x="6446520" y="2331720"/>
            <a:ext cx="2139696" cy="457200"/>
          </a:xfrm>
          <a:prstGeom prst="rect">
            <a:avLst/>
          </a:prstGeom>
          <a:noFill/>
          <a:ln/>
        </p:spPr>
        <p:txBody>
          <a:bodyPr wrap="square" lIns="0" tIns="0" rIns="0" bIns="0" rtlCol="0" anchor="t"/>
          <a:lstStyle/>
          <a:p>
            <a:pPr indent="0" marL="0">
              <a:buNone/>
            </a:pPr>
            <a:r>
              <a:rPr lang="en-US" sz="1500" b="1" dirty="0">
                <a:solidFill>
                  <a:srgbClr val="1E2E3A"/>
                </a:solidFill>
                <a:latin typeface="Calibri" pitchFamily="34" charset="0"/>
                <a:ea typeface="Calibri" pitchFamily="34" charset="-122"/>
                <a:cs typeface="Calibri" pitchFamily="34" charset="-120"/>
              </a:rPr>
              <a:t>Which assumptions proved wrong?</a:t>
            </a:r>
            <a:endParaRPr lang="en-US" sz="1500" dirty="0"/>
          </a:p>
        </p:txBody>
      </p:sp>
      <p:sp>
        <p:nvSpPr>
          <p:cNvPr id="31" name="Text 29"/>
          <p:cNvSpPr txBox="1"/>
          <p:nvPr/>
        </p:nvSpPr>
        <p:spPr>
          <a:xfrm>
            <a:off x="6446520" y="2807208"/>
            <a:ext cx="2139696" cy="777240"/>
          </a:xfrm>
          <a:prstGeom prst="rect">
            <a:avLst/>
          </a:prstGeom>
          <a:noFill/>
          <a:ln/>
        </p:spPr>
        <p:txBody>
          <a:bodyPr wrap="square" lIns="0" tIns="0" rIns="0" bIns="0" rtlCol="0" anchor="t"/>
          <a:lstStyle/>
          <a:p>
            <a:pPr indent="0" marL="0">
              <a:buNone/>
            </a:pPr>
            <a:r>
              <a:rPr lang="en-US" sz="1200" dirty="0">
                <a:solidFill>
                  <a:srgbClr val="465A69"/>
                </a:solidFill>
                <a:latin typeface="Calibri" pitchFamily="34" charset="0"/>
                <a:ea typeface="Calibri" pitchFamily="34" charset="-122"/>
                <a:cs typeface="Calibri" pitchFamily="34" charset="-120"/>
              </a:rPr>
              <a:t>About providers, SLAs, access, tools, or people.</a:t>
            </a:r>
            <a:endParaRPr lang="en-US" sz="1200" dirty="0"/>
          </a:p>
        </p:txBody>
      </p:sp>
      <p:sp>
        <p:nvSpPr>
          <p:cNvPr id="32" name="Shape 30"/>
          <p:cNvSpPr/>
          <p:nvPr/>
        </p:nvSpPr>
        <p:spPr>
          <a:xfrm>
            <a:off x="9052560" y="1600200"/>
            <a:ext cx="2596896" cy="2103120"/>
          </a:xfrm>
          <a:prstGeom prst="roundRect">
            <a:avLst>
              <a:gd name="adj" fmla="val 6087"/>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33" name="Shape 31"/>
          <p:cNvSpPr/>
          <p:nvPr/>
        </p:nvSpPr>
        <p:spPr>
          <a:xfrm>
            <a:off x="9281160" y="1828800"/>
            <a:ext cx="384048" cy="384048"/>
          </a:xfrm>
          <a:prstGeom prst="ellipse">
            <a:avLst/>
          </a:prstGeom>
          <a:solidFill>
            <a:srgbClr val="F6F3FA"/>
          </a:solidFill>
          <a:ln w="12700">
            <a:solidFill>
              <a:srgbClr val="F6F3FA"/>
            </a:solidFill>
            <a:prstDash val="solid"/>
          </a:ln>
        </p:spPr>
      </p:sp>
      <p:sp>
        <p:nvSpPr>
          <p:cNvPr id="34" name="Text 32"/>
          <p:cNvSpPr txBox="1"/>
          <p:nvPr/>
        </p:nvSpPr>
        <p:spPr>
          <a:xfrm>
            <a:off x="9281160" y="1828800"/>
            <a:ext cx="384048" cy="384048"/>
          </a:xfrm>
          <a:prstGeom prst="rect">
            <a:avLst/>
          </a:prstGeom>
          <a:noFill/>
          <a:ln/>
        </p:spPr>
        <p:txBody>
          <a:bodyPr wrap="square" lIns="0" tIns="0" rIns="0" bIns="0" rtlCol="0" anchor="ctr"/>
          <a:lstStyle/>
          <a:p>
            <a:pPr algn="ctr" indent="0" marL="0">
              <a:buNone/>
            </a:pPr>
            <a:r>
              <a:rPr lang="en-US" sz="1200" b="1" dirty="0">
                <a:solidFill>
                  <a:srgbClr val="6E5E94"/>
                </a:solidFill>
                <a:latin typeface="Calibri" pitchFamily="34" charset="0"/>
                <a:ea typeface="Calibri" pitchFamily="34" charset="-122"/>
                <a:cs typeface="Calibri" pitchFamily="34" charset="-120"/>
              </a:rPr>
              <a:t>4</a:t>
            </a:r>
            <a:endParaRPr lang="en-US" sz="1200" dirty="0"/>
          </a:p>
        </p:txBody>
      </p:sp>
      <p:sp>
        <p:nvSpPr>
          <p:cNvPr id="35" name="Text 33"/>
          <p:cNvSpPr txBox="1"/>
          <p:nvPr/>
        </p:nvSpPr>
        <p:spPr>
          <a:xfrm>
            <a:off x="9281160" y="2331720"/>
            <a:ext cx="2139696" cy="457200"/>
          </a:xfrm>
          <a:prstGeom prst="rect">
            <a:avLst/>
          </a:prstGeom>
          <a:noFill/>
          <a:ln/>
        </p:spPr>
        <p:txBody>
          <a:bodyPr wrap="square" lIns="0" tIns="0" rIns="0" bIns="0" rtlCol="0" anchor="t"/>
          <a:lstStyle/>
          <a:p>
            <a:pPr indent="0" marL="0">
              <a:buNone/>
            </a:pPr>
            <a:r>
              <a:rPr lang="en-US" sz="1500" b="1" dirty="0">
                <a:solidFill>
                  <a:srgbClr val="1E2E3A"/>
                </a:solidFill>
                <a:latin typeface="Calibri" pitchFamily="34" charset="0"/>
                <a:ea typeface="Calibri" pitchFamily="34" charset="-122"/>
                <a:cs typeface="Calibri" pitchFamily="34" charset="-120"/>
              </a:rPr>
              <a:t>Missing dependencies</a:t>
            </a:r>
            <a:endParaRPr lang="en-US" sz="1500" dirty="0"/>
          </a:p>
        </p:txBody>
      </p:sp>
      <p:sp>
        <p:nvSpPr>
          <p:cNvPr id="36" name="Text 34"/>
          <p:cNvSpPr txBox="1"/>
          <p:nvPr/>
        </p:nvSpPr>
        <p:spPr>
          <a:xfrm>
            <a:off x="9281160" y="2807208"/>
            <a:ext cx="2139696" cy="777240"/>
          </a:xfrm>
          <a:prstGeom prst="rect">
            <a:avLst/>
          </a:prstGeom>
          <a:noFill/>
          <a:ln/>
        </p:spPr>
        <p:txBody>
          <a:bodyPr wrap="square" lIns="0" tIns="0" rIns="0" bIns="0" rtlCol="0" anchor="t"/>
          <a:lstStyle/>
          <a:p>
            <a:pPr indent="0" marL="0">
              <a:buNone/>
            </a:pPr>
            <a:r>
              <a:rPr lang="en-US" sz="1200" dirty="0">
                <a:solidFill>
                  <a:srgbClr val="465A69"/>
                </a:solidFill>
                <a:latin typeface="Calibri" pitchFamily="34" charset="0"/>
                <a:ea typeface="Calibri" pitchFamily="34" charset="-122"/>
                <a:cs typeface="Calibri" pitchFamily="34" charset="-120"/>
              </a:rPr>
              <a:t>Systems, vendors, or contacts nobody had mapped.</a:t>
            </a:r>
            <a:endParaRPr lang="en-US" sz="1200" dirty="0"/>
          </a:p>
        </p:txBody>
      </p:sp>
      <p:sp>
        <p:nvSpPr>
          <p:cNvPr id="37" name="Shape 35"/>
          <p:cNvSpPr/>
          <p:nvPr/>
        </p:nvSpPr>
        <p:spPr>
          <a:xfrm>
            <a:off x="548640" y="3977640"/>
            <a:ext cx="3511296" cy="2103120"/>
          </a:xfrm>
          <a:prstGeom prst="roundRect">
            <a:avLst>
              <a:gd name="adj" fmla="val 6087"/>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38" name="Shape 36"/>
          <p:cNvSpPr/>
          <p:nvPr/>
        </p:nvSpPr>
        <p:spPr>
          <a:xfrm>
            <a:off x="777240" y="4206240"/>
            <a:ext cx="384048" cy="384048"/>
          </a:xfrm>
          <a:prstGeom prst="ellipse">
            <a:avLst/>
          </a:prstGeom>
          <a:solidFill>
            <a:srgbClr val="F6F3FA"/>
          </a:solidFill>
          <a:ln w="12700">
            <a:solidFill>
              <a:srgbClr val="F6F3FA"/>
            </a:solidFill>
            <a:prstDash val="solid"/>
          </a:ln>
        </p:spPr>
      </p:sp>
      <p:sp>
        <p:nvSpPr>
          <p:cNvPr id="39" name="Text 37"/>
          <p:cNvSpPr txBox="1"/>
          <p:nvPr/>
        </p:nvSpPr>
        <p:spPr>
          <a:xfrm>
            <a:off x="777240" y="4206240"/>
            <a:ext cx="384048" cy="384048"/>
          </a:xfrm>
          <a:prstGeom prst="rect">
            <a:avLst/>
          </a:prstGeom>
          <a:noFill/>
          <a:ln/>
        </p:spPr>
        <p:txBody>
          <a:bodyPr wrap="square" lIns="0" tIns="0" rIns="0" bIns="0" rtlCol="0" anchor="ctr"/>
          <a:lstStyle/>
          <a:p>
            <a:pPr algn="ctr" indent="0" marL="0">
              <a:buNone/>
            </a:pPr>
            <a:r>
              <a:rPr lang="en-US" sz="1200" b="1" dirty="0">
                <a:solidFill>
                  <a:srgbClr val="6E5E94"/>
                </a:solidFill>
                <a:latin typeface="Calibri" pitchFamily="34" charset="0"/>
                <a:ea typeface="Calibri" pitchFamily="34" charset="-122"/>
                <a:cs typeface="Calibri" pitchFamily="34" charset="-120"/>
              </a:rPr>
              <a:t>5</a:t>
            </a:r>
            <a:endParaRPr lang="en-US" sz="1200" dirty="0"/>
          </a:p>
        </p:txBody>
      </p:sp>
      <p:sp>
        <p:nvSpPr>
          <p:cNvPr id="40" name="Text 38"/>
          <p:cNvSpPr txBox="1"/>
          <p:nvPr/>
        </p:nvSpPr>
        <p:spPr>
          <a:xfrm>
            <a:off x="777240" y="4709160"/>
            <a:ext cx="3054096" cy="457200"/>
          </a:xfrm>
          <a:prstGeom prst="rect">
            <a:avLst/>
          </a:prstGeom>
          <a:noFill/>
          <a:ln/>
        </p:spPr>
        <p:txBody>
          <a:bodyPr wrap="square" lIns="0" tIns="0" rIns="0" bIns="0" rtlCol="0" anchor="t"/>
          <a:lstStyle/>
          <a:p>
            <a:pPr indent="0" marL="0">
              <a:buNone/>
            </a:pPr>
            <a:r>
              <a:rPr lang="en-US" sz="1500" b="1" dirty="0">
                <a:solidFill>
                  <a:srgbClr val="1E2E3A"/>
                </a:solidFill>
                <a:latin typeface="Calibri" pitchFamily="34" charset="0"/>
                <a:ea typeface="Calibri" pitchFamily="34" charset="-122"/>
                <a:cs typeface="Calibri" pitchFamily="34" charset="-120"/>
              </a:rPr>
              <a:t>Unclear decision authority</a:t>
            </a:r>
            <a:endParaRPr lang="en-US" sz="1500" dirty="0"/>
          </a:p>
        </p:txBody>
      </p:sp>
      <p:sp>
        <p:nvSpPr>
          <p:cNvPr id="41" name="Text 39"/>
          <p:cNvSpPr txBox="1"/>
          <p:nvPr/>
        </p:nvSpPr>
        <p:spPr>
          <a:xfrm>
            <a:off x="777240" y="5184648"/>
            <a:ext cx="3054096" cy="777240"/>
          </a:xfrm>
          <a:prstGeom prst="rect">
            <a:avLst/>
          </a:prstGeom>
          <a:noFill/>
          <a:ln/>
        </p:spPr>
        <p:txBody>
          <a:bodyPr wrap="square" lIns="0" tIns="0" rIns="0" bIns="0" rtlCol="0" anchor="t"/>
          <a:lstStyle/>
          <a:p>
            <a:pPr indent="0" marL="0">
              <a:buNone/>
            </a:pPr>
            <a:r>
              <a:rPr lang="en-US" sz="1200" dirty="0">
                <a:solidFill>
                  <a:srgbClr val="465A69"/>
                </a:solidFill>
                <a:latin typeface="Calibri" pitchFamily="34" charset="0"/>
                <a:ea typeface="Calibri" pitchFamily="34" charset="-122"/>
                <a:cs typeface="Calibri" pitchFamily="34" charset="-120"/>
              </a:rPr>
              <a:t>Moments when nobody was sure who could decide.</a:t>
            </a:r>
            <a:endParaRPr lang="en-US" sz="1200" dirty="0"/>
          </a:p>
        </p:txBody>
      </p:sp>
      <p:sp>
        <p:nvSpPr>
          <p:cNvPr id="42" name="Shape 40"/>
          <p:cNvSpPr/>
          <p:nvPr/>
        </p:nvSpPr>
        <p:spPr>
          <a:xfrm>
            <a:off x="4297680" y="3977640"/>
            <a:ext cx="3511296" cy="2103120"/>
          </a:xfrm>
          <a:prstGeom prst="roundRect">
            <a:avLst>
              <a:gd name="adj" fmla="val 6087"/>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43" name="Shape 41"/>
          <p:cNvSpPr/>
          <p:nvPr/>
        </p:nvSpPr>
        <p:spPr>
          <a:xfrm>
            <a:off x="4526280" y="4206240"/>
            <a:ext cx="384048" cy="384048"/>
          </a:xfrm>
          <a:prstGeom prst="ellipse">
            <a:avLst/>
          </a:prstGeom>
          <a:solidFill>
            <a:srgbClr val="F6F3FA"/>
          </a:solidFill>
          <a:ln w="12700">
            <a:solidFill>
              <a:srgbClr val="F6F3FA"/>
            </a:solidFill>
            <a:prstDash val="solid"/>
          </a:ln>
        </p:spPr>
      </p:sp>
      <p:sp>
        <p:nvSpPr>
          <p:cNvPr id="44" name="Text 42"/>
          <p:cNvSpPr txBox="1"/>
          <p:nvPr/>
        </p:nvSpPr>
        <p:spPr>
          <a:xfrm>
            <a:off x="4526280" y="4206240"/>
            <a:ext cx="384048" cy="384048"/>
          </a:xfrm>
          <a:prstGeom prst="rect">
            <a:avLst/>
          </a:prstGeom>
          <a:noFill/>
          <a:ln/>
        </p:spPr>
        <p:txBody>
          <a:bodyPr wrap="square" lIns="0" tIns="0" rIns="0" bIns="0" rtlCol="0" anchor="ctr"/>
          <a:lstStyle/>
          <a:p>
            <a:pPr algn="ctr" indent="0" marL="0">
              <a:buNone/>
            </a:pPr>
            <a:r>
              <a:rPr lang="en-US" sz="1200" b="1" dirty="0">
                <a:solidFill>
                  <a:srgbClr val="6E5E94"/>
                </a:solidFill>
                <a:latin typeface="Calibri" pitchFamily="34" charset="0"/>
                <a:ea typeface="Calibri" pitchFamily="34" charset="-122"/>
                <a:cs typeface="Calibri" pitchFamily="34" charset="-120"/>
              </a:rPr>
              <a:t>6</a:t>
            </a:r>
            <a:endParaRPr lang="en-US" sz="1200" dirty="0"/>
          </a:p>
        </p:txBody>
      </p:sp>
      <p:sp>
        <p:nvSpPr>
          <p:cNvPr id="45" name="Text 43"/>
          <p:cNvSpPr txBox="1"/>
          <p:nvPr/>
        </p:nvSpPr>
        <p:spPr>
          <a:xfrm>
            <a:off x="4526280" y="4709160"/>
            <a:ext cx="3054096" cy="457200"/>
          </a:xfrm>
          <a:prstGeom prst="rect">
            <a:avLst/>
          </a:prstGeom>
          <a:noFill/>
          <a:ln/>
        </p:spPr>
        <p:txBody>
          <a:bodyPr wrap="square" lIns="0" tIns="0" rIns="0" bIns="0" rtlCol="0" anchor="t"/>
          <a:lstStyle/>
          <a:p>
            <a:pPr indent="0" marL="0">
              <a:buNone/>
            </a:pPr>
            <a:r>
              <a:rPr lang="en-US" sz="1500" b="1" dirty="0">
                <a:solidFill>
                  <a:srgbClr val="1E2E3A"/>
                </a:solidFill>
                <a:latin typeface="Calibri" pitchFamily="34" charset="0"/>
                <a:ea typeface="Calibri" pitchFamily="34" charset="-122"/>
                <a:cs typeface="Calibri" pitchFamily="34" charset="-120"/>
              </a:rPr>
              <a:t>BC/DR gaps</a:t>
            </a:r>
            <a:endParaRPr lang="en-US" sz="1500" dirty="0"/>
          </a:p>
        </p:txBody>
      </p:sp>
      <p:sp>
        <p:nvSpPr>
          <p:cNvPr id="46" name="Text 44"/>
          <p:cNvSpPr txBox="1"/>
          <p:nvPr/>
        </p:nvSpPr>
        <p:spPr>
          <a:xfrm>
            <a:off x="4526280" y="5184648"/>
            <a:ext cx="3054096" cy="777240"/>
          </a:xfrm>
          <a:prstGeom prst="rect">
            <a:avLst/>
          </a:prstGeom>
          <a:noFill/>
          <a:ln/>
        </p:spPr>
        <p:txBody>
          <a:bodyPr wrap="square" lIns="0" tIns="0" rIns="0" bIns="0" rtlCol="0" anchor="t"/>
          <a:lstStyle/>
          <a:p>
            <a:pPr indent="0" marL="0">
              <a:buNone/>
            </a:pPr>
            <a:r>
              <a:rPr lang="en-US" sz="1200" dirty="0">
                <a:solidFill>
                  <a:srgbClr val="465A69"/>
                </a:solidFill>
                <a:latin typeface="Calibri" pitchFamily="34" charset="0"/>
                <a:ea typeface="Calibri" pitchFamily="34" charset="-122"/>
                <a:cs typeface="Calibri" pitchFamily="34" charset="-120"/>
              </a:rPr>
              <a:t>Plan steps that were missing, outdated, or unusable.</a:t>
            </a:r>
            <a:endParaRPr lang="en-US" sz="1200" dirty="0"/>
          </a:p>
        </p:txBody>
      </p:sp>
      <p:sp>
        <p:nvSpPr>
          <p:cNvPr id="47" name="Shape 45"/>
          <p:cNvSpPr/>
          <p:nvPr/>
        </p:nvSpPr>
        <p:spPr>
          <a:xfrm>
            <a:off x="8046720" y="3977640"/>
            <a:ext cx="3511296" cy="2103120"/>
          </a:xfrm>
          <a:prstGeom prst="roundRect">
            <a:avLst>
              <a:gd name="adj" fmla="val 6087"/>
            </a:avLst>
          </a:prstGeom>
          <a:solidFill>
            <a:srgbClr val="F6F3FA"/>
          </a:solidFill>
          <a:ln w="12700">
            <a:solidFill>
              <a:srgbClr val="F6F3FA"/>
            </a:solidFill>
            <a:prstDash val="solid"/>
          </a:ln>
          <a:effectLst>
            <a:outerShdw sx="100000" sy="100000" kx="0" ky="0" algn="bl" rotWithShape="0" blurRad="177800" dist="50800" dir="5400000">
              <a:srgbClr val="1B4965">
                <a:alpha val="16000"/>
              </a:srgbClr>
            </a:outerShdw>
          </a:effectLst>
        </p:spPr>
      </p:sp>
      <p:sp>
        <p:nvSpPr>
          <p:cNvPr id="48" name="Shape 46"/>
          <p:cNvSpPr/>
          <p:nvPr/>
        </p:nvSpPr>
        <p:spPr>
          <a:xfrm>
            <a:off x="8275320" y="4206240"/>
            <a:ext cx="384048" cy="384048"/>
          </a:xfrm>
          <a:prstGeom prst="ellipse">
            <a:avLst/>
          </a:prstGeom>
          <a:solidFill>
            <a:srgbClr val="FFFFFF"/>
          </a:solidFill>
          <a:ln w="12700">
            <a:solidFill>
              <a:srgbClr val="FFFFFF"/>
            </a:solidFill>
            <a:prstDash val="solid"/>
          </a:ln>
        </p:spPr>
      </p:sp>
      <p:sp>
        <p:nvSpPr>
          <p:cNvPr id="49" name="Text 47"/>
          <p:cNvSpPr txBox="1"/>
          <p:nvPr/>
        </p:nvSpPr>
        <p:spPr>
          <a:xfrm>
            <a:off x="8275320" y="4206240"/>
            <a:ext cx="384048" cy="384048"/>
          </a:xfrm>
          <a:prstGeom prst="rect">
            <a:avLst/>
          </a:prstGeom>
          <a:noFill/>
          <a:ln/>
        </p:spPr>
        <p:txBody>
          <a:bodyPr wrap="square" lIns="0" tIns="0" rIns="0" bIns="0" rtlCol="0" anchor="ctr"/>
          <a:lstStyle/>
          <a:p>
            <a:pPr algn="ctr" indent="0" marL="0">
              <a:buNone/>
            </a:pPr>
            <a:r>
              <a:rPr lang="en-US" sz="1200" b="1" dirty="0">
                <a:solidFill>
                  <a:srgbClr val="6E5E94"/>
                </a:solidFill>
                <a:latin typeface="Calibri" pitchFamily="34" charset="0"/>
                <a:ea typeface="Calibri" pitchFamily="34" charset="-122"/>
                <a:cs typeface="Calibri" pitchFamily="34" charset="-120"/>
              </a:rPr>
              <a:t>7</a:t>
            </a:r>
            <a:endParaRPr lang="en-US" sz="1200" dirty="0"/>
          </a:p>
        </p:txBody>
      </p:sp>
      <p:sp>
        <p:nvSpPr>
          <p:cNvPr id="50" name="Text 48"/>
          <p:cNvSpPr txBox="1"/>
          <p:nvPr/>
        </p:nvSpPr>
        <p:spPr>
          <a:xfrm>
            <a:off x="8275320" y="4709160"/>
            <a:ext cx="3054096" cy="457200"/>
          </a:xfrm>
          <a:prstGeom prst="rect">
            <a:avLst/>
          </a:prstGeom>
          <a:noFill/>
          <a:ln/>
        </p:spPr>
        <p:txBody>
          <a:bodyPr wrap="square" lIns="0" tIns="0" rIns="0" bIns="0" rtlCol="0" anchor="t"/>
          <a:lstStyle/>
          <a:p>
            <a:pPr indent="0" marL="0">
              <a:buNone/>
            </a:pPr>
            <a:r>
              <a:rPr lang="en-US" sz="1500" b="1" dirty="0">
                <a:solidFill>
                  <a:srgbClr val="6E5E94"/>
                </a:solidFill>
                <a:latin typeface="Calibri" pitchFamily="34" charset="0"/>
                <a:ea typeface="Calibri" pitchFamily="34" charset="-122"/>
                <a:cs typeface="Calibri" pitchFamily="34" charset="-120"/>
              </a:rPr>
              <a:t>Corrective actions</a:t>
            </a:r>
            <a:endParaRPr lang="en-US" sz="1500" dirty="0"/>
          </a:p>
        </p:txBody>
      </p:sp>
      <p:sp>
        <p:nvSpPr>
          <p:cNvPr id="51" name="Text 49"/>
          <p:cNvSpPr txBox="1"/>
          <p:nvPr/>
        </p:nvSpPr>
        <p:spPr>
          <a:xfrm>
            <a:off x="8275320" y="5184648"/>
            <a:ext cx="3054096" cy="777240"/>
          </a:xfrm>
          <a:prstGeom prst="rect">
            <a:avLst/>
          </a:prstGeom>
          <a:noFill/>
          <a:ln/>
        </p:spPr>
        <p:txBody>
          <a:bodyPr wrap="square" lIns="0" tIns="0" rIns="0" bIns="0" rtlCol="0" anchor="t"/>
          <a:lstStyle/>
          <a:p>
            <a:pPr indent="0" marL="0">
              <a:buNone/>
            </a:pPr>
            <a:r>
              <a:rPr lang="en-US" sz="1200" dirty="0">
                <a:solidFill>
                  <a:srgbClr val="465A69"/>
                </a:solidFill>
                <a:latin typeface="Calibri" pitchFamily="34" charset="0"/>
                <a:ea typeface="Calibri" pitchFamily="34" charset="-122"/>
                <a:cs typeface="Calibri" pitchFamily="34" charset="-120"/>
              </a:rPr>
              <a:t>Each gap gets an owner and a target date.</a:t>
            </a:r>
            <a:endParaRPr lang="en-US" sz="1200" dirty="0"/>
          </a:p>
        </p:txBody>
      </p:sp>
      <p:sp>
        <p:nvSpPr>
          <p:cNvPr id="52" name="Text 50"/>
          <p:cNvSpPr txBox="1"/>
          <p:nvPr/>
        </p:nvSpPr>
        <p:spPr>
          <a:xfrm>
            <a:off x="548640" y="6254496"/>
            <a:ext cx="11091672" cy="256032"/>
          </a:xfrm>
          <a:prstGeom prst="rect">
            <a:avLst/>
          </a:prstGeom>
          <a:noFill/>
          <a:ln/>
        </p:spPr>
        <p:txBody>
          <a:bodyPr wrap="square" lIns="0" tIns="0" rIns="0" bIns="0" rtlCol="0" anchor="ctr"/>
          <a:lstStyle/>
          <a:p>
            <a:pPr indent="0" marL="0">
              <a:buNone/>
            </a:pPr>
            <a:r>
              <a:rPr lang="en-US" sz="1200" b="1" dirty="0">
                <a:solidFill>
                  <a:srgbClr val="465A69"/>
                </a:solidFill>
                <a:latin typeface="Calibri" pitchFamily="34" charset="0"/>
                <a:ea typeface="Calibri" pitchFamily="34" charset="-122"/>
                <a:cs typeface="Calibri" pitchFamily="34" charset="-120"/>
              </a:rPr>
              <a:t>Acronyms:  </a:t>
            </a:r>
            <a:pPr indent="0" marL="0">
              <a:buNone/>
            </a:pPr>
            <a:r>
              <a:rPr lang="en-US" sz="1200" dirty="0">
                <a:solidFill>
                  <a:srgbClr val="465A69"/>
                </a:solidFill>
                <a:latin typeface="Calibri" pitchFamily="34" charset="0"/>
                <a:ea typeface="Calibri" pitchFamily="34" charset="-122"/>
                <a:cs typeface="Calibri" pitchFamily="34" charset="-120"/>
              </a:rPr>
              <a:t>T+: time since the first signal;  DR: Disaster Recovery;  BC: Business Continuity</a:t>
            </a:r>
            <a:endParaRPr lang="en-US" sz="1200" dirty="0"/>
          </a:p>
        </p:txBody>
      </p:sp>
      <p:sp>
        <p:nvSpPr>
          <p:cNvPr id="53" name="Shape 51"/>
          <p:cNvSpPr/>
          <p:nvPr/>
        </p:nvSpPr>
        <p:spPr>
          <a:xfrm>
            <a:off x="548640" y="6537960"/>
            <a:ext cx="763524" cy="274320"/>
          </a:xfrm>
          <a:prstGeom prst="roundRect">
            <a:avLst>
              <a:gd name="adj" fmla="val 50000"/>
            </a:avLst>
          </a:prstGeom>
          <a:solidFill>
            <a:srgbClr val="E4ECF2"/>
          </a:solidFill>
          <a:ln w="12700">
            <a:solidFill>
              <a:srgbClr val="E4ECF2"/>
            </a:solidFill>
            <a:prstDash val="solid"/>
          </a:ln>
        </p:spPr>
      </p:sp>
      <p:sp>
        <p:nvSpPr>
          <p:cNvPr id="54" name="Text 52"/>
          <p:cNvSpPr txBox="1"/>
          <p:nvPr/>
        </p:nvSpPr>
        <p:spPr>
          <a:xfrm>
            <a:off x="548640" y="6537960"/>
            <a:ext cx="763524" cy="274320"/>
          </a:xfrm>
          <a:prstGeom prst="rect">
            <a:avLst/>
          </a:prstGeom>
          <a:noFill/>
          <a:ln/>
        </p:spPr>
        <p:txBody>
          <a:bodyPr wrap="square" lIns="0" tIns="0" rIns="0" bIns="0" rtlCol="0" anchor="ctr"/>
          <a:lstStyle/>
          <a:p>
            <a:pPr algn="ctr" indent="0" marL="0">
              <a:buNone/>
            </a:pPr>
            <a:r>
              <a:rPr lang="en-US" sz="1200" b="1" dirty="0">
                <a:solidFill>
                  <a:srgbClr val="23405A"/>
                </a:solidFill>
                <a:latin typeface="Calibri" pitchFamily="34" charset="0"/>
                <a:ea typeface="Calibri" pitchFamily="34" charset="-122"/>
                <a:cs typeface="Calibri" pitchFamily="34" charset="-120"/>
              </a:rPr>
              <a:t>Start</a:t>
            </a:r>
            <a:endParaRPr lang="en-US" sz="1200" dirty="0"/>
          </a:p>
        </p:txBody>
      </p:sp>
      <p:pic>
        <p:nvPicPr>
          <p:cNvPr id="55" name="Image 0" descr="preencoded.png">
            <a:hlinkClick r:id="rId2" tooltip="Go to Start" action="ppaction://hlinksldjump"/>
          </p:cNvPr>
          <p:cNvPicPr>
            <a:picLocks noChangeAspect="1"/>
          </p:cNvPicPr>
          <p:nvPr/>
        </p:nvPicPr>
        <p:blipFill>
          <a:blip r:embed="rId1"/>
          <a:stretch>
            <a:fillRect/>
          </a:stretch>
        </p:blipFill>
        <p:spPr>
          <a:xfrm>
            <a:off x="548640" y="6537960"/>
            <a:ext cx="763524" cy="274320"/>
          </a:xfrm>
          <a:prstGeom prst="rect">
            <a:avLst/>
          </a:prstGeom>
        </p:spPr>
      </p:pic>
      <p:sp>
        <p:nvSpPr>
          <p:cNvPr id="56" name="Shape 53"/>
          <p:cNvSpPr/>
          <p:nvPr/>
        </p:nvSpPr>
        <p:spPr>
          <a:xfrm>
            <a:off x="1385316" y="6537960"/>
            <a:ext cx="1197864" cy="274320"/>
          </a:xfrm>
          <a:prstGeom prst="roundRect">
            <a:avLst>
              <a:gd name="adj" fmla="val 50000"/>
            </a:avLst>
          </a:prstGeom>
          <a:solidFill>
            <a:srgbClr val="F1F6FA"/>
          </a:solidFill>
          <a:ln w="12700">
            <a:solidFill>
              <a:srgbClr val="F1F6FA"/>
            </a:solidFill>
            <a:prstDash val="solid"/>
          </a:ln>
        </p:spPr>
      </p:sp>
      <p:sp>
        <p:nvSpPr>
          <p:cNvPr id="57" name="Text 54"/>
          <p:cNvSpPr txBox="1"/>
          <p:nvPr/>
        </p:nvSpPr>
        <p:spPr>
          <a:xfrm>
            <a:off x="1385316" y="6537960"/>
            <a:ext cx="1197864" cy="274320"/>
          </a:xfrm>
          <a:prstGeom prst="rect">
            <a:avLst/>
          </a:prstGeom>
          <a:noFill/>
          <a:ln/>
        </p:spPr>
        <p:txBody>
          <a:bodyPr wrap="square" lIns="0" tIns="0" rIns="0" bIns="0" rtlCol="0" anchor="ctr"/>
          <a:lstStyle/>
          <a:p>
            <a:pPr algn="ctr" indent="0" marL="0">
              <a:buNone/>
            </a:pPr>
            <a:r>
              <a:rPr lang="en-US" sz="1200" b="1" dirty="0">
                <a:solidFill>
                  <a:srgbClr val="3F6E8C"/>
                </a:solidFill>
                <a:latin typeface="Calibri" pitchFamily="34" charset="0"/>
                <a:ea typeface="Calibri" pitchFamily="34" charset="-122"/>
                <a:cs typeface="Calibri" pitchFamily="34" charset="-120"/>
              </a:rPr>
              <a:t>Scenario 1</a:t>
            </a:r>
            <a:endParaRPr lang="en-US" sz="1200" dirty="0"/>
          </a:p>
        </p:txBody>
      </p:sp>
      <p:pic>
        <p:nvPicPr>
          <p:cNvPr id="58" name="Image 1" descr="preencoded.png">
            <a:hlinkClick r:id="rId4" tooltip="Go to Scenario 1" action="ppaction://hlinksldjump"/>
          </p:cNvPr>
          <p:cNvPicPr>
            <a:picLocks noChangeAspect="1"/>
          </p:cNvPicPr>
          <p:nvPr/>
        </p:nvPicPr>
        <p:blipFill>
          <a:blip r:embed="rId3"/>
          <a:stretch>
            <a:fillRect/>
          </a:stretch>
        </p:blipFill>
        <p:spPr>
          <a:xfrm>
            <a:off x="1385316" y="6537960"/>
            <a:ext cx="1197864" cy="274320"/>
          </a:xfrm>
          <a:prstGeom prst="rect">
            <a:avLst/>
          </a:prstGeom>
        </p:spPr>
      </p:pic>
      <p:sp>
        <p:nvSpPr>
          <p:cNvPr id="59" name="Shape 55"/>
          <p:cNvSpPr/>
          <p:nvPr/>
        </p:nvSpPr>
        <p:spPr>
          <a:xfrm>
            <a:off x="2656332" y="6537960"/>
            <a:ext cx="1197864" cy="274320"/>
          </a:xfrm>
          <a:prstGeom prst="roundRect">
            <a:avLst>
              <a:gd name="adj" fmla="val 50000"/>
            </a:avLst>
          </a:prstGeom>
          <a:solidFill>
            <a:srgbClr val="F1F8F3"/>
          </a:solidFill>
          <a:ln w="12700">
            <a:solidFill>
              <a:srgbClr val="F1F8F3"/>
            </a:solidFill>
            <a:prstDash val="solid"/>
          </a:ln>
        </p:spPr>
      </p:sp>
      <p:sp>
        <p:nvSpPr>
          <p:cNvPr id="60" name="Text 56"/>
          <p:cNvSpPr txBox="1"/>
          <p:nvPr/>
        </p:nvSpPr>
        <p:spPr>
          <a:xfrm>
            <a:off x="2656332" y="6537960"/>
            <a:ext cx="1197864" cy="274320"/>
          </a:xfrm>
          <a:prstGeom prst="rect">
            <a:avLst/>
          </a:prstGeom>
          <a:noFill/>
          <a:ln/>
        </p:spPr>
        <p:txBody>
          <a:bodyPr wrap="square" lIns="0" tIns="0" rIns="0" bIns="0" rtlCol="0" anchor="ctr"/>
          <a:lstStyle/>
          <a:p>
            <a:pPr algn="ctr" indent="0" marL="0">
              <a:buNone/>
            </a:pPr>
            <a:r>
              <a:rPr lang="en-US" sz="1200" b="1" dirty="0">
                <a:solidFill>
                  <a:srgbClr val="4C8068"/>
                </a:solidFill>
                <a:latin typeface="Calibri" pitchFamily="34" charset="0"/>
                <a:ea typeface="Calibri" pitchFamily="34" charset="-122"/>
                <a:cs typeface="Calibri" pitchFamily="34" charset="-120"/>
              </a:rPr>
              <a:t>Scenario 2</a:t>
            </a:r>
            <a:endParaRPr lang="en-US" sz="1200" dirty="0"/>
          </a:p>
        </p:txBody>
      </p:sp>
      <p:pic>
        <p:nvPicPr>
          <p:cNvPr id="61" name="Image 2" descr="preencoded.png">
            <a:hlinkClick r:id="rId6" tooltip="Go to Scenario 2" action="ppaction://hlinksldjump"/>
          </p:cNvPr>
          <p:cNvPicPr>
            <a:picLocks noChangeAspect="1"/>
          </p:cNvPicPr>
          <p:nvPr/>
        </p:nvPicPr>
        <p:blipFill>
          <a:blip r:embed="rId5"/>
          <a:stretch>
            <a:fillRect/>
          </a:stretch>
        </p:blipFill>
        <p:spPr>
          <a:xfrm>
            <a:off x="2656332" y="6537960"/>
            <a:ext cx="1197864" cy="274320"/>
          </a:xfrm>
          <a:prstGeom prst="rect">
            <a:avLst/>
          </a:prstGeom>
        </p:spPr>
      </p:pic>
      <p:sp>
        <p:nvSpPr>
          <p:cNvPr id="62" name="Shape 57"/>
          <p:cNvSpPr/>
          <p:nvPr/>
        </p:nvSpPr>
        <p:spPr>
          <a:xfrm>
            <a:off x="3927348" y="6537960"/>
            <a:ext cx="1197864" cy="274320"/>
          </a:xfrm>
          <a:prstGeom prst="roundRect">
            <a:avLst>
              <a:gd name="adj" fmla="val 50000"/>
            </a:avLst>
          </a:prstGeom>
          <a:solidFill>
            <a:srgbClr val="6E5E94"/>
          </a:solidFill>
          <a:ln w="12700">
            <a:solidFill>
              <a:srgbClr val="6E5E94"/>
            </a:solidFill>
            <a:prstDash val="solid"/>
          </a:ln>
        </p:spPr>
      </p:sp>
      <p:sp>
        <p:nvSpPr>
          <p:cNvPr id="63" name="Text 58"/>
          <p:cNvSpPr txBox="1"/>
          <p:nvPr/>
        </p:nvSpPr>
        <p:spPr>
          <a:xfrm>
            <a:off x="3927348" y="6537960"/>
            <a:ext cx="1197864"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Scenario 3</a:t>
            </a:r>
            <a:endParaRPr lang="en-US" sz="1200" dirty="0"/>
          </a:p>
        </p:txBody>
      </p:sp>
      <p:pic>
        <p:nvPicPr>
          <p:cNvPr id="64" name="Image 3" descr="preencoded.png">
            <a:hlinkClick r:id="rId8" tooltip="Go to Scenario 3" action="ppaction://hlinksldjump"/>
          </p:cNvPr>
          <p:cNvPicPr>
            <a:picLocks noChangeAspect="1"/>
          </p:cNvPicPr>
          <p:nvPr/>
        </p:nvPicPr>
        <p:blipFill>
          <a:blip r:embed="rId7"/>
          <a:stretch>
            <a:fillRect/>
          </a:stretch>
        </p:blipFill>
        <p:spPr>
          <a:xfrm>
            <a:off x="3927348" y="6537960"/>
            <a:ext cx="1197864" cy="274320"/>
          </a:xfrm>
          <a:prstGeom prst="rect">
            <a:avLst/>
          </a:prstGeom>
        </p:spPr>
      </p:pic>
      <p:sp>
        <p:nvSpPr>
          <p:cNvPr id="65" name="Shape 59"/>
          <p:cNvSpPr/>
          <p:nvPr/>
        </p:nvSpPr>
        <p:spPr>
          <a:xfrm>
            <a:off x="5198364" y="6537960"/>
            <a:ext cx="937260" cy="274320"/>
          </a:xfrm>
          <a:prstGeom prst="roundRect">
            <a:avLst>
              <a:gd name="adj" fmla="val 50000"/>
            </a:avLst>
          </a:prstGeom>
          <a:solidFill>
            <a:srgbClr val="E4ECF2"/>
          </a:solidFill>
          <a:ln w="12700">
            <a:solidFill>
              <a:srgbClr val="E4ECF2"/>
            </a:solidFill>
            <a:prstDash val="solid"/>
          </a:ln>
        </p:spPr>
      </p:sp>
      <p:sp>
        <p:nvSpPr>
          <p:cNvPr id="66" name="Text 60"/>
          <p:cNvSpPr txBox="1"/>
          <p:nvPr/>
        </p:nvSpPr>
        <p:spPr>
          <a:xfrm>
            <a:off x="5198364" y="6537960"/>
            <a:ext cx="937260" cy="274320"/>
          </a:xfrm>
          <a:prstGeom prst="rect">
            <a:avLst/>
          </a:prstGeom>
          <a:noFill/>
          <a:ln/>
        </p:spPr>
        <p:txBody>
          <a:bodyPr wrap="square" lIns="0" tIns="0" rIns="0" bIns="0" rtlCol="0" anchor="ctr"/>
          <a:lstStyle/>
          <a:p>
            <a:pPr algn="ctr" indent="0" marL="0">
              <a:buNone/>
            </a:pPr>
            <a:r>
              <a:rPr lang="en-US" sz="1200" b="1" dirty="0">
                <a:solidFill>
                  <a:srgbClr val="23405A"/>
                </a:solidFill>
                <a:latin typeface="Calibri" pitchFamily="34" charset="0"/>
                <a:ea typeface="Calibri" pitchFamily="34" charset="-122"/>
                <a:cs typeface="Calibri" pitchFamily="34" charset="-120"/>
              </a:rPr>
              <a:t>Closing</a:t>
            </a:r>
            <a:endParaRPr lang="en-US" sz="1200" dirty="0"/>
          </a:p>
        </p:txBody>
      </p:sp>
      <p:pic>
        <p:nvPicPr>
          <p:cNvPr id="67" name="Image 4" descr="preencoded.png">
            <a:hlinkClick r:id="rId10" tooltip="Go to Closing" action="ppaction://hlinksldjump"/>
          </p:cNvPr>
          <p:cNvPicPr>
            <a:picLocks noChangeAspect="1"/>
          </p:cNvPicPr>
          <p:nvPr/>
        </p:nvPicPr>
        <p:blipFill>
          <a:blip r:embed="rId9"/>
          <a:stretch>
            <a:fillRect/>
          </a:stretch>
        </p:blipFill>
        <p:spPr>
          <a:xfrm>
            <a:off x="5198364" y="6537960"/>
            <a:ext cx="937260" cy="274320"/>
          </a:xfrm>
          <a:prstGeom prst="rect">
            <a:avLst/>
          </a:prstGeom>
        </p:spPr>
      </p:pic>
      <p:sp>
        <p:nvSpPr>
          <p:cNvPr id="68" name="Text 61"/>
          <p:cNvSpPr txBox="1"/>
          <p:nvPr/>
        </p:nvSpPr>
        <p:spPr>
          <a:xfrm>
            <a:off x="11277295" y="6537960"/>
            <a:ext cx="365760" cy="274320"/>
          </a:xfrm>
          <a:prstGeom prst="rect">
            <a:avLst/>
          </a:prstGeom>
          <a:noFill/>
          <a:ln/>
        </p:spPr>
        <p:txBody>
          <a:bodyPr wrap="square" lIns="0" tIns="0" rIns="0" bIns="0" rtlCol="0" anchor="ctr"/>
          <a:lstStyle/>
          <a:p>
            <a:pPr algn="r" indent="0" marL="0">
              <a:buNone/>
            </a:pPr>
            <a:r>
              <a:rPr lang="en-US" sz="1200" dirty="0">
                <a:solidFill>
                  <a:srgbClr val="465A69"/>
                </a:solidFill>
                <a:latin typeface="Calibri" pitchFamily="34" charset="0"/>
                <a:ea typeface="Calibri" pitchFamily="34" charset="-122"/>
                <a:cs typeface="Calibri" pitchFamily="34" charset="-120"/>
              </a:rPr>
              <a:t>55</a:t>
            </a:r>
            <a:endParaRPr lang="en-US" sz="12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EEEAF5"/>
        </a:solidFill>
      </p:bgPr>
    </p:bg>
    <p:spTree>
      <p:nvGrpSpPr>
        <p:cNvPr id="1" name=""/>
        <p:cNvGrpSpPr/>
        <p:nvPr/>
      </p:nvGrpSpPr>
      <p:grpSpPr>
        <a:xfrm>
          <a:off x="0" y="0"/>
          <a:ext cx="0" cy="0"/>
          <a:chOff x="0" y="0"/>
          <a:chExt cx="0" cy="0"/>
        </a:xfrm>
      </p:grpSpPr>
      <p:sp>
        <p:nvSpPr>
          <p:cNvPr id="2" name="Shape 0"/>
          <p:cNvSpPr/>
          <p:nvPr/>
        </p:nvSpPr>
        <p:spPr>
          <a:xfrm>
            <a:off x="548640" y="347472"/>
            <a:ext cx="3008376" cy="329184"/>
          </a:xfrm>
          <a:prstGeom prst="roundRect">
            <a:avLst>
              <a:gd name="adj" fmla="val 50000"/>
            </a:avLst>
          </a:prstGeom>
          <a:solidFill>
            <a:srgbClr val="F6F3FA"/>
          </a:solidFill>
          <a:ln w="12700">
            <a:solidFill>
              <a:srgbClr val="F6F3FA"/>
            </a:solidFill>
            <a:prstDash val="solid"/>
          </a:ln>
        </p:spPr>
      </p:sp>
      <p:sp>
        <p:nvSpPr>
          <p:cNvPr id="3" name="Text 1"/>
          <p:cNvSpPr txBox="1"/>
          <p:nvPr/>
        </p:nvSpPr>
        <p:spPr>
          <a:xfrm>
            <a:off x="548640" y="347472"/>
            <a:ext cx="3008376" cy="329184"/>
          </a:xfrm>
          <a:prstGeom prst="rect">
            <a:avLst/>
          </a:prstGeom>
          <a:noFill/>
          <a:ln/>
        </p:spPr>
        <p:txBody>
          <a:bodyPr wrap="square" lIns="0" tIns="0" rIns="0" bIns="0" rtlCol="0" anchor="ctr"/>
          <a:lstStyle/>
          <a:p>
            <a:pPr algn="ctr" indent="0" marL="0">
              <a:buNone/>
            </a:pPr>
            <a:r>
              <a:rPr lang="en-US" sz="1200" b="1" dirty="0">
                <a:solidFill>
                  <a:srgbClr val="6E5E94"/>
                </a:solidFill>
                <a:latin typeface="Calibri" pitchFamily="34" charset="0"/>
                <a:ea typeface="Calibri" pitchFamily="34" charset="-122"/>
                <a:cs typeface="Calibri" pitchFamily="34" charset="-120"/>
              </a:rPr>
              <a:t>Scenario 3: Business Continuity</a:t>
            </a:r>
            <a:endParaRPr lang="en-US" sz="1200" dirty="0"/>
          </a:p>
        </p:txBody>
      </p:sp>
      <p:sp>
        <p:nvSpPr>
          <p:cNvPr id="4" name="Text 2"/>
          <p:cNvSpPr txBox="1"/>
          <p:nvPr/>
        </p:nvSpPr>
        <p:spPr>
          <a:xfrm>
            <a:off x="548640" y="749808"/>
            <a:ext cx="11064240" cy="640080"/>
          </a:xfrm>
          <a:prstGeom prst="rect">
            <a:avLst/>
          </a:prstGeom>
          <a:noFill/>
          <a:ln/>
        </p:spPr>
        <p:txBody>
          <a:bodyPr wrap="square" lIns="0" tIns="0" rIns="0" bIns="0" rtlCol="0" anchor="ctr"/>
          <a:lstStyle/>
          <a:p>
            <a:pPr indent="0" marL="0">
              <a:buNone/>
            </a:pPr>
            <a:r>
              <a:rPr lang="en-US" sz="2800" b="1" dirty="0">
                <a:solidFill>
                  <a:srgbClr val="23405A"/>
                </a:solidFill>
                <a:latin typeface="Calibri" pitchFamily="34" charset="0"/>
                <a:ea typeface="Calibri" pitchFamily="34" charset="-122"/>
                <a:cs typeface="Calibri" pitchFamily="34" charset="-120"/>
              </a:rPr>
              <a:t>Key questions and success criteria</a:t>
            </a:r>
            <a:endParaRPr lang="en-US" sz="2800" dirty="0"/>
          </a:p>
        </p:txBody>
      </p:sp>
      <p:sp>
        <p:nvSpPr>
          <p:cNvPr id="5" name="Shape 3"/>
          <p:cNvSpPr/>
          <p:nvPr/>
        </p:nvSpPr>
        <p:spPr>
          <a:xfrm>
            <a:off x="548640" y="1600200"/>
            <a:ext cx="5029200" cy="4526280"/>
          </a:xfrm>
          <a:prstGeom prst="roundRect">
            <a:avLst>
              <a:gd name="adj" fmla="val 2828"/>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6" name="Text 4"/>
          <p:cNvSpPr txBox="1"/>
          <p:nvPr/>
        </p:nvSpPr>
        <p:spPr>
          <a:xfrm>
            <a:off x="822960" y="1828800"/>
            <a:ext cx="4480560" cy="320040"/>
          </a:xfrm>
          <a:prstGeom prst="rect">
            <a:avLst/>
          </a:prstGeom>
          <a:noFill/>
          <a:ln/>
        </p:spPr>
        <p:txBody>
          <a:bodyPr wrap="square" lIns="0" tIns="0" rIns="0" bIns="0" rtlCol="0" anchor="t"/>
          <a:lstStyle/>
          <a:p>
            <a:pPr indent="0" marL="0">
              <a:buNone/>
            </a:pPr>
            <a:r>
              <a:rPr lang="en-US" sz="1400" b="1" dirty="0">
                <a:solidFill>
                  <a:srgbClr val="6E5E94"/>
                </a:solidFill>
                <a:latin typeface="Calibri" pitchFamily="34" charset="0"/>
                <a:ea typeface="Calibri" pitchFamily="34" charset="-122"/>
                <a:cs typeface="Calibri" pitchFamily="34" charset="-120"/>
              </a:rPr>
              <a:t>Key questions</a:t>
            </a:r>
            <a:endParaRPr lang="en-US" sz="1400" dirty="0"/>
          </a:p>
        </p:txBody>
      </p:sp>
      <p:sp>
        <p:nvSpPr>
          <p:cNvPr id="7" name="Shape 5"/>
          <p:cNvSpPr/>
          <p:nvPr/>
        </p:nvSpPr>
        <p:spPr>
          <a:xfrm>
            <a:off x="822960" y="2304288"/>
            <a:ext cx="292608" cy="292608"/>
          </a:xfrm>
          <a:prstGeom prst="ellipse">
            <a:avLst/>
          </a:prstGeom>
          <a:solidFill>
            <a:srgbClr val="F6F3FA"/>
          </a:solidFill>
          <a:ln w="12700">
            <a:solidFill>
              <a:srgbClr val="F6F3FA"/>
            </a:solidFill>
            <a:prstDash val="solid"/>
          </a:ln>
        </p:spPr>
      </p:sp>
      <p:sp>
        <p:nvSpPr>
          <p:cNvPr id="8" name="Text 6"/>
          <p:cNvSpPr txBox="1"/>
          <p:nvPr/>
        </p:nvSpPr>
        <p:spPr>
          <a:xfrm>
            <a:off x="822960" y="2304288"/>
            <a:ext cx="292608" cy="292608"/>
          </a:xfrm>
          <a:prstGeom prst="rect">
            <a:avLst/>
          </a:prstGeom>
          <a:noFill/>
          <a:ln/>
        </p:spPr>
        <p:txBody>
          <a:bodyPr wrap="square" lIns="0" tIns="0" rIns="0" bIns="0" rtlCol="0" anchor="ctr"/>
          <a:lstStyle/>
          <a:p>
            <a:pPr algn="ctr" indent="0" marL="0">
              <a:buNone/>
            </a:pPr>
            <a:r>
              <a:rPr lang="en-US" sz="1200" b="1" dirty="0">
                <a:solidFill>
                  <a:srgbClr val="6E5E94"/>
                </a:solidFill>
                <a:latin typeface="Calibri" pitchFamily="34" charset="0"/>
                <a:ea typeface="Calibri" pitchFamily="34" charset="-122"/>
                <a:cs typeface="Calibri" pitchFamily="34" charset="-120"/>
              </a:rPr>
              <a:t>1</a:t>
            </a:r>
            <a:endParaRPr lang="en-US" sz="1200" dirty="0"/>
          </a:p>
        </p:txBody>
      </p:sp>
      <p:sp>
        <p:nvSpPr>
          <p:cNvPr id="9" name="Text 7"/>
          <p:cNvSpPr txBox="1"/>
          <p:nvPr/>
        </p:nvSpPr>
        <p:spPr>
          <a:xfrm>
            <a:off x="1234440" y="2286000"/>
            <a:ext cx="4114800" cy="624840"/>
          </a:xfrm>
          <a:prstGeom prst="rect">
            <a:avLst/>
          </a:prstGeom>
          <a:noFill/>
          <a:ln/>
        </p:spPr>
        <p:txBody>
          <a:bodyPr wrap="square" lIns="0" tIns="0" rIns="0" bIns="0" rtlCol="0" anchor="t"/>
          <a:lstStyle/>
          <a:p>
            <a:pPr indent="0" marL="0">
              <a:buNone/>
            </a:pPr>
            <a:r>
              <a:rPr lang="en-US" sz="1250" dirty="0">
                <a:solidFill>
                  <a:srgbClr val="1E2E3A"/>
                </a:solidFill>
                <a:latin typeface="Calibri" pitchFamily="34" charset="0"/>
                <a:ea typeface="Calibri" pitchFamily="34" charset="-122"/>
                <a:cs typeface="Calibri" pitchFamily="34" charset="-120"/>
              </a:rPr>
              <a:t>What are the most critical business processes?</a:t>
            </a:r>
            <a:endParaRPr lang="en-US" sz="1250" dirty="0"/>
          </a:p>
        </p:txBody>
      </p:sp>
      <p:sp>
        <p:nvSpPr>
          <p:cNvPr id="10" name="Shape 8"/>
          <p:cNvSpPr/>
          <p:nvPr/>
        </p:nvSpPr>
        <p:spPr>
          <a:xfrm>
            <a:off x="822960" y="2929128"/>
            <a:ext cx="292608" cy="292608"/>
          </a:xfrm>
          <a:prstGeom prst="ellipse">
            <a:avLst/>
          </a:prstGeom>
          <a:solidFill>
            <a:srgbClr val="F6F3FA"/>
          </a:solidFill>
          <a:ln w="12700">
            <a:solidFill>
              <a:srgbClr val="F6F3FA"/>
            </a:solidFill>
            <a:prstDash val="solid"/>
          </a:ln>
        </p:spPr>
      </p:sp>
      <p:sp>
        <p:nvSpPr>
          <p:cNvPr id="11" name="Text 9"/>
          <p:cNvSpPr txBox="1"/>
          <p:nvPr/>
        </p:nvSpPr>
        <p:spPr>
          <a:xfrm>
            <a:off x="822960" y="2929128"/>
            <a:ext cx="292608" cy="292608"/>
          </a:xfrm>
          <a:prstGeom prst="rect">
            <a:avLst/>
          </a:prstGeom>
          <a:noFill/>
          <a:ln/>
        </p:spPr>
        <p:txBody>
          <a:bodyPr wrap="square" lIns="0" tIns="0" rIns="0" bIns="0" rtlCol="0" anchor="ctr"/>
          <a:lstStyle/>
          <a:p>
            <a:pPr algn="ctr" indent="0" marL="0">
              <a:buNone/>
            </a:pPr>
            <a:r>
              <a:rPr lang="en-US" sz="1200" b="1" dirty="0">
                <a:solidFill>
                  <a:srgbClr val="6E5E94"/>
                </a:solidFill>
                <a:latin typeface="Calibri" pitchFamily="34" charset="0"/>
                <a:ea typeface="Calibri" pitchFamily="34" charset="-122"/>
                <a:cs typeface="Calibri" pitchFamily="34" charset="-120"/>
              </a:rPr>
              <a:t>2</a:t>
            </a:r>
            <a:endParaRPr lang="en-US" sz="1200" dirty="0"/>
          </a:p>
        </p:txBody>
      </p:sp>
      <p:sp>
        <p:nvSpPr>
          <p:cNvPr id="12" name="Text 10"/>
          <p:cNvSpPr txBox="1"/>
          <p:nvPr/>
        </p:nvSpPr>
        <p:spPr>
          <a:xfrm>
            <a:off x="1234440" y="2910840"/>
            <a:ext cx="4114800" cy="624840"/>
          </a:xfrm>
          <a:prstGeom prst="rect">
            <a:avLst/>
          </a:prstGeom>
          <a:noFill/>
          <a:ln/>
        </p:spPr>
        <p:txBody>
          <a:bodyPr wrap="square" lIns="0" tIns="0" rIns="0" bIns="0" rtlCol="0" anchor="t"/>
          <a:lstStyle/>
          <a:p>
            <a:pPr indent="0" marL="0">
              <a:buNone/>
            </a:pPr>
            <a:r>
              <a:rPr lang="en-US" sz="1250" dirty="0">
                <a:solidFill>
                  <a:srgbClr val="1E2E3A"/>
                </a:solidFill>
                <a:latin typeface="Calibri" pitchFamily="34" charset="0"/>
                <a:ea typeface="Calibri" pitchFamily="34" charset="-122"/>
                <a:cs typeface="Calibri" pitchFamily="34" charset="-120"/>
              </a:rPr>
              <a:t>Which functions can operate manually?</a:t>
            </a:r>
            <a:endParaRPr lang="en-US" sz="1250" dirty="0"/>
          </a:p>
        </p:txBody>
      </p:sp>
      <p:sp>
        <p:nvSpPr>
          <p:cNvPr id="13" name="Shape 11"/>
          <p:cNvSpPr/>
          <p:nvPr/>
        </p:nvSpPr>
        <p:spPr>
          <a:xfrm>
            <a:off x="822960" y="3553968"/>
            <a:ext cx="292608" cy="292608"/>
          </a:xfrm>
          <a:prstGeom prst="ellipse">
            <a:avLst/>
          </a:prstGeom>
          <a:solidFill>
            <a:srgbClr val="F6F3FA"/>
          </a:solidFill>
          <a:ln w="12700">
            <a:solidFill>
              <a:srgbClr val="F6F3FA"/>
            </a:solidFill>
            <a:prstDash val="solid"/>
          </a:ln>
        </p:spPr>
      </p:sp>
      <p:sp>
        <p:nvSpPr>
          <p:cNvPr id="14" name="Text 12"/>
          <p:cNvSpPr txBox="1"/>
          <p:nvPr/>
        </p:nvSpPr>
        <p:spPr>
          <a:xfrm>
            <a:off x="822960" y="3553968"/>
            <a:ext cx="292608" cy="292608"/>
          </a:xfrm>
          <a:prstGeom prst="rect">
            <a:avLst/>
          </a:prstGeom>
          <a:noFill/>
          <a:ln/>
        </p:spPr>
        <p:txBody>
          <a:bodyPr wrap="square" lIns="0" tIns="0" rIns="0" bIns="0" rtlCol="0" anchor="ctr"/>
          <a:lstStyle/>
          <a:p>
            <a:pPr algn="ctr" indent="0" marL="0">
              <a:buNone/>
            </a:pPr>
            <a:r>
              <a:rPr lang="en-US" sz="1200" b="1" dirty="0">
                <a:solidFill>
                  <a:srgbClr val="6E5E94"/>
                </a:solidFill>
                <a:latin typeface="Calibri" pitchFamily="34" charset="0"/>
                <a:ea typeface="Calibri" pitchFamily="34" charset="-122"/>
                <a:cs typeface="Calibri" pitchFamily="34" charset="-120"/>
              </a:rPr>
              <a:t>3</a:t>
            </a:r>
            <a:endParaRPr lang="en-US" sz="1200" dirty="0"/>
          </a:p>
        </p:txBody>
      </p:sp>
      <p:sp>
        <p:nvSpPr>
          <p:cNvPr id="15" name="Text 13"/>
          <p:cNvSpPr txBox="1"/>
          <p:nvPr/>
        </p:nvSpPr>
        <p:spPr>
          <a:xfrm>
            <a:off x="1234440" y="3535680"/>
            <a:ext cx="4114800" cy="624840"/>
          </a:xfrm>
          <a:prstGeom prst="rect">
            <a:avLst/>
          </a:prstGeom>
          <a:noFill/>
          <a:ln/>
        </p:spPr>
        <p:txBody>
          <a:bodyPr wrap="square" lIns="0" tIns="0" rIns="0" bIns="0" rtlCol="0" anchor="t"/>
          <a:lstStyle/>
          <a:p>
            <a:pPr indent="0" marL="0">
              <a:buNone/>
            </a:pPr>
            <a:r>
              <a:rPr lang="en-US" sz="1250" dirty="0">
                <a:solidFill>
                  <a:srgbClr val="1E2E3A"/>
                </a:solidFill>
                <a:latin typeface="Calibri" pitchFamily="34" charset="0"/>
                <a:ea typeface="Calibri" pitchFamily="34" charset="-122"/>
                <a:cs typeface="Calibri" pitchFamily="34" charset="-120"/>
              </a:rPr>
              <a:t>What workarounds are approved?</a:t>
            </a:r>
            <a:endParaRPr lang="en-US" sz="1250" dirty="0"/>
          </a:p>
        </p:txBody>
      </p:sp>
      <p:sp>
        <p:nvSpPr>
          <p:cNvPr id="16" name="Shape 14"/>
          <p:cNvSpPr/>
          <p:nvPr/>
        </p:nvSpPr>
        <p:spPr>
          <a:xfrm>
            <a:off x="822960" y="4178808"/>
            <a:ext cx="292608" cy="292608"/>
          </a:xfrm>
          <a:prstGeom prst="ellipse">
            <a:avLst/>
          </a:prstGeom>
          <a:solidFill>
            <a:srgbClr val="F6F3FA"/>
          </a:solidFill>
          <a:ln w="12700">
            <a:solidFill>
              <a:srgbClr val="F6F3FA"/>
            </a:solidFill>
            <a:prstDash val="solid"/>
          </a:ln>
        </p:spPr>
      </p:sp>
      <p:sp>
        <p:nvSpPr>
          <p:cNvPr id="17" name="Text 15"/>
          <p:cNvSpPr txBox="1"/>
          <p:nvPr/>
        </p:nvSpPr>
        <p:spPr>
          <a:xfrm>
            <a:off x="822960" y="4178808"/>
            <a:ext cx="292608" cy="292608"/>
          </a:xfrm>
          <a:prstGeom prst="rect">
            <a:avLst/>
          </a:prstGeom>
          <a:noFill/>
          <a:ln/>
        </p:spPr>
        <p:txBody>
          <a:bodyPr wrap="square" lIns="0" tIns="0" rIns="0" bIns="0" rtlCol="0" anchor="ctr"/>
          <a:lstStyle/>
          <a:p>
            <a:pPr algn="ctr" indent="0" marL="0">
              <a:buNone/>
            </a:pPr>
            <a:r>
              <a:rPr lang="en-US" sz="1200" b="1" dirty="0">
                <a:solidFill>
                  <a:srgbClr val="6E5E94"/>
                </a:solidFill>
                <a:latin typeface="Calibri" pitchFamily="34" charset="0"/>
                <a:ea typeface="Calibri" pitchFamily="34" charset="-122"/>
                <a:cs typeface="Calibri" pitchFamily="34" charset="-120"/>
              </a:rPr>
              <a:t>4</a:t>
            </a:r>
            <a:endParaRPr lang="en-US" sz="1200" dirty="0"/>
          </a:p>
        </p:txBody>
      </p:sp>
      <p:sp>
        <p:nvSpPr>
          <p:cNvPr id="18" name="Text 16"/>
          <p:cNvSpPr txBox="1"/>
          <p:nvPr/>
        </p:nvSpPr>
        <p:spPr>
          <a:xfrm>
            <a:off x="1234440" y="4160520"/>
            <a:ext cx="4114800" cy="624840"/>
          </a:xfrm>
          <a:prstGeom prst="rect">
            <a:avLst/>
          </a:prstGeom>
          <a:noFill/>
          <a:ln/>
        </p:spPr>
        <p:txBody>
          <a:bodyPr wrap="square" lIns="0" tIns="0" rIns="0" bIns="0" rtlCol="0" anchor="t"/>
          <a:lstStyle/>
          <a:p>
            <a:pPr indent="0" marL="0">
              <a:buNone/>
            </a:pPr>
            <a:r>
              <a:rPr lang="en-US" sz="1250" dirty="0">
                <a:solidFill>
                  <a:srgbClr val="1E2E3A"/>
                </a:solidFill>
                <a:latin typeface="Calibri" pitchFamily="34" charset="0"/>
                <a:ea typeface="Calibri" pitchFamily="34" charset="-122"/>
                <a:cs typeface="Calibri" pitchFamily="34" charset="-120"/>
              </a:rPr>
              <a:t>Who has authority to accept additional business risk?</a:t>
            </a:r>
            <a:endParaRPr lang="en-US" sz="1250" dirty="0"/>
          </a:p>
        </p:txBody>
      </p:sp>
      <p:sp>
        <p:nvSpPr>
          <p:cNvPr id="19" name="Shape 17"/>
          <p:cNvSpPr/>
          <p:nvPr/>
        </p:nvSpPr>
        <p:spPr>
          <a:xfrm>
            <a:off x="822960" y="4803648"/>
            <a:ext cx="292608" cy="292608"/>
          </a:xfrm>
          <a:prstGeom prst="ellipse">
            <a:avLst/>
          </a:prstGeom>
          <a:solidFill>
            <a:srgbClr val="F6F3FA"/>
          </a:solidFill>
          <a:ln w="12700">
            <a:solidFill>
              <a:srgbClr val="F6F3FA"/>
            </a:solidFill>
            <a:prstDash val="solid"/>
          </a:ln>
        </p:spPr>
      </p:sp>
      <p:sp>
        <p:nvSpPr>
          <p:cNvPr id="20" name="Text 18"/>
          <p:cNvSpPr txBox="1"/>
          <p:nvPr/>
        </p:nvSpPr>
        <p:spPr>
          <a:xfrm>
            <a:off x="822960" y="4803648"/>
            <a:ext cx="292608" cy="292608"/>
          </a:xfrm>
          <a:prstGeom prst="rect">
            <a:avLst/>
          </a:prstGeom>
          <a:noFill/>
          <a:ln/>
        </p:spPr>
        <p:txBody>
          <a:bodyPr wrap="square" lIns="0" tIns="0" rIns="0" bIns="0" rtlCol="0" anchor="ctr"/>
          <a:lstStyle/>
          <a:p>
            <a:pPr algn="ctr" indent="0" marL="0">
              <a:buNone/>
            </a:pPr>
            <a:r>
              <a:rPr lang="en-US" sz="1200" b="1" dirty="0">
                <a:solidFill>
                  <a:srgbClr val="6E5E94"/>
                </a:solidFill>
                <a:latin typeface="Calibri" pitchFamily="34" charset="0"/>
                <a:ea typeface="Calibri" pitchFamily="34" charset="-122"/>
                <a:cs typeface="Calibri" pitchFamily="34" charset="-120"/>
              </a:rPr>
              <a:t>5</a:t>
            </a:r>
            <a:endParaRPr lang="en-US" sz="1200" dirty="0"/>
          </a:p>
        </p:txBody>
      </p:sp>
      <p:sp>
        <p:nvSpPr>
          <p:cNvPr id="21" name="Text 19"/>
          <p:cNvSpPr txBox="1"/>
          <p:nvPr/>
        </p:nvSpPr>
        <p:spPr>
          <a:xfrm>
            <a:off x="1234440" y="4785360"/>
            <a:ext cx="4114800" cy="624840"/>
          </a:xfrm>
          <a:prstGeom prst="rect">
            <a:avLst/>
          </a:prstGeom>
          <a:noFill/>
          <a:ln/>
        </p:spPr>
        <p:txBody>
          <a:bodyPr wrap="square" lIns="0" tIns="0" rIns="0" bIns="0" rtlCol="0" anchor="t"/>
          <a:lstStyle/>
          <a:p>
            <a:pPr indent="0" marL="0">
              <a:buNone/>
            </a:pPr>
            <a:r>
              <a:rPr lang="en-US" sz="1250" dirty="0">
                <a:solidFill>
                  <a:srgbClr val="1E2E3A"/>
                </a:solidFill>
                <a:latin typeface="Calibri" pitchFamily="34" charset="0"/>
                <a:ea typeface="Calibri" pitchFamily="34" charset="-122"/>
                <a:cs typeface="Calibri" pitchFamily="34" charset="-120"/>
              </a:rPr>
              <a:t>How long can operations continue under degraded conditions?</a:t>
            </a:r>
            <a:endParaRPr lang="en-US" sz="1250" dirty="0"/>
          </a:p>
        </p:txBody>
      </p:sp>
      <p:sp>
        <p:nvSpPr>
          <p:cNvPr id="22" name="Shape 20"/>
          <p:cNvSpPr/>
          <p:nvPr/>
        </p:nvSpPr>
        <p:spPr>
          <a:xfrm>
            <a:off x="822960" y="5428488"/>
            <a:ext cx="292608" cy="292608"/>
          </a:xfrm>
          <a:prstGeom prst="ellipse">
            <a:avLst/>
          </a:prstGeom>
          <a:solidFill>
            <a:srgbClr val="F6F3FA"/>
          </a:solidFill>
          <a:ln w="12700">
            <a:solidFill>
              <a:srgbClr val="F6F3FA"/>
            </a:solidFill>
            <a:prstDash val="solid"/>
          </a:ln>
        </p:spPr>
      </p:sp>
      <p:sp>
        <p:nvSpPr>
          <p:cNvPr id="23" name="Text 21"/>
          <p:cNvSpPr txBox="1"/>
          <p:nvPr/>
        </p:nvSpPr>
        <p:spPr>
          <a:xfrm>
            <a:off x="822960" y="5428488"/>
            <a:ext cx="292608" cy="292608"/>
          </a:xfrm>
          <a:prstGeom prst="rect">
            <a:avLst/>
          </a:prstGeom>
          <a:noFill/>
          <a:ln/>
        </p:spPr>
        <p:txBody>
          <a:bodyPr wrap="square" lIns="0" tIns="0" rIns="0" bIns="0" rtlCol="0" anchor="ctr"/>
          <a:lstStyle/>
          <a:p>
            <a:pPr algn="ctr" indent="0" marL="0">
              <a:buNone/>
            </a:pPr>
            <a:r>
              <a:rPr lang="en-US" sz="1200" b="1" dirty="0">
                <a:solidFill>
                  <a:srgbClr val="6E5E94"/>
                </a:solidFill>
                <a:latin typeface="Calibri" pitchFamily="34" charset="0"/>
                <a:ea typeface="Calibri" pitchFamily="34" charset="-122"/>
                <a:cs typeface="Calibri" pitchFamily="34" charset="-120"/>
              </a:rPr>
              <a:t>6</a:t>
            </a:r>
            <a:endParaRPr lang="en-US" sz="1200" dirty="0"/>
          </a:p>
        </p:txBody>
      </p:sp>
      <p:sp>
        <p:nvSpPr>
          <p:cNvPr id="24" name="Text 22"/>
          <p:cNvSpPr txBox="1"/>
          <p:nvPr/>
        </p:nvSpPr>
        <p:spPr>
          <a:xfrm>
            <a:off x="1234440" y="5410200"/>
            <a:ext cx="4114800" cy="624840"/>
          </a:xfrm>
          <a:prstGeom prst="rect">
            <a:avLst/>
          </a:prstGeom>
          <a:noFill/>
          <a:ln/>
        </p:spPr>
        <p:txBody>
          <a:bodyPr wrap="square" lIns="0" tIns="0" rIns="0" bIns="0" rtlCol="0" anchor="t"/>
          <a:lstStyle/>
          <a:p>
            <a:pPr indent="0" marL="0">
              <a:buNone/>
            </a:pPr>
            <a:r>
              <a:rPr lang="en-US" sz="1250" dirty="0">
                <a:solidFill>
                  <a:srgbClr val="1E2E3A"/>
                </a:solidFill>
                <a:latin typeface="Calibri" pitchFamily="34" charset="0"/>
                <a:ea typeface="Calibri" pitchFamily="34" charset="-122"/>
                <a:cs typeface="Calibri" pitchFamily="34" charset="-120"/>
              </a:rPr>
              <a:t>What executive decisions are needed to maintain business operations?</a:t>
            </a:r>
            <a:endParaRPr lang="en-US" sz="1250" dirty="0"/>
          </a:p>
        </p:txBody>
      </p:sp>
      <p:sp>
        <p:nvSpPr>
          <p:cNvPr id="25" name="Shape 23"/>
          <p:cNvSpPr/>
          <p:nvPr/>
        </p:nvSpPr>
        <p:spPr>
          <a:xfrm>
            <a:off x="5852160" y="1600200"/>
            <a:ext cx="5788152" cy="4526280"/>
          </a:xfrm>
          <a:prstGeom prst="roundRect">
            <a:avLst>
              <a:gd name="adj" fmla="val 2828"/>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26" name="Text 24"/>
          <p:cNvSpPr txBox="1"/>
          <p:nvPr/>
        </p:nvSpPr>
        <p:spPr>
          <a:xfrm>
            <a:off x="6126480" y="1828800"/>
            <a:ext cx="3200400" cy="320040"/>
          </a:xfrm>
          <a:prstGeom prst="rect">
            <a:avLst/>
          </a:prstGeom>
          <a:noFill/>
          <a:ln/>
        </p:spPr>
        <p:txBody>
          <a:bodyPr wrap="square" lIns="0" tIns="0" rIns="0" bIns="0" rtlCol="0" anchor="t"/>
          <a:lstStyle/>
          <a:p>
            <a:pPr indent="0" marL="0">
              <a:buNone/>
            </a:pPr>
            <a:r>
              <a:rPr lang="en-US" sz="1400" b="1" dirty="0">
                <a:solidFill>
                  <a:srgbClr val="6E5E94"/>
                </a:solidFill>
                <a:latin typeface="Calibri" pitchFamily="34" charset="0"/>
                <a:ea typeface="Calibri" pitchFamily="34" charset="-122"/>
                <a:cs typeface="Calibri" pitchFamily="34" charset="-120"/>
              </a:rPr>
              <a:t>Success criteria</a:t>
            </a:r>
            <a:endParaRPr lang="en-US" sz="1400" dirty="0"/>
          </a:p>
        </p:txBody>
      </p:sp>
      <p:sp>
        <p:nvSpPr>
          <p:cNvPr id="27" name="Text 25"/>
          <p:cNvSpPr txBox="1"/>
          <p:nvPr/>
        </p:nvSpPr>
        <p:spPr>
          <a:xfrm>
            <a:off x="9601200" y="1828800"/>
            <a:ext cx="603504" cy="320040"/>
          </a:xfrm>
          <a:prstGeom prst="rect">
            <a:avLst/>
          </a:prstGeom>
          <a:noFill/>
          <a:ln/>
        </p:spPr>
        <p:txBody>
          <a:bodyPr wrap="square" lIns="0" tIns="0" rIns="0" bIns="0" rtlCol="0" anchor="t"/>
          <a:lstStyle/>
          <a:p>
            <a:pPr algn="ctr" indent="0" marL="0">
              <a:buNone/>
            </a:pPr>
            <a:r>
              <a:rPr lang="en-US" sz="1200" b="1" dirty="0">
                <a:solidFill>
                  <a:srgbClr val="465A69"/>
                </a:solidFill>
                <a:latin typeface="Calibri" pitchFamily="34" charset="0"/>
                <a:ea typeface="Calibri" pitchFamily="34" charset="-122"/>
                <a:cs typeface="Calibri" pitchFamily="34" charset="-120"/>
              </a:rPr>
              <a:t>Met</a:t>
            </a:r>
            <a:endParaRPr lang="en-US" sz="1200" dirty="0"/>
          </a:p>
        </p:txBody>
      </p:sp>
      <p:sp>
        <p:nvSpPr>
          <p:cNvPr id="28" name="Text 26"/>
          <p:cNvSpPr txBox="1"/>
          <p:nvPr/>
        </p:nvSpPr>
        <p:spPr>
          <a:xfrm>
            <a:off x="10241280" y="1828800"/>
            <a:ext cx="603504" cy="320040"/>
          </a:xfrm>
          <a:prstGeom prst="rect">
            <a:avLst/>
          </a:prstGeom>
          <a:noFill/>
          <a:ln/>
        </p:spPr>
        <p:txBody>
          <a:bodyPr wrap="square" lIns="0" tIns="0" rIns="0" bIns="0" rtlCol="0" anchor="t"/>
          <a:lstStyle/>
          <a:p>
            <a:pPr algn="ctr" indent="0" marL="0">
              <a:buNone/>
            </a:pPr>
            <a:r>
              <a:rPr lang="en-US" sz="1200" b="1" dirty="0">
                <a:solidFill>
                  <a:srgbClr val="465A69"/>
                </a:solidFill>
                <a:latin typeface="Calibri" pitchFamily="34" charset="0"/>
                <a:ea typeface="Calibri" pitchFamily="34" charset="-122"/>
                <a:cs typeface="Calibri" pitchFamily="34" charset="-120"/>
              </a:rPr>
              <a:t>Partial</a:t>
            </a:r>
            <a:endParaRPr lang="en-US" sz="1200" dirty="0"/>
          </a:p>
        </p:txBody>
      </p:sp>
      <p:sp>
        <p:nvSpPr>
          <p:cNvPr id="29" name="Text 27"/>
          <p:cNvSpPr txBox="1"/>
          <p:nvPr/>
        </p:nvSpPr>
        <p:spPr>
          <a:xfrm>
            <a:off x="10881360" y="1828800"/>
            <a:ext cx="603504" cy="320040"/>
          </a:xfrm>
          <a:prstGeom prst="rect">
            <a:avLst/>
          </a:prstGeom>
          <a:noFill/>
          <a:ln/>
        </p:spPr>
        <p:txBody>
          <a:bodyPr wrap="square" lIns="0" tIns="0" rIns="0" bIns="0" rtlCol="0" anchor="t"/>
          <a:lstStyle/>
          <a:p>
            <a:pPr algn="ctr" indent="0" marL="0">
              <a:buNone/>
            </a:pPr>
            <a:r>
              <a:rPr lang="en-US" sz="1200" b="1" dirty="0">
                <a:solidFill>
                  <a:srgbClr val="465A69"/>
                </a:solidFill>
                <a:latin typeface="Calibri" pitchFamily="34" charset="0"/>
                <a:ea typeface="Calibri" pitchFamily="34" charset="-122"/>
                <a:cs typeface="Calibri" pitchFamily="34" charset="-120"/>
              </a:rPr>
              <a:t>Gap</a:t>
            </a:r>
            <a:endParaRPr lang="en-US" sz="1200" dirty="0"/>
          </a:p>
        </p:txBody>
      </p:sp>
      <p:sp>
        <p:nvSpPr>
          <p:cNvPr id="30" name="Text 28"/>
          <p:cNvSpPr txBox="1"/>
          <p:nvPr/>
        </p:nvSpPr>
        <p:spPr>
          <a:xfrm>
            <a:off x="6126480" y="2286000"/>
            <a:ext cx="3429000" cy="749808"/>
          </a:xfrm>
          <a:prstGeom prst="rect">
            <a:avLst/>
          </a:prstGeom>
          <a:noFill/>
          <a:ln/>
        </p:spPr>
        <p:txBody>
          <a:bodyPr wrap="square" lIns="0" tIns="0" rIns="0" bIns="0" rtlCol="0" anchor="t"/>
          <a:lstStyle/>
          <a:p>
            <a:pPr indent="0" marL="0">
              <a:buNone/>
            </a:pPr>
            <a:r>
              <a:rPr lang="en-US" sz="1250" dirty="0">
                <a:solidFill>
                  <a:srgbClr val="1E2E3A"/>
                </a:solidFill>
                <a:latin typeface="Calibri" pitchFamily="34" charset="0"/>
                <a:ea typeface="Calibri" pitchFamily="34" charset="-122"/>
                <a:cs typeface="Calibri" pitchFamily="34" charset="-120"/>
              </a:rPr>
              <a:t>Business continuity teams identify mission-critical activities</a:t>
            </a:r>
            <a:endParaRPr lang="en-US" sz="1250" dirty="0"/>
          </a:p>
        </p:txBody>
      </p:sp>
      <p:sp>
        <p:nvSpPr>
          <p:cNvPr id="31" name="Shape 29"/>
          <p:cNvSpPr/>
          <p:nvPr/>
        </p:nvSpPr>
        <p:spPr>
          <a:xfrm>
            <a:off x="9784080" y="2313432"/>
            <a:ext cx="237744" cy="237744"/>
          </a:xfrm>
          <a:prstGeom prst="roundRect">
            <a:avLst>
              <a:gd name="adj" fmla="val 19231"/>
            </a:avLst>
          </a:prstGeom>
          <a:solidFill>
            <a:srgbClr val="FFFFFF"/>
          </a:solidFill>
          <a:ln w="15875">
            <a:solidFill>
              <a:srgbClr val="C9D5D2"/>
            </a:solidFill>
            <a:prstDash val="solid"/>
          </a:ln>
        </p:spPr>
      </p:sp>
      <p:sp>
        <p:nvSpPr>
          <p:cNvPr id="32" name="Shape 30"/>
          <p:cNvSpPr/>
          <p:nvPr/>
        </p:nvSpPr>
        <p:spPr>
          <a:xfrm>
            <a:off x="10424160" y="2313432"/>
            <a:ext cx="237744" cy="237744"/>
          </a:xfrm>
          <a:prstGeom prst="roundRect">
            <a:avLst>
              <a:gd name="adj" fmla="val 19231"/>
            </a:avLst>
          </a:prstGeom>
          <a:solidFill>
            <a:srgbClr val="FFFFFF"/>
          </a:solidFill>
          <a:ln w="15875">
            <a:solidFill>
              <a:srgbClr val="C9D5D2"/>
            </a:solidFill>
            <a:prstDash val="solid"/>
          </a:ln>
        </p:spPr>
      </p:sp>
      <p:sp>
        <p:nvSpPr>
          <p:cNvPr id="33" name="Shape 31"/>
          <p:cNvSpPr/>
          <p:nvPr/>
        </p:nvSpPr>
        <p:spPr>
          <a:xfrm>
            <a:off x="11064240" y="2313432"/>
            <a:ext cx="237744" cy="237744"/>
          </a:xfrm>
          <a:prstGeom prst="roundRect">
            <a:avLst>
              <a:gd name="adj" fmla="val 19231"/>
            </a:avLst>
          </a:prstGeom>
          <a:solidFill>
            <a:srgbClr val="FFFFFF"/>
          </a:solidFill>
          <a:ln w="15875">
            <a:solidFill>
              <a:srgbClr val="C9D5D2"/>
            </a:solidFill>
            <a:prstDash val="solid"/>
          </a:ln>
        </p:spPr>
      </p:sp>
      <p:sp>
        <p:nvSpPr>
          <p:cNvPr id="34" name="Text 32"/>
          <p:cNvSpPr txBox="1"/>
          <p:nvPr/>
        </p:nvSpPr>
        <p:spPr>
          <a:xfrm>
            <a:off x="6126480" y="3035808"/>
            <a:ext cx="3429000" cy="749808"/>
          </a:xfrm>
          <a:prstGeom prst="rect">
            <a:avLst/>
          </a:prstGeom>
          <a:noFill/>
          <a:ln/>
        </p:spPr>
        <p:txBody>
          <a:bodyPr wrap="square" lIns="0" tIns="0" rIns="0" bIns="0" rtlCol="0" anchor="t"/>
          <a:lstStyle/>
          <a:p>
            <a:pPr indent="0" marL="0">
              <a:buNone/>
            </a:pPr>
            <a:r>
              <a:rPr lang="en-US" sz="1250" dirty="0">
                <a:solidFill>
                  <a:srgbClr val="1E2E3A"/>
                </a:solidFill>
                <a:latin typeface="Calibri" pitchFamily="34" charset="0"/>
                <a:ea typeface="Calibri" pitchFamily="34" charset="-122"/>
                <a:cs typeface="Calibri" pitchFamily="34" charset="-120"/>
              </a:rPr>
              <a:t>Functional leaders activate documented workarounds</a:t>
            </a:r>
            <a:endParaRPr lang="en-US" sz="1250" dirty="0"/>
          </a:p>
        </p:txBody>
      </p:sp>
      <p:sp>
        <p:nvSpPr>
          <p:cNvPr id="35" name="Shape 33"/>
          <p:cNvSpPr/>
          <p:nvPr/>
        </p:nvSpPr>
        <p:spPr>
          <a:xfrm>
            <a:off x="9784080" y="3063240"/>
            <a:ext cx="237744" cy="237744"/>
          </a:xfrm>
          <a:prstGeom prst="roundRect">
            <a:avLst>
              <a:gd name="adj" fmla="val 19231"/>
            </a:avLst>
          </a:prstGeom>
          <a:solidFill>
            <a:srgbClr val="FFFFFF"/>
          </a:solidFill>
          <a:ln w="15875">
            <a:solidFill>
              <a:srgbClr val="C9D5D2"/>
            </a:solidFill>
            <a:prstDash val="solid"/>
          </a:ln>
        </p:spPr>
      </p:sp>
      <p:sp>
        <p:nvSpPr>
          <p:cNvPr id="36" name="Shape 34"/>
          <p:cNvSpPr/>
          <p:nvPr/>
        </p:nvSpPr>
        <p:spPr>
          <a:xfrm>
            <a:off x="10424160" y="3063240"/>
            <a:ext cx="237744" cy="237744"/>
          </a:xfrm>
          <a:prstGeom prst="roundRect">
            <a:avLst>
              <a:gd name="adj" fmla="val 19231"/>
            </a:avLst>
          </a:prstGeom>
          <a:solidFill>
            <a:srgbClr val="FFFFFF"/>
          </a:solidFill>
          <a:ln w="15875">
            <a:solidFill>
              <a:srgbClr val="C9D5D2"/>
            </a:solidFill>
            <a:prstDash val="solid"/>
          </a:ln>
        </p:spPr>
      </p:sp>
      <p:sp>
        <p:nvSpPr>
          <p:cNvPr id="37" name="Shape 35"/>
          <p:cNvSpPr/>
          <p:nvPr/>
        </p:nvSpPr>
        <p:spPr>
          <a:xfrm>
            <a:off x="11064240" y="3063240"/>
            <a:ext cx="237744" cy="237744"/>
          </a:xfrm>
          <a:prstGeom prst="roundRect">
            <a:avLst>
              <a:gd name="adj" fmla="val 19231"/>
            </a:avLst>
          </a:prstGeom>
          <a:solidFill>
            <a:srgbClr val="FFFFFF"/>
          </a:solidFill>
          <a:ln w="15875">
            <a:solidFill>
              <a:srgbClr val="C9D5D2"/>
            </a:solidFill>
            <a:prstDash val="solid"/>
          </a:ln>
        </p:spPr>
      </p:sp>
      <p:sp>
        <p:nvSpPr>
          <p:cNvPr id="38" name="Text 36"/>
          <p:cNvSpPr txBox="1"/>
          <p:nvPr/>
        </p:nvSpPr>
        <p:spPr>
          <a:xfrm>
            <a:off x="6126480" y="3785616"/>
            <a:ext cx="3429000" cy="749808"/>
          </a:xfrm>
          <a:prstGeom prst="rect">
            <a:avLst/>
          </a:prstGeom>
          <a:noFill/>
          <a:ln/>
        </p:spPr>
        <p:txBody>
          <a:bodyPr wrap="square" lIns="0" tIns="0" rIns="0" bIns="0" rtlCol="0" anchor="t"/>
          <a:lstStyle/>
          <a:p>
            <a:pPr indent="0" marL="0">
              <a:buNone/>
            </a:pPr>
            <a:r>
              <a:rPr lang="en-US" sz="1250" dirty="0">
                <a:solidFill>
                  <a:srgbClr val="1E2E3A"/>
                </a:solidFill>
                <a:latin typeface="Calibri" pitchFamily="34" charset="0"/>
                <a:ea typeface="Calibri" pitchFamily="34" charset="-122"/>
                <a:cs typeface="Calibri" pitchFamily="34" charset="-120"/>
              </a:rPr>
              <a:t>Recovery priorities align to business impact</a:t>
            </a:r>
            <a:endParaRPr lang="en-US" sz="1250" dirty="0"/>
          </a:p>
        </p:txBody>
      </p:sp>
      <p:sp>
        <p:nvSpPr>
          <p:cNvPr id="39" name="Shape 37"/>
          <p:cNvSpPr/>
          <p:nvPr/>
        </p:nvSpPr>
        <p:spPr>
          <a:xfrm>
            <a:off x="9784080" y="3813048"/>
            <a:ext cx="237744" cy="237744"/>
          </a:xfrm>
          <a:prstGeom prst="roundRect">
            <a:avLst>
              <a:gd name="adj" fmla="val 19231"/>
            </a:avLst>
          </a:prstGeom>
          <a:solidFill>
            <a:srgbClr val="FFFFFF"/>
          </a:solidFill>
          <a:ln w="15875">
            <a:solidFill>
              <a:srgbClr val="C9D5D2"/>
            </a:solidFill>
            <a:prstDash val="solid"/>
          </a:ln>
        </p:spPr>
      </p:sp>
      <p:sp>
        <p:nvSpPr>
          <p:cNvPr id="40" name="Shape 38"/>
          <p:cNvSpPr/>
          <p:nvPr/>
        </p:nvSpPr>
        <p:spPr>
          <a:xfrm>
            <a:off x="10424160" y="3813048"/>
            <a:ext cx="237744" cy="237744"/>
          </a:xfrm>
          <a:prstGeom prst="roundRect">
            <a:avLst>
              <a:gd name="adj" fmla="val 19231"/>
            </a:avLst>
          </a:prstGeom>
          <a:solidFill>
            <a:srgbClr val="FFFFFF"/>
          </a:solidFill>
          <a:ln w="15875">
            <a:solidFill>
              <a:srgbClr val="C9D5D2"/>
            </a:solidFill>
            <a:prstDash val="solid"/>
          </a:ln>
        </p:spPr>
      </p:sp>
      <p:sp>
        <p:nvSpPr>
          <p:cNvPr id="41" name="Shape 39"/>
          <p:cNvSpPr/>
          <p:nvPr/>
        </p:nvSpPr>
        <p:spPr>
          <a:xfrm>
            <a:off x="11064240" y="3813048"/>
            <a:ext cx="237744" cy="237744"/>
          </a:xfrm>
          <a:prstGeom prst="roundRect">
            <a:avLst>
              <a:gd name="adj" fmla="val 19231"/>
            </a:avLst>
          </a:prstGeom>
          <a:solidFill>
            <a:srgbClr val="FFFFFF"/>
          </a:solidFill>
          <a:ln w="15875">
            <a:solidFill>
              <a:srgbClr val="C9D5D2"/>
            </a:solidFill>
            <a:prstDash val="solid"/>
          </a:ln>
        </p:spPr>
      </p:sp>
      <p:sp>
        <p:nvSpPr>
          <p:cNvPr id="42" name="Text 40"/>
          <p:cNvSpPr txBox="1"/>
          <p:nvPr/>
        </p:nvSpPr>
        <p:spPr>
          <a:xfrm>
            <a:off x="6126480" y="4535424"/>
            <a:ext cx="3429000" cy="749808"/>
          </a:xfrm>
          <a:prstGeom prst="rect">
            <a:avLst/>
          </a:prstGeom>
          <a:noFill/>
          <a:ln/>
        </p:spPr>
        <p:txBody>
          <a:bodyPr wrap="square" lIns="0" tIns="0" rIns="0" bIns="0" rtlCol="0" anchor="t"/>
          <a:lstStyle/>
          <a:p>
            <a:pPr indent="0" marL="0">
              <a:buNone/>
            </a:pPr>
            <a:r>
              <a:rPr lang="en-US" sz="1250" dirty="0">
                <a:solidFill>
                  <a:srgbClr val="1E2E3A"/>
                </a:solidFill>
                <a:latin typeface="Calibri" pitchFamily="34" charset="0"/>
                <a:ea typeface="Calibri" pitchFamily="34" charset="-122"/>
                <a:cs typeface="Calibri" pitchFamily="34" charset="-120"/>
              </a:rPr>
              <a:t>Executive governance functions effectively</a:t>
            </a:r>
            <a:endParaRPr lang="en-US" sz="1250" dirty="0"/>
          </a:p>
        </p:txBody>
      </p:sp>
      <p:sp>
        <p:nvSpPr>
          <p:cNvPr id="43" name="Shape 41"/>
          <p:cNvSpPr/>
          <p:nvPr/>
        </p:nvSpPr>
        <p:spPr>
          <a:xfrm>
            <a:off x="9784080" y="4562856"/>
            <a:ext cx="237744" cy="237744"/>
          </a:xfrm>
          <a:prstGeom prst="roundRect">
            <a:avLst>
              <a:gd name="adj" fmla="val 19231"/>
            </a:avLst>
          </a:prstGeom>
          <a:solidFill>
            <a:srgbClr val="FFFFFF"/>
          </a:solidFill>
          <a:ln w="15875">
            <a:solidFill>
              <a:srgbClr val="C9D5D2"/>
            </a:solidFill>
            <a:prstDash val="solid"/>
          </a:ln>
        </p:spPr>
      </p:sp>
      <p:sp>
        <p:nvSpPr>
          <p:cNvPr id="44" name="Shape 42"/>
          <p:cNvSpPr/>
          <p:nvPr/>
        </p:nvSpPr>
        <p:spPr>
          <a:xfrm>
            <a:off x="10424160" y="4562856"/>
            <a:ext cx="237744" cy="237744"/>
          </a:xfrm>
          <a:prstGeom prst="roundRect">
            <a:avLst>
              <a:gd name="adj" fmla="val 19231"/>
            </a:avLst>
          </a:prstGeom>
          <a:solidFill>
            <a:srgbClr val="FFFFFF"/>
          </a:solidFill>
          <a:ln w="15875">
            <a:solidFill>
              <a:srgbClr val="C9D5D2"/>
            </a:solidFill>
            <a:prstDash val="solid"/>
          </a:ln>
        </p:spPr>
      </p:sp>
      <p:sp>
        <p:nvSpPr>
          <p:cNvPr id="45" name="Shape 43"/>
          <p:cNvSpPr/>
          <p:nvPr/>
        </p:nvSpPr>
        <p:spPr>
          <a:xfrm>
            <a:off x="11064240" y="4562856"/>
            <a:ext cx="237744" cy="237744"/>
          </a:xfrm>
          <a:prstGeom prst="roundRect">
            <a:avLst>
              <a:gd name="adj" fmla="val 19231"/>
            </a:avLst>
          </a:prstGeom>
          <a:solidFill>
            <a:srgbClr val="FFFFFF"/>
          </a:solidFill>
          <a:ln w="15875">
            <a:solidFill>
              <a:srgbClr val="C9D5D2"/>
            </a:solidFill>
            <a:prstDash val="solid"/>
          </a:ln>
        </p:spPr>
      </p:sp>
      <p:sp>
        <p:nvSpPr>
          <p:cNvPr id="46" name="Text 44"/>
          <p:cNvSpPr txBox="1"/>
          <p:nvPr/>
        </p:nvSpPr>
        <p:spPr>
          <a:xfrm>
            <a:off x="6126480" y="5285232"/>
            <a:ext cx="3429000" cy="749808"/>
          </a:xfrm>
          <a:prstGeom prst="rect">
            <a:avLst/>
          </a:prstGeom>
          <a:noFill/>
          <a:ln/>
        </p:spPr>
        <p:txBody>
          <a:bodyPr wrap="square" lIns="0" tIns="0" rIns="0" bIns="0" rtlCol="0" anchor="t"/>
          <a:lstStyle/>
          <a:p>
            <a:pPr indent="0" marL="0">
              <a:buNone/>
            </a:pPr>
            <a:r>
              <a:rPr lang="en-US" sz="1250" dirty="0">
                <a:solidFill>
                  <a:srgbClr val="1E2E3A"/>
                </a:solidFill>
                <a:latin typeface="Calibri" pitchFamily="34" charset="0"/>
                <a:ea typeface="Calibri" pitchFamily="34" charset="-122"/>
                <a:cs typeface="Calibri" pitchFamily="34" charset="-120"/>
              </a:rPr>
              <a:t>Gaps in continuity planning are documented</a:t>
            </a:r>
            <a:endParaRPr lang="en-US" sz="1250" dirty="0"/>
          </a:p>
        </p:txBody>
      </p:sp>
      <p:sp>
        <p:nvSpPr>
          <p:cNvPr id="47" name="Shape 45"/>
          <p:cNvSpPr/>
          <p:nvPr/>
        </p:nvSpPr>
        <p:spPr>
          <a:xfrm>
            <a:off x="9784080" y="5312664"/>
            <a:ext cx="237744" cy="237744"/>
          </a:xfrm>
          <a:prstGeom prst="roundRect">
            <a:avLst>
              <a:gd name="adj" fmla="val 19231"/>
            </a:avLst>
          </a:prstGeom>
          <a:solidFill>
            <a:srgbClr val="FFFFFF"/>
          </a:solidFill>
          <a:ln w="15875">
            <a:solidFill>
              <a:srgbClr val="C9D5D2"/>
            </a:solidFill>
            <a:prstDash val="solid"/>
          </a:ln>
        </p:spPr>
      </p:sp>
      <p:sp>
        <p:nvSpPr>
          <p:cNvPr id="48" name="Shape 46"/>
          <p:cNvSpPr/>
          <p:nvPr/>
        </p:nvSpPr>
        <p:spPr>
          <a:xfrm>
            <a:off x="10424160" y="5312664"/>
            <a:ext cx="237744" cy="237744"/>
          </a:xfrm>
          <a:prstGeom prst="roundRect">
            <a:avLst>
              <a:gd name="adj" fmla="val 19231"/>
            </a:avLst>
          </a:prstGeom>
          <a:solidFill>
            <a:srgbClr val="FFFFFF"/>
          </a:solidFill>
          <a:ln w="15875">
            <a:solidFill>
              <a:srgbClr val="C9D5D2"/>
            </a:solidFill>
            <a:prstDash val="solid"/>
          </a:ln>
        </p:spPr>
      </p:sp>
      <p:sp>
        <p:nvSpPr>
          <p:cNvPr id="49" name="Shape 47"/>
          <p:cNvSpPr/>
          <p:nvPr/>
        </p:nvSpPr>
        <p:spPr>
          <a:xfrm>
            <a:off x="11064240" y="5312664"/>
            <a:ext cx="237744" cy="237744"/>
          </a:xfrm>
          <a:prstGeom prst="roundRect">
            <a:avLst>
              <a:gd name="adj" fmla="val 19231"/>
            </a:avLst>
          </a:prstGeom>
          <a:solidFill>
            <a:srgbClr val="FFFFFF"/>
          </a:solidFill>
          <a:ln w="15875">
            <a:solidFill>
              <a:srgbClr val="C9D5D2"/>
            </a:solidFill>
            <a:prstDash val="solid"/>
          </a:ln>
        </p:spPr>
      </p:sp>
      <p:sp>
        <p:nvSpPr>
          <p:cNvPr id="50" name="Shape 48"/>
          <p:cNvSpPr/>
          <p:nvPr/>
        </p:nvSpPr>
        <p:spPr>
          <a:xfrm>
            <a:off x="548640" y="6537960"/>
            <a:ext cx="763524" cy="274320"/>
          </a:xfrm>
          <a:prstGeom prst="roundRect">
            <a:avLst>
              <a:gd name="adj" fmla="val 50000"/>
            </a:avLst>
          </a:prstGeom>
          <a:solidFill>
            <a:srgbClr val="E4ECF2"/>
          </a:solidFill>
          <a:ln w="12700">
            <a:solidFill>
              <a:srgbClr val="E4ECF2"/>
            </a:solidFill>
            <a:prstDash val="solid"/>
          </a:ln>
        </p:spPr>
      </p:sp>
      <p:sp>
        <p:nvSpPr>
          <p:cNvPr id="51" name="Text 49"/>
          <p:cNvSpPr txBox="1"/>
          <p:nvPr/>
        </p:nvSpPr>
        <p:spPr>
          <a:xfrm>
            <a:off x="548640" y="6537960"/>
            <a:ext cx="763524" cy="274320"/>
          </a:xfrm>
          <a:prstGeom prst="rect">
            <a:avLst/>
          </a:prstGeom>
          <a:noFill/>
          <a:ln/>
        </p:spPr>
        <p:txBody>
          <a:bodyPr wrap="square" lIns="0" tIns="0" rIns="0" bIns="0" rtlCol="0" anchor="ctr"/>
          <a:lstStyle/>
          <a:p>
            <a:pPr algn="ctr" indent="0" marL="0">
              <a:buNone/>
            </a:pPr>
            <a:r>
              <a:rPr lang="en-US" sz="1200" b="1" dirty="0">
                <a:solidFill>
                  <a:srgbClr val="23405A"/>
                </a:solidFill>
                <a:latin typeface="Calibri" pitchFamily="34" charset="0"/>
                <a:ea typeface="Calibri" pitchFamily="34" charset="-122"/>
                <a:cs typeface="Calibri" pitchFamily="34" charset="-120"/>
              </a:rPr>
              <a:t>Start</a:t>
            </a:r>
            <a:endParaRPr lang="en-US" sz="1200" dirty="0"/>
          </a:p>
        </p:txBody>
      </p:sp>
      <p:pic>
        <p:nvPicPr>
          <p:cNvPr id="52" name="Image 0" descr="preencoded.png">
            <a:hlinkClick r:id="rId2" tooltip="Go to Start" action="ppaction://hlinksldjump"/>
          </p:cNvPr>
          <p:cNvPicPr>
            <a:picLocks noChangeAspect="1"/>
          </p:cNvPicPr>
          <p:nvPr/>
        </p:nvPicPr>
        <p:blipFill>
          <a:blip r:embed="rId1"/>
          <a:stretch>
            <a:fillRect/>
          </a:stretch>
        </p:blipFill>
        <p:spPr>
          <a:xfrm>
            <a:off x="548640" y="6537960"/>
            <a:ext cx="763524" cy="274320"/>
          </a:xfrm>
          <a:prstGeom prst="rect">
            <a:avLst/>
          </a:prstGeom>
        </p:spPr>
      </p:pic>
      <p:sp>
        <p:nvSpPr>
          <p:cNvPr id="53" name="Shape 50"/>
          <p:cNvSpPr/>
          <p:nvPr/>
        </p:nvSpPr>
        <p:spPr>
          <a:xfrm>
            <a:off x="1385316" y="6537960"/>
            <a:ext cx="1197864" cy="274320"/>
          </a:xfrm>
          <a:prstGeom prst="roundRect">
            <a:avLst>
              <a:gd name="adj" fmla="val 50000"/>
            </a:avLst>
          </a:prstGeom>
          <a:solidFill>
            <a:srgbClr val="F1F6FA"/>
          </a:solidFill>
          <a:ln w="12700">
            <a:solidFill>
              <a:srgbClr val="F1F6FA"/>
            </a:solidFill>
            <a:prstDash val="solid"/>
          </a:ln>
        </p:spPr>
      </p:sp>
      <p:sp>
        <p:nvSpPr>
          <p:cNvPr id="54" name="Text 51"/>
          <p:cNvSpPr txBox="1"/>
          <p:nvPr/>
        </p:nvSpPr>
        <p:spPr>
          <a:xfrm>
            <a:off x="1385316" y="6537960"/>
            <a:ext cx="1197864" cy="274320"/>
          </a:xfrm>
          <a:prstGeom prst="rect">
            <a:avLst/>
          </a:prstGeom>
          <a:noFill/>
          <a:ln/>
        </p:spPr>
        <p:txBody>
          <a:bodyPr wrap="square" lIns="0" tIns="0" rIns="0" bIns="0" rtlCol="0" anchor="ctr"/>
          <a:lstStyle/>
          <a:p>
            <a:pPr algn="ctr" indent="0" marL="0">
              <a:buNone/>
            </a:pPr>
            <a:r>
              <a:rPr lang="en-US" sz="1200" b="1" dirty="0">
                <a:solidFill>
                  <a:srgbClr val="3F6E8C"/>
                </a:solidFill>
                <a:latin typeface="Calibri" pitchFamily="34" charset="0"/>
                <a:ea typeface="Calibri" pitchFamily="34" charset="-122"/>
                <a:cs typeface="Calibri" pitchFamily="34" charset="-120"/>
              </a:rPr>
              <a:t>Scenario 1</a:t>
            </a:r>
            <a:endParaRPr lang="en-US" sz="1200" dirty="0"/>
          </a:p>
        </p:txBody>
      </p:sp>
      <p:pic>
        <p:nvPicPr>
          <p:cNvPr id="55" name="Image 1" descr="preencoded.png">
            <a:hlinkClick r:id="rId4" tooltip="Go to Scenario 1" action="ppaction://hlinksldjump"/>
          </p:cNvPr>
          <p:cNvPicPr>
            <a:picLocks noChangeAspect="1"/>
          </p:cNvPicPr>
          <p:nvPr/>
        </p:nvPicPr>
        <p:blipFill>
          <a:blip r:embed="rId3"/>
          <a:stretch>
            <a:fillRect/>
          </a:stretch>
        </p:blipFill>
        <p:spPr>
          <a:xfrm>
            <a:off x="1385316" y="6537960"/>
            <a:ext cx="1197864" cy="274320"/>
          </a:xfrm>
          <a:prstGeom prst="rect">
            <a:avLst/>
          </a:prstGeom>
        </p:spPr>
      </p:pic>
      <p:sp>
        <p:nvSpPr>
          <p:cNvPr id="56" name="Shape 52"/>
          <p:cNvSpPr/>
          <p:nvPr/>
        </p:nvSpPr>
        <p:spPr>
          <a:xfrm>
            <a:off x="2656332" y="6537960"/>
            <a:ext cx="1197864" cy="274320"/>
          </a:xfrm>
          <a:prstGeom prst="roundRect">
            <a:avLst>
              <a:gd name="adj" fmla="val 50000"/>
            </a:avLst>
          </a:prstGeom>
          <a:solidFill>
            <a:srgbClr val="F1F8F3"/>
          </a:solidFill>
          <a:ln w="12700">
            <a:solidFill>
              <a:srgbClr val="F1F8F3"/>
            </a:solidFill>
            <a:prstDash val="solid"/>
          </a:ln>
        </p:spPr>
      </p:sp>
      <p:sp>
        <p:nvSpPr>
          <p:cNvPr id="57" name="Text 53"/>
          <p:cNvSpPr txBox="1"/>
          <p:nvPr/>
        </p:nvSpPr>
        <p:spPr>
          <a:xfrm>
            <a:off x="2656332" y="6537960"/>
            <a:ext cx="1197864" cy="274320"/>
          </a:xfrm>
          <a:prstGeom prst="rect">
            <a:avLst/>
          </a:prstGeom>
          <a:noFill/>
          <a:ln/>
        </p:spPr>
        <p:txBody>
          <a:bodyPr wrap="square" lIns="0" tIns="0" rIns="0" bIns="0" rtlCol="0" anchor="ctr"/>
          <a:lstStyle/>
          <a:p>
            <a:pPr algn="ctr" indent="0" marL="0">
              <a:buNone/>
            </a:pPr>
            <a:r>
              <a:rPr lang="en-US" sz="1200" b="1" dirty="0">
                <a:solidFill>
                  <a:srgbClr val="4C8068"/>
                </a:solidFill>
                <a:latin typeface="Calibri" pitchFamily="34" charset="0"/>
                <a:ea typeface="Calibri" pitchFamily="34" charset="-122"/>
                <a:cs typeface="Calibri" pitchFamily="34" charset="-120"/>
              </a:rPr>
              <a:t>Scenario 2</a:t>
            </a:r>
            <a:endParaRPr lang="en-US" sz="1200" dirty="0"/>
          </a:p>
        </p:txBody>
      </p:sp>
      <p:pic>
        <p:nvPicPr>
          <p:cNvPr id="58" name="Image 2" descr="preencoded.png">
            <a:hlinkClick r:id="rId6" tooltip="Go to Scenario 2" action="ppaction://hlinksldjump"/>
          </p:cNvPr>
          <p:cNvPicPr>
            <a:picLocks noChangeAspect="1"/>
          </p:cNvPicPr>
          <p:nvPr/>
        </p:nvPicPr>
        <p:blipFill>
          <a:blip r:embed="rId5"/>
          <a:stretch>
            <a:fillRect/>
          </a:stretch>
        </p:blipFill>
        <p:spPr>
          <a:xfrm>
            <a:off x="2656332" y="6537960"/>
            <a:ext cx="1197864" cy="274320"/>
          </a:xfrm>
          <a:prstGeom prst="rect">
            <a:avLst/>
          </a:prstGeom>
        </p:spPr>
      </p:pic>
      <p:sp>
        <p:nvSpPr>
          <p:cNvPr id="59" name="Shape 54"/>
          <p:cNvSpPr/>
          <p:nvPr/>
        </p:nvSpPr>
        <p:spPr>
          <a:xfrm>
            <a:off x="3927348" y="6537960"/>
            <a:ext cx="1197864" cy="274320"/>
          </a:xfrm>
          <a:prstGeom prst="roundRect">
            <a:avLst>
              <a:gd name="adj" fmla="val 50000"/>
            </a:avLst>
          </a:prstGeom>
          <a:solidFill>
            <a:srgbClr val="6E5E94"/>
          </a:solidFill>
          <a:ln w="12700">
            <a:solidFill>
              <a:srgbClr val="6E5E94"/>
            </a:solidFill>
            <a:prstDash val="solid"/>
          </a:ln>
        </p:spPr>
      </p:sp>
      <p:sp>
        <p:nvSpPr>
          <p:cNvPr id="60" name="Text 55"/>
          <p:cNvSpPr txBox="1"/>
          <p:nvPr/>
        </p:nvSpPr>
        <p:spPr>
          <a:xfrm>
            <a:off x="3927348" y="6537960"/>
            <a:ext cx="1197864"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Scenario 3</a:t>
            </a:r>
            <a:endParaRPr lang="en-US" sz="1200" dirty="0"/>
          </a:p>
        </p:txBody>
      </p:sp>
      <p:pic>
        <p:nvPicPr>
          <p:cNvPr id="61" name="Image 3" descr="preencoded.png">
            <a:hlinkClick r:id="rId8" tooltip="Go to Scenario 3" action="ppaction://hlinksldjump"/>
          </p:cNvPr>
          <p:cNvPicPr>
            <a:picLocks noChangeAspect="1"/>
          </p:cNvPicPr>
          <p:nvPr/>
        </p:nvPicPr>
        <p:blipFill>
          <a:blip r:embed="rId7"/>
          <a:stretch>
            <a:fillRect/>
          </a:stretch>
        </p:blipFill>
        <p:spPr>
          <a:xfrm>
            <a:off x="3927348" y="6537960"/>
            <a:ext cx="1197864" cy="274320"/>
          </a:xfrm>
          <a:prstGeom prst="rect">
            <a:avLst/>
          </a:prstGeom>
        </p:spPr>
      </p:pic>
      <p:sp>
        <p:nvSpPr>
          <p:cNvPr id="62" name="Shape 56"/>
          <p:cNvSpPr/>
          <p:nvPr/>
        </p:nvSpPr>
        <p:spPr>
          <a:xfrm>
            <a:off x="5198364" y="6537960"/>
            <a:ext cx="937260" cy="274320"/>
          </a:xfrm>
          <a:prstGeom prst="roundRect">
            <a:avLst>
              <a:gd name="adj" fmla="val 50000"/>
            </a:avLst>
          </a:prstGeom>
          <a:solidFill>
            <a:srgbClr val="E4ECF2"/>
          </a:solidFill>
          <a:ln w="12700">
            <a:solidFill>
              <a:srgbClr val="E4ECF2"/>
            </a:solidFill>
            <a:prstDash val="solid"/>
          </a:ln>
        </p:spPr>
      </p:sp>
      <p:sp>
        <p:nvSpPr>
          <p:cNvPr id="63" name="Text 57"/>
          <p:cNvSpPr txBox="1"/>
          <p:nvPr/>
        </p:nvSpPr>
        <p:spPr>
          <a:xfrm>
            <a:off x="5198364" y="6537960"/>
            <a:ext cx="937260" cy="274320"/>
          </a:xfrm>
          <a:prstGeom prst="rect">
            <a:avLst/>
          </a:prstGeom>
          <a:noFill/>
          <a:ln/>
        </p:spPr>
        <p:txBody>
          <a:bodyPr wrap="square" lIns="0" tIns="0" rIns="0" bIns="0" rtlCol="0" anchor="ctr"/>
          <a:lstStyle/>
          <a:p>
            <a:pPr algn="ctr" indent="0" marL="0">
              <a:buNone/>
            </a:pPr>
            <a:r>
              <a:rPr lang="en-US" sz="1200" b="1" dirty="0">
                <a:solidFill>
                  <a:srgbClr val="23405A"/>
                </a:solidFill>
                <a:latin typeface="Calibri" pitchFamily="34" charset="0"/>
                <a:ea typeface="Calibri" pitchFamily="34" charset="-122"/>
                <a:cs typeface="Calibri" pitchFamily="34" charset="-120"/>
              </a:rPr>
              <a:t>Closing</a:t>
            </a:r>
            <a:endParaRPr lang="en-US" sz="1200" dirty="0"/>
          </a:p>
        </p:txBody>
      </p:sp>
      <p:pic>
        <p:nvPicPr>
          <p:cNvPr id="64" name="Image 4" descr="preencoded.png">
            <a:hlinkClick r:id="rId10" tooltip="Go to Closing" action="ppaction://hlinksldjump"/>
          </p:cNvPr>
          <p:cNvPicPr>
            <a:picLocks noChangeAspect="1"/>
          </p:cNvPicPr>
          <p:nvPr/>
        </p:nvPicPr>
        <p:blipFill>
          <a:blip r:embed="rId9"/>
          <a:stretch>
            <a:fillRect/>
          </a:stretch>
        </p:blipFill>
        <p:spPr>
          <a:xfrm>
            <a:off x="5198364" y="6537960"/>
            <a:ext cx="937260" cy="274320"/>
          </a:xfrm>
          <a:prstGeom prst="rect">
            <a:avLst/>
          </a:prstGeom>
        </p:spPr>
      </p:pic>
      <p:sp>
        <p:nvSpPr>
          <p:cNvPr id="65" name="Text 58"/>
          <p:cNvSpPr txBox="1"/>
          <p:nvPr/>
        </p:nvSpPr>
        <p:spPr>
          <a:xfrm>
            <a:off x="11277295" y="6537960"/>
            <a:ext cx="365760" cy="274320"/>
          </a:xfrm>
          <a:prstGeom prst="rect">
            <a:avLst/>
          </a:prstGeom>
          <a:noFill/>
          <a:ln/>
        </p:spPr>
        <p:txBody>
          <a:bodyPr wrap="square" lIns="0" tIns="0" rIns="0" bIns="0" rtlCol="0" anchor="ctr"/>
          <a:lstStyle/>
          <a:p>
            <a:pPr algn="r" indent="0" marL="0">
              <a:buNone/>
            </a:pPr>
            <a:r>
              <a:rPr lang="en-US" sz="1200" dirty="0">
                <a:solidFill>
                  <a:srgbClr val="465A69"/>
                </a:solidFill>
                <a:latin typeface="Calibri" pitchFamily="34" charset="0"/>
                <a:ea typeface="Calibri" pitchFamily="34" charset="-122"/>
                <a:cs typeface="Calibri" pitchFamily="34" charset="-120"/>
              </a:rPr>
              <a:t>56</a:t>
            </a:r>
            <a:endParaRPr lang="en-US" sz="12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EEF2F1"/>
        </a:solidFill>
      </p:bgPr>
    </p:bg>
    <p:spTree>
      <p:nvGrpSpPr>
        <p:cNvPr id="1" name=""/>
        <p:cNvGrpSpPr/>
        <p:nvPr/>
      </p:nvGrpSpPr>
      <p:grpSpPr>
        <a:xfrm>
          <a:off x="0" y="0"/>
          <a:ext cx="0" cy="0"/>
          <a:chOff x="0" y="0"/>
          <a:chExt cx="0" cy="0"/>
        </a:xfrm>
      </p:grpSpPr>
      <p:sp>
        <p:nvSpPr>
          <p:cNvPr id="2" name="Shape 0"/>
          <p:cNvSpPr/>
          <p:nvPr/>
        </p:nvSpPr>
        <p:spPr>
          <a:xfrm>
            <a:off x="548640" y="347472"/>
            <a:ext cx="1280160" cy="329184"/>
          </a:xfrm>
          <a:prstGeom prst="roundRect">
            <a:avLst>
              <a:gd name="adj" fmla="val 50000"/>
            </a:avLst>
          </a:prstGeom>
          <a:solidFill>
            <a:srgbClr val="E4ECF2"/>
          </a:solidFill>
          <a:ln w="12700">
            <a:solidFill>
              <a:srgbClr val="E4ECF2"/>
            </a:solidFill>
            <a:prstDash val="solid"/>
          </a:ln>
        </p:spPr>
      </p:sp>
      <p:sp>
        <p:nvSpPr>
          <p:cNvPr id="3" name="Text 1"/>
          <p:cNvSpPr txBox="1"/>
          <p:nvPr/>
        </p:nvSpPr>
        <p:spPr>
          <a:xfrm>
            <a:off x="548640" y="347472"/>
            <a:ext cx="1280160" cy="329184"/>
          </a:xfrm>
          <a:prstGeom prst="rect">
            <a:avLst/>
          </a:prstGeom>
          <a:noFill/>
          <a:ln/>
        </p:spPr>
        <p:txBody>
          <a:bodyPr wrap="square" lIns="0" tIns="0" rIns="0" bIns="0" rtlCol="0" anchor="ctr"/>
          <a:lstStyle/>
          <a:p>
            <a:pPr algn="ctr" indent="0" marL="0">
              <a:buNone/>
            </a:pPr>
            <a:r>
              <a:rPr lang="en-US" sz="1200" b="1" dirty="0">
                <a:solidFill>
                  <a:srgbClr val="23405A"/>
                </a:solidFill>
                <a:latin typeface="Calibri" pitchFamily="34" charset="0"/>
                <a:ea typeface="Calibri" pitchFamily="34" charset="-122"/>
                <a:cs typeface="Calibri" pitchFamily="34" charset="-120"/>
              </a:rPr>
              <a:t>Conclusion</a:t>
            </a:r>
            <a:endParaRPr lang="en-US" sz="1200" dirty="0"/>
          </a:p>
        </p:txBody>
      </p:sp>
      <p:sp>
        <p:nvSpPr>
          <p:cNvPr id="4" name="Text 2"/>
          <p:cNvSpPr txBox="1"/>
          <p:nvPr/>
        </p:nvSpPr>
        <p:spPr>
          <a:xfrm>
            <a:off x="548640" y="749808"/>
            <a:ext cx="11064240" cy="640080"/>
          </a:xfrm>
          <a:prstGeom prst="rect">
            <a:avLst/>
          </a:prstGeom>
          <a:noFill/>
          <a:ln/>
        </p:spPr>
        <p:txBody>
          <a:bodyPr wrap="square" lIns="0" tIns="0" rIns="0" bIns="0" rtlCol="0" anchor="ctr"/>
          <a:lstStyle/>
          <a:p>
            <a:pPr indent="0" marL="0">
              <a:buNone/>
            </a:pPr>
            <a:r>
              <a:rPr lang="en-US" sz="2800" b="1" dirty="0">
                <a:solidFill>
                  <a:srgbClr val="23405A"/>
                </a:solidFill>
                <a:latin typeface="Calibri" pitchFamily="34" charset="0"/>
                <a:ea typeface="Calibri" pitchFamily="34" charset="-122"/>
                <a:cs typeface="Calibri" pitchFamily="34" charset="-120"/>
              </a:rPr>
              <a:t>Exercise scorecard: success criteria</a:t>
            </a:r>
            <a:endParaRPr lang="en-US" sz="2800" dirty="0"/>
          </a:p>
        </p:txBody>
      </p:sp>
      <p:sp>
        <p:nvSpPr>
          <p:cNvPr id="5" name="Shape 3"/>
          <p:cNvSpPr/>
          <p:nvPr/>
        </p:nvSpPr>
        <p:spPr>
          <a:xfrm>
            <a:off x="548640" y="1600200"/>
            <a:ext cx="3520440" cy="4572000"/>
          </a:xfrm>
          <a:prstGeom prst="roundRect">
            <a:avLst>
              <a:gd name="adj" fmla="val 3636"/>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6" name="Shape 4"/>
          <p:cNvSpPr/>
          <p:nvPr/>
        </p:nvSpPr>
        <p:spPr>
          <a:xfrm>
            <a:off x="777240" y="1828800"/>
            <a:ext cx="2843784" cy="329184"/>
          </a:xfrm>
          <a:prstGeom prst="roundRect">
            <a:avLst>
              <a:gd name="adj" fmla="val 50000"/>
            </a:avLst>
          </a:prstGeom>
          <a:solidFill>
            <a:srgbClr val="F1F6FA"/>
          </a:solidFill>
          <a:ln w="12700">
            <a:solidFill>
              <a:srgbClr val="F1F6FA"/>
            </a:solidFill>
            <a:prstDash val="solid"/>
          </a:ln>
        </p:spPr>
      </p:sp>
      <p:sp>
        <p:nvSpPr>
          <p:cNvPr id="7" name="Text 5"/>
          <p:cNvSpPr txBox="1"/>
          <p:nvPr/>
        </p:nvSpPr>
        <p:spPr>
          <a:xfrm>
            <a:off x="777240" y="1828800"/>
            <a:ext cx="2843784" cy="329184"/>
          </a:xfrm>
          <a:prstGeom prst="rect">
            <a:avLst/>
          </a:prstGeom>
          <a:noFill/>
          <a:ln/>
        </p:spPr>
        <p:txBody>
          <a:bodyPr wrap="square" lIns="0" tIns="0" rIns="0" bIns="0" rtlCol="0" anchor="ctr"/>
          <a:lstStyle/>
          <a:p>
            <a:pPr algn="ctr" indent="0" marL="0">
              <a:buNone/>
            </a:pPr>
            <a:r>
              <a:rPr lang="en-US" sz="1200" b="1" dirty="0">
                <a:solidFill>
                  <a:srgbClr val="3F6E8C"/>
                </a:solidFill>
                <a:latin typeface="Calibri" pitchFamily="34" charset="0"/>
                <a:ea typeface="Calibri" pitchFamily="34" charset="-122"/>
                <a:cs typeface="Calibri" pitchFamily="34" charset="-120"/>
              </a:rPr>
              <a:t>Scenario 1: Incident Response</a:t>
            </a:r>
            <a:endParaRPr lang="en-US" sz="1200" dirty="0"/>
          </a:p>
        </p:txBody>
      </p:sp>
      <p:sp>
        <p:nvSpPr>
          <p:cNvPr id="8" name="Text 6"/>
          <p:cNvSpPr txBox="1"/>
          <p:nvPr/>
        </p:nvSpPr>
        <p:spPr>
          <a:xfrm>
            <a:off x="2423160" y="2331720"/>
            <a:ext cx="530352" cy="274320"/>
          </a:xfrm>
          <a:prstGeom prst="rect">
            <a:avLst/>
          </a:prstGeom>
          <a:noFill/>
          <a:ln/>
        </p:spPr>
        <p:txBody>
          <a:bodyPr wrap="square" lIns="0" tIns="0" rIns="0" bIns="0" rtlCol="0" anchor="t"/>
          <a:lstStyle/>
          <a:p>
            <a:pPr algn="ctr" indent="0" marL="0">
              <a:buNone/>
            </a:pPr>
            <a:r>
              <a:rPr lang="en-US" sz="1200" b="1" dirty="0">
                <a:solidFill>
                  <a:srgbClr val="465A69"/>
                </a:solidFill>
                <a:latin typeface="Calibri" pitchFamily="34" charset="0"/>
                <a:ea typeface="Calibri" pitchFamily="34" charset="-122"/>
                <a:cs typeface="Calibri" pitchFamily="34" charset="-120"/>
              </a:rPr>
              <a:t>Met</a:t>
            </a:r>
            <a:endParaRPr lang="en-US" sz="1200" dirty="0"/>
          </a:p>
        </p:txBody>
      </p:sp>
      <p:sp>
        <p:nvSpPr>
          <p:cNvPr id="9" name="Text 7"/>
          <p:cNvSpPr txBox="1"/>
          <p:nvPr/>
        </p:nvSpPr>
        <p:spPr>
          <a:xfrm>
            <a:off x="2953512" y="2331720"/>
            <a:ext cx="530352" cy="274320"/>
          </a:xfrm>
          <a:prstGeom prst="rect">
            <a:avLst/>
          </a:prstGeom>
          <a:noFill/>
          <a:ln/>
        </p:spPr>
        <p:txBody>
          <a:bodyPr wrap="square" lIns="0" tIns="0" rIns="0" bIns="0" rtlCol="0" anchor="t"/>
          <a:lstStyle/>
          <a:p>
            <a:pPr algn="ctr" indent="0" marL="0">
              <a:buNone/>
            </a:pPr>
            <a:r>
              <a:rPr lang="en-US" sz="1200" b="1" dirty="0">
                <a:solidFill>
                  <a:srgbClr val="465A69"/>
                </a:solidFill>
                <a:latin typeface="Calibri" pitchFamily="34" charset="0"/>
                <a:ea typeface="Calibri" pitchFamily="34" charset="-122"/>
                <a:cs typeface="Calibri" pitchFamily="34" charset="-120"/>
              </a:rPr>
              <a:t>Partial</a:t>
            </a:r>
            <a:endParaRPr lang="en-US" sz="1200" dirty="0"/>
          </a:p>
        </p:txBody>
      </p:sp>
      <p:sp>
        <p:nvSpPr>
          <p:cNvPr id="10" name="Text 8"/>
          <p:cNvSpPr txBox="1"/>
          <p:nvPr/>
        </p:nvSpPr>
        <p:spPr>
          <a:xfrm>
            <a:off x="3483864" y="2331720"/>
            <a:ext cx="530352" cy="274320"/>
          </a:xfrm>
          <a:prstGeom prst="rect">
            <a:avLst/>
          </a:prstGeom>
          <a:noFill/>
          <a:ln/>
        </p:spPr>
        <p:txBody>
          <a:bodyPr wrap="square" lIns="0" tIns="0" rIns="0" bIns="0" rtlCol="0" anchor="t"/>
          <a:lstStyle/>
          <a:p>
            <a:pPr algn="ctr" indent="0" marL="0">
              <a:buNone/>
            </a:pPr>
            <a:r>
              <a:rPr lang="en-US" sz="1200" b="1" dirty="0">
                <a:solidFill>
                  <a:srgbClr val="465A69"/>
                </a:solidFill>
                <a:latin typeface="Calibri" pitchFamily="34" charset="0"/>
                <a:ea typeface="Calibri" pitchFamily="34" charset="-122"/>
                <a:cs typeface="Calibri" pitchFamily="34" charset="-120"/>
              </a:rPr>
              <a:t>Gap</a:t>
            </a:r>
            <a:endParaRPr lang="en-US" sz="1200" dirty="0"/>
          </a:p>
        </p:txBody>
      </p:sp>
      <p:sp>
        <p:nvSpPr>
          <p:cNvPr id="11" name="Text 9"/>
          <p:cNvSpPr txBox="1"/>
          <p:nvPr/>
        </p:nvSpPr>
        <p:spPr>
          <a:xfrm>
            <a:off x="777240" y="2697480"/>
            <a:ext cx="1645920" cy="658368"/>
          </a:xfrm>
          <a:prstGeom prst="rect">
            <a:avLst/>
          </a:prstGeom>
          <a:noFill/>
          <a:ln/>
        </p:spPr>
        <p:txBody>
          <a:bodyPr wrap="square" lIns="0" tIns="0" rIns="0" bIns="0" rtlCol="0" anchor="t"/>
          <a:lstStyle/>
          <a:p>
            <a:pPr indent="0" marL="0">
              <a:buNone/>
            </a:pPr>
            <a:r>
              <a:rPr lang="en-US" sz="1200" dirty="0">
                <a:solidFill>
                  <a:srgbClr val="1E2E3A"/>
                </a:solidFill>
                <a:latin typeface="Calibri" pitchFamily="34" charset="0"/>
                <a:ea typeface="Calibri" pitchFamily="34" charset="-122"/>
                <a:cs typeface="Calibri" pitchFamily="34" charset="-120"/>
              </a:rPr>
              <a:t>Incident declared within defined threshold</a:t>
            </a:r>
            <a:endParaRPr lang="en-US" sz="1200" dirty="0"/>
          </a:p>
        </p:txBody>
      </p:sp>
      <p:sp>
        <p:nvSpPr>
          <p:cNvPr id="12" name="Shape 10"/>
          <p:cNvSpPr/>
          <p:nvPr/>
        </p:nvSpPr>
        <p:spPr>
          <a:xfrm>
            <a:off x="2578608" y="2734056"/>
            <a:ext cx="219456" cy="219456"/>
          </a:xfrm>
          <a:prstGeom prst="roundRect">
            <a:avLst>
              <a:gd name="adj" fmla="val 20833"/>
            </a:avLst>
          </a:prstGeom>
          <a:solidFill>
            <a:srgbClr val="FFFFFF"/>
          </a:solidFill>
          <a:ln w="12700">
            <a:solidFill>
              <a:srgbClr val="3F6E8C"/>
            </a:solidFill>
            <a:prstDash val="solid"/>
          </a:ln>
        </p:spPr>
      </p:sp>
      <p:sp>
        <p:nvSpPr>
          <p:cNvPr id="13" name="Shape 11"/>
          <p:cNvSpPr/>
          <p:nvPr/>
        </p:nvSpPr>
        <p:spPr>
          <a:xfrm>
            <a:off x="3108960" y="2734056"/>
            <a:ext cx="219456" cy="219456"/>
          </a:xfrm>
          <a:prstGeom prst="roundRect">
            <a:avLst>
              <a:gd name="adj" fmla="val 20833"/>
            </a:avLst>
          </a:prstGeom>
          <a:solidFill>
            <a:srgbClr val="FFFFFF"/>
          </a:solidFill>
          <a:ln w="12700">
            <a:solidFill>
              <a:srgbClr val="3F6E8C"/>
            </a:solidFill>
            <a:prstDash val="solid"/>
          </a:ln>
        </p:spPr>
      </p:sp>
      <p:sp>
        <p:nvSpPr>
          <p:cNvPr id="14" name="Shape 12"/>
          <p:cNvSpPr/>
          <p:nvPr/>
        </p:nvSpPr>
        <p:spPr>
          <a:xfrm>
            <a:off x="3639312" y="2734056"/>
            <a:ext cx="219456" cy="219456"/>
          </a:xfrm>
          <a:prstGeom prst="roundRect">
            <a:avLst>
              <a:gd name="adj" fmla="val 20833"/>
            </a:avLst>
          </a:prstGeom>
          <a:solidFill>
            <a:srgbClr val="FFFFFF"/>
          </a:solidFill>
          <a:ln w="12700">
            <a:solidFill>
              <a:srgbClr val="3F6E8C"/>
            </a:solidFill>
            <a:prstDash val="solid"/>
          </a:ln>
        </p:spPr>
      </p:sp>
      <p:sp>
        <p:nvSpPr>
          <p:cNvPr id="15" name="Text 13"/>
          <p:cNvSpPr txBox="1"/>
          <p:nvPr/>
        </p:nvSpPr>
        <p:spPr>
          <a:xfrm>
            <a:off x="777240" y="3374136"/>
            <a:ext cx="1645920" cy="658368"/>
          </a:xfrm>
          <a:prstGeom prst="rect">
            <a:avLst/>
          </a:prstGeom>
          <a:noFill/>
          <a:ln/>
        </p:spPr>
        <p:txBody>
          <a:bodyPr wrap="square" lIns="0" tIns="0" rIns="0" bIns="0" rtlCol="0" anchor="t"/>
          <a:lstStyle/>
          <a:p>
            <a:pPr indent="0" marL="0">
              <a:buNone/>
            </a:pPr>
            <a:r>
              <a:rPr lang="en-US" sz="1200" dirty="0">
                <a:solidFill>
                  <a:srgbClr val="1E2E3A"/>
                </a:solidFill>
                <a:latin typeface="Calibri" pitchFamily="34" charset="0"/>
                <a:ea typeface="Calibri" pitchFamily="34" charset="-122"/>
                <a:cs typeface="Calibri" pitchFamily="34" charset="-120"/>
              </a:rPr>
              <a:t>Executive communications activated</a:t>
            </a:r>
            <a:endParaRPr lang="en-US" sz="1200" dirty="0"/>
          </a:p>
        </p:txBody>
      </p:sp>
      <p:sp>
        <p:nvSpPr>
          <p:cNvPr id="16" name="Shape 14"/>
          <p:cNvSpPr/>
          <p:nvPr/>
        </p:nvSpPr>
        <p:spPr>
          <a:xfrm>
            <a:off x="2578608" y="3410712"/>
            <a:ext cx="219456" cy="219456"/>
          </a:xfrm>
          <a:prstGeom prst="roundRect">
            <a:avLst>
              <a:gd name="adj" fmla="val 20833"/>
            </a:avLst>
          </a:prstGeom>
          <a:solidFill>
            <a:srgbClr val="FFFFFF"/>
          </a:solidFill>
          <a:ln w="12700">
            <a:solidFill>
              <a:srgbClr val="3F6E8C"/>
            </a:solidFill>
            <a:prstDash val="solid"/>
          </a:ln>
        </p:spPr>
      </p:sp>
      <p:sp>
        <p:nvSpPr>
          <p:cNvPr id="17" name="Shape 15"/>
          <p:cNvSpPr/>
          <p:nvPr/>
        </p:nvSpPr>
        <p:spPr>
          <a:xfrm>
            <a:off x="3108960" y="3410712"/>
            <a:ext cx="219456" cy="219456"/>
          </a:xfrm>
          <a:prstGeom prst="roundRect">
            <a:avLst>
              <a:gd name="adj" fmla="val 20833"/>
            </a:avLst>
          </a:prstGeom>
          <a:solidFill>
            <a:srgbClr val="FFFFFF"/>
          </a:solidFill>
          <a:ln w="12700">
            <a:solidFill>
              <a:srgbClr val="3F6E8C"/>
            </a:solidFill>
            <a:prstDash val="solid"/>
          </a:ln>
        </p:spPr>
      </p:sp>
      <p:sp>
        <p:nvSpPr>
          <p:cNvPr id="18" name="Shape 16"/>
          <p:cNvSpPr/>
          <p:nvPr/>
        </p:nvSpPr>
        <p:spPr>
          <a:xfrm>
            <a:off x="3639312" y="3410712"/>
            <a:ext cx="219456" cy="219456"/>
          </a:xfrm>
          <a:prstGeom prst="roundRect">
            <a:avLst>
              <a:gd name="adj" fmla="val 20833"/>
            </a:avLst>
          </a:prstGeom>
          <a:solidFill>
            <a:srgbClr val="FFFFFF"/>
          </a:solidFill>
          <a:ln w="12700">
            <a:solidFill>
              <a:srgbClr val="3F6E8C"/>
            </a:solidFill>
            <a:prstDash val="solid"/>
          </a:ln>
        </p:spPr>
      </p:sp>
      <p:sp>
        <p:nvSpPr>
          <p:cNvPr id="19" name="Text 17"/>
          <p:cNvSpPr txBox="1"/>
          <p:nvPr/>
        </p:nvSpPr>
        <p:spPr>
          <a:xfrm>
            <a:off x="777240" y="4050792"/>
            <a:ext cx="1645920" cy="658368"/>
          </a:xfrm>
          <a:prstGeom prst="rect">
            <a:avLst/>
          </a:prstGeom>
          <a:noFill/>
          <a:ln/>
        </p:spPr>
        <p:txBody>
          <a:bodyPr wrap="square" lIns="0" tIns="0" rIns="0" bIns="0" rtlCol="0" anchor="t"/>
          <a:lstStyle/>
          <a:p>
            <a:pPr indent="0" marL="0">
              <a:buNone/>
            </a:pPr>
            <a:r>
              <a:rPr lang="en-US" sz="1200" dirty="0">
                <a:solidFill>
                  <a:srgbClr val="1E2E3A"/>
                </a:solidFill>
                <a:latin typeface="Calibri" pitchFamily="34" charset="0"/>
                <a:ea typeface="Calibri" pitchFamily="34" charset="-122"/>
                <a:cs typeface="Calibri" pitchFamily="34" charset="-120"/>
              </a:rPr>
              <a:t>Forensic preservation initiated</a:t>
            </a:r>
            <a:endParaRPr lang="en-US" sz="1200" dirty="0"/>
          </a:p>
        </p:txBody>
      </p:sp>
      <p:sp>
        <p:nvSpPr>
          <p:cNvPr id="20" name="Shape 18"/>
          <p:cNvSpPr/>
          <p:nvPr/>
        </p:nvSpPr>
        <p:spPr>
          <a:xfrm>
            <a:off x="2578608" y="4087368"/>
            <a:ext cx="219456" cy="219456"/>
          </a:xfrm>
          <a:prstGeom prst="roundRect">
            <a:avLst>
              <a:gd name="adj" fmla="val 20833"/>
            </a:avLst>
          </a:prstGeom>
          <a:solidFill>
            <a:srgbClr val="FFFFFF"/>
          </a:solidFill>
          <a:ln w="12700">
            <a:solidFill>
              <a:srgbClr val="3F6E8C"/>
            </a:solidFill>
            <a:prstDash val="solid"/>
          </a:ln>
        </p:spPr>
      </p:sp>
      <p:sp>
        <p:nvSpPr>
          <p:cNvPr id="21" name="Shape 19"/>
          <p:cNvSpPr/>
          <p:nvPr/>
        </p:nvSpPr>
        <p:spPr>
          <a:xfrm>
            <a:off x="3108960" y="4087368"/>
            <a:ext cx="219456" cy="219456"/>
          </a:xfrm>
          <a:prstGeom prst="roundRect">
            <a:avLst>
              <a:gd name="adj" fmla="val 20833"/>
            </a:avLst>
          </a:prstGeom>
          <a:solidFill>
            <a:srgbClr val="FFFFFF"/>
          </a:solidFill>
          <a:ln w="12700">
            <a:solidFill>
              <a:srgbClr val="3F6E8C"/>
            </a:solidFill>
            <a:prstDash val="solid"/>
          </a:ln>
        </p:spPr>
      </p:sp>
      <p:sp>
        <p:nvSpPr>
          <p:cNvPr id="22" name="Shape 20"/>
          <p:cNvSpPr/>
          <p:nvPr/>
        </p:nvSpPr>
        <p:spPr>
          <a:xfrm>
            <a:off x="3639312" y="4087368"/>
            <a:ext cx="219456" cy="219456"/>
          </a:xfrm>
          <a:prstGeom prst="roundRect">
            <a:avLst>
              <a:gd name="adj" fmla="val 20833"/>
            </a:avLst>
          </a:prstGeom>
          <a:solidFill>
            <a:srgbClr val="FFFFFF"/>
          </a:solidFill>
          <a:ln w="12700">
            <a:solidFill>
              <a:srgbClr val="3F6E8C"/>
            </a:solidFill>
            <a:prstDash val="solid"/>
          </a:ln>
        </p:spPr>
      </p:sp>
      <p:sp>
        <p:nvSpPr>
          <p:cNvPr id="23" name="Text 21"/>
          <p:cNvSpPr txBox="1"/>
          <p:nvPr/>
        </p:nvSpPr>
        <p:spPr>
          <a:xfrm>
            <a:off x="777240" y="4727448"/>
            <a:ext cx="1645920" cy="658368"/>
          </a:xfrm>
          <a:prstGeom prst="rect">
            <a:avLst/>
          </a:prstGeom>
          <a:noFill/>
          <a:ln/>
        </p:spPr>
        <p:txBody>
          <a:bodyPr wrap="square" lIns="0" tIns="0" rIns="0" bIns="0" rtlCol="0" anchor="t"/>
          <a:lstStyle/>
          <a:p>
            <a:pPr indent="0" marL="0">
              <a:buNone/>
            </a:pPr>
            <a:r>
              <a:rPr lang="en-US" sz="1200" dirty="0">
                <a:solidFill>
                  <a:srgbClr val="1E2E3A"/>
                </a:solidFill>
                <a:latin typeface="Calibri" pitchFamily="34" charset="0"/>
                <a:ea typeface="Calibri" pitchFamily="34" charset="-122"/>
                <a:cs typeface="Calibri" pitchFamily="34" charset="-120"/>
              </a:rPr>
              <a:t>Materiality assessment performed</a:t>
            </a:r>
            <a:endParaRPr lang="en-US" sz="1200" dirty="0"/>
          </a:p>
        </p:txBody>
      </p:sp>
      <p:sp>
        <p:nvSpPr>
          <p:cNvPr id="24" name="Shape 22"/>
          <p:cNvSpPr/>
          <p:nvPr/>
        </p:nvSpPr>
        <p:spPr>
          <a:xfrm>
            <a:off x="2578608" y="4764024"/>
            <a:ext cx="219456" cy="219456"/>
          </a:xfrm>
          <a:prstGeom prst="roundRect">
            <a:avLst>
              <a:gd name="adj" fmla="val 20833"/>
            </a:avLst>
          </a:prstGeom>
          <a:solidFill>
            <a:srgbClr val="FFFFFF"/>
          </a:solidFill>
          <a:ln w="12700">
            <a:solidFill>
              <a:srgbClr val="3F6E8C"/>
            </a:solidFill>
            <a:prstDash val="solid"/>
          </a:ln>
        </p:spPr>
      </p:sp>
      <p:sp>
        <p:nvSpPr>
          <p:cNvPr id="25" name="Shape 23"/>
          <p:cNvSpPr/>
          <p:nvPr/>
        </p:nvSpPr>
        <p:spPr>
          <a:xfrm>
            <a:off x="3108960" y="4764024"/>
            <a:ext cx="219456" cy="219456"/>
          </a:xfrm>
          <a:prstGeom prst="roundRect">
            <a:avLst>
              <a:gd name="adj" fmla="val 20833"/>
            </a:avLst>
          </a:prstGeom>
          <a:solidFill>
            <a:srgbClr val="FFFFFF"/>
          </a:solidFill>
          <a:ln w="12700">
            <a:solidFill>
              <a:srgbClr val="3F6E8C"/>
            </a:solidFill>
            <a:prstDash val="solid"/>
          </a:ln>
        </p:spPr>
      </p:sp>
      <p:sp>
        <p:nvSpPr>
          <p:cNvPr id="26" name="Shape 24"/>
          <p:cNvSpPr/>
          <p:nvPr/>
        </p:nvSpPr>
        <p:spPr>
          <a:xfrm>
            <a:off x="3639312" y="4764024"/>
            <a:ext cx="219456" cy="219456"/>
          </a:xfrm>
          <a:prstGeom prst="roundRect">
            <a:avLst>
              <a:gd name="adj" fmla="val 20833"/>
            </a:avLst>
          </a:prstGeom>
          <a:solidFill>
            <a:srgbClr val="FFFFFF"/>
          </a:solidFill>
          <a:ln w="12700">
            <a:solidFill>
              <a:srgbClr val="3F6E8C"/>
            </a:solidFill>
            <a:prstDash val="solid"/>
          </a:ln>
        </p:spPr>
      </p:sp>
      <p:sp>
        <p:nvSpPr>
          <p:cNvPr id="27" name="Text 25"/>
          <p:cNvSpPr txBox="1"/>
          <p:nvPr/>
        </p:nvSpPr>
        <p:spPr>
          <a:xfrm>
            <a:off x="777240" y="5404104"/>
            <a:ext cx="1645920" cy="658368"/>
          </a:xfrm>
          <a:prstGeom prst="rect">
            <a:avLst/>
          </a:prstGeom>
          <a:noFill/>
          <a:ln/>
        </p:spPr>
        <p:txBody>
          <a:bodyPr wrap="square" lIns="0" tIns="0" rIns="0" bIns="0" rtlCol="0" anchor="t"/>
          <a:lstStyle/>
          <a:p>
            <a:pPr indent="0" marL="0">
              <a:buNone/>
            </a:pPr>
            <a:r>
              <a:rPr lang="en-US" sz="1200" dirty="0">
                <a:solidFill>
                  <a:srgbClr val="1E2E3A"/>
                </a:solidFill>
                <a:latin typeface="Calibri" pitchFamily="34" charset="0"/>
                <a:ea typeface="Calibri" pitchFamily="34" charset="-122"/>
                <a:cs typeface="Calibri" pitchFamily="34" charset="-120"/>
              </a:rPr>
              <a:t>Regulatory obligations evaluated</a:t>
            </a:r>
            <a:endParaRPr lang="en-US" sz="1200" dirty="0"/>
          </a:p>
        </p:txBody>
      </p:sp>
      <p:sp>
        <p:nvSpPr>
          <p:cNvPr id="28" name="Shape 26"/>
          <p:cNvSpPr/>
          <p:nvPr/>
        </p:nvSpPr>
        <p:spPr>
          <a:xfrm>
            <a:off x="2578608" y="5440680"/>
            <a:ext cx="219456" cy="219456"/>
          </a:xfrm>
          <a:prstGeom prst="roundRect">
            <a:avLst>
              <a:gd name="adj" fmla="val 20833"/>
            </a:avLst>
          </a:prstGeom>
          <a:solidFill>
            <a:srgbClr val="FFFFFF"/>
          </a:solidFill>
          <a:ln w="12700">
            <a:solidFill>
              <a:srgbClr val="3F6E8C"/>
            </a:solidFill>
            <a:prstDash val="solid"/>
          </a:ln>
        </p:spPr>
      </p:sp>
      <p:sp>
        <p:nvSpPr>
          <p:cNvPr id="29" name="Shape 27"/>
          <p:cNvSpPr/>
          <p:nvPr/>
        </p:nvSpPr>
        <p:spPr>
          <a:xfrm>
            <a:off x="3108960" y="5440680"/>
            <a:ext cx="219456" cy="219456"/>
          </a:xfrm>
          <a:prstGeom prst="roundRect">
            <a:avLst>
              <a:gd name="adj" fmla="val 20833"/>
            </a:avLst>
          </a:prstGeom>
          <a:solidFill>
            <a:srgbClr val="FFFFFF"/>
          </a:solidFill>
          <a:ln w="12700">
            <a:solidFill>
              <a:srgbClr val="3F6E8C"/>
            </a:solidFill>
            <a:prstDash val="solid"/>
          </a:ln>
        </p:spPr>
      </p:sp>
      <p:sp>
        <p:nvSpPr>
          <p:cNvPr id="30" name="Shape 28"/>
          <p:cNvSpPr/>
          <p:nvPr/>
        </p:nvSpPr>
        <p:spPr>
          <a:xfrm>
            <a:off x="3639312" y="5440680"/>
            <a:ext cx="219456" cy="219456"/>
          </a:xfrm>
          <a:prstGeom prst="roundRect">
            <a:avLst>
              <a:gd name="adj" fmla="val 20833"/>
            </a:avLst>
          </a:prstGeom>
          <a:solidFill>
            <a:srgbClr val="FFFFFF"/>
          </a:solidFill>
          <a:ln w="12700">
            <a:solidFill>
              <a:srgbClr val="3F6E8C"/>
            </a:solidFill>
            <a:prstDash val="solid"/>
          </a:ln>
        </p:spPr>
      </p:sp>
      <p:sp>
        <p:nvSpPr>
          <p:cNvPr id="31" name="Shape 29"/>
          <p:cNvSpPr/>
          <p:nvPr/>
        </p:nvSpPr>
        <p:spPr>
          <a:xfrm>
            <a:off x="4370832" y="1600200"/>
            <a:ext cx="3520440" cy="4572000"/>
          </a:xfrm>
          <a:prstGeom prst="roundRect">
            <a:avLst>
              <a:gd name="adj" fmla="val 3636"/>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32" name="Shape 30"/>
          <p:cNvSpPr/>
          <p:nvPr/>
        </p:nvSpPr>
        <p:spPr>
          <a:xfrm>
            <a:off x="4599432" y="1828800"/>
            <a:ext cx="2843784" cy="329184"/>
          </a:xfrm>
          <a:prstGeom prst="roundRect">
            <a:avLst>
              <a:gd name="adj" fmla="val 50000"/>
            </a:avLst>
          </a:prstGeom>
          <a:solidFill>
            <a:srgbClr val="F1F8F3"/>
          </a:solidFill>
          <a:ln w="12700">
            <a:solidFill>
              <a:srgbClr val="F1F8F3"/>
            </a:solidFill>
            <a:prstDash val="solid"/>
          </a:ln>
        </p:spPr>
      </p:sp>
      <p:sp>
        <p:nvSpPr>
          <p:cNvPr id="33" name="Text 31"/>
          <p:cNvSpPr txBox="1"/>
          <p:nvPr/>
        </p:nvSpPr>
        <p:spPr>
          <a:xfrm>
            <a:off x="4599432" y="1828800"/>
            <a:ext cx="2843784" cy="329184"/>
          </a:xfrm>
          <a:prstGeom prst="rect">
            <a:avLst/>
          </a:prstGeom>
          <a:noFill/>
          <a:ln/>
        </p:spPr>
        <p:txBody>
          <a:bodyPr wrap="square" lIns="0" tIns="0" rIns="0" bIns="0" rtlCol="0" anchor="ctr"/>
          <a:lstStyle/>
          <a:p>
            <a:pPr algn="ctr" indent="0" marL="0">
              <a:buNone/>
            </a:pPr>
            <a:r>
              <a:rPr lang="en-US" sz="1200" b="1" dirty="0">
                <a:solidFill>
                  <a:srgbClr val="4C8068"/>
                </a:solidFill>
                <a:latin typeface="Calibri" pitchFamily="34" charset="0"/>
                <a:ea typeface="Calibri" pitchFamily="34" charset="-122"/>
                <a:cs typeface="Calibri" pitchFamily="34" charset="-120"/>
              </a:rPr>
              <a:t>Scenario 2: Disaster Recovery</a:t>
            </a:r>
            <a:endParaRPr lang="en-US" sz="1200" dirty="0"/>
          </a:p>
        </p:txBody>
      </p:sp>
      <p:sp>
        <p:nvSpPr>
          <p:cNvPr id="34" name="Text 32"/>
          <p:cNvSpPr txBox="1"/>
          <p:nvPr/>
        </p:nvSpPr>
        <p:spPr>
          <a:xfrm>
            <a:off x="6245352" y="2331720"/>
            <a:ext cx="530352" cy="274320"/>
          </a:xfrm>
          <a:prstGeom prst="rect">
            <a:avLst/>
          </a:prstGeom>
          <a:noFill/>
          <a:ln/>
        </p:spPr>
        <p:txBody>
          <a:bodyPr wrap="square" lIns="0" tIns="0" rIns="0" bIns="0" rtlCol="0" anchor="t"/>
          <a:lstStyle/>
          <a:p>
            <a:pPr algn="ctr" indent="0" marL="0">
              <a:buNone/>
            </a:pPr>
            <a:r>
              <a:rPr lang="en-US" sz="1200" b="1" dirty="0">
                <a:solidFill>
                  <a:srgbClr val="465A69"/>
                </a:solidFill>
                <a:latin typeface="Calibri" pitchFamily="34" charset="0"/>
                <a:ea typeface="Calibri" pitchFamily="34" charset="-122"/>
                <a:cs typeface="Calibri" pitchFamily="34" charset="-120"/>
              </a:rPr>
              <a:t>Met</a:t>
            </a:r>
            <a:endParaRPr lang="en-US" sz="1200" dirty="0"/>
          </a:p>
        </p:txBody>
      </p:sp>
      <p:sp>
        <p:nvSpPr>
          <p:cNvPr id="35" name="Text 33"/>
          <p:cNvSpPr txBox="1"/>
          <p:nvPr/>
        </p:nvSpPr>
        <p:spPr>
          <a:xfrm>
            <a:off x="6775704" y="2331720"/>
            <a:ext cx="530352" cy="274320"/>
          </a:xfrm>
          <a:prstGeom prst="rect">
            <a:avLst/>
          </a:prstGeom>
          <a:noFill/>
          <a:ln/>
        </p:spPr>
        <p:txBody>
          <a:bodyPr wrap="square" lIns="0" tIns="0" rIns="0" bIns="0" rtlCol="0" anchor="t"/>
          <a:lstStyle/>
          <a:p>
            <a:pPr algn="ctr" indent="0" marL="0">
              <a:buNone/>
            </a:pPr>
            <a:r>
              <a:rPr lang="en-US" sz="1200" b="1" dirty="0">
                <a:solidFill>
                  <a:srgbClr val="465A69"/>
                </a:solidFill>
                <a:latin typeface="Calibri" pitchFamily="34" charset="0"/>
                <a:ea typeface="Calibri" pitchFamily="34" charset="-122"/>
                <a:cs typeface="Calibri" pitchFamily="34" charset="-120"/>
              </a:rPr>
              <a:t>Partial</a:t>
            </a:r>
            <a:endParaRPr lang="en-US" sz="1200" dirty="0"/>
          </a:p>
        </p:txBody>
      </p:sp>
      <p:sp>
        <p:nvSpPr>
          <p:cNvPr id="36" name="Text 34"/>
          <p:cNvSpPr txBox="1"/>
          <p:nvPr/>
        </p:nvSpPr>
        <p:spPr>
          <a:xfrm>
            <a:off x="7306056" y="2331720"/>
            <a:ext cx="530352" cy="274320"/>
          </a:xfrm>
          <a:prstGeom prst="rect">
            <a:avLst/>
          </a:prstGeom>
          <a:noFill/>
          <a:ln/>
        </p:spPr>
        <p:txBody>
          <a:bodyPr wrap="square" lIns="0" tIns="0" rIns="0" bIns="0" rtlCol="0" anchor="t"/>
          <a:lstStyle/>
          <a:p>
            <a:pPr algn="ctr" indent="0" marL="0">
              <a:buNone/>
            </a:pPr>
            <a:r>
              <a:rPr lang="en-US" sz="1200" b="1" dirty="0">
                <a:solidFill>
                  <a:srgbClr val="465A69"/>
                </a:solidFill>
                <a:latin typeface="Calibri" pitchFamily="34" charset="0"/>
                <a:ea typeface="Calibri" pitchFamily="34" charset="-122"/>
                <a:cs typeface="Calibri" pitchFamily="34" charset="-120"/>
              </a:rPr>
              <a:t>Gap</a:t>
            </a:r>
            <a:endParaRPr lang="en-US" sz="1200" dirty="0"/>
          </a:p>
        </p:txBody>
      </p:sp>
      <p:sp>
        <p:nvSpPr>
          <p:cNvPr id="37" name="Text 35"/>
          <p:cNvSpPr txBox="1"/>
          <p:nvPr/>
        </p:nvSpPr>
        <p:spPr>
          <a:xfrm>
            <a:off x="4599432" y="2697480"/>
            <a:ext cx="1645920" cy="658368"/>
          </a:xfrm>
          <a:prstGeom prst="rect">
            <a:avLst/>
          </a:prstGeom>
          <a:noFill/>
          <a:ln/>
        </p:spPr>
        <p:txBody>
          <a:bodyPr wrap="square" lIns="0" tIns="0" rIns="0" bIns="0" rtlCol="0" anchor="t"/>
          <a:lstStyle/>
          <a:p>
            <a:pPr indent="0" marL="0">
              <a:buNone/>
            </a:pPr>
            <a:r>
              <a:rPr lang="en-US" sz="1200" dirty="0">
                <a:solidFill>
                  <a:srgbClr val="1E2E3A"/>
                </a:solidFill>
                <a:latin typeface="Calibri" pitchFamily="34" charset="0"/>
                <a:ea typeface="Calibri" pitchFamily="34" charset="-122"/>
                <a:cs typeface="Calibri" pitchFamily="34" charset="-120"/>
              </a:rPr>
              <a:t>DR declaration decision made</a:t>
            </a:r>
            <a:endParaRPr lang="en-US" sz="1200" dirty="0"/>
          </a:p>
        </p:txBody>
      </p:sp>
      <p:sp>
        <p:nvSpPr>
          <p:cNvPr id="38" name="Shape 36"/>
          <p:cNvSpPr/>
          <p:nvPr/>
        </p:nvSpPr>
        <p:spPr>
          <a:xfrm>
            <a:off x="6400800" y="2734056"/>
            <a:ext cx="219456" cy="219456"/>
          </a:xfrm>
          <a:prstGeom prst="roundRect">
            <a:avLst>
              <a:gd name="adj" fmla="val 20833"/>
            </a:avLst>
          </a:prstGeom>
          <a:solidFill>
            <a:srgbClr val="FFFFFF"/>
          </a:solidFill>
          <a:ln w="12700">
            <a:solidFill>
              <a:srgbClr val="4C8068"/>
            </a:solidFill>
            <a:prstDash val="solid"/>
          </a:ln>
        </p:spPr>
      </p:sp>
      <p:sp>
        <p:nvSpPr>
          <p:cNvPr id="39" name="Shape 37"/>
          <p:cNvSpPr/>
          <p:nvPr/>
        </p:nvSpPr>
        <p:spPr>
          <a:xfrm>
            <a:off x="6931152" y="2734056"/>
            <a:ext cx="219456" cy="219456"/>
          </a:xfrm>
          <a:prstGeom prst="roundRect">
            <a:avLst>
              <a:gd name="adj" fmla="val 20833"/>
            </a:avLst>
          </a:prstGeom>
          <a:solidFill>
            <a:srgbClr val="FFFFFF"/>
          </a:solidFill>
          <a:ln w="12700">
            <a:solidFill>
              <a:srgbClr val="4C8068"/>
            </a:solidFill>
            <a:prstDash val="solid"/>
          </a:ln>
        </p:spPr>
      </p:sp>
      <p:sp>
        <p:nvSpPr>
          <p:cNvPr id="40" name="Shape 38"/>
          <p:cNvSpPr/>
          <p:nvPr/>
        </p:nvSpPr>
        <p:spPr>
          <a:xfrm>
            <a:off x="7461504" y="2734056"/>
            <a:ext cx="219456" cy="219456"/>
          </a:xfrm>
          <a:prstGeom prst="roundRect">
            <a:avLst>
              <a:gd name="adj" fmla="val 20833"/>
            </a:avLst>
          </a:prstGeom>
          <a:solidFill>
            <a:srgbClr val="FFFFFF"/>
          </a:solidFill>
          <a:ln w="12700">
            <a:solidFill>
              <a:srgbClr val="4C8068"/>
            </a:solidFill>
            <a:prstDash val="solid"/>
          </a:ln>
        </p:spPr>
      </p:sp>
      <p:sp>
        <p:nvSpPr>
          <p:cNvPr id="41" name="Text 39"/>
          <p:cNvSpPr txBox="1"/>
          <p:nvPr/>
        </p:nvSpPr>
        <p:spPr>
          <a:xfrm>
            <a:off x="4599432" y="3374136"/>
            <a:ext cx="1645920" cy="658368"/>
          </a:xfrm>
          <a:prstGeom prst="rect">
            <a:avLst/>
          </a:prstGeom>
          <a:noFill/>
          <a:ln/>
        </p:spPr>
        <p:txBody>
          <a:bodyPr wrap="square" lIns="0" tIns="0" rIns="0" bIns="0" rtlCol="0" anchor="t"/>
          <a:lstStyle/>
          <a:p>
            <a:pPr indent="0" marL="0">
              <a:buNone/>
            </a:pPr>
            <a:r>
              <a:rPr lang="en-US" sz="1200" dirty="0">
                <a:solidFill>
                  <a:srgbClr val="1E2E3A"/>
                </a:solidFill>
                <a:latin typeface="Calibri" pitchFamily="34" charset="0"/>
                <a:ea typeface="Calibri" pitchFamily="34" charset="-122"/>
                <a:cs typeface="Calibri" pitchFamily="34" charset="-120"/>
              </a:rPr>
              <a:t>Alternate communications activated</a:t>
            </a:r>
            <a:endParaRPr lang="en-US" sz="1200" dirty="0"/>
          </a:p>
        </p:txBody>
      </p:sp>
      <p:sp>
        <p:nvSpPr>
          <p:cNvPr id="42" name="Shape 40"/>
          <p:cNvSpPr/>
          <p:nvPr/>
        </p:nvSpPr>
        <p:spPr>
          <a:xfrm>
            <a:off x="6400800" y="3410712"/>
            <a:ext cx="219456" cy="219456"/>
          </a:xfrm>
          <a:prstGeom prst="roundRect">
            <a:avLst>
              <a:gd name="adj" fmla="val 20833"/>
            </a:avLst>
          </a:prstGeom>
          <a:solidFill>
            <a:srgbClr val="FFFFFF"/>
          </a:solidFill>
          <a:ln w="12700">
            <a:solidFill>
              <a:srgbClr val="4C8068"/>
            </a:solidFill>
            <a:prstDash val="solid"/>
          </a:ln>
        </p:spPr>
      </p:sp>
      <p:sp>
        <p:nvSpPr>
          <p:cNvPr id="43" name="Shape 41"/>
          <p:cNvSpPr/>
          <p:nvPr/>
        </p:nvSpPr>
        <p:spPr>
          <a:xfrm>
            <a:off x="6931152" y="3410712"/>
            <a:ext cx="219456" cy="219456"/>
          </a:xfrm>
          <a:prstGeom prst="roundRect">
            <a:avLst>
              <a:gd name="adj" fmla="val 20833"/>
            </a:avLst>
          </a:prstGeom>
          <a:solidFill>
            <a:srgbClr val="FFFFFF"/>
          </a:solidFill>
          <a:ln w="12700">
            <a:solidFill>
              <a:srgbClr val="4C8068"/>
            </a:solidFill>
            <a:prstDash val="solid"/>
          </a:ln>
        </p:spPr>
      </p:sp>
      <p:sp>
        <p:nvSpPr>
          <p:cNvPr id="44" name="Shape 42"/>
          <p:cNvSpPr/>
          <p:nvPr/>
        </p:nvSpPr>
        <p:spPr>
          <a:xfrm>
            <a:off x="7461504" y="3410712"/>
            <a:ext cx="219456" cy="219456"/>
          </a:xfrm>
          <a:prstGeom prst="roundRect">
            <a:avLst>
              <a:gd name="adj" fmla="val 20833"/>
            </a:avLst>
          </a:prstGeom>
          <a:solidFill>
            <a:srgbClr val="FFFFFF"/>
          </a:solidFill>
          <a:ln w="12700">
            <a:solidFill>
              <a:srgbClr val="4C8068"/>
            </a:solidFill>
            <a:prstDash val="solid"/>
          </a:ln>
        </p:spPr>
      </p:sp>
      <p:sp>
        <p:nvSpPr>
          <p:cNvPr id="45" name="Text 43"/>
          <p:cNvSpPr txBox="1"/>
          <p:nvPr/>
        </p:nvSpPr>
        <p:spPr>
          <a:xfrm>
            <a:off x="4599432" y="4050792"/>
            <a:ext cx="1645920" cy="658368"/>
          </a:xfrm>
          <a:prstGeom prst="rect">
            <a:avLst/>
          </a:prstGeom>
          <a:noFill/>
          <a:ln/>
        </p:spPr>
        <p:txBody>
          <a:bodyPr wrap="square" lIns="0" tIns="0" rIns="0" bIns="0" rtlCol="0" anchor="t"/>
          <a:lstStyle/>
          <a:p>
            <a:pPr indent="0" marL="0">
              <a:buNone/>
            </a:pPr>
            <a:r>
              <a:rPr lang="en-US" sz="1200" dirty="0">
                <a:solidFill>
                  <a:srgbClr val="1E2E3A"/>
                </a:solidFill>
                <a:latin typeface="Calibri" pitchFamily="34" charset="0"/>
                <a:ea typeface="Calibri" pitchFamily="34" charset="-122"/>
                <a:cs typeface="Calibri" pitchFamily="34" charset="-120"/>
              </a:rPr>
              <a:t>Critical business process prioritization completed</a:t>
            </a:r>
            <a:endParaRPr lang="en-US" sz="1200" dirty="0"/>
          </a:p>
        </p:txBody>
      </p:sp>
      <p:sp>
        <p:nvSpPr>
          <p:cNvPr id="46" name="Shape 44"/>
          <p:cNvSpPr/>
          <p:nvPr/>
        </p:nvSpPr>
        <p:spPr>
          <a:xfrm>
            <a:off x="6400800" y="4087368"/>
            <a:ext cx="219456" cy="219456"/>
          </a:xfrm>
          <a:prstGeom prst="roundRect">
            <a:avLst>
              <a:gd name="adj" fmla="val 20833"/>
            </a:avLst>
          </a:prstGeom>
          <a:solidFill>
            <a:srgbClr val="FFFFFF"/>
          </a:solidFill>
          <a:ln w="12700">
            <a:solidFill>
              <a:srgbClr val="4C8068"/>
            </a:solidFill>
            <a:prstDash val="solid"/>
          </a:ln>
        </p:spPr>
      </p:sp>
      <p:sp>
        <p:nvSpPr>
          <p:cNvPr id="47" name="Shape 45"/>
          <p:cNvSpPr/>
          <p:nvPr/>
        </p:nvSpPr>
        <p:spPr>
          <a:xfrm>
            <a:off x="6931152" y="4087368"/>
            <a:ext cx="219456" cy="219456"/>
          </a:xfrm>
          <a:prstGeom prst="roundRect">
            <a:avLst>
              <a:gd name="adj" fmla="val 20833"/>
            </a:avLst>
          </a:prstGeom>
          <a:solidFill>
            <a:srgbClr val="FFFFFF"/>
          </a:solidFill>
          <a:ln w="12700">
            <a:solidFill>
              <a:srgbClr val="4C8068"/>
            </a:solidFill>
            <a:prstDash val="solid"/>
          </a:ln>
        </p:spPr>
      </p:sp>
      <p:sp>
        <p:nvSpPr>
          <p:cNvPr id="48" name="Shape 46"/>
          <p:cNvSpPr/>
          <p:nvPr/>
        </p:nvSpPr>
        <p:spPr>
          <a:xfrm>
            <a:off x="7461504" y="4087368"/>
            <a:ext cx="219456" cy="219456"/>
          </a:xfrm>
          <a:prstGeom prst="roundRect">
            <a:avLst>
              <a:gd name="adj" fmla="val 20833"/>
            </a:avLst>
          </a:prstGeom>
          <a:solidFill>
            <a:srgbClr val="FFFFFF"/>
          </a:solidFill>
          <a:ln w="12700">
            <a:solidFill>
              <a:srgbClr val="4C8068"/>
            </a:solidFill>
            <a:prstDash val="solid"/>
          </a:ln>
        </p:spPr>
      </p:sp>
      <p:sp>
        <p:nvSpPr>
          <p:cNvPr id="49" name="Text 47"/>
          <p:cNvSpPr txBox="1"/>
          <p:nvPr/>
        </p:nvSpPr>
        <p:spPr>
          <a:xfrm>
            <a:off x="4599432" y="4727448"/>
            <a:ext cx="1645920" cy="658368"/>
          </a:xfrm>
          <a:prstGeom prst="rect">
            <a:avLst/>
          </a:prstGeom>
          <a:noFill/>
          <a:ln/>
        </p:spPr>
        <p:txBody>
          <a:bodyPr wrap="square" lIns="0" tIns="0" rIns="0" bIns="0" rtlCol="0" anchor="t"/>
          <a:lstStyle/>
          <a:p>
            <a:pPr indent="0" marL="0">
              <a:buNone/>
            </a:pPr>
            <a:r>
              <a:rPr lang="en-US" sz="1200" dirty="0">
                <a:solidFill>
                  <a:srgbClr val="1E2E3A"/>
                </a:solidFill>
                <a:latin typeface="Calibri" pitchFamily="34" charset="0"/>
                <a:ea typeface="Calibri" pitchFamily="34" charset="-122"/>
                <a:cs typeface="Calibri" pitchFamily="34" charset="-120"/>
              </a:rPr>
              <a:t>Recovery assumptions validated</a:t>
            </a:r>
            <a:endParaRPr lang="en-US" sz="1200" dirty="0"/>
          </a:p>
        </p:txBody>
      </p:sp>
      <p:sp>
        <p:nvSpPr>
          <p:cNvPr id="50" name="Shape 48"/>
          <p:cNvSpPr/>
          <p:nvPr/>
        </p:nvSpPr>
        <p:spPr>
          <a:xfrm>
            <a:off x="6400800" y="4764024"/>
            <a:ext cx="219456" cy="219456"/>
          </a:xfrm>
          <a:prstGeom prst="roundRect">
            <a:avLst>
              <a:gd name="adj" fmla="val 20833"/>
            </a:avLst>
          </a:prstGeom>
          <a:solidFill>
            <a:srgbClr val="FFFFFF"/>
          </a:solidFill>
          <a:ln w="12700">
            <a:solidFill>
              <a:srgbClr val="4C8068"/>
            </a:solidFill>
            <a:prstDash val="solid"/>
          </a:ln>
        </p:spPr>
      </p:sp>
      <p:sp>
        <p:nvSpPr>
          <p:cNvPr id="51" name="Shape 49"/>
          <p:cNvSpPr/>
          <p:nvPr/>
        </p:nvSpPr>
        <p:spPr>
          <a:xfrm>
            <a:off x="6931152" y="4764024"/>
            <a:ext cx="219456" cy="219456"/>
          </a:xfrm>
          <a:prstGeom prst="roundRect">
            <a:avLst>
              <a:gd name="adj" fmla="val 20833"/>
            </a:avLst>
          </a:prstGeom>
          <a:solidFill>
            <a:srgbClr val="FFFFFF"/>
          </a:solidFill>
          <a:ln w="12700">
            <a:solidFill>
              <a:srgbClr val="4C8068"/>
            </a:solidFill>
            <a:prstDash val="solid"/>
          </a:ln>
        </p:spPr>
      </p:sp>
      <p:sp>
        <p:nvSpPr>
          <p:cNvPr id="52" name="Shape 50"/>
          <p:cNvSpPr/>
          <p:nvPr/>
        </p:nvSpPr>
        <p:spPr>
          <a:xfrm>
            <a:off x="7461504" y="4764024"/>
            <a:ext cx="219456" cy="219456"/>
          </a:xfrm>
          <a:prstGeom prst="roundRect">
            <a:avLst>
              <a:gd name="adj" fmla="val 20833"/>
            </a:avLst>
          </a:prstGeom>
          <a:solidFill>
            <a:srgbClr val="FFFFFF"/>
          </a:solidFill>
          <a:ln w="12700">
            <a:solidFill>
              <a:srgbClr val="4C8068"/>
            </a:solidFill>
            <a:prstDash val="solid"/>
          </a:ln>
        </p:spPr>
      </p:sp>
      <p:sp>
        <p:nvSpPr>
          <p:cNvPr id="53" name="Text 51"/>
          <p:cNvSpPr txBox="1"/>
          <p:nvPr/>
        </p:nvSpPr>
        <p:spPr>
          <a:xfrm>
            <a:off x="4599432" y="5404104"/>
            <a:ext cx="1645920" cy="658368"/>
          </a:xfrm>
          <a:prstGeom prst="rect">
            <a:avLst/>
          </a:prstGeom>
          <a:noFill/>
          <a:ln/>
        </p:spPr>
        <p:txBody>
          <a:bodyPr wrap="square" lIns="0" tIns="0" rIns="0" bIns="0" rtlCol="0" anchor="t"/>
          <a:lstStyle/>
          <a:p>
            <a:pPr indent="0" marL="0">
              <a:buNone/>
            </a:pPr>
            <a:r>
              <a:rPr lang="en-US" sz="1200" dirty="0">
                <a:solidFill>
                  <a:srgbClr val="1E2E3A"/>
                </a:solidFill>
                <a:latin typeface="Calibri" pitchFamily="34" charset="0"/>
                <a:ea typeface="Calibri" pitchFamily="34" charset="-122"/>
                <a:cs typeface="Calibri" pitchFamily="34" charset="-120"/>
              </a:rPr>
              <a:t>SaaS dependency gaps identified</a:t>
            </a:r>
            <a:endParaRPr lang="en-US" sz="1200" dirty="0"/>
          </a:p>
        </p:txBody>
      </p:sp>
      <p:sp>
        <p:nvSpPr>
          <p:cNvPr id="54" name="Shape 52"/>
          <p:cNvSpPr/>
          <p:nvPr/>
        </p:nvSpPr>
        <p:spPr>
          <a:xfrm>
            <a:off x="6400800" y="5440680"/>
            <a:ext cx="219456" cy="219456"/>
          </a:xfrm>
          <a:prstGeom prst="roundRect">
            <a:avLst>
              <a:gd name="adj" fmla="val 20833"/>
            </a:avLst>
          </a:prstGeom>
          <a:solidFill>
            <a:srgbClr val="FFFFFF"/>
          </a:solidFill>
          <a:ln w="12700">
            <a:solidFill>
              <a:srgbClr val="4C8068"/>
            </a:solidFill>
            <a:prstDash val="solid"/>
          </a:ln>
        </p:spPr>
      </p:sp>
      <p:sp>
        <p:nvSpPr>
          <p:cNvPr id="55" name="Shape 53"/>
          <p:cNvSpPr/>
          <p:nvPr/>
        </p:nvSpPr>
        <p:spPr>
          <a:xfrm>
            <a:off x="6931152" y="5440680"/>
            <a:ext cx="219456" cy="219456"/>
          </a:xfrm>
          <a:prstGeom prst="roundRect">
            <a:avLst>
              <a:gd name="adj" fmla="val 20833"/>
            </a:avLst>
          </a:prstGeom>
          <a:solidFill>
            <a:srgbClr val="FFFFFF"/>
          </a:solidFill>
          <a:ln w="12700">
            <a:solidFill>
              <a:srgbClr val="4C8068"/>
            </a:solidFill>
            <a:prstDash val="solid"/>
          </a:ln>
        </p:spPr>
      </p:sp>
      <p:sp>
        <p:nvSpPr>
          <p:cNvPr id="56" name="Shape 54"/>
          <p:cNvSpPr/>
          <p:nvPr/>
        </p:nvSpPr>
        <p:spPr>
          <a:xfrm>
            <a:off x="7461504" y="5440680"/>
            <a:ext cx="219456" cy="219456"/>
          </a:xfrm>
          <a:prstGeom prst="roundRect">
            <a:avLst>
              <a:gd name="adj" fmla="val 20833"/>
            </a:avLst>
          </a:prstGeom>
          <a:solidFill>
            <a:srgbClr val="FFFFFF"/>
          </a:solidFill>
          <a:ln w="12700">
            <a:solidFill>
              <a:srgbClr val="4C8068"/>
            </a:solidFill>
            <a:prstDash val="solid"/>
          </a:ln>
        </p:spPr>
      </p:sp>
      <p:sp>
        <p:nvSpPr>
          <p:cNvPr id="57" name="Shape 55"/>
          <p:cNvSpPr/>
          <p:nvPr/>
        </p:nvSpPr>
        <p:spPr>
          <a:xfrm>
            <a:off x="8193024" y="1600200"/>
            <a:ext cx="3520440" cy="4572000"/>
          </a:xfrm>
          <a:prstGeom prst="roundRect">
            <a:avLst>
              <a:gd name="adj" fmla="val 3636"/>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58" name="Shape 56"/>
          <p:cNvSpPr/>
          <p:nvPr/>
        </p:nvSpPr>
        <p:spPr>
          <a:xfrm>
            <a:off x="8421624" y="1828800"/>
            <a:ext cx="3008376" cy="329184"/>
          </a:xfrm>
          <a:prstGeom prst="roundRect">
            <a:avLst>
              <a:gd name="adj" fmla="val 50000"/>
            </a:avLst>
          </a:prstGeom>
          <a:solidFill>
            <a:srgbClr val="F6F3FA"/>
          </a:solidFill>
          <a:ln w="12700">
            <a:solidFill>
              <a:srgbClr val="F6F3FA"/>
            </a:solidFill>
            <a:prstDash val="solid"/>
          </a:ln>
        </p:spPr>
      </p:sp>
      <p:sp>
        <p:nvSpPr>
          <p:cNvPr id="59" name="Text 57"/>
          <p:cNvSpPr txBox="1"/>
          <p:nvPr/>
        </p:nvSpPr>
        <p:spPr>
          <a:xfrm>
            <a:off x="8421624" y="1828800"/>
            <a:ext cx="3008376" cy="329184"/>
          </a:xfrm>
          <a:prstGeom prst="rect">
            <a:avLst/>
          </a:prstGeom>
          <a:noFill/>
          <a:ln/>
        </p:spPr>
        <p:txBody>
          <a:bodyPr wrap="square" lIns="0" tIns="0" rIns="0" bIns="0" rtlCol="0" anchor="ctr"/>
          <a:lstStyle/>
          <a:p>
            <a:pPr algn="ctr" indent="0" marL="0">
              <a:buNone/>
            </a:pPr>
            <a:r>
              <a:rPr lang="en-US" sz="1200" b="1" dirty="0">
                <a:solidFill>
                  <a:srgbClr val="6E5E94"/>
                </a:solidFill>
                <a:latin typeface="Calibri" pitchFamily="34" charset="0"/>
                <a:ea typeface="Calibri" pitchFamily="34" charset="-122"/>
                <a:cs typeface="Calibri" pitchFamily="34" charset="-120"/>
              </a:rPr>
              <a:t>Scenario 3: Business Continuity</a:t>
            </a:r>
            <a:endParaRPr lang="en-US" sz="1200" dirty="0"/>
          </a:p>
        </p:txBody>
      </p:sp>
      <p:sp>
        <p:nvSpPr>
          <p:cNvPr id="60" name="Text 58"/>
          <p:cNvSpPr txBox="1"/>
          <p:nvPr/>
        </p:nvSpPr>
        <p:spPr>
          <a:xfrm>
            <a:off x="10067544" y="2331720"/>
            <a:ext cx="530352" cy="274320"/>
          </a:xfrm>
          <a:prstGeom prst="rect">
            <a:avLst/>
          </a:prstGeom>
          <a:noFill/>
          <a:ln/>
        </p:spPr>
        <p:txBody>
          <a:bodyPr wrap="square" lIns="0" tIns="0" rIns="0" bIns="0" rtlCol="0" anchor="t"/>
          <a:lstStyle/>
          <a:p>
            <a:pPr algn="ctr" indent="0" marL="0">
              <a:buNone/>
            </a:pPr>
            <a:r>
              <a:rPr lang="en-US" sz="1200" b="1" dirty="0">
                <a:solidFill>
                  <a:srgbClr val="465A69"/>
                </a:solidFill>
                <a:latin typeface="Calibri" pitchFamily="34" charset="0"/>
                <a:ea typeface="Calibri" pitchFamily="34" charset="-122"/>
                <a:cs typeface="Calibri" pitchFamily="34" charset="-120"/>
              </a:rPr>
              <a:t>Met</a:t>
            </a:r>
            <a:endParaRPr lang="en-US" sz="1200" dirty="0"/>
          </a:p>
        </p:txBody>
      </p:sp>
      <p:sp>
        <p:nvSpPr>
          <p:cNvPr id="61" name="Text 59"/>
          <p:cNvSpPr txBox="1"/>
          <p:nvPr/>
        </p:nvSpPr>
        <p:spPr>
          <a:xfrm>
            <a:off x="10597896" y="2331720"/>
            <a:ext cx="530352" cy="274320"/>
          </a:xfrm>
          <a:prstGeom prst="rect">
            <a:avLst/>
          </a:prstGeom>
          <a:noFill/>
          <a:ln/>
        </p:spPr>
        <p:txBody>
          <a:bodyPr wrap="square" lIns="0" tIns="0" rIns="0" bIns="0" rtlCol="0" anchor="t"/>
          <a:lstStyle/>
          <a:p>
            <a:pPr algn="ctr" indent="0" marL="0">
              <a:buNone/>
            </a:pPr>
            <a:r>
              <a:rPr lang="en-US" sz="1200" b="1" dirty="0">
                <a:solidFill>
                  <a:srgbClr val="465A69"/>
                </a:solidFill>
                <a:latin typeface="Calibri" pitchFamily="34" charset="0"/>
                <a:ea typeface="Calibri" pitchFamily="34" charset="-122"/>
                <a:cs typeface="Calibri" pitchFamily="34" charset="-120"/>
              </a:rPr>
              <a:t>Partial</a:t>
            </a:r>
            <a:endParaRPr lang="en-US" sz="1200" dirty="0"/>
          </a:p>
        </p:txBody>
      </p:sp>
      <p:sp>
        <p:nvSpPr>
          <p:cNvPr id="62" name="Text 60"/>
          <p:cNvSpPr txBox="1"/>
          <p:nvPr/>
        </p:nvSpPr>
        <p:spPr>
          <a:xfrm>
            <a:off x="11128248" y="2331720"/>
            <a:ext cx="530352" cy="274320"/>
          </a:xfrm>
          <a:prstGeom prst="rect">
            <a:avLst/>
          </a:prstGeom>
          <a:noFill/>
          <a:ln/>
        </p:spPr>
        <p:txBody>
          <a:bodyPr wrap="square" lIns="0" tIns="0" rIns="0" bIns="0" rtlCol="0" anchor="t"/>
          <a:lstStyle/>
          <a:p>
            <a:pPr algn="ctr" indent="0" marL="0">
              <a:buNone/>
            </a:pPr>
            <a:r>
              <a:rPr lang="en-US" sz="1200" b="1" dirty="0">
                <a:solidFill>
                  <a:srgbClr val="465A69"/>
                </a:solidFill>
                <a:latin typeface="Calibri" pitchFamily="34" charset="0"/>
                <a:ea typeface="Calibri" pitchFamily="34" charset="-122"/>
                <a:cs typeface="Calibri" pitchFamily="34" charset="-120"/>
              </a:rPr>
              <a:t>Gap</a:t>
            </a:r>
            <a:endParaRPr lang="en-US" sz="1200" dirty="0"/>
          </a:p>
        </p:txBody>
      </p:sp>
      <p:sp>
        <p:nvSpPr>
          <p:cNvPr id="63" name="Text 61"/>
          <p:cNvSpPr txBox="1"/>
          <p:nvPr/>
        </p:nvSpPr>
        <p:spPr>
          <a:xfrm>
            <a:off x="8421624" y="2697480"/>
            <a:ext cx="1645920" cy="658368"/>
          </a:xfrm>
          <a:prstGeom prst="rect">
            <a:avLst/>
          </a:prstGeom>
          <a:noFill/>
          <a:ln/>
        </p:spPr>
        <p:txBody>
          <a:bodyPr wrap="square" lIns="0" tIns="0" rIns="0" bIns="0" rtlCol="0" anchor="t"/>
          <a:lstStyle/>
          <a:p>
            <a:pPr indent="0" marL="0">
              <a:buNone/>
            </a:pPr>
            <a:r>
              <a:rPr lang="en-US" sz="1200" dirty="0">
                <a:solidFill>
                  <a:srgbClr val="1E2E3A"/>
                </a:solidFill>
                <a:latin typeface="Calibri" pitchFamily="34" charset="0"/>
                <a:ea typeface="Calibri" pitchFamily="34" charset="-122"/>
                <a:cs typeface="Calibri" pitchFamily="34" charset="-120"/>
              </a:rPr>
              <a:t>Business continuity teams identify mission-critical activities</a:t>
            </a:r>
            <a:endParaRPr lang="en-US" sz="1200" dirty="0"/>
          </a:p>
        </p:txBody>
      </p:sp>
      <p:sp>
        <p:nvSpPr>
          <p:cNvPr id="64" name="Shape 62"/>
          <p:cNvSpPr/>
          <p:nvPr/>
        </p:nvSpPr>
        <p:spPr>
          <a:xfrm>
            <a:off x="10222992" y="2734056"/>
            <a:ext cx="219456" cy="219456"/>
          </a:xfrm>
          <a:prstGeom prst="roundRect">
            <a:avLst>
              <a:gd name="adj" fmla="val 20833"/>
            </a:avLst>
          </a:prstGeom>
          <a:solidFill>
            <a:srgbClr val="FFFFFF"/>
          </a:solidFill>
          <a:ln w="12700">
            <a:solidFill>
              <a:srgbClr val="6E5E94"/>
            </a:solidFill>
            <a:prstDash val="solid"/>
          </a:ln>
        </p:spPr>
      </p:sp>
      <p:sp>
        <p:nvSpPr>
          <p:cNvPr id="65" name="Shape 63"/>
          <p:cNvSpPr/>
          <p:nvPr/>
        </p:nvSpPr>
        <p:spPr>
          <a:xfrm>
            <a:off x="10753344" y="2734056"/>
            <a:ext cx="219456" cy="219456"/>
          </a:xfrm>
          <a:prstGeom prst="roundRect">
            <a:avLst>
              <a:gd name="adj" fmla="val 20833"/>
            </a:avLst>
          </a:prstGeom>
          <a:solidFill>
            <a:srgbClr val="FFFFFF"/>
          </a:solidFill>
          <a:ln w="12700">
            <a:solidFill>
              <a:srgbClr val="6E5E94"/>
            </a:solidFill>
            <a:prstDash val="solid"/>
          </a:ln>
        </p:spPr>
      </p:sp>
      <p:sp>
        <p:nvSpPr>
          <p:cNvPr id="66" name="Shape 64"/>
          <p:cNvSpPr/>
          <p:nvPr/>
        </p:nvSpPr>
        <p:spPr>
          <a:xfrm>
            <a:off x="11283696" y="2734056"/>
            <a:ext cx="219456" cy="219456"/>
          </a:xfrm>
          <a:prstGeom prst="roundRect">
            <a:avLst>
              <a:gd name="adj" fmla="val 20833"/>
            </a:avLst>
          </a:prstGeom>
          <a:solidFill>
            <a:srgbClr val="FFFFFF"/>
          </a:solidFill>
          <a:ln w="12700">
            <a:solidFill>
              <a:srgbClr val="6E5E94"/>
            </a:solidFill>
            <a:prstDash val="solid"/>
          </a:ln>
        </p:spPr>
      </p:sp>
      <p:sp>
        <p:nvSpPr>
          <p:cNvPr id="67" name="Text 65"/>
          <p:cNvSpPr txBox="1"/>
          <p:nvPr/>
        </p:nvSpPr>
        <p:spPr>
          <a:xfrm>
            <a:off x="8421624" y="3374136"/>
            <a:ext cx="1645920" cy="658368"/>
          </a:xfrm>
          <a:prstGeom prst="rect">
            <a:avLst/>
          </a:prstGeom>
          <a:noFill/>
          <a:ln/>
        </p:spPr>
        <p:txBody>
          <a:bodyPr wrap="square" lIns="0" tIns="0" rIns="0" bIns="0" rtlCol="0" anchor="t"/>
          <a:lstStyle/>
          <a:p>
            <a:pPr indent="0" marL="0">
              <a:buNone/>
            </a:pPr>
            <a:r>
              <a:rPr lang="en-US" sz="1200" dirty="0">
                <a:solidFill>
                  <a:srgbClr val="1E2E3A"/>
                </a:solidFill>
                <a:latin typeface="Calibri" pitchFamily="34" charset="0"/>
                <a:ea typeface="Calibri" pitchFamily="34" charset="-122"/>
                <a:cs typeface="Calibri" pitchFamily="34" charset="-120"/>
              </a:rPr>
              <a:t>Functional leaders activate documented workarounds</a:t>
            </a:r>
            <a:endParaRPr lang="en-US" sz="1200" dirty="0"/>
          </a:p>
        </p:txBody>
      </p:sp>
      <p:sp>
        <p:nvSpPr>
          <p:cNvPr id="68" name="Shape 66"/>
          <p:cNvSpPr/>
          <p:nvPr/>
        </p:nvSpPr>
        <p:spPr>
          <a:xfrm>
            <a:off x="10222992" y="3410712"/>
            <a:ext cx="219456" cy="219456"/>
          </a:xfrm>
          <a:prstGeom prst="roundRect">
            <a:avLst>
              <a:gd name="adj" fmla="val 20833"/>
            </a:avLst>
          </a:prstGeom>
          <a:solidFill>
            <a:srgbClr val="FFFFFF"/>
          </a:solidFill>
          <a:ln w="12700">
            <a:solidFill>
              <a:srgbClr val="6E5E94"/>
            </a:solidFill>
            <a:prstDash val="solid"/>
          </a:ln>
        </p:spPr>
      </p:sp>
      <p:sp>
        <p:nvSpPr>
          <p:cNvPr id="69" name="Shape 67"/>
          <p:cNvSpPr/>
          <p:nvPr/>
        </p:nvSpPr>
        <p:spPr>
          <a:xfrm>
            <a:off x="10753344" y="3410712"/>
            <a:ext cx="219456" cy="219456"/>
          </a:xfrm>
          <a:prstGeom prst="roundRect">
            <a:avLst>
              <a:gd name="adj" fmla="val 20833"/>
            </a:avLst>
          </a:prstGeom>
          <a:solidFill>
            <a:srgbClr val="FFFFFF"/>
          </a:solidFill>
          <a:ln w="12700">
            <a:solidFill>
              <a:srgbClr val="6E5E94"/>
            </a:solidFill>
            <a:prstDash val="solid"/>
          </a:ln>
        </p:spPr>
      </p:sp>
      <p:sp>
        <p:nvSpPr>
          <p:cNvPr id="70" name="Shape 68"/>
          <p:cNvSpPr/>
          <p:nvPr/>
        </p:nvSpPr>
        <p:spPr>
          <a:xfrm>
            <a:off x="11283696" y="3410712"/>
            <a:ext cx="219456" cy="219456"/>
          </a:xfrm>
          <a:prstGeom prst="roundRect">
            <a:avLst>
              <a:gd name="adj" fmla="val 20833"/>
            </a:avLst>
          </a:prstGeom>
          <a:solidFill>
            <a:srgbClr val="FFFFFF"/>
          </a:solidFill>
          <a:ln w="12700">
            <a:solidFill>
              <a:srgbClr val="6E5E94"/>
            </a:solidFill>
            <a:prstDash val="solid"/>
          </a:ln>
        </p:spPr>
      </p:sp>
      <p:sp>
        <p:nvSpPr>
          <p:cNvPr id="71" name="Text 69"/>
          <p:cNvSpPr txBox="1"/>
          <p:nvPr/>
        </p:nvSpPr>
        <p:spPr>
          <a:xfrm>
            <a:off x="8421624" y="4050792"/>
            <a:ext cx="1645920" cy="658368"/>
          </a:xfrm>
          <a:prstGeom prst="rect">
            <a:avLst/>
          </a:prstGeom>
          <a:noFill/>
          <a:ln/>
        </p:spPr>
        <p:txBody>
          <a:bodyPr wrap="square" lIns="0" tIns="0" rIns="0" bIns="0" rtlCol="0" anchor="t"/>
          <a:lstStyle/>
          <a:p>
            <a:pPr indent="0" marL="0">
              <a:buNone/>
            </a:pPr>
            <a:r>
              <a:rPr lang="en-US" sz="1200" dirty="0">
                <a:solidFill>
                  <a:srgbClr val="1E2E3A"/>
                </a:solidFill>
                <a:latin typeface="Calibri" pitchFamily="34" charset="0"/>
                <a:ea typeface="Calibri" pitchFamily="34" charset="-122"/>
                <a:cs typeface="Calibri" pitchFamily="34" charset="-120"/>
              </a:rPr>
              <a:t>Recovery priorities align to business impact</a:t>
            </a:r>
            <a:endParaRPr lang="en-US" sz="1200" dirty="0"/>
          </a:p>
        </p:txBody>
      </p:sp>
      <p:sp>
        <p:nvSpPr>
          <p:cNvPr id="72" name="Shape 70"/>
          <p:cNvSpPr/>
          <p:nvPr/>
        </p:nvSpPr>
        <p:spPr>
          <a:xfrm>
            <a:off x="10222992" y="4087368"/>
            <a:ext cx="219456" cy="219456"/>
          </a:xfrm>
          <a:prstGeom prst="roundRect">
            <a:avLst>
              <a:gd name="adj" fmla="val 20833"/>
            </a:avLst>
          </a:prstGeom>
          <a:solidFill>
            <a:srgbClr val="FFFFFF"/>
          </a:solidFill>
          <a:ln w="12700">
            <a:solidFill>
              <a:srgbClr val="6E5E94"/>
            </a:solidFill>
            <a:prstDash val="solid"/>
          </a:ln>
        </p:spPr>
      </p:sp>
      <p:sp>
        <p:nvSpPr>
          <p:cNvPr id="73" name="Shape 71"/>
          <p:cNvSpPr/>
          <p:nvPr/>
        </p:nvSpPr>
        <p:spPr>
          <a:xfrm>
            <a:off x="10753344" y="4087368"/>
            <a:ext cx="219456" cy="219456"/>
          </a:xfrm>
          <a:prstGeom prst="roundRect">
            <a:avLst>
              <a:gd name="adj" fmla="val 20833"/>
            </a:avLst>
          </a:prstGeom>
          <a:solidFill>
            <a:srgbClr val="FFFFFF"/>
          </a:solidFill>
          <a:ln w="12700">
            <a:solidFill>
              <a:srgbClr val="6E5E94"/>
            </a:solidFill>
            <a:prstDash val="solid"/>
          </a:ln>
        </p:spPr>
      </p:sp>
      <p:sp>
        <p:nvSpPr>
          <p:cNvPr id="74" name="Shape 72"/>
          <p:cNvSpPr/>
          <p:nvPr/>
        </p:nvSpPr>
        <p:spPr>
          <a:xfrm>
            <a:off x="11283696" y="4087368"/>
            <a:ext cx="219456" cy="219456"/>
          </a:xfrm>
          <a:prstGeom prst="roundRect">
            <a:avLst>
              <a:gd name="adj" fmla="val 20833"/>
            </a:avLst>
          </a:prstGeom>
          <a:solidFill>
            <a:srgbClr val="FFFFFF"/>
          </a:solidFill>
          <a:ln w="12700">
            <a:solidFill>
              <a:srgbClr val="6E5E94"/>
            </a:solidFill>
            <a:prstDash val="solid"/>
          </a:ln>
        </p:spPr>
      </p:sp>
      <p:sp>
        <p:nvSpPr>
          <p:cNvPr id="75" name="Text 73"/>
          <p:cNvSpPr txBox="1"/>
          <p:nvPr/>
        </p:nvSpPr>
        <p:spPr>
          <a:xfrm>
            <a:off x="8421624" y="4727448"/>
            <a:ext cx="1645920" cy="658368"/>
          </a:xfrm>
          <a:prstGeom prst="rect">
            <a:avLst/>
          </a:prstGeom>
          <a:noFill/>
          <a:ln/>
        </p:spPr>
        <p:txBody>
          <a:bodyPr wrap="square" lIns="0" tIns="0" rIns="0" bIns="0" rtlCol="0" anchor="t"/>
          <a:lstStyle/>
          <a:p>
            <a:pPr indent="0" marL="0">
              <a:buNone/>
            </a:pPr>
            <a:r>
              <a:rPr lang="en-US" sz="1200" dirty="0">
                <a:solidFill>
                  <a:srgbClr val="1E2E3A"/>
                </a:solidFill>
                <a:latin typeface="Calibri" pitchFamily="34" charset="0"/>
                <a:ea typeface="Calibri" pitchFamily="34" charset="-122"/>
                <a:cs typeface="Calibri" pitchFamily="34" charset="-120"/>
              </a:rPr>
              <a:t>Executive governance functions effectively</a:t>
            </a:r>
            <a:endParaRPr lang="en-US" sz="1200" dirty="0"/>
          </a:p>
        </p:txBody>
      </p:sp>
      <p:sp>
        <p:nvSpPr>
          <p:cNvPr id="76" name="Shape 74"/>
          <p:cNvSpPr/>
          <p:nvPr/>
        </p:nvSpPr>
        <p:spPr>
          <a:xfrm>
            <a:off x="10222992" y="4764024"/>
            <a:ext cx="219456" cy="219456"/>
          </a:xfrm>
          <a:prstGeom prst="roundRect">
            <a:avLst>
              <a:gd name="adj" fmla="val 20833"/>
            </a:avLst>
          </a:prstGeom>
          <a:solidFill>
            <a:srgbClr val="FFFFFF"/>
          </a:solidFill>
          <a:ln w="12700">
            <a:solidFill>
              <a:srgbClr val="6E5E94"/>
            </a:solidFill>
            <a:prstDash val="solid"/>
          </a:ln>
        </p:spPr>
      </p:sp>
      <p:sp>
        <p:nvSpPr>
          <p:cNvPr id="77" name="Shape 75"/>
          <p:cNvSpPr/>
          <p:nvPr/>
        </p:nvSpPr>
        <p:spPr>
          <a:xfrm>
            <a:off x="10753344" y="4764024"/>
            <a:ext cx="219456" cy="219456"/>
          </a:xfrm>
          <a:prstGeom prst="roundRect">
            <a:avLst>
              <a:gd name="adj" fmla="val 20833"/>
            </a:avLst>
          </a:prstGeom>
          <a:solidFill>
            <a:srgbClr val="FFFFFF"/>
          </a:solidFill>
          <a:ln w="12700">
            <a:solidFill>
              <a:srgbClr val="6E5E94"/>
            </a:solidFill>
            <a:prstDash val="solid"/>
          </a:ln>
        </p:spPr>
      </p:sp>
      <p:sp>
        <p:nvSpPr>
          <p:cNvPr id="78" name="Shape 76"/>
          <p:cNvSpPr/>
          <p:nvPr/>
        </p:nvSpPr>
        <p:spPr>
          <a:xfrm>
            <a:off x="11283696" y="4764024"/>
            <a:ext cx="219456" cy="219456"/>
          </a:xfrm>
          <a:prstGeom prst="roundRect">
            <a:avLst>
              <a:gd name="adj" fmla="val 20833"/>
            </a:avLst>
          </a:prstGeom>
          <a:solidFill>
            <a:srgbClr val="FFFFFF"/>
          </a:solidFill>
          <a:ln w="12700">
            <a:solidFill>
              <a:srgbClr val="6E5E94"/>
            </a:solidFill>
            <a:prstDash val="solid"/>
          </a:ln>
        </p:spPr>
      </p:sp>
      <p:sp>
        <p:nvSpPr>
          <p:cNvPr id="79" name="Text 77"/>
          <p:cNvSpPr txBox="1"/>
          <p:nvPr/>
        </p:nvSpPr>
        <p:spPr>
          <a:xfrm>
            <a:off x="8421624" y="5404104"/>
            <a:ext cx="1645920" cy="658368"/>
          </a:xfrm>
          <a:prstGeom prst="rect">
            <a:avLst/>
          </a:prstGeom>
          <a:noFill/>
          <a:ln/>
        </p:spPr>
        <p:txBody>
          <a:bodyPr wrap="square" lIns="0" tIns="0" rIns="0" bIns="0" rtlCol="0" anchor="t"/>
          <a:lstStyle/>
          <a:p>
            <a:pPr indent="0" marL="0">
              <a:buNone/>
            </a:pPr>
            <a:r>
              <a:rPr lang="en-US" sz="1200" dirty="0">
                <a:solidFill>
                  <a:srgbClr val="1E2E3A"/>
                </a:solidFill>
                <a:latin typeface="Calibri" pitchFamily="34" charset="0"/>
                <a:ea typeface="Calibri" pitchFamily="34" charset="-122"/>
                <a:cs typeface="Calibri" pitchFamily="34" charset="-120"/>
              </a:rPr>
              <a:t>Gaps in continuity planning are documented</a:t>
            </a:r>
            <a:endParaRPr lang="en-US" sz="1200" dirty="0"/>
          </a:p>
        </p:txBody>
      </p:sp>
      <p:sp>
        <p:nvSpPr>
          <p:cNvPr id="80" name="Shape 78"/>
          <p:cNvSpPr/>
          <p:nvPr/>
        </p:nvSpPr>
        <p:spPr>
          <a:xfrm>
            <a:off x="10222992" y="5440680"/>
            <a:ext cx="219456" cy="219456"/>
          </a:xfrm>
          <a:prstGeom prst="roundRect">
            <a:avLst>
              <a:gd name="adj" fmla="val 20833"/>
            </a:avLst>
          </a:prstGeom>
          <a:solidFill>
            <a:srgbClr val="FFFFFF"/>
          </a:solidFill>
          <a:ln w="12700">
            <a:solidFill>
              <a:srgbClr val="6E5E94"/>
            </a:solidFill>
            <a:prstDash val="solid"/>
          </a:ln>
        </p:spPr>
      </p:sp>
      <p:sp>
        <p:nvSpPr>
          <p:cNvPr id="81" name="Shape 79"/>
          <p:cNvSpPr/>
          <p:nvPr/>
        </p:nvSpPr>
        <p:spPr>
          <a:xfrm>
            <a:off x="10753344" y="5440680"/>
            <a:ext cx="219456" cy="219456"/>
          </a:xfrm>
          <a:prstGeom prst="roundRect">
            <a:avLst>
              <a:gd name="adj" fmla="val 20833"/>
            </a:avLst>
          </a:prstGeom>
          <a:solidFill>
            <a:srgbClr val="FFFFFF"/>
          </a:solidFill>
          <a:ln w="12700">
            <a:solidFill>
              <a:srgbClr val="6E5E94"/>
            </a:solidFill>
            <a:prstDash val="solid"/>
          </a:ln>
        </p:spPr>
      </p:sp>
      <p:sp>
        <p:nvSpPr>
          <p:cNvPr id="82" name="Shape 80"/>
          <p:cNvSpPr/>
          <p:nvPr/>
        </p:nvSpPr>
        <p:spPr>
          <a:xfrm>
            <a:off x="11283696" y="5440680"/>
            <a:ext cx="219456" cy="219456"/>
          </a:xfrm>
          <a:prstGeom prst="roundRect">
            <a:avLst>
              <a:gd name="adj" fmla="val 20833"/>
            </a:avLst>
          </a:prstGeom>
          <a:solidFill>
            <a:srgbClr val="FFFFFF"/>
          </a:solidFill>
          <a:ln w="12700">
            <a:solidFill>
              <a:srgbClr val="6E5E94"/>
            </a:solidFill>
            <a:prstDash val="solid"/>
          </a:ln>
        </p:spPr>
      </p:sp>
      <p:sp>
        <p:nvSpPr>
          <p:cNvPr id="83" name="Text 81"/>
          <p:cNvSpPr txBox="1"/>
          <p:nvPr/>
        </p:nvSpPr>
        <p:spPr>
          <a:xfrm>
            <a:off x="548640" y="6254496"/>
            <a:ext cx="11091672" cy="256032"/>
          </a:xfrm>
          <a:prstGeom prst="rect">
            <a:avLst/>
          </a:prstGeom>
          <a:noFill/>
          <a:ln/>
        </p:spPr>
        <p:txBody>
          <a:bodyPr wrap="square" lIns="0" tIns="0" rIns="0" bIns="0" rtlCol="0" anchor="ctr"/>
          <a:lstStyle/>
          <a:p>
            <a:pPr indent="0" marL="0">
              <a:buNone/>
            </a:pPr>
            <a:r>
              <a:rPr lang="en-US" sz="1200" b="1" dirty="0">
                <a:solidFill>
                  <a:srgbClr val="465A69"/>
                </a:solidFill>
                <a:latin typeface="Calibri" pitchFamily="34" charset="0"/>
                <a:ea typeface="Calibri" pitchFamily="34" charset="-122"/>
                <a:cs typeface="Calibri" pitchFamily="34" charset="-120"/>
              </a:rPr>
              <a:t>Acronyms:  </a:t>
            </a:r>
            <a:pPr indent="0" marL="0">
              <a:buNone/>
            </a:pPr>
            <a:r>
              <a:rPr lang="en-US" sz="1200" dirty="0">
                <a:solidFill>
                  <a:srgbClr val="465A69"/>
                </a:solidFill>
                <a:latin typeface="Calibri" pitchFamily="34" charset="0"/>
                <a:ea typeface="Calibri" pitchFamily="34" charset="-122"/>
                <a:cs typeface="Calibri" pitchFamily="34" charset="-120"/>
              </a:rPr>
              <a:t>DR: Disaster Recovery;  SaaS: software as a service</a:t>
            </a:r>
            <a:endParaRPr lang="en-US" sz="1200" dirty="0"/>
          </a:p>
        </p:txBody>
      </p:sp>
      <p:sp>
        <p:nvSpPr>
          <p:cNvPr id="84" name="Shape 82"/>
          <p:cNvSpPr/>
          <p:nvPr/>
        </p:nvSpPr>
        <p:spPr>
          <a:xfrm>
            <a:off x="548640" y="6537960"/>
            <a:ext cx="763524" cy="274320"/>
          </a:xfrm>
          <a:prstGeom prst="roundRect">
            <a:avLst>
              <a:gd name="adj" fmla="val 50000"/>
            </a:avLst>
          </a:prstGeom>
          <a:solidFill>
            <a:srgbClr val="E4ECF2"/>
          </a:solidFill>
          <a:ln w="12700">
            <a:solidFill>
              <a:srgbClr val="E4ECF2"/>
            </a:solidFill>
            <a:prstDash val="solid"/>
          </a:ln>
        </p:spPr>
      </p:sp>
      <p:sp>
        <p:nvSpPr>
          <p:cNvPr id="85" name="Text 83"/>
          <p:cNvSpPr txBox="1"/>
          <p:nvPr/>
        </p:nvSpPr>
        <p:spPr>
          <a:xfrm>
            <a:off x="548640" y="6537960"/>
            <a:ext cx="763524" cy="274320"/>
          </a:xfrm>
          <a:prstGeom prst="rect">
            <a:avLst/>
          </a:prstGeom>
          <a:noFill/>
          <a:ln/>
        </p:spPr>
        <p:txBody>
          <a:bodyPr wrap="square" lIns="0" tIns="0" rIns="0" bIns="0" rtlCol="0" anchor="ctr"/>
          <a:lstStyle/>
          <a:p>
            <a:pPr algn="ctr" indent="0" marL="0">
              <a:buNone/>
            </a:pPr>
            <a:r>
              <a:rPr lang="en-US" sz="1200" b="1" dirty="0">
                <a:solidFill>
                  <a:srgbClr val="23405A"/>
                </a:solidFill>
                <a:latin typeface="Calibri" pitchFamily="34" charset="0"/>
                <a:ea typeface="Calibri" pitchFamily="34" charset="-122"/>
                <a:cs typeface="Calibri" pitchFamily="34" charset="-120"/>
              </a:rPr>
              <a:t>Start</a:t>
            </a:r>
            <a:endParaRPr lang="en-US" sz="1200" dirty="0"/>
          </a:p>
        </p:txBody>
      </p:sp>
      <p:pic>
        <p:nvPicPr>
          <p:cNvPr id="86" name="Image 0" descr="preencoded.png">
            <a:hlinkClick r:id="rId2" tooltip="Go to Start" action="ppaction://hlinksldjump"/>
          </p:cNvPr>
          <p:cNvPicPr>
            <a:picLocks noChangeAspect="1"/>
          </p:cNvPicPr>
          <p:nvPr/>
        </p:nvPicPr>
        <p:blipFill>
          <a:blip r:embed="rId1"/>
          <a:stretch>
            <a:fillRect/>
          </a:stretch>
        </p:blipFill>
        <p:spPr>
          <a:xfrm>
            <a:off x="548640" y="6537960"/>
            <a:ext cx="763524" cy="274320"/>
          </a:xfrm>
          <a:prstGeom prst="rect">
            <a:avLst/>
          </a:prstGeom>
        </p:spPr>
      </p:pic>
      <p:sp>
        <p:nvSpPr>
          <p:cNvPr id="87" name="Shape 84"/>
          <p:cNvSpPr/>
          <p:nvPr/>
        </p:nvSpPr>
        <p:spPr>
          <a:xfrm>
            <a:off x="1385316" y="6537960"/>
            <a:ext cx="1197864" cy="274320"/>
          </a:xfrm>
          <a:prstGeom prst="roundRect">
            <a:avLst>
              <a:gd name="adj" fmla="val 50000"/>
            </a:avLst>
          </a:prstGeom>
          <a:solidFill>
            <a:srgbClr val="F1F6FA"/>
          </a:solidFill>
          <a:ln w="12700">
            <a:solidFill>
              <a:srgbClr val="F1F6FA"/>
            </a:solidFill>
            <a:prstDash val="solid"/>
          </a:ln>
        </p:spPr>
      </p:sp>
      <p:sp>
        <p:nvSpPr>
          <p:cNvPr id="88" name="Text 85"/>
          <p:cNvSpPr txBox="1"/>
          <p:nvPr/>
        </p:nvSpPr>
        <p:spPr>
          <a:xfrm>
            <a:off x="1385316" y="6537960"/>
            <a:ext cx="1197864" cy="274320"/>
          </a:xfrm>
          <a:prstGeom prst="rect">
            <a:avLst/>
          </a:prstGeom>
          <a:noFill/>
          <a:ln/>
        </p:spPr>
        <p:txBody>
          <a:bodyPr wrap="square" lIns="0" tIns="0" rIns="0" bIns="0" rtlCol="0" anchor="ctr"/>
          <a:lstStyle/>
          <a:p>
            <a:pPr algn="ctr" indent="0" marL="0">
              <a:buNone/>
            </a:pPr>
            <a:r>
              <a:rPr lang="en-US" sz="1200" b="1" dirty="0">
                <a:solidFill>
                  <a:srgbClr val="3F6E8C"/>
                </a:solidFill>
                <a:latin typeface="Calibri" pitchFamily="34" charset="0"/>
                <a:ea typeface="Calibri" pitchFamily="34" charset="-122"/>
                <a:cs typeface="Calibri" pitchFamily="34" charset="-120"/>
              </a:rPr>
              <a:t>Scenario 1</a:t>
            </a:r>
            <a:endParaRPr lang="en-US" sz="1200" dirty="0"/>
          </a:p>
        </p:txBody>
      </p:sp>
      <p:pic>
        <p:nvPicPr>
          <p:cNvPr id="89" name="Image 1" descr="preencoded.png">
            <a:hlinkClick r:id="rId4" tooltip="Go to Scenario 1" action="ppaction://hlinksldjump"/>
          </p:cNvPr>
          <p:cNvPicPr>
            <a:picLocks noChangeAspect="1"/>
          </p:cNvPicPr>
          <p:nvPr/>
        </p:nvPicPr>
        <p:blipFill>
          <a:blip r:embed="rId3"/>
          <a:stretch>
            <a:fillRect/>
          </a:stretch>
        </p:blipFill>
        <p:spPr>
          <a:xfrm>
            <a:off x="1385316" y="6537960"/>
            <a:ext cx="1197864" cy="274320"/>
          </a:xfrm>
          <a:prstGeom prst="rect">
            <a:avLst/>
          </a:prstGeom>
        </p:spPr>
      </p:pic>
      <p:sp>
        <p:nvSpPr>
          <p:cNvPr id="90" name="Shape 86"/>
          <p:cNvSpPr/>
          <p:nvPr/>
        </p:nvSpPr>
        <p:spPr>
          <a:xfrm>
            <a:off x="2656332" y="6537960"/>
            <a:ext cx="1197864" cy="274320"/>
          </a:xfrm>
          <a:prstGeom prst="roundRect">
            <a:avLst>
              <a:gd name="adj" fmla="val 50000"/>
            </a:avLst>
          </a:prstGeom>
          <a:solidFill>
            <a:srgbClr val="F1F8F3"/>
          </a:solidFill>
          <a:ln w="12700">
            <a:solidFill>
              <a:srgbClr val="F1F8F3"/>
            </a:solidFill>
            <a:prstDash val="solid"/>
          </a:ln>
        </p:spPr>
      </p:sp>
      <p:sp>
        <p:nvSpPr>
          <p:cNvPr id="91" name="Text 87"/>
          <p:cNvSpPr txBox="1"/>
          <p:nvPr/>
        </p:nvSpPr>
        <p:spPr>
          <a:xfrm>
            <a:off x="2656332" y="6537960"/>
            <a:ext cx="1197864" cy="274320"/>
          </a:xfrm>
          <a:prstGeom prst="rect">
            <a:avLst/>
          </a:prstGeom>
          <a:noFill/>
          <a:ln/>
        </p:spPr>
        <p:txBody>
          <a:bodyPr wrap="square" lIns="0" tIns="0" rIns="0" bIns="0" rtlCol="0" anchor="ctr"/>
          <a:lstStyle/>
          <a:p>
            <a:pPr algn="ctr" indent="0" marL="0">
              <a:buNone/>
            </a:pPr>
            <a:r>
              <a:rPr lang="en-US" sz="1200" b="1" dirty="0">
                <a:solidFill>
                  <a:srgbClr val="4C8068"/>
                </a:solidFill>
                <a:latin typeface="Calibri" pitchFamily="34" charset="0"/>
                <a:ea typeface="Calibri" pitchFamily="34" charset="-122"/>
                <a:cs typeface="Calibri" pitchFamily="34" charset="-120"/>
              </a:rPr>
              <a:t>Scenario 2</a:t>
            </a:r>
            <a:endParaRPr lang="en-US" sz="1200" dirty="0"/>
          </a:p>
        </p:txBody>
      </p:sp>
      <p:pic>
        <p:nvPicPr>
          <p:cNvPr id="92" name="Image 2" descr="preencoded.png">
            <a:hlinkClick r:id="rId6" tooltip="Go to Scenario 2" action="ppaction://hlinksldjump"/>
          </p:cNvPr>
          <p:cNvPicPr>
            <a:picLocks noChangeAspect="1"/>
          </p:cNvPicPr>
          <p:nvPr/>
        </p:nvPicPr>
        <p:blipFill>
          <a:blip r:embed="rId5"/>
          <a:stretch>
            <a:fillRect/>
          </a:stretch>
        </p:blipFill>
        <p:spPr>
          <a:xfrm>
            <a:off x="2656332" y="6537960"/>
            <a:ext cx="1197864" cy="274320"/>
          </a:xfrm>
          <a:prstGeom prst="rect">
            <a:avLst/>
          </a:prstGeom>
        </p:spPr>
      </p:pic>
      <p:sp>
        <p:nvSpPr>
          <p:cNvPr id="93" name="Shape 88"/>
          <p:cNvSpPr/>
          <p:nvPr/>
        </p:nvSpPr>
        <p:spPr>
          <a:xfrm>
            <a:off x="3927348" y="6537960"/>
            <a:ext cx="1197864" cy="274320"/>
          </a:xfrm>
          <a:prstGeom prst="roundRect">
            <a:avLst>
              <a:gd name="adj" fmla="val 50000"/>
            </a:avLst>
          </a:prstGeom>
          <a:solidFill>
            <a:srgbClr val="F6F3FA"/>
          </a:solidFill>
          <a:ln w="12700">
            <a:solidFill>
              <a:srgbClr val="F6F3FA"/>
            </a:solidFill>
            <a:prstDash val="solid"/>
          </a:ln>
        </p:spPr>
      </p:sp>
      <p:sp>
        <p:nvSpPr>
          <p:cNvPr id="94" name="Text 89"/>
          <p:cNvSpPr txBox="1"/>
          <p:nvPr/>
        </p:nvSpPr>
        <p:spPr>
          <a:xfrm>
            <a:off x="3927348" y="6537960"/>
            <a:ext cx="1197864" cy="274320"/>
          </a:xfrm>
          <a:prstGeom prst="rect">
            <a:avLst/>
          </a:prstGeom>
          <a:noFill/>
          <a:ln/>
        </p:spPr>
        <p:txBody>
          <a:bodyPr wrap="square" lIns="0" tIns="0" rIns="0" bIns="0" rtlCol="0" anchor="ctr"/>
          <a:lstStyle/>
          <a:p>
            <a:pPr algn="ctr" indent="0" marL="0">
              <a:buNone/>
            </a:pPr>
            <a:r>
              <a:rPr lang="en-US" sz="1200" b="1" dirty="0">
                <a:solidFill>
                  <a:srgbClr val="6E5E94"/>
                </a:solidFill>
                <a:latin typeface="Calibri" pitchFamily="34" charset="0"/>
                <a:ea typeface="Calibri" pitchFamily="34" charset="-122"/>
                <a:cs typeface="Calibri" pitchFamily="34" charset="-120"/>
              </a:rPr>
              <a:t>Scenario 3</a:t>
            </a:r>
            <a:endParaRPr lang="en-US" sz="1200" dirty="0"/>
          </a:p>
        </p:txBody>
      </p:sp>
      <p:pic>
        <p:nvPicPr>
          <p:cNvPr id="95" name="Image 3" descr="preencoded.png">
            <a:hlinkClick r:id="rId8" tooltip="Go to Scenario 3" action="ppaction://hlinksldjump"/>
          </p:cNvPr>
          <p:cNvPicPr>
            <a:picLocks noChangeAspect="1"/>
          </p:cNvPicPr>
          <p:nvPr/>
        </p:nvPicPr>
        <p:blipFill>
          <a:blip r:embed="rId7"/>
          <a:stretch>
            <a:fillRect/>
          </a:stretch>
        </p:blipFill>
        <p:spPr>
          <a:xfrm>
            <a:off x="3927348" y="6537960"/>
            <a:ext cx="1197864" cy="274320"/>
          </a:xfrm>
          <a:prstGeom prst="rect">
            <a:avLst/>
          </a:prstGeom>
        </p:spPr>
      </p:pic>
      <p:sp>
        <p:nvSpPr>
          <p:cNvPr id="96" name="Shape 90"/>
          <p:cNvSpPr/>
          <p:nvPr/>
        </p:nvSpPr>
        <p:spPr>
          <a:xfrm>
            <a:off x="5198364" y="6537960"/>
            <a:ext cx="937260" cy="274320"/>
          </a:xfrm>
          <a:prstGeom prst="roundRect">
            <a:avLst>
              <a:gd name="adj" fmla="val 50000"/>
            </a:avLst>
          </a:prstGeom>
          <a:solidFill>
            <a:srgbClr val="23405A"/>
          </a:solidFill>
          <a:ln w="12700">
            <a:solidFill>
              <a:srgbClr val="23405A"/>
            </a:solidFill>
            <a:prstDash val="solid"/>
          </a:ln>
        </p:spPr>
      </p:sp>
      <p:sp>
        <p:nvSpPr>
          <p:cNvPr id="97" name="Text 91"/>
          <p:cNvSpPr txBox="1"/>
          <p:nvPr/>
        </p:nvSpPr>
        <p:spPr>
          <a:xfrm>
            <a:off x="5198364" y="6537960"/>
            <a:ext cx="93726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Closing</a:t>
            </a:r>
            <a:endParaRPr lang="en-US" sz="1200" dirty="0"/>
          </a:p>
        </p:txBody>
      </p:sp>
      <p:pic>
        <p:nvPicPr>
          <p:cNvPr id="98" name="Image 4" descr="preencoded.png">
            <a:hlinkClick r:id="rId10" tooltip="Go to Closing" action="ppaction://hlinksldjump"/>
          </p:cNvPr>
          <p:cNvPicPr>
            <a:picLocks noChangeAspect="1"/>
          </p:cNvPicPr>
          <p:nvPr/>
        </p:nvPicPr>
        <p:blipFill>
          <a:blip r:embed="rId9"/>
          <a:stretch>
            <a:fillRect/>
          </a:stretch>
        </p:blipFill>
        <p:spPr>
          <a:xfrm>
            <a:off x="5198364" y="6537960"/>
            <a:ext cx="937260" cy="274320"/>
          </a:xfrm>
          <a:prstGeom prst="rect">
            <a:avLst/>
          </a:prstGeom>
        </p:spPr>
      </p:pic>
      <p:sp>
        <p:nvSpPr>
          <p:cNvPr id="99" name="Text 92"/>
          <p:cNvSpPr txBox="1"/>
          <p:nvPr/>
        </p:nvSpPr>
        <p:spPr>
          <a:xfrm>
            <a:off x="11277295" y="6537960"/>
            <a:ext cx="365760" cy="274320"/>
          </a:xfrm>
          <a:prstGeom prst="rect">
            <a:avLst/>
          </a:prstGeom>
          <a:noFill/>
          <a:ln/>
        </p:spPr>
        <p:txBody>
          <a:bodyPr wrap="square" lIns="0" tIns="0" rIns="0" bIns="0" rtlCol="0" anchor="ctr"/>
          <a:lstStyle/>
          <a:p>
            <a:pPr algn="r" indent="0" marL="0">
              <a:buNone/>
            </a:pPr>
            <a:r>
              <a:rPr lang="en-US" sz="1200" dirty="0">
                <a:solidFill>
                  <a:srgbClr val="465A69"/>
                </a:solidFill>
                <a:latin typeface="Calibri" pitchFamily="34" charset="0"/>
                <a:ea typeface="Calibri" pitchFamily="34" charset="-122"/>
                <a:cs typeface="Calibri" pitchFamily="34" charset="-120"/>
              </a:rPr>
              <a:t>57</a:t>
            </a:r>
            <a:endParaRPr lang="en-US" sz="12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EEF2F1"/>
        </a:solidFill>
      </p:bgPr>
    </p:bg>
    <p:spTree>
      <p:nvGrpSpPr>
        <p:cNvPr id="1" name=""/>
        <p:cNvGrpSpPr/>
        <p:nvPr/>
      </p:nvGrpSpPr>
      <p:grpSpPr>
        <a:xfrm>
          <a:off x="0" y="0"/>
          <a:ext cx="0" cy="0"/>
          <a:chOff x="0" y="0"/>
          <a:chExt cx="0" cy="0"/>
        </a:xfrm>
      </p:grpSpPr>
      <p:sp>
        <p:nvSpPr>
          <p:cNvPr id="2" name="Shape 0"/>
          <p:cNvSpPr/>
          <p:nvPr/>
        </p:nvSpPr>
        <p:spPr>
          <a:xfrm>
            <a:off x="548640" y="347472"/>
            <a:ext cx="1280160" cy="329184"/>
          </a:xfrm>
          <a:prstGeom prst="roundRect">
            <a:avLst>
              <a:gd name="adj" fmla="val 50000"/>
            </a:avLst>
          </a:prstGeom>
          <a:solidFill>
            <a:srgbClr val="E4ECF2"/>
          </a:solidFill>
          <a:ln w="12700">
            <a:solidFill>
              <a:srgbClr val="E4ECF2"/>
            </a:solidFill>
            <a:prstDash val="solid"/>
          </a:ln>
        </p:spPr>
      </p:sp>
      <p:sp>
        <p:nvSpPr>
          <p:cNvPr id="3" name="Text 1"/>
          <p:cNvSpPr txBox="1"/>
          <p:nvPr/>
        </p:nvSpPr>
        <p:spPr>
          <a:xfrm>
            <a:off x="548640" y="347472"/>
            <a:ext cx="1280160" cy="329184"/>
          </a:xfrm>
          <a:prstGeom prst="rect">
            <a:avLst/>
          </a:prstGeom>
          <a:noFill/>
          <a:ln/>
        </p:spPr>
        <p:txBody>
          <a:bodyPr wrap="square" lIns="0" tIns="0" rIns="0" bIns="0" rtlCol="0" anchor="ctr"/>
          <a:lstStyle/>
          <a:p>
            <a:pPr algn="ctr" indent="0" marL="0">
              <a:buNone/>
            </a:pPr>
            <a:r>
              <a:rPr lang="en-US" sz="1200" b="1" dirty="0">
                <a:solidFill>
                  <a:srgbClr val="23405A"/>
                </a:solidFill>
                <a:latin typeface="Calibri" pitchFamily="34" charset="0"/>
                <a:ea typeface="Calibri" pitchFamily="34" charset="-122"/>
                <a:cs typeface="Calibri" pitchFamily="34" charset="-120"/>
              </a:rPr>
              <a:t>Conclusion</a:t>
            </a:r>
            <a:endParaRPr lang="en-US" sz="1200" dirty="0"/>
          </a:p>
        </p:txBody>
      </p:sp>
      <p:sp>
        <p:nvSpPr>
          <p:cNvPr id="4" name="Text 2"/>
          <p:cNvSpPr txBox="1"/>
          <p:nvPr/>
        </p:nvSpPr>
        <p:spPr>
          <a:xfrm>
            <a:off x="548640" y="749808"/>
            <a:ext cx="11064240" cy="640080"/>
          </a:xfrm>
          <a:prstGeom prst="rect">
            <a:avLst/>
          </a:prstGeom>
          <a:noFill/>
          <a:ln/>
        </p:spPr>
        <p:txBody>
          <a:bodyPr wrap="square" lIns="0" tIns="0" rIns="0" bIns="0" rtlCol="0" anchor="ctr"/>
          <a:lstStyle/>
          <a:p>
            <a:pPr indent="0" marL="0">
              <a:buNone/>
            </a:pPr>
            <a:r>
              <a:rPr lang="en-US" sz="2800" b="1" dirty="0">
                <a:solidFill>
                  <a:srgbClr val="23405A"/>
                </a:solidFill>
                <a:latin typeface="Calibri" pitchFamily="34" charset="0"/>
                <a:ea typeface="Calibri" pitchFamily="34" charset="-122"/>
                <a:cs typeface="Calibri" pitchFamily="34" charset="-120"/>
              </a:rPr>
              <a:t>Overall debrief and after-action</a:t>
            </a:r>
            <a:endParaRPr lang="en-US" sz="2800" dirty="0"/>
          </a:p>
        </p:txBody>
      </p:sp>
      <p:sp>
        <p:nvSpPr>
          <p:cNvPr id="5" name="Shape 3"/>
          <p:cNvSpPr/>
          <p:nvPr/>
        </p:nvSpPr>
        <p:spPr>
          <a:xfrm>
            <a:off x="548640" y="1600200"/>
            <a:ext cx="5413248" cy="2103120"/>
          </a:xfrm>
          <a:prstGeom prst="roundRect">
            <a:avLst>
              <a:gd name="adj" fmla="val 6087"/>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6" name="Shape 4"/>
          <p:cNvSpPr/>
          <p:nvPr/>
        </p:nvSpPr>
        <p:spPr>
          <a:xfrm>
            <a:off x="822960" y="1874520"/>
            <a:ext cx="502920" cy="502920"/>
          </a:xfrm>
          <a:prstGeom prst="ellipse">
            <a:avLst/>
          </a:prstGeom>
          <a:solidFill>
            <a:srgbClr val="E4ECF2"/>
          </a:solidFill>
          <a:ln w="12700">
            <a:solidFill>
              <a:srgbClr val="E4ECF2"/>
            </a:solidFill>
            <a:prstDash val="solid"/>
          </a:ln>
        </p:spPr>
      </p:sp>
      <p:sp>
        <p:nvSpPr>
          <p:cNvPr id="7" name="Text 5"/>
          <p:cNvSpPr txBox="1"/>
          <p:nvPr/>
        </p:nvSpPr>
        <p:spPr>
          <a:xfrm>
            <a:off x="822960" y="1874520"/>
            <a:ext cx="502920" cy="502920"/>
          </a:xfrm>
          <a:prstGeom prst="rect">
            <a:avLst/>
          </a:prstGeom>
          <a:noFill/>
          <a:ln/>
        </p:spPr>
        <p:txBody>
          <a:bodyPr wrap="square" lIns="0" tIns="0" rIns="0" bIns="0" rtlCol="0" anchor="ctr"/>
          <a:lstStyle/>
          <a:p>
            <a:pPr algn="ctr" indent="0" marL="0">
              <a:buNone/>
            </a:pPr>
            <a:r>
              <a:rPr lang="en-US" sz="1600" b="1" dirty="0">
                <a:solidFill>
                  <a:srgbClr val="23405A"/>
                </a:solidFill>
                <a:latin typeface="Calibri" pitchFamily="34" charset="0"/>
                <a:ea typeface="Calibri" pitchFamily="34" charset="-122"/>
                <a:cs typeface="Calibri" pitchFamily="34" charset="-120"/>
              </a:rPr>
              <a:t>1</a:t>
            </a:r>
            <a:endParaRPr lang="en-US" sz="1600" dirty="0"/>
          </a:p>
        </p:txBody>
      </p:sp>
      <p:sp>
        <p:nvSpPr>
          <p:cNvPr id="8" name="Text 6"/>
          <p:cNvSpPr txBox="1"/>
          <p:nvPr/>
        </p:nvSpPr>
        <p:spPr>
          <a:xfrm>
            <a:off x="1508760" y="1920240"/>
            <a:ext cx="4224528" cy="411480"/>
          </a:xfrm>
          <a:prstGeom prst="rect">
            <a:avLst/>
          </a:prstGeom>
          <a:noFill/>
          <a:ln/>
        </p:spPr>
        <p:txBody>
          <a:bodyPr wrap="square" lIns="0" tIns="0" rIns="0" bIns="0" rtlCol="0" anchor="t"/>
          <a:lstStyle/>
          <a:p>
            <a:pPr indent="0" marL="0">
              <a:buNone/>
            </a:pPr>
            <a:r>
              <a:rPr lang="en-US" sz="1900" b="1" dirty="0">
                <a:solidFill>
                  <a:srgbClr val="1E2E3A"/>
                </a:solidFill>
                <a:latin typeface="Calibri" pitchFamily="34" charset="0"/>
                <a:ea typeface="Calibri" pitchFamily="34" charset="-122"/>
                <a:cs typeface="Calibri" pitchFamily="34" charset="-120"/>
              </a:rPr>
              <a:t>Themes across scenarios</a:t>
            </a:r>
            <a:endParaRPr lang="en-US" sz="1900" dirty="0"/>
          </a:p>
        </p:txBody>
      </p:sp>
      <p:sp>
        <p:nvSpPr>
          <p:cNvPr id="9" name="Text 7"/>
          <p:cNvSpPr txBox="1"/>
          <p:nvPr/>
        </p:nvSpPr>
        <p:spPr>
          <a:xfrm>
            <a:off x="822960" y="2560320"/>
            <a:ext cx="4864608" cy="960120"/>
          </a:xfrm>
          <a:prstGeom prst="rect">
            <a:avLst/>
          </a:prstGeom>
          <a:noFill/>
          <a:ln/>
        </p:spPr>
        <p:txBody>
          <a:bodyPr wrap="square" lIns="0" tIns="0" rIns="0" bIns="0" rtlCol="0" anchor="t"/>
          <a:lstStyle/>
          <a:p>
            <a:pPr indent="0" marL="0">
              <a:buNone/>
            </a:pPr>
            <a:r>
              <a:rPr lang="en-US" sz="1450" dirty="0">
                <a:solidFill>
                  <a:srgbClr val="465A69"/>
                </a:solidFill>
                <a:latin typeface="Calibri" pitchFamily="34" charset="0"/>
                <a:ea typeface="Calibri" pitchFamily="34" charset="-122"/>
                <a:cs typeface="Calibri" pitchFamily="34" charset="-120"/>
              </a:rPr>
              <a:t>Which gaps showed up more than once? SaaS concentration, third-party risk, decision authority?</a:t>
            </a:r>
            <a:endParaRPr lang="en-US" sz="1450" dirty="0"/>
          </a:p>
        </p:txBody>
      </p:sp>
      <p:sp>
        <p:nvSpPr>
          <p:cNvPr id="10" name="Shape 8"/>
          <p:cNvSpPr/>
          <p:nvPr/>
        </p:nvSpPr>
        <p:spPr>
          <a:xfrm>
            <a:off x="6227064" y="1600200"/>
            <a:ext cx="5413248" cy="2103120"/>
          </a:xfrm>
          <a:prstGeom prst="roundRect">
            <a:avLst>
              <a:gd name="adj" fmla="val 6087"/>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11" name="Shape 9"/>
          <p:cNvSpPr/>
          <p:nvPr/>
        </p:nvSpPr>
        <p:spPr>
          <a:xfrm>
            <a:off x="6501384" y="1874520"/>
            <a:ext cx="502920" cy="502920"/>
          </a:xfrm>
          <a:prstGeom prst="ellipse">
            <a:avLst/>
          </a:prstGeom>
          <a:solidFill>
            <a:srgbClr val="E4ECF2"/>
          </a:solidFill>
          <a:ln w="12700">
            <a:solidFill>
              <a:srgbClr val="E4ECF2"/>
            </a:solidFill>
            <a:prstDash val="solid"/>
          </a:ln>
        </p:spPr>
      </p:sp>
      <p:sp>
        <p:nvSpPr>
          <p:cNvPr id="12" name="Text 10"/>
          <p:cNvSpPr txBox="1"/>
          <p:nvPr/>
        </p:nvSpPr>
        <p:spPr>
          <a:xfrm>
            <a:off x="6501384" y="1874520"/>
            <a:ext cx="502920" cy="502920"/>
          </a:xfrm>
          <a:prstGeom prst="rect">
            <a:avLst/>
          </a:prstGeom>
          <a:noFill/>
          <a:ln/>
        </p:spPr>
        <p:txBody>
          <a:bodyPr wrap="square" lIns="0" tIns="0" rIns="0" bIns="0" rtlCol="0" anchor="ctr"/>
          <a:lstStyle/>
          <a:p>
            <a:pPr algn="ctr" indent="0" marL="0">
              <a:buNone/>
            </a:pPr>
            <a:r>
              <a:rPr lang="en-US" sz="1600" b="1" dirty="0">
                <a:solidFill>
                  <a:srgbClr val="23405A"/>
                </a:solidFill>
                <a:latin typeface="Calibri" pitchFamily="34" charset="0"/>
                <a:ea typeface="Calibri" pitchFamily="34" charset="-122"/>
                <a:cs typeface="Calibri" pitchFamily="34" charset="-120"/>
              </a:rPr>
              <a:t>2</a:t>
            </a:r>
            <a:endParaRPr lang="en-US" sz="1600" dirty="0"/>
          </a:p>
        </p:txBody>
      </p:sp>
      <p:sp>
        <p:nvSpPr>
          <p:cNvPr id="13" name="Text 11"/>
          <p:cNvSpPr txBox="1"/>
          <p:nvPr/>
        </p:nvSpPr>
        <p:spPr>
          <a:xfrm>
            <a:off x="7187184" y="1920240"/>
            <a:ext cx="4224528" cy="411480"/>
          </a:xfrm>
          <a:prstGeom prst="rect">
            <a:avLst/>
          </a:prstGeom>
          <a:noFill/>
          <a:ln/>
        </p:spPr>
        <p:txBody>
          <a:bodyPr wrap="square" lIns="0" tIns="0" rIns="0" bIns="0" rtlCol="0" anchor="t"/>
          <a:lstStyle/>
          <a:p>
            <a:pPr indent="0" marL="0">
              <a:buNone/>
            </a:pPr>
            <a:r>
              <a:rPr lang="en-US" sz="1900" b="1" dirty="0">
                <a:solidFill>
                  <a:srgbClr val="1E2E3A"/>
                </a:solidFill>
                <a:latin typeface="Calibri" pitchFamily="34" charset="0"/>
                <a:ea typeface="Calibri" pitchFamily="34" charset="-122"/>
                <a:cs typeface="Calibri" pitchFamily="34" charset="-120"/>
              </a:rPr>
              <a:t>Decision making under uncertainty</a:t>
            </a:r>
            <a:endParaRPr lang="en-US" sz="1900" dirty="0"/>
          </a:p>
        </p:txBody>
      </p:sp>
      <p:sp>
        <p:nvSpPr>
          <p:cNvPr id="14" name="Text 12"/>
          <p:cNvSpPr txBox="1"/>
          <p:nvPr/>
        </p:nvSpPr>
        <p:spPr>
          <a:xfrm>
            <a:off x="6501384" y="2560320"/>
            <a:ext cx="4864608" cy="960120"/>
          </a:xfrm>
          <a:prstGeom prst="rect">
            <a:avLst/>
          </a:prstGeom>
          <a:noFill/>
          <a:ln/>
        </p:spPr>
        <p:txBody>
          <a:bodyPr wrap="square" lIns="0" tIns="0" rIns="0" bIns="0" rtlCol="0" anchor="t"/>
          <a:lstStyle/>
          <a:p>
            <a:pPr indent="0" marL="0">
              <a:buNone/>
            </a:pPr>
            <a:r>
              <a:rPr lang="en-US" sz="1450" dirty="0">
                <a:solidFill>
                  <a:srgbClr val="465A69"/>
                </a:solidFill>
                <a:latin typeface="Calibri" pitchFamily="34" charset="0"/>
                <a:ea typeface="Calibri" pitchFamily="34" charset="-122"/>
                <a:cs typeface="Calibri" pitchFamily="34" charset="-120"/>
              </a:rPr>
              <a:t>Where did the team wait too long, or move before it had enough information?</a:t>
            </a:r>
            <a:endParaRPr lang="en-US" sz="1450" dirty="0"/>
          </a:p>
        </p:txBody>
      </p:sp>
      <p:sp>
        <p:nvSpPr>
          <p:cNvPr id="15" name="Shape 13"/>
          <p:cNvSpPr/>
          <p:nvPr/>
        </p:nvSpPr>
        <p:spPr>
          <a:xfrm>
            <a:off x="548640" y="3977640"/>
            <a:ext cx="5413248" cy="2103120"/>
          </a:xfrm>
          <a:prstGeom prst="roundRect">
            <a:avLst>
              <a:gd name="adj" fmla="val 6087"/>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16" name="Shape 14"/>
          <p:cNvSpPr/>
          <p:nvPr/>
        </p:nvSpPr>
        <p:spPr>
          <a:xfrm>
            <a:off x="822960" y="4251960"/>
            <a:ext cx="502920" cy="502920"/>
          </a:xfrm>
          <a:prstGeom prst="ellipse">
            <a:avLst/>
          </a:prstGeom>
          <a:solidFill>
            <a:srgbClr val="E4ECF2"/>
          </a:solidFill>
          <a:ln w="12700">
            <a:solidFill>
              <a:srgbClr val="E4ECF2"/>
            </a:solidFill>
            <a:prstDash val="solid"/>
          </a:ln>
        </p:spPr>
      </p:sp>
      <p:sp>
        <p:nvSpPr>
          <p:cNvPr id="17" name="Text 15"/>
          <p:cNvSpPr txBox="1"/>
          <p:nvPr/>
        </p:nvSpPr>
        <p:spPr>
          <a:xfrm>
            <a:off x="822960" y="4251960"/>
            <a:ext cx="502920" cy="502920"/>
          </a:xfrm>
          <a:prstGeom prst="rect">
            <a:avLst/>
          </a:prstGeom>
          <a:noFill/>
          <a:ln/>
        </p:spPr>
        <p:txBody>
          <a:bodyPr wrap="square" lIns="0" tIns="0" rIns="0" bIns="0" rtlCol="0" anchor="ctr"/>
          <a:lstStyle/>
          <a:p>
            <a:pPr algn="ctr" indent="0" marL="0">
              <a:buNone/>
            </a:pPr>
            <a:r>
              <a:rPr lang="en-US" sz="1600" b="1" dirty="0">
                <a:solidFill>
                  <a:srgbClr val="23405A"/>
                </a:solidFill>
                <a:latin typeface="Calibri" pitchFamily="34" charset="0"/>
                <a:ea typeface="Calibri" pitchFamily="34" charset="-122"/>
                <a:cs typeface="Calibri" pitchFamily="34" charset="-120"/>
              </a:rPr>
              <a:t>3</a:t>
            </a:r>
            <a:endParaRPr lang="en-US" sz="1600" dirty="0"/>
          </a:p>
        </p:txBody>
      </p:sp>
      <p:sp>
        <p:nvSpPr>
          <p:cNvPr id="18" name="Text 16"/>
          <p:cNvSpPr txBox="1"/>
          <p:nvPr/>
        </p:nvSpPr>
        <p:spPr>
          <a:xfrm>
            <a:off x="1508760" y="4297680"/>
            <a:ext cx="4224528" cy="411480"/>
          </a:xfrm>
          <a:prstGeom prst="rect">
            <a:avLst/>
          </a:prstGeom>
          <a:noFill/>
          <a:ln/>
        </p:spPr>
        <p:txBody>
          <a:bodyPr wrap="square" lIns="0" tIns="0" rIns="0" bIns="0" rtlCol="0" anchor="t"/>
          <a:lstStyle/>
          <a:p>
            <a:pPr indent="0" marL="0">
              <a:buNone/>
            </a:pPr>
            <a:r>
              <a:rPr lang="en-US" sz="1900" b="1" dirty="0">
                <a:solidFill>
                  <a:srgbClr val="1E2E3A"/>
                </a:solidFill>
                <a:latin typeface="Calibri" pitchFamily="34" charset="0"/>
                <a:ea typeface="Calibri" pitchFamily="34" charset="-122"/>
                <a:cs typeface="Calibri" pitchFamily="34" charset="-120"/>
              </a:rPr>
              <a:t>Actions and owners</a:t>
            </a:r>
            <a:endParaRPr lang="en-US" sz="1900" dirty="0"/>
          </a:p>
        </p:txBody>
      </p:sp>
      <p:sp>
        <p:nvSpPr>
          <p:cNvPr id="19" name="Text 17"/>
          <p:cNvSpPr txBox="1"/>
          <p:nvPr/>
        </p:nvSpPr>
        <p:spPr>
          <a:xfrm>
            <a:off x="822960" y="4937760"/>
            <a:ext cx="4864608" cy="960120"/>
          </a:xfrm>
          <a:prstGeom prst="rect">
            <a:avLst/>
          </a:prstGeom>
          <a:noFill/>
          <a:ln/>
        </p:spPr>
        <p:txBody>
          <a:bodyPr wrap="square" lIns="0" tIns="0" rIns="0" bIns="0" rtlCol="0" anchor="t"/>
          <a:lstStyle/>
          <a:p>
            <a:pPr indent="0" marL="0">
              <a:buNone/>
            </a:pPr>
            <a:r>
              <a:rPr lang="en-US" sz="1450" dirty="0">
                <a:solidFill>
                  <a:srgbClr val="465A69"/>
                </a:solidFill>
                <a:latin typeface="Calibri" pitchFamily="34" charset="0"/>
                <a:ea typeface="Calibri" pitchFamily="34" charset="-122"/>
                <a:cs typeface="Calibri" pitchFamily="34" charset="-120"/>
              </a:rPr>
              <a:t>What follow-up actions are needed, who owns each, and by when?</a:t>
            </a:r>
            <a:endParaRPr lang="en-US" sz="1450" dirty="0"/>
          </a:p>
        </p:txBody>
      </p:sp>
      <p:sp>
        <p:nvSpPr>
          <p:cNvPr id="20" name="Shape 18"/>
          <p:cNvSpPr/>
          <p:nvPr/>
        </p:nvSpPr>
        <p:spPr>
          <a:xfrm>
            <a:off x="6227064" y="3977640"/>
            <a:ext cx="5413248" cy="2103120"/>
          </a:xfrm>
          <a:prstGeom prst="roundRect">
            <a:avLst>
              <a:gd name="adj" fmla="val 6087"/>
            </a:avLst>
          </a:prstGeom>
          <a:solidFill>
            <a:srgbClr val="FFFFFF"/>
          </a:solidFill>
          <a:ln w="12700">
            <a:solidFill>
              <a:srgbClr val="FFFFFF"/>
            </a:solidFill>
            <a:prstDash val="solid"/>
          </a:ln>
          <a:effectLst>
            <a:outerShdw sx="100000" sy="100000" kx="0" ky="0" algn="bl" rotWithShape="0" blurRad="177800" dist="50800" dir="5400000">
              <a:srgbClr val="1B4965">
                <a:alpha val="16000"/>
              </a:srgbClr>
            </a:outerShdw>
          </a:effectLst>
        </p:spPr>
      </p:sp>
      <p:sp>
        <p:nvSpPr>
          <p:cNvPr id="21" name="Shape 19"/>
          <p:cNvSpPr/>
          <p:nvPr/>
        </p:nvSpPr>
        <p:spPr>
          <a:xfrm>
            <a:off x="6501384" y="4251960"/>
            <a:ext cx="502920" cy="502920"/>
          </a:xfrm>
          <a:prstGeom prst="ellipse">
            <a:avLst/>
          </a:prstGeom>
          <a:solidFill>
            <a:srgbClr val="E4ECF2"/>
          </a:solidFill>
          <a:ln w="12700">
            <a:solidFill>
              <a:srgbClr val="E4ECF2"/>
            </a:solidFill>
            <a:prstDash val="solid"/>
          </a:ln>
        </p:spPr>
      </p:sp>
      <p:sp>
        <p:nvSpPr>
          <p:cNvPr id="22" name="Text 20"/>
          <p:cNvSpPr txBox="1"/>
          <p:nvPr/>
        </p:nvSpPr>
        <p:spPr>
          <a:xfrm>
            <a:off x="6501384" y="4251960"/>
            <a:ext cx="502920" cy="502920"/>
          </a:xfrm>
          <a:prstGeom prst="rect">
            <a:avLst/>
          </a:prstGeom>
          <a:noFill/>
          <a:ln/>
        </p:spPr>
        <p:txBody>
          <a:bodyPr wrap="square" lIns="0" tIns="0" rIns="0" bIns="0" rtlCol="0" anchor="ctr"/>
          <a:lstStyle/>
          <a:p>
            <a:pPr algn="ctr" indent="0" marL="0">
              <a:buNone/>
            </a:pPr>
            <a:r>
              <a:rPr lang="en-US" sz="1600" b="1" dirty="0">
                <a:solidFill>
                  <a:srgbClr val="23405A"/>
                </a:solidFill>
                <a:latin typeface="Calibri" pitchFamily="34" charset="0"/>
                <a:ea typeface="Calibri" pitchFamily="34" charset="-122"/>
                <a:cs typeface="Calibri" pitchFamily="34" charset="-120"/>
              </a:rPr>
              <a:t>4</a:t>
            </a:r>
            <a:endParaRPr lang="en-US" sz="1600" dirty="0"/>
          </a:p>
        </p:txBody>
      </p:sp>
      <p:sp>
        <p:nvSpPr>
          <p:cNvPr id="23" name="Text 21"/>
          <p:cNvSpPr txBox="1"/>
          <p:nvPr/>
        </p:nvSpPr>
        <p:spPr>
          <a:xfrm>
            <a:off x="7187184" y="4297680"/>
            <a:ext cx="4224528" cy="411480"/>
          </a:xfrm>
          <a:prstGeom prst="rect">
            <a:avLst/>
          </a:prstGeom>
          <a:noFill/>
          <a:ln/>
        </p:spPr>
        <p:txBody>
          <a:bodyPr wrap="square" lIns="0" tIns="0" rIns="0" bIns="0" rtlCol="0" anchor="t"/>
          <a:lstStyle/>
          <a:p>
            <a:pPr indent="0" marL="0">
              <a:buNone/>
            </a:pPr>
            <a:r>
              <a:rPr lang="en-US" sz="1900" b="1" dirty="0">
                <a:solidFill>
                  <a:srgbClr val="1E2E3A"/>
                </a:solidFill>
                <a:latin typeface="Calibri" pitchFamily="34" charset="0"/>
                <a:ea typeface="Calibri" pitchFamily="34" charset="-122"/>
                <a:cs typeface="Calibri" pitchFamily="34" charset="-120"/>
              </a:rPr>
              <a:t>Plan updates</a:t>
            </a:r>
            <a:endParaRPr lang="en-US" sz="1900" dirty="0"/>
          </a:p>
        </p:txBody>
      </p:sp>
      <p:sp>
        <p:nvSpPr>
          <p:cNvPr id="24" name="Text 22"/>
          <p:cNvSpPr txBox="1"/>
          <p:nvPr/>
        </p:nvSpPr>
        <p:spPr>
          <a:xfrm>
            <a:off x="6501384" y="4937760"/>
            <a:ext cx="4864608" cy="960120"/>
          </a:xfrm>
          <a:prstGeom prst="rect">
            <a:avLst/>
          </a:prstGeom>
          <a:noFill/>
          <a:ln/>
        </p:spPr>
        <p:txBody>
          <a:bodyPr wrap="square" lIns="0" tIns="0" rIns="0" bIns="0" rtlCol="0" anchor="t"/>
          <a:lstStyle/>
          <a:p>
            <a:pPr indent="0" marL="0">
              <a:buNone/>
            </a:pPr>
            <a:r>
              <a:rPr lang="en-US" sz="1450" dirty="0">
                <a:solidFill>
                  <a:srgbClr val="465A69"/>
                </a:solidFill>
                <a:latin typeface="Calibri" pitchFamily="34" charset="0"/>
                <a:ea typeface="Calibri" pitchFamily="34" charset="-122"/>
                <a:cs typeface="Calibri" pitchFamily="34" charset="-120"/>
              </a:rPr>
              <a:t>Which IR, DR, and BC plan sections, contact lists, and runbooks change as a result?</a:t>
            </a:r>
            <a:endParaRPr lang="en-US" sz="1450" dirty="0"/>
          </a:p>
        </p:txBody>
      </p:sp>
      <p:sp>
        <p:nvSpPr>
          <p:cNvPr id="25" name="Text 23"/>
          <p:cNvSpPr txBox="1"/>
          <p:nvPr/>
        </p:nvSpPr>
        <p:spPr>
          <a:xfrm>
            <a:off x="548640" y="6254496"/>
            <a:ext cx="11091672" cy="256032"/>
          </a:xfrm>
          <a:prstGeom prst="rect">
            <a:avLst/>
          </a:prstGeom>
          <a:noFill/>
          <a:ln/>
        </p:spPr>
        <p:txBody>
          <a:bodyPr wrap="square" lIns="0" tIns="0" rIns="0" bIns="0" rtlCol="0" anchor="ctr"/>
          <a:lstStyle/>
          <a:p>
            <a:pPr indent="0" marL="0">
              <a:buNone/>
            </a:pPr>
            <a:r>
              <a:rPr lang="en-US" sz="1200" b="1" dirty="0">
                <a:solidFill>
                  <a:srgbClr val="465A69"/>
                </a:solidFill>
                <a:latin typeface="Calibri" pitchFamily="34" charset="0"/>
                <a:ea typeface="Calibri" pitchFamily="34" charset="-122"/>
                <a:cs typeface="Calibri" pitchFamily="34" charset="-120"/>
              </a:rPr>
              <a:t>Acronyms:  </a:t>
            </a:r>
            <a:pPr indent="0" marL="0">
              <a:buNone/>
            </a:pPr>
            <a:r>
              <a:rPr lang="en-US" sz="1200" dirty="0">
                <a:solidFill>
                  <a:srgbClr val="465A69"/>
                </a:solidFill>
                <a:latin typeface="Calibri" pitchFamily="34" charset="0"/>
                <a:ea typeface="Calibri" pitchFamily="34" charset="-122"/>
                <a:cs typeface="Calibri" pitchFamily="34" charset="-120"/>
              </a:rPr>
              <a:t>IR: Incident Response;  DR: Disaster Recovery;  BC: Business Continuity;  SaaS: software as a service</a:t>
            </a:r>
            <a:endParaRPr lang="en-US" sz="1200" dirty="0"/>
          </a:p>
        </p:txBody>
      </p:sp>
      <p:sp>
        <p:nvSpPr>
          <p:cNvPr id="26" name="Shape 24"/>
          <p:cNvSpPr/>
          <p:nvPr/>
        </p:nvSpPr>
        <p:spPr>
          <a:xfrm>
            <a:off x="548640" y="6537960"/>
            <a:ext cx="763524" cy="274320"/>
          </a:xfrm>
          <a:prstGeom prst="roundRect">
            <a:avLst>
              <a:gd name="adj" fmla="val 50000"/>
            </a:avLst>
          </a:prstGeom>
          <a:solidFill>
            <a:srgbClr val="E4ECF2"/>
          </a:solidFill>
          <a:ln w="12700">
            <a:solidFill>
              <a:srgbClr val="E4ECF2"/>
            </a:solidFill>
            <a:prstDash val="solid"/>
          </a:ln>
        </p:spPr>
      </p:sp>
      <p:sp>
        <p:nvSpPr>
          <p:cNvPr id="27" name="Text 25"/>
          <p:cNvSpPr txBox="1"/>
          <p:nvPr/>
        </p:nvSpPr>
        <p:spPr>
          <a:xfrm>
            <a:off x="548640" y="6537960"/>
            <a:ext cx="763524" cy="274320"/>
          </a:xfrm>
          <a:prstGeom prst="rect">
            <a:avLst/>
          </a:prstGeom>
          <a:noFill/>
          <a:ln/>
        </p:spPr>
        <p:txBody>
          <a:bodyPr wrap="square" lIns="0" tIns="0" rIns="0" bIns="0" rtlCol="0" anchor="ctr"/>
          <a:lstStyle/>
          <a:p>
            <a:pPr algn="ctr" indent="0" marL="0">
              <a:buNone/>
            </a:pPr>
            <a:r>
              <a:rPr lang="en-US" sz="1200" b="1" dirty="0">
                <a:solidFill>
                  <a:srgbClr val="23405A"/>
                </a:solidFill>
                <a:latin typeface="Calibri" pitchFamily="34" charset="0"/>
                <a:ea typeface="Calibri" pitchFamily="34" charset="-122"/>
                <a:cs typeface="Calibri" pitchFamily="34" charset="-120"/>
              </a:rPr>
              <a:t>Start</a:t>
            </a:r>
            <a:endParaRPr lang="en-US" sz="1200" dirty="0"/>
          </a:p>
        </p:txBody>
      </p:sp>
      <p:pic>
        <p:nvPicPr>
          <p:cNvPr id="28" name="Image 0" descr="preencoded.png">
            <a:hlinkClick r:id="rId2" tooltip="Go to Start" action="ppaction://hlinksldjump"/>
          </p:cNvPr>
          <p:cNvPicPr>
            <a:picLocks noChangeAspect="1"/>
          </p:cNvPicPr>
          <p:nvPr/>
        </p:nvPicPr>
        <p:blipFill>
          <a:blip r:embed="rId1"/>
          <a:stretch>
            <a:fillRect/>
          </a:stretch>
        </p:blipFill>
        <p:spPr>
          <a:xfrm>
            <a:off x="548640" y="6537960"/>
            <a:ext cx="763524" cy="274320"/>
          </a:xfrm>
          <a:prstGeom prst="rect">
            <a:avLst/>
          </a:prstGeom>
        </p:spPr>
      </p:pic>
      <p:sp>
        <p:nvSpPr>
          <p:cNvPr id="29" name="Shape 26"/>
          <p:cNvSpPr/>
          <p:nvPr/>
        </p:nvSpPr>
        <p:spPr>
          <a:xfrm>
            <a:off x="1385316" y="6537960"/>
            <a:ext cx="1197864" cy="274320"/>
          </a:xfrm>
          <a:prstGeom prst="roundRect">
            <a:avLst>
              <a:gd name="adj" fmla="val 50000"/>
            </a:avLst>
          </a:prstGeom>
          <a:solidFill>
            <a:srgbClr val="F1F6FA"/>
          </a:solidFill>
          <a:ln w="12700">
            <a:solidFill>
              <a:srgbClr val="F1F6FA"/>
            </a:solidFill>
            <a:prstDash val="solid"/>
          </a:ln>
        </p:spPr>
      </p:sp>
      <p:sp>
        <p:nvSpPr>
          <p:cNvPr id="30" name="Text 27"/>
          <p:cNvSpPr txBox="1"/>
          <p:nvPr/>
        </p:nvSpPr>
        <p:spPr>
          <a:xfrm>
            <a:off x="1385316" y="6537960"/>
            <a:ext cx="1197864" cy="274320"/>
          </a:xfrm>
          <a:prstGeom prst="rect">
            <a:avLst/>
          </a:prstGeom>
          <a:noFill/>
          <a:ln/>
        </p:spPr>
        <p:txBody>
          <a:bodyPr wrap="square" lIns="0" tIns="0" rIns="0" bIns="0" rtlCol="0" anchor="ctr"/>
          <a:lstStyle/>
          <a:p>
            <a:pPr algn="ctr" indent="0" marL="0">
              <a:buNone/>
            </a:pPr>
            <a:r>
              <a:rPr lang="en-US" sz="1200" b="1" dirty="0">
                <a:solidFill>
                  <a:srgbClr val="3F6E8C"/>
                </a:solidFill>
                <a:latin typeface="Calibri" pitchFamily="34" charset="0"/>
                <a:ea typeface="Calibri" pitchFamily="34" charset="-122"/>
                <a:cs typeface="Calibri" pitchFamily="34" charset="-120"/>
              </a:rPr>
              <a:t>Scenario 1</a:t>
            </a:r>
            <a:endParaRPr lang="en-US" sz="1200" dirty="0"/>
          </a:p>
        </p:txBody>
      </p:sp>
      <p:pic>
        <p:nvPicPr>
          <p:cNvPr id="31" name="Image 1" descr="preencoded.png">
            <a:hlinkClick r:id="rId4" tooltip="Go to Scenario 1" action="ppaction://hlinksldjump"/>
          </p:cNvPr>
          <p:cNvPicPr>
            <a:picLocks noChangeAspect="1"/>
          </p:cNvPicPr>
          <p:nvPr/>
        </p:nvPicPr>
        <p:blipFill>
          <a:blip r:embed="rId3"/>
          <a:stretch>
            <a:fillRect/>
          </a:stretch>
        </p:blipFill>
        <p:spPr>
          <a:xfrm>
            <a:off x="1385316" y="6537960"/>
            <a:ext cx="1197864" cy="274320"/>
          </a:xfrm>
          <a:prstGeom prst="rect">
            <a:avLst/>
          </a:prstGeom>
        </p:spPr>
      </p:pic>
      <p:sp>
        <p:nvSpPr>
          <p:cNvPr id="32" name="Shape 28"/>
          <p:cNvSpPr/>
          <p:nvPr/>
        </p:nvSpPr>
        <p:spPr>
          <a:xfrm>
            <a:off x="2656332" y="6537960"/>
            <a:ext cx="1197864" cy="274320"/>
          </a:xfrm>
          <a:prstGeom prst="roundRect">
            <a:avLst>
              <a:gd name="adj" fmla="val 50000"/>
            </a:avLst>
          </a:prstGeom>
          <a:solidFill>
            <a:srgbClr val="F1F8F3"/>
          </a:solidFill>
          <a:ln w="12700">
            <a:solidFill>
              <a:srgbClr val="F1F8F3"/>
            </a:solidFill>
            <a:prstDash val="solid"/>
          </a:ln>
        </p:spPr>
      </p:sp>
      <p:sp>
        <p:nvSpPr>
          <p:cNvPr id="33" name="Text 29"/>
          <p:cNvSpPr txBox="1"/>
          <p:nvPr/>
        </p:nvSpPr>
        <p:spPr>
          <a:xfrm>
            <a:off x="2656332" y="6537960"/>
            <a:ext cx="1197864" cy="274320"/>
          </a:xfrm>
          <a:prstGeom prst="rect">
            <a:avLst/>
          </a:prstGeom>
          <a:noFill/>
          <a:ln/>
        </p:spPr>
        <p:txBody>
          <a:bodyPr wrap="square" lIns="0" tIns="0" rIns="0" bIns="0" rtlCol="0" anchor="ctr"/>
          <a:lstStyle/>
          <a:p>
            <a:pPr algn="ctr" indent="0" marL="0">
              <a:buNone/>
            </a:pPr>
            <a:r>
              <a:rPr lang="en-US" sz="1200" b="1" dirty="0">
                <a:solidFill>
                  <a:srgbClr val="4C8068"/>
                </a:solidFill>
                <a:latin typeface="Calibri" pitchFamily="34" charset="0"/>
                <a:ea typeface="Calibri" pitchFamily="34" charset="-122"/>
                <a:cs typeface="Calibri" pitchFamily="34" charset="-120"/>
              </a:rPr>
              <a:t>Scenario 2</a:t>
            </a:r>
            <a:endParaRPr lang="en-US" sz="1200" dirty="0"/>
          </a:p>
        </p:txBody>
      </p:sp>
      <p:pic>
        <p:nvPicPr>
          <p:cNvPr id="34" name="Image 2" descr="preencoded.png">
            <a:hlinkClick r:id="rId6" tooltip="Go to Scenario 2" action="ppaction://hlinksldjump"/>
          </p:cNvPr>
          <p:cNvPicPr>
            <a:picLocks noChangeAspect="1"/>
          </p:cNvPicPr>
          <p:nvPr/>
        </p:nvPicPr>
        <p:blipFill>
          <a:blip r:embed="rId5"/>
          <a:stretch>
            <a:fillRect/>
          </a:stretch>
        </p:blipFill>
        <p:spPr>
          <a:xfrm>
            <a:off x="2656332" y="6537960"/>
            <a:ext cx="1197864" cy="274320"/>
          </a:xfrm>
          <a:prstGeom prst="rect">
            <a:avLst/>
          </a:prstGeom>
        </p:spPr>
      </p:pic>
      <p:sp>
        <p:nvSpPr>
          <p:cNvPr id="35" name="Shape 30"/>
          <p:cNvSpPr/>
          <p:nvPr/>
        </p:nvSpPr>
        <p:spPr>
          <a:xfrm>
            <a:off x="3927348" y="6537960"/>
            <a:ext cx="1197864" cy="274320"/>
          </a:xfrm>
          <a:prstGeom prst="roundRect">
            <a:avLst>
              <a:gd name="adj" fmla="val 50000"/>
            </a:avLst>
          </a:prstGeom>
          <a:solidFill>
            <a:srgbClr val="F6F3FA"/>
          </a:solidFill>
          <a:ln w="12700">
            <a:solidFill>
              <a:srgbClr val="F6F3FA"/>
            </a:solidFill>
            <a:prstDash val="solid"/>
          </a:ln>
        </p:spPr>
      </p:sp>
      <p:sp>
        <p:nvSpPr>
          <p:cNvPr id="36" name="Text 31"/>
          <p:cNvSpPr txBox="1"/>
          <p:nvPr/>
        </p:nvSpPr>
        <p:spPr>
          <a:xfrm>
            <a:off x="3927348" y="6537960"/>
            <a:ext cx="1197864" cy="274320"/>
          </a:xfrm>
          <a:prstGeom prst="rect">
            <a:avLst/>
          </a:prstGeom>
          <a:noFill/>
          <a:ln/>
        </p:spPr>
        <p:txBody>
          <a:bodyPr wrap="square" lIns="0" tIns="0" rIns="0" bIns="0" rtlCol="0" anchor="ctr"/>
          <a:lstStyle/>
          <a:p>
            <a:pPr algn="ctr" indent="0" marL="0">
              <a:buNone/>
            </a:pPr>
            <a:r>
              <a:rPr lang="en-US" sz="1200" b="1" dirty="0">
                <a:solidFill>
                  <a:srgbClr val="6E5E94"/>
                </a:solidFill>
                <a:latin typeface="Calibri" pitchFamily="34" charset="0"/>
                <a:ea typeface="Calibri" pitchFamily="34" charset="-122"/>
                <a:cs typeface="Calibri" pitchFamily="34" charset="-120"/>
              </a:rPr>
              <a:t>Scenario 3</a:t>
            </a:r>
            <a:endParaRPr lang="en-US" sz="1200" dirty="0"/>
          </a:p>
        </p:txBody>
      </p:sp>
      <p:pic>
        <p:nvPicPr>
          <p:cNvPr id="37" name="Image 3" descr="preencoded.png">
            <a:hlinkClick r:id="rId8" tooltip="Go to Scenario 3" action="ppaction://hlinksldjump"/>
          </p:cNvPr>
          <p:cNvPicPr>
            <a:picLocks noChangeAspect="1"/>
          </p:cNvPicPr>
          <p:nvPr/>
        </p:nvPicPr>
        <p:blipFill>
          <a:blip r:embed="rId7"/>
          <a:stretch>
            <a:fillRect/>
          </a:stretch>
        </p:blipFill>
        <p:spPr>
          <a:xfrm>
            <a:off x="3927348" y="6537960"/>
            <a:ext cx="1197864" cy="274320"/>
          </a:xfrm>
          <a:prstGeom prst="rect">
            <a:avLst/>
          </a:prstGeom>
        </p:spPr>
      </p:pic>
      <p:sp>
        <p:nvSpPr>
          <p:cNvPr id="38" name="Shape 32"/>
          <p:cNvSpPr/>
          <p:nvPr/>
        </p:nvSpPr>
        <p:spPr>
          <a:xfrm>
            <a:off x="5198364" y="6537960"/>
            <a:ext cx="937260" cy="274320"/>
          </a:xfrm>
          <a:prstGeom prst="roundRect">
            <a:avLst>
              <a:gd name="adj" fmla="val 50000"/>
            </a:avLst>
          </a:prstGeom>
          <a:solidFill>
            <a:srgbClr val="23405A"/>
          </a:solidFill>
          <a:ln w="12700">
            <a:solidFill>
              <a:srgbClr val="23405A"/>
            </a:solidFill>
            <a:prstDash val="solid"/>
          </a:ln>
        </p:spPr>
      </p:sp>
      <p:sp>
        <p:nvSpPr>
          <p:cNvPr id="39" name="Text 33"/>
          <p:cNvSpPr txBox="1"/>
          <p:nvPr/>
        </p:nvSpPr>
        <p:spPr>
          <a:xfrm>
            <a:off x="5198364" y="6537960"/>
            <a:ext cx="93726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Closing</a:t>
            </a:r>
            <a:endParaRPr lang="en-US" sz="1200" dirty="0"/>
          </a:p>
        </p:txBody>
      </p:sp>
      <p:pic>
        <p:nvPicPr>
          <p:cNvPr id="40" name="Image 4" descr="preencoded.png">
            <a:hlinkClick r:id="rId10" tooltip="Go to Closing" action="ppaction://hlinksldjump"/>
          </p:cNvPr>
          <p:cNvPicPr>
            <a:picLocks noChangeAspect="1"/>
          </p:cNvPicPr>
          <p:nvPr/>
        </p:nvPicPr>
        <p:blipFill>
          <a:blip r:embed="rId9"/>
          <a:stretch>
            <a:fillRect/>
          </a:stretch>
        </p:blipFill>
        <p:spPr>
          <a:xfrm>
            <a:off x="5198364" y="6537960"/>
            <a:ext cx="937260" cy="274320"/>
          </a:xfrm>
          <a:prstGeom prst="rect">
            <a:avLst/>
          </a:prstGeom>
        </p:spPr>
      </p:pic>
      <p:sp>
        <p:nvSpPr>
          <p:cNvPr id="41" name="Text 34"/>
          <p:cNvSpPr txBox="1"/>
          <p:nvPr/>
        </p:nvSpPr>
        <p:spPr>
          <a:xfrm>
            <a:off x="11277295" y="6537960"/>
            <a:ext cx="365760" cy="274320"/>
          </a:xfrm>
          <a:prstGeom prst="rect">
            <a:avLst/>
          </a:prstGeom>
          <a:noFill/>
          <a:ln/>
        </p:spPr>
        <p:txBody>
          <a:bodyPr wrap="square" lIns="0" tIns="0" rIns="0" bIns="0" rtlCol="0" anchor="ctr"/>
          <a:lstStyle/>
          <a:p>
            <a:pPr algn="r" indent="0" marL="0">
              <a:buNone/>
            </a:pPr>
            <a:r>
              <a:rPr lang="en-US" sz="1200" dirty="0">
                <a:solidFill>
                  <a:srgbClr val="465A69"/>
                </a:solidFill>
                <a:latin typeface="Calibri" pitchFamily="34" charset="0"/>
                <a:ea typeface="Calibri" pitchFamily="34" charset="-122"/>
                <a:cs typeface="Calibri" pitchFamily="34" charset="-120"/>
              </a:rPr>
              <a:t>58</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58</Slides>
  <Notes>58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58</vt:i4>
      </vt:variant>
    </vt:vector>
  </HeadingPairs>
  <TitlesOfParts>
    <vt:vector size="6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BitSense 2026 IR, DR, and BC Exercise</dc:title>
  <dc:subject>PptxGenJS Presentation</dc:subject>
  <dc:creator>PptxGenJS</dc:creator>
  <cp:lastModifiedBy>PptxGenJS</cp:lastModifiedBy>
  <cp:revision>1</cp:revision>
  <dcterms:created xsi:type="dcterms:W3CDTF">2026-09-23T22:02:38Z</dcterms:created>
  <dcterms:modified xsi:type="dcterms:W3CDTF">2026-09-23T22:02:38Z</dcterms:modified>
</cp:coreProperties>
</file>